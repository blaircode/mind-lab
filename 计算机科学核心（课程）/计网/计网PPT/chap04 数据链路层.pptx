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54" r:id="rId2"/>
  </p:sldMasterIdLst>
  <p:notesMasterIdLst>
    <p:notesMasterId r:id="rId93"/>
  </p:notesMasterIdLst>
  <p:handoutMasterIdLst>
    <p:handoutMasterId r:id="rId94"/>
  </p:handoutMasterIdLst>
  <p:sldIdLst>
    <p:sldId id="425" r:id="rId3"/>
    <p:sldId id="532" r:id="rId4"/>
    <p:sldId id="401" r:id="rId5"/>
    <p:sldId id="424" r:id="rId6"/>
    <p:sldId id="291" r:id="rId7"/>
    <p:sldId id="414" r:id="rId8"/>
    <p:sldId id="402" r:id="rId9"/>
    <p:sldId id="403" r:id="rId10"/>
    <p:sldId id="328" r:id="rId11"/>
    <p:sldId id="494" r:id="rId12"/>
    <p:sldId id="410" r:id="rId13"/>
    <p:sldId id="429" r:id="rId14"/>
    <p:sldId id="415" r:id="rId15"/>
    <p:sldId id="492" r:id="rId16"/>
    <p:sldId id="430" r:id="rId17"/>
    <p:sldId id="417" r:id="rId18"/>
    <p:sldId id="431" r:id="rId19"/>
    <p:sldId id="432" r:id="rId20"/>
    <p:sldId id="433" r:id="rId21"/>
    <p:sldId id="330" r:id="rId22"/>
    <p:sldId id="435" r:id="rId23"/>
    <p:sldId id="418" r:id="rId24"/>
    <p:sldId id="436" r:id="rId25"/>
    <p:sldId id="496" r:id="rId26"/>
    <p:sldId id="421" r:id="rId27"/>
    <p:sldId id="497" r:id="rId28"/>
    <p:sldId id="422" r:id="rId29"/>
    <p:sldId id="438" r:id="rId30"/>
    <p:sldId id="423" r:id="rId31"/>
    <p:sldId id="440" r:id="rId32"/>
    <p:sldId id="448" r:id="rId33"/>
    <p:sldId id="455" r:id="rId34"/>
    <p:sldId id="450" r:id="rId35"/>
    <p:sldId id="480" r:id="rId36"/>
    <p:sldId id="504" r:id="rId37"/>
    <p:sldId id="505" r:id="rId38"/>
    <p:sldId id="510" r:id="rId39"/>
    <p:sldId id="506" r:id="rId40"/>
    <p:sldId id="511" r:id="rId41"/>
    <p:sldId id="512" r:id="rId42"/>
    <p:sldId id="513" r:id="rId43"/>
    <p:sldId id="514" r:id="rId44"/>
    <p:sldId id="515" r:id="rId45"/>
    <p:sldId id="516" r:id="rId46"/>
    <p:sldId id="517" r:id="rId47"/>
    <p:sldId id="519" r:id="rId48"/>
    <p:sldId id="518" r:id="rId49"/>
    <p:sldId id="520" r:id="rId50"/>
    <p:sldId id="521" r:id="rId51"/>
    <p:sldId id="522" r:id="rId52"/>
    <p:sldId id="523" r:id="rId53"/>
    <p:sldId id="524" r:id="rId54"/>
    <p:sldId id="443" r:id="rId55"/>
    <p:sldId id="527" r:id="rId56"/>
    <p:sldId id="528" r:id="rId57"/>
    <p:sldId id="525" r:id="rId58"/>
    <p:sldId id="529" r:id="rId59"/>
    <p:sldId id="457" r:id="rId60"/>
    <p:sldId id="444" r:id="rId61"/>
    <p:sldId id="456" r:id="rId62"/>
    <p:sldId id="445" r:id="rId63"/>
    <p:sldId id="446" r:id="rId64"/>
    <p:sldId id="503" r:id="rId65"/>
    <p:sldId id="499" r:id="rId66"/>
    <p:sldId id="388" r:id="rId67"/>
    <p:sldId id="530" r:id="rId68"/>
    <p:sldId id="387" r:id="rId69"/>
    <p:sldId id="463" r:id="rId70"/>
    <p:sldId id="391" r:id="rId71"/>
    <p:sldId id="392" r:id="rId72"/>
    <p:sldId id="393" r:id="rId73"/>
    <p:sldId id="394" r:id="rId74"/>
    <p:sldId id="397" r:id="rId75"/>
    <p:sldId id="398" r:id="rId76"/>
    <p:sldId id="399" r:id="rId77"/>
    <p:sldId id="400" r:id="rId78"/>
    <p:sldId id="458" r:id="rId79"/>
    <p:sldId id="465" r:id="rId80"/>
    <p:sldId id="467" r:id="rId81"/>
    <p:sldId id="501" r:id="rId82"/>
    <p:sldId id="468" r:id="rId83"/>
    <p:sldId id="469" r:id="rId84"/>
    <p:sldId id="470" r:id="rId85"/>
    <p:sldId id="471" r:id="rId86"/>
    <p:sldId id="324" r:id="rId87"/>
    <p:sldId id="389" r:id="rId88"/>
    <p:sldId id="472" r:id="rId89"/>
    <p:sldId id="491" r:id="rId90"/>
    <p:sldId id="473" r:id="rId91"/>
    <p:sldId id="531" r:id="rId92"/>
  </p:sldIdLst>
  <p:sldSz cx="12192000" cy="6858000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99FF"/>
    <a:srgbClr val="A50021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53" autoAdjust="0"/>
    <p:restoredTop sz="95543" autoAdjust="0"/>
  </p:normalViewPr>
  <p:slideViewPr>
    <p:cSldViewPr>
      <p:cViewPr varScale="1">
        <p:scale>
          <a:sx n="47" d="100"/>
          <a:sy n="47" d="100"/>
        </p:scale>
        <p:origin x="188" y="44"/>
      </p:cViewPr>
      <p:guideLst>
        <p:guide orient="horz" pos="288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60"/>
    </p:cViewPr>
  </p:sorterViewPr>
  <p:notesViewPr>
    <p:cSldViewPr>
      <p:cViewPr varScale="1">
        <p:scale>
          <a:sx n="65" d="100"/>
          <a:sy n="65" d="100"/>
        </p:scale>
        <p:origin x="3048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kumimoji="1"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kumimoji="1"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kumimoji="1"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kumimoji="1" sz="1300"/>
            </a:lvl1pPr>
          </a:lstStyle>
          <a:p>
            <a:pPr>
              <a:defRPr/>
            </a:pPr>
            <a:fld id="{52128910-F7EC-443C-A825-9B37CF082A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1728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kumimoji="1"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kumimoji="1"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kumimoji="1"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kumimoji="1" sz="1300"/>
            </a:lvl1pPr>
          </a:lstStyle>
          <a:p>
            <a:pPr>
              <a:defRPr/>
            </a:pPr>
            <a:fld id="{BD1EEB0C-939C-4120-9127-5A0128A0E5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2380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0543D1-3E8F-42DE-BEDB-2E3F8A27504E}" type="slidenum">
              <a:rPr kumimoji="0" lang="en-US" altLang="zh-CN" sz="1300" smtClean="0"/>
              <a:pPr>
                <a:spcBef>
                  <a:spcPct val="0"/>
                </a:spcBef>
              </a:pPr>
              <a:t>1</a:t>
            </a:fld>
            <a:endParaRPr kumimoji="0" lang="en-US" altLang="zh-CN" sz="13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86351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5D869C-7FC3-461D-A35E-EDF3ADF9C591}" type="slidenum">
              <a:rPr kumimoji="0" lang="en-US" altLang="zh-CN" sz="1300" smtClean="0"/>
              <a:pPr>
                <a:spcBef>
                  <a:spcPct val="0"/>
                </a:spcBef>
              </a:pPr>
              <a:t>2</a:t>
            </a:fld>
            <a:endParaRPr kumimoji="0" lang="en-US" altLang="zh-CN" sz="13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4838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5D869C-7FC3-461D-A35E-EDF3ADF9C591}" type="slidenum">
              <a:rPr kumimoji="0" lang="en-US" altLang="zh-CN" sz="1300" smtClean="0"/>
              <a:pPr>
                <a:spcBef>
                  <a:spcPct val="0"/>
                </a:spcBef>
              </a:pPr>
              <a:t>4</a:t>
            </a:fld>
            <a:endParaRPr kumimoji="0" lang="en-US" altLang="zh-CN" sz="13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704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1EEB0C-939C-4120-9127-5A0128A0E519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76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bg bwMode="auto"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190FFEE-FAEF-49CE-A2A7-C6FD2EB3BA7A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ADD1AE6-FAE3-4A87-8864-AFB460466434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448283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B6ECEC-4AE9-46CB-9256-7075E81040D8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51A1C72-FEBC-4CB3-8086-B21552C32952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63610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1257778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89393843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7065402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6309948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569202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245940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131748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289553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6836708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64832105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8885148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1608658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034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18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916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220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38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224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77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5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913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86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48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34675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9" name="Picture 15" descr="邓体字徽（白色透明）">
            <a:extLst>
              <a:ext uri="{FF2B5EF4-FFF2-40B4-BE49-F238E27FC236}">
                <a16:creationId xmlns:a16="http://schemas.microsoft.com/office/drawing/2014/main" id="{9079D8D5-526B-4835-87E7-DB3511EB1B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28" y="16545"/>
            <a:ext cx="297603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AD7C0B5-4DAE-47DC-8352-4534EB1131BE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FE893C2-C0AF-4F6D-92F5-31B73284CB0E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53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  <p:sldLayoutId id="2147484148" r:id="rId10"/>
    <p:sldLayoutId id="2147484149" r:id="rId11"/>
    <p:sldLayoutId id="2147484150" r:id="rId12"/>
    <p:sldLayoutId id="2147484151" r:id="rId13"/>
    <p:sldLayoutId id="2147484152" r:id="rId14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7EA1CE4-CBBC-41A5-B94A-12A7FCF86B46}"/>
              </a:ext>
            </a:extLst>
          </p:cNvPr>
          <p:cNvCxnSpPr>
            <a:cxnSpLocks/>
          </p:cNvCxnSpPr>
          <p:nvPr userDrawn="1"/>
        </p:nvCxnSpPr>
        <p:spPr>
          <a:xfrm>
            <a:off x="260349" y="737146"/>
            <a:ext cx="11596291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5E6A1B8-877C-49EA-9207-BF7E6553F6BB}"/>
              </a:ext>
            </a:extLst>
          </p:cNvPr>
          <p:cNvCxnSpPr>
            <a:cxnSpLocks/>
          </p:cNvCxnSpPr>
          <p:nvPr userDrawn="1"/>
        </p:nvCxnSpPr>
        <p:spPr>
          <a:xfrm>
            <a:off x="260350" y="768896"/>
            <a:ext cx="5700779" cy="0"/>
          </a:xfrm>
          <a:prstGeom prst="line">
            <a:avLst/>
          </a:prstGeom>
          <a:ln w="38100">
            <a:solidFill>
              <a:srgbClr val="0060A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45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2999656" y="2564904"/>
            <a:ext cx="5954713" cy="701675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第四章 数据链路层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5961452E-9D85-46D1-BAA8-71155E3A7E3C}"/>
              </a:ext>
            </a:extLst>
          </p:cNvPr>
          <p:cNvGrpSpPr>
            <a:grpSpLocks/>
          </p:cNvGrpSpPr>
          <p:nvPr/>
        </p:nvGrpSpPr>
        <p:grpSpPr bwMode="auto">
          <a:xfrm>
            <a:off x="3971925" y="3717032"/>
            <a:ext cx="4248150" cy="2832100"/>
            <a:chOff x="2317750" y="3357563"/>
            <a:chExt cx="4248150" cy="2832100"/>
          </a:xfrm>
        </p:grpSpPr>
        <p:pic>
          <p:nvPicPr>
            <p:cNvPr id="5" name="图片 1">
              <a:extLst>
                <a:ext uri="{FF2B5EF4-FFF2-40B4-BE49-F238E27FC236}">
                  <a16:creationId xmlns:a16="http://schemas.microsoft.com/office/drawing/2014/main" id="{F688C03B-8B2C-469E-AD8D-ACD6C8ACD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7750" y="3357563"/>
              <a:ext cx="4248150" cy="283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1">
              <a:extLst>
                <a:ext uri="{FF2B5EF4-FFF2-40B4-BE49-F238E27FC236}">
                  <a16:creationId xmlns:a16="http://schemas.microsoft.com/office/drawing/2014/main" id="{2E297F99-C968-4C28-8EC5-30ADCC185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040" y="3682484"/>
              <a:ext cx="153449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Verdana" panose="020B0604030504040204" pitchFamily="34" charset="0"/>
                </a:rPr>
                <a:t>链路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24440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1"/>
          <p:cNvSpPr>
            <a:spLocks noChangeArrowheads="1"/>
          </p:cNvSpPr>
          <p:nvPr/>
        </p:nvSpPr>
        <p:spPr bwMode="auto">
          <a:xfrm>
            <a:off x="767408" y="1124744"/>
            <a:ext cx="11352584" cy="360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（一）数据链路层的基本概念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（二）数据链路层的功能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1344613" algn="l"/>
              </a:tabLs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封装成帧 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透明传输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差错检测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（三）可靠传输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marL="898525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1344613" algn="l"/>
              </a:tabLs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差错控制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流量控制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（四）交换方式、数据发送时延及信道利用率分析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1344613" algn="l"/>
              </a:tabLst>
            </a:pP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3CC0A58-1F3B-4215-A1A9-F0A9D49B1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26361"/>
            <a:ext cx="510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主要内容</a:t>
            </a:r>
            <a:endParaRPr lang="zh-CN" altLang="en-US" sz="2800" b="1" dirty="0">
              <a:solidFill>
                <a:srgbClr val="A50021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098600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970087" y="1700808"/>
            <a:ext cx="7991475" cy="579437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8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（一）数据链路层的基本概念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1268" name="组合 2"/>
          <p:cNvGrpSpPr>
            <a:grpSpLocks/>
          </p:cNvGrpSpPr>
          <p:nvPr/>
        </p:nvGrpSpPr>
        <p:grpSpPr bwMode="auto">
          <a:xfrm>
            <a:off x="4079776" y="2852936"/>
            <a:ext cx="4248150" cy="2832100"/>
            <a:chOff x="2317750" y="3357563"/>
            <a:chExt cx="4248150" cy="2832100"/>
          </a:xfrm>
        </p:grpSpPr>
        <p:pic>
          <p:nvPicPr>
            <p:cNvPr id="11269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7750" y="3357563"/>
              <a:ext cx="4248150" cy="283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0" name="矩形 1"/>
            <p:cNvSpPr>
              <a:spLocks noChangeArrowheads="1"/>
            </p:cNvSpPr>
            <p:nvPr/>
          </p:nvSpPr>
          <p:spPr bwMode="auto">
            <a:xfrm>
              <a:off x="4932040" y="3682484"/>
              <a:ext cx="153449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Verdana" panose="020B0604030504040204" pitchFamily="34" charset="0"/>
                </a:rPr>
                <a:t>链路</a:t>
              </a: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矩形 1"/>
          <p:cNvSpPr>
            <a:spLocks noChangeArrowheads="1"/>
          </p:cNvSpPr>
          <p:nvPr/>
        </p:nvSpPr>
        <p:spPr bwMode="auto">
          <a:xfrm>
            <a:off x="203722" y="1187242"/>
            <a:ext cx="11593287" cy="1828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4D4D4D"/>
                </a:solidFill>
                <a:latin typeface="-apple-system"/>
              </a:rPr>
              <a:t>    数据链路层的任务是在</a:t>
            </a:r>
            <a:r>
              <a:rPr lang="zh-CN" altLang="en-US" sz="2600" dirty="0">
                <a:solidFill>
                  <a:srgbClr val="0070C0"/>
                </a:solidFill>
                <a:latin typeface="-apple-system"/>
              </a:rPr>
              <a:t>相邻两个节点</a:t>
            </a:r>
            <a:r>
              <a:rPr lang="zh-CN" altLang="en-US" sz="2600" dirty="0">
                <a:solidFill>
                  <a:srgbClr val="4D4D4D"/>
                </a:solidFill>
                <a:latin typeface="-apple-system"/>
              </a:rPr>
              <a:t>的线路上无差错的传输以</a:t>
            </a:r>
            <a:r>
              <a:rPr lang="zh-CN" altLang="en-US" sz="2600" b="1" dirty="0">
                <a:solidFill>
                  <a:srgbClr val="0070C0"/>
                </a:solidFill>
                <a:latin typeface="-apple-system"/>
              </a:rPr>
              <a:t>帧（每个帧包括若干个比特）</a:t>
            </a:r>
            <a:r>
              <a:rPr lang="zh-CN" altLang="en-US" sz="2600" dirty="0">
                <a:solidFill>
                  <a:srgbClr val="4D4D4D"/>
                </a:solidFill>
                <a:latin typeface="-apple-system"/>
              </a:rPr>
              <a:t>为单位的数据，每帧包括数据和必要的控制信息。</a:t>
            </a:r>
            <a:endParaRPr lang="en-US" altLang="zh-CN" sz="2600" dirty="0">
              <a:solidFill>
                <a:srgbClr val="4D4D4D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4D4D4D"/>
                </a:solidFill>
                <a:latin typeface="-apple-system"/>
              </a:rPr>
              <a:t>    </a:t>
            </a:r>
            <a:endParaRPr lang="zh-CN" altLang="en-US" sz="2600" dirty="0"/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19B295A1-FDD4-44E7-8322-BF081D47D31E}"/>
              </a:ext>
            </a:extLst>
          </p:cNvPr>
          <p:cNvGrpSpPr>
            <a:grpSpLocks/>
          </p:cNvGrpSpPr>
          <p:nvPr/>
        </p:nvGrpSpPr>
        <p:grpSpPr bwMode="auto">
          <a:xfrm>
            <a:off x="5735960" y="4077073"/>
            <a:ext cx="4320480" cy="2098041"/>
            <a:chOff x="2317750" y="3357563"/>
            <a:chExt cx="4248150" cy="2832100"/>
          </a:xfrm>
        </p:grpSpPr>
        <p:pic>
          <p:nvPicPr>
            <p:cNvPr id="5" name="图片 1">
              <a:extLst>
                <a:ext uri="{FF2B5EF4-FFF2-40B4-BE49-F238E27FC236}">
                  <a16:creationId xmlns:a16="http://schemas.microsoft.com/office/drawing/2014/main" id="{B1BF3940-00E0-4D56-B101-9BC2DD2C5C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7750" y="3357563"/>
              <a:ext cx="4248150" cy="283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1">
              <a:extLst>
                <a:ext uri="{FF2B5EF4-FFF2-40B4-BE49-F238E27FC236}">
                  <a16:creationId xmlns:a16="http://schemas.microsoft.com/office/drawing/2014/main" id="{C56927DD-E6F7-49B6-9E36-F4D35DB4B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040" y="3682484"/>
              <a:ext cx="1534492" cy="498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Verdana" panose="020B0604030504040204" pitchFamily="34" charset="0"/>
                </a:rPr>
                <a:t>链路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6126220-72E7-4F1A-9452-B177C0E5EE34}"/>
              </a:ext>
            </a:extLst>
          </p:cNvPr>
          <p:cNvSpPr txBox="1"/>
          <p:nvPr/>
        </p:nvSpPr>
        <p:spPr>
          <a:xfrm>
            <a:off x="191344" y="188640"/>
            <a:ext cx="33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数据链路层的任务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7328" y="887706"/>
            <a:ext cx="11928648" cy="2519362"/>
          </a:xfrm>
        </p:spPr>
        <p:txBody>
          <a:bodyPr>
            <a:normAutofit/>
          </a:bodyPr>
          <a:lstStyle/>
          <a:p>
            <a:pPr marL="342900" indent="-342900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就是一条无源的点到点的物理线路段，中间没有任何其他的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交换结点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。在进行通信时，两个计算机之间的通路往往是由许多的链路串接而成。</a:t>
            </a:r>
            <a:b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当需要在一条线路上传送数据时，除了必须有一条物理线路外，还必须有一些必要的规程来控制这些数据的传输。把实现这些规程的硬件和软件加到链路上，就构成了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数据链路。</a:t>
            </a:r>
            <a:endParaRPr lang="zh-CN" altLang="en-US" sz="24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191344" y="197587"/>
            <a:ext cx="510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“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链路”和“数据链路”的概念</a:t>
            </a:r>
            <a:endParaRPr lang="zh-CN" altLang="en-US" sz="2800" b="1" dirty="0">
              <a:solidFill>
                <a:srgbClr val="A50021"/>
              </a:solidFill>
              <a:ea typeface="黑体" panose="02010609060101010101" pitchFamily="49" charset="-122"/>
            </a:endParaRPr>
          </a:p>
        </p:txBody>
      </p:sp>
      <p:pic>
        <p:nvPicPr>
          <p:cNvPr id="12292" name="图片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88" y="4456467"/>
            <a:ext cx="6048672" cy="2203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3" name="组合 5"/>
          <p:cNvGrpSpPr>
            <a:grpSpLocks/>
          </p:cNvGrpSpPr>
          <p:nvPr/>
        </p:nvGrpSpPr>
        <p:grpSpPr bwMode="auto">
          <a:xfrm>
            <a:off x="1278781" y="4456467"/>
            <a:ext cx="3665091" cy="2009775"/>
            <a:chOff x="2317750" y="3357563"/>
            <a:chExt cx="4248150" cy="2832100"/>
          </a:xfrm>
        </p:grpSpPr>
        <p:pic>
          <p:nvPicPr>
            <p:cNvPr id="12295" name="图片 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7750" y="3357563"/>
              <a:ext cx="4248150" cy="283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6" name="矩形 7"/>
            <p:cNvSpPr>
              <a:spLocks noChangeArrowheads="1"/>
            </p:cNvSpPr>
            <p:nvPr/>
          </p:nvSpPr>
          <p:spPr bwMode="auto">
            <a:xfrm>
              <a:off x="4932040" y="3682483"/>
              <a:ext cx="1534492" cy="6044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Verdana" panose="020B0604030504040204" pitchFamily="34" charset="0"/>
                </a:rPr>
                <a:t>链路</a:t>
              </a:r>
            </a:p>
          </p:txBody>
        </p:sp>
      </p:grpSp>
      <p:sp>
        <p:nvSpPr>
          <p:cNvPr id="12294" name="矩形 1"/>
          <p:cNvSpPr>
            <a:spLocks noChangeArrowheads="1"/>
          </p:cNvSpPr>
          <p:nvPr/>
        </p:nvSpPr>
        <p:spPr bwMode="auto">
          <a:xfrm>
            <a:off x="479376" y="3463594"/>
            <a:ext cx="10513403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99"/>
                </a:solidFill>
                <a:ea typeface="黑体" panose="02010609060101010101" pitchFamily="49" charset="-122"/>
              </a:rPr>
              <a:t>最常用的方法是使用适配器（即网卡）来实现这些协议的硬件和软件。</a:t>
            </a:r>
            <a:endParaRPr lang="en-US" altLang="zh-CN" dirty="0">
              <a:solidFill>
                <a:srgbClr val="333399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99"/>
                </a:solidFill>
                <a:ea typeface="黑体" panose="02010609060101010101" pitchFamily="49" charset="-122"/>
              </a:rPr>
              <a:t>一般的适配器都包括了数据链路层和物理层这两层的功能。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8504238" y="1931988"/>
            <a:ext cx="2011362" cy="1828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8523288" y="2541588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6" name="Line 6"/>
          <p:cNvSpPr>
            <a:spLocks noChangeShapeType="1"/>
          </p:cNvSpPr>
          <p:nvPr/>
        </p:nvSpPr>
        <p:spPr bwMode="auto">
          <a:xfrm>
            <a:off x="8504239" y="2540000"/>
            <a:ext cx="2008187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Rectangle 7"/>
          <p:cNvSpPr>
            <a:spLocks noChangeArrowheads="1"/>
          </p:cNvSpPr>
          <p:nvPr/>
        </p:nvSpPr>
        <p:spPr bwMode="auto">
          <a:xfrm>
            <a:off x="8810625" y="2693988"/>
            <a:ext cx="139065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1800">
              <a:solidFill>
                <a:schemeClr val="folHlink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8" name="Line 8"/>
          <p:cNvSpPr>
            <a:spLocks noChangeShapeType="1"/>
          </p:cNvSpPr>
          <p:nvPr/>
        </p:nvSpPr>
        <p:spPr bwMode="auto">
          <a:xfrm>
            <a:off x="8504239" y="3149600"/>
            <a:ext cx="2008187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Rectangle 9"/>
          <p:cNvSpPr>
            <a:spLocks noChangeArrowheads="1"/>
          </p:cNvSpPr>
          <p:nvPr/>
        </p:nvSpPr>
        <p:spPr bwMode="auto">
          <a:xfrm>
            <a:off x="9015413" y="2084388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13320" name="Rectangle 10"/>
          <p:cNvSpPr>
            <a:spLocks noChangeArrowheads="1"/>
          </p:cNvSpPr>
          <p:nvPr/>
        </p:nvSpPr>
        <p:spPr bwMode="auto">
          <a:xfrm>
            <a:off x="8804275" y="3303588"/>
            <a:ext cx="140335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1800">
              <a:solidFill>
                <a:schemeClr val="folHlink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21" name="Rectangle 11"/>
          <p:cNvSpPr>
            <a:spLocks noChangeArrowheads="1"/>
          </p:cNvSpPr>
          <p:nvPr/>
        </p:nvSpPr>
        <p:spPr bwMode="auto">
          <a:xfrm>
            <a:off x="8740776" y="3316288"/>
            <a:ext cx="1603375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1010…  …0110</a:t>
            </a:r>
          </a:p>
        </p:txBody>
      </p:sp>
      <p:sp>
        <p:nvSpPr>
          <p:cNvPr id="13322" name="AutoShape 12"/>
          <p:cNvSpPr>
            <a:spLocks noChangeArrowheads="1"/>
          </p:cNvSpPr>
          <p:nvPr/>
        </p:nvSpPr>
        <p:spPr bwMode="auto">
          <a:xfrm flipV="1">
            <a:off x="9375775" y="3046413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23" name="Rectangle 13"/>
          <p:cNvSpPr>
            <a:spLocks noChangeArrowheads="1"/>
          </p:cNvSpPr>
          <p:nvPr/>
        </p:nvSpPr>
        <p:spPr bwMode="auto">
          <a:xfrm>
            <a:off x="9009063" y="2703514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24" name="AutoShape 14"/>
          <p:cNvSpPr>
            <a:spLocks noChangeArrowheads="1"/>
          </p:cNvSpPr>
          <p:nvPr/>
        </p:nvSpPr>
        <p:spPr bwMode="auto">
          <a:xfrm flipV="1">
            <a:off x="9005888" y="2335214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25" name="Text Box 15"/>
          <p:cNvSpPr txBox="1">
            <a:spLocks noChangeArrowheads="1"/>
          </p:cNvSpPr>
          <p:nvPr/>
        </p:nvSpPr>
        <p:spPr bwMode="auto">
          <a:xfrm>
            <a:off x="8472488" y="2647951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13326" name="Rectangle 16"/>
          <p:cNvSpPr>
            <a:spLocks noChangeArrowheads="1"/>
          </p:cNvSpPr>
          <p:nvPr/>
        </p:nvSpPr>
        <p:spPr bwMode="auto">
          <a:xfrm>
            <a:off x="9215438" y="2362201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取出</a:t>
            </a:r>
          </a:p>
        </p:txBody>
      </p:sp>
      <p:sp>
        <p:nvSpPr>
          <p:cNvPr id="13327" name="Line 17"/>
          <p:cNvSpPr>
            <a:spLocks noChangeShapeType="1"/>
          </p:cNvSpPr>
          <p:nvPr/>
        </p:nvSpPr>
        <p:spPr bwMode="auto">
          <a:xfrm>
            <a:off x="9004300" y="2698750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8" name="Line 18"/>
          <p:cNvSpPr>
            <a:spLocks noChangeShapeType="1"/>
          </p:cNvSpPr>
          <p:nvPr/>
        </p:nvSpPr>
        <p:spPr bwMode="auto">
          <a:xfrm>
            <a:off x="9994900" y="2700338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9" name="Freeform 19"/>
          <p:cNvSpPr>
            <a:spLocks/>
          </p:cNvSpPr>
          <p:nvPr/>
        </p:nvSpPr>
        <p:spPr bwMode="auto">
          <a:xfrm>
            <a:off x="4656139" y="6064251"/>
            <a:ext cx="4765675" cy="4763"/>
          </a:xfrm>
          <a:custGeom>
            <a:avLst/>
            <a:gdLst>
              <a:gd name="T0" fmla="*/ 0 w 3002"/>
              <a:gd name="T1" fmla="*/ 0 h 3"/>
              <a:gd name="T2" fmla="*/ 2147483646 w 3002"/>
              <a:gd name="T3" fmla="*/ 2147483646 h 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002" h="3">
                <a:moveTo>
                  <a:pt x="0" y="0"/>
                </a:moveTo>
                <a:lnTo>
                  <a:pt x="3002" y="3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0" name="Rectangle 20"/>
          <p:cNvSpPr>
            <a:spLocks noChangeArrowheads="1"/>
          </p:cNvSpPr>
          <p:nvPr/>
        </p:nvSpPr>
        <p:spPr bwMode="auto">
          <a:xfrm>
            <a:off x="8477251" y="5449889"/>
            <a:ext cx="2011363" cy="7588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31" name="Freeform 21"/>
          <p:cNvSpPr>
            <a:spLocks/>
          </p:cNvSpPr>
          <p:nvPr/>
        </p:nvSpPr>
        <p:spPr bwMode="auto">
          <a:xfrm>
            <a:off x="3733800" y="3592513"/>
            <a:ext cx="5791200" cy="609600"/>
          </a:xfrm>
          <a:custGeom>
            <a:avLst/>
            <a:gdLst>
              <a:gd name="T0" fmla="*/ 0 w 2736"/>
              <a:gd name="T1" fmla="*/ 0 h 480"/>
              <a:gd name="T2" fmla="*/ 0 w 2736"/>
              <a:gd name="T3" fmla="*/ 2147483646 h 480"/>
              <a:gd name="T4" fmla="*/ 2147483646 w 2736"/>
              <a:gd name="T5" fmla="*/ 2147483646 h 480"/>
              <a:gd name="T6" fmla="*/ 2147483646 w 2736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736" h="480">
                <a:moveTo>
                  <a:pt x="0" y="0"/>
                </a:moveTo>
                <a:lnTo>
                  <a:pt x="0" y="480"/>
                </a:lnTo>
                <a:lnTo>
                  <a:pt x="2736" y="480"/>
                </a:lnTo>
                <a:lnTo>
                  <a:pt x="273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Rectangle 22"/>
          <p:cNvSpPr>
            <a:spLocks noChangeArrowheads="1"/>
          </p:cNvSpPr>
          <p:nvPr/>
        </p:nvSpPr>
        <p:spPr bwMode="auto">
          <a:xfrm>
            <a:off x="1695981" y="2463800"/>
            <a:ext cx="875241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</a:t>
            </a:r>
          </a:p>
          <a:p>
            <a:pPr algn="ctr"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3333" name="Rectangle 23"/>
          <p:cNvSpPr>
            <a:spLocks noChangeArrowheads="1"/>
          </p:cNvSpPr>
          <p:nvPr/>
        </p:nvSpPr>
        <p:spPr bwMode="auto">
          <a:xfrm>
            <a:off x="1687514" y="2068514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13334" name="Rectangle 24"/>
          <p:cNvSpPr>
            <a:spLocks noChangeArrowheads="1"/>
          </p:cNvSpPr>
          <p:nvPr/>
        </p:nvSpPr>
        <p:spPr bwMode="auto">
          <a:xfrm>
            <a:off x="6248400" y="4202114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链路</a:t>
            </a:r>
          </a:p>
        </p:txBody>
      </p:sp>
      <p:sp>
        <p:nvSpPr>
          <p:cNvPr id="13335" name="Rectangle 25"/>
          <p:cNvSpPr>
            <a:spLocks noChangeArrowheads="1"/>
          </p:cNvSpPr>
          <p:nvPr/>
        </p:nvSpPr>
        <p:spPr bwMode="auto">
          <a:xfrm>
            <a:off x="3352801" y="1582739"/>
            <a:ext cx="85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结点 </a:t>
            </a:r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13336" name="Rectangle 26"/>
          <p:cNvSpPr>
            <a:spLocks noChangeArrowheads="1"/>
          </p:cNvSpPr>
          <p:nvPr/>
        </p:nvSpPr>
        <p:spPr bwMode="auto">
          <a:xfrm>
            <a:off x="9131301" y="1582739"/>
            <a:ext cx="86241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结点 </a:t>
            </a:r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13337" name="Rectangle 27"/>
          <p:cNvSpPr>
            <a:spLocks noChangeArrowheads="1"/>
          </p:cNvSpPr>
          <p:nvPr/>
        </p:nvSpPr>
        <p:spPr bwMode="auto">
          <a:xfrm>
            <a:off x="1687514" y="3287714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13338" name="Rectangle 28"/>
          <p:cNvSpPr>
            <a:spLocks noChangeArrowheads="1"/>
          </p:cNvSpPr>
          <p:nvPr/>
        </p:nvSpPr>
        <p:spPr bwMode="auto">
          <a:xfrm>
            <a:off x="38100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39" name="Rectangle 29"/>
          <p:cNvSpPr>
            <a:spLocks noChangeArrowheads="1"/>
          </p:cNvSpPr>
          <p:nvPr/>
        </p:nvSpPr>
        <p:spPr bwMode="auto">
          <a:xfrm>
            <a:off x="39624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0" name="Rectangle 30"/>
          <p:cNvSpPr>
            <a:spLocks noChangeArrowheads="1"/>
          </p:cNvSpPr>
          <p:nvPr/>
        </p:nvSpPr>
        <p:spPr bwMode="auto">
          <a:xfrm>
            <a:off x="53340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1" name="Rectangle 31"/>
          <p:cNvSpPr>
            <a:spLocks noChangeArrowheads="1"/>
          </p:cNvSpPr>
          <p:nvPr/>
        </p:nvSpPr>
        <p:spPr bwMode="auto">
          <a:xfrm>
            <a:off x="54864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2" name="Rectangle 32"/>
          <p:cNvSpPr>
            <a:spLocks noChangeArrowheads="1"/>
          </p:cNvSpPr>
          <p:nvPr/>
        </p:nvSpPr>
        <p:spPr bwMode="auto">
          <a:xfrm>
            <a:off x="72390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3" name="Rectangle 33"/>
          <p:cNvSpPr>
            <a:spLocks noChangeArrowheads="1"/>
          </p:cNvSpPr>
          <p:nvPr/>
        </p:nvSpPr>
        <p:spPr bwMode="auto">
          <a:xfrm>
            <a:off x="73914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4" name="Rectangle 34"/>
          <p:cNvSpPr>
            <a:spLocks noChangeArrowheads="1"/>
          </p:cNvSpPr>
          <p:nvPr/>
        </p:nvSpPr>
        <p:spPr bwMode="auto">
          <a:xfrm>
            <a:off x="89154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5" name="Rectangle 35"/>
          <p:cNvSpPr>
            <a:spLocks noChangeArrowheads="1"/>
          </p:cNvSpPr>
          <p:nvPr/>
        </p:nvSpPr>
        <p:spPr bwMode="auto">
          <a:xfrm>
            <a:off x="90678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6" name="Rectangle 36"/>
          <p:cNvSpPr>
            <a:spLocks noChangeArrowheads="1"/>
          </p:cNvSpPr>
          <p:nvPr/>
        </p:nvSpPr>
        <p:spPr bwMode="auto">
          <a:xfrm>
            <a:off x="92202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7" name="Rectangle 37"/>
          <p:cNvSpPr>
            <a:spLocks noChangeArrowheads="1"/>
          </p:cNvSpPr>
          <p:nvPr/>
        </p:nvSpPr>
        <p:spPr bwMode="auto">
          <a:xfrm>
            <a:off x="9372600" y="3973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48" name="Line 38"/>
          <p:cNvSpPr>
            <a:spLocks noChangeShapeType="1"/>
          </p:cNvSpPr>
          <p:nvPr/>
        </p:nvSpPr>
        <p:spPr bwMode="auto">
          <a:xfrm>
            <a:off x="5638800" y="40497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9" name="Line 39"/>
          <p:cNvSpPr>
            <a:spLocks noChangeShapeType="1"/>
          </p:cNvSpPr>
          <p:nvPr/>
        </p:nvSpPr>
        <p:spPr bwMode="auto">
          <a:xfrm rot="5400000">
            <a:off x="3695700" y="37830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50" name="Line 40"/>
          <p:cNvSpPr>
            <a:spLocks noChangeShapeType="1"/>
          </p:cNvSpPr>
          <p:nvPr/>
        </p:nvSpPr>
        <p:spPr bwMode="auto">
          <a:xfrm rot="16200000" flipV="1">
            <a:off x="9258300" y="38211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351" name="Group 41"/>
          <p:cNvGrpSpPr>
            <a:grpSpLocks/>
          </p:cNvGrpSpPr>
          <p:nvPr/>
        </p:nvGrpSpPr>
        <p:grpSpPr bwMode="auto">
          <a:xfrm>
            <a:off x="4114800" y="3973513"/>
            <a:ext cx="1066800" cy="152400"/>
            <a:chOff x="1344" y="912"/>
            <a:chExt cx="672" cy="96"/>
          </a:xfrm>
        </p:grpSpPr>
        <p:sp>
          <p:nvSpPr>
            <p:cNvPr id="13390" name="Line 42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1" name="Freeform 43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1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 h 192"/>
                <a:gd name="T8" fmla="*/ 288 w 576"/>
                <a:gd name="T9" fmla="*/ 1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 h 192"/>
                <a:gd name="T16" fmla="*/ 480 w 576"/>
                <a:gd name="T17" fmla="*/ 1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1 h 192"/>
                <a:gd name="T24" fmla="*/ 0 w 576"/>
                <a:gd name="T25" fmla="*/ 1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52" name="Group 44"/>
          <p:cNvGrpSpPr>
            <a:grpSpLocks/>
          </p:cNvGrpSpPr>
          <p:nvPr/>
        </p:nvGrpSpPr>
        <p:grpSpPr bwMode="auto">
          <a:xfrm>
            <a:off x="7620000" y="3973513"/>
            <a:ext cx="1066800" cy="157162"/>
            <a:chOff x="4080" y="3676"/>
            <a:chExt cx="672" cy="99"/>
          </a:xfrm>
        </p:grpSpPr>
        <p:sp>
          <p:nvSpPr>
            <p:cNvPr id="13388" name="Line 45"/>
            <p:cNvSpPr>
              <a:spLocks noChangeShapeType="1"/>
            </p:cNvSpPr>
            <p:nvPr/>
          </p:nvSpPr>
          <p:spPr bwMode="auto">
            <a:xfrm>
              <a:off x="4080" y="3727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9" name="Freeform 46"/>
            <p:cNvSpPr>
              <a:spLocks/>
            </p:cNvSpPr>
            <p:nvPr/>
          </p:nvSpPr>
          <p:spPr bwMode="auto">
            <a:xfrm>
              <a:off x="4128" y="3676"/>
              <a:ext cx="576" cy="99"/>
            </a:xfrm>
            <a:custGeom>
              <a:avLst/>
              <a:gdLst>
                <a:gd name="T0" fmla="*/ 0 w 576"/>
                <a:gd name="T1" fmla="*/ 51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9 h 99"/>
                <a:gd name="T8" fmla="*/ 264 w 576"/>
                <a:gd name="T9" fmla="*/ 98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9 h 99"/>
                <a:gd name="T16" fmla="*/ 480 w 576"/>
                <a:gd name="T17" fmla="*/ 99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51 h 99"/>
                <a:gd name="T24" fmla="*/ 0 w 576"/>
                <a:gd name="T25" fmla="*/ 51 h 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53" name="Rectangle 47"/>
          <p:cNvSpPr>
            <a:spLocks noChangeArrowheads="1"/>
          </p:cNvSpPr>
          <p:nvPr/>
        </p:nvSpPr>
        <p:spPr bwMode="auto">
          <a:xfrm>
            <a:off x="1695981" y="5426075"/>
            <a:ext cx="875241" cy="6437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</a:t>
            </a:r>
          </a:p>
          <a:p>
            <a:pPr algn="ctr"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3354" name="Rectangle 48"/>
          <p:cNvSpPr>
            <a:spLocks noChangeArrowheads="1"/>
          </p:cNvSpPr>
          <p:nvPr/>
        </p:nvSpPr>
        <p:spPr bwMode="auto">
          <a:xfrm>
            <a:off x="2743201" y="5449889"/>
            <a:ext cx="2011363" cy="7588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55" name="Rectangle 49"/>
          <p:cNvSpPr>
            <a:spLocks noChangeArrowheads="1"/>
          </p:cNvSpPr>
          <p:nvPr/>
        </p:nvSpPr>
        <p:spPr bwMode="auto">
          <a:xfrm>
            <a:off x="3352801" y="5083175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结点 </a:t>
            </a:r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13356" name="Rectangle 50"/>
          <p:cNvSpPr>
            <a:spLocks noChangeArrowheads="1"/>
          </p:cNvSpPr>
          <p:nvPr/>
        </p:nvSpPr>
        <p:spPr bwMode="auto">
          <a:xfrm>
            <a:off x="9131301" y="5083176"/>
            <a:ext cx="86241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结点 </a:t>
            </a:r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</a:p>
        </p:txBody>
      </p:sp>
      <p:grpSp>
        <p:nvGrpSpPr>
          <p:cNvPr id="13357" name="Group 51"/>
          <p:cNvGrpSpPr>
            <a:grpSpLocks/>
          </p:cNvGrpSpPr>
          <p:nvPr/>
        </p:nvGrpSpPr>
        <p:grpSpPr bwMode="auto">
          <a:xfrm>
            <a:off x="4224338" y="5643563"/>
            <a:ext cx="977900" cy="366712"/>
            <a:chOff x="1701" y="2666"/>
            <a:chExt cx="616" cy="231"/>
          </a:xfrm>
        </p:grpSpPr>
        <p:grpSp>
          <p:nvGrpSpPr>
            <p:cNvPr id="13384" name="Group 52"/>
            <p:cNvGrpSpPr>
              <a:grpSpLocks/>
            </p:cNvGrpSpPr>
            <p:nvPr/>
          </p:nvGrpSpPr>
          <p:grpSpPr bwMode="auto">
            <a:xfrm>
              <a:off x="1701" y="2694"/>
              <a:ext cx="616" cy="192"/>
              <a:chOff x="1701" y="2694"/>
              <a:chExt cx="616" cy="192"/>
            </a:xfrm>
          </p:grpSpPr>
          <p:sp>
            <p:nvSpPr>
              <p:cNvPr id="13386" name="AutoShape 53"/>
              <p:cNvSpPr>
                <a:spLocks noChangeArrowheads="1"/>
              </p:cNvSpPr>
              <p:nvPr/>
            </p:nvSpPr>
            <p:spPr bwMode="auto">
              <a:xfrm>
                <a:off x="2045" y="2731"/>
                <a:ext cx="272" cy="136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1"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3387" name="Rectangle 54"/>
              <p:cNvSpPr>
                <a:spLocks noChangeArrowheads="1"/>
              </p:cNvSpPr>
              <p:nvPr/>
            </p:nvSpPr>
            <p:spPr bwMode="auto">
              <a:xfrm>
                <a:off x="1701" y="2694"/>
                <a:ext cx="408" cy="192"/>
              </a:xfrm>
              <a:prstGeom prst="rect">
                <a:avLst/>
              </a:prstGeom>
              <a:solidFill>
                <a:srgbClr val="DDDDD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180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3385" name="Text Box 55"/>
            <p:cNvSpPr txBox="1">
              <a:spLocks noChangeArrowheads="1"/>
            </p:cNvSpPr>
            <p:nvPr/>
          </p:nvSpPr>
          <p:spPr bwMode="auto">
            <a:xfrm>
              <a:off x="1784" y="2666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80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帧</a:t>
              </a:r>
            </a:p>
          </p:txBody>
        </p:sp>
      </p:grpSp>
      <p:sp>
        <p:nvSpPr>
          <p:cNvPr id="13358" name="Rectangle 56"/>
          <p:cNvSpPr>
            <a:spLocks noChangeArrowheads="1"/>
          </p:cNvSpPr>
          <p:nvPr/>
        </p:nvSpPr>
        <p:spPr bwMode="auto">
          <a:xfrm>
            <a:off x="6311900" y="4557714"/>
            <a:ext cx="46487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(a)</a:t>
            </a:r>
          </a:p>
        </p:txBody>
      </p:sp>
      <p:sp>
        <p:nvSpPr>
          <p:cNvPr id="13359" name="Rectangle 57"/>
          <p:cNvSpPr>
            <a:spLocks noChangeArrowheads="1"/>
          </p:cNvSpPr>
          <p:nvPr/>
        </p:nvSpPr>
        <p:spPr bwMode="auto">
          <a:xfrm>
            <a:off x="6337300" y="6292851"/>
            <a:ext cx="46487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(b)</a:t>
            </a:r>
          </a:p>
        </p:txBody>
      </p:sp>
      <p:sp>
        <p:nvSpPr>
          <p:cNvPr id="13360" name="Rectangle 58"/>
          <p:cNvSpPr>
            <a:spLocks noChangeArrowheads="1"/>
          </p:cNvSpPr>
          <p:nvPr/>
        </p:nvSpPr>
        <p:spPr bwMode="auto">
          <a:xfrm>
            <a:off x="4800600" y="5345114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发送</a:t>
            </a:r>
          </a:p>
        </p:txBody>
      </p:sp>
      <p:grpSp>
        <p:nvGrpSpPr>
          <p:cNvPr id="13361" name="Group 59"/>
          <p:cNvGrpSpPr>
            <a:grpSpLocks/>
          </p:cNvGrpSpPr>
          <p:nvPr/>
        </p:nvGrpSpPr>
        <p:grpSpPr bwMode="auto">
          <a:xfrm>
            <a:off x="8070850" y="5643563"/>
            <a:ext cx="977900" cy="366712"/>
            <a:chOff x="1701" y="2666"/>
            <a:chExt cx="616" cy="231"/>
          </a:xfrm>
        </p:grpSpPr>
        <p:grpSp>
          <p:nvGrpSpPr>
            <p:cNvPr id="13380" name="Group 60"/>
            <p:cNvGrpSpPr>
              <a:grpSpLocks/>
            </p:cNvGrpSpPr>
            <p:nvPr/>
          </p:nvGrpSpPr>
          <p:grpSpPr bwMode="auto">
            <a:xfrm>
              <a:off x="1701" y="2694"/>
              <a:ext cx="616" cy="192"/>
              <a:chOff x="1701" y="2694"/>
              <a:chExt cx="616" cy="192"/>
            </a:xfrm>
          </p:grpSpPr>
          <p:sp>
            <p:nvSpPr>
              <p:cNvPr id="13382" name="AutoShape 61"/>
              <p:cNvSpPr>
                <a:spLocks noChangeArrowheads="1"/>
              </p:cNvSpPr>
              <p:nvPr/>
            </p:nvSpPr>
            <p:spPr bwMode="auto">
              <a:xfrm>
                <a:off x="2045" y="2731"/>
                <a:ext cx="272" cy="136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1"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3383" name="Rectangle 62"/>
              <p:cNvSpPr>
                <a:spLocks noChangeArrowheads="1"/>
              </p:cNvSpPr>
              <p:nvPr/>
            </p:nvSpPr>
            <p:spPr bwMode="auto">
              <a:xfrm>
                <a:off x="1701" y="2694"/>
                <a:ext cx="408" cy="192"/>
              </a:xfrm>
              <a:prstGeom prst="rect">
                <a:avLst/>
              </a:prstGeom>
              <a:solidFill>
                <a:srgbClr val="DDDDD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180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3381" name="Text Box 63"/>
            <p:cNvSpPr txBox="1">
              <a:spLocks noChangeArrowheads="1"/>
            </p:cNvSpPr>
            <p:nvPr/>
          </p:nvSpPr>
          <p:spPr bwMode="auto">
            <a:xfrm>
              <a:off x="1784" y="2666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80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帧</a:t>
              </a:r>
            </a:p>
          </p:txBody>
        </p:sp>
      </p:grpSp>
      <p:sp>
        <p:nvSpPr>
          <p:cNvPr id="13362" name="Rectangle 64"/>
          <p:cNvSpPr>
            <a:spLocks noChangeArrowheads="1"/>
          </p:cNvSpPr>
          <p:nvPr/>
        </p:nvSpPr>
        <p:spPr bwMode="auto">
          <a:xfrm>
            <a:off x="7813675" y="5345114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接收</a:t>
            </a:r>
          </a:p>
        </p:txBody>
      </p:sp>
      <p:sp>
        <p:nvSpPr>
          <p:cNvPr id="13363" name="Rectangle 65"/>
          <p:cNvSpPr>
            <a:spLocks noChangeArrowheads="1"/>
          </p:cNvSpPr>
          <p:nvPr/>
        </p:nvSpPr>
        <p:spPr bwMode="auto">
          <a:xfrm>
            <a:off x="6311900" y="6064251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链路</a:t>
            </a:r>
          </a:p>
        </p:txBody>
      </p:sp>
      <p:sp>
        <p:nvSpPr>
          <p:cNvPr id="13364" name="Rectangle 67"/>
          <p:cNvSpPr>
            <a:spLocks noChangeArrowheads="1"/>
          </p:cNvSpPr>
          <p:nvPr/>
        </p:nvSpPr>
        <p:spPr bwMode="auto">
          <a:xfrm>
            <a:off x="2743201" y="1916113"/>
            <a:ext cx="2011363" cy="1828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65" name="Rectangle 68"/>
          <p:cNvSpPr>
            <a:spLocks noChangeArrowheads="1"/>
          </p:cNvSpPr>
          <p:nvPr/>
        </p:nvSpPr>
        <p:spPr bwMode="auto">
          <a:xfrm>
            <a:off x="2762250" y="2525713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66" name="Line 69"/>
          <p:cNvSpPr>
            <a:spLocks noChangeShapeType="1"/>
          </p:cNvSpPr>
          <p:nvPr/>
        </p:nvSpPr>
        <p:spPr bwMode="auto">
          <a:xfrm>
            <a:off x="2743200" y="2524125"/>
            <a:ext cx="2008188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67" name="Rectangle 70"/>
          <p:cNvSpPr>
            <a:spLocks noChangeArrowheads="1"/>
          </p:cNvSpPr>
          <p:nvPr/>
        </p:nvSpPr>
        <p:spPr bwMode="auto">
          <a:xfrm>
            <a:off x="3049588" y="2678113"/>
            <a:ext cx="139065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1800">
              <a:solidFill>
                <a:schemeClr val="folHlink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68" name="Line 71"/>
          <p:cNvSpPr>
            <a:spLocks noChangeShapeType="1"/>
          </p:cNvSpPr>
          <p:nvPr/>
        </p:nvSpPr>
        <p:spPr bwMode="auto">
          <a:xfrm>
            <a:off x="2743200" y="3133725"/>
            <a:ext cx="2008188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69" name="Rectangle 72"/>
          <p:cNvSpPr>
            <a:spLocks noChangeArrowheads="1"/>
          </p:cNvSpPr>
          <p:nvPr/>
        </p:nvSpPr>
        <p:spPr bwMode="auto">
          <a:xfrm>
            <a:off x="3254375" y="2068513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13370" name="Rectangle 73"/>
          <p:cNvSpPr>
            <a:spLocks noChangeArrowheads="1"/>
          </p:cNvSpPr>
          <p:nvPr/>
        </p:nvSpPr>
        <p:spPr bwMode="auto">
          <a:xfrm>
            <a:off x="3043238" y="3287713"/>
            <a:ext cx="140335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1800">
              <a:solidFill>
                <a:schemeClr val="folHlink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71" name="Rectangle 74"/>
          <p:cNvSpPr>
            <a:spLocks noChangeArrowheads="1"/>
          </p:cNvSpPr>
          <p:nvPr/>
        </p:nvSpPr>
        <p:spPr bwMode="auto">
          <a:xfrm>
            <a:off x="2979739" y="3300413"/>
            <a:ext cx="1603375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1010…  …0110</a:t>
            </a:r>
          </a:p>
        </p:txBody>
      </p:sp>
      <p:sp>
        <p:nvSpPr>
          <p:cNvPr id="13372" name="AutoShape 75"/>
          <p:cNvSpPr>
            <a:spLocks noChangeArrowheads="1"/>
          </p:cNvSpPr>
          <p:nvPr/>
        </p:nvSpPr>
        <p:spPr bwMode="auto">
          <a:xfrm>
            <a:off x="3595688" y="3135313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73" name="Rectangle 76"/>
          <p:cNvSpPr>
            <a:spLocks noChangeArrowheads="1"/>
          </p:cNvSpPr>
          <p:nvPr/>
        </p:nvSpPr>
        <p:spPr bwMode="auto">
          <a:xfrm>
            <a:off x="3248025" y="2687639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74" name="AutoShape 77"/>
          <p:cNvSpPr>
            <a:spLocks noChangeArrowheads="1"/>
          </p:cNvSpPr>
          <p:nvPr/>
        </p:nvSpPr>
        <p:spPr bwMode="auto">
          <a:xfrm>
            <a:off x="3254375" y="2382839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75" name="Text Box 78"/>
          <p:cNvSpPr txBox="1">
            <a:spLocks noChangeArrowheads="1"/>
          </p:cNvSpPr>
          <p:nvPr/>
        </p:nvSpPr>
        <p:spPr bwMode="auto">
          <a:xfrm>
            <a:off x="2711450" y="2632076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13376" name="Rectangle 79"/>
          <p:cNvSpPr>
            <a:spLocks noChangeArrowheads="1"/>
          </p:cNvSpPr>
          <p:nvPr/>
        </p:nvSpPr>
        <p:spPr bwMode="auto">
          <a:xfrm>
            <a:off x="3454400" y="2346326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800" dirty="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装入</a:t>
            </a:r>
          </a:p>
        </p:txBody>
      </p:sp>
      <p:sp>
        <p:nvSpPr>
          <p:cNvPr id="13377" name="Line 80"/>
          <p:cNvSpPr>
            <a:spLocks noChangeShapeType="1"/>
          </p:cNvSpPr>
          <p:nvPr/>
        </p:nvSpPr>
        <p:spPr bwMode="auto">
          <a:xfrm>
            <a:off x="3243263" y="2682875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78" name="Line 81"/>
          <p:cNvSpPr>
            <a:spLocks noChangeShapeType="1"/>
          </p:cNvSpPr>
          <p:nvPr/>
        </p:nvSpPr>
        <p:spPr bwMode="auto">
          <a:xfrm>
            <a:off x="4233863" y="2684463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79" name="Text Box 82"/>
          <p:cNvSpPr txBox="1">
            <a:spLocks noChangeArrowheads="1"/>
          </p:cNvSpPr>
          <p:nvPr/>
        </p:nvSpPr>
        <p:spPr bwMode="auto">
          <a:xfrm>
            <a:off x="307975" y="982664"/>
            <a:ext cx="3775075" cy="523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数据链路层传送的是</a:t>
            </a:r>
            <a:r>
              <a:rPr lang="zh-CN" altLang="en-US" sz="2800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8444" y="90486"/>
            <a:ext cx="6856412" cy="76835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数据链路层的简单模型</a:t>
            </a:r>
          </a:p>
        </p:txBody>
      </p:sp>
      <p:sp>
        <p:nvSpPr>
          <p:cNvPr id="14339" name="Line 3"/>
          <p:cNvSpPr>
            <a:spLocks noChangeShapeType="1"/>
          </p:cNvSpPr>
          <p:nvPr/>
        </p:nvSpPr>
        <p:spPr bwMode="auto">
          <a:xfrm flipH="1" flipV="1">
            <a:off x="9149556" y="2822490"/>
            <a:ext cx="673100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 flipH="1" flipV="1">
            <a:off x="8057356" y="2517690"/>
            <a:ext cx="635000" cy="2159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7168356" y="2504990"/>
            <a:ext cx="762000" cy="1524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6101556" y="2581190"/>
            <a:ext cx="914400" cy="762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5034756" y="2657390"/>
            <a:ext cx="9144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3891756" y="2428790"/>
            <a:ext cx="914400" cy="2286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Freeform 9"/>
          <p:cNvSpPr>
            <a:spLocks noChangeArrowheads="1"/>
          </p:cNvSpPr>
          <p:nvPr/>
        </p:nvSpPr>
        <p:spPr bwMode="auto">
          <a:xfrm>
            <a:off x="2088356" y="2466890"/>
            <a:ext cx="1752600" cy="508000"/>
          </a:xfrm>
          <a:custGeom>
            <a:avLst/>
            <a:gdLst>
              <a:gd name="T0" fmla="*/ 0 w 1104"/>
              <a:gd name="T1" fmla="*/ 2147483646 h 320"/>
              <a:gd name="T2" fmla="*/ 2147483646 w 1104"/>
              <a:gd name="T3" fmla="*/ 2147483646 h 320"/>
              <a:gd name="T4" fmla="*/ 2147483646 w 1104"/>
              <a:gd name="T5" fmla="*/ 0 h 3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320">
                <a:moveTo>
                  <a:pt x="0" y="320"/>
                </a:moveTo>
                <a:lnTo>
                  <a:pt x="568" y="200"/>
                </a:lnTo>
                <a:lnTo>
                  <a:pt x="1104" y="0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46" name="Group 10"/>
          <p:cNvGrpSpPr>
            <a:grpSpLocks/>
          </p:cNvGrpSpPr>
          <p:nvPr/>
        </p:nvGrpSpPr>
        <p:grpSpPr bwMode="auto">
          <a:xfrm>
            <a:off x="2443957" y="2276390"/>
            <a:ext cx="1128713" cy="781050"/>
            <a:chOff x="1680" y="240"/>
            <a:chExt cx="2529" cy="1270"/>
          </a:xfrm>
        </p:grpSpPr>
        <p:sp>
          <p:nvSpPr>
            <p:cNvPr id="14919" name="Oval 11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0" name="Oval 12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1" name="Oval 13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2" name="Oval 14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3" name="Oval 15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4" name="Oval 16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5" name="Oval 17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6" name="Oval 18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27" name="Oval 19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4347" name="Group 20"/>
          <p:cNvGrpSpPr>
            <a:grpSpLocks/>
          </p:cNvGrpSpPr>
          <p:nvPr/>
        </p:nvGrpSpPr>
        <p:grpSpPr bwMode="auto">
          <a:xfrm>
            <a:off x="4348957" y="2276390"/>
            <a:ext cx="1128713" cy="781050"/>
            <a:chOff x="1680" y="240"/>
            <a:chExt cx="2529" cy="1270"/>
          </a:xfrm>
        </p:grpSpPr>
        <p:sp>
          <p:nvSpPr>
            <p:cNvPr id="14910" name="Oval 21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1" name="Oval 22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2" name="Oval 23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3" name="Oval 24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4" name="Oval 25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5" name="Oval 26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6" name="Oval 27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7" name="Oval 28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18" name="Oval 29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4348" name="Text Box 30"/>
          <p:cNvSpPr txBox="1">
            <a:spLocks noChangeArrowheads="1"/>
          </p:cNvSpPr>
          <p:nvPr/>
        </p:nvSpPr>
        <p:spPr bwMode="auto">
          <a:xfrm>
            <a:off x="4539456" y="2465303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局域网</a:t>
            </a:r>
          </a:p>
        </p:txBody>
      </p:sp>
      <p:pic>
        <p:nvPicPr>
          <p:cNvPr id="14349" name="Picture 3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732" y="2308141"/>
            <a:ext cx="4413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3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757" y="2504991"/>
            <a:ext cx="4413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1" name="Picture 3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0556" y="2568490"/>
            <a:ext cx="5334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2" name="Picture 3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957" y="2355766"/>
            <a:ext cx="4413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53" name="Group 35"/>
          <p:cNvGrpSpPr>
            <a:grpSpLocks/>
          </p:cNvGrpSpPr>
          <p:nvPr/>
        </p:nvGrpSpPr>
        <p:grpSpPr bwMode="auto">
          <a:xfrm>
            <a:off x="6482557" y="2276390"/>
            <a:ext cx="1128713" cy="781050"/>
            <a:chOff x="1680" y="240"/>
            <a:chExt cx="2529" cy="1270"/>
          </a:xfrm>
        </p:grpSpPr>
        <p:sp>
          <p:nvSpPr>
            <p:cNvPr id="14901" name="Oval 36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2" name="Oval 37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3" name="Oval 38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4" name="Oval 39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5" name="Oval 40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6" name="Oval 41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7" name="Oval 42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8" name="Oval 43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09" name="Oval 44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4354" name="Text Box 45"/>
          <p:cNvSpPr txBox="1">
            <a:spLocks noChangeArrowheads="1"/>
          </p:cNvSpPr>
          <p:nvPr/>
        </p:nvSpPr>
        <p:spPr bwMode="auto">
          <a:xfrm>
            <a:off x="6647656" y="2465303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广域网</a:t>
            </a:r>
          </a:p>
        </p:txBody>
      </p:sp>
      <p:sp>
        <p:nvSpPr>
          <p:cNvPr id="14355" name="Text Box 46"/>
          <p:cNvSpPr txBox="1">
            <a:spLocks noChangeArrowheads="1"/>
          </p:cNvSpPr>
          <p:nvPr/>
        </p:nvSpPr>
        <p:spPr bwMode="auto">
          <a:xfrm>
            <a:off x="1632744" y="2130340"/>
            <a:ext cx="93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主机</a:t>
            </a:r>
            <a:r>
              <a:rPr lang="zh-CN" altLang="en-US" sz="1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4356" name="Text Box 47"/>
          <p:cNvSpPr txBox="1">
            <a:spLocks noChangeArrowheads="1"/>
          </p:cNvSpPr>
          <p:nvPr/>
        </p:nvSpPr>
        <p:spPr bwMode="auto">
          <a:xfrm>
            <a:off x="9338469" y="2249403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主机</a:t>
            </a:r>
            <a:r>
              <a:rPr lang="zh-CN" altLang="en-US" sz="14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4357" name="Text Box 48"/>
          <p:cNvSpPr txBox="1">
            <a:spLocks noChangeArrowheads="1"/>
          </p:cNvSpPr>
          <p:nvPr/>
        </p:nvSpPr>
        <p:spPr bwMode="auto">
          <a:xfrm>
            <a:off x="3361531" y="1946190"/>
            <a:ext cx="1150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路由器</a:t>
            </a:r>
            <a:r>
              <a:rPr lang="zh-CN" altLang="en-US" sz="9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4358" name="Text Box 49"/>
          <p:cNvSpPr txBox="1">
            <a:spLocks noChangeArrowheads="1"/>
          </p:cNvSpPr>
          <p:nvPr/>
        </p:nvSpPr>
        <p:spPr bwMode="auto">
          <a:xfrm>
            <a:off x="5520531" y="2143040"/>
            <a:ext cx="1150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路由器</a:t>
            </a:r>
            <a:r>
              <a:rPr lang="zh-CN" altLang="en-US" sz="9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4359" name="Text Box 50"/>
          <p:cNvSpPr txBox="1">
            <a:spLocks noChangeArrowheads="1"/>
          </p:cNvSpPr>
          <p:nvPr/>
        </p:nvSpPr>
        <p:spPr bwMode="auto">
          <a:xfrm>
            <a:off x="7465220" y="2003340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路由器</a:t>
            </a:r>
            <a:r>
              <a:rPr lang="zh-CN" altLang="en-US" sz="9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14360" name="Text Box 51"/>
          <p:cNvSpPr txBox="1">
            <a:spLocks noChangeArrowheads="1"/>
          </p:cNvSpPr>
          <p:nvPr/>
        </p:nvSpPr>
        <p:spPr bwMode="auto">
          <a:xfrm>
            <a:off x="2596356" y="2478003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电话网</a:t>
            </a:r>
          </a:p>
        </p:txBody>
      </p:sp>
      <p:grpSp>
        <p:nvGrpSpPr>
          <p:cNvPr id="14361" name="Group 52"/>
          <p:cNvGrpSpPr>
            <a:grpSpLocks/>
          </p:cNvGrpSpPr>
          <p:nvPr/>
        </p:nvGrpSpPr>
        <p:grpSpPr bwMode="auto">
          <a:xfrm>
            <a:off x="1681957" y="2504990"/>
            <a:ext cx="665163" cy="546100"/>
            <a:chOff x="624" y="2968"/>
            <a:chExt cx="1331" cy="920"/>
          </a:xfrm>
        </p:grpSpPr>
        <p:sp>
          <p:nvSpPr>
            <p:cNvPr id="14449" name="Freeform 53"/>
            <p:cNvSpPr>
              <a:spLocks noChangeArrowheads="1"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6 w 1426"/>
                <a:gd name="T1" fmla="*/ 3 h 2309"/>
                <a:gd name="T2" fmla="*/ 16 w 1426"/>
                <a:gd name="T3" fmla="*/ 3 h 2309"/>
                <a:gd name="T4" fmla="*/ 0 w 1426"/>
                <a:gd name="T5" fmla="*/ 2 h 2309"/>
                <a:gd name="T6" fmla="*/ 6 w 1426"/>
                <a:gd name="T7" fmla="*/ 0 h 2309"/>
                <a:gd name="T8" fmla="*/ 6 w 1426"/>
                <a:gd name="T9" fmla="*/ 0 h 2309"/>
                <a:gd name="T10" fmla="*/ 7 w 1426"/>
                <a:gd name="T11" fmla="*/ 0 h 2309"/>
                <a:gd name="T12" fmla="*/ 8 w 1426"/>
                <a:gd name="T13" fmla="*/ 0 h 2309"/>
                <a:gd name="T14" fmla="*/ 22 w 1426"/>
                <a:gd name="T15" fmla="*/ 1 h 2309"/>
                <a:gd name="T16" fmla="*/ 23 w 1426"/>
                <a:gd name="T17" fmla="*/ 1 h 2309"/>
                <a:gd name="T18" fmla="*/ 23 w 1426"/>
                <a:gd name="T19" fmla="*/ 1 h 2309"/>
                <a:gd name="T20" fmla="*/ 23 w 1426"/>
                <a:gd name="T21" fmla="*/ 1 h 2309"/>
                <a:gd name="T22" fmla="*/ 16 w 1426"/>
                <a:gd name="T23" fmla="*/ 3 h 2309"/>
                <a:gd name="T24" fmla="*/ 16 w 1426"/>
                <a:gd name="T25" fmla="*/ 3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0" name="Freeform 54"/>
            <p:cNvSpPr>
              <a:spLocks noChangeArrowheads="1"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8 w 573"/>
                <a:gd name="T1" fmla="*/ 0 h 1980"/>
                <a:gd name="T2" fmla="*/ 8 w 573"/>
                <a:gd name="T3" fmla="*/ 0 h 1980"/>
                <a:gd name="T4" fmla="*/ 2 w 573"/>
                <a:gd name="T5" fmla="*/ 3 h 1980"/>
                <a:gd name="T6" fmla="*/ 2 w 573"/>
                <a:gd name="T7" fmla="*/ 3 h 1980"/>
                <a:gd name="T8" fmla="*/ 2 w 573"/>
                <a:gd name="T9" fmla="*/ 3 h 1980"/>
                <a:gd name="T10" fmla="*/ 1 w 573"/>
                <a:gd name="T11" fmla="*/ 3 h 1980"/>
                <a:gd name="T12" fmla="*/ 1 w 573"/>
                <a:gd name="T13" fmla="*/ 3 h 1980"/>
                <a:gd name="T14" fmla="*/ 1 w 573"/>
                <a:gd name="T15" fmla="*/ 3 h 1980"/>
                <a:gd name="T16" fmla="*/ 0 w 573"/>
                <a:gd name="T17" fmla="*/ 3 h 1980"/>
                <a:gd name="T18" fmla="*/ 6 w 573"/>
                <a:gd name="T19" fmla="*/ 0 h 1980"/>
                <a:gd name="T20" fmla="*/ 6 w 573"/>
                <a:gd name="T21" fmla="*/ 0 h 1980"/>
                <a:gd name="T22" fmla="*/ 6 w 573"/>
                <a:gd name="T23" fmla="*/ 0 h 1980"/>
                <a:gd name="T24" fmla="*/ 6 w 573"/>
                <a:gd name="T25" fmla="*/ 0 h 1980"/>
                <a:gd name="T26" fmla="*/ 8 w 573"/>
                <a:gd name="T27" fmla="*/ 0 h 1980"/>
                <a:gd name="T28" fmla="*/ 8 w 573"/>
                <a:gd name="T29" fmla="*/ 0 h 1980"/>
                <a:gd name="T30" fmla="*/ 8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1" name="Freeform 55"/>
            <p:cNvSpPr>
              <a:spLocks noChangeArrowheads="1"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6 w 1045"/>
                <a:gd name="T7" fmla="*/ 1 h 441"/>
                <a:gd name="T8" fmla="*/ 17 w 1045"/>
                <a:gd name="T9" fmla="*/ 1 h 441"/>
                <a:gd name="T10" fmla="*/ 17 w 1045"/>
                <a:gd name="T11" fmla="*/ 1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2" name="Freeform 56"/>
            <p:cNvSpPr>
              <a:spLocks noChangeArrowheads="1"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0 w 955"/>
                <a:gd name="T1" fmla="*/ 2 h 1719"/>
                <a:gd name="T2" fmla="*/ 0 w 955"/>
                <a:gd name="T3" fmla="*/ 2 h 1719"/>
                <a:gd name="T4" fmla="*/ 5 w 955"/>
                <a:gd name="T5" fmla="*/ 0 h 1719"/>
                <a:gd name="T6" fmla="*/ 15 w 955"/>
                <a:gd name="T7" fmla="*/ 0 h 1719"/>
                <a:gd name="T8" fmla="*/ 10 w 955"/>
                <a:gd name="T9" fmla="*/ 2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3" name="Freeform 57"/>
            <p:cNvSpPr>
              <a:spLocks noChangeArrowheads="1"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9 w 862"/>
                <a:gd name="T1" fmla="*/ 2 h 1587"/>
                <a:gd name="T2" fmla="*/ 0 w 862"/>
                <a:gd name="T3" fmla="*/ 2 h 1587"/>
                <a:gd name="T4" fmla="*/ 5 w 862"/>
                <a:gd name="T5" fmla="*/ 0 h 1587"/>
                <a:gd name="T6" fmla="*/ 14 w 862"/>
                <a:gd name="T7" fmla="*/ 0 h 1587"/>
                <a:gd name="T8" fmla="*/ 9 w 862"/>
                <a:gd name="T9" fmla="*/ 2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4" name="Freeform 58"/>
            <p:cNvSpPr>
              <a:spLocks noChangeArrowheads="1"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6 w 408"/>
                <a:gd name="T1" fmla="*/ 0 h 1480"/>
                <a:gd name="T2" fmla="*/ 5 w 408"/>
                <a:gd name="T3" fmla="*/ 0 h 1480"/>
                <a:gd name="T4" fmla="*/ 5 w 408"/>
                <a:gd name="T5" fmla="*/ 0 h 1480"/>
                <a:gd name="T6" fmla="*/ 5 w 408"/>
                <a:gd name="T7" fmla="*/ 0 h 1480"/>
                <a:gd name="T8" fmla="*/ 5 w 408"/>
                <a:gd name="T9" fmla="*/ 0 h 1480"/>
                <a:gd name="T10" fmla="*/ 4 w 408"/>
                <a:gd name="T11" fmla="*/ 0 h 1480"/>
                <a:gd name="T12" fmla="*/ 0 w 408"/>
                <a:gd name="T13" fmla="*/ 2 h 1480"/>
                <a:gd name="T14" fmla="*/ 0 w 408"/>
                <a:gd name="T15" fmla="*/ 2 h 1480"/>
                <a:gd name="T16" fmla="*/ 5 w 408"/>
                <a:gd name="T17" fmla="*/ 0 h 1480"/>
                <a:gd name="T18" fmla="*/ 5 w 408"/>
                <a:gd name="T19" fmla="*/ 0 h 1480"/>
                <a:gd name="T20" fmla="*/ 5 w 408"/>
                <a:gd name="T21" fmla="*/ 0 h 1480"/>
                <a:gd name="T22" fmla="*/ 5 w 408"/>
                <a:gd name="T23" fmla="*/ 0 h 1480"/>
                <a:gd name="T24" fmla="*/ 5 w 408"/>
                <a:gd name="T25" fmla="*/ 0 h 1480"/>
                <a:gd name="T26" fmla="*/ 6 w 408"/>
                <a:gd name="T27" fmla="*/ 0 h 1480"/>
                <a:gd name="T28" fmla="*/ 6 w 408"/>
                <a:gd name="T29" fmla="*/ 0 h 1480"/>
                <a:gd name="T30" fmla="*/ 6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5" name="Freeform 59"/>
            <p:cNvSpPr>
              <a:spLocks noChangeArrowheads="1"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6 w 1065"/>
                <a:gd name="T1" fmla="*/ 1 h 963"/>
                <a:gd name="T2" fmla="*/ 16 w 1065"/>
                <a:gd name="T3" fmla="*/ 1 h 963"/>
                <a:gd name="T4" fmla="*/ 15 w 1065"/>
                <a:gd name="T5" fmla="*/ 1 h 963"/>
                <a:gd name="T6" fmla="*/ 2 w 1065"/>
                <a:gd name="T7" fmla="*/ 0 h 963"/>
                <a:gd name="T8" fmla="*/ 1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13 w 1065"/>
                <a:gd name="T17" fmla="*/ 1 h 963"/>
                <a:gd name="T18" fmla="*/ 16 w 1065"/>
                <a:gd name="T19" fmla="*/ 1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6" name="Freeform 60"/>
            <p:cNvSpPr>
              <a:spLocks noChangeArrowheads="1"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8 w 1969"/>
                <a:gd name="T3" fmla="*/ 0 h 862"/>
                <a:gd name="T4" fmla="*/ 31 w 1969"/>
                <a:gd name="T5" fmla="*/ 1 h 862"/>
                <a:gd name="T6" fmla="*/ 8 w 1969"/>
                <a:gd name="T7" fmla="*/ 1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7" name="Freeform 61"/>
            <p:cNvSpPr>
              <a:spLocks noChangeArrowheads="1"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28 w 1777"/>
                <a:gd name="T5" fmla="*/ 0 h 297"/>
                <a:gd name="T6" fmla="*/ 28 w 1777"/>
                <a:gd name="T7" fmla="*/ 0 h 297"/>
                <a:gd name="T8" fmla="*/ 28 w 1777"/>
                <a:gd name="T9" fmla="*/ 0 h 297"/>
                <a:gd name="T10" fmla="*/ 28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8" name="Freeform 62"/>
            <p:cNvSpPr>
              <a:spLocks noChangeArrowheads="1"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7 w 513"/>
                <a:gd name="T5" fmla="*/ 2 h 1106"/>
                <a:gd name="T6" fmla="*/ 8 w 513"/>
                <a:gd name="T7" fmla="*/ 1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59" name="Freeform 63"/>
            <p:cNvSpPr>
              <a:spLocks noChangeArrowheads="1"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4 w 262"/>
                <a:gd name="T5" fmla="*/ 0 h 25"/>
                <a:gd name="T6" fmla="*/ 5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60" name="Freeform 64"/>
            <p:cNvSpPr>
              <a:spLocks noChangeArrowheads="1"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9 w 561"/>
                <a:gd name="T1" fmla="*/ 1 h 836"/>
                <a:gd name="T2" fmla="*/ 0 w 561"/>
                <a:gd name="T3" fmla="*/ 0 h 836"/>
                <a:gd name="T4" fmla="*/ 9 w 561"/>
                <a:gd name="T5" fmla="*/ 1 h 836"/>
                <a:gd name="T6" fmla="*/ 9 w 561"/>
                <a:gd name="T7" fmla="*/ 1 h 8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461" name="Group 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4487" name="Group 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14898" name="Freeform 67"/>
                <p:cNvSpPr>
                  <a:spLocks noChangeArrowheads="1"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9" name="Freeform 68"/>
                <p:cNvSpPr>
                  <a:spLocks noChangeArrowheads="1"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1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00" name="Freeform 69"/>
                <p:cNvSpPr>
                  <a:spLocks noChangeArrowheads="1"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2 w 82"/>
                    <a:gd name="T9" fmla="*/ 0 h 35"/>
                    <a:gd name="T10" fmla="*/ 2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88" name="Group 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14895" name="Freeform 71"/>
                <p:cNvSpPr>
                  <a:spLocks noChangeArrowheads="1"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6" name="Freeform 72"/>
                <p:cNvSpPr>
                  <a:spLocks noChangeArrowheads="1"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2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7" name="Freeform 73"/>
                <p:cNvSpPr>
                  <a:spLocks noChangeArrowheads="1"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489" name="Freeform 74"/>
              <p:cNvSpPr>
                <a:spLocks noChangeArrowheads="1"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90" name="Freeform 75"/>
              <p:cNvSpPr>
                <a:spLocks noChangeArrowheads="1"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91" name="Freeform 76"/>
              <p:cNvSpPr>
                <a:spLocks noChangeArrowheads="1"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1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92" name="Freeform 77"/>
              <p:cNvSpPr>
                <a:spLocks noChangeArrowheads="1"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2 w 83"/>
                  <a:gd name="T9" fmla="*/ 0 h 36"/>
                  <a:gd name="T10" fmla="*/ 2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493" name="Group 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14892" name="Freeform 79"/>
                <p:cNvSpPr>
                  <a:spLocks noChangeArrowheads="1"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3" name="Freeform 80"/>
                <p:cNvSpPr>
                  <a:spLocks noChangeArrowheads="1"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1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4" name="Freeform 81"/>
                <p:cNvSpPr>
                  <a:spLocks noChangeArrowheads="1"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94" name="Group 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14889" name="Freeform 83"/>
                <p:cNvSpPr>
                  <a:spLocks noChangeArrowheads="1"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0" name="Freeform 84"/>
                <p:cNvSpPr>
                  <a:spLocks noChangeArrowheads="1"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1" name="Freeform 85"/>
                <p:cNvSpPr>
                  <a:spLocks noChangeArrowheads="1"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95" name="Group 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14886" name="Freeform 87"/>
                <p:cNvSpPr>
                  <a:spLocks noChangeArrowheads="1"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87" name="Freeform 88"/>
                <p:cNvSpPr>
                  <a:spLocks noChangeArrowheads="1"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1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88" name="Freeform 89"/>
                <p:cNvSpPr>
                  <a:spLocks noChangeArrowheads="1"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96" name="Group 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14883" name="Freeform 91"/>
                <p:cNvSpPr>
                  <a:spLocks noChangeArrowheads="1"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84" name="Freeform 92"/>
                <p:cNvSpPr>
                  <a:spLocks noChangeArrowheads="1"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2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85" name="Freeform 93"/>
                <p:cNvSpPr>
                  <a:spLocks noChangeArrowheads="1"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97" name="Group 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14863" name="Group 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14880" name="Freeform 96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81" name="Freeform 97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82" name="Freeform 98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2 w 82"/>
                      <a:gd name="T9" fmla="*/ 0 h 37"/>
                      <a:gd name="T10" fmla="*/ 2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64" name="Group 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14877" name="Freeform 100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8" name="Freeform 101"/>
                  <p:cNvSpPr>
                    <a:spLocks noChangeArrowheads="1"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9" name="Freeform 102"/>
                  <p:cNvSpPr>
                    <a:spLocks noChangeArrowheads="1"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65" name="Group 1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14874" name="Freeform 104"/>
                  <p:cNvSpPr>
                    <a:spLocks noChangeArrowheads="1"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5" name="Freeform 105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1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6" name="Freeform 106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66" name="Group 1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14871" name="Freeform 108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2" name="Freeform 109"/>
                  <p:cNvSpPr>
                    <a:spLocks noChangeArrowheads="1"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3" name="Freeform 110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2 w 83"/>
                      <a:gd name="T9" fmla="*/ 0 h 35"/>
                      <a:gd name="T10" fmla="*/ 2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67" name="Group 1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14868" name="Freeform 112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69" name="Freeform 113"/>
                  <p:cNvSpPr>
                    <a:spLocks noChangeArrowheads="1"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70" name="Freeform 114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498" name="Group 1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14843" name="Group 1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14860" name="Freeform 117"/>
                  <p:cNvSpPr>
                    <a:spLocks noChangeArrowheads="1"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61" name="Freeform 118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62" name="Freeform 119"/>
                  <p:cNvSpPr>
                    <a:spLocks noChangeArrowheads="1"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44" name="Group 1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14857" name="Freeform 121"/>
                  <p:cNvSpPr>
                    <a:spLocks noChangeArrowheads="1"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8" name="Freeform 122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2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9" name="Freeform 123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1 w 83"/>
                      <a:gd name="T9" fmla="*/ 0 h 37"/>
                      <a:gd name="T10" fmla="*/ 1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45" name="Group 1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14854" name="Freeform 125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5" name="Freeform 126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6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1 w 82"/>
                      <a:gd name="T9" fmla="*/ 0 h 35"/>
                      <a:gd name="T10" fmla="*/ 1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46" name="Group 1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14851" name="Freeform 129"/>
                  <p:cNvSpPr>
                    <a:spLocks noChangeArrowheads="1"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2" name="Freeform 130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3" name="Freeform 131"/>
                  <p:cNvSpPr>
                    <a:spLocks noChangeArrowheads="1"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47" name="Group 1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14848" name="Freeform 133"/>
                  <p:cNvSpPr>
                    <a:spLocks noChangeArrowheads="1"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49" name="Freeform 134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50" name="Freeform 135"/>
                  <p:cNvSpPr>
                    <a:spLocks noChangeArrowheads="1"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499" name="Group 1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14840" name="Freeform 137"/>
                <p:cNvSpPr>
                  <a:spLocks noChangeArrowheads="1"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41" name="Freeform 138"/>
                <p:cNvSpPr>
                  <a:spLocks noChangeArrowheads="1"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1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42" name="Freeform 139"/>
                <p:cNvSpPr>
                  <a:spLocks noChangeArrowheads="1"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2 w 82"/>
                    <a:gd name="T9" fmla="*/ 0 h 35"/>
                    <a:gd name="T10" fmla="*/ 2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00" name="Group 1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14837" name="Freeform 141"/>
                <p:cNvSpPr>
                  <a:spLocks noChangeArrowheads="1"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8" name="Freeform 142"/>
                <p:cNvSpPr>
                  <a:spLocks noChangeArrowheads="1"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1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9" name="Freeform 143"/>
                <p:cNvSpPr>
                  <a:spLocks noChangeArrowheads="1"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01" name="Group 1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14834" name="Freeform 145"/>
                <p:cNvSpPr>
                  <a:spLocks noChangeArrowheads="1"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5" name="Freeform 146"/>
                <p:cNvSpPr>
                  <a:spLocks noChangeArrowheads="1"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6" name="Freeform 147"/>
                <p:cNvSpPr>
                  <a:spLocks noChangeArrowheads="1"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502" name="Freeform 148"/>
              <p:cNvSpPr>
                <a:spLocks noChangeArrowheads="1"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03" name="Freeform 149"/>
              <p:cNvSpPr>
                <a:spLocks noChangeArrowheads="1"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2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04" name="Freeform 150"/>
              <p:cNvSpPr>
                <a:spLocks noChangeArrowheads="1"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1 w 82"/>
                  <a:gd name="T9" fmla="*/ 0 h 36"/>
                  <a:gd name="T10" fmla="*/ 1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505" name="Group 1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14831" name="Freeform 152"/>
                <p:cNvSpPr>
                  <a:spLocks noChangeArrowheads="1"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2" name="Freeform 153"/>
                <p:cNvSpPr>
                  <a:spLocks noChangeArrowheads="1"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2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3" name="Freeform 154"/>
                <p:cNvSpPr>
                  <a:spLocks noChangeArrowheads="1"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06" name="Group 1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14828" name="Freeform 156"/>
                <p:cNvSpPr>
                  <a:spLocks noChangeArrowheads="1"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29" name="Freeform 157"/>
                <p:cNvSpPr>
                  <a:spLocks noChangeArrowheads="1"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2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0" name="Freeform 158"/>
                <p:cNvSpPr>
                  <a:spLocks noChangeArrowheads="1"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07" name="Group 1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14825" name="Freeform 160"/>
                <p:cNvSpPr>
                  <a:spLocks noChangeArrowheads="1"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26" name="Freeform 161"/>
                <p:cNvSpPr>
                  <a:spLocks noChangeArrowheads="1"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2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27" name="Freeform 162"/>
                <p:cNvSpPr>
                  <a:spLocks noChangeArrowheads="1"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08" name="Group 1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14822" name="Freeform 164"/>
                <p:cNvSpPr>
                  <a:spLocks noChangeArrowheads="1"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23" name="Freeform 165"/>
                <p:cNvSpPr>
                  <a:spLocks noChangeArrowheads="1"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2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24" name="Freeform 166"/>
                <p:cNvSpPr>
                  <a:spLocks noChangeArrowheads="1"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2 w 80"/>
                    <a:gd name="T9" fmla="*/ 0 h 36"/>
                    <a:gd name="T10" fmla="*/ 2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09" name="Group 1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14802" name="Group 1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14819" name="Freeform 169"/>
                  <p:cNvSpPr>
                    <a:spLocks noChangeArrowheads="1"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20" name="Freeform 170"/>
                  <p:cNvSpPr>
                    <a:spLocks noChangeArrowheads="1"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2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21" name="Freeform 171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1 w 83"/>
                      <a:gd name="T9" fmla="*/ 0 h 38"/>
                      <a:gd name="T10" fmla="*/ 1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03" name="Group 1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14816" name="Freeform 173"/>
                  <p:cNvSpPr>
                    <a:spLocks noChangeArrowheads="1"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17" name="Freeform 174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1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18" name="Freeform 175"/>
                  <p:cNvSpPr>
                    <a:spLocks noChangeArrowheads="1"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2 w 81"/>
                      <a:gd name="T9" fmla="*/ 0 h 36"/>
                      <a:gd name="T10" fmla="*/ 2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04" name="Group 1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14813" name="Freeform 177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14" name="Freeform 178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2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15" name="Freeform 179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05" name="Group 1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14810" name="Freeform 181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11" name="Freeform 182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2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12" name="Freeform 183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806" name="Group 1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14807" name="Freeform 185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08" name="Freeform 186"/>
                  <p:cNvSpPr>
                    <a:spLocks noChangeArrowheads="1"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2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09" name="Freeform 187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2 w 83"/>
                      <a:gd name="T9" fmla="*/ 0 h 35"/>
                      <a:gd name="T10" fmla="*/ 2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10" name="Group 1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14782" name="Group 1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14799" name="Freeform 190"/>
                  <p:cNvSpPr>
                    <a:spLocks noChangeArrowheads="1"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00" name="Freeform 191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1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01" name="Freeform 192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83" name="Group 1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14796" name="Freeform 194"/>
                  <p:cNvSpPr>
                    <a:spLocks noChangeArrowheads="1"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97" name="Freeform 195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2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98" name="Freeform 196"/>
                  <p:cNvSpPr>
                    <a:spLocks noChangeArrowheads="1"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2 w 82"/>
                      <a:gd name="T9" fmla="*/ 0 h 38"/>
                      <a:gd name="T10" fmla="*/ 2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84" name="Group 1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14793" name="Freeform 198"/>
                  <p:cNvSpPr>
                    <a:spLocks noChangeArrowheads="1"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94" name="Freeform 199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1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95" name="Freeform 200"/>
                  <p:cNvSpPr>
                    <a:spLocks noChangeArrowheads="1"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2 w 81"/>
                      <a:gd name="T9" fmla="*/ 0 h 36"/>
                      <a:gd name="T10" fmla="*/ 2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85" name="Group 2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14790" name="Freeform 202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91" name="Freeform 203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2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92" name="Freeform 204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86" name="Group 2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14787" name="Freeform 206"/>
                  <p:cNvSpPr>
                    <a:spLocks noChangeArrowheads="1"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88" name="Freeform 207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89" name="Freeform 208"/>
                  <p:cNvSpPr>
                    <a:spLocks noChangeArrowheads="1"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11" name="Group 2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14779" name="Freeform 210"/>
                <p:cNvSpPr>
                  <a:spLocks noChangeArrowheads="1"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80" name="Freeform 211"/>
                <p:cNvSpPr>
                  <a:spLocks noChangeArrowheads="1"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2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81" name="Freeform 212"/>
                <p:cNvSpPr>
                  <a:spLocks noChangeArrowheads="1"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12" name="Group 2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14776" name="Freeform 214"/>
                <p:cNvSpPr>
                  <a:spLocks noChangeArrowheads="1"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7" name="Freeform 215"/>
                <p:cNvSpPr>
                  <a:spLocks noChangeArrowheads="1"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8" name="Freeform 216"/>
                <p:cNvSpPr>
                  <a:spLocks noChangeArrowheads="1"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13" name="Group 2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14773" name="Freeform 218"/>
                <p:cNvSpPr>
                  <a:spLocks noChangeArrowheads="1"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4" name="Freeform 219"/>
                <p:cNvSpPr>
                  <a:spLocks noChangeArrowheads="1"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5" name="Freeform 220"/>
                <p:cNvSpPr>
                  <a:spLocks noChangeArrowheads="1"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514" name="Freeform 221"/>
              <p:cNvSpPr>
                <a:spLocks noChangeArrowheads="1"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15" name="Freeform 222"/>
              <p:cNvSpPr>
                <a:spLocks noChangeArrowheads="1"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2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16" name="Freeform 223"/>
              <p:cNvSpPr>
                <a:spLocks noChangeArrowheads="1"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517" name="Group 2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14770" name="Freeform 225"/>
                <p:cNvSpPr>
                  <a:spLocks noChangeArrowheads="1"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1" name="Freeform 226"/>
                <p:cNvSpPr>
                  <a:spLocks noChangeArrowheads="1"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2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2" name="Freeform 227"/>
                <p:cNvSpPr>
                  <a:spLocks noChangeArrowheads="1"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18" name="Group 2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14767" name="Freeform 229"/>
                <p:cNvSpPr>
                  <a:spLocks noChangeArrowheads="1"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8" name="Freeform 230"/>
                <p:cNvSpPr>
                  <a:spLocks noChangeArrowheads="1"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2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9" name="Freeform 231"/>
                <p:cNvSpPr>
                  <a:spLocks noChangeArrowheads="1"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19" name="Group 2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14764" name="Freeform 233"/>
                <p:cNvSpPr>
                  <a:spLocks noChangeArrowheads="1"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5" name="Freeform 234"/>
                <p:cNvSpPr>
                  <a:spLocks noChangeArrowheads="1"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1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6" name="Freeform 235"/>
                <p:cNvSpPr>
                  <a:spLocks noChangeArrowheads="1"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0" name="Group 2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14761" name="Freeform 237"/>
                <p:cNvSpPr>
                  <a:spLocks noChangeArrowheads="1"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2" name="Freeform 238"/>
                <p:cNvSpPr>
                  <a:spLocks noChangeArrowheads="1"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1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3" name="Freeform 239"/>
                <p:cNvSpPr>
                  <a:spLocks noChangeArrowheads="1"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2 w 80"/>
                    <a:gd name="T9" fmla="*/ 0 h 36"/>
                    <a:gd name="T10" fmla="*/ 2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1" name="Group 2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14741" name="Group 2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14758" name="Freeform 242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9" name="Freeform 243"/>
                  <p:cNvSpPr>
                    <a:spLocks noChangeArrowheads="1"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1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60" name="Freeform 244"/>
                  <p:cNvSpPr>
                    <a:spLocks noChangeArrowheads="1"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2 w 82"/>
                      <a:gd name="T9" fmla="*/ 0 h 38"/>
                      <a:gd name="T10" fmla="*/ 2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42" name="Group 2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14755" name="Freeform 246"/>
                  <p:cNvSpPr>
                    <a:spLocks noChangeArrowheads="1"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6" name="Freeform 247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2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7" name="Freeform 248"/>
                  <p:cNvSpPr>
                    <a:spLocks noChangeArrowheads="1"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43" name="Group 2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14752" name="Freeform 250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3" name="Freeform 251"/>
                  <p:cNvSpPr>
                    <a:spLocks noChangeArrowheads="1"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2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4" name="Freeform 252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44" name="Group 2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14749" name="Freeform 254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0" name="Freeform 255"/>
                  <p:cNvSpPr>
                    <a:spLocks noChangeArrowheads="1"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2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51" name="Freeform 256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45" name="Group 2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14746" name="Freeform 258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7" name="Freeform 259"/>
                  <p:cNvSpPr>
                    <a:spLocks noChangeArrowheads="1"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2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8" name="Freeform 260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22" name="Group 2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14721" name="Group 2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14738" name="Freeform 263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9" name="Freeform 264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2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40" name="Freeform 265"/>
                  <p:cNvSpPr>
                    <a:spLocks noChangeArrowheads="1"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22" name="Group 2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14735" name="Freeform 267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6" name="Freeform 268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2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7" name="Freeform 269"/>
                  <p:cNvSpPr>
                    <a:spLocks noChangeArrowheads="1"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2 w 81"/>
                      <a:gd name="T9" fmla="*/ 0 h 38"/>
                      <a:gd name="T10" fmla="*/ 2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23" name="Group 2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14732" name="Freeform 271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3" name="Freeform 272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4" name="Freeform 273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24" name="Group 2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14729" name="Freeform 275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0" name="Freeform 276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1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31" name="Freeform 277"/>
                  <p:cNvSpPr>
                    <a:spLocks noChangeArrowheads="1"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25" name="Group 2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14726" name="Freeform 279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27" name="Freeform 280"/>
                  <p:cNvSpPr>
                    <a:spLocks noChangeArrowheads="1"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28" name="Freeform 281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23" name="Group 2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14718" name="Freeform 283"/>
                <p:cNvSpPr>
                  <a:spLocks noChangeArrowheads="1"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9" name="Freeform 284"/>
                <p:cNvSpPr>
                  <a:spLocks noChangeArrowheads="1"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2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20" name="Freeform 285"/>
                <p:cNvSpPr>
                  <a:spLocks noChangeArrowheads="1"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4" name="Group 2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14715" name="Freeform 287"/>
                <p:cNvSpPr>
                  <a:spLocks noChangeArrowheads="1"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6" name="Freeform 288"/>
                <p:cNvSpPr>
                  <a:spLocks noChangeArrowheads="1"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2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7" name="Freeform 289"/>
                <p:cNvSpPr>
                  <a:spLocks noChangeArrowheads="1"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5" name="Group 2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14712" name="Freeform 291"/>
                <p:cNvSpPr>
                  <a:spLocks noChangeArrowheads="1"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3" name="Freeform 292"/>
                <p:cNvSpPr>
                  <a:spLocks noChangeArrowheads="1"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1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4" name="Freeform 293"/>
                <p:cNvSpPr>
                  <a:spLocks noChangeArrowheads="1"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2 w 83"/>
                    <a:gd name="T9" fmla="*/ 0 h 35"/>
                    <a:gd name="T10" fmla="*/ 2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6" name="Group 2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14709" name="Freeform 295"/>
                <p:cNvSpPr>
                  <a:spLocks noChangeArrowheads="1"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0" name="Freeform 296"/>
                <p:cNvSpPr>
                  <a:spLocks noChangeArrowheads="1"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2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1" name="Freeform 297"/>
                <p:cNvSpPr>
                  <a:spLocks noChangeArrowheads="1"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7" name="Group 2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14706" name="Freeform 299"/>
                <p:cNvSpPr>
                  <a:spLocks noChangeArrowheads="1"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07" name="Freeform 300"/>
                <p:cNvSpPr>
                  <a:spLocks noChangeArrowheads="1"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1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08" name="Freeform 301"/>
                <p:cNvSpPr>
                  <a:spLocks noChangeArrowheads="1"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28" name="Group 3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14686" name="Group 3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14703" name="Freeform 304"/>
                  <p:cNvSpPr>
                    <a:spLocks noChangeArrowheads="1"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04" name="Freeform 305"/>
                  <p:cNvSpPr>
                    <a:spLocks noChangeArrowheads="1"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05" name="Freeform 306"/>
                  <p:cNvSpPr>
                    <a:spLocks noChangeArrowheads="1"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87" name="Group 3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14700" name="Freeform 308"/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01" name="Freeform 309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2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02" name="Freeform 310"/>
                  <p:cNvSpPr>
                    <a:spLocks noChangeArrowheads="1"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88" name="Group 3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14697" name="Freeform 312"/>
                  <p:cNvSpPr>
                    <a:spLocks noChangeArrowheads="1"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98" name="Freeform 313"/>
                  <p:cNvSpPr>
                    <a:spLocks noChangeArrowheads="1"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2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99" name="Freeform 314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89" name="Group 3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14694" name="Freeform 31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95" name="Freeform 317"/>
                  <p:cNvSpPr>
                    <a:spLocks noChangeArrowheads="1"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2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96" name="Freeform 318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90" name="Group 3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14691" name="Freeform 320"/>
                  <p:cNvSpPr>
                    <a:spLocks noChangeArrowheads="1"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92" name="Freeform 321"/>
                  <p:cNvSpPr>
                    <a:spLocks noChangeArrowheads="1"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93" name="Freeform 32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2 w 81"/>
                      <a:gd name="T9" fmla="*/ 0 h 35"/>
                      <a:gd name="T10" fmla="*/ 2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29" name="Group 3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14666" name="Group 3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14683" name="Freeform 325"/>
                  <p:cNvSpPr>
                    <a:spLocks noChangeArrowheads="1"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84" name="Freeform 326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85" name="Freeform 327"/>
                  <p:cNvSpPr>
                    <a:spLocks noChangeArrowheads="1"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67" name="Group 3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14680" name="Freeform 329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81" name="Freeform 330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1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82" name="Freeform 331"/>
                  <p:cNvSpPr>
                    <a:spLocks noChangeArrowheads="1"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2 w 82"/>
                      <a:gd name="T9" fmla="*/ 0 h 38"/>
                      <a:gd name="T10" fmla="*/ 2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68" name="Group 3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14677" name="Freeform 333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78" name="Freeform 334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79" name="Freeform 335"/>
                  <p:cNvSpPr>
                    <a:spLocks noChangeArrowheads="1"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69" name="Group 3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14674" name="Freeform 337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75" name="Freeform 33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2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76" name="Freeform 339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70" name="Group 3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14671" name="Freeform 341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72" name="Freeform 342"/>
                  <p:cNvSpPr>
                    <a:spLocks noChangeArrowheads="1"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73" name="Freeform 343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30" name="Group 3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14663" name="Freeform 345"/>
                <p:cNvSpPr>
                  <a:spLocks noChangeArrowheads="1"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64" name="Freeform 346"/>
                <p:cNvSpPr>
                  <a:spLocks noChangeArrowheads="1"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2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65" name="Freeform 347"/>
                <p:cNvSpPr>
                  <a:spLocks noChangeArrowheads="1"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1" name="Group 3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14660" name="Freeform 349"/>
                <p:cNvSpPr>
                  <a:spLocks noChangeArrowheads="1"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61" name="Freeform 350"/>
                <p:cNvSpPr>
                  <a:spLocks noChangeArrowheads="1"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2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62" name="Freeform 351"/>
                <p:cNvSpPr>
                  <a:spLocks noChangeArrowheads="1"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1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2" name="Group 3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14657" name="Freeform 353"/>
                <p:cNvSpPr>
                  <a:spLocks noChangeArrowheads="1"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8" name="Freeform 354"/>
                <p:cNvSpPr>
                  <a:spLocks noChangeArrowheads="1"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9" name="Freeform 355"/>
                <p:cNvSpPr>
                  <a:spLocks noChangeArrowheads="1"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2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3" name="Group 3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14654" name="Freeform 357"/>
                <p:cNvSpPr>
                  <a:spLocks noChangeArrowheads="1"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5" name="Freeform 358"/>
                <p:cNvSpPr>
                  <a:spLocks noChangeArrowheads="1"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6" name="Freeform 359"/>
                <p:cNvSpPr>
                  <a:spLocks noChangeArrowheads="1"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2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4" name="Group 3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14651" name="Freeform 361"/>
                <p:cNvSpPr>
                  <a:spLocks noChangeArrowheads="1"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2" name="Freeform 362"/>
                <p:cNvSpPr>
                  <a:spLocks noChangeArrowheads="1"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1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3" name="Freeform 363"/>
                <p:cNvSpPr>
                  <a:spLocks noChangeArrowheads="1"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2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5" name="Group 3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14635" name="Group 3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14648" name="Freeform 366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9" name="Freeform 367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1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50" name="Freeform 368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2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36" name="Group 3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14645" name="Freeform 370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6" name="Freeform 371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2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7" name="Freeform 372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2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37" name="Group 3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14642" name="Freeform 374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3" name="Freeform 375"/>
                  <p:cNvSpPr>
                    <a:spLocks noChangeArrowheads="1"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1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4" name="Freeform 376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38" name="Group 3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14639" name="Freeform 378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0" name="Freeform 379"/>
                  <p:cNvSpPr>
                    <a:spLocks noChangeArrowheads="1"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41" name="Freeform 380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2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36" name="Group 3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14619" name="Group 3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14632" name="Freeform 383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33" name="Freeform 384"/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2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34" name="Freeform 385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2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20" name="Group 3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14629" name="Freeform 387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30" name="Freeform 388"/>
                  <p:cNvSpPr>
                    <a:spLocks noChangeArrowheads="1"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31" name="Freeform 389"/>
                  <p:cNvSpPr>
                    <a:spLocks noChangeArrowheads="1"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1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21" name="Group 3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14626" name="Freeform 391"/>
                  <p:cNvSpPr>
                    <a:spLocks noChangeArrowheads="1"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27" name="Freeform 392"/>
                  <p:cNvSpPr>
                    <a:spLocks noChangeArrowheads="1"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2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28" name="Freeform 393"/>
                  <p:cNvSpPr>
                    <a:spLocks noChangeArrowheads="1"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2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622" name="Group 3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14623" name="Freeform 395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24" name="Freeform 396"/>
                  <p:cNvSpPr>
                    <a:spLocks noChangeArrowheads="1"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1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25" name="Freeform 397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4537" name="Group 3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14616" name="Freeform 399"/>
                <p:cNvSpPr>
                  <a:spLocks noChangeArrowheads="1"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7" name="Freeform 400"/>
                <p:cNvSpPr>
                  <a:spLocks noChangeArrowheads="1"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8" name="Freeform 401"/>
                <p:cNvSpPr>
                  <a:spLocks noChangeArrowheads="1"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2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8" name="Group 4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14613" name="Freeform 403"/>
                <p:cNvSpPr>
                  <a:spLocks noChangeArrowheads="1"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4" name="Freeform 404"/>
                <p:cNvSpPr>
                  <a:spLocks noChangeArrowheads="1"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5" name="Freeform 405"/>
                <p:cNvSpPr>
                  <a:spLocks noChangeArrowheads="1"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2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39" name="Group 4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14610" name="Freeform 407"/>
                <p:cNvSpPr>
                  <a:spLocks noChangeArrowheads="1"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1" name="Freeform 408"/>
                <p:cNvSpPr>
                  <a:spLocks noChangeArrowheads="1"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2" name="Freeform 409"/>
                <p:cNvSpPr>
                  <a:spLocks noChangeArrowheads="1"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40" name="Group 4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14607" name="Freeform 411"/>
                <p:cNvSpPr>
                  <a:spLocks noChangeArrowheads="1"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8" name="Freeform 412"/>
                <p:cNvSpPr>
                  <a:spLocks noChangeArrowheads="1"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9" name="Freeform 413"/>
                <p:cNvSpPr>
                  <a:spLocks noChangeArrowheads="1"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41" name="Group 4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14604" name="Freeform 415"/>
                <p:cNvSpPr>
                  <a:spLocks noChangeArrowheads="1"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5" name="Freeform 416"/>
                <p:cNvSpPr>
                  <a:spLocks noChangeArrowheads="1"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6" name="Freeform 417"/>
                <p:cNvSpPr>
                  <a:spLocks noChangeArrowheads="1"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42" name="Group 4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14601" name="Freeform 419"/>
                <p:cNvSpPr>
                  <a:spLocks noChangeArrowheads="1"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2" name="Freeform 420"/>
                <p:cNvSpPr>
                  <a:spLocks noChangeArrowheads="1"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2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3" name="Freeform 421"/>
                <p:cNvSpPr>
                  <a:spLocks noChangeArrowheads="1"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2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43" name="Group 4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14598" name="Freeform 423"/>
                <p:cNvSpPr>
                  <a:spLocks noChangeArrowheads="1"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9" name="Freeform 424"/>
                <p:cNvSpPr>
                  <a:spLocks noChangeArrowheads="1"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0" name="Freeform 425"/>
                <p:cNvSpPr>
                  <a:spLocks noChangeArrowheads="1"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544" name="Freeform 426"/>
              <p:cNvSpPr>
                <a:spLocks noChangeArrowheads="1"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2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5" name="Freeform 427"/>
              <p:cNvSpPr>
                <a:spLocks noChangeArrowheads="1"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6" name="Freeform 428"/>
              <p:cNvSpPr>
                <a:spLocks noChangeArrowheads="1"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2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7" name="Freeform 429"/>
              <p:cNvSpPr>
                <a:spLocks noChangeArrowheads="1"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2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8" name="Freeform 430"/>
              <p:cNvSpPr>
                <a:spLocks noChangeArrowheads="1"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9" name="Freeform 431"/>
              <p:cNvSpPr>
                <a:spLocks noChangeArrowheads="1"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2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50" name="Freeform 432"/>
              <p:cNvSpPr>
                <a:spLocks noChangeArrowheads="1"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2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51" name="Freeform 433"/>
              <p:cNvSpPr>
                <a:spLocks noChangeArrowheads="1"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2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52" name="Freeform 434"/>
              <p:cNvSpPr>
                <a:spLocks noChangeArrowheads="1"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53" name="Freeform 435"/>
              <p:cNvSpPr>
                <a:spLocks noChangeArrowheads="1"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2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54" name="Freeform 436"/>
              <p:cNvSpPr>
                <a:spLocks noChangeArrowheads="1"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1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555" name="Group 4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14595" name="Freeform 438"/>
                <p:cNvSpPr>
                  <a:spLocks noChangeArrowheads="1"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6" name="Freeform 439"/>
                <p:cNvSpPr>
                  <a:spLocks noChangeArrowheads="1"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2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7" name="Freeform 440"/>
                <p:cNvSpPr>
                  <a:spLocks noChangeArrowheads="1"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56" name="Group 4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14592" name="Freeform 442"/>
                <p:cNvSpPr>
                  <a:spLocks noChangeArrowheads="1"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3" name="Freeform 443"/>
                <p:cNvSpPr>
                  <a:spLocks noChangeArrowheads="1"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1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4" name="Freeform 444"/>
                <p:cNvSpPr>
                  <a:spLocks noChangeArrowheads="1"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2 w 81"/>
                    <a:gd name="T9" fmla="*/ 0 h 35"/>
                    <a:gd name="T10" fmla="*/ 2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57" name="Group 4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14589" name="Freeform 446"/>
                <p:cNvSpPr>
                  <a:spLocks noChangeArrowheads="1"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0" name="Freeform 447"/>
                <p:cNvSpPr>
                  <a:spLocks noChangeArrowheads="1"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2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1" name="Freeform 448"/>
                <p:cNvSpPr>
                  <a:spLocks noChangeArrowheads="1"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58" name="Group 4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14586" name="Freeform 450"/>
                <p:cNvSpPr>
                  <a:spLocks noChangeArrowheads="1"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7" name="Freeform 451"/>
                <p:cNvSpPr>
                  <a:spLocks noChangeArrowheads="1"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2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8" name="Freeform 452"/>
                <p:cNvSpPr>
                  <a:spLocks noChangeArrowheads="1"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59" name="Group 4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14583" name="Freeform 454"/>
                <p:cNvSpPr>
                  <a:spLocks noChangeArrowheads="1"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3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3 w 182"/>
                    <a:gd name="T7" fmla="*/ 0 h 314"/>
                    <a:gd name="T8" fmla="*/ 3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4" name="Freeform 455"/>
                <p:cNvSpPr>
                  <a:spLocks noChangeArrowheads="1"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2 w 235"/>
                    <a:gd name="T7" fmla="*/ 0 h 281"/>
                    <a:gd name="T8" fmla="*/ 4 w 235"/>
                    <a:gd name="T9" fmla="*/ 0 h 281"/>
                    <a:gd name="T10" fmla="*/ 3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5" name="Freeform 456"/>
                <p:cNvSpPr>
                  <a:spLocks noChangeArrowheads="1"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1 w 95"/>
                    <a:gd name="T9" fmla="*/ 0 h 36"/>
                    <a:gd name="T10" fmla="*/ 1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60" name="Group 4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4580" name="Freeform 458"/>
                <p:cNvSpPr>
                  <a:spLocks noChangeArrowheads="1"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1" name="Freeform 459"/>
                <p:cNvSpPr>
                  <a:spLocks noChangeArrowheads="1"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2" name="Freeform 460"/>
                <p:cNvSpPr>
                  <a:spLocks noChangeArrowheads="1"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2 w 81"/>
                    <a:gd name="T9" fmla="*/ 0 h 34"/>
                    <a:gd name="T10" fmla="*/ 2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61" name="Group 4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4577" name="Freeform 462"/>
                <p:cNvSpPr>
                  <a:spLocks noChangeArrowheads="1"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8" name="Freeform 463"/>
                <p:cNvSpPr>
                  <a:spLocks noChangeArrowheads="1"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2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9" name="Freeform 464"/>
                <p:cNvSpPr>
                  <a:spLocks noChangeArrowheads="1"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62" name="Group 4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4574" name="Freeform 466"/>
                <p:cNvSpPr>
                  <a:spLocks noChangeArrowheads="1"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5" name="Freeform 467"/>
                <p:cNvSpPr>
                  <a:spLocks noChangeArrowheads="1"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6" name="Freeform 468"/>
                <p:cNvSpPr>
                  <a:spLocks noChangeArrowheads="1"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63" name="Group 4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4571" name="Freeform 470"/>
                <p:cNvSpPr>
                  <a:spLocks noChangeArrowheads="1"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2" name="Freeform 471"/>
                <p:cNvSpPr>
                  <a:spLocks noChangeArrowheads="1"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3" name="Freeform 472"/>
                <p:cNvSpPr>
                  <a:spLocks noChangeArrowheads="1"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64" name="Group 4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4568" name="Freeform 474"/>
                <p:cNvSpPr>
                  <a:spLocks noChangeArrowheads="1"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69" name="Freeform 475"/>
                <p:cNvSpPr>
                  <a:spLocks noChangeArrowheads="1"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0" name="Freeform 476"/>
                <p:cNvSpPr>
                  <a:spLocks noChangeArrowheads="1"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565" name="Freeform 477"/>
              <p:cNvSpPr>
                <a:spLocks noChangeArrowheads="1"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66" name="Freeform 478"/>
              <p:cNvSpPr>
                <a:spLocks noChangeArrowheads="1"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1 w 183"/>
                  <a:gd name="T3" fmla="*/ 0 h 85"/>
                  <a:gd name="T4" fmla="*/ 1 w 183"/>
                  <a:gd name="T5" fmla="*/ 0 h 85"/>
                  <a:gd name="T6" fmla="*/ 1 w 183"/>
                  <a:gd name="T7" fmla="*/ 0 h 85"/>
                  <a:gd name="T8" fmla="*/ 1 w 183"/>
                  <a:gd name="T9" fmla="*/ 0 h 85"/>
                  <a:gd name="T10" fmla="*/ 2 w 183"/>
                  <a:gd name="T11" fmla="*/ 0 h 85"/>
                  <a:gd name="T12" fmla="*/ 2 w 183"/>
                  <a:gd name="T13" fmla="*/ 0 h 85"/>
                  <a:gd name="T14" fmla="*/ 2 w 183"/>
                  <a:gd name="T15" fmla="*/ 0 h 85"/>
                  <a:gd name="T16" fmla="*/ 2 w 183"/>
                  <a:gd name="T17" fmla="*/ 0 h 85"/>
                  <a:gd name="T18" fmla="*/ 1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67" name="Freeform 479"/>
              <p:cNvSpPr>
                <a:spLocks noChangeArrowheads="1"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3 w 160"/>
                  <a:gd name="T9" fmla="*/ 0 h 36"/>
                  <a:gd name="T10" fmla="*/ 3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462" name="Group 4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4483" name="Freeform 481"/>
              <p:cNvSpPr>
                <a:spLocks noChangeArrowheads="1"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3 w 825"/>
                  <a:gd name="T15" fmla="*/ 0 h 151"/>
                  <a:gd name="T16" fmla="*/ 13 w 825"/>
                  <a:gd name="T17" fmla="*/ 0 h 151"/>
                  <a:gd name="T18" fmla="*/ 13 w 825"/>
                  <a:gd name="T19" fmla="*/ 0 h 151"/>
                  <a:gd name="T20" fmla="*/ 13 w 825"/>
                  <a:gd name="T21" fmla="*/ 0 h 151"/>
                  <a:gd name="T22" fmla="*/ 13 w 825"/>
                  <a:gd name="T23" fmla="*/ 0 h 151"/>
                  <a:gd name="T24" fmla="*/ 13 w 825"/>
                  <a:gd name="T25" fmla="*/ 0 h 151"/>
                  <a:gd name="T26" fmla="*/ 13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84" name="Freeform 482"/>
              <p:cNvSpPr>
                <a:spLocks noChangeArrowheads="1"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3 w 658"/>
                  <a:gd name="T5" fmla="*/ 0 h 79"/>
                  <a:gd name="T6" fmla="*/ 3 w 658"/>
                  <a:gd name="T7" fmla="*/ 0 h 79"/>
                  <a:gd name="T8" fmla="*/ 8 w 658"/>
                  <a:gd name="T9" fmla="*/ 0 h 79"/>
                  <a:gd name="T10" fmla="*/ 8 w 658"/>
                  <a:gd name="T11" fmla="*/ 0 h 79"/>
                  <a:gd name="T12" fmla="*/ 11 w 658"/>
                  <a:gd name="T13" fmla="*/ 0 h 79"/>
                  <a:gd name="T14" fmla="*/ 11 w 658"/>
                  <a:gd name="T15" fmla="*/ 0 h 79"/>
                  <a:gd name="T16" fmla="*/ 8 w 658"/>
                  <a:gd name="T17" fmla="*/ 0 h 79"/>
                  <a:gd name="T18" fmla="*/ 8 w 658"/>
                  <a:gd name="T19" fmla="*/ 0 h 79"/>
                  <a:gd name="T20" fmla="*/ 3 w 658"/>
                  <a:gd name="T21" fmla="*/ 0 h 79"/>
                  <a:gd name="T22" fmla="*/ 3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85" name="Rectangle 4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486" name="Rectangle 4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463" name="Group 4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4464" name="Freeform 486"/>
              <p:cNvSpPr>
                <a:spLocks noChangeArrowheads="1"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 w 191"/>
                  <a:gd name="T1" fmla="*/ 0 h 200"/>
                  <a:gd name="T2" fmla="*/ 1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2 w 191"/>
                  <a:gd name="T17" fmla="*/ 0 h 200"/>
                  <a:gd name="T18" fmla="*/ 2 w 191"/>
                  <a:gd name="T19" fmla="*/ 0 h 200"/>
                  <a:gd name="T20" fmla="*/ 2 w 191"/>
                  <a:gd name="T21" fmla="*/ 0 h 200"/>
                  <a:gd name="T22" fmla="*/ 1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65" name="Freeform 487"/>
              <p:cNvSpPr>
                <a:spLocks noChangeArrowheads="1"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13 w 860"/>
                  <a:gd name="T3" fmla="*/ 1 h 791"/>
                  <a:gd name="T4" fmla="*/ 13 w 860"/>
                  <a:gd name="T5" fmla="*/ 1 h 791"/>
                  <a:gd name="T6" fmla="*/ 13 w 860"/>
                  <a:gd name="T7" fmla="*/ 1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66" name="Freeform 488"/>
              <p:cNvSpPr>
                <a:spLocks noChangeArrowheads="1"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2 w 281"/>
                  <a:gd name="T7" fmla="*/ 0 h 366"/>
                  <a:gd name="T8" fmla="*/ 2 w 281"/>
                  <a:gd name="T9" fmla="*/ 0 h 366"/>
                  <a:gd name="T10" fmla="*/ 3 w 281"/>
                  <a:gd name="T11" fmla="*/ 0 h 366"/>
                  <a:gd name="T12" fmla="*/ 5 w 281"/>
                  <a:gd name="T13" fmla="*/ 0 h 366"/>
                  <a:gd name="T14" fmla="*/ 5 w 281"/>
                  <a:gd name="T15" fmla="*/ 0 h 366"/>
                  <a:gd name="T16" fmla="*/ 4 w 281"/>
                  <a:gd name="T17" fmla="*/ 0 h 366"/>
                  <a:gd name="T18" fmla="*/ 3 w 281"/>
                  <a:gd name="T19" fmla="*/ 0 h 366"/>
                  <a:gd name="T20" fmla="*/ 3 w 281"/>
                  <a:gd name="T21" fmla="*/ 0 h 366"/>
                  <a:gd name="T22" fmla="*/ 3 w 281"/>
                  <a:gd name="T23" fmla="*/ 0 h 366"/>
                  <a:gd name="T24" fmla="*/ 3 w 281"/>
                  <a:gd name="T25" fmla="*/ 0 h 366"/>
                  <a:gd name="T26" fmla="*/ 3 w 281"/>
                  <a:gd name="T27" fmla="*/ 0 h 366"/>
                  <a:gd name="T28" fmla="*/ 3 w 281"/>
                  <a:gd name="T29" fmla="*/ 1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67" name="Line 4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68" name="Freeform 490"/>
              <p:cNvSpPr>
                <a:spLocks noChangeArrowheads="1"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2 w 222"/>
                  <a:gd name="T7" fmla="*/ 0 h 289"/>
                  <a:gd name="T8" fmla="*/ 3 w 222"/>
                  <a:gd name="T9" fmla="*/ 0 h 289"/>
                  <a:gd name="T10" fmla="*/ 3 w 222"/>
                  <a:gd name="T11" fmla="*/ 0 h 289"/>
                  <a:gd name="T12" fmla="*/ 4 w 222"/>
                  <a:gd name="T13" fmla="*/ 0 h 289"/>
                  <a:gd name="T14" fmla="*/ 4 w 222"/>
                  <a:gd name="T15" fmla="*/ 0 h 289"/>
                  <a:gd name="T16" fmla="*/ 3 w 222"/>
                  <a:gd name="T17" fmla="*/ 0 h 289"/>
                  <a:gd name="T18" fmla="*/ 3 w 222"/>
                  <a:gd name="T19" fmla="*/ 0 h 289"/>
                  <a:gd name="T20" fmla="*/ 3 w 222"/>
                  <a:gd name="T21" fmla="*/ 0 h 289"/>
                  <a:gd name="T22" fmla="*/ 2 w 222"/>
                  <a:gd name="T23" fmla="*/ 0 h 289"/>
                  <a:gd name="T24" fmla="*/ 2 w 222"/>
                  <a:gd name="T25" fmla="*/ 0 h 289"/>
                  <a:gd name="T26" fmla="*/ 2 w 222"/>
                  <a:gd name="T27" fmla="*/ 0 h 289"/>
                  <a:gd name="T28" fmla="*/ 2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69" name="Freeform 491"/>
              <p:cNvSpPr>
                <a:spLocks noChangeArrowheads="1"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2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0" name="Freeform 492"/>
              <p:cNvSpPr>
                <a:spLocks noChangeArrowheads="1"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2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1" name="Freeform 493"/>
              <p:cNvSpPr>
                <a:spLocks noChangeArrowheads="1"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2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2" name="Freeform 494"/>
              <p:cNvSpPr>
                <a:spLocks noChangeArrowheads="1"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2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3" name="Freeform 495"/>
              <p:cNvSpPr>
                <a:spLocks noChangeArrowheads="1"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2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4" name="Freeform 496"/>
              <p:cNvSpPr>
                <a:spLocks noChangeArrowheads="1"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2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5" name="Freeform 497"/>
              <p:cNvSpPr>
                <a:spLocks noChangeArrowheads="1"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2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6" name="Freeform 498"/>
              <p:cNvSpPr>
                <a:spLocks noChangeArrowheads="1"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7" name="Freeform 499"/>
              <p:cNvSpPr>
                <a:spLocks noChangeArrowheads="1"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1 w 96"/>
                  <a:gd name="T3" fmla="*/ 0 h 74"/>
                  <a:gd name="T4" fmla="*/ 1 w 96"/>
                  <a:gd name="T5" fmla="*/ 0 h 74"/>
                  <a:gd name="T6" fmla="*/ 1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78" name="Oval 5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479" name="Oval 5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480" name="Freeform 502"/>
              <p:cNvSpPr>
                <a:spLocks noChangeArrowheads="1"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3 w 188"/>
                  <a:gd name="T5" fmla="*/ 0 h 25"/>
                  <a:gd name="T6" fmla="*/ 3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81" name="Oval 5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482" name="Oval 5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4362" name="Group 505"/>
          <p:cNvGrpSpPr>
            <a:grpSpLocks/>
          </p:cNvGrpSpPr>
          <p:nvPr/>
        </p:nvGrpSpPr>
        <p:grpSpPr bwMode="auto">
          <a:xfrm>
            <a:off x="8311357" y="2352590"/>
            <a:ext cx="1128713" cy="781050"/>
            <a:chOff x="1680" y="240"/>
            <a:chExt cx="2529" cy="1270"/>
          </a:xfrm>
        </p:grpSpPr>
        <p:sp>
          <p:nvSpPr>
            <p:cNvPr id="14440" name="Oval 506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1" name="Oval 507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2" name="Oval 508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3" name="Oval 509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4" name="Oval 510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5" name="Oval 511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6" name="Oval 512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7" name="Oval 513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48" name="Oval 514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4363" name="Text Box 515"/>
          <p:cNvSpPr txBox="1">
            <a:spLocks noChangeArrowheads="1"/>
          </p:cNvSpPr>
          <p:nvPr/>
        </p:nvSpPr>
        <p:spPr bwMode="auto">
          <a:xfrm>
            <a:off x="8539956" y="2541503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局域网</a:t>
            </a:r>
          </a:p>
        </p:txBody>
      </p:sp>
      <p:sp>
        <p:nvSpPr>
          <p:cNvPr id="159236" name="Line 516"/>
          <p:cNvSpPr>
            <a:spLocks noChangeShapeType="1"/>
          </p:cNvSpPr>
          <p:nvPr/>
        </p:nvSpPr>
        <p:spPr bwMode="auto">
          <a:xfrm flipV="1">
            <a:off x="2353469" y="2419265"/>
            <a:ext cx="1223962" cy="3603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237" name="Line 517"/>
          <p:cNvSpPr>
            <a:spLocks noChangeShapeType="1"/>
          </p:cNvSpPr>
          <p:nvPr/>
        </p:nvSpPr>
        <p:spPr bwMode="auto">
          <a:xfrm flipV="1">
            <a:off x="6284120" y="2431966"/>
            <a:ext cx="1406525" cy="11588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238" name="Line 518"/>
          <p:cNvSpPr>
            <a:spLocks noChangeShapeType="1"/>
          </p:cNvSpPr>
          <p:nvPr/>
        </p:nvSpPr>
        <p:spPr bwMode="auto">
          <a:xfrm>
            <a:off x="8290719" y="2478002"/>
            <a:ext cx="1587500" cy="2619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239" name="Line 519"/>
          <p:cNvSpPr>
            <a:spLocks noChangeShapeType="1"/>
          </p:cNvSpPr>
          <p:nvPr/>
        </p:nvSpPr>
        <p:spPr bwMode="auto">
          <a:xfrm>
            <a:off x="4220369" y="2389103"/>
            <a:ext cx="1543050" cy="14287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240" name="Text Box 520"/>
          <p:cNvSpPr txBox="1">
            <a:spLocks noChangeArrowheads="1"/>
          </p:cNvSpPr>
          <p:nvPr/>
        </p:nvSpPr>
        <p:spPr bwMode="auto">
          <a:xfrm>
            <a:off x="557257" y="1026826"/>
            <a:ext cx="42258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主机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en-US" altLang="zh-CN" sz="3200" b="1" baseline="-250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en-US" altLang="zh-CN" sz="3200" b="1" baseline="-250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发送数据</a:t>
            </a:r>
            <a:endParaRPr lang="zh-CN" altLang="en-US" sz="3200" b="1" baseline="-25000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9241" name="Group 521"/>
          <p:cNvGrpSpPr>
            <a:grpSpLocks/>
          </p:cNvGrpSpPr>
          <p:nvPr/>
        </p:nvGrpSpPr>
        <p:grpSpPr bwMode="auto">
          <a:xfrm>
            <a:off x="1564482" y="3162215"/>
            <a:ext cx="8728075" cy="2419350"/>
            <a:chOff x="158" y="2405"/>
            <a:chExt cx="5498" cy="1524"/>
          </a:xfrm>
        </p:grpSpPr>
        <p:sp>
          <p:nvSpPr>
            <p:cNvPr id="14388" name="AutoShape 522"/>
            <p:cNvSpPr>
              <a:spLocks noChangeArrowheads="1"/>
            </p:cNvSpPr>
            <p:nvPr/>
          </p:nvSpPr>
          <p:spPr bwMode="auto">
            <a:xfrm>
              <a:off x="158" y="2633"/>
              <a:ext cx="564" cy="1144"/>
            </a:xfrm>
            <a:prstGeom prst="cube">
              <a:avLst>
                <a:gd name="adj" fmla="val 9250"/>
              </a:avLst>
            </a:prstGeom>
            <a:solidFill>
              <a:srgbClr val="FFFF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89" name="Freeform 523"/>
            <p:cNvSpPr>
              <a:spLocks noChangeArrowheads="1"/>
            </p:cNvSpPr>
            <p:nvPr/>
          </p:nvSpPr>
          <p:spPr bwMode="auto">
            <a:xfrm>
              <a:off x="158" y="3491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0" name="Freeform 524"/>
            <p:cNvSpPr>
              <a:spLocks noChangeArrowheads="1"/>
            </p:cNvSpPr>
            <p:nvPr/>
          </p:nvSpPr>
          <p:spPr bwMode="auto">
            <a:xfrm>
              <a:off x="158" y="2844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1" name="Freeform 525"/>
            <p:cNvSpPr>
              <a:spLocks noChangeArrowheads="1"/>
            </p:cNvSpPr>
            <p:nvPr/>
          </p:nvSpPr>
          <p:spPr bwMode="auto">
            <a:xfrm>
              <a:off x="158" y="3273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2" name="Freeform 526"/>
            <p:cNvSpPr>
              <a:spLocks noChangeArrowheads="1"/>
            </p:cNvSpPr>
            <p:nvPr/>
          </p:nvSpPr>
          <p:spPr bwMode="auto">
            <a:xfrm>
              <a:off x="158" y="3058"/>
              <a:ext cx="564" cy="76"/>
            </a:xfrm>
            <a:custGeom>
              <a:avLst/>
              <a:gdLst>
                <a:gd name="T0" fmla="*/ 0 w 1200"/>
                <a:gd name="T1" fmla="*/ 8 h 120"/>
                <a:gd name="T2" fmla="*/ 12 w 1200"/>
                <a:gd name="T3" fmla="*/ 8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3" name="Rectangle 527"/>
            <p:cNvSpPr>
              <a:spLocks noChangeArrowheads="1"/>
            </p:cNvSpPr>
            <p:nvPr/>
          </p:nvSpPr>
          <p:spPr bwMode="auto">
            <a:xfrm>
              <a:off x="170" y="3363"/>
              <a:ext cx="4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94" name="Text Box 528"/>
            <p:cNvSpPr txBox="1">
              <a:spLocks noChangeArrowheads="1"/>
            </p:cNvSpPr>
            <p:nvPr/>
          </p:nvSpPr>
          <p:spPr bwMode="auto">
            <a:xfrm>
              <a:off x="158" y="3330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14395" name="Text Box 529"/>
            <p:cNvSpPr txBox="1">
              <a:spLocks noChangeArrowheads="1"/>
            </p:cNvSpPr>
            <p:nvPr/>
          </p:nvSpPr>
          <p:spPr bwMode="auto">
            <a:xfrm>
              <a:off x="160" y="2677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应用层</a:t>
              </a:r>
            </a:p>
          </p:txBody>
        </p:sp>
        <p:sp>
          <p:nvSpPr>
            <p:cNvPr id="14396" name="Text Box 530"/>
            <p:cNvSpPr txBox="1">
              <a:spLocks noChangeArrowheads="1"/>
            </p:cNvSpPr>
            <p:nvPr/>
          </p:nvSpPr>
          <p:spPr bwMode="auto">
            <a:xfrm>
              <a:off x="158" y="2894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运输层</a:t>
              </a:r>
            </a:p>
          </p:txBody>
        </p:sp>
        <p:sp>
          <p:nvSpPr>
            <p:cNvPr id="14397" name="Text Box 531"/>
            <p:cNvSpPr txBox="1">
              <a:spLocks noChangeArrowheads="1"/>
            </p:cNvSpPr>
            <p:nvPr/>
          </p:nvSpPr>
          <p:spPr bwMode="auto">
            <a:xfrm>
              <a:off x="158" y="3112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14398" name="Text Box 532"/>
            <p:cNvSpPr txBox="1">
              <a:spLocks noChangeArrowheads="1"/>
            </p:cNvSpPr>
            <p:nvPr/>
          </p:nvSpPr>
          <p:spPr bwMode="auto">
            <a:xfrm>
              <a:off x="158" y="3548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14399" name="AutoShape 533"/>
            <p:cNvSpPr>
              <a:spLocks noChangeArrowheads="1"/>
            </p:cNvSpPr>
            <p:nvPr/>
          </p:nvSpPr>
          <p:spPr bwMode="auto">
            <a:xfrm>
              <a:off x="5092" y="2633"/>
              <a:ext cx="564" cy="1144"/>
            </a:xfrm>
            <a:prstGeom prst="cube">
              <a:avLst>
                <a:gd name="adj" fmla="val 9250"/>
              </a:avLst>
            </a:prstGeom>
            <a:solidFill>
              <a:srgbClr val="FFFF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00" name="Freeform 534"/>
            <p:cNvSpPr>
              <a:spLocks noChangeArrowheads="1"/>
            </p:cNvSpPr>
            <p:nvPr/>
          </p:nvSpPr>
          <p:spPr bwMode="auto">
            <a:xfrm>
              <a:off x="5092" y="3491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1" name="Freeform 535"/>
            <p:cNvSpPr>
              <a:spLocks noChangeArrowheads="1"/>
            </p:cNvSpPr>
            <p:nvPr/>
          </p:nvSpPr>
          <p:spPr bwMode="auto">
            <a:xfrm>
              <a:off x="5092" y="3273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2" name="Freeform 536"/>
            <p:cNvSpPr>
              <a:spLocks noChangeArrowheads="1"/>
            </p:cNvSpPr>
            <p:nvPr/>
          </p:nvSpPr>
          <p:spPr bwMode="auto">
            <a:xfrm>
              <a:off x="5092" y="3058"/>
              <a:ext cx="564" cy="76"/>
            </a:xfrm>
            <a:custGeom>
              <a:avLst/>
              <a:gdLst>
                <a:gd name="T0" fmla="*/ 0 w 1200"/>
                <a:gd name="T1" fmla="*/ 8 h 120"/>
                <a:gd name="T2" fmla="*/ 12 w 1200"/>
                <a:gd name="T3" fmla="*/ 8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3" name="Freeform 537"/>
            <p:cNvSpPr>
              <a:spLocks noChangeArrowheads="1"/>
            </p:cNvSpPr>
            <p:nvPr/>
          </p:nvSpPr>
          <p:spPr bwMode="auto">
            <a:xfrm>
              <a:off x="5092" y="2844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4" name="Rectangle 538"/>
            <p:cNvSpPr>
              <a:spLocks noChangeArrowheads="1"/>
            </p:cNvSpPr>
            <p:nvPr/>
          </p:nvSpPr>
          <p:spPr bwMode="auto">
            <a:xfrm>
              <a:off x="5104" y="3362"/>
              <a:ext cx="48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05" name="Text Box 539"/>
            <p:cNvSpPr txBox="1">
              <a:spLocks noChangeArrowheads="1"/>
            </p:cNvSpPr>
            <p:nvPr/>
          </p:nvSpPr>
          <p:spPr bwMode="auto">
            <a:xfrm>
              <a:off x="5057" y="3339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14406" name="Text Box 540"/>
            <p:cNvSpPr txBox="1">
              <a:spLocks noChangeArrowheads="1"/>
            </p:cNvSpPr>
            <p:nvPr/>
          </p:nvSpPr>
          <p:spPr bwMode="auto">
            <a:xfrm>
              <a:off x="5059" y="2677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应用层</a:t>
              </a:r>
            </a:p>
          </p:txBody>
        </p:sp>
        <p:sp>
          <p:nvSpPr>
            <p:cNvPr id="14407" name="Text Box 541"/>
            <p:cNvSpPr txBox="1">
              <a:spLocks noChangeArrowheads="1"/>
            </p:cNvSpPr>
            <p:nvPr/>
          </p:nvSpPr>
          <p:spPr bwMode="auto">
            <a:xfrm>
              <a:off x="5057" y="2894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运输层</a:t>
              </a:r>
            </a:p>
          </p:txBody>
        </p:sp>
        <p:sp>
          <p:nvSpPr>
            <p:cNvPr id="14408" name="Text Box 542"/>
            <p:cNvSpPr txBox="1">
              <a:spLocks noChangeArrowheads="1"/>
            </p:cNvSpPr>
            <p:nvPr/>
          </p:nvSpPr>
          <p:spPr bwMode="auto">
            <a:xfrm>
              <a:off x="5057" y="3112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14409" name="Text Box 543"/>
            <p:cNvSpPr txBox="1">
              <a:spLocks noChangeArrowheads="1"/>
            </p:cNvSpPr>
            <p:nvPr/>
          </p:nvSpPr>
          <p:spPr bwMode="auto">
            <a:xfrm>
              <a:off x="5057" y="3548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14410" name="AutoShape 544"/>
            <p:cNvSpPr>
              <a:spLocks noChangeArrowheads="1"/>
            </p:cNvSpPr>
            <p:nvPr/>
          </p:nvSpPr>
          <p:spPr bwMode="auto">
            <a:xfrm>
              <a:off x="1383" y="3081"/>
              <a:ext cx="564" cy="696"/>
            </a:xfrm>
            <a:prstGeom prst="cube">
              <a:avLst>
                <a:gd name="adj" fmla="val 9250"/>
              </a:avLst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11" name="Freeform 545"/>
            <p:cNvSpPr>
              <a:spLocks noChangeArrowheads="1"/>
            </p:cNvSpPr>
            <p:nvPr/>
          </p:nvSpPr>
          <p:spPr bwMode="auto">
            <a:xfrm>
              <a:off x="1383" y="3491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2" name="Rectangle 546"/>
            <p:cNvSpPr>
              <a:spLocks noChangeArrowheads="1"/>
            </p:cNvSpPr>
            <p:nvPr/>
          </p:nvSpPr>
          <p:spPr bwMode="auto">
            <a:xfrm>
              <a:off x="1408" y="3353"/>
              <a:ext cx="47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13" name="Freeform 547"/>
            <p:cNvSpPr>
              <a:spLocks noChangeArrowheads="1"/>
            </p:cNvSpPr>
            <p:nvPr/>
          </p:nvSpPr>
          <p:spPr bwMode="auto">
            <a:xfrm>
              <a:off x="1383" y="3273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4" name="Text Box 548"/>
            <p:cNvSpPr txBox="1">
              <a:spLocks noChangeArrowheads="1"/>
            </p:cNvSpPr>
            <p:nvPr/>
          </p:nvSpPr>
          <p:spPr bwMode="auto">
            <a:xfrm>
              <a:off x="1379" y="3330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14415" name="Text Box 549"/>
            <p:cNvSpPr txBox="1">
              <a:spLocks noChangeArrowheads="1"/>
            </p:cNvSpPr>
            <p:nvPr/>
          </p:nvSpPr>
          <p:spPr bwMode="auto">
            <a:xfrm>
              <a:off x="1379" y="3112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14416" name="Text Box 550"/>
            <p:cNvSpPr txBox="1">
              <a:spLocks noChangeArrowheads="1"/>
            </p:cNvSpPr>
            <p:nvPr/>
          </p:nvSpPr>
          <p:spPr bwMode="auto">
            <a:xfrm>
              <a:off x="1379" y="3548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14417" name="AutoShape 551"/>
            <p:cNvSpPr>
              <a:spLocks noChangeArrowheads="1"/>
            </p:cNvSpPr>
            <p:nvPr/>
          </p:nvSpPr>
          <p:spPr bwMode="auto">
            <a:xfrm>
              <a:off x="2710" y="3081"/>
              <a:ext cx="564" cy="696"/>
            </a:xfrm>
            <a:prstGeom prst="cube">
              <a:avLst>
                <a:gd name="adj" fmla="val 9250"/>
              </a:avLst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18" name="Freeform 552"/>
            <p:cNvSpPr>
              <a:spLocks noChangeArrowheads="1"/>
            </p:cNvSpPr>
            <p:nvPr/>
          </p:nvSpPr>
          <p:spPr bwMode="auto">
            <a:xfrm>
              <a:off x="2710" y="3491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19" name="Rectangle 553"/>
            <p:cNvSpPr>
              <a:spLocks noChangeArrowheads="1"/>
            </p:cNvSpPr>
            <p:nvPr/>
          </p:nvSpPr>
          <p:spPr bwMode="auto">
            <a:xfrm>
              <a:off x="2722" y="3353"/>
              <a:ext cx="492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20" name="Freeform 554"/>
            <p:cNvSpPr>
              <a:spLocks noChangeArrowheads="1"/>
            </p:cNvSpPr>
            <p:nvPr/>
          </p:nvSpPr>
          <p:spPr bwMode="auto">
            <a:xfrm>
              <a:off x="2710" y="3273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1" name="Text Box 555"/>
            <p:cNvSpPr txBox="1">
              <a:spLocks noChangeArrowheads="1"/>
            </p:cNvSpPr>
            <p:nvPr/>
          </p:nvSpPr>
          <p:spPr bwMode="auto">
            <a:xfrm>
              <a:off x="2699" y="3330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14422" name="Text Box 556"/>
            <p:cNvSpPr txBox="1">
              <a:spLocks noChangeArrowheads="1"/>
            </p:cNvSpPr>
            <p:nvPr/>
          </p:nvSpPr>
          <p:spPr bwMode="auto">
            <a:xfrm>
              <a:off x="2699" y="3112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14423" name="Text Box 557"/>
            <p:cNvSpPr txBox="1">
              <a:spLocks noChangeArrowheads="1"/>
            </p:cNvSpPr>
            <p:nvPr/>
          </p:nvSpPr>
          <p:spPr bwMode="auto">
            <a:xfrm>
              <a:off x="2699" y="3548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14424" name="AutoShape 558"/>
            <p:cNvSpPr>
              <a:spLocks noChangeArrowheads="1"/>
            </p:cNvSpPr>
            <p:nvPr/>
          </p:nvSpPr>
          <p:spPr bwMode="auto">
            <a:xfrm>
              <a:off x="3901" y="3081"/>
              <a:ext cx="564" cy="696"/>
            </a:xfrm>
            <a:prstGeom prst="cube">
              <a:avLst>
                <a:gd name="adj" fmla="val 9250"/>
              </a:avLst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25" name="Freeform 559"/>
            <p:cNvSpPr>
              <a:spLocks noChangeArrowheads="1"/>
            </p:cNvSpPr>
            <p:nvPr/>
          </p:nvSpPr>
          <p:spPr bwMode="auto">
            <a:xfrm>
              <a:off x="3901" y="3491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6" name="Rectangle 560"/>
            <p:cNvSpPr>
              <a:spLocks noChangeArrowheads="1"/>
            </p:cNvSpPr>
            <p:nvPr/>
          </p:nvSpPr>
          <p:spPr bwMode="auto">
            <a:xfrm>
              <a:off x="3910" y="3353"/>
              <a:ext cx="49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27" name="Freeform 561"/>
            <p:cNvSpPr>
              <a:spLocks noChangeArrowheads="1"/>
            </p:cNvSpPr>
            <p:nvPr/>
          </p:nvSpPr>
          <p:spPr bwMode="auto">
            <a:xfrm>
              <a:off x="3901" y="3273"/>
              <a:ext cx="564" cy="75"/>
            </a:xfrm>
            <a:custGeom>
              <a:avLst/>
              <a:gdLst>
                <a:gd name="T0" fmla="*/ 0 w 1200"/>
                <a:gd name="T1" fmla="*/ 7 h 120"/>
                <a:gd name="T2" fmla="*/ 12 w 1200"/>
                <a:gd name="T3" fmla="*/ 7 h 120"/>
                <a:gd name="T4" fmla="*/ 1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28" name="Text Box 562"/>
            <p:cNvSpPr txBox="1">
              <a:spLocks noChangeArrowheads="1"/>
            </p:cNvSpPr>
            <p:nvPr/>
          </p:nvSpPr>
          <p:spPr bwMode="auto">
            <a:xfrm>
              <a:off x="3878" y="3330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14429" name="Text Box 563"/>
            <p:cNvSpPr txBox="1">
              <a:spLocks noChangeArrowheads="1"/>
            </p:cNvSpPr>
            <p:nvPr/>
          </p:nvSpPr>
          <p:spPr bwMode="auto">
            <a:xfrm>
              <a:off x="3878" y="3112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14430" name="Text Box 564"/>
            <p:cNvSpPr txBox="1">
              <a:spLocks noChangeArrowheads="1"/>
            </p:cNvSpPr>
            <p:nvPr/>
          </p:nvSpPr>
          <p:spPr bwMode="auto">
            <a:xfrm>
              <a:off x="3878" y="3548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33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14431" name="Freeform 565"/>
            <p:cNvSpPr>
              <a:spLocks noChangeArrowheads="1"/>
            </p:cNvSpPr>
            <p:nvPr/>
          </p:nvSpPr>
          <p:spPr bwMode="auto">
            <a:xfrm>
              <a:off x="568" y="3777"/>
              <a:ext cx="1072" cy="152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1072 w 1072"/>
                <a:gd name="T5" fmla="*/ 152 h 152"/>
                <a:gd name="T6" fmla="*/ 1072 w 1072"/>
                <a:gd name="T7" fmla="*/ 8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2" name="Freeform 566"/>
            <p:cNvSpPr>
              <a:spLocks noChangeArrowheads="1"/>
            </p:cNvSpPr>
            <p:nvPr/>
          </p:nvSpPr>
          <p:spPr bwMode="auto">
            <a:xfrm>
              <a:off x="4264" y="3777"/>
              <a:ext cx="1072" cy="152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1072 w 1072"/>
                <a:gd name="T5" fmla="*/ 152 h 152"/>
                <a:gd name="T6" fmla="*/ 1072 w 1072"/>
                <a:gd name="T7" fmla="*/ 8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3" name="Freeform 567"/>
            <p:cNvSpPr>
              <a:spLocks noChangeArrowheads="1"/>
            </p:cNvSpPr>
            <p:nvPr/>
          </p:nvSpPr>
          <p:spPr bwMode="auto">
            <a:xfrm>
              <a:off x="1896" y="3769"/>
              <a:ext cx="920" cy="160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206 h 152"/>
                <a:gd name="T4" fmla="*/ 428 w 1072"/>
                <a:gd name="T5" fmla="*/ 206 h 152"/>
                <a:gd name="T6" fmla="*/ 428 w 1072"/>
                <a:gd name="T7" fmla="*/ 8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4" name="Freeform 568"/>
            <p:cNvSpPr>
              <a:spLocks noChangeArrowheads="1"/>
            </p:cNvSpPr>
            <p:nvPr/>
          </p:nvSpPr>
          <p:spPr bwMode="auto">
            <a:xfrm>
              <a:off x="3112" y="3777"/>
              <a:ext cx="928" cy="152"/>
            </a:xfrm>
            <a:custGeom>
              <a:avLst/>
              <a:gdLst>
                <a:gd name="T0" fmla="*/ 0 w 1072"/>
                <a:gd name="T1" fmla="*/ 0 h 152"/>
                <a:gd name="T2" fmla="*/ 0 w 1072"/>
                <a:gd name="T3" fmla="*/ 152 h 152"/>
                <a:gd name="T4" fmla="*/ 451 w 1072"/>
                <a:gd name="T5" fmla="*/ 152 h 152"/>
                <a:gd name="T6" fmla="*/ 451 w 1072"/>
                <a:gd name="T7" fmla="*/ 8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72" h="152">
                  <a:moveTo>
                    <a:pt x="0" y="0"/>
                  </a:moveTo>
                  <a:lnTo>
                    <a:pt x="0" y="152"/>
                  </a:lnTo>
                  <a:lnTo>
                    <a:pt x="1072" y="152"/>
                  </a:lnTo>
                  <a:lnTo>
                    <a:pt x="1072" y="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5" name="Text Box 569"/>
            <p:cNvSpPr txBox="1">
              <a:spLocks noChangeArrowheads="1"/>
            </p:cNvSpPr>
            <p:nvPr/>
          </p:nvSpPr>
          <p:spPr bwMode="auto">
            <a:xfrm>
              <a:off x="1531" y="283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R</a:t>
              </a:r>
              <a:r>
                <a:rPr lang="en-US" altLang="zh-CN" sz="1800" b="1" baseline="-25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4436" name="Text Box 570"/>
            <p:cNvSpPr txBox="1">
              <a:spLocks noChangeArrowheads="1"/>
            </p:cNvSpPr>
            <p:nvPr/>
          </p:nvSpPr>
          <p:spPr bwMode="auto">
            <a:xfrm>
              <a:off x="2872" y="283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R</a:t>
              </a:r>
              <a:r>
                <a:rPr lang="en-US" altLang="zh-CN" sz="1800" b="1" baseline="-25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14437" name="Text Box 571"/>
            <p:cNvSpPr txBox="1">
              <a:spLocks noChangeArrowheads="1"/>
            </p:cNvSpPr>
            <p:nvPr/>
          </p:nvSpPr>
          <p:spPr bwMode="auto">
            <a:xfrm>
              <a:off x="4067" y="283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R</a:t>
              </a:r>
              <a:r>
                <a:rPr lang="en-US" altLang="zh-CN" sz="1800" b="1" baseline="-25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3</a:t>
              </a:r>
            </a:p>
          </p:txBody>
        </p:sp>
        <p:sp>
          <p:nvSpPr>
            <p:cNvPr id="14438" name="Text Box 572"/>
            <p:cNvSpPr txBox="1">
              <a:spLocks noChangeArrowheads="1"/>
            </p:cNvSpPr>
            <p:nvPr/>
          </p:nvSpPr>
          <p:spPr bwMode="auto">
            <a:xfrm>
              <a:off x="326" y="2405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H</a:t>
              </a:r>
              <a:r>
                <a:rPr lang="en-US" altLang="zh-CN" sz="1800" b="1" baseline="-25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4439" name="Text Box 573"/>
            <p:cNvSpPr txBox="1">
              <a:spLocks noChangeArrowheads="1"/>
            </p:cNvSpPr>
            <p:nvPr/>
          </p:nvSpPr>
          <p:spPr bwMode="auto">
            <a:xfrm>
              <a:off x="5272" y="2405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H</a:t>
              </a:r>
              <a:r>
                <a:rPr lang="en-US" altLang="zh-CN" sz="1800" b="1" baseline="-250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</p:grpSp>
      <p:sp>
        <p:nvSpPr>
          <p:cNvPr id="159294" name="Text Box 574"/>
          <p:cNvSpPr txBox="1">
            <a:spLocks noChangeArrowheads="1"/>
          </p:cNvSpPr>
          <p:nvPr/>
        </p:nvSpPr>
        <p:spPr bwMode="auto">
          <a:xfrm>
            <a:off x="3798094" y="3208253"/>
            <a:ext cx="411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从层次上来看数据的流动</a:t>
            </a:r>
          </a:p>
        </p:txBody>
      </p:sp>
      <p:sp>
        <p:nvSpPr>
          <p:cNvPr id="159295" name="Freeform 575"/>
          <p:cNvSpPr>
            <a:spLocks noChangeArrowheads="1"/>
          </p:cNvSpPr>
          <p:nvPr/>
        </p:nvSpPr>
        <p:spPr bwMode="auto">
          <a:xfrm>
            <a:off x="2436019" y="3673390"/>
            <a:ext cx="6978650" cy="1871662"/>
          </a:xfrm>
          <a:custGeom>
            <a:avLst/>
            <a:gdLst>
              <a:gd name="T0" fmla="*/ 2147483646 w 4396"/>
              <a:gd name="T1" fmla="*/ 2147483646 h 1179"/>
              <a:gd name="T2" fmla="*/ 2147483646 w 4396"/>
              <a:gd name="T3" fmla="*/ 2147483646 h 1179"/>
              <a:gd name="T4" fmla="*/ 2147483646 w 4396"/>
              <a:gd name="T5" fmla="*/ 2147483646 h 1179"/>
              <a:gd name="T6" fmla="*/ 2147483646 w 4396"/>
              <a:gd name="T7" fmla="*/ 2147483646 h 1179"/>
              <a:gd name="T8" fmla="*/ 2147483646 w 4396"/>
              <a:gd name="T9" fmla="*/ 2147483646 h 1179"/>
              <a:gd name="T10" fmla="*/ 2147483646 w 4396"/>
              <a:gd name="T11" fmla="*/ 2147483646 h 1179"/>
              <a:gd name="T12" fmla="*/ 2147483646 w 4396"/>
              <a:gd name="T13" fmla="*/ 2147483646 h 1179"/>
              <a:gd name="T14" fmla="*/ 2147483646 w 4396"/>
              <a:gd name="T15" fmla="*/ 2147483646 h 1179"/>
              <a:gd name="T16" fmla="*/ 2147483646 w 4396"/>
              <a:gd name="T17" fmla="*/ 2147483646 h 1179"/>
              <a:gd name="T18" fmla="*/ 2147483646 w 4396"/>
              <a:gd name="T19" fmla="*/ 2147483646 h 1179"/>
              <a:gd name="T20" fmla="*/ 2147483646 w 4396"/>
              <a:gd name="T21" fmla="*/ 2147483646 h 1179"/>
              <a:gd name="T22" fmla="*/ 2147483646 w 4396"/>
              <a:gd name="T23" fmla="*/ 2147483646 h 1179"/>
              <a:gd name="T24" fmla="*/ 2147483646 w 4396"/>
              <a:gd name="T25" fmla="*/ 2147483646 h 1179"/>
              <a:gd name="T26" fmla="*/ 2147483646 w 4396"/>
              <a:gd name="T27" fmla="*/ 2147483646 h 1179"/>
              <a:gd name="T28" fmla="*/ 2147483646 w 4396"/>
              <a:gd name="T29" fmla="*/ 2147483646 h 1179"/>
              <a:gd name="T30" fmla="*/ 2147483646 w 4396"/>
              <a:gd name="T31" fmla="*/ 2147483646 h 1179"/>
              <a:gd name="T32" fmla="*/ 2147483646 w 4396"/>
              <a:gd name="T33" fmla="*/ 2147483646 h 1179"/>
              <a:gd name="T34" fmla="*/ 2147483646 w 4396"/>
              <a:gd name="T35" fmla="*/ 2147483646 h 1179"/>
              <a:gd name="T36" fmla="*/ 2147483646 w 4396"/>
              <a:gd name="T37" fmla="*/ 2147483646 h 1179"/>
              <a:gd name="T38" fmla="*/ 2147483646 w 4396"/>
              <a:gd name="T39" fmla="*/ 2147483646 h 1179"/>
              <a:gd name="T40" fmla="*/ 2147483646 w 4396"/>
              <a:gd name="T41" fmla="*/ 2147483646 h 1179"/>
              <a:gd name="T42" fmla="*/ 2147483646 w 4396"/>
              <a:gd name="T43" fmla="*/ 2147483646 h 1179"/>
              <a:gd name="T44" fmla="*/ 2147483646 w 4396"/>
              <a:gd name="T45" fmla="*/ 2147483646 h 1179"/>
              <a:gd name="T46" fmla="*/ 2147483646 w 4396"/>
              <a:gd name="T47" fmla="*/ 2147483646 h 1179"/>
              <a:gd name="T48" fmla="*/ 2147483646 w 4396"/>
              <a:gd name="T49" fmla="*/ 2147483646 h 1179"/>
              <a:gd name="T50" fmla="*/ 2147483646 w 4396"/>
              <a:gd name="T51" fmla="*/ 2147483646 h 1179"/>
              <a:gd name="T52" fmla="*/ 2147483646 w 4396"/>
              <a:gd name="T53" fmla="*/ 2147483646 h 1179"/>
              <a:gd name="T54" fmla="*/ 2147483646 w 4396"/>
              <a:gd name="T55" fmla="*/ 2147483646 h 1179"/>
              <a:gd name="T56" fmla="*/ 2147483646 w 4396"/>
              <a:gd name="T57" fmla="*/ 2147483646 h 1179"/>
              <a:gd name="T58" fmla="*/ 2147483646 w 4396"/>
              <a:gd name="T59" fmla="*/ 2147483646 h 1179"/>
              <a:gd name="T60" fmla="*/ 2147483646 w 4396"/>
              <a:gd name="T61" fmla="*/ 2147483646 h 1179"/>
              <a:gd name="T62" fmla="*/ 2147483646 w 4396"/>
              <a:gd name="T63" fmla="*/ 2147483646 h 1179"/>
              <a:gd name="T64" fmla="*/ 2147483646 w 4396"/>
              <a:gd name="T65" fmla="*/ 2147483646 h 1179"/>
              <a:gd name="T66" fmla="*/ 2147483646 w 4396"/>
              <a:gd name="T67" fmla="*/ 2147483646 h 1179"/>
              <a:gd name="T68" fmla="*/ 2147483646 w 4396"/>
              <a:gd name="T69" fmla="*/ 2147483646 h 1179"/>
              <a:gd name="T70" fmla="*/ 2147483646 w 4396"/>
              <a:gd name="T71" fmla="*/ 0 h 117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4396" h="1179">
                <a:moveTo>
                  <a:pt x="12" y="30"/>
                </a:moveTo>
                <a:cubicBezTo>
                  <a:pt x="13" y="176"/>
                  <a:pt x="0" y="725"/>
                  <a:pt x="12" y="909"/>
                </a:cubicBezTo>
                <a:cubicBezTo>
                  <a:pt x="24" y="1093"/>
                  <a:pt x="18" y="1095"/>
                  <a:pt x="84" y="1137"/>
                </a:cubicBezTo>
                <a:cubicBezTo>
                  <a:pt x="150" y="1179"/>
                  <a:pt x="328" y="1158"/>
                  <a:pt x="408" y="1161"/>
                </a:cubicBezTo>
                <a:cubicBezTo>
                  <a:pt x="488" y="1164"/>
                  <a:pt x="507" y="1162"/>
                  <a:pt x="567" y="1158"/>
                </a:cubicBezTo>
                <a:cubicBezTo>
                  <a:pt x="627" y="1154"/>
                  <a:pt x="728" y="1158"/>
                  <a:pt x="768" y="1140"/>
                </a:cubicBezTo>
                <a:cubicBezTo>
                  <a:pt x="808" y="1122"/>
                  <a:pt x="798" y="1129"/>
                  <a:pt x="804" y="1050"/>
                </a:cubicBezTo>
                <a:cubicBezTo>
                  <a:pt x="810" y="971"/>
                  <a:pt x="796" y="761"/>
                  <a:pt x="804" y="666"/>
                </a:cubicBezTo>
                <a:cubicBezTo>
                  <a:pt x="812" y="571"/>
                  <a:pt x="792" y="507"/>
                  <a:pt x="855" y="477"/>
                </a:cubicBezTo>
                <a:cubicBezTo>
                  <a:pt x="918" y="447"/>
                  <a:pt x="1122" y="452"/>
                  <a:pt x="1182" y="483"/>
                </a:cubicBezTo>
                <a:cubicBezTo>
                  <a:pt x="1242" y="514"/>
                  <a:pt x="1208" y="592"/>
                  <a:pt x="1212" y="663"/>
                </a:cubicBezTo>
                <a:cubicBezTo>
                  <a:pt x="1216" y="734"/>
                  <a:pt x="1205" y="830"/>
                  <a:pt x="1209" y="906"/>
                </a:cubicBezTo>
                <a:cubicBezTo>
                  <a:pt x="1213" y="982"/>
                  <a:pt x="1190" y="1080"/>
                  <a:pt x="1236" y="1122"/>
                </a:cubicBezTo>
                <a:cubicBezTo>
                  <a:pt x="1282" y="1164"/>
                  <a:pt x="1383" y="1158"/>
                  <a:pt x="1488" y="1161"/>
                </a:cubicBezTo>
                <a:cubicBezTo>
                  <a:pt x="1593" y="1164"/>
                  <a:pt x="1785" y="1161"/>
                  <a:pt x="1866" y="1143"/>
                </a:cubicBezTo>
                <a:cubicBezTo>
                  <a:pt x="1947" y="1125"/>
                  <a:pt x="1956" y="1115"/>
                  <a:pt x="1977" y="1050"/>
                </a:cubicBezTo>
                <a:cubicBezTo>
                  <a:pt x="1998" y="985"/>
                  <a:pt x="1986" y="848"/>
                  <a:pt x="1992" y="750"/>
                </a:cubicBezTo>
                <a:cubicBezTo>
                  <a:pt x="1998" y="652"/>
                  <a:pt x="1953" y="508"/>
                  <a:pt x="2016" y="459"/>
                </a:cubicBezTo>
                <a:cubicBezTo>
                  <a:pt x="2079" y="410"/>
                  <a:pt x="2305" y="419"/>
                  <a:pt x="2370" y="453"/>
                </a:cubicBezTo>
                <a:cubicBezTo>
                  <a:pt x="2435" y="487"/>
                  <a:pt x="2402" y="594"/>
                  <a:pt x="2409" y="663"/>
                </a:cubicBezTo>
                <a:cubicBezTo>
                  <a:pt x="2416" y="732"/>
                  <a:pt x="2408" y="794"/>
                  <a:pt x="2412" y="867"/>
                </a:cubicBezTo>
                <a:cubicBezTo>
                  <a:pt x="2416" y="940"/>
                  <a:pt x="2411" y="1050"/>
                  <a:pt x="2436" y="1098"/>
                </a:cubicBezTo>
                <a:cubicBezTo>
                  <a:pt x="2461" y="1146"/>
                  <a:pt x="2467" y="1150"/>
                  <a:pt x="2565" y="1158"/>
                </a:cubicBezTo>
                <a:cubicBezTo>
                  <a:pt x="2663" y="1166"/>
                  <a:pt x="2924" y="1165"/>
                  <a:pt x="3024" y="1146"/>
                </a:cubicBezTo>
                <a:cubicBezTo>
                  <a:pt x="3124" y="1127"/>
                  <a:pt x="3140" y="1122"/>
                  <a:pt x="3165" y="1041"/>
                </a:cubicBezTo>
                <a:cubicBezTo>
                  <a:pt x="3190" y="960"/>
                  <a:pt x="3165" y="758"/>
                  <a:pt x="3172" y="662"/>
                </a:cubicBezTo>
                <a:cubicBezTo>
                  <a:pt x="3179" y="566"/>
                  <a:pt x="3154" y="499"/>
                  <a:pt x="3207" y="462"/>
                </a:cubicBezTo>
                <a:cubicBezTo>
                  <a:pt x="3260" y="425"/>
                  <a:pt x="3429" y="425"/>
                  <a:pt x="3492" y="438"/>
                </a:cubicBezTo>
                <a:cubicBezTo>
                  <a:pt x="3555" y="451"/>
                  <a:pt x="3568" y="464"/>
                  <a:pt x="3585" y="540"/>
                </a:cubicBezTo>
                <a:cubicBezTo>
                  <a:pt x="3602" y="616"/>
                  <a:pt x="3587" y="801"/>
                  <a:pt x="3591" y="894"/>
                </a:cubicBezTo>
                <a:cubicBezTo>
                  <a:pt x="3595" y="987"/>
                  <a:pt x="3590" y="1059"/>
                  <a:pt x="3609" y="1101"/>
                </a:cubicBezTo>
                <a:cubicBezTo>
                  <a:pt x="3628" y="1143"/>
                  <a:pt x="3617" y="1140"/>
                  <a:pt x="3708" y="1149"/>
                </a:cubicBezTo>
                <a:cubicBezTo>
                  <a:pt x="3799" y="1158"/>
                  <a:pt x="4051" y="1162"/>
                  <a:pt x="4155" y="1158"/>
                </a:cubicBezTo>
                <a:cubicBezTo>
                  <a:pt x="4259" y="1154"/>
                  <a:pt x="4296" y="1160"/>
                  <a:pt x="4335" y="1125"/>
                </a:cubicBezTo>
                <a:cubicBezTo>
                  <a:pt x="4374" y="1090"/>
                  <a:pt x="4382" y="1132"/>
                  <a:pt x="4389" y="945"/>
                </a:cubicBezTo>
                <a:cubicBezTo>
                  <a:pt x="4396" y="758"/>
                  <a:pt x="4382" y="197"/>
                  <a:pt x="4380" y="0"/>
                </a:cubicBezTo>
              </a:path>
            </a:pathLst>
          </a:custGeom>
          <a:noFill/>
          <a:ln w="76200">
            <a:solidFill>
              <a:srgbClr val="FF0000"/>
            </a:solidFill>
            <a:round/>
            <a:headEnd type="none" w="med" len="lg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72" name="图片 57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670" y="5606966"/>
            <a:ext cx="922337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3" name="图片 5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581" y="5630777"/>
            <a:ext cx="9207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4" name="图片 57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169" y="5630777"/>
            <a:ext cx="9207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5" name="图片 57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581" y="5633952"/>
            <a:ext cx="9207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6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269" y="5129127"/>
            <a:ext cx="86360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7" name="图片 58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045" y="5110077"/>
            <a:ext cx="865187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8" name="图片 58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356" y="5083090"/>
            <a:ext cx="865188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9" name="图片 58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120" y="5057690"/>
            <a:ext cx="865187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80" name="矩形 585"/>
          <p:cNvSpPr>
            <a:spLocks noChangeArrowheads="1"/>
          </p:cNvSpPr>
          <p:nvPr/>
        </p:nvSpPr>
        <p:spPr bwMode="auto">
          <a:xfrm>
            <a:off x="2680495" y="4717965"/>
            <a:ext cx="725487" cy="369332"/>
          </a:xfrm>
          <a:prstGeom prst="rect">
            <a:avLst/>
          </a:prstGeom>
          <a:solidFill>
            <a:srgbClr val="0099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1" name="矩形 592"/>
          <p:cNvSpPr>
            <a:spLocks noChangeArrowheads="1"/>
          </p:cNvSpPr>
          <p:nvPr/>
        </p:nvSpPr>
        <p:spPr bwMode="auto">
          <a:xfrm>
            <a:off x="4514057" y="4708440"/>
            <a:ext cx="727075" cy="369332"/>
          </a:xfrm>
          <a:prstGeom prst="rect">
            <a:avLst/>
          </a:prstGeom>
          <a:solidFill>
            <a:srgbClr val="0099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2" name="矩形 593"/>
          <p:cNvSpPr>
            <a:spLocks noChangeArrowheads="1"/>
          </p:cNvSpPr>
          <p:nvPr/>
        </p:nvSpPr>
        <p:spPr bwMode="auto">
          <a:xfrm>
            <a:off x="6636545" y="4687802"/>
            <a:ext cx="725487" cy="369332"/>
          </a:xfrm>
          <a:prstGeom prst="rect">
            <a:avLst/>
          </a:prstGeom>
          <a:solidFill>
            <a:srgbClr val="0099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3" name="矩形 594"/>
          <p:cNvSpPr>
            <a:spLocks noChangeArrowheads="1"/>
          </p:cNvSpPr>
          <p:nvPr/>
        </p:nvSpPr>
        <p:spPr bwMode="auto">
          <a:xfrm>
            <a:off x="8505032" y="4697327"/>
            <a:ext cx="727075" cy="369332"/>
          </a:xfrm>
          <a:prstGeom prst="rect">
            <a:avLst/>
          </a:prstGeom>
          <a:solidFill>
            <a:srgbClr val="0099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4" name="矩形 595"/>
          <p:cNvSpPr>
            <a:spLocks noChangeArrowheads="1"/>
          </p:cNvSpPr>
          <p:nvPr/>
        </p:nvSpPr>
        <p:spPr bwMode="auto">
          <a:xfrm>
            <a:off x="2929731" y="4340140"/>
            <a:ext cx="469900" cy="369332"/>
          </a:xfrm>
          <a:prstGeom prst="rect">
            <a:avLst/>
          </a:prstGeom>
          <a:solidFill>
            <a:srgbClr val="A5002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5" name="矩形 596"/>
          <p:cNvSpPr>
            <a:spLocks noChangeArrowheads="1"/>
          </p:cNvSpPr>
          <p:nvPr/>
        </p:nvSpPr>
        <p:spPr bwMode="auto">
          <a:xfrm>
            <a:off x="4504531" y="4354427"/>
            <a:ext cx="469900" cy="369332"/>
          </a:xfrm>
          <a:prstGeom prst="rect">
            <a:avLst/>
          </a:prstGeom>
          <a:solidFill>
            <a:srgbClr val="A5002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6" name="矩形 597"/>
          <p:cNvSpPr>
            <a:spLocks noChangeArrowheads="1"/>
          </p:cNvSpPr>
          <p:nvPr/>
        </p:nvSpPr>
        <p:spPr bwMode="auto">
          <a:xfrm>
            <a:off x="6634956" y="4332202"/>
            <a:ext cx="469900" cy="369332"/>
          </a:xfrm>
          <a:prstGeom prst="rect">
            <a:avLst/>
          </a:prstGeom>
          <a:solidFill>
            <a:srgbClr val="A5002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387" name="矩形 598"/>
          <p:cNvSpPr>
            <a:spLocks noChangeArrowheads="1"/>
          </p:cNvSpPr>
          <p:nvPr/>
        </p:nvSpPr>
        <p:spPr bwMode="auto">
          <a:xfrm>
            <a:off x="8501856" y="4306802"/>
            <a:ext cx="469900" cy="369332"/>
          </a:xfrm>
          <a:prstGeom prst="rect">
            <a:avLst/>
          </a:prstGeom>
          <a:solidFill>
            <a:srgbClr val="A5002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1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1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5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236" grpId="0" animBg="1"/>
      <p:bldP spid="159237" grpId="0" animBg="1"/>
      <p:bldP spid="159238" grpId="0" animBg="1"/>
      <p:bldP spid="159239" grpId="0" animBg="1"/>
      <p:bldP spid="159240" grpId="0"/>
      <p:bldP spid="159294" grpId="0"/>
      <p:bldP spid="15929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3"/>
          <p:cNvSpPr>
            <a:spLocks noChangeShapeType="1"/>
          </p:cNvSpPr>
          <p:nvPr/>
        </p:nvSpPr>
        <p:spPr bwMode="auto">
          <a:xfrm flipH="1" flipV="1">
            <a:off x="9264352" y="2852936"/>
            <a:ext cx="673100" cy="635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3" name="Line 4"/>
          <p:cNvSpPr>
            <a:spLocks noChangeShapeType="1"/>
          </p:cNvSpPr>
          <p:nvPr/>
        </p:nvSpPr>
        <p:spPr bwMode="auto">
          <a:xfrm flipH="1" flipV="1">
            <a:off x="8172152" y="2548136"/>
            <a:ext cx="635000" cy="2159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 flipV="1">
            <a:off x="7283152" y="2535436"/>
            <a:ext cx="762000" cy="1524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 flipV="1">
            <a:off x="6216352" y="2611636"/>
            <a:ext cx="914400" cy="762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>
            <a:off x="5149552" y="2687836"/>
            <a:ext cx="9144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4006552" y="2459236"/>
            <a:ext cx="914400" cy="2286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Freeform 9"/>
          <p:cNvSpPr>
            <a:spLocks noChangeArrowheads="1"/>
          </p:cNvSpPr>
          <p:nvPr/>
        </p:nvSpPr>
        <p:spPr bwMode="auto">
          <a:xfrm>
            <a:off x="2203152" y="2497336"/>
            <a:ext cx="1752600" cy="508000"/>
          </a:xfrm>
          <a:custGeom>
            <a:avLst/>
            <a:gdLst>
              <a:gd name="T0" fmla="*/ 0 w 1104"/>
              <a:gd name="T1" fmla="*/ 2147483646 h 320"/>
              <a:gd name="T2" fmla="*/ 2147483646 w 1104"/>
              <a:gd name="T3" fmla="*/ 2147483646 h 320"/>
              <a:gd name="T4" fmla="*/ 2147483646 w 1104"/>
              <a:gd name="T5" fmla="*/ 0 h 3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320">
                <a:moveTo>
                  <a:pt x="0" y="320"/>
                </a:moveTo>
                <a:lnTo>
                  <a:pt x="568" y="200"/>
                </a:lnTo>
                <a:lnTo>
                  <a:pt x="1104" y="0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369" name="Group 10"/>
          <p:cNvGrpSpPr>
            <a:grpSpLocks/>
          </p:cNvGrpSpPr>
          <p:nvPr/>
        </p:nvGrpSpPr>
        <p:grpSpPr bwMode="auto">
          <a:xfrm>
            <a:off x="2558753" y="2306836"/>
            <a:ext cx="1128713" cy="781050"/>
            <a:chOff x="1680" y="240"/>
            <a:chExt cx="2529" cy="1270"/>
          </a:xfrm>
        </p:grpSpPr>
        <p:sp>
          <p:nvSpPr>
            <p:cNvPr id="15933" name="Oval 11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4" name="Oval 12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5" name="Oval 13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6" name="Oval 14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7" name="Oval 15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8" name="Oval 16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9" name="Oval 17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40" name="Oval 18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41" name="Oval 19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370" name="Group 20"/>
          <p:cNvGrpSpPr>
            <a:grpSpLocks/>
          </p:cNvGrpSpPr>
          <p:nvPr/>
        </p:nvGrpSpPr>
        <p:grpSpPr bwMode="auto">
          <a:xfrm>
            <a:off x="4463753" y="2306836"/>
            <a:ext cx="1128713" cy="781050"/>
            <a:chOff x="1680" y="240"/>
            <a:chExt cx="2529" cy="1270"/>
          </a:xfrm>
        </p:grpSpPr>
        <p:sp>
          <p:nvSpPr>
            <p:cNvPr id="15924" name="Oval 21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5" name="Oval 22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6" name="Oval 23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7" name="Oval 24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8" name="Oval 25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9" name="Oval 26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0" name="Oval 27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1" name="Oval 28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32" name="Oval 29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5371" name="Text Box 30"/>
          <p:cNvSpPr txBox="1">
            <a:spLocks noChangeArrowheads="1"/>
          </p:cNvSpPr>
          <p:nvPr/>
        </p:nvSpPr>
        <p:spPr bwMode="auto">
          <a:xfrm>
            <a:off x="4654252" y="249574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局域网</a:t>
            </a:r>
          </a:p>
        </p:txBody>
      </p:sp>
      <p:pic>
        <p:nvPicPr>
          <p:cNvPr id="15372" name="Picture 3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528" y="2338587"/>
            <a:ext cx="4413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Picture 3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553" y="2535437"/>
            <a:ext cx="4413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4" name="Picture 3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352" y="2598936"/>
            <a:ext cx="5334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5" name="Picture 3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753" y="2386212"/>
            <a:ext cx="4413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76" name="Group 35"/>
          <p:cNvGrpSpPr>
            <a:grpSpLocks/>
          </p:cNvGrpSpPr>
          <p:nvPr/>
        </p:nvGrpSpPr>
        <p:grpSpPr bwMode="auto">
          <a:xfrm>
            <a:off x="6597353" y="2306836"/>
            <a:ext cx="1128713" cy="781050"/>
            <a:chOff x="1680" y="240"/>
            <a:chExt cx="2529" cy="1270"/>
          </a:xfrm>
        </p:grpSpPr>
        <p:sp>
          <p:nvSpPr>
            <p:cNvPr id="15915" name="Oval 36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16" name="Oval 37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17" name="Oval 38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18" name="Oval 39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19" name="Oval 40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0" name="Oval 41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1" name="Oval 42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2" name="Oval 43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23" name="Oval 44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5377" name="Text Box 45"/>
          <p:cNvSpPr txBox="1">
            <a:spLocks noChangeArrowheads="1"/>
          </p:cNvSpPr>
          <p:nvPr/>
        </p:nvSpPr>
        <p:spPr bwMode="auto">
          <a:xfrm>
            <a:off x="6762452" y="249574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广域网</a:t>
            </a:r>
          </a:p>
        </p:txBody>
      </p:sp>
      <p:sp>
        <p:nvSpPr>
          <p:cNvPr id="15378" name="Text Box 46"/>
          <p:cNvSpPr txBox="1">
            <a:spLocks noChangeArrowheads="1"/>
          </p:cNvSpPr>
          <p:nvPr/>
        </p:nvSpPr>
        <p:spPr bwMode="auto">
          <a:xfrm>
            <a:off x="1747540" y="2160786"/>
            <a:ext cx="93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主机</a:t>
            </a:r>
            <a:r>
              <a:rPr lang="zh-CN" altLang="en-US" sz="1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5379" name="Text Box 47"/>
          <p:cNvSpPr txBox="1">
            <a:spLocks noChangeArrowheads="1"/>
          </p:cNvSpPr>
          <p:nvPr/>
        </p:nvSpPr>
        <p:spPr bwMode="auto">
          <a:xfrm>
            <a:off x="9453265" y="227984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主机</a:t>
            </a:r>
            <a:r>
              <a:rPr lang="zh-CN" altLang="en-US" sz="14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5380" name="Text Box 48"/>
          <p:cNvSpPr txBox="1">
            <a:spLocks noChangeArrowheads="1"/>
          </p:cNvSpPr>
          <p:nvPr/>
        </p:nvSpPr>
        <p:spPr bwMode="auto">
          <a:xfrm>
            <a:off x="3476327" y="1976636"/>
            <a:ext cx="1150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路由器</a:t>
            </a:r>
            <a:r>
              <a:rPr lang="zh-CN" altLang="en-US" sz="9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5381" name="Text Box 49"/>
          <p:cNvSpPr txBox="1">
            <a:spLocks noChangeArrowheads="1"/>
          </p:cNvSpPr>
          <p:nvPr/>
        </p:nvSpPr>
        <p:spPr bwMode="auto">
          <a:xfrm>
            <a:off x="5635327" y="2173486"/>
            <a:ext cx="1150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路由器</a:t>
            </a:r>
            <a:r>
              <a:rPr lang="zh-CN" altLang="en-US" sz="9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5382" name="Text Box 50"/>
          <p:cNvSpPr txBox="1">
            <a:spLocks noChangeArrowheads="1"/>
          </p:cNvSpPr>
          <p:nvPr/>
        </p:nvSpPr>
        <p:spPr bwMode="auto">
          <a:xfrm>
            <a:off x="7580016" y="2033786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路由器</a:t>
            </a:r>
            <a:r>
              <a:rPr lang="zh-CN" altLang="en-US" sz="9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15383" name="Text Box 51"/>
          <p:cNvSpPr txBox="1">
            <a:spLocks noChangeArrowheads="1"/>
          </p:cNvSpPr>
          <p:nvPr/>
        </p:nvSpPr>
        <p:spPr bwMode="auto">
          <a:xfrm>
            <a:off x="2711152" y="250844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电话网</a:t>
            </a:r>
          </a:p>
        </p:txBody>
      </p:sp>
      <p:grpSp>
        <p:nvGrpSpPr>
          <p:cNvPr id="15384" name="Group 52"/>
          <p:cNvGrpSpPr>
            <a:grpSpLocks/>
          </p:cNvGrpSpPr>
          <p:nvPr/>
        </p:nvGrpSpPr>
        <p:grpSpPr bwMode="auto">
          <a:xfrm>
            <a:off x="1796753" y="2535436"/>
            <a:ext cx="665163" cy="546100"/>
            <a:chOff x="624" y="2968"/>
            <a:chExt cx="1331" cy="920"/>
          </a:xfrm>
        </p:grpSpPr>
        <p:sp>
          <p:nvSpPr>
            <p:cNvPr id="15463" name="Freeform 53"/>
            <p:cNvSpPr>
              <a:spLocks noChangeArrowheads="1"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6 w 1426"/>
                <a:gd name="T1" fmla="*/ 3 h 2309"/>
                <a:gd name="T2" fmla="*/ 16 w 1426"/>
                <a:gd name="T3" fmla="*/ 3 h 2309"/>
                <a:gd name="T4" fmla="*/ 0 w 1426"/>
                <a:gd name="T5" fmla="*/ 2 h 2309"/>
                <a:gd name="T6" fmla="*/ 6 w 1426"/>
                <a:gd name="T7" fmla="*/ 0 h 2309"/>
                <a:gd name="T8" fmla="*/ 6 w 1426"/>
                <a:gd name="T9" fmla="*/ 0 h 2309"/>
                <a:gd name="T10" fmla="*/ 7 w 1426"/>
                <a:gd name="T11" fmla="*/ 0 h 2309"/>
                <a:gd name="T12" fmla="*/ 8 w 1426"/>
                <a:gd name="T13" fmla="*/ 0 h 2309"/>
                <a:gd name="T14" fmla="*/ 22 w 1426"/>
                <a:gd name="T15" fmla="*/ 1 h 2309"/>
                <a:gd name="T16" fmla="*/ 23 w 1426"/>
                <a:gd name="T17" fmla="*/ 1 h 2309"/>
                <a:gd name="T18" fmla="*/ 23 w 1426"/>
                <a:gd name="T19" fmla="*/ 1 h 2309"/>
                <a:gd name="T20" fmla="*/ 23 w 1426"/>
                <a:gd name="T21" fmla="*/ 1 h 2309"/>
                <a:gd name="T22" fmla="*/ 16 w 1426"/>
                <a:gd name="T23" fmla="*/ 3 h 2309"/>
                <a:gd name="T24" fmla="*/ 16 w 1426"/>
                <a:gd name="T25" fmla="*/ 3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" name="Freeform 54"/>
            <p:cNvSpPr>
              <a:spLocks noChangeArrowheads="1"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8 w 573"/>
                <a:gd name="T1" fmla="*/ 0 h 1980"/>
                <a:gd name="T2" fmla="*/ 8 w 573"/>
                <a:gd name="T3" fmla="*/ 0 h 1980"/>
                <a:gd name="T4" fmla="*/ 2 w 573"/>
                <a:gd name="T5" fmla="*/ 3 h 1980"/>
                <a:gd name="T6" fmla="*/ 2 w 573"/>
                <a:gd name="T7" fmla="*/ 3 h 1980"/>
                <a:gd name="T8" fmla="*/ 2 w 573"/>
                <a:gd name="T9" fmla="*/ 3 h 1980"/>
                <a:gd name="T10" fmla="*/ 1 w 573"/>
                <a:gd name="T11" fmla="*/ 3 h 1980"/>
                <a:gd name="T12" fmla="*/ 1 w 573"/>
                <a:gd name="T13" fmla="*/ 3 h 1980"/>
                <a:gd name="T14" fmla="*/ 1 w 573"/>
                <a:gd name="T15" fmla="*/ 3 h 1980"/>
                <a:gd name="T16" fmla="*/ 0 w 573"/>
                <a:gd name="T17" fmla="*/ 3 h 1980"/>
                <a:gd name="T18" fmla="*/ 6 w 573"/>
                <a:gd name="T19" fmla="*/ 0 h 1980"/>
                <a:gd name="T20" fmla="*/ 6 w 573"/>
                <a:gd name="T21" fmla="*/ 0 h 1980"/>
                <a:gd name="T22" fmla="*/ 6 w 573"/>
                <a:gd name="T23" fmla="*/ 0 h 1980"/>
                <a:gd name="T24" fmla="*/ 6 w 573"/>
                <a:gd name="T25" fmla="*/ 0 h 1980"/>
                <a:gd name="T26" fmla="*/ 8 w 573"/>
                <a:gd name="T27" fmla="*/ 0 h 1980"/>
                <a:gd name="T28" fmla="*/ 8 w 573"/>
                <a:gd name="T29" fmla="*/ 0 h 1980"/>
                <a:gd name="T30" fmla="*/ 8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" name="Freeform 55"/>
            <p:cNvSpPr>
              <a:spLocks noChangeArrowheads="1"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6 w 1045"/>
                <a:gd name="T7" fmla="*/ 1 h 441"/>
                <a:gd name="T8" fmla="*/ 17 w 1045"/>
                <a:gd name="T9" fmla="*/ 1 h 441"/>
                <a:gd name="T10" fmla="*/ 17 w 1045"/>
                <a:gd name="T11" fmla="*/ 1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" name="Freeform 56"/>
            <p:cNvSpPr>
              <a:spLocks noChangeArrowheads="1"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0 w 955"/>
                <a:gd name="T1" fmla="*/ 2 h 1719"/>
                <a:gd name="T2" fmla="*/ 0 w 955"/>
                <a:gd name="T3" fmla="*/ 2 h 1719"/>
                <a:gd name="T4" fmla="*/ 5 w 955"/>
                <a:gd name="T5" fmla="*/ 0 h 1719"/>
                <a:gd name="T6" fmla="*/ 15 w 955"/>
                <a:gd name="T7" fmla="*/ 0 h 1719"/>
                <a:gd name="T8" fmla="*/ 10 w 955"/>
                <a:gd name="T9" fmla="*/ 2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" name="Freeform 57"/>
            <p:cNvSpPr>
              <a:spLocks noChangeArrowheads="1"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9 w 862"/>
                <a:gd name="T1" fmla="*/ 2 h 1587"/>
                <a:gd name="T2" fmla="*/ 0 w 862"/>
                <a:gd name="T3" fmla="*/ 2 h 1587"/>
                <a:gd name="T4" fmla="*/ 5 w 862"/>
                <a:gd name="T5" fmla="*/ 0 h 1587"/>
                <a:gd name="T6" fmla="*/ 14 w 862"/>
                <a:gd name="T7" fmla="*/ 0 h 1587"/>
                <a:gd name="T8" fmla="*/ 9 w 862"/>
                <a:gd name="T9" fmla="*/ 2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8" name="Freeform 58"/>
            <p:cNvSpPr>
              <a:spLocks noChangeArrowheads="1"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6 w 408"/>
                <a:gd name="T1" fmla="*/ 0 h 1480"/>
                <a:gd name="T2" fmla="*/ 5 w 408"/>
                <a:gd name="T3" fmla="*/ 0 h 1480"/>
                <a:gd name="T4" fmla="*/ 5 w 408"/>
                <a:gd name="T5" fmla="*/ 0 h 1480"/>
                <a:gd name="T6" fmla="*/ 5 w 408"/>
                <a:gd name="T7" fmla="*/ 0 h 1480"/>
                <a:gd name="T8" fmla="*/ 5 w 408"/>
                <a:gd name="T9" fmla="*/ 0 h 1480"/>
                <a:gd name="T10" fmla="*/ 4 w 408"/>
                <a:gd name="T11" fmla="*/ 0 h 1480"/>
                <a:gd name="T12" fmla="*/ 0 w 408"/>
                <a:gd name="T13" fmla="*/ 2 h 1480"/>
                <a:gd name="T14" fmla="*/ 0 w 408"/>
                <a:gd name="T15" fmla="*/ 2 h 1480"/>
                <a:gd name="T16" fmla="*/ 5 w 408"/>
                <a:gd name="T17" fmla="*/ 0 h 1480"/>
                <a:gd name="T18" fmla="*/ 5 w 408"/>
                <a:gd name="T19" fmla="*/ 0 h 1480"/>
                <a:gd name="T20" fmla="*/ 5 w 408"/>
                <a:gd name="T21" fmla="*/ 0 h 1480"/>
                <a:gd name="T22" fmla="*/ 5 w 408"/>
                <a:gd name="T23" fmla="*/ 0 h 1480"/>
                <a:gd name="T24" fmla="*/ 5 w 408"/>
                <a:gd name="T25" fmla="*/ 0 h 1480"/>
                <a:gd name="T26" fmla="*/ 6 w 408"/>
                <a:gd name="T27" fmla="*/ 0 h 1480"/>
                <a:gd name="T28" fmla="*/ 6 w 408"/>
                <a:gd name="T29" fmla="*/ 0 h 1480"/>
                <a:gd name="T30" fmla="*/ 6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" name="Freeform 59"/>
            <p:cNvSpPr>
              <a:spLocks noChangeArrowheads="1"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6 w 1065"/>
                <a:gd name="T1" fmla="*/ 1 h 963"/>
                <a:gd name="T2" fmla="*/ 16 w 1065"/>
                <a:gd name="T3" fmla="*/ 1 h 963"/>
                <a:gd name="T4" fmla="*/ 15 w 1065"/>
                <a:gd name="T5" fmla="*/ 1 h 963"/>
                <a:gd name="T6" fmla="*/ 2 w 1065"/>
                <a:gd name="T7" fmla="*/ 0 h 963"/>
                <a:gd name="T8" fmla="*/ 1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13 w 1065"/>
                <a:gd name="T17" fmla="*/ 1 h 963"/>
                <a:gd name="T18" fmla="*/ 16 w 1065"/>
                <a:gd name="T19" fmla="*/ 1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" name="Freeform 60"/>
            <p:cNvSpPr>
              <a:spLocks noChangeArrowheads="1"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8 w 1969"/>
                <a:gd name="T3" fmla="*/ 0 h 862"/>
                <a:gd name="T4" fmla="*/ 31 w 1969"/>
                <a:gd name="T5" fmla="*/ 1 h 862"/>
                <a:gd name="T6" fmla="*/ 8 w 1969"/>
                <a:gd name="T7" fmla="*/ 1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" name="Freeform 61"/>
            <p:cNvSpPr>
              <a:spLocks noChangeArrowheads="1"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28 w 1777"/>
                <a:gd name="T5" fmla="*/ 0 h 297"/>
                <a:gd name="T6" fmla="*/ 28 w 1777"/>
                <a:gd name="T7" fmla="*/ 0 h 297"/>
                <a:gd name="T8" fmla="*/ 28 w 1777"/>
                <a:gd name="T9" fmla="*/ 0 h 297"/>
                <a:gd name="T10" fmla="*/ 28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2" name="Freeform 62"/>
            <p:cNvSpPr>
              <a:spLocks noChangeArrowheads="1"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7 w 513"/>
                <a:gd name="T5" fmla="*/ 2 h 1106"/>
                <a:gd name="T6" fmla="*/ 8 w 513"/>
                <a:gd name="T7" fmla="*/ 1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3" name="Freeform 63"/>
            <p:cNvSpPr>
              <a:spLocks noChangeArrowheads="1"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4 w 262"/>
                <a:gd name="T5" fmla="*/ 0 h 25"/>
                <a:gd name="T6" fmla="*/ 5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" name="Freeform 64"/>
            <p:cNvSpPr>
              <a:spLocks noChangeArrowheads="1"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9 w 561"/>
                <a:gd name="T1" fmla="*/ 1 h 836"/>
                <a:gd name="T2" fmla="*/ 0 w 561"/>
                <a:gd name="T3" fmla="*/ 0 h 836"/>
                <a:gd name="T4" fmla="*/ 9 w 561"/>
                <a:gd name="T5" fmla="*/ 1 h 836"/>
                <a:gd name="T6" fmla="*/ 9 w 561"/>
                <a:gd name="T7" fmla="*/ 1 h 8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75" name="Group 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5501" name="Group 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15912" name="Freeform 67"/>
                <p:cNvSpPr>
                  <a:spLocks noChangeArrowheads="1"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13" name="Freeform 68"/>
                <p:cNvSpPr>
                  <a:spLocks noChangeArrowheads="1"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1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14" name="Freeform 69"/>
                <p:cNvSpPr>
                  <a:spLocks noChangeArrowheads="1"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2 w 82"/>
                    <a:gd name="T9" fmla="*/ 0 h 35"/>
                    <a:gd name="T10" fmla="*/ 2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02" name="Group 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15909" name="Freeform 71"/>
                <p:cNvSpPr>
                  <a:spLocks noChangeArrowheads="1"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10" name="Freeform 72"/>
                <p:cNvSpPr>
                  <a:spLocks noChangeArrowheads="1"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2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11" name="Freeform 73"/>
                <p:cNvSpPr>
                  <a:spLocks noChangeArrowheads="1"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503" name="Freeform 74"/>
              <p:cNvSpPr>
                <a:spLocks noChangeArrowheads="1"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04" name="Freeform 75"/>
              <p:cNvSpPr>
                <a:spLocks noChangeArrowheads="1"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05" name="Freeform 76"/>
              <p:cNvSpPr>
                <a:spLocks noChangeArrowheads="1"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1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06" name="Freeform 77"/>
              <p:cNvSpPr>
                <a:spLocks noChangeArrowheads="1"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2 w 83"/>
                  <a:gd name="T9" fmla="*/ 0 h 36"/>
                  <a:gd name="T10" fmla="*/ 2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507" name="Group 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15906" name="Freeform 79"/>
                <p:cNvSpPr>
                  <a:spLocks noChangeArrowheads="1"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7" name="Freeform 80"/>
                <p:cNvSpPr>
                  <a:spLocks noChangeArrowheads="1"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1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8" name="Freeform 81"/>
                <p:cNvSpPr>
                  <a:spLocks noChangeArrowheads="1"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08" name="Group 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15903" name="Freeform 83"/>
                <p:cNvSpPr>
                  <a:spLocks noChangeArrowheads="1"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4" name="Freeform 84"/>
                <p:cNvSpPr>
                  <a:spLocks noChangeArrowheads="1"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5" name="Freeform 85"/>
                <p:cNvSpPr>
                  <a:spLocks noChangeArrowheads="1"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09" name="Group 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15900" name="Freeform 87"/>
                <p:cNvSpPr>
                  <a:spLocks noChangeArrowheads="1"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1" name="Freeform 88"/>
                <p:cNvSpPr>
                  <a:spLocks noChangeArrowheads="1"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1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2" name="Freeform 89"/>
                <p:cNvSpPr>
                  <a:spLocks noChangeArrowheads="1"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10" name="Group 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15897" name="Freeform 91"/>
                <p:cNvSpPr>
                  <a:spLocks noChangeArrowheads="1"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98" name="Freeform 92"/>
                <p:cNvSpPr>
                  <a:spLocks noChangeArrowheads="1"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2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99" name="Freeform 93"/>
                <p:cNvSpPr>
                  <a:spLocks noChangeArrowheads="1"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11" name="Group 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15877" name="Group 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15894" name="Freeform 96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95" name="Freeform 97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96" name="Freeform 98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2 w 82"/>
                      <a:gd name="T9" fmla="*/ 0 h 37"/>
                      <a:gd name="T10" fmla="*/ 2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78" name="Group 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15891" name="Freeform 100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92" name="Freeform 101"/>
                  <p:cNvSpPr>
                    <a:spLocks noChangeArrowheads="1"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93" name="Freeform 102"/>
                  <p:cNvSpPr>
                    <a:spLocks noChangeArrowheads="1"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79" name="Group 1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15888" name="Freeform 104"/>
                  <p:cNvSpPr>
                    <a:spLocks noChangeArrowheads="1"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89" name="Freeform 105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1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90" name="Freeform 106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80" name="Group 1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15885" name="Freeform 108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86" name="Freeform 109"/>
                  <p:cNvSpPr>
                    <a:spLocks noChangeArrowheads="1"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87" name="Freeform 110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2 w 83"/>
                      <a:gd name="T9" fmla="*/ 0 h 35"/>
                      <a:gd name="T10" fmla="*/ 2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81" name="Group 1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15882" name="Freeform 112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83" name="Freeform 113"/>
                  <p:cNvSpPr>
                    <a:spLocks noChangeArrowheads="1"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84" name="Freeform 114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12" name="Group 1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15857" name="Group 1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15874" name="Freeform 117"/>
                  <p:cNvSpPr>
                    <a:spLocks noChangeArrowheads="1"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75" name="Freeform 118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76" name="Freeform 119"/>
                  <p:cNvSpPr>
                    <a:spLocks noChangeArrowheads="1"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58" name="Group 1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15871" name="Freeform 121"/>
                  <p:cNvSpPr>
                    <a:spLocks noChangeArrowheads="1"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72" name="Freeform 122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2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73" name="Freeform 123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1 w 83"/>
                      <a:gd name="T9" fmla="*/ 0 h 37"/>
                      <a:gd name="T10" fmla="*/ 1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59" name="Group 1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15868" name="Freeform 125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69" name="Freeform 126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70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1 w 82"/>
                      <a:gd name="T9" fmla="*/ 0 h 35"/>
                      <a:gd name="T10" fmla="*/ 1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60" name="Group 1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15865" name="Freeform 129"/>
                  <p:cNvSpPr>
                    <a:spLocks noChangeArrowheads="1"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66" name="Freeform 130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67" name="Freeform 131"/>
                  <p:cNvSpPr>
                    <a:spLocks noChangeArrowheads="1"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61" name="Group 1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15862" name="Freeform 133"/>
                  <p:cNvSpPr>
                    <a:spLocks noChangeArrowheads="1"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63" name="Freeform 134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64" name="Freeform 135"/>
                  <p:cNvSpPr>
                    <a:spLocks noChangeArrowheads="1"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13" name="Group 1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15854" name="Freeform 137"/>
                <p:cNvSpPr>
                  <a:spLocks noChangeArrowheads="1"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55" name="Freeform 138"/>
                <p:cNvSpPr>
                  <a:spLocks noChangeArrowheads="1"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1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56" name="Freeform 139"/>
                <p:cNvSpPr>
                  <a:spLocks noChangeArrowheads="1"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2 w 82"/>
                    <a:gd name="T9" fmla="*/ 0 h 35"/>
                    <a:gd name="T10" fmla="*/ 2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14" name="Group 1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15851" name="Freeform 141"/>
                <p:cNvSpPr>
                  <a:spLocks noChangeArrowheads="1"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52" name="Freeform 142"/>
                <p:cNvSpPr>
                  <a:spLocks noChangeArrowheads="1"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1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53" name="Freeform 143"/>
                <p:cNvSpPr>
                  <a:spLocks noChangeArrowheads="1"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15" name="Group 1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15848" name="Freeform 145"/>
                <p:cNvSpPr>
                  <a:spLocks noChangeArrowheads="1"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9" name="Freeform 146"/>
                <p:cNvSpPr>
                  <a:spLocks noChangeArrowheads="1"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50" name="Freeform 147"/>
                <p:cNvSpPr>
                  <a:spLocks noChangeArrowheads="1"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516" name="Freeform 148"/>
              <p:cNvSpPr>
                <a:spLocks noChangeArrowheads="1"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17" name="Freeform 149"/>
              <p:cNvSpPr>
                <a:spLocks noChangeArrowheads="1"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2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18" name="Freeform 150"/>
              <p:cNvSpPr>
                <a:spLocks noChangeArrowheads="1"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1 w 82"/>
                  <a:gd name="T9" fmla="*/ 0 h 36"/>
                  <a:gd name="T10" fmla="*/ 1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519" name="Group 1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15845" name="Freeform 152"/>
                <p:cNvSpPr>
                  <a:spLocks noChangeArrowheads="1"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6" name="Freeform 153"/>
                <p:cNvSpPr>
                  <a:spLocks noChangeArrowheads="1"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2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7" name="Freeform 154"/>
                <p:cNvSpPr>
                  <a:spLocks noChangeArrowheads="1"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20" name="Group 1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15842" name="Freeform 156"/>
                <p:cNvSpPr>
                  <a:spLocks noChangeArrowheads="1"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3" name="Freeform 157"/>
                <p:cNvSpPr>
                  <a:spLocks noChangeArrowheads="1"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2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4" name="Freeform 158"/>
                <p:cNvSpPr>
                  <a:spLocks noChangeArrowheads="1"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21" name="Group 1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15839" name="Freeform 160"/>
                <p:cNvSpPr>
                  <a:spLocks noChangeArrowheads="1"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0" name="Freeform 161"/>
                <p:cNvSpPr>
                  <a:spLocks noChangeArrowheads="1"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2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1" name="Freeform 162"/>
                <p:cNvSpPr>
                  <a:spLocks noChangeArrowheads="1"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22" name="Group 1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15836" name="Freeform 164"/>
                <p:cNvSpPr>
                  <a:spLocks noChangeArrowheads="1"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37" name="Freeform 165"/>
                <p:cNvSpPr>
                  <a:spLocks noChangeArrowheads="1"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2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38" name="Freeform 166"/>
                <p:cNvSpPr>
                  <a:spLocks noChangeArrowheads="1"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2 w 80"/>
                    <a:gd name="T9" fmla="*/ 0 h 36"/>
                    <a:gd name="T10" fmla="*/ 2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23" name="Group 1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15816" name="Group 1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15833" name="Freeform 169"/>
                  <p:cNvSpPr>
                    <a:spLocks noChangeArrowheads="1"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34" name="Freeform 170"/>
                  <p:cNvSpPr>
                    <a:spLocks noChangeArrowheads="1"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2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35" name="Freeform 171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1 w 83"/>
                      <a:gd name="T9" fmla="*/ 0 h 38"/>
                      <a:gd name="T10" fmla="*/ 1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17" name="Group 1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15830" name="Freeform 173"/>
                  <p:cNvSpPr>
                    <a:spLocks noChangeArrowheads="1"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31" name="Freeform 174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1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32" name="Freeform 175"/>
                  <p:cNvSpPr>
                    <a:spLocks noChangeArrowheads="1"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2 w 81"/>
                      <a:gd name="T9" fmla="*/ 0 h 36"/>
                      <a:gd name="T10" fmla="*/ 2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18" name="Group 1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15827" name="Freeform 177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28" name="Freeform 178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2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29" name="Freeform 179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19" name="Group 1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15824" name="Freeform 181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25" name="Freeform 182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2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26" name="Freeform 183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20" name="Group 1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15821" name="Freeform 185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22" name="Freeform 186"/>
                  <p:cNvSpPr>
                    <a:spLocks noChangeArrowheads="1"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2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23" name="Freeform 187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2 w 83"/>
                      <a:gd name="T9" fmla="*/ 0 h 35"/>
                      <a:gd name="T10" fmla="*/ 2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24" name="Group 1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15796" name="Group 1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15813" name="Freeform 190"/>
                  <p:cNvSpPr>
                    <a:spLocks noChangeArrowheads="1"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14" name="Freeform 191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1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15" name="Freeform 192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97" name="Group 1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15810" name="Freeform 194"/>
                  <p:cNvSpPr>
                    <a:spLocks noChangeArrowheads="1"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11" name="Freeform 195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2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12" name="Freeform 196"/>
                  <p:cNvSpPr>
                    <a:spLocks noChangeArrowheads="1"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2 w 82"/>
                      <a:gd name="T9" fmla="*/ 0 h 38"/>
                      <a:gd name="T10" fmla="*/ 2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98" name="Group 1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15807" name="Freeform 198"/>
                  <p:cNvSpPr>
                    <a:spLocks noChangeArrowheads="1"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08" name="Freeform 199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1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09" name="Freeform 200"/>
                  <p:cNvSpPr>
                    <a:spLocks noChangeArrowheads="1"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2 w 81"/>
                      <a:gd name="T9" fmla="*/ 0 h 36"/>
                      <a:gd name="T10" fmla="*/ 2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99" name="Group 2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15804" name="Freeform 202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05" name="Freeform 203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2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06" name="Freeform 204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800" name="Group 2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15801" name="Freeform 206"/>
                  <p:cNvSpPr>
                    <a:spLocks noChangeArrowheads="1"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02" name="Freeform 207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03" name="Freeform 208"/>
                  <p:cNvSpPr>
                    <a:spLocks noChangeArrowheads="1"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25" name="Group 2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15793" name="Freeform 210"/>
                <p:cNvSpPr>
                  <a:spLocks noChangeArrowheads="1"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94" name="Freeform 211"/>
                <p:cNvSpPr>
                  <a:spLocks noChangeArrowheads="1"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2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95" name="Freeform 212"/>
                <p:cNvSpPr>
                  <a:spLocks noChangeArrowheads="1"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26" name="Group 2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15790" name="Freeform 214"/>
                <p:cNvSpPr>
                  <a:spLocks noChangeArrowheads="1"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91" name="Freeform 215"/>
                <p:cNvSpPr>
                  <a:spLocks noChangeArrowheads="1"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92" name="Freeform 216"/>
                <p:cNvSpPr>
                  <a:spLocks noChangeArrowheads="1"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27" name="Group 2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15787" name="Freeform 218"/>
                <p:cNvSpPr>
                  <a:spLocks noChangeArrowheads="1"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8" name="Freeform 219"/>
                <p:cNvSpPr>
                  <a:spLocks noChangeArrowheads="1"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9" name="Freeform 220"/>
                <p:cNvSpPr>
                  <a:spLocks noChangeArrowheads="1"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528" name="Freeform 221"/>
              <p:cNvSpPr>
                <a:spLocks noChangeArrowheads="1"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29" name="Freeform 222"/>
              <p:cNvSpPr>
                <a:spLocks noChangeArrowheads="1"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2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30" name="Freeform 223"/>
              <p:cNvSpPr>
                <a:spLocks noChangeArrowheads="1"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531" name="Group 2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15784" name="Freeform 225"/>
                <p:cNvSpPr>
                  <a:spLocks noChangeArrowheads="1"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5" name="Freeform 226"/>
                <p:cNvSpPr>
                  <a:spLocks noChangeArrowheads="1"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2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6" name="Freeform 227"/>
                <p:cNvSpPr>
                  <a:spLocks noChangeArrowheads="1"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32" name="Group 2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15781" name="Freeform 229"/>
                <p:cNvSpPr>
                  <a:spLocks noChangeArrowheads="1"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2" name="Freeform 230"/>
                <p:cNvSpPr>
                  <a:spLocks noChangeArrowheads="1"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2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3" name="Freeform 231"/>
                <p:cNvSpPr>
                  <a:spLocks noChangeArrowheads="1"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33" name="Group 2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15778" name="Freeform 233"/>
                <p:cNvSpPr>
                  <a:spLocks noChangeArrowheads="1"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79" name="Freeform 234"/>
                <p:cNvSpPr>
                  <a:spLocks noChangeArrowheads="1"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1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0" name="Freeform 235"/>
                <p:cNvSpPr>
                  <a:spLocks noChangeArrowheads="1"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34" name="Group 2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15775" name="Freeform 237"/>
                <p:cNvSpPr>
                  <a:spLocks noChangeArrowheads="1"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76" name="Freeform 238"/>
                <p:cNvSpPr>
                  <a:spLocks noChangeArrowheads="1"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1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77" name="Freeform 239"/>
                <p:cNvSpPr>
                  <a:spLocks noChangeArrowheads="1"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2 w 80"/>
                    <a:gd name="T9" fmla="*/ 0 h 36"/>
                    <a:gd name="T10" fmla="*/ 2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35" name="Group 2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15755" name="Group 2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15772" name="Freeform 242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73" name="Freeform 243"/>
                  <p:cNvSpPr>
                    <a:spLocks noChangeArrowheads="1"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1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74" name="Freeform 244"/>
                  <p:cNvSpPr>
                    <a:spLocks noChangeArrowheads="1"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2 w 82"/>
                      <a:gd name="T9" fmla="*/ 0 h 38"/>
                      <a:gd name="T10" fmla="*/ 2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56" name="Group 2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15769" name="Freeform 246"/>
                  <p:cNvSpPr>
                    <a:spLocks noChangeArrowheads="1"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70" name="Freeform 247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2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71" name="Freeform 248"/>
                  <p:cNvSpPr>
                    <a:spLocks noChangeArrowheads="1"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57" name="Group 2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15766" name="Freeform 250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67" name="Freeform 251"/>
                  <p:cNvSpPr>
                    <a:spLocks noChangeArrowheads="1"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2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68" name="Freeform 252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58" name="Group 2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15763" name="Freeform 254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64" name="Freeform 255"/>
                  <p:cNvSpPr>
                    <a:spLocks noChangeArrowheads="1"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2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65" name="Freeform 256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59" name="Group 2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15760" name="Freeform 258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61" name="Freeform 259"/>
                  <p:cNvSpPr>
                    <a:spLocks noChangeArrowheads="1"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2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62" name="Freeform 260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36" name="Group 2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15735" name="Group 2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15752" name="Freeform 263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53" name="Freeform 264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2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54" name="Freeform 265"/>
                  <p:cNvSpPr>
                    <a:spLocks noChangeArrowheads="1"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36" name="Group 2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15749" name="Freeform 267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50" name="Freeform 268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2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51" name="Freeform 269"/>
                  <p:cNvSpPr>
                    <a:spLocks noChangeArrowheads="1"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2 w 81"/>
                      <a:gd name="T9" fmla="*/ 0 h 38"/>
                      <a:gd name="T10" fmla="*/ 2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37" name="Group 2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15746" name="Freeform 271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47" name="Freeform 272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48" name="Freeform 273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38" name="Group 2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15743" name="Freeform 275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44" name="Freeform 276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1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45" name="Freeform 277"/>
                  <p:cNvSpPr>
                    <a:spLocks noChangeArrowheads="1"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39" name="Group 2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15740" name="Freeform 279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41" name="Freeform 280"/>
                  <p:cNvSpPr>
                    <a:spLocks noChangeArrowheads="1"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1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42" name="Freeform 281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2 w 82"/>
                      <a:gd name="T9" fmla="*/ 0 h 36"/>
                      <a:gd name="T10" fmla="*/ 2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37" name="Group 2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15732" name="Freeform 283"/>
                <p:cNvSpPr>
                  <a:spLocks noChangeArrowheads="1"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33" name="Freeform 284"/>
                <p:cNvSpPr>
                  <a:spLocks noChangeArrowheads="1"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2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34" name="Freeform 285"/>
                <p:cNvSpPr>
                  <a:spLocks noChangeArrowheads="1"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38" name="Group 2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15729" name="Freeform 287"/>
                <p:cNvSpPr>
                  <a:spLocks noChangeArrowheads="1"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30" name="Freeform 288"/>
                <p:cNvSpPr>
                  <a:spLocks noChangeArrowheads="1"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2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31" name="Freeform 289"/>
                <p:cNvSpPr>
                  <a:spLocks noChangeArrowheads="1"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39" name="Group 2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15726" name="Freeform 291"/>
                <p:cNvSpPr>
                  <a:spLocks noChangeArrowheads="1"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7" name="Freeform 292"/>
                <p:cNvSpPr>
                  <a:spLocks noChangeArrowheads="1"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1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8" name="Freeform 293"/>
                <p:cNvSpPr>
                  <a:spLocks noChangeArrowheads="1"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2 w 83"/>
                    <a:gd name="T9" fmla="*/ 0 h 35"/>
                    <a:gd name="T10" fmla="*/ 2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0" name="Group 2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15723" name="Freeform 295"/>
                <p:cNvSpPr>
                  <a:spLocks noChangeArrowheads="1"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4" name="Freeform 296"/>
                <p:cNvSpPr>
                  <a:spLocks noChangeArrowheads="1"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2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5" name="Freeform 297"/>
                <p:cNvSpPr>
                  <a:spLocks noChangeArrowheads="1"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1" name="Group 2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15720" name="Freeform 299"/>
                <p:cNvSpPr>
                  <a:spLocks noChangeArrowheads="1"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1" name="Freeform 300"/>
                <p:cNvSpPr>
                  <a:spLocks noChangeArrowheads="1"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1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2" name="Freeform 301"/>
                <p:cNvSpPr>
                  <a:spLocks noChangeArrowheads="1"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2" name="Group 3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15700" name="Group 3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15717" name="Freeform 304"/>
                  <p:cNvSpPr>
                    <a:spLocks noChangeArrowheads="1"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8" name="Freeform 305"/>
                  <p:cNvSpPr>
                    <a:spLocks noChangeArrowheads="1"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9" name="Freeform 306"/>
                  <p:cNvSpPr>
                    <a:spLocks noChangeArrowheads="1"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01" name="Group 3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15714" name="Freeform 308"/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5" name="Freeform 309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2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6" name="Freeform 310"/>
                  <p:cNvSpPr>
                    <a:spLocks noChangeArrowheads="1"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02" name="Group 3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15711" name="Freeform 312"/>
                  <p:cNvSpPr>
                    <a:spLocks noChangeArrowheads="1"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2" name="Freeform 313"/>
                  <p:cNvSpPr>
                    <a:spLocks noChangeArrowheads="1"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2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3" name="Freeform 314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03" name="Group 3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15708" name="Freeform 31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09" name="Freeform 317"/>
                  <p:cNvSpPr>
                    <a:spLocks noChangeArrowheads="1"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2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10" name="Freeform 318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704" name="Group 3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15705" name="Freeform 320"/>
                  <p:cNvSpPr>
                    <a:spLocks noChangeArrowheads="1"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06" name="Freeform 321"/>
                  <p:cNvSpPr>
                    <a:spLocks noChangeArrowheads="1"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07" name="Freeform 32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2 w 81"/>
                      <a:gd name="T9" fmla="*/ 0 h 35"/>
                      <a:gd name="T10" fmla="*/ 2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43" name="Group 3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15680" name="Group 3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15697" name="Freeform 325"/>
                  <p:cNvSpPr>
                    <a:spLocks noChangeArrowheads="1"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8" name="Freeform 326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9" name="Freeform 327"/>
                  <p:cNvSpPr>
                    <a:spLocks noChangeArrowheads="1"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81" name="Group 3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15694" name="Freeform 329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5" name="Freeform 330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1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6" name="Freeform 331"/>
                  <p:cNvSpPr>
                    <a:spLocks noChangeArrowheads="1"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2 w 82"/>
                      <a:gd name="T9" fmla="*/ 0 h 38"/>
                      <a:gd name="T10" fmla="*/ 2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82" name="Group 3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15691" name="Freeform 333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2" name="Freeform 334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2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3" name="Freeform 335"/>
                  <p:cNvSpPr>
                    <a:spLocks noChangeArrowheads="1"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2 w 83"/>
                      <a:gd name="T9" fmla="*/ 0 h 36"/>
                      <a:gd name="T10" fmla="*/ 2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83" name="Group 3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15688" name="Freeform 337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89" name="Freeform 33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2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90" name="Freeform 339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84" name="Group 3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15685" name="Freeform 341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86" name="Freeform 342"/>
                  <p:cNvSpPr>
                    <a:spLocks noChangeArrowheads="1"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2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87" name="Freeform 343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44" name="Group 3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15677" name="Freeform 345"/>
                <p:cNvSpPr>
                  <a:spLocks noChangeArrowheads="1"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8" name="Freeform 346"/>
                <p:cNvSpPr>
                  <a:spLocks noChangeArrowheads="1"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2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9" name="Freeform 347"/>
                <p:cNvSpPr>
                  <a:spLocks noChangeArrowheads="1"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5" name="Group 3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15674" name="Freeform 349"/>
                <p:cNvSpPr>
                  <a:spLocks noChangeArrowheads="1"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5" name="Freeform 350"/>
                <p:cNvSpPr>
                  <a:spLocks noChangeArrowheads="1"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2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6" name="Freeform 351"/>
                <p:cNvSpPr>
                  <a:spLocks noChangeArrowheads="1"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1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6" name="Group 3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15671" name="Freeform 353"/>
                <p:cNvSpPr>
                  <a:spLocks noChangeArrowheads="1"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2" name="Freeform 354"/>
                <p:cNvSpPr>
                  <a:spLocks noChangeArrowheads="1"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3" name="Freeform 355"/>
                <p:cNvSpPr>
                  <a:spLocks noChangeArrowheads="1"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2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7" name="Group 3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15668" name="Freeform 357"/>
                <p:cNvSpPr>
                  <a:spLocks noChangeArrowheads="1"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69" name="Freeform 358"/>
                <p:cNvSpPr>
                  <a:spLocks noChangeArrowheads="1"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0" name="Freeform 359"/>
                <p:cNvSpPr>
                  <a:spLocks noChangeArrowheads="1"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2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8" name="Group 3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15665" name="Freeform 361"/>
                <p:cNvSpPr>
                  <a:spLocks noChangeArrowheads="1"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66" name="Freeform 362"/>
                <p:cNvSpPr>
                  <a:spLocks noChangeArrowheads="1"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1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67" name="Freeform 363"/>
                <p:cNvSpPr>
                  <a:spLocks noChangeArrowheads="1"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2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49" name="Group 3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15649" name="Group 3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15662" name="Freeform 366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63" name="Freeform 367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1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64" name="Freeform 368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2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50" name="Group 3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15659" name="Freeform 370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60" name="Freeform 371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2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61" name="Freeform 372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2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51" name="Group 3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15656" name="Freeform 374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57" name="Freeform 375"/>
                  <p:cNvSpPr>
                    <a:spLocks noChangeArrowheads="1"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1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58" name="Freeform 376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52" name="Group 3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15653" name="Freeform 378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54" name="Freeform 379"/>
                  <p:cNvSpPr>
                    <a:spLocks noChangeArrowheads="1"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55" name="Freeform 380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2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50" name="Group 3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15633" name="Group 3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15646" name="Freeform 383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47" name="Freeform 384"/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2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48" name="Freeform 385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2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34" name="Group 3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15643" name="Freeform 387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44" name="Freeform 388"/>
                  <p:cNvSpPr>
                    <a:spLocks noChangeArrowheads="1"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45" name="Freeform 389"/>
                  <p:cNvSpPr>
                    <a:spLocks noChangeArrowheads="1"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1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35" name="Group 3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15640" name="Freeform 391"/>
                  <p:cNvSpPr>
                    <a:spLocks noChangeArrowheads="1"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41" name="Freeform 392"/>
                  <p:cNvSpPr>
                    <a:spLocks noChangeArrowheads="1"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2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42" name="Freeform 393"/>
                  <p:cNvSpPr>
                    <a:spLocks noChangeArrowheads="1"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2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636" name="Group 3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15637" name="Freeform 395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38" name="Freeform 396"/>
                  <p:cNvSpPr>
                    <a:spLocks noChangeArrowheads="1"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1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39" name="Freeform 397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551" name="Group 3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15630" name="Freeform 399"/>
                <p:cNvSpPr>
                  <a:spLocks noChangeArrowheads="1"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31" name="Freeform 400"/>
                <p:cNvSpPr>
                  <a:spLocks noChangeArrowheads="1"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32" name="Freeform 401"/>
                <p:cNvSpPr>
                  <a:spLocks noChangeArrowheads="1"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2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52" name="Group 4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15627" name="Freeform 403"/>
                <p:cNvSpPr>
                  <a:spLocks noChangeArrowheads="1"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8" name="Freeform 404"/>
                <p:cNvSpPr>
                  <a:spLocks noChangeArrowheads="1"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9" name="Freeform 405"/>
                <p:cNvSpPr>
                  <a:spLocks noChangeArrowheads="1"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2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53" name="Group 4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15624" name="Freeform 407"/>
                <p:cNvSpPr>
                  <a:spLocks noChangeArrowheads="1"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5" name="Freeform 408"/>
                <p:cNvSpPr>
                  <a:spLocks noChangeArrowheads="1"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6" name="Freeform 409"/>
                <p:cNvSpPr>
                  <a:spLocks noChangeArrowheads="1"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54" name="Group 4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15621" name="Freeform 411"/>
                <p:cNvSpPr>
                  <a:spLocks noChangeArrowheads="1"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2" name="Freeform 412"/>
                <p:cNvSpPr>
                  <a:spLocks noChangeArrowheads="1"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3" name="Freeform 413"/>
                <p:cNvSpPr>
                  <a:spLocks noChangeArrowheads="1"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55" name="Group 4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15618" name="Freeform 415"/>
                <p:cNvSpPr>
                  <a:spLocks noChangeArrowheads="1"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9" name="Freeform 416"/>
                <p:cNvSpPr>
                  <a:spLocks noChangeArrowheads="1"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0" name="Freeform 417"/>
                <p:cNvSpPr>
                  <a:spLocks noChangeArrowheads="1"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56" name="Group 4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15615" name="Freeform 419"/>
                <p:cNvSpPr>
                  <a:spLocks noChangeArrowheads="1"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6" name="Freeform 420"/>
                <p:cNvSpPr>
                  <a:spLocks noChangeArrowheads="1"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2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7" name="Freeform 421"/>
                <p:cNvSpPr>
                  <a:spLocks noChangeArrowheads="1"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2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57" name="Group 4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15612" name="Freeform 423"/>
                <p:cNvSpPr>
                  <a:spLocks noChangeArrowheads="1"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3" name="Freeform 424"/>
                <p:cNvSpPr>
                  <a:spLocks noChangeArrowheads="1"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4" name="Freeform 425"/>
                <p:cNvSpPr>
                  <a:spLocks noChangeArrowheads="1"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558" name="Freeform 426"/>
              <p:cNvSpPr>
                <a:spLocks noChangeArrowheads="1"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2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59" name="Freeform 427"/>
              <p:cNvSpPr>
                <a:spLocks noChangeArrowheads="1"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0" name="Freeform 428"/>
              <p:cNvSpPr>
                <a:spLocks noChangeArrowheads="1"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2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1" name="Freeform 429"/>
              <p:cNvSpPr>
                <a:spLocks noChangeArrowheads="1"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2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2" name="Freeform 430"/>
              <p:cNvSpPr>
                <a:spLocks noChangeArrowheads="1"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3" name="Freeform 431"/>
              <p:cNvSpPr>
                <a:spLocks noChangeArrowheads="1"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2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4" name="Freeform 432"/>
              <p:cNvSpPr>
                <a:spLocks noChangeArrowheads="1"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2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5" name="Freeform 433"/>
              <p:cNvSpPr>
                <a:spLocks noChangeArrowheads="1"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2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" name="Freeform 434"/>
              <p:cNvSpPr>
                <a:spLocks noChangeArrowheads="1"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1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7" name="Freeform 435"/>
              <p:cNvSpPr>
                <a:spLocks noChangeArrowheads="1"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2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8" name="Freeform 436"/>
              <p:cNvSpPr>
                <a:spLocks noChangeArrowheads="1"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1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569" name="Group 4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15609" name="Freeform 438"/>
                <p:cNvSpPr>
                  <a:spLocks noChangeArrowheads="1"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0" name="Freeform 439"/>
                <p:cNvSpPr>
                  <a:spLocks noChangeArrowheads="1"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2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1" name="Freeform 440"/>
                <p:cNvSpPr>
                  <a:spLocks noChangeArrowheads="1"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2 w 82"/>
                    <a:gd name="T9" fmla="*/ 0 h 36"/>
                    <a:gd name="T10" fmla="*/ 2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0" name="Group 4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15606" name="Freeform 442"/>
                <p:cNvSpPr>
                  <a:spLocks noChangeArrowheads="1"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7" name="Freeform 443"/>
                <p:cNvSpPr>
                  <a:spLocks noChangeArrowheads="1"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1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8" name="Freeform 444"/>
                <p:cNvSpPr>
                  <a:spLocks noChangeArrowheads="1"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2 w 81"/>
                    <a:gd name="T9" fmla="*/ 0 h 35"/>
                    <a:gd name="T10" fmla="*/ 2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1" name="Group 4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15603" name="Freeform 446"/>
                <p:cNvSpPr>
                  <a:spLocks noChangeArrowheads="1"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4" name="Freeform 447"/>
                <p:cNvSpPr>
                  <a:spLocks noChangeArrowheads="1"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2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5" name="Freeform 448"/>
                <p:cNvSpPr>
                  <a:spLocks noChangeArrowheads="1"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2" name="Group 4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15600" name="Freeform 450"/>
                <p:cNvSpPr>
                  <a:spLocks noChangeArrowheads="1"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1" name="Freeform 451"/>
                <p:cNvSpPr>
                  <a:spLocks noChangeArrowheads="1"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2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2" name="Freeform 452"/>
                <p:cNvSpPr>
                  <a:spLocks noChangeArrowheads="1"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3" name="Group 4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15597" name="Freeform 454"/>
                <p:cNvSpPr>
                  <a:spLocks noChangeArrowheads="1"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3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3 w 182"/>
                    <a:gd name="T7" fmla="*/ 0 h 314"/>
                    <a:gd name="T8" fmla="*/ 3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8" name="Freeform 455"/>
                <p:cNvSpPr>
                  <a:spLocks noChangeArrowheads="1"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2 w 235"/>
                    <a:gd name="T7" fmla="*/ 0 h 281"/>
                    <a:gd name="T8" fmla="*/ 4 w 235"/>
                    <a:gd name="T9" fmla="*/ 0 h 281"/>
                    <a:gd name="T10" fmla="*/ 3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9" name="Freeform 456"/>
                <p:cNvSpPr>
                  <a:spLocks noChangeArrowheads="1"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1 w 95"/>
                    <a:gd name="T9" fmla="*/ 0 h 36"/>
                    <a:gd name="T10" fmla="*/ 1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4" name="Group 4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5594" name="Freeform 458"/>
                <p:cNvSpPr>
                  <a:spLocks noChangeArrowheads="1"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5" name="Freeform 459"/>
                <p:cNvSpPr>
                  <a:spLocks noChangeArrowheads="1"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6" name="Freeform 460"/>
                <p:cNvSpPr>
                  <a:spLocks noChangeArrowheads="1"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2 w 81"/>
                    <a:gd name="T9" fmla="*/ 0 h 34"/>
                    <a:gd name="T10" fmla="*/ 2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5" name="Group 4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5591" name="Freeform 462"/>
                <p:cNvSpPr>
                  <a:spLocks noChangeArrowheads="1"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2" name="Freeform 463"/>
                <p:cNvSpPr>
                  <a:spLocks noChangeArrowheads="1"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2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3" name="Freeform 464"/>
                <p:cNvSpPr>
                  <a:spLocks noChangeArrowheads="1"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6" name="Group 4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5588" name="Freeform 466"/>
                <p:cNvSpPr>
                  <a:spLocks noChangeArrowheads="1"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89" name="Freeform 467"/>
                <p:cNvSpPr>
                  <a:spLocks noChangeArrowheads="1"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2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0" name="Freeform 468"/>
                <p:cNvSpPr>
                  <a:spLocks noChangeArrowheads="1"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2 w 83"/>
                    <a:gd name="T9" fmla="*/ 0 h 36"/>
                    <a:gd name="T10" fmla="*/ 2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7" name="Group 4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5585" name="Freeform 470"/>
                <p:cNvSpPr>
                  <a:spLocks noChangeArrowheads="1"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86" name="Freeform 471"/>
                <p:cNvSpPr>
                  <a:spLocks noChangeArrowheads="1"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87" name="Freeform 472"/>
                <p:cNvSpPr>
                  <a:spLocks noChangeArrowheads="1"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78" name="Group 4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5582" name="Freeform 474"/>
                <p:cNvSpPr>
                  <a:spLocks noChangeArrowheads="1"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83" name="Freeform 475"/>
                <p:cNvSpPr>
                  <a:spLocks noChangeArrowheads="1"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2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84" name="Freeform 476"/>
                <p:cNvSpPr>
                  <a:spLocks noChangeArrowheads="1"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2 w 81"/>
                    <a:gd name="T9" fmla="*/ 0 h 36"/>
                    <a:gd name="T10" fmla="*/ 2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579" name="Freeform 477"/>
              <p:cNvSpPr>
                <a:spLocks noChangeArrowheads="1"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80" name="Freeform 478"/>
              <p:cNvSpPr>
                <a:spLocks noChangeArrowheads="1"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1 w 183"/>
                  <a:gd name="T3" fmla="*/ 0 h 85"/>
                  <a:gd name="T4" fmla="*/ 1 w 183"/>
                  <a:gd name="T5" fmla="*/ 0 h 85"/>
                  <a:gd name="T6" fmla="*/ 1 w 183"/>
                  <a:gd name="T7" fmla="*/ 0 h 85"/>
                  <a:gd name="T8" fmla="*/ 1 w 183"/>
                  <a:gd name="T9" fmla="*/ 0 h 85"/>
                  <a:gd name="T10" fmla="*/ 2 w 183"/>
                  <a:gd name="T11" fmla="*/ 0 h 85"/>
                  <a:gd name="T12" fmla="*/ 2 w 183"/>
                  <a:gd name="T13" fmla="*/ 0 h 85"/>
                  <a:gd name="T14" fmla="*/ 2 w 183"/>
                  <a:gd name="T15" fmla="*/ 0 h 85"/>
                  <a:gd name="T16" fmla="*/ 2 w 183"/>
                  <a:gd name="T17" fmla="*/ 0 h 85"/>
                  <a:gd name="T18" fmla="*/ 1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81" name="Freeform 479"/>
              <p:cNvSpPr>
                <a:spLocks noChangeArrowheads="1"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3 w 160"/>
                  <a:gd name="T9" fmla="*/ 0 h 36"/>
                  <a:gd name="T10" fmla="*/ 3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476" name="Group 4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5497" name="Freeform 481"/>
              <p:cNvSpPr>
                <a:spLocks noChangeArrowheads="1"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3 w 825"/>
                  <a:gd name="T15" fmla="*/ 0 h 151"/>
                  <a:gd name="T16" fmla="*/ 13 w 825"/>
                  <a:gd name="T17" fmla="*/ 0 h 151"/>
                  <a:gd name="T18" fmla="*/ 13 w 825"/>
                  <a:gd name="T19" fmla="*/ 0 h 151"/>
                  <a:gd name="T20" fmla="*/ 13 w 825"/>
                  <a:gd name="T21" fmla="*/ 0 h 151"/>
                  <a:gd name="T22" fmla="*/ 13 w 825"/>
                  <a:gd name="T23" fmla="*/ 0 h 151"/>
                  <a:gd name="T24" fmla="*/ 13 w 825"/>
                  <a:gd name="T25" fmla="*/ 0 h 151"/>
                  <a:gd name="T26" fmla="*/ 13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8" name="Freeform 482"/>
              <p:cNvSpPr>
                <a:spLocks noChangeArrowheads="1"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3 w 658"/>
                  <a:gd name="T5" fmla="*/ 0 h 79"/>
                  <a:gd name="T6" fmla="*/ 3 w 658"/>
                  <a:gd name="T7" fmla="*/ 0 h 79"/>
                  <a:gd name="T8" fmla="*/ 8 w 658"/>
                  <a:gd name="T9" fmla="*/ 0 h 79"/>
                  <a:gd name="T10" fmla="*/ 8 w 658"/>
                  <a:gd name="T11" fmla="*/ 0 h 79"/>
                  <a:gd name="T12" fmla="*/ 11 w 658"/>
                  <a:gd name="T13" fmla="*/ 0 h 79"/>
                  <a:gd name="T14" fmla="*/ 11 w 658"/>
                  <a:gd name="T15" fmla="*/ 0 h 79"/>
                  <a:gd name="T16" fmla="*/ 8 w 658"/>
                  <a:gd name="T17" fmla="*/ 0 h 79"/>
                  <a:gd name="T18" fmla="*/ 8 w 658"/>
                  <a:gd name="T19" fmla="*/ 0 h 79"/>
                  <a:gd name="T20" fmla="*/ 3 w 658"/>
                  <a:gd name="T21" fmla="*/ 0 h 79"/>
                  <a:gd name="T22" fmla="*/ 3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9" name="Rectangle 4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00" name="Rectangle 4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5477" name="Group 4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5478" name="Freeform 486"/>
              <p:cNvSpPr>
                <a:spLocks noChangeArrowheads="1"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 w 191"/>
                  <a:gd name="T1" fmla="*/ 0 h 200"/>
                  <a:gd name="T2" fmla="*/ 1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2 w 191"/>
                  <a:gd name="T17" fmla="*/ 0 h 200"/>
                  <a:gd name="T18" fmla="*/ 2 w 191"/>
                  <a:gd name="T19" fmla="*/ 0 h 200"/>
                  <a:gd name="T20" fmla="*/ 2 w 191"/>
                  <a:gd name="T21" fmla="*/ 0 h 200"/>
                  <a:gd name="T22" fmla="*/ 1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9" name="Freeform 487"/>
              <p:cNvSpPr>
                <a:spLocks noChangeArrowheads="1"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13 w 860"/>
                  <a:gd name="T3" fmla="*/ 1 h 791"/>
                  <a:gd name="T4" fmla="*/ 13 w 860"/>
                  <a:gd name="T5" fmla="*/ 1 h 791"/>
                  <a:gd name="T6" fmla="*/ 13 w 860"/>
                  <a:gd name="T7" fmla="*/ 1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0" name="Freeform 488"/>
              <p:cNvSpPr>
                <a:spLocks noChangeArrowheads="1"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2 w 281"/>
                  <a:gd name="T7" fmla="*/ 0 h 366"/>
                  <a:gd name="T8" fmla="*/ 2 w 281"/>
                  <a:gd name="T9" fmla="*/ 0 h 366"/>
                  <a:gd name="T10" fmla="*/ 3 w 281"/>
                  <a:gd name="T11" fmla="*/ 0 h 366"/>
                  <a:gd name="T12" fmla="*/ 5 w 281"/>
                  <a:gd name="T13" fmla="*/ 0 h 366"/>
                  <a:gd name="T14" fmla="*/ 5 w 281"/>
                  <a:gd name="T15" fmla="*/ 0 h 366"/>
                  <a:gd name="T16" fmla="*/ 4 w 281"/>
                  <a:gd name="T17" fmla="*/ 0 h 366"/>
                  <a:gd name="T18" fmla="*/ 3 w 281"/>
                  <a:gd name="T19" fmla="*/ 0 h 366"/>
                  <a:gd name="T20" fmla="*/ 3 w 281"/>
                  <a:gd name="T21" fmla="*/ 0 h 366"/>
                  <a:gd name="T22" fmla="*/ 3 w 281"/>
                  <a:gd name="T23" fmla="*/ 0 h 366"/>
                  <a:gd name="T24" fmla="*/ 3 w 281"/>
                  <a:gd name="T25" fmla="*/ 0 h 366"/>
                  <a:gd name="T26" fmla="*/ 3 w 281"/>
                  <a:gd name="T27" fmla="*/ 0 h 366"/>
                  <a:gd name="T28" fmla="*/ 3 w 281"/>
                  <a:gd name="T29" fmla="*/ 1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1" name="Line 4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2" name="Freeform 490"/>
              <p:cNvSpPr>
                <a:spLocks noChangeArrowheads="1"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2 w 222"/>
                  <a:gd name="T7" fmla="*/ 0 h 289"/>
                  <a:gd name="T8" fmla="*/ 3 w 222"/>
                  <a:gd name="T9" fmla="*/ 0 h 289"/>
                  <a:gd name="T10" fmla="*/ 3 w 222"/>
                  <a:gd name="T11" fmla="*/ 0 h 289"/>
                  <a:gd name="T12" fmla="*/ 4 w 222"/>
                  <a:gd name="T13" fmla="*/ 0 h 289"/>
                  <a:gd name="T14" fmla="*/ 4 w 222"/>
                  <a:gd name="T15" fmla="*/ 0 h 289"/>
                  <a:gd name="T16" fmla="*/ 3 w 222"/>
                  <a:gd name="T17" fmla="*/ 0 h 289"/>
                  <a:gd name="T18" fmla="*/ 3 w 222"/>
                  <a:gd name="T19" fmla="*/ 0 h 289"/>
                  <a:gd name="T20" fmla="*/ 3 w 222"/>
                  <a:gd name="T21" fmla="*/ 0 h 289"/>
                  <a:gd name="T22" fmla="*/ 2 w 222"/>
                  <a:gd name="T23" fmla="*/ 0 h 289"/>
                  <a:gd name="T24" fmla="*/ 2 w 222"/>
                  <a:gd name="T25" fmla="*/ 0 h 289"/>
                  <a:gd name="T26" fmla="*/ 2 w 222"/>
                  <a:gd name="T27" fmla="*/ 0 h 289"/>
                  <a:gd name="T28" fmla="*/ 2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3" name="Freeform 491"/>
              <p:cNvSpPr>
                <a:spLocks noChangeArrowheads="1"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2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4" name="Freeform 492"/>
              <p:cNvSpPr>
                <a:spLocks noChangeArrowheads="1"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2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5" name="Freeform 493"/>
              <p:cNvSpPr>
                <a:spLocks noChangeArrowheads="1"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2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6" name="Freeform 494"/>
              <p:cNvSpPr>
                <a:spLocks noChangeArrowheads="1"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2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7" name="Freeform 495"/>
              <p:cNvSpPr>
                <a:spLocks noChangeArrowheads="1"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2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8" name="Freeform 496"/>
              <p:cNvSpPr>
                <a:spLocks noChangeArrowheads="1"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2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9" name="Freeform 497"/>
              <p:cNvSpPr>
                <a:spLocks noChangeArrowheads="1"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2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0" name="Freeform 498"/>
              <p:cNvSpPr>
                <a:spLocks noChangeArrowheads="1"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1" name="Freeform 499"/>
              <p:cNvSpPr>
                <a:spLocks noChangeArrowheads="1"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1 w 96"/>
                  <a:gd name="T3" fmla="*/ 0 h 74"/>
                  <a:gd name="T4" fmla="*/ 1 w 96"/>
                  <a:gd name="T5" fmla="*/ 0 h 74"/>
                  <a:gd name="T6" fmla="*/ 1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2" name="Oval 5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93" name="Oval 5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94" name="Freeform 502"/>
              <p:cNvSpPr>
                <a:spLocks noChangeArrowheads="1"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3 w 188"/>
                  <a:gd name="T5" fmla="*/ 0 h 25"/>
                  <a:gd name="T6" fmla="*/ 3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95" name="Oval 5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96" name="Oval 5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5385" name="Group 505"/>
          <p:cNvGrpSpPr>
            <a:grpSpLocks/>
          </p:cNvGrpSpPr>
          <p:nvPr/>
        </p:nvGrpSpPr>
        <p:grpSpPr bwMode="auto">
          <a:xfrm>
            <a:off x="8426153" y="2383036"/>
            <a:ext cx="1128713" cy="781050"/>
            <a:chOff x="1680" y="240"/>
            <a:chExt cx="2529" cy="1270"/>
          </a:xfrm>
        </p:grpSpPr>
        <p:sp>
          <p:nvSpPr>
            <p:cNvPr id="15454" name="Oval 506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55" name="Oval 507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56" name="Oval 508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57" name="Oval 509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58" name="Oval 510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59" name="Oval 511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60" name="Oval 512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61" name="Oval 513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62" name="Oval 514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5386" name="Text Box 515"/>
          <p:cNvSpPr txBox="1">
            <a:spLocks noChangeArrowheads="1"/>
          </p:cNvSpPr>
          <p:nvPr/>
        </p:nvSpPr>
        <p:spPr bwMode="auto">
          <a:xfrm>
            <a:off x="8654752" y="257194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局域网</a:t>
            </a:r>
          </a:p>
        </p:txBody>
      </p:sp>
      <p:sp>
        <p:nvSpPr>
          <p:cNvPr id="15387" name="Line 516"/>
          <p:cNvSpPr>
            <a:spLocks noChangeShapeType="1"/>
          </p:cNvSpPr>
          <p:nvPr/>
        </p:nvSpPr>
        <p:spPr bwMode="auto">
          <a:xfrm flipV="1">
            <a:off x="2468265" y="2449711"/>
            <a:ext cx="1223962" cy="3603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8" name="Line 517"/>
          <p:cNvSpPr>
            <a:spLocks noChangeShapeType="1"/>
          </p:cNvSpPr>
          <p:nvPr/>
        </p:nvSpPr>
        <p:spPr bwMode="auto">
          <a:xfrm flipV="1">
            <a:off x="6398916" y="2462412"/>
            <a:ext cx="1406525" cy="11588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9" name="Line 518"/>
          <p:cNvSpPr>
            <a:spLocks noChangeShapeType="1"/>
          </p:cNvSpPr>
          <p:nvPr/>
        </p:nvSpPr>
        <p:spPr bwMode="auto">
          <a:xfrm>
            <a:off x="8405515" y="2508448"/>
            <a:ext cx="1587500" cy="2619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0" name="Line 519"/>
          <p:cNvSpPr>
            <a:spLocks noChangeShapeType="1"/>
          </p:cNvSpPr>
          <p:nvPr/>
        </p:nvSpPr>
        <p:spPr bwMode="auto">
          <a:xfrm>
            <a:off x="4335165" y="2419549"/>
            <a:ext cx="1543050" cy="14287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1" name="Text Box 520"/>
          <p:cNvSpPr txBox="1">
            <a:spLocks noChangeArrowheads="1"/>
          </p:cNvSpPr>
          <p:nvPr/>
        </p:nvSpPr>
        <p:spPr bwMode="auto">
          <a:xfrm>
            <a:off x="269633" y="918874"/>
            <a:ext cx="42258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主机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en-US" altLang="zh-CN" sz="3200" b="1" baseline="-250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</a:t>
            </a:r>
            <a:r>
              <a:rPr lang="zh-CN" altLang="en-US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en-US" altLang="zh-CN" sz="3200" b="1" baseline="-250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发送数据</a:t>
            </a:r>
            <a:endParaRPr lang="zh-CN" altLang="en-US" sz="3200" b="1" baseline="-25000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92" name="Group 521"/>
          <p:cNvGrpSpPr>
            <a:grpSpLocks/>
          </p:cNvGrpSpPr>
          <p:nvPr/>
        </p:nvGrpSpPr>
        <p:grpSpPr bwMode="auto">
          <a:xfrm>
            <a:off x="1679277" y="3554611"/>
            <a:ext cx="895350" cy="1816100"/>
            <a:chOff x="292" y="2832"/>
            <a:chExt cx="620" cy="1200"/>
          </a:xfrm>
        </p:grpSpPr>
        <p:sp>
          <p:nvSpPr>
            <p:cNvPr id="15449" name="AutoShape 522"/>
            <p:cNvSpPr>
              <a:spLocks noChangeArrowheads="1"/>
            </p:cNvSpPr>
            <p:nvPr/>
          </p:nvSpPr>
          <p:spPr bwMode="auto">
            <a:xfrm>
              <a:off x="292" y="2832"/>
              <a:ext cx="620" cy="1200"/>
            </a:xfrm>
            <a:prstGeom prst="cube">
              <a:avLst>
                <a:gd name="adj" fmla="val 925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50" name="Freeform 523"/>
            <p:cNvSpPr>
              <a:spLocks noChangeArrowheads="1"/>
            </p:cNvSpPr>
            <p:nvPr/>
          </p:nvSpPr>
          <p:spPr bwMode="auto">
            <a:xfrm>
              <a:off x="292" y="3732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1" name="Freeform 524"/>
            <p:cNvSpPr>
              <a:spLocks noChangeArrowheads="1"/>
            </p:cNvSpPr>
            <p:nvPr/>
          </p:nvSpPr>
          <p:spPr bwMode="auto">
            <a:xfrm>
              <a:off x="292" y="3503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" name="Freeform 525"/>
            <p:cNvSpPr>
              <a:spLocks noChangeArrowheads="1"/>
            </p:cNvSpPr>
            <p:nvPr/>
          </p:nvSpPr>
          <p:spPr bwMode="auto">
            <a:xfrm>
              <a:off x="292" y="3278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3" name="Freeform 526"/>
            <p:cNvSpPr>
              <a:spLocks noChangeArrowheads="1"/>
            </p:cNvSpPr>
            <p:nvPr/>
          </p:nvSpPr>
          <p:spPr bwMode="auto">
            <a:xfrm>
              <a:off x="292" y="3053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93" name="Rectangle 527"/>
          <p:cNvSpPr>
            <a:spLocks noChangeArrowheads="1"/>
          </p:cNvSpPr>
          <p:nvPr/>
        </p:nvSpPr>
        <p:spPr bwMode="auto">
          <a:xfrm>
            <a:off x="1698328" y="4697611"/>
            <a:ext cx="771525" cy="3238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94" name="Text Box 528"/>
          <p:cNvSpPr txBox="1">
            <a:spLocks noChangeArrowheads="1"/>
          </p:cNvSpPr>
          <p:nvPr/>
        </p:nvSpPr>
        <p:spPr bwMode="auto">
          <a:xfrm>
            <a:off x="1691977" y="466109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5395" name="Text Box 529"/>
          <p:cNvSpPr txBox="1">
            <a:spLocks noChangeArrowheads="1"/>
          </p:cNvSpPr>
          <p:nvPr/>
        </p:nvSpPr>
        <p:spPr bwMode="auto">
          <a:xfrm>
            <a:off x="1695152" y="3624461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</a:p>
        </p:txBody>
      </p:sp>
      <p:sp>
        <p:nvSpPr>
          <p:cNvPr id="15396" name="Text Box 530"/>
          <p:cNvSpPr txBox="1">
            <a:spLocks noChangeArrowheads="1"/>
          </p:cNvSpPr>
          <p:nvPr/>
        </p:nvSpPr>
        <p:spPr bwMode="auto">
          <a:xfrm>
            <a:off x="1691977" y="396894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15397" name="Text Box 531"/>
          <p:cNvSpPr txBox="1">
            <a:spLocks noChangeArrowheads="1"/>
          </p:cNvSpPr>
          <p:nvPr/>
        </p:nvSpPr>
        <p:spPr bwMode="auto">
          <a:xfrm>
            <a:off x="1691977" y="431502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15398" name="Text Box 532"/>
          <p:cNvSpPr txBox="1">
            <a:spLocks noChangeArrowheads="1"/>
          </p:cNvSpPr>
          <p:nvPr/>
        </p:nvSpPr>
        <p:spPr bwMode="auto">
          <a:xfrm>
            <a:off x="1691977" y="500717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grpSp>
        <p:nvGrpSpPr>
          <p:cNvPr id="15399" name="Group 533"/>
          <p:cNvGrpSpPr>
            <a:grpSpLocks/>
          </p:cNvGrpSpPr>
          <p:nvPr/>
        </p:nvGrpSpPr>
        <p:grpSpPr bwMode="auto">
          <a:xfrm>
            <a:off x="9512002" y="3554611"/>
            <a:ext cx="895350" cy="1816100"/>
            <a:chOff x="292" y="2832"/>
            <a:chExt cx="620" cy="1200"/>
          </a:xfrm>
        </p:grpSpPr>
        <p:sp>
          <p:nvSpPr>
            <p:cNvPr id="15444" name="AutoShape 534"/>
            <p:cNvSpPr>
              <a:spLocks noChangeArrowheads="1"/>
            </p:cNvSpPr>
            <p:nvPr/>
          </p:nvSpPr>
          <p:spPr bwMode="auto">
            <a:xfrm>
              <a:off x="292" y="2832"/>
              <a:ext cx="620" cy="1200"/>
            </a:xfrm>
            <a:prstGeom prst="cube">
              <a:avLst>
                <a:gd name="adj" fmla="val 925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45" name="Freeform 535"/>
            <p:cNvSpPr>
              <a:spLocks noChangeArrowheads="1"/>
            </p:cNvSpPr>
            <p:nvPr/>
          </p:nvSpPr>
          <p:spPr bwMode="auto">
            <a:xfrm>
              <a:off x="292" y="3732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Freeform 536"/>
            <p:cNvSpPr>
              <a:spLocks noChangeArrowheads="1"/>
            </p:cNvSpPr>
            <p:nvPr/>
          </p:nvSpPr>
          <p:spPr bwMode="auto">
            <a:xfrm>
              <a:off x="292" y="3503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7" name="Freeform 537"/>
            <p:cNvSpPr>
              <a:spLocks noChangeArrowheads="1"/>
            </p:cNvSpPr>
            <p:nvPr/>
          </p:nvSpPr>
          <p:spPr bwMode="auto">
            <a:xfrm>
              <a:off x="292" y="3278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8" name="Freeform 538"/>
            <p:cNvSpPr>
              <a:spLocks noChangeArrowheads="1"/>
            </p:cNvSpPr>
            <p:nvPr/>
          </p:nvSpPr>
          <p:spPr bwMode="auto">
            <a:xfrm>
              <a:off x="292" y="3053"/>
              <a:ext cx="620" cy="79"/>
            </a:xfrm>
            <a:custGeom>
              <a:avLst/>
              <a:gdLst>
                <a:gd name="T0" fmla="*/ 0 w 1200"/>
                <a:gd name="T1" fmla="*/ 9 h 120"/>
                <a:gd name="T2" fmla="*/ 21 w 1200"/>
                <a:gd name="T3" fmla="*/ 9 h 120"/>
                <a:gd name="T4" fmla="*/ 23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400" name="Rectangle 539"/>
          <p:cNvSpPr>
            <a:spLocks noChangeArrowheads="1"/>
          </p:cNvSpPr>
          <p:nvPr/>
        </p:nvSpPr>
        <p:spPr bwMode="auto">
          <a:xfrm>
            <a:off x="9531053" y="4697611"/>
            <a:ext cx="771525" cy="3238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01" name="Text Box 540"/>
          <p:cNvSpPr txBox="1">
            <a:spLocks noChangeArrowheads="1"/>
          </p:cNvSpPr>
          <p:nvPr/>
        </p:nvSpPr>
        <p:spPr bwMode="auto">
          <a:xfrm>
            <a:off x="9524702" y="466109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5402" name="Text Box 541"/>
          <p:cNvSpPr txBox="1">
            <a:spLocks noChangeArrowheads="1"/>
          </p:cNvSpPr>
          <p:nvPr/>
        </p:nvSpPr>
        <p:spPr bwMode="auto">
          <a:xfrm>
            <a:off x="9527877" y="3624461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</a:p>
        </p:txBody>
      </p:sp>
      <p:sp>
        <p:nvSpPr>
          <p:cNvPr id="15403" name="Text Box 542"/>
          <p:cNvSpPr txBox="1">
            <a:spLocks noChangeArrowheads="1"/>
          </p:cNvSpPr>
          <p:nvPr/>
        </p:nvSpPr>
        <p:spPr bwMode="auto">
          <a:xfrm>
            <a:off x="9524702" y="396894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运输层</a:t>
            </a:r>
          </a:p>
        </p:txBody>
      </p:sp>
      <p:sp>
        <p:nvSpPr>
          <p:cNvPr id="15404" name="Text Box 543"/>
          <p:cNvSpPr txBox="1">
            <a:spLocks noChangeArrowheads="1"/>
          </p:cNvSpPr>
          <p:nvPr/>
        </p:nvSpPr>
        <p:spPr bwMode="auto">
          <a:xfrm>
            <a:off x="9524702" y="431502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15405" name="Text Box 544"/>
          <p:cNvSpPr txBox="1">
            <a:spLocks noChangeArrowheads="1"/>
          </p:cNvSpPr>
          <p:nvPr/>
        </p:nvSpPr>
        <p:spPr bwMode="auto">
          <a:xfrm>
            <a:off x="9524702" y="500717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15406" name="AutoShape 545"/>
          <p:cNvSpPr>
            <a:spLocks noChangeArrowheads="1"/>
          </p:cNvSpPr>
          <p:nvPr/>
        </p:nvSpPr>
        <p:spPr bwMode="auto">
          <a:xfrm>
            <a:off x="3623965" y="4265811"/>
            <a:ext cx="895350" cy="1104900"/>
          </a:xfrm>
          <a:prstGeom prst="cube">
            <a:avLst>
              <a:gd name="adj" fmla="val 925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07" name="Freeform 546"/>
          <p:cNvSpPr>
            <a:spLocks noChangeArrowheads="1"/>
          </p:cNvSpPr>
          <p:nvPr/>
        </p:nvSpPr>
        <p:spPr bwMode="auto">
          <a:xfrm>
            <a:off x="3623965" y="4916686"/>
            <a:ext cx="895350" cy="119062"/>
          </a:xfrm>
          <a:custGeom>
            <a:avLst/>
            <a:gdLst>
              <a:gd name="T0" fmla="*/ 0 w 1200"/>
              <a:gd name="T1" fmla="*/ 2147483646 h 120"/>
              <a:gd name="T2" fmla="*/ 2147483646 w 1200"/>
              <a:gd name="T3" fmla="*/ 2147483646 h 120"/>
              <a:gd name="T4" fmla="*/ 2147483646 w 1200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20">
                <a:moveTo>
                  <a:pt x="0" y="120"/>
                </a:moveTo>
                <a:lnTo>
                  <a:pt x="1080" y="120"/>
                </a:lnTo>
                <a:lnTo>
                  <a:pt x="120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08" name="Rectangle 547"/>
          <p:cNvSpPr>
            <a:spLocks noChangeArrowheads="1"/>
          </p:cNvSpPr>
          <p:nvPr/>
        </p:nvSpPr>
        <p:spPr bwMode="auto">
          <a:xfrm>
            <a:off x="3628728" y="4697611"/>
            <a:ext cx="790575" cy="3238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09" name="Freeform 548"/>
          <p:cNvSpPr>
            <a:spLocks noChangeArrowheads="1"/>
          </p:cNvSpPr>
          <p:nvPr/>
        </p:nvSpPr>
        <p:spPr bwMode="auto">
          <a:xfrm>
            <a:off x="3623965" y="4570611"/>
            <a:ext cx="895350" cy="119062"/>
          </a:xfrm>
          <a:custGeom>
            <a:avLst/>
            <a:gdLst>
              <a:gd name="T0" fmla="*/ 0 w 1200"/>
              <a:gd name="T1" fmla="*/ 2147483646 h 120"/>
              <a:gd name="T2" fmla="*/ 2147483646 w 1200"/>
              <a:gd name="T3" fmla="*/ 2147483646 h 120"/>
              <a:gd name="T4" fmla="*/ 2147483646 w 1200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20">
                <a:moveTo>
                  <a:pt x="0" y="120"/>
                </a:moveTo>
                <a:lnTo>
                  <a:pt x="1080" y="120"/>
                </a:lnTo>
                <a:lnTo>
                  <a:pt x="120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10" name="Text Box 549"/>
          <p:cNvSpPr txBox="1">
            <a:spLocks noChangeArrowheads="1"/>
          </p:cNvSpPr>
          <p:nvPr/>
        </p:nvSpPr>
        <p:spPr bwMode="auto">
          <a:xfrm>
            <a:off x="3649365" y="466109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5411" name="Text Box 550"/>
          <p:cNvSpPr txBox="1">
            <a:spLocks noChangeArrowheads="1"/>
          </p:cNvSpPr>
          <p:nvPr/>
        </p:nvSpPr>
        <p:spPr bwMode="auto">
          <a:xfrm>
            <a:off x="3649365" y="431502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15412" name="Text Box 551"/>
          <p:cNvSpPr txBox="1">
            <a:spLocks noChangeArrowheads="1"/>
          </p:cNvSpPr>
          <p:nvPr/>
        </p:nvSpPr>
        <p:spPr bwMode="auto">
          <a:xfrm>
            <a:off x="3649365" y="500717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15413" name="AutoShape 552"/>
          <p:cNvSpPr>
            <a:spLocks noChangeArrowheads="1"/>
          </p:cNvSpPr>
          <p:nvPr/>
        </p:nvSpPr>
        <p:spPr bwMode="auto">
          <a:xfrm>
            <a:off x="5730577" y="4265811"/>
            <a:ext cx="895350" cy="1104900"/>
          </a:xfrm>
          <a:prstGeom prst="cube">
            <a:avLst>
              <a:gd name="adj" fmla="val 925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14" name="Freeform 553"/>
          <p:cNvSpPr>
            <a:spLocks noChangeArrowheads="1"/>
          </p:cNvSpPr>
          <p:nvPr/>
        </p:nvSpPr>
        <p:spPr bwMode="auto">
          <a:xfrm>
            <a:off x="5730577" y="4916686"/>
            <a:ext cx="895350" cy="119062"/>
          </a:xfrm>
          <a:custGeom>
            <a:avLst/>
            <a:gdLst>
              <a:gd name="T0" fmla="*/ 0 w 1200"/>
              <a:gd name="T1" fmla="*/ 2147483646 h 120"/>
              <a:gd name="T2" fmla="*/ 2147483646 w 1200"/>
              <a:gd name="T3" fmla="*/ 2147483646 h 120"/>
              <a:gd name="T4" fmla="*/ 2147483646 w 1200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20">
                <a:moveTo>
                  <a:pt x="0" y="120"/>
                </a:moveTo>
                <a:lnTo>
                  <a:pt x="1080" y="120"/>
                </a:lnTo>
                <a:lnTo>
                  <a:pt x="120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15" name="Rectangle 554"/>
          <p:cNvSpPr>
            <a:spLocks noChangeArrowheads="1"/>
          </p:cNvSpPr>
          <p:nvPr/>
        </p:nvSpPr>
        <p:spPr bwMode="auto">
          <a:xfrm>
            <a:off x="5749627" y="4697611"/>
            <a:ext cx="781050" cy="3238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16" name="Freeform 555"/>
          <p:cNvSpPr>
            <a:spLocks noChangeArrowheads="1"/>
          </p:cNvSpPr>
          <p:nvPr/>
        </p:nvSpPr>
        <p:spPr bwMode="auto">
          <a:xfrm>
            <a:off x="5730577" y="4570611"/>
            <a:ext cx="895350" cy="119062"/>
          </a:xfrm>
          <a:custGeom>
            <a:avLst/>
            <a:gdLst>
              <a:gd name="T0" fmla="*/ 0 w 1200"/>
              <a:gd name="T1" fmla="*/ 2147483646 h 120"/>
              <a:gd name="T2" fmla="*/ 2147483646 w 1200"/>
              <a:gd name="T3" fmla="*/ 2147483646 h 120"/>
              <a:gd name="T4" fmla="*/ 2147483646 w 1200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20">
                <a:moveTo>
                  <a:pt x="0" y="120"/>
                </a:moveTo>
                <a:lnTo>
                  <a:pt x="1080" y="120"/>
                </a:lnTo>
                <a:lnTo>
                  <a:pt x="120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17" name="Text Box 556"/>
          <p:cNvSpPr txBox="1">
            <a:spLocks noChangeArrowheads="1"/>
          </p:cNvSpPr>
          <p:nvPr/>
        </p:nvSpPr>
        <p:spPr bwMode="auto">
          <a:xfrm>
            <a:off x="5755977" y="466109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5418" name="Text Box 557"/>
          <p:cNvSpPr txBox="1">
            <a:spLocks noChangeArrowheads="1"/>
          </p:cNvSpPr>
          <p:nvPr/>
        </p:nvSpPr>
        <p:spPr bwMode="auto">
          <a:xfrm>
            <a:off x="5755977" y="431502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15419" name="Text Box 558"/>
          <p:cNvSpPr txBox="1">
            <a:spLocks noChangeArrowheads="1"/>
          </p:cNvSpPr>
          <p:nvPr/>
        </p:nvSpPr>
        <p:spPr bwMode="auto">
          <a:xfrm>
            <a:off x="5755977" y="500717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15420" name="AutoShape 559"/>
          <p:cNvSpPr>
            <a:spLocks noChangeArrowheads="1"/>
          </p:cNvSpPr>
          <p:nvPr/>
        </p:nvSpPr>
        <p:spPr bwMode="auto">
          <a:xfrm>
            <a:off x="7621290" y="4265811"/>
            <a:ext cx="895350" cy="1104900"/>
          </a:xfrm>
          <a:prstGeom prst="cube">
            <a:avLst>
              <a:gd name="adj" fmla="val 925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21" name="Freeform 560"/>
          <p:cNvSpPr>
            <a:spLocks noChangeArrowheads="1"/>
          </p:cNvSpPr>
          <p:nvPr/>
        </p:nvSpPr>
        <p:spPr bwMode="auto">
          <a:xfrm>
            <a:off x="7621290" y="4916686"/>
            <a:ext cx="895350" cy="119062"/>
          </a:xfrm>
          <a:custGeom>
            <a:avLst/>
            <a:gdLst>
              <a:gd name="T0" fmla="*/ 0 w 1200"/>
              <a:gd name="T1" fmla="*/ 2147483646 h 120"/>
              <a:gd name="T2" fmla="*/ 2147483646 w 1200"/>
              <a:gd name="T3" fmla="*/ 2147483646 h 120"/>
              <a:gd name="T4" fmla="*/ 2147483646 w 1200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20">
                <a:moveTo>
                  <a:pt x="0" y="120"/>
                </a:moveTo>
                <a:lnTo>
                  <a:pt x="1080" y="120"/>
                </a:lnTo>
                <a:lnTo>
                  <a:pt x="120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22" name="Rectangle 561"/>
          <p:cNvSpPr>
            <a:spLocks noChangeArrowheads="1"/>
          </p:cNvSpPr>
          <p:nvPr/>
        </p:nvSpPr>
        <p:spPr bwMode="auto">
          <a:xfrm>
            <a:off x="7635578" y="4697611"/>
            <a:ext cx="790575" cy="3238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23" name="Freeform 562"/>
          <p:cNvSpPr>
            <a:spLocks noChangeArrowheads="1"/>
          </p:cNvSpPr>
          <p:nvPr/>
        </p:nvSpPr>
        <p:spPr bwMode="auto">
          <a:xfrm>
            <a:off x="7621290" y="4570611"/>
            <a:ext cx="895350" cy="119062"/>
          </a:xfrm>
          <a:custGeom>
            <a:avLst/>
            <a:gdLst>
              <a:gd name="T0" fmla="*/ 0 w 1200"/>
              <a:gd name="T1" fmla="*/ 2147483646 h 120"/>
              <a:gd name="T2" fmla="*/ 2147483646 w 1200"/>
              <a:gd name="T3" fmla="*/ 2147483646 h 120"/>
              <a:gd name="T4" fmla="*/ 2147483646 w 1200"/>
              <a:gd name="T5" fmla="*/ 0 h 1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20">
                <a:moveTo>
                  <a:pt x="0" y="120"/>
                </a:moveTo>
                <a:lnTo>
                  <a:pt x="1080" y="120"/>
                </a:lnTo>
                <a:lnTo>
                  <a:pt x="120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24" name="Text Box 563"/>
          <p:cNvSpPr txBox="1">
            <a:spLocks noChangeArrowheads="1"/>
          </p:cNvSpPr>
          <p:nvPr/>
        </p:nvSpPr>
        <p:spPr bwMode="auto">
          <a:xfrm>
            <a:off x="7646690" y="4661099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链路层</a:t>
            </a:r>
          </a:p>
        </p:txBody>
      </p:sp>
      <p:sp>
        <p:nvSpPr>
          <p:cNvPr id="15425" name="Text Box 564"/>
          <p:cNvSpPr txBox="1">
            <a:spLocks noChangeArrowheads="1"/>
          </p:cNvSpPr>
          <p:nvPr/>
        </p:nvSpPr>
        <p:spPr bwMode="auto">
          <a:xfrm>
            <a:off x="7646690" y="431502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网络层</a:t>
            </a:r>
          </a:p>
        </p:txBody>
      </p:sp>
      <p:sp>
        <p:nvSpPr>
          <p:cNvPr id="15426" name="Text Box 565"/>
          <p:cNvSpPr txBox="1">
            <a:spLocks noChangeArrowheads="1"/>
          </p:cNvSpPr>
          <p:nvPr/>
        </p:nvSpPr>
        <p:spPr bwMode="auto">
          <a:xfrm>
            <a:off x="7646690" y="5007174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161334" name="Line 566"/>
          <p:cNvSpPr>
            <a:spLocks noChangeShapeType="1"/>
          </p:cNvSpPr>
          <p:nvPr/>
        </p:nvSpPr>
        <p:spPr bwMode="auto">
          <a:xfrm>
            <a:off x="2673052" y="488811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335" name="Line 567"/>
          <p:cNvSpPr>
            <a:spLocks noChangeShapeType="1"/>
          </p:cNvSpPr>
          <p:nvPr/>
        </p:nvSpPr>
        <p:spPr bwMode="auto">
          <a:xfrm>
            <a:off x="4616152" y="488811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336" name="Line 568"/>
          <p:cNvSpPr>
            <a:spLocks noChangeShapeType="1"/>
          </p:cNvSpPr>
          <p:nvPr/>
        </p:nvSpPr>
        <p:spPr bwMode="auto">
          <a:xfrm>
            <a:off x="6521152" y="488811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337" name="Line 569"/>
          <p:cNvSpPr>
            <a:spLocks noChangeShapeType="1"/>
          </p:cNvSpPr>
          <p:nvPr/>
        </p:nvSpPr>
        <p:spPr bwMode="auto">
          <a:xfrm>
            <a:off x="8426152" y="4888111"/>
            <a:ext cx="1219200" cy="0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31" name="Freeform 570"/>
          <p:cNvSpPr>
            <a:spLocks noChangeArrowheads="1"/>
          </p:cNvSpPr>
          <p:nvPr/>
        </p:nvSpPr>
        <p:spPr bwMode="auto">
          <a:xfrm>
            <a:off x="2330152" y="5370711"/>
            <a:ext cx="1701800" cy="241300"/>
          </a:xfrm>
          <a:custGeom>
            <a:avLst/>
            <a:gdLst>
              <a:gd name="T0" fmla="*/ 0 w 1072"/>
              <a:gd name="T1" fmla="*/ 0 h 152"/>
              <a:gd name="T2" fmla="*/ 0 w 1072"/>
              <a:gd name="T3" fmla="*/ 2147483646 h 152"/>
              <a:gd name="T4" fmla="*/ 2147483646 w 1072"/>
              <a:gd name="T5" fmla="*/ 2147483646 h 152"/>
              <a:gd name="T6" fmla="*/ 2147483646 w 1072"/>
              <a:gd name="T7" fmla="*/ 2147483646 h 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72" h="152">
                <a:moveTo>
                  <a:pt x="0" y="0"/>
                </a:moveTo>
                <a:lnTo>
                  <a:pt x="0" y="152"/>
                </a:lnTo>
                <a:lnTo>
                  <a:pt x="1072" y="152"/>
                </a:lnTo>
                <a:lnTo>
                  <a:pt x="1072" y="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32" name="Freeform 571"/>
          <p:cNvSpPr>
            <a:spLocks noChangeArrowheads="1"/>
          </p:cNvSpPr>
          <p:nvPr/>
        </p:nvSpPr>
        <p:spPr bwMode="auto">
          <a:xfrm>
            <a:off x="8197552" y="5370711"/>
            <a:ext cx="1701800" cy="241300"/>
          </a:xfrm>
          <a:custGeom>
            <a:avLst/>
            <a:gdLst>
              <a:gd name="T0" fmla="*/ 0 w 1072"/>
              <a:gd name="T1" fmla="*/ 0 h 152"/>
              <a:gd name="T2" fmla="*/ 0 w 1072"/>
              <a:gd name="T3" fmla="*/ 2147483646 h 152"/>
              <a:gd name="T4" fmla="*/ 2147483646 w 1072"/>
              <a:gd name="T5" fmla="*/ 2147483646 h 152"/>
              <a:gd name="T6" fmla="*/ 2147483646 w 1072"/>
              <a:gd name="T7" fmla="*/ 2147483646 h 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72" h="152">
                <a:moveTo>
                  <a:pt x="0" y="0"/>
                </a:moveTo>
                <a:lnTo>
                  <a:pt x="0" y="152"/>
                </a:lnTo>
                <a:lnTo>
                  <a:pt x="1072" y="152"/>
                </a:lnTo>
                <a:lnTo>
                  <a:pt x="1072" y="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33" name="Freeform 572"/>
          <p:cNvSpPr>
            <a:spLocks noChangeArrowheads="1"/>
          </p:cNvSpPr>
          <p:nvPr/>
        </p:nvSpPr>
        <p:spPr bwMode="auto">
          <a:xfrm>
            <a:off x="4438352" y="5358011"/>
            <a:ext cx="1460500" cy="254000"/>
          </a:xfrm>
          <a:custGeom>
            <a:avLst/>
            <a:gdLst>
              <a:gd name="T0" fmla="*/ 0 w 1072"/>
              <a:gd name="T1" fmla="*/ 0 h 152"/>
              <a:gd name="T2" fmla="*/ 0 w 1072"/>
              <a:gd name="T3" fmla="*/ 2147483646 h 152"/>
              <a:gd name="T4" fmla="*/ 2147483646 w 1072"/>
              <a:gd name="T5" fmla="*/ 2147483646 h 152"/>
              <a:gd name="T6" fmla="*/ 2147483646 w 1072"/>
              <a:gd name="T7" fmla="*/ 2147483646 h 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72" h="152">
                <a:moveTo>
                  <a:pt x="0" y="0"/>
                </a:moveTo>
                <a:lnTo>
                  <a:pt x="0" y="152"/>
                </a:lnTo>
                <a:lnTo>
                  <a:pt x="1072" y="152"/>
                </a:lnTo>
                <a:lnTo>
                  <a:pt x="1072" y="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34" name="Freeform 573"/>
          <p:cNvSpPr>
            <a:spLocks noChangeArrowheads="1"/>
          </p:cNvSpPr>
          <p:nvPr/>
        </p:nvSpPr>
        <p:spPr bwMode="auto">
          <a:xfrm>
            <a:off x="6368752" y="5370711"/>
            <a:ext cx="1473200" cy="241300"/>
          </a:xfrm>
          <a:custGeom>
            <a:avLst/>
            <a:gdLst>
              <a:gd name="T0" fmla="*/ 0 w 1072"/>
              <a:gd name="T1" fmla="*/ 0 h 152"/>
              <a:gd name="T2" fmla="*/ 0 w 1072"/>
              <a:gd name="T3" fmla="*/ 2147483646 h 152"/>
              <a:gd name="T4" fmla="*/ 2147483646 w 1072"/>
              <a:gd name="T5" fmla="*/ 2147483646 h 152"/>
              <a:gd name="T6" fmla="*/ 2147483646 w 1072"/>
              <a:gd name="T7" fmla="*/ 2147483646 h 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72" h="152">
                <a:moveTo>
                  <a:pt x="0" y="0"/>
                </a:moveTo>
                <a:lnTo>
                  <a:pt x="0" y="152"/>
                </a:lnTo>
                <a:lnTo>
                  <a:pt x="1072" y="152"/>
                </a:lnTo>
                <a:lnTo>
                  <a:pt x="1072" y="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35" name="Text Box 574"/>
          <p:cNvSpPr txBox="1">
            <a:spLocks noChangeArrowheads="1"/>
          </p:cNvSpPr>
          <p:nvPr/>
        </p:nvSpPr>
        <p:spPr bwMode="auto">
          <a:xfrm>
            <a:off x="3858916" y="3878461"/>
            <a:ext cx="433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5436" name="Text Box 575"/>
          <p:cNvSpPr txBox="1">
            <a:spLocks noChangeArrowheads="1"/>
          </p:cNvSpPr>
          <p:nvPr/>
        </p:nvSpPr>
        <p:spPr bwMode="auto">
          <a:xfrm>
            <a:off x="5987752" y="3878461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5437" name="Text Box 576"/>
          <p:cNvSpPr txBox="1">
            <a:spLocks noChangeArrowheads="1"/>
          </p:cNvSpPr>
          <p:nvPr/>
        </p:nvSpPr>
        <p:spPr bwMode="auto">
          <a:xfrm>
            <a:off x="7884816" y="3878461"/>
            <a:ext cx="433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15438" name="Text Box 577"/>
          <p:cNvSpPr txBox="1">
            <a:spLocks noChangeArrowheads="1"/>
          </p:cNvSpPr>
          <p:nvPr/>
        </p:nvSpPr>
        <p:spPr bwMode="auto">
          <a:xfrm>
            <a:off x="1945977" y="3192661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5439" name="Text Box 578"/>
          <p:cNvSpPr txBox="1">
            <a:spLocks noChangeArrowheads="1"/>
          </p:cNvSpPr>
          <p:nvPr/>
        </p:nvSpPr>
        <p:spPr bwMode="auto">
          <a:xfrm>
            <a:off x="9797752" y="3192661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r>
              <a:rPr lang="en-US" altLang="zh-CN" sz="1800" b="1" baseline="-25000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161347" name="Text Box 579"/>
          <p:cNvSpPr txBox="1">
            <a:spLocks noChangeArrowheads="1"/>
          </p:cNvSpPr>
          <p:nvPr/>
        </p:nvSpPr>
        <p:spPr bwMode="auto">
          <a:xfrm>
            <a:off x="3696991" y="3130749"/>
            <a:ext cx="4827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仅从数据链路层观察帧的流动</a:t>
            </a:r>
          </a:p>
        </p:txBody>
      </p:sp>
      <p:sp>
        <p:nvSpPr>
          <p:cNvPr id="15441" name="Freeform 580"/>
          <p:cNvSpPr>
            <a:spLocks noChangeArrowheads="1"/>
          </p:cNvSpPr>
          <p:nvPr/>
        </p:nvSpPr>
        <p:spPr bwMode="auto">
          <a:xfrm>
            <a:off x="2654002" y="3703836"/>
            <a:ext cx="6978650" cy="1871662"/>
          </a:xfrm>
          <a:custGeom>
            <a:avLst/>
            <a:gdLst>
              <a:gd name="T0" fmla="*/ 2147483646 w 4396"/>
              <a:gd name="T1" fmla="*/ 2147483646 h 1179"/>
              <a:gd name="T2" fmla="*/ 2147483646 w 4396"/>
              <a:gd name="T3" fmla="*/ 2147483646 h 1179"/>
              <a:gd name="T4" fmla="*/ 2147483646 w 4396"/>
              <a:gd name="T5" fmla="*/ 2147483646 h 1179"/>
              <a:gd name="T6" fmla="*/ 2147483646 w 4396"/>
              <a:gd name="T7" fmla="*/ 2147483646 h 1179"/>
              <a:gd name="T8" fmla="*/ 2147483646 w 4396"/>
              <a:gd name="T9" fmla="*/ 2147483646 h 1179"/>
              <a:gd name="T10" fmla="*/ 2147483646 w 4396"/>
              <a:gd name="T11" fmla="*/ 2147483646 h 1179"/>
              <a:gd name="T12" fmla="*/ 2147483646 w 4396"/>
              <a:gd name="T13" fmla="*/ 2147483646 h 1179"/>
              <a:gd name="T14" fmla="*/ 2147483646 w 4396"/>
              <a:gd name="T15" fmla="*/ 2147483646 h 1179"/>
              <a:gd name="T16" fmla="*/ 2147483646 w 4396"/>
              <a:gd name="T17" fmla="*/ 2147483646 h 1179"/>
              <a:gd name="T18" fmla="*/ 2147483646 w 4396"/>
              <a:gd name="T19" fmla="*/ 2147483646 h 1179"/>
              <a:gd name="T20" fmla="*/ 2147483646 w 4396"/>
              <a:gd name="T21" fmla="*/ 2147483646 h 1179"/>
              <a:gd name="T22" fmla="*/ 2147483646 w 4396"/>
              <a:gd name="T23" fmla="*/ 2147483646 h 1179"/>
              <a:gd name="T24" fmla="*/ 2147483646 w 4396"/>
              <a:gd name="T25" fmla="*/ 2147483646 h 1179"/>
              <a:gd name="T26" fmla="*/ 2147483646 w 4396"/>
              <a:gd name="T27" fmla="*/ 2147483646 h 1179"/>
              <a:gd name="T28" fmla="*/ 2147483646 w 4396"/>
              <a:gd name="T29" fmla="*/ 2147483646 h 1179"/>
              <a:gd name="T30" fmla="*/ 2147483646 w 4396"/>
              <a:gd name="T31" fmla="*/ 2147483646 h 1179"/>
              <a:gd name="T32" fmla="*/ 2147483646 w 4396"/>
              <a:gd name="T33" fmla="*/ 2147483646 h 1179"/>
              <a:gd name="T34" fmla="*/ 2147483646 w 4396"/>
              <a:gd name="T35" fmla="*/ 2147483646 h 1179"/>
              <a:gd name="T36" fmla="*/ 2147483646 w 4396"/>
              <a:gd name="T37" fmla="*/ 2147483646 h 1179"/>
              <a:gd name="T38" fmla="*/ 2147483646 w 4396"/>
              <a:gd name="T39" fmla="*/ 2147483646 h 1179"/>
              <a:gd name="T40" fmla="*/ 2147483646 w 4396"/>
              <a:gd name="T41" fmla="*/ 2147483646 h 1179"/>
              <a:gd name="T42" fmla="*/ 2147483646 w 4396"/>
              <a:gd name="T43" fmla="*/ 2147483646 h 1179"/>
              <a:gd name="T44" fmla="*/ 2147483646 w 4396"/>
              <a:gd name="T45" fmla="*/ 2147483646 h 1179"/>
              <a:gd name="T46" fmla="*/ 2147483646 w 4396"/>
              <a:gd name="T47" fmla="*/ 2147483646 h 1179"/>
              <a:gd name="T48" fmla="*/ 2147483646 w 4396"/>
              <a:gd name="T49" fmla="*/ 2147483646 h 1179"/>
              <a:gd name="T50" fmla="*/ 2147483646 w 4396"/>
              <a:gd name="T51" fmla="*/ 2147483646 h 1179"/>
              <a:gd name="T52" fmla="*/ 2147483646 w 4396"/>
              <a:gd name="T53" fmla="*/ 2147483646 h 1179"/>
              <a:gd name="T54" fmla="*/ 2147483646 w 4396"/>
              <a:gd name="T55" fmla="*/ 2147483646 h 1179"/>
              <a:gd name="T56" fmla="*/ 2147483646 w 4396"/>
              <a:gd name="T57" fmla="*/ 2147483646 h 1179"/>
              <a:gd name="T58" fmla="*/ 2147483646 w 4396"/>
              <a:gd name="T59" fmla="*/ 2147483646 h 1179"/>
              <a:gd name="T60" fmla="*/ 2147483646 w 4396"/>
              <a:gd name="T61" fmla="*/ 2147483646 h 1179"/>
              <a:gd name="T62" fmla="*/ 2147483646 w 4396"/>
              <a:gd name="T63" fmla="*/ 2147483646 h 1179"/>
              <a:gd name="T64" fmla="*/ 2147483646 w 4396"/>
              <a:gd name="T65" fmla="*/ 2147483646 h 1179"/>
              <a:gd name="T66" fmla="*/ 2147483646 w 4396"/>
              <a:gd name="T67" fmla="*/ 2147483646 h 1179"/>
              <a:gd name="T68" fmla="*/ 2147483646 w 4396"/>
              <a:gd name="T69" fmla="*/ 2147483646 h 1179"/>
              <a:gd name="T70" fmla="*/ 2147483646 w 4396"/>
              <a:gd name="T71" fmla="*/ 0 h 117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4396" h="1179">
                <a:moveTo>
                  <a:pt x="12" y="30"/>
                </a:moveTo>
                <a:cubicBezTo>
                  <a:pt x="13" y="176"/>
                  <a:pt x="0" y="725"/>
                  <a:pt x="12" y="909"/>
                </a:cubicBezTo>
                <a:cubicBezTo>
                  <a:pt x="24" y="1093"/>
                  <a:pt x="18" y="1095"/>
                  <a:pt x="84" y="1137"/>
                </a:cubicBezTo>
                <a:cubicBezTo>
                  <a:pt x="150" y="1179"/>
                  <a:pt x="328" y="1158"/>
                  <a:pt x="408" y="1161"/>
                </a:cubicBezTo>
                <a:cubicBezTo>
                  <a:pt x="488" y="1164"/>
                  <a:pt x="507" y="1162"/>
                  <a:pt x="567" y="1158"/>
                </a:cubicBezTo>
                <a:cubicBezTo>
                  <a:pt x="627" y="1154"/>
                  <a:pt x="728" y="1158"/>
                  <a:pt x="768" y="1140"/>
                </a:cubicBezTo>
                <a:cubicBezTo>
                  <a:pt x="808" y="1122"/>
                  <a:pt x="798" y="1129"/>
                  <a:pt x="804" y="1050"/>
                </a:cubicBezTo>
                <a:cubicBezTo>
                  <a:pt x="810" y="971"/>
                  <a:pt x="796" y="761"/>
                  <a:pt x="804" y="666"/>
                </a:cubicBezTo>
                <a:cubicBezTo>
                  <a:pt x="812" y="571"/>
                  <a:pt x="792" y="507"/>
                  <a:pt x="855" y="477"/>
                </a:cubicBezTo>
                <a:cubicBezTo>
                  <a:pt x="918" y="447"/>
                  <a:pt x="1122" y="452"/>
                  <a:pt x="1182" y="483"/>
                </a:cubicBezTo>
                <a:cubicBezTo>
                  <a:pt x="1242" y="514"/>
                  <a:pt x="1208" y="592"/>
                  <a:pt x="1212" y="663"/>
                </a:cubicBezTo>
                <a:cubicBezTo>
                  <a:pt x="1216" y="734"/>
                  <a:pt x="1205" y="830"/>
                  <a:pt x="1209" y="906"/>
                </a:cubicBezTo>
                <a:cubicBezTo>
                  <a:pt x="1213" y="982"/>
                  <a:pt x="1190" y="1080"/>
                  <a:pt x="1236" y="1122"/>
                </a:cubicBezTo>
                <a:cubicBezTo>
                  <a:pt x="1282" y="1164"/>
                  <a:pt x="1383" y="1158"/>
                  <a:pt x="1488" y="1161"/>
                </a:cubicBezTo>
                <a:cubicBezTo>
                  <a:pt x="1593" y="1164"/>
                  <a:pt x="1785" y="1161"/>
                  <a:pt x="1866" y="1143"/>
                </a:cubicBezTo>
                <a:cubicBezTo>
                  <a:pt x="1947" y="1125"/>
                  <a:pt x="1956" y="1115"/>
                  <a:pt x="1977" y="1050"/>
                </a:cubicBezTo>
                <a:cubicBezTo>
                  <a:pt x="1998" y="985"/>
                  <a:pt x="1986" y="848"/>
                  <a:pt x="1992" y="750"/>
                </a:cubicBezTo>
                <a:cubicBezTo>
                  <a:pt x="1998" y="652"/>
                  <a:pt x="1953" y="508"/>
                  <a:pt x="2016" y="459"/>
                </a:cubicBezTo>
                <a:cubicBezTo>
                  <a:pt x="2079" y="410"/>
                  <a:pt x="2305" y="419"/>
                  <a:pt x="2370" y="453"/>
                </a:cubicBezTo>
                <a:cubicBezTo>
                  <a:pt x="2435" y="487"/>
                  <a:pt x="2402" y="594"/>
                  <a:pt x="2409" y="663"/>
                </a:cubicBezTo>
                <a:cubicBezTo>
                  <a:pt x="2416" y="732"/>
                  <a:pt x="2408" y="794"/>
                  <a:pt x="2412" y="867"/>
                </a:cubicBezTo>
                <a:cubicBezTo>
                  <a:pt x="2416" y="940"/>
                  <a:pt x="2411" y="1050"/>
                  <a:pt x="2436" y="1098"/>
                </a:cubicBezTo>
                <a:cubicBezTo>
                  <a:pt x="2461" y="1146"/>
                  <a:pt x="2467" y="1150"/>
                  <a:pt x="2565" y="1158"/>
                </a:cubicBezTo>
                <a:cubicBezTo>
                  <a:pt x="2663" y="1166"/>
                  <a:pt x="2924" y="1165"/>
                  <a:pt x="3024" y="1146"/>
                </a:cubicBezTo>
                <a:cubicBezTo>
                  <a:pt x="3124" y="1127"/>
                  <a:pt x="3140" y="1122"/>
                  <a:pt x="3165" y="1041"/>
                </a:cubicBezTo>
                <a:cubicBezTo>
                  <a:pt x="3190" y="960"/>
                  <a:pt x="3165" y="758"/>
                  <a:pt x="3172" y="662"/>
                </a:cubicBezTo>
                <a:cubicBezTo>
                  <a:pt x="3179" y="566"/>
                  <a:pt x="3154" y="499"/>
                  <a:pt x="3207" y="462"/>
                </a:cubicBezTo>
                <a:cubicBezTo>
                  <a:pt x="3260" y="425"/>
                  <a:pt x="3429" y="425"/>
                  <a:pt x="3492" y="438"/>
                </a:cubicBezTo>
                <a:cubicBezTo>
                  <a:pt x="3555" y="451"/>
                  <a:pt x="3568" y="464"/>
                  <a:pt x="3585" y="540"/>
                </a:cubicBezTo>
                <a:cubicBezTo>
                  <a:pt x="3602" y="616"/>
                  <a:pt x="3587" y="801"/>
                  <a:pt x="3591" y="894"/>
                </a:cubicBezTo>
                <a:cubicBezTo>
                  <a:pt x="3595" y="987"/>
                  <a:pt x="3590" y="1059"/>
                  <a:pt x="3609" y="1101"/>
                </a:cubicBezTo>
                <a:cubicBezTo>
                  <a:pt x="3628" y="1143"/>
                  <a:pt x="3617" y="1140"/>
                  <a:pt x="3708" y="1149"/>
                </a:cubicBezTo>
                <a:cubicBezTo>
                  <a:pt x="3799" y="1158"/>
                  <a:pt x="4051" y="1162"/>
                  <a:pt x="4155" y="1158"/>
                </a:cubicBezTo>
                <a:cubicBezTo>
                  <a:pt x="4259" y="1154"/>
                  <a:pt x="4296" y="1160"/>
                  <a:pt x="4335" y="1125"/>
                </a:cubicBezTo>
                <a:cubicBezTo>
                  <a:pt x="4374" y="1090"/>
                  <a:pt x="4382" y="1132"/>
                  <a:pt x="4389" y="945"/>
                </a:cubicBezTo>
                <a:cubicBezTo>
                  <a:pt x="4396" y="758"/>
                  <a:pt x="4382" y="197"/>
                  <a:pt x="4380" y="0"/>
                </a:cubicBezTo>
              </a:path>
            </a:pathLst>
          </a:custGeom>
          <a:noFill/>
          <a:ln w="76200">
            <a:solidFill>
              <a:srgbClr val="FF0000"/>
            </a:solidFill>
            <a:round/>
            <a:headEnd type="none" w="med" len="lg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349" name="Rectangle 581"/>
          <p:cNvSpPr>
            <a:spLocks noChangeArrowheads="1"/>
          </p:cNvSpPr>
          <p:nvPr/>
        </p:nvSpPr>
        <p:spPr bwMode="auto">
          <a:xfrm>
            <a:off x="1679278" y="4703961"/>
            <a:ext cx="8640763" cy="323850"/>
          </a:xfrm>
          <a:prstGeom prst="rect">
            <a:avLst/>
          </a:prstGeom>
          <a:solidFill>
            <a:srgbClr val="C0C0C0">
              <a:alpha val="39999"/>
            </a:srgbClr>
          </a:solidFill>
          <a:ln w="9525">
            <a:solidFill>
              <a:srgbClr val="5F5F5F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443" name="Rectangle 2"/>
          <p:cNvSpPr txBox="1">
            <a:spLocks noChangeArrowheads="1"/>
          </p:cNvSpPr>
          <p:nvPr/>
        </p:nvSpPr>
        <p:spPr bwMode="auto">
          <a:xfrm>
            <a:off x="185502" y="-99392"/>
            <a:ext cx="68564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数据链路层的简单模型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2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2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502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334" grpId="0" animBg="1"/>
      <p:bldP spid="161335" grpId="0" animBg="1"/>
      <p:bldP spid="161336" grpId="0" animBg="1"/>
      <p:bldP spid="161337" grpId="0" animBg="1"/>
      <p:bldP spid="161347" grpId="0"/>
      <p:bldP spid="1613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DC07033-3ACB-4840-A36C-4F59571C983A}"/>
              </a:ext>
            </a:extLst>
          </p:cNvPr>
          <p:cNvSpPr txBox="1"/>
          <p:nvPr/>
        </p:nvSpPr>
        <p:spPr>
          <a:xfrm>
            <a:off x="479376" y="882688"/>
            <a:ext cx="73096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数据链路层为网络层提供的服务不包括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无确认的无连接服务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有确认的无连接服务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4472C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solidFill>
                  <a:srgbClr val="4472C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无确认的面向连接服务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有确认的面向连接服务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2E5156-6A30-42BD-BACA-A9C702685DCD}"/>
              </a:ext>
            </a:extLst>
          </p:cNvPr>
          <p:cNvSpPr txBox="1"/>
          <p:nvPr/>
        </p:nvSpPr>
        <p:spPr>
          <a:xfrm>
            <a:off x="479376" y="3356992"/>
            <a:ext cx="11161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对于信道比较可靠且对实时性要求高的网络，数据链路层采用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比较合适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4472C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solidFill>
                  <a:srgbClr val="4472C4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无确认的无连接服务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有确认的无连接服务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无确认的面向连接服务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有确认的面向连接服务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F1FC6F-BE8B-49B4-9AC5-A8BFA0354E7E}"/>
              </a:ext>
            </a:extLst>
          </p:cNvPr>
          <p:cNvSpPr txBox="1"/>
          <p:nvPr/>
        </p:nvSpPr>
        <p:spPr>
          <a:xfrm>
            <a:off x="6600056" y="5661248"/>
            <a:ext cx="385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无确认的无连接服务</a:t>
            </a:r>
            <a:r>
              <a:rPr lang="en-US" altLang="zh-CN" sz="20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以太网</a:t>
            </a:r>
            <a:endParaRPr lang="en-US" altLang="zh-CN" sz="2000" kern="1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有确认的无连接服务</a:t>
            </a:r>
            <a:r>
              <a:rPr lang="en-US" altLang="zh-CN" sz="20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无线局域网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87688" y="1772816"/>
            <a:ext cx="5832648" cy="685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00CC"/>
                </a:solidFill>
                <a:ea typeface="黑体" panose="02010609060101010101" pitchFamily="49" charset="-122"/>
              </a:rPr>
              <a:t>（二）数据链路层的功能</a:t>
            </a:r>
          </a:p>
        </p:txBody>
      </p:sp>
      <p:sp>
        <p:nvSpPr>
          <p:cNvPr id="16387" name="Rectangle 23"/>
          <p:cNvSpPr>
            <a:spLocks noChangeArrowheads="1"/>
          </p:cNvSpPr>
          <p:nvPr/>
        </p:nvSpPr>
        <p:spPr bwMode="auto">
          <a:xfrm>
            <a:off x="4511825" y="2708921"/>
            <a:ext cx="2951163" cy="19469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457200" indent="-45720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封装成帧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透明传输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差错检测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69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1"/>
          <p:cNvSpPr>
            <a:spLocks noChangeArrowheads="1"/>
          </p:cNvSpPr>
          <p:nvPr/>
        </p:nvSpPr>
        <p:spPr bwMode="auto">
          <a:xfrm>
            <a:off x="176426" y="711581"/>
            <a:ext cx="3698448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/>
              <a:t>封装成帧和透明传输</a:t>
            </a:r>
            <a:endParaRPr lang="en-US" altLang="zh-CN" sz="2800" b="1" dirty="0"/>
          </a:p>
        </p:txBody>
      </p:sp>
      <p:sp>
        <p:nvSpPr>
          <p:cNvPr id="5" name="矩形 4"/>
          <p:cNvSpPr/>
          <p:nvPr/>
        </p:nvSpPr>
        <p:spPr>
          <a:xfrm>
            <a:off x="263351" y="1428751"/>
            <a:ext cx="11665293" cy="1829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b="1" dirty="0">
                <a:latin typeface="-apple-system"/>
              </a:rPr>
              <a:t>封装成帧</a:t>
            </a:r>
            <a:r>
              <a:rPr lang="en-US" altLang="zh-CN" b="1" dirty="0">
                <a:latin typeface="-apple-system"/>
              </a:rPr>
              <a:t>(Framing)</a:t>
            </a:r>
            <a:r>
              <a:rPr lang="zh-CN" altLang="en-US" b="1" dirty="0">
                <a:latin typeface="-apple-system"/>
              </a:rPr>
              <a:t>：</a:t>
            </a:r>
            <a:r>
              <a:rPr lang="zh-CN" altLang="en-US" dirty="0">
                <a:latin typeface="-apple-system"/>
              </a:rPr>
              <a:t>就是在一段数据的前后分别添加首部和尾部，构成帧。</a:t>
            </a:r>
            <a:r>
              <a:rPr lang="zh-CN" altLang="en-US" dirty="0"/>
              <a:t>首部和尾部的一个重要作用就是进行</a:t>
            </a:r>
            <a:r>
              <a:rPr lang="zh-CN" altLang="en-US" b="1" dirty="0">
                <a:solidFill>
                  <a:schemeClr val="hlink"/>
                </a:solidFill>
              </a:rPr>
              <a:t>帧定界</a:t>
            </a:r>
            <a:r>
              <a:rPr lang="zh-CN" altLang="en-US" dirty="0"/>
              <a:t>。  </a:t>
            </a:r>
            <a:endParaRPr lang="zh-CN" altLang="en-US" dirty="0">
              <a:latin typeface="-apple-system"/>
            </a:endParaRPr>
          </a:p>
          <a:p>
            <a:pPr marL="342900" indent="-342900"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-apple-system"/>
              </a:rPr>
              <a:t>接收端在收到物理层上交的比特流后，就能根据首部和尾部的标记，从收到的比特流中识别帧的开始和结束。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9079383" y="3624833"/>
            <a:ext cx="10985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帧结束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957983" y="4574158"/>
            <a:ext cx="1193800" cy="5969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帧首部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151784" y="3501008"/>
            <a:ext cx="4278313" cy="5969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数据报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151784" y="4574158"/>
            <a:ext cx="4278313" cy="5969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帧的数据部分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430096" y="4574158"/>
            <a:ext cx="1193800" cy="5969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帧尾部</a:t>
            </a: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151784" y="5528245"/>
            <a:ext cx="427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2957984" y="6006083"/>
            <a:ext cx="6665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2957983" y="5290120"/>
            <a:ext cx="0" cy="107315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 type="triangle" w="sm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9623896" y="5290120"/>
            <a:ext cx="0" cy="1073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4151783" y="5290120"/>
            <a:ext cx="0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8430096" y="5290120"/>
            <a:ext cx="0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744046" y="5282183"/>
            <a:ext cx="10969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 </a:t>
            </a:r>
            <a:r>
              <a:rPr kumimoji="1" lang="en-US" altLang="zh-CN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MTU</a:t>
            </a: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5109046" y="5785420"/>
            <a:ext cx="26225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数据链路层的帧长</a:t>
            </a: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942484" y="4097908"/>
            <a:ext cx="696913" cy="59531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2105497" y="4410646"/>
            <a:ext cx="800219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开始</a:t>
            </a:r>
          </a:p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发送</a:t>
            </a: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V="1">
            <a:off x="2965921" y="4116959"/>
            <a:ext cx="0" cy="3968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V="1">
            <a:off x="9617546" y="4116959"/>
            <a:ext cx="0" cy="3968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2480147" y="3624833"/>
            <a:ext cx="110013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帧开始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1"/>
          <p:cNvSpPr>
            <a:spLocks noChangeArrowheads="1"/>
          </p:cNvSpPr>
          <p:nvPr/>
        </p:nvSpPr>
        <p:spPr bwMode="auto">
          <a:xfrm>
            <a:off x="176426" y="692696"/>
            <a:ext cx="3698448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/>
              <a:t>封装成帧和透明传输</a:t>
            </a:r>
            <a:endParaRPr lang="en-US" altLang="zh-CN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A1C7F4-532F-4CDF-B9EB-C62B6CDD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4420848"/>
            <a:ext cx="7118434" cy="161544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322C1A8-9652-49F4-8864-27BAB5460D1C}"/>
              </a:ext>
            </a:extLst>
          </p:cNvPr>
          <p:cNvSpPr txBox="1"/>
          <p:nvPr/>
        </p:nvSpPr>
        <p:spPr>
          <a:xfrm>
            <a:off x="176426" y="1412776"/>
            <a:ext cx="11680214" cy="27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-apple-system"/>
              </a:rPr>
              <a:t>         </a:t>
            </a:r>
            <a:r>
              <a:rPr lang="zh-CN" altLang="en-US" dirty="0">
                <a:latin typeface="-apple-system"/>
              </a:rPr>
              <a:t>如在</a:t>
            </a:r>
            <a:r>
              <a:rPr lang="en-US" altLang="zh-CN" dirty="0">
                <a:latin typeface="-apple-system"/>
              </a:rPr>
              <a:t>HDLC</a:t>
            </a:r>
            <a:r>
              <a:rPr lang="zh-CN" altLang="en-US" dirty="0">
                <a:latin typeface="-apple-system"/>
              </a:rPr>
              <a:t>协议中，用标识符</a:t>
            </a:r>
            <a:r>
              <a:rPr lang="en-US" altLang="zh-CN" dirty="0">
                <a:latin typeface="-apple-system"/>
              </a:rPr>
              <a:t>F(01111110)</a:t>
            </a:r>
            <a:r>
              <a:rPr lang="zh-CN" altLang="en-US" dirty="0">
                <a:latin typeface="-apple-system"/>
              </a:rPr>
              <a:t>来标识帧的开始和结束。在通信过程中检测到帧标识符</a:t>
            </a:r>
            <a:r>
              <a:rPr lang="en-US" altLang="zh-CN" dirty="0">
                <a:latin typeface="-apple-system"/>
              </a:rPr>
              <a:t>F</a:t>
            </a:r>
            <a:r>
              <a:rPr lang="zh-CN" altLang="en-US" dirty="0">
                <a:latin typeface="-apple-system"/>
              </a:rPr>
              <a:t>即认为其是帧的开始，然后一旦检测到帧标识符</a:t>
            </a:r>
            <a:r>
              <a:rPr lang="en-US" altLang="zh-CN" dirty="0">
                <a:latin typeface="-apple-system"/>
              </a:rPr>
              <a:t>F</a:t>
            </a:r>
            <a:r>
              <a:rPr lang="zh-CN" altLang="en-US" dirty="0">
                <a:latin typeface="-apple-system"/>
              </a:rPr>
              <a:t>即表示帧的结束。</a:t>
            </a:r>
            <a:endParaRPr lang="en-US" altLang="zh-CN" dirty="0">
              <a:latin typeface="-apple-system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-apple-system"/>
              </a:rPr>
              <a:t>         为了提高帧的传输效率，应当使帧的数据部分长度尽可能地大于首部和尾部的长度，但是随着帧长的增加，传输差错发生的概率也随之提高，发生差错时重传的代价也越大，因此</a:t>
            </a:r>
            <a:r>
              <a:rPr lang="zh-CN" altLang="en-US" dirty="0">
                <a:solidFill>
                  <a:srgbClr val="0070C0"/>
                </a:solidFill>
                <a:latin typeface="-apple-system"/>
              </a:rPr>
              <a:t>每种链路层协议都规定了帧的数据部分的长度上限，即最大传输单元</a:t>
            </a:r>
            <a:r>
              <a:rPr lang="en-US" altLang="zh-CN" dirty="0">
                <a:solidFill>
                  <a:srgbClr val="0070C0"/>
                </a:solidFill>
                <a:latin typeface="-apple-system"/>
              </a:rPr>
              <a:t>MTU</a:t>
            </a:r>
            <a:r>
              <a:rPr lang="en-US" altLang="zh-CN" dirty="0">
                <a:latin typeface="-apple-system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68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63352" y="764704"/>
            <a:ext cx="2016224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组帧的方法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0FBC9D-ED27-4551-B6E3-0B150D2FBC3E}"/>
              </a:ext>
            </a:extLst>
          </p:cNvPr>
          <p:cNvSpPr txBox="1"/>
          <p:nvPr/>
        </p:nvSpPr>
        <p:spPr>
          <a:xfrm>
            <a:off x="3647728" y="2132856"/>
            <a:ext cx="4392488" cy="19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字符计数法</a:t>
            </a:r>
            <a:endParaRPr lang="en-US" altLang="zh-CN" sz="2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字符填充的首尾定界符法</a:t>
            </a:r>
            <a:endParaRPr lang="en-US" altLang="zh-CN" sz="2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零比特填充的首尾标志法</a:t>
            </a:r>
            <a:endParaRPr lang="en-US" altLang="zh-CN" sz="2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违规编码法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63352" y="54034"/>
            <a:ext cx="4137467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组帧的方法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字符计数法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B6D3BF6-6941-41EE-ABD3-470192A03B0B}"/>
              </a:ext>
            </a:extLst>
          </p:cNvPr>
          <p:cNvSpPr txBox="1"/>
          <p:nvPr/>
        </p:nvSpPr>
        <p:spPr>
          <a:xfrm>
            <a:off x="407368" y="1108157"/>
            <a:ext cx="11377264" cy="22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在帧的头部使用一个计数字段来标明帧内的字符数。计数字段提供的字节数包含其自身所占用的一个字节。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缺点：如果计数字段出错，接收方将无法判断帧的结束位和下一帧的开始位，从而导致收发双方失去同步，可能造成灾难性后果。‌</a:t>
            </a:r>
            <a:br>
              <a:rPr lang="zh-CN" altLang="en-US" dirty="0">
                <a:solidFill>
                  <a:srgbClr val="333333"/>
                </a:solidFill>
                <a:latin typeface="PingFang SC"/>
              </a:rPr>
            </a:b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28A1E3-17E4-464E-9E1E-D1A2FCCE3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3483210"/>
            <a:ext cx="7943908" cy="19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80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7" name="组合 27"/>
          <p:cNvGrpSpPr>
            <a:grpSpLocks/>
          </p:cNvGrpSpPr>
          <p:nvPr/>
        </p:nvGrpSpPr>
        <p:grpSpPr bwMode="auto">
          <a:xfrm>
            <a:off x="2279576" y="4509120"/>
            <a:ext cx="7519988" cy="1138238"/>
            <a:chOff x="955675" y="4522688"/>
            <a:chExt cx="7519988" cy="1138238"/>
          </a:xfrm>
        </p:grpSpPr>
        <p:sp>
          <p:nvSpPr>
            <p:cNvPr id="18455" name="Rectangle 5"/>
            <p:cNvSpPr>
              <a:spLocks noChangeArrowheads="1"/>
            </p:cNvSpPr>
            <p:nvPr/>
          </p:nvSpPr>
          <p:spPr bwMode="auto">
            <a:xfrm>
              <a:off x="1450975" y="4522688"/>
              <a:ext cx="6527800" cy="5492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装在帧中的数据部分</a:t>
              </a:r>
            </a:p>
          </p:txBody>
        </p:sp>
        <p:sp>
          <p:nvSpPr>
            <p:cNvPr id="18456" name="Line 6"/>
            <p:cNvSpPr>
              <a:spLocks noChangeShapeType="1"/>
            </p:cNvSpPr>
            <p:nvPr/>
          </p:nvSpPr>
          <p:spPr bwMode="auto">
            <a:xfrm>
              <a:off x="955675" y="5438676"/>
              <a:ext cx="75199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Text Box 7"/>
            <p:cNvSpPr txBox="1">
              <a:spLocks noChangeArrowheads="1"/>
            </p:cNvSpPr>
            <p:nvPr/>
          </p:nvSpPr>
          <p:spPr bwMode="auto">
            <a:xfrm>
              <a:off x="4508500" y="5203726"/>
              <a:ext cx="48895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18458" name="Line 12"/>
            <p:cNvSpPr>
              <a:spLocks noChangeShapeType="1"/>
            </p:cNvSpPr>
            <p:nvPr/>
          </p:nvSpPr>
          <p:spPr bwMode="auto">
            <a:xfrm flipV="1">
              <a:off x="955675" y="5071963"/>
              <a:ext cx="0" cy="549275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43" name="组合 6"/>
          <p:cNvGrpSpPr>
            <a:grpSpLocks/>
          </p:cNvGrpSpPr>
          <p:nvPr/>
        </p:nvGrpSpPr>
        <p:grpSpPr bwMode="auto">
          <a:xfrm>
            <a:off x="2028752" y="3841235"/>
            <a:ext cx="8378547" cy="1217159"/>
            <a:chOff x="704850" y="3854787"/>
            <a:chExt cx="8378547" cy="1217176"/>
          </a:xfrm>
        </p:grpSpPr>
        <p:sp>
          <p:nvSpPr>
            <p:cNvPr id="18446" name="Rectangle 4"/>
            <p:cNvSpPr>
              <a:spLocks noChangeArrowheads="1"/>
            </p:cNvSpPr>
            <p:nvPr/>
          </p:nvSpPr>
          <p:spPr bwMode="auto">
            <a:xfrm>
              <a:off x="955675" y="4522688"/>
              <a:ext cx="495300" cy="54927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SOH</a:t>
              </a:r>
            </a:p>
          </p:txBody>
        </p:sp>
        <p:sp>
          <p:nvSpPr>
            <p:cNvPr id="18447" name="Line 8"/>
            <p:cNvSpPr>
              <a:spLocks noChangeShapeType="1"/>
            </p:cNvSpPr>
            <p:nvPr/>
          </p:nvSpPr>
          <p:spPr bwMode="auto">
            <a:xfrm>
              <a:off x="1203325" y="4239978"/>
              <a:ext cx="0" cy="282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Text Box 9"/>
            <p:cNvSpPr txBox="1">
              <a:spLocks noChangeArrowheads="1"/>
            </p:cNvSpPr>
            <p:nvPr/>
          </p:nvSpPr>
          <p:spPr bwMode="auto">
            <a:xfrm>
              <a:off x="704850" y="3854787"/>
              <a:ext cx="1415772" cy="461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dirty="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帧开始符</a:t>
              </a:r>
            </a:p>
          </p:txBody>
        </p:sp>
        <p:sp>
          <p:nvSpPr>
            <p:cNvPr id="18449" name="Text Box 10"/>
            <p:cNvSpPr txBox="1">
              <a:spLocks noChangeArrowheads="1"/>
            </p:cNvSpPr>
            <p:nvPr/>
          </p:nvSpPr>
          <p:spPr bwMode="auto">
            <a:xfrm>
              <a:off x="7667625" y="3854787"/>
              <a:ext cx="1415772" cy="461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帧结束符</a:t>
              </a:r>
            </a:p>
          </p:txBody>
        </p:sp>
        <p:sp>
          <p:nvSpPr>
            <p:cNvPr id="18450" name="Line 11"/>
            <p:cNvSpPr>
              <a:spLocks noChangeShapeType="1"/>
            </p:cNvSpPr>
            <p:nvPr/>
          </p:nvSpPr>
          <p:spPr bwMode="auto">
            <a:xfrm>
              <a:off x="8228013" y="4311987"/>
              <a:ext cx="0" cy="2107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Rectangle 14"/>
            <p:cNvSpPr>
              <a:spLocks noChangeArrowheads="1"/>
            </p:cNvSpPr>
            <p:nvPr/>
          </p:nvSpPr>
          <p:spPr bwMode="auto">
            <a:xfrm>
              <a:off x="7956550" y="4522688"/>
              <a:ext cx="496888" cy="54927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>
                  <a:solidFill>
                    <a:schemeClr val="folHlin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EOT</a:t>
              </a:r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9929A6B6-1B45-4DC6-BE43-CC2E169ED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6" y="48780"/>
            <a:ext cx="646744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/>
              <a:t>组帧的方法</a:t>
            </a:r>
            <a:r>
              <a:rPr lang="en-US" altLang="zh-CN" sz="2800" kern="0" dirty="0"/>
              <a:t>-</a:t>
            </a:r>
            <a:r>
              <a:rPr lang="zh-CN" altLang="en-US" sz="2800" kern="0" dirty="0"/>
              <a:t>字符填充的首尾定界符法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26D931-1E42-4CD8-850D-81640928AB79}"/>
              </a:ext>
            </a:extLst>
          </p:cNvPr>
          <p:cNvSpPr txBox="1"/>
          <p:nvPr/>
        </p:nvSpPr>
        <p:spPr>
          <a:xfrm>
            <a:off x="335360" y="1036493"/>
            <a:ext cx="11521280" cy="27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字符填充法使用特定字符来定界一帧的开始与结束。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  <a:latin typeface="-apple-system"/>
              </a:rPr>
              <a:t>控制字符</a:t>
            </a:r>
            <a:r>
              <a:rPr lang="en-US" altLang="zh-CN" b="1" dirty="0">
                <a:solidFill>
                  <a:srgbClr val="0070C0"/>
                </a:solidFill>
                <a:latin typeface="-apple-system"/>
              </a:rPr>
              <a:t>SOH</a:t>
            </a:r>
            <a:r>
              <a:rPr lang="en-US" altLang="zh-CN" b="1" dirty="0">
                <a:solidFill>
                  <a:srgbClr val="24292E"/>
                </a:solidFill>
                <a:latin typeface="-apple-system"/>
              </a:rPr>
              <a:t> ( Start of Heading)</a:t>
            </a:r>
            <a:r>
              <a:rPr lang="zh-CN" altLang="en-US" b="1" dirty="0">
                <a:solidFill>
                  <a:srgbClr val="24292E"/>
                </a:solidFill>
                <a:latin typeface="-apple-system"/>
              </a:rPr>
              <a:t>表示帧的首部开始</a:t>
            </a:r>
            <a:endParaRPr lang="zh-CN" altLang="en-US" dirty="0">
              <a:solidFill>
                <a:srgbClr val="24292E"/>
              </a:solidFill>
              <a:latin typeface="-apple-system"/>
            </a:endParaRP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  <a:latin typeface="-apple-system"/>
              </a:rPr>
              <a:t>控制字符</a:t>
            </a:r>
            <a:r>
              <a:rPr lang="en-US" altLang="zh-CN" b="1" dirty="0">
                <a:solidFill>
                  <a:srgbClr val="0070C0"/>
                </a:solidFill>
                <a:latin typeface="-apple-system"/>
              </a:rPr>
              <a:t>EOT</a:t>
            </a:r>
            <a:r>
              <a:rPr lang="en-US" altLang="zh-CN" b="1" dirty="0">
                <a:solidFill>
                  <a:srgbClr val="24292E"/>
                </a:solidFill>
                <a:latin typeface="-apple-system"/>
              </a:rPr>
              <a:t>(End Of Transmission)</a:t>
            </a:r>
            <a:r>
              <a:rPr lang="zh-CN" altLang="en-US" b="1" dirty="0">
                <a:solidFill>
                  <a:srgbClr val="24292E"/>
                </a:solidFill>
                <a:latin typeface="-apple-system"/>
              </a:rPr>
              <a:t>表示帧的结束。</a:t>
            </a:r>
            <a:endParaRPr lang="zh-CN" altLang="en-US" dirty="0">
              <a:solidFill>
                <a:srgbClr val="24292E"/>
              </a:solidFill>
              <a:latin typeface="-apple-system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为了使信息位中出现的特殊字符</a:t>
            </a:r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SOH,EOT,ESC</a:t>
            </a:r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等不被误判为帧的首尾定界符，可在特殊字符前面填充一个转义字符（</a:t>
            </a:r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ESC</a:t>
            </a:r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，</a:t>
            </a:r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Escape character)</a:t>
            </a:r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来加以区分，以实现数据的透明传输。</a:t>
            </a:r>
          </a:p>
        </p:txBody>
      </p:sp>
      <p:sp>
        <p:nvSpPr>
          <p:cNvPr id="31" name="Line 12">
            <a:extLst>
              <a:ext uri="{FF2B5EF4-FFF2-40B4-BE49-F238E27FC236}">
                <a16:creationId xmlns:a16="http://schemas.microsoft.com/office/drawing/2014/main" id="{B63D28D8-D23D-49F7-AD03-A71C45805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77339" y="5013177"/>
            <a:ext cx="0" cy="5492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796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5"/>
          <p:cNvSpPr txBox="1">
            <a:spLocks noChangeArrowheads="1"/>
          </p:cNvSpPr>
          <p:nvPr/>
        </p:nvSpPr>
        <p:spPr bwMode="auto">
          <a:xfrm>
            <a:off x="207968" y="823546"/>
            <a:ext cx="11792688" cy="1091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00" kern="0" dirty="0"/>
              <a:t>在数据部分的特殊字符前增加转义字符，解决透明传输的问题。接收方根据相反的处理，得到原始数据。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823250" y="4700587"/>
            <a:ext cx="4572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SOH</a:t>
            </a:r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7919250" y="3709987"/>
            <a:ext cx="1524000" cy="990600"/>
          </a:xfrm>
          <a:custGeom>
            <a:avLst/>
            <a:gdLst>
              <a:gd name="T0" fmla="*/ 2147483646 w 960"/>
              <a:gd name="T1" fmla="*/ 2147483646 h 624"/>
              <a:gd name="T2" fmla="*/ 2147483646 w 960"/>
              <a:gd name="T3" fmla="*/ 2147483646 h 624"/>
              <a:gd name="T4" fmla="*/ 2147483646 w 960"/>
              <a:gd name="T5" fmla="*/ 0 h 624"/>
              <a:gd name="T6" fmla="*/ 0 w 960"/>
              <a:gd name="T7" fmla="*/ 0 h 6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60" h="624">
                <a:moveTo>
                  <a:pt x="671" y="624"/>
                </a:moveTo>
                <a:lnTo>
                  <a:pt x="960" y="624"/>
                </a:lnTo>
                <a:lnTo>
                  <a:pt x="288" y="0"/>
                </a:lnTo>
                <a:lnTo>
                  <a:pt x="0" y="0"/>
                </a:lnTo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6614326" y="3709988"/>
            <a:ext cx="1076325" cy="1000125"/>
          </a:xfrm>
          <a:custGeom>
            <a:avLst/>
            <a:gdLst>
              <a:gd name="T0" fmla="*/ 2147483646 w 678"/>
              <a:gd name="T1" fmla="*/ 2147483646 h 630"/>
              <a:gd name="T2" fmla="*/ 2147483646 w 678"/>
              <a:gd name="T3" fmla="*/ 2147483646 h 630"/>
              <a:gd name="T4" fmla="*/ 2147483646 w 678"/>
              <a:gd name="T5" fmla="*/ 0 h 630"/>
              <a:gd name="T6" fmla="*/ 0 w 678"/>
              <a:gd name="T7" fmla="*/ 0 h 6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8" h="630">
                <a:moveTo>
                  <a:pt x="386" y="621"/>
                </a:moveTo>
                <a:lnTo>
                  <a:pt x="678" y="630"/>
                </a:lnTo>
                <a:lnTo>
                  <a:pt x="288" y="0"/>
                </a:lnTo>
                <a:lnTo>
                  <a:pt x="0" y="0"/>
                </a:lnTo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5099851" y="3709987"/>
            <a:ext cx="600075" cy="990600"/>
          </a:xfrm>
          <a:custGeom>
            <a:avLst/>
            <a:gdLst>
              <a:gd name="T0" fmla="*/ 2147483646 w 378"/>
              <a:gd name="T1" fmla="*/ 2147483646 h 624"/>
              <a:gd name="T2" fmla="*/ 2147483646 w 378"/>
              <a:gd name="T3" fmla="*/ 2147483646 h 624"/>
              <a:gd name="T4" fmla="*/ 2147483646 w 378"/>
              <a:gd name="T5" fmla="*/ 0 h 624"/>
              <a:gd name="T6" fmla="*/ 0 w 378"/>
              <a:gd name="T7" fmla="*/ 0 h 6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8" h="624">
                <a:moveTo>
                  <a:pt x="92" y="624"/>
                </a:moveTo>
                <a:lnTo>
                  <a:pt x="378" y="624"/>
                </a:lnTo>
                <a:lnTo>
                  <a:pt x="288" y="0"/>
                </a:lnTo>
                <a:lnTo>
                  <a:pt x="0" y="0"/>
                </a:lnTo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8"/>
          <p:cNvSpPr>
            <a:spLocks/>
          </p:cNvSpPr>
          <p:nvPr/>
        </p:nvSpPr>
        <p:spPr bwMode="auto">
          <a:xfrm>
            <a:off x="3421862" y="3709987"/>
            <a:ext cx="763588" cy="990600"/>
          </a:xfrm>
          <a:custGeom>
            <a:avLst/>
            <a:gdLst>
              <a:gd name="T0" fmla="*/ 0 w 481"/>
              <a:gd name="T1" fmla="*/ 2147483646 h 624"/>
              <a:gd name="T2" fmla="*/ 2147483646 w 481"/>
              <a:gd name="T3" fmla="*/ 2147483646 h 624"/>
              <a:gd name="T4" fmla="*/ 2147483646 w 481"/>
              <a:gd name="T5" fmla="*/ 0 h 624"/>
              <a:gd name="T6" fmla="*/ 2147483646 w 481"/>
              <a:gd name="T7" fmla="*/ 0 h 6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1" h="624">
                <a:moveTo>
                  <a:pt x="0" y="621"/>
                </a:moveTo>
                <a:lnTo>
                  <a:pt x="289" y="624"/>
                </a:lnTo>
                <a:lnTo>
                  <a:pt x="481" y="0"/>
                </a:lnTo>
                <a:lnTo>
                  <a:pt x="193" y="0"/>
                </a:lnTo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2585250" y="3252787"/>
            <a:ext cx="4572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SOH</a:t>
            </a:r>
          </a:p>
        </p:txBody>
      </p:sp>
      <p:sp>
        <p:nvSpPr>
          <p:cNvPr id="21515" name="Rectangle 10"/>
          <p:cNvSpPr>
            <a:spLocks noChangeArrowheads="1"/>
          </p:cNvSpPr>
          <p:nvPr/>
        </p:nvSpPr>
        <p:spPr bwMode="auto">
          <a:xfrm>
            <a:off x="3042450" y="3252787"/>
            <a:ext cx="60198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1516" name="Rectangle 11"/>
          <p:cNvSpPr>
            <a:spLocks noChangeArrowheads="1"/>
          </p:cNvSpPr>
          <p:nvPr/>
        </p:nvSpPr>
        <p:spPr bwMode="auto">
          <a:xfrm>
            <a:off x="3728250" y="3252787"/>
            <a:ext cx="457200" cy="4572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EOT</a:t>
            </a:r>
          </a:p>
        </p:txBody>
      </p:sp>
      <p:sp>
        <p:nvSpPr>
          <p:cNvPr id="21517" name="Rectangle 12"/>
          <p:cNvSpPr>
            <a:spLocks noChangeArrowheads="1"/>
          </p:cNvSpPr>
          <p:nvPr/>
        </p:nvSpPr>
        <p:spPr bwMode="auto">
          <a:xfrm>
            <a:off x="7919250" y="3252787"/>
            <a:ext cx="457200" cy="457200"/>
          </a:xfrm>
          <a:prstGeom prst="rect">
            <a:avLst/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SOH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6623850" y="3252787"/>
            <a:ext cx="457200" cy="457200"/>
          </a:xfrm>
          <a:prstGeom prst="rect">
            <a:avLst/>
          </a:prstGeom>
          <a:solidFill>
            <a:srgbClr val="33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ESC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280450" y="4700587"/>
            <a:ext cx="78486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966250" y="4700587"/>
            <a:ext cx="457200" cy="457200"/>
          </a:xfrm>
          <a:prstGeom prst="rect">
            <a:avLst/>
          </a:prstGeom>
          <a:solidFill>
            <a:srgbClr val="33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ESC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423450" y="4700587"/>
            <a:ext cx="457200" cy="457200"/>
          </a:xfrm>
          <a:prstGeom prst="rect">
            <a:avLst/>
          </a:prstGeom>
          <a:solidFill>
            <a:srgbClr val="99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EOT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795050" y="4700587"/>
            <a:ext cx="457200" cy="457200"/>
          </a:xfrm>
          <a:prstGeom prst="rect">
            <a:avLst/>
          </a:prstGeom>
          <a:solidFill>
            <a:srgbClr val="33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ESC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5252250" y="4700587"/>
            <a:ext cx="457200" cy="457200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SOH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776250" y="4700587"/>
            <a:ext cx="457200" cy="457200"/>
          </a:xfrm>
          <a:prstGeom prst="rect">
            <a:avLst/>
          </a:prstGeom>
          <a:solidFill>
            <a:srgbClr val="33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ESC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233450" y="4700587"/>
            <a:ext cx="457200" cy="457200"/>
          </a:xfrm>
          <a:prstGeom prst="rect">
            <a:avLst/>
          </a:prstGeom>
          <a:solidFill>
            <a:srgbClr val="33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ESC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8528850" y="4700587"/>
            <a:ext cx="457200" cy="457200"/>
          </a:xfrm>
          <a:prstGeom prst="rect">
            <a:avLst/>
          </a:prstGeom>
          <a:solidFill>
            <a:srgbClr val="33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ESC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8986050" y="4700587"/>
            <a:ext cx="457200" cy="457200"/>
          </a:xfrm>
          <a:prstGeom prst="rect">
            <a:avLst/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SOH</a:t>
            </a:r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421862" y="3709987"/>
            <a:ext cx="306388" cy="995362"/>
          </a:xfrm>
          <a:custGeom>
            <a:avLst/>
            <a:gdLst>
              <a:gd name="T0" fmla="*/ 2147483646 w 193"/>
              <a:gd name="T1" fmla="*/ 0 h 627"/>
              <a:gd name="T2" fmla="*/ 0 w 193"/>
              <a:gd name="T3" fmla="*/ 2147483646 h 6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3" h="627">
                <a:moveTo>
                  <a:pt x="193" y="0"/>
                </a:moveTo>
                <a:lnTo>
                  <a:pt x="0" y="627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H="1">
            <a:off x="3880650" y="3709987"/>
            <a:ext cx="3048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5099851" y="3709987"/>
            <a:ext cx="142875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5557050" y="3709987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28"/>
          <p:cNvSpPr>
            <a:spLocks/>
          </p:cNvSpPr>
          <p:nvPr/>
        </p:nvSpPr>
        <p:spPr bwMode="auto">
          <a:xfrm>
            <a:off x="6623850" y="3709987"/>
            <a:ext cx="603250" cy="995362"/>
          </a:xfrm>
          <a:custGeom>
            <a:avLst/>
            <a:gdLst>
              <a:gd name="T0" fmla="*/ 0 w 380"/>
              <a:gd name="T1" fmla="*/ 0 h 627"/>
              <a:gd name="T2" fmla="*/ 2147483646 w 380"/>
              <a:gd name="T3" fmla="*/ 2147483646 h 62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80" h="627">
                <a:moveTo>
                  <a:pt x="0" y="0"/>
                </a:moveTo>
                <a:lnTo>
                  <a:pt x="380" y="627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7081050" y="3709987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7919250" y="3709988"/>
            <a:ext cx="1060450" cy="985837"/>
          </a:xfrm>
          <a:custGeom>
            <a:avLst/>
            <a:gdLst>
              <a:gd name="T0" fmla="*/ 0 w 668"/>
              <a:gd name="T1" fmla="*/ 0 h 621"/>
              <a:gd name="T2" fmla="*/ 2147483646 w 668"/>
              <a:gd name="T3" fmla="*/ 2147483646 h 62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68" h="621">
                <a:moveTo>
                  <a:pt x="0" y="0"/>
                </a:moveTo>
                <a:lnTo>
                  <a:pt x="668" y="621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8376450" y="3709987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>
            <a:off x="3042450" y="3024187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7" name="Text Box 33"/>
          <p:cNvSpPr txBox="1">
            <a:spLocks noChangeArrowheads="1"/>
          </p:cNvSpPr>
          <p:nvPr/>
        </p:nvSpPr>
        <p:spPr bwMode="auto">
          <a:xfrm>
            <a:off x="5404650" y="2790825"/>
            <a:ext cx="1200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原始数据</a:t>
            </a: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2280450" y="5462587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35"/>
          <p:cNvSpPr>
            <a:spLocks noChangeArrowheads="1"/>
          </p:cNvSpPr>
          <p:nvPr/>
        </p:nvSpPr>
        <p:spPr bwMode="auto">
          <a:xfrm>
            <a:off x="10129050" y="4700587"/>
            <a:ext cx="4572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EOT</a:t>
            </a:r>
          </a:p>
        </p:txBody>
      </p:sp>
      <p:sp>
        <p:nvSpPr>
          <p:cNvPr id="21540" name="Rectangle 36"/>
          <p:cNvSpPr>
            <a:spLocks noChangeArrowheads="1"/>
          </p:cNvSpPr>
          <p:nvPr/>
        </p:nvSpPr>
        <p:spPr bwMode="auto">
          <a:xfrm>
            <a:off x="9062250" y="3252787"/>
            <a:ext cx="457200" cy="4572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EOT</a:t>
            </a: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4874425" y="5226050"/>
            <a:ext cx="3232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经过字节填充后发送的数据</a:t>
            </a:r>
          </a:p>
        </p:txBody>
      </p:sp>
      <p:sp>
        <p:nvSpPr>
          <p:cNvPr id="40" name="Text Box 38"/>
          <p:cNvSpPr txBox="1">
            <a:spLocks noChangeArrowheads="1"/>
          </p:cNvSpPr>
          <p:nvPr/>
        </p:nvSpPr>
        <p:spPr bwMode="auto">
          <a:xfrm>
            <a:off x="8293900" y="3967163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字节填充</a:t>
            </a:r>
          </a:p>
        </p:txBody>
      </p: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6409537" y="3967163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字节填充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4466437" y="3967163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字节填充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2737650" y="3967163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字节填充</a:t>
            </a:r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1850237" y="5170487"/>
            <a:ext cx="0" cy="3556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1513687" y="5476875"/>
            <a:ext cx="692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发送</a:t>
            </a:r>
          </a:p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在前</a:t>
            </a:r>
          </a:p>
        </p:txBody>
      </p:sp>
      <p:sp>
        <p:nvSpPr>
          <p:cNvPr id="21548" name="Line 44"/>
          <p:cNvSpPr>
            <a:spLocks noChangeShapeType="1"/>
          </p:cNvSpPr>
          <p:nvPr/>
        </p:nvSpPr>
        <p:spPr bwMode="auto">
          <a:xfrm>
            <a:off x="2836075" y="292258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9" name="Text Box 45"/>
          <p:cNvSpPr txBox="1">
            <a:spLocks noChangeArrowheads="1"/>
          </p:cNvSpPr>
          <p:nvPr/>
        </p:nvSpPr>
        <p:spPr bwMode="auto">
          <a:xfrm>
            <a:off x="2377287" y="2565400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帧开始符</a:t>
            </a:r>
          </a:p>
        </p:txBody>
      </p:sp>
      <p:sp>
        <p:nvSpPr>
          <p:cNvPr id="21550" name="Text Box 46"/>
          <p:cNvSpPr txBox="1">
            <a:spLocks noChangeArrowheads="1"/>
          </p:cNvSpPr>
          <p:nvPr/>
        </p:nvSpPr>
        <p:spPr bwMode="auto">
          <a:xfrm>
            <a:off x="8797137" y="2565400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帧结束符</a:t>
            </a:r>
          </a:p>
        </p:txBody>
      </p:sp>
      <p:sp>
        <p:nvSpPr>
          <p:cNvPr id="21551" name="Line 47"/>
          <p:cNvSpPr>
            <a:spLocks noChangeShapeType="1"/>
          </p:cNvSpPr>
          <p:nvPr/>
        </p:nvSpPr>
        <p:spPr bwMode="auto">
          <a:xfrm>
            <a:off x="9313075" y="292258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AutoShape 48"/>
          <p:cNvSpPr>
            <a:spLocks noChangeArrowheads="1"/>
          </p:cNvSpPr>
          <p:nvPr/>
        </p:nvSpPr>
        <p:spPr bwMode="auto">
          <a:xfrm>
            <a:off x="3098013" y="4378324"/>
            <a:ext cx="225425" cy="431800"/>
          </a:xfrm>
          <a:prstGeom prst="downArrow">
            <a:avLst>
              <a:gd name="adj1" fmla="val 39435"/>
              <a:gd name="adj2" fmla="val 90143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1" name="AutoShape 49"/>
          <p:cNvSpPr>
            <a:spLocks noChangeArrowheads="1"/>
          </p:cNvSpPr>
          <p:nvPr/>
        </p:nvSpPr>
        <p:spPr bwMode="auto">
          <a:xfrm>
            <a:off x="4888713" y="4378324"/>
            <a:ext cx="225425" cy="431800"/>
          </a:xfrm>
          <a:prstGeom prst="downArrow">
            <a:avLst>
              <a:gd name="adj1" fmla="val 39435"/>
              <a:gd name="adj2" fmla="val 90143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2" name="AutoShape 50"/>
          <p:cNvSpPr>
            <a:spLocks noChangeArrowheads="1"/>
          </p:cNvSpPr>
          <p:nvPr/>
        </p:nvSpPr>
        <p:spPr bwMode="auto">
          <a:xfrm>
            <a:off x="6904838" y="4378324"/>
            <a:ext cx="225425" cy="431800"/>
          </a:xfrm>
          <a:prstGeom prst="downArrow">
            <a:avLst>
              <a:gd name="adj1" fmla="val 39435"/>
              <a:gd name="adj2" fmla="val 90143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AutoShape 51"/>
          <p:cNvSpPr>
            <a:spLocks noChangeArrowheads="1"/>
          </p:cNvSpPr>
          <p:nvPr/>
        </p:nvSpPr>
        <p:spPr bwMode="auto">
          <a:xfrm>
            <a:off x="8643151" y="4378324"/>
            <a:ext cx="225425" cy="431800"/>
          </a:xfrm>
          <a:prstGeom prst="downArrow">
            <a:avLst>
              <a:gd name="adj1" fmla="val 39435"/>
              <a:gd name="adj2" fmla="val 90143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1556" name="Rectangle 13"/>
          <p:cNvSpPr>
            <a:spLocks noChangeArrowheads="1"/>
          </p:cNvSpPr>
          <p:nvPr/>
        </p:nvSpPr>
        <p:spPr bwMode="auto">
          <a:xfrm>
            <a:off x="5099850" y="3252787"/>
            <a:ext cx="4572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160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SOH</a:t>
            </a:r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BB5268AD-5E27-48BB-92CD-A9EEE0533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80" y="39142"/>
            <a:ext cx="646744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/>
              <a:t>组帧的方法</a:t>
            </a:r>
            <a:r>
              <a:rPr lang="en-US" altLang="zh-CN" sz="2800" kern="0" dirty="0"/>
              <a:t>-</a:t>
            </a:r>
            <a:r>
              <a:rPr lang="zh-CN" altLang="en-US" sz="2800" kern="0" dirty="0"/>
              <a:t>字符填充的首尾定界符法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9" grpId="0" animBg="1"/>
      <p:bldP spid="40" grpId="0"/>
      <p:bldP spid="41" grpId="0"/>
      <p:bldP spid="42" grpId="0"/>
      <p:bldP spid="43" grpId="0"/>
      <p:bldP spid="44" grpId="0" animBg="1"/>
      <p:bldP spid="45" grpId="0"/>
      <p:bldP spid="50" grpId="0" animBg="1"/>
      <p:bldP spid="51" grpId="0" animBg="1"/>
      <p:bldP spid="52" grpId="0" animBg="1"/>
      <p:bldP spid="5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5"/>
          <p:cNvSpPr txBox="1">
            <a:spLocks noChangeArrowheads="1"/>
          </p:cNvSpPr>
          <p:nvPr/>
        </p:nvSpPr>
        <p:spPr bwMode="auto">
          <a:xfrm>
            <a:off x="263352" y="918790"/>
            <a:ext cx="11521280" cy="2523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使用一个特定的比特模式</a:t>
            </a:r>
            <a:r>
              <a:rPr lang="en-US" altLang="zh-CN" sz="2600" dirty="0">
                <a:solidFill>
                  <a:srgbClr val="24292E"/>
                </a:solidFill>
                <a:latin typeface="-apple-system"/>
              </a:rPr>
              <a:t>(</a:t>
            </a:r>
            <a:r>
              <a:rPr lang="en-US" altLang="zh-CN" sz="2600" b="1" dirty="0">
                <a:solidFill>
                  <a:srgbClr val="24292E"/>
                </a:solidFill>
                <a:latin typeface="-apple-system"/>
              </a:rPr>
              <a:t>01111110)</a:t>
            </a:r>
            <a:r>
              <a:rPr lang="zh-CN" altLang="en-US" sz="2600" b="1" dirty="0">
                <a:solidFill>
                  <a:srgbClr val="24292E"/>
                </a:solidFill>
                <a:latin typeface="-apple-system"/>
              </a:rPr>
              <a:t>来标志一帧的开始和结束</a:t>
            </a: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。</a:t>
            </a:r>
            <a:endParaRPr lang="en-US" altLang="zh-CN" sz="2600" dirty="0">
              <a:solidFill>
                <a:srgbClr val="24292E"/>
              </a:solidFill>
              <a:latin typeface="-apple-system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为了不使信息位中出现的比特流</a:t>
            </a:r>
            <a:r>
              <a:rPr lang="en-US" altLang="zh-CN" sz="2600" dirty="0">
                <a:solidFill>
                  <a:srgbClr val="24292E"/>
                </a:solidFill>
                <a:latin typeface="-apple-system"/>
              </a:rPr>
              <a:t>01111110</a:t>
            </a: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被误判为帧的首尾标志，发送方的数据链路层在信息位中</a:t>
            </a:r>
            <a:r>
              <a:rPr lang="zh-CN" altLang="en-US" sz="2600" b="1" dirty="0">
                <a:solidFill>
                  <a:srgbClr val="24292E"/>
                </a:solidFill>
                <a:latin typeface="-apple-system"/>
              </a:rPr>
              <a:t>遇到</a:t>
            </a:r>
            <a:r>
              <a:rPr lang="en-US" altLang="zh-CN" sz="2600" b="1" dirty="0">
                <a:solidFill>
                  <a:srgbClr val="24292E"/>
                </a:solidFill>
                <a:latin typeface="-apple-system"/>
              </a:rPr>
              <a:t>5</a:t>
            </a:r>
            <a:r>
              <a:rPr lang="zh-CN" altLang="en-US" sz="2600" b="1" dirty="0">
                <a:solidFill>
                  <a:srgbClr val="24292E"/>
                </a:solidFill>
                <a:latin typeface="-apple-system"/>
              </a:rPr>
              <a:t>个连续的“</a:t>
            </a:r>
            <a:r>
              <a:rPr lang="en-US" altLang="zh-CN" sz="2600" b="1" dirty="0">
                <a:solidFill>
                  <a:srgbClr val="24292E"/>
                </a:solidFill>
                <a:latin typeface="-apple-system"/>
              </a:rPr>
              <a:t>1”</a:t>
            </a:r>
            <a:r>
              <a:rPr lang="zh-CN" altLang="en-US" sz="2600" b="1" dirty="0">
                <a:solidFill>
                  <a:srgbClr val="24292E"/>
                </a:solidFill>
                <a:latin typeface="-apple-system"/>
              </a:rPr>
              <a:t>时，将自动在其后插入一个“</a:t>
            </a:r>
            <a:r>
              <a:rPr lang="en-US" altLang="zh-CN" sz="2600" b="1" dirty="0">
                <a:solidFill>
                  <a:srgbClr val="24292E"/>
                </a:solidFill>
                <a:latin typeface="-apple-system"/>
              </a:rPr>
              <a:t>0”</a:t>
            </a:r>
            <a:r>
              <a:rPr lang="en-US" altLang="zh-CN" sz="2600" dirty="0">
                <a:solidFill>
                  <a:srgbClr val="24292E"/>
                </a:solidFill>
                <a:latin typeface="-apple-system"/>
              </a:rPr>
              <a:t>;</a:t>
            </a: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而接收方做该过程的逆操作，即每收到</a:t>
            </a:r>
            <a:r>
              <a:rPr lang="en-US" altLang="zh-CN" sz="2600" dirty="0">
                <a:solidFill>
                  <a:srgbClr val="24292E"/>
                </a:solidFill>
                <a:latin typeface="-apple-system"/>
              </a:rPr>
              <a:t>5</a:t>
            </a: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个连续的“</a:t>
            </a:r>
            <a:r>
              <a:rPr lang="en-US" altLang="zh-CN" sz="2600" dirty="0">
                <a:solidFill>
                  <a:srgbClr val="24292E"/>
                </a:solidFill>
                <a:latin typeface="-apple-system"/>
              </a:rPr>
              <a:t>1”</a:t>
            </a: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时，自动删除后面紧跟的“</a:t>
            </a:r>
            <a:r>
              <a:rPr lang="en-US" altLang="zh-CN" sz="2600" dirty="0">
                <a:solidFill>
                  <a:srgbClr val="24292E"/>
                </a:solidFill>
                <a:latin typeface="-apple-system"/>
              </a:rPr>
              <a:t>0”</a:t>
            </a:r>
            <a:r>
              <a:rPr lang="zh-CN" altLang="en-US" sz="2600" dirty="0">
                <a:solidFill>
                  <a:srgbClr val="24292E"/>
                </a:solidFill>
                <a:latin typeface="-apple-system"/>
              </a:rPr>
              <a:t>，以恢复原信息。</a:t>
            </a:r>
            <a:endParaRPr lang="en-US" altLang="zh-CN" sz="2600" dirty="0">
              <a:solidFill>
                <a:srgbClr val="24292E"/>
              </a:solidFill>
              <a:latin typeface="-apple-system"/>
            </a:endParaRPr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BB5268AD-5E27-48BB-92CD-A9EEE0533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34234"/>
            <a:ext cx="646744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/>
              <a:t>组帧的方法</a:t>
            </a:r>
            <a:r>
              <a:rPr lang="en-US" altLang="zh-CN" sz="2800" kern="0" dirty="0"/>
              <a:t>-</a:t>
            </a:r>
            <a:r>
              <a:rPr lang="zh-CN" altLang="en-US" sz="2800" kern="0" dirty="0"/>
              <a:t>零比特填充的首尾标志法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57879E-5C21-4111-80BD-1F7A1B73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3686245"/>
            <a:ext cx="10003921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84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5"/>
          <p:cNvSpPr txBox="1">
            <a:spLocks noChangeArrowheads="1"/>
          </p:cNvSpPr>
          <p:nvPr/>
        </p:nvSpPr>
        <p:spPr bwMode="auto">
          <a:xfrm>
            <a:off x="274167" y="1052736"/>
            <a:ext cx="11643666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         在物理层进行比特编码时，通常采用违规编码法。如，曼彻斯特编码方法将数据比特“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1”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编码成“高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-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低”电平对，将数据比特“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0”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编码成“低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-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高”电平对，而“高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-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高”电平对和“低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-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低”电平对在数据比特中是违规的（即没有采用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)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。可以</a:t>
            </a:r>
            <a:r>
              <a:rPr lang="zh-CN" altLang="en-US" sz="2500" b="1" dirty="0">
                <a:solidFill>
                  <a:srgbClr val="24292E"/>
                </a:solidFill>
                <a:latin typeface="-apple-system"/>
              </a:rPr>
              <a:t>借用这些违规编码序列来定界帧的起始和终止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。局域网</a:t>
            </a:r>
            <a:r>
              <a:rPr lang="en-US" altLang="zh-CN" sz="2500" dirty="0">
                <a:solidFill>
                  <a:srgbClr val="24292E"/>
                </a:solidFill>
                <a:latin typeface="-apple-system"/>
              </a:rPr>
              <a:t>IEEE 802</a:t>
            </a:r>
            <a:r>
              <a:rPr lang="zh-CN" altLang="en-US" sz="2500" dirty="0">
                <a:solidFill>
                  <a:srgbClr val="24292E"/>
                </a:solidFill>
                <a:latin typeface="-apple-system"/>
              </a:rPr>
              <a:t>标准就采用了这种方法。</a:t>
            </a:r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BB5268AD-5E27-48BB-92CD-A9EEE0533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44624"/>
            <a:ext cx="396044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/>
              <a:t>组帧的方法</a:t>
            </a:r>
            <a:r>
              <a:rPr lang="en-US" altLang="zh-CN" sz="2800" kern="0" dirty="0"/>
              <a:t>-</a:t>
            </a:r>
            <a:r>
              <a:rPr lang="zh-CN" altLang="en-US" sz="2800" kern="0" dirty="0"/>
              <a:t>违规编码法</a:t>
            </a:r>
          </a:p>
        </p:txBody>
      </p:sp>
    </p:spTree>
    <p:extLst>
      <p:ext uri="{BB962C8B-B14F-4D97-AF65-F5344CB8AC3E}">
        <p14:creationId xmlns:p14="http://schemas.microsoft.com/office/powerpoint/2010/main" val="738598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B0A0C9F-FABA-493A-B42E-99714D4313FD}"/>
              </a:ext>
            </a:extLst>
          </p:cNvPr>
          <p:cNvSpPr txBox="1"/>
          <p:nvPr/>
        </p:nvSpPr>
        <p:spPr>
          <a:xfrm>
            <a:off x="551384" y="1124744"/>
            <a:ext cx="11161240" cy="227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HDLC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协议对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01111100 011111 10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帧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后，对应的比特串为（ ）</a:t>
            </a: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 01111100 00111110 10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 01111100 01111101 01111110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 01111100 01111101 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 01111100 01111110 01111101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261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2958" y="1082732"/>
            <a:ext cx="10905610" cy="823913"/>
          </a:xfrm>
        </p:spPr>
        <p:txBody>
          <a:bodyPr/>
          <a:lstStyle/>
          <a:p>
            <a:pPr eaLnBrk="1" hangingPunct="1"/>
            <a:r>
              <a:rPr lang="zh-CN" altLang="en-US" sz="2400" b="1" u="sng" dirty="0">
                <a:solidFill>
                  <a:srgbClr val="000099"/>
                </a:solidFill>
                <a:ea typeface="黑体" panose="02010609060101010101" pitchFamily="49" charset="-122"/>
              </a:rPr>
              <a:t>传输差错：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通过通信信道后接收的数据与发送数据不一致的现象。</a:t>
            </a:r>
            <a:br>
              <a:rPr lang="zh-CN" altLang="en-US" sz="2400" b="1" u="sng" dirty="0">
                <a:solidFill>
                  <a:srgbClr val="000099"/>
                </a:solidFill>
                <a:ea typeface="黑体" panose="02010609060101010101" pitchFamily="49" charset="-122"/>
              </a:rPr>
            </a:br>
            <a:endParaRPr lang="zh-CN" altLang="en-US" sz="2400" b="1" u="sng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3900488" y="10048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22532" name="Group 7"/>
          <p:cNvGrpSpPr>
            <a:grpSpLocks noChangeAspect="1"/>
          </p:cNvGrpSpPr>
          <p:nvPr/>
        </p:nvGrpSpPr>
        <p:grpSpPr bwMode="auto">
          <a:xfrm>
            <a:off x="4480594" y="1838830"/>
            <a:ext cx="7232030" cy="4758521"/>
            <a:chOff x="1111" y="210"/>
            <a:chExt cx="4649" cy="3884"/>
          </a:xfrm>
        </p:grpSpPr>
        <p:sp>
          <p:nvSpPr>
            <p:cNvPr id="22536" name="AutoShape 6"/>
            <p:cNvSpPr>
              <a:spLocks noChangeAspect="1" noChangeArrowheads="1" noTextEdit="1"/>
            </p:cNvSpPr>
            <p:nvPr/>
          </p:nvSpPr>
          <p:spPr bwMode="auto">
            <a:xfrm>
              <a:off x="1111" y="210"/>
              <a:ext cx="4649" cy="388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37" name="Group 208"/>
            <p:cNvGrpSpPr>
              <a:grpSpLocks/>
            </p:cNvGrpSpPr>
            <p:nvPr/>
          </p:nvGrpSpPr>
          <p:grpSpPr bwMode="auto">
            <a:xfrm>
              <a:off x="1188" y="227"/>
              <a:ext cx="4546" cy="3638"/>
              <a:chOff x="1188" y="227"/>
              <a:chExt cx="4546" cy="3638"/>
            </a:xfrm>
          </p:grpSpPr>
          <p:sp>
            <p:nvSpPr>
              <p:cNvPr id="22539" name="Rectangle 8"/>
              <p:cNvSpPr>
                <a:spLocks noChangeArrowheads="1"/>
              </p:cNvSpPr>
              <p:nvPr/>
            </p:nvSpPr>
            <p:spPr bwMode="auto">
              <a:xfrm>
                <a:off x="1982" y="227"/>
                <a:ext cx="484" cy="183"/>
              </a:xfrm>
              <a:prstGeom prst="rect">
                <a:avLst/>
              </a:prstGeom>
              <a:solidFill>
                <a:srgbClr val="E6E6E6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40" name="Rectangle 9"/>
              <p:cNvSpPr>
                <a:spLocks noChangeArrowheads="1"/>
              </p:cNvSpPr>
              <p:nvPr/>
            </p:nvSpPr>
            <p:spPr bwMode="auto">
              <a:xfrm>
                <a:off x="2101" y="266"/>
                <a:ext cx="25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信源</a:t>
                </a:r>
                <a:endParaRPr lang="zh-CN" altLang="en-US"/>
              </a:p>
            </p:txBody>
          </p:sp>
          <p:sp>
            <p:nvSpPr>
              <p:cNvPr id="22541" name="Rectangle 10"/>
              <p:cNvSpPr>
                <a:spLocks noChangeArrowheads="1"/>
              </p:cNvSpPr>
              <p:nvPr/>
            </p:nvSpPr>
            <p:spPr bwMode="auto">
              <a:xfrm>
                <a:off x="3192" y="227"/>
                <a:ext cx="726" cy="183"/>
              </a:xfrm>
              <a:prstGeom prst="rect">
                <a:avLst/>
              </a:prstGeom>
              <a:solidFill>
                <a:srgbClr val="E6E6E6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42" name="Rectangle 11"/>
              <p:cNvSpPr>
                <a:spLocks noChangeArrowheads="1"/>
              </p:cNvSpPr>
              <p:nvPr/>
            </p:nvSpPr>
            <p:spPr bwMode="auto">
              <a:xfrm>
                <a:off x="3308" y="266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通信信道</a:t>
                </a:r>
                <a:endParaRPr lang="zh-CN" altLang="en-US"/>
              </a:p>
            </p:txBody>
          </p:sp>
          <p:sp>
            <p:nvSpPr>
              <p:cNvPr id="22543" name="Rectangle 12"/>
              <p:cNvSpPr>
                <a:spLocks noChangeArrowheads="1"/>
              </p:cNvSpPr>
              <p:nvPr/>
            </p:nvSpPr>
            <p:spPr bwMode="auto">
              <a:xfrm>
                <a:off x="4644" y="227"/>
                <a:ext cx="484" cy="183"/>
              </a:xfrm>
              <a:prstGeom prst="rect">
                <a:avLst/>
              </a:prstGeom>
              <a:solidFill>
                <a:srgbClr val="E6E6E6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44" name="Rectangle 13"/>
              <p:cNvSpPr>
                <a:spLocks noChangeArrowheads="1"/>
              </p:cNvSpPr>
              <p:nvPr/>
            </p:nvSpPr>
            <p:spPr bwMode="auto">
              <a:xfrm>
                <a:off x="4763" y="266"/>
                <a:ext cx="25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信宿</a:t>
                </a:r>
                <a:endParaRPr lang="zh-CN" altLang="en-US"/>
              </a:p>
            </p:txBody>
          </p:sp>
          <p:sp>
            <p:nvSpPr>
              <p:cNvPr id="22545" name="Line 14"/>
              <p:cNvSpPr>
                <a:spLocks noChangeShapeType="1"/>
              </p:cNvSpPr>
              <p:nvPr/>
            </p:nvSpPr>
            <p:spPr bwMode="auto">
              <a:xfrm>
                <a:off x="3918" y="320"/>
                <a:ext cx="67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6" name="Freeform 15"/>
              <p:cNvSpPr>
                <a:spLocks noChangeArrowheads="1"/>
              </p:cNvSpPr>
              <p:nvPr/>
            </p:nvSpPr>
            <p:spPr bwMode="auto">
              <a:xfrm>
                <a:off x="4576" y="293"/>
                <a:ext cx="68" cy="51"/>
              </a:xfrm>
              <a:custGeom>
                <a:avLst/>
                <a:gdLst>
                  <a:gd name="T0" fmla="*/ 68 w 68"/>
                  <a:gd name="T1" fmla="*/ 27 h 51"/>
                  <a:gd name="T2" fmla="*/ 0 w 68"/>
                  <a:gd name="T3" fmla="*/ 51 h 51"/>
                  <a:gd name="T4" fmla="*/ 3 w 68"/>
                  <a:gd name="T5" fmla="*/ 49 h 51"/>
                  <a:gd name="T6" fmla="*/ 3 w 68"/>
                  <a:gd name="T7" fmla="*/ 44 h 51"/>
                  <a:gd name="T8" fmla="*/ 6 w 68"/>
                  <a:gd name="T9" fmla="*/ 42 h 51"/>
                  <a:gd name="T10" fmla="*/ 6 w 68"/>
                  <a:gd name="T11" fmla="*/ 37 h 51"/>
                  <a:gd name="T12" fmla="*/ 6 w 68"/>
                  <a:gd name="T13" fmla="*/ 32 h 51"/>
                  <a:gd name="T14" fmla="*/ 10 w 68"/>
                  <a:gd name="T15" fmla="*/ 29 h 51"/>
                  <a:gd name="T16" fmla="*/ 10 w 68"/>
                  <a:gd name="T17" fmla="*/ 24 h 51"/>
                  <a:gd name="T18" fmla="*/ 6 w 68"/>
                  <a:gd name="T19" fmla="*/ 20 h 51"/>
                  <a:gd name="T20" fmla="*/ 6 w 68"/>
                  <a:gd name="T21" fmla="*/ 17 h 51"/>
                  <a:gd name="T22" fmla="*/ 6 w 68"/>
                  <a:gd name="T23" fmla="*/ 12 h 51"/>
                  <a:gd name="T24" fmla="*/ 3 w 68"/>
                  <a:gd name="T25" fmla="*/ 7 h 51"/>
                  <a:gd name="T26" fmla="*/ 3 w 68"/>
                  <a:gd name="T27" fmla="*/ 5 h 51"/>
                  <a:gd name="T28" fmla="*/ 0 w 68"/>
                  <a:gd name="T29" fmla="*/ 0 h 51"/>
                  <a:gd name="T30" fmla="*/ 68 w 68"/>
                  <a:gd name="T31" fmla="*/ 27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8" h="51">
                    <a:moveTo>
                      <a:pt x="68" y="27"/>
                    </a:moveTo>
                    <a:lnTo>
                      <a:pt x="0" y="51"/>
                    </a:lnTo>
                    <a:lnTo>
                      <a:pt x="3" y="49"/>
                    </a:lnTo>
                    <a:lnTo>
                      <a:pt x="3" y="44"/>
                    </a:lnTo>
                    <a:lnTo>
                      <a:pt x="6" y="42"/>
                    </a:lnTo>
                    <a:lnTo>
                      <a:pt x="6" y="37"/>
                    </a:lnTo>
                    <a:lnTo>
                      <a:pt x="6" y="32"/>
                    </a:lnTo>
                    <a:lnTo>
                      <a:pt x="10" y="29"/>
                    </a:lnTo>
                    <a:lnTo>
                      <a:pt x="10" y="24"/>
                    </a:lnTo>
                    <a:lnTo>
                      <a:pt x="6" y="20"/>
                    </a:lnTo>
                    <a:lnTo>
                      <a:pt x="6" y="17"/>
                    </a:lnTo>
                    <a:lnTo>
                      <a:pt x="6" y="12"/>
                    </a:lnTo>
                    <a:lnTo>
                      <a:pt x="3" y="7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68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7" name="Line 16"/>
              <p:cNvSpPr>
                <a:spLocks noChangeShapeType="1"/>
              </p:cNvSpPr>
              <p:nvPr/>
            </p:nvSpPr>
            <p:spPr bwMode="auto">
              <a:xfrm>
                <a:off x="2466" y="320"/>
                <a:ext cx="674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8" name="Freeform 17"/>
              <p:cNvSpPr>
                <a:spLocks noChangeArrowheads="1"/>
              </p:cNvSpPr>
              <p:nvPr/>
            </p:nvSpPr>
            <p:spPr bwMode="auto">
              <a:xfrm>
                <a:off x="3124" y="293"/>
                <a:ext cx="68" cy="51"/>
              </a:xfrm>
              <a:custGeom>
                <a:avLst/>
                <a:gdLst>
                  <a:gd name="T0" fmla="*/ 68 w 68"/>
                  <a:gd name="T1" fmla="*/ 27 h 51"/>
                  <a:gd name="T2" fmla="*/ 0 w 68"/>
                  <a:gd name="T3" fmla="*/ 51 h 51"/>
                  <a:gd name="T4" fmla="*/ 3 w 68"/>
                  <a:gd name="T5" fmla="*/ 49 h 51"/>
                  <a:gd name="T6" fmla="*/ 3 w 68"/>
                  <a:gd name="T7" fmla="*/ 44 h 51"/>
                  <a:gd name="T8" fmla="*/ 7 w 68"/>
                  <a:gd name="T9" fmla="*/ 42 h 51"/>
                  <a:gd name="T10" fmla="*/ 7 w 68"/>
                  <a:gd name="T11" fmla="*/ 37 h 51"/>
                  <a:gd name="T12" fmla="*/ 7 w 68"/>
                  <a:gd name="T13" fmla="*/ 32 h 51"/>
                  <a:gd name="T14" fmla="*/ 7 w 68"/>
                  <a:gd name="T15" fmla="*/ 29 h 51"/>
                  <a:gd name="T16" fmla="*/ 7 w 68"/>
                  <a:gd name="T17" fmla="*/ 24 h 51"/>
                  <a:gd name="T18" fmla="*/ 7 w 68"/>
                  <a:gd name="T19" fmla="*/ 20 h 51"/>
                  <a:gd name="T20" fmla="*/ 7 w 68"/>
                  <a:gd name="T21" fmla="*/ 17 h 51"/>
                  <a:gd name="T22" fmla="*/ 7 w 68"/>
                  <a:gd name="T23" fmla="*/ 12 h 51"/>
                  <a:gd name="T24" fmla="*/ 3 w 68"/>
                  <a:gd name="T25" fmla="*/ 7 h 51"/>
                  <a:gd name="T26" fmla="*/ 3 w 68"/>
                  <a:gd name="T27" fmla="*/ 5 h 51"/>
                  <a:gd name="T28" fmla="*/ 0 w 68"/>
                  <a:gd name="T29" fmla="*/ 0 h 51"/>
                  <a:gd name="T30" fmla="*/ 68 w 68"/>
                  <a:gd name="T31" fmla="*/ 27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8" h="51">
                    <a:moveTo>
                      <a:pt x="68" y="27"/>
                    </a:moveTo>
                    <a:lnTo>
                      <a:pt x="0" y="51"/>
                    </a:lnTo>
                    <a:lnTo>
                      <a:pt x="3" y="49"/>
                    </a:lnTo>
                    <a:lnTo>
                      <a:pt x="3" y="44"/>
                    </a:lnTo>
                    <a:lnTo>
                      <a:pt x="7" y="42"/>
                    </a:lnTo>
                    <a:lnTo>
                      <a:pt x="7" y="37"/>
                    </a:lnTo>
                    <a:lnTo>
                      <a:pt x="7" y="32"/>
                    </a:lnTo>
                    <a:lnTo>
                      <a:pt x="7" y="29"/>
                    </a:lnTo>
                    <a:lnTo>
                      <a:pt x="7" y="24"/>
                    </a:lnTo>
                    <a:lnTo>
                      <a:pt x="7" y="20"/>
                    </a:lnTo>
                    <a:lnTo>
                      <a:pt x="7" y="17"/>
                    </a:lnTo>
                    <a:lnTo>
                      <a:pt x="7" y="12"/>
                    </a:lnTo>
                    <a:lnTo>
                      <a:pt x="3" y="7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68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9" name="Line 18"/>
              <p:cNvSpPr>
                <a:spLocks noChangeShapeType="1"/>
              </p:cNvSpPr>
              <p:nvPr/>
            </p:nvSpPr>
            <p:spPr bwMode="auto">
              <a:xfrm>
                <a:off x="3556" y="449"/>
                <a:ext cx="0" cy="3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0" name="Line 19"/>
              <p:cNvSpPr>
                <a:spLocks noChangeShapeType="1"/>
              </p:cNvSpPr>
              <p:nvPr/>
            </p:nvSpPr>
            <p:spPr bwMode="auto">
              <a:xfrm>
                <a:off x="3556" y="508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1" name="Line 20"/>
              <p:cNvSpPr>
                <a:spLocks noChangeShapeType="1"/>
              </p:cNvSpPr>
              <p:nvPr/>
            </p:nvSpPr>
            <p:spPr bwMode="auto">
              <a:xfrm>
                <a:off x="3556" y="566"/>
                <a:ext cx="0" cy="2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2" name="Freeform 21"/>
              <p:cNvSpPr>
                <a:spLocks noChangeArrowheads="1"/>
              </p:cNvSpPr>
              <p:nvPr/>
            </p:nvSpPr>
            <p:spPr bwMode="auto">
              <a:xfrm>
                <a:off x="3521" y="410"/>
                <a:ext cx="68" cy="51"/>
              </a:xfrm>
              <a:custGeom>
                <a:avLst/>
                <a:gdLst>
                  <a:gd name="T0" fmla="*/ 35 w 68"/>
                  <a:gd name="T1" fmla="*/ 0 h 51"/>
                  <a:gd name="T2" fmla="*/ 68 w 68"/>
                  <a:gd name="T3" fmla="*/ 51 h 51"/>
                  <a:gd name="T4" fmla="*/ 61 w 68"/>
                  <a:gd name="T5" fmla="*/ 51 h 51"/>
                  <a:gd name="T6" fmla="*/ 58 w 68"/>
                  <a:gd name="T7" fmla="*/ 49 h 51"/>
                  <a:gd name="T8" fmla="*/ 52 w 68"/>
                  <a:gd name="T9" fmla="*/ 47 h 51"/>
                  <a:gd name="T10" fmla="*/ 48 w 68"/>
                  <a:gd name="T11" fmla="*/ 47 h 51"/>
                  <a:gd name="T12" fmla="*/ 42 w 68"/>
                  <a:gd name="T13" fmla="*/ 47 h 51"/>
                  <a:gd name="T14" fmla="*/ 35 w 68"/>
                  <a:gd name="T15" fmla="*/ 47 h 51"/>
                  <a:gd name="T16" fmla="*/ 32 w 68"/>
                  <a:gd name="T17" fmla="*/ 47 h 51"/>
                  <a:gd name="T18" fmla="*/ 26 w 68"/>
                  <a:gd name="T19" fmla="*/ 47 h 51"/>
                  <a:gd name="T20" fmla="*/ 19 w 68"/>
                  <a:gd name="T21" fmla="*/ 47 h 51"/>
                  <a:gd name="T22" fmla="*/ 16 w 68"/>
                  <a:gd name="T23" fmla="*/ 47 h 51"/>
                  <a:gd name="T24" fmla="*/ 10 w 68"/>
                  <a:gd name="T25" fmla="*/ 49 h 51"/>
                  <a:gd name="T26" fmla="*/ 6 w 68"/>
                  <a:gd name="T27" fmla="*/ 51 h 51"/>
                  <a:gd name="T28" fmla="*/ 0 w 68"/>
                  <a:gd name="T29" fmla="*/ 51 h 51"/>
                  <a:gd name="T30" fmla="*/ 35 w 68"/>
                  <a:gd name="T31" fmla="*/ 0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8" h="51">
                    <a:moveTo>
                      <a:pt x="35" y="0"/>
                    </a:moveTo>
                    <a:lnTo>
                      <a:pt x="68" y="51"/>
                    </a:lnTo>
                    <a:lnTo>
                      <a:pt x="61" y="51"/>
                    </a:lnTo>
                    <a:lnTo>
                      <a:pt x="58" y="49"/>
                    </a:lnTo>
                    <a:lnTo>
                      <a:pt x="52" y="47"/>
                    </a:lnTo>
                    <a:lnTo>
                      <a:pt x="48" y="47"/>
                    </a:lnTo>
                    <a:lnTo>
                      <a:pt x="42" y="47"/>
                    </a:lnTo>
                    <a:lnTo>
                      <a:pt x="35" y="47"/>
                    </a:lnTo>
                    <a:lnTo>
                      <a:pt x="32" y="47"/>
                    </a:lnTo>
                    <a:lnTo>
                      <a:pt x="26" y="47"/>
                    </a:lnTo>
                    <a:lnTo>
                      <a:pt x="19" y="47"/>
                    </a:lnTo>
                    <a:lnTo>
                      <a:pt x="16" y="47"/>
                    </a:lnTo>
                    <a:lnTo>
                      <a:pt x="10" y="49"/>
                    </a:lnTo>
                    <a:lnTo>
                      <a:pt x="6" y="51"/>
                    </a:lnTo>
                    <a:lnTo>
                      <a:pt x="0" y="5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3" name="Line 22"/>
              <p:cNvSpPr>
                <a:spLocks noChangeShapeType="1"/>
              </p:cNvSpPr>
              <p:nvPr/>
            </p:nvSpPr>
            <p:spPr bwMode="auto">
              <a:xfrm flipV="1">
                <a:off x="2827" y="564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4" name="Line 23"/>
              <p:cNvSpPr>
                <a:spLocks noChangeShapeType="1"/>
              </p:cNvSpPr>
              <p:nvPr/>
            </p:nvSpPr>
            <p:spPr bwMode="auto">
              <a:xfrm flipV="1">
                <a:off x="2827" y="505"/>
                <a:ext cx="0" cy="3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5" name="Line 24"/>
              <p:cNvSpPr>
                <a:spLocks noChangeShapeType="1"/>
              </p:cNvSpPr>
              <p:nvPr/>
            </p:nvSpPr>
            <p:spPr bwMode="auto">
              <a:xfrm flipV="1">
                <a:off x="2827" y="447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6" name="Line 25"/>
              <p:cNvSpPr>
                <a:spLocks noChangeShapeType="1"/>
              </p:cNvSpPr>
              <p:nvPr/>
            </p:nvSpPr>
            <p:spPr bwMode="auto">
              <a:xfrm flipV="1">
                <a:off x="2827" y="388"/>
                <a:ext cx="0" cy="3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7" name="Freeform 26"/>
              <p:cNvSpPr>
                <a:spLocks noChangeArrowheads="1"/>
              </p:cNvSpPr>
              <p:nvPr/>
            </p:nvSpPr>
            <p:spPr bwMode="auto">
              <a:xfrm>
                <a:off x="2795" y="320"/>
                <a:ext cx="68" cy="51"/>
              </a:xfrm>
              <a:custGeom>
                <a:avLst/>
                <a:gdLst>
                  <a:gd name="T0" fmla="*/ 32 w 68"/>
                  <a:gd name="T1" fmla="*/ 0 h 51"/>
                  <a:gd name="T2" fmla="*/ 68 w 68"/>
                  <a:gd name="T3" fmla="*/ 51 h 51"/>
                  <a:gd name="T4" fmla="*/ 61 w 68"/>
                  <a:gd name="T5" fmla="*/ 49 h 51"/>
                  <a:gd name="T6" fmla="*/ 58 w 68"/>
                  <a:gd name="T7" fmla="*/ 46 h 51"/>
                  <a:gd name="T8" fmla="*/ 52 w 68"/>
                  <a:gd name="T9" fmla="*/ 46 h 51"/>
                  <a:gd name="T10" fmla="*/ 48 w 68"/>
                  <a:gd name="T11" fmla="*/ 46 h 51"/>
                  <a:gd name="T12" fmla="*/ 42 w 68"/>
                  <a:gd name="T13" fmla="*/ 44 h 51"/>
                  <a:gd name="T14" fmla="*/ 36 w 68"/>
                  <a:gd name="T15" fmla="*/ 44 h 51"/>
                  <a:gd name="T16" fmla="*/ 32 w 68"/>
                  <a:gd name="T17" fmla="*/ 44 h 51"/>
                  <a:gd name="T18" fmla="*/ 26 w 68"/>
                  <a:gd name="T19" fmla="*/ 44 h 51"/>
                  <a:gd name="T20" fmla="*/ 19 w 68"/>
                  <a:gd name="T21" fmla="*/ 46 h 51"/>
                  <a:gd name="T22" fmla="*/ 16 w 68"/>
                  <a:gd name="T23" fmla="*/ 46 h 51"/>
                  <a:gd name="T24" fmla="*/ 10 w 68"/>
                  <a:gd name="T25" fmla="*/ 46 h 51"/>
                  <a:gd name="T26" fmla="*/ 3 w 68"/>
                  <a:gd name="T27" fmla="*/ 49 h 51"/>
                  <a:gd name="T28" fmla="*/ 0 w 68"/>
                  <a:gd name="T29" fmla="*/ 51 h 51"/>
                  <a:gd name="T30" fmla="*/ 32 w 68"/>
                  <a:gd name="T31" fmla="*/ 0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8" h="51">
                    <a:moveTo>
                      <a:pt x="32" y="0"/>
                    </a:moveTo>
                    <a:lnTo>
                      <a:pt x="68" y="51"/>
                    </a:lnTo>
                    <a:lnTo>
                      <a:pt x="61" y="49"/>
                    </a:lnTo>
                    <a:lnTo>
                      <a:pt x="58" y="46"/>
                    </a:lnTo>
                    <a:lnTo>
                      <a:pt x="52" y="46"/>
                    </a:lnTo>
                    <a:lnTo>
                      <a:pt x="48" y="46"/>
                    </a:lnTo>
                    <a:lnTo>
                      <a:pt x="42" y="44"/>
                    </a:lnTo>
                    <a:lnTo>
                      <a:pt x="36" y="44"/>
                    </a:lnTo>
                    <a:lnTo>
                      <a:pt x="32" y="44"/>
                    </a:lnTo>
                    <a:lnTo>
                      <a:pt x="26" y="44"/>
                    </a:lnTo>
                    <a:lnTo>
                      <a:pt x="19" y="46"/>
                    </a:lnTo>
                    <a:lnTo>
                      <a:pt x="16" y="46"/>
                    </a:lnTo>
                    <a:lnTo>
                      <a:pt x="10" y="46"/>
                    </a:lnTo>
                    <a:lnTo>
                      <a:pt x="3" y="49"/>
                    </a:lnTo>
                    <a:lnTo>
                      <a:pt x="0" y="51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8" name="Line 27"/>
              <p:cNvSpPr>
                <a:spLocks noChangeShapeType="1"/>
              </p:cNvSpPr>
              <p:nvPr/>
            </p:nvSpPr>
            <p:spPr bwMode="auto">
              <a:xfrm flipV="1">
                <a:off x="4282" y="564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9" name="Line 28"/>
              <p:cNvSpPr>
                <a:spLocks noChangeShapeType="1"/>
              </p:cNvSpPr>
              <p:nvPr/>
            </p:nvSpPr>
            <p:spPr bwMode="auto">
              <a:xfrm flipV="1">
                <a:off x="4282" y="505"/>
                <a:ext cx="0" cy="3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0" name="Line 29"/>
              <p:cNvSpPr>
                <a:spLocks noChangeShapeType="1"/>
              </p:cNvSpPr>
              <p:nvPr/>
            </p:nvSpPr>
            <p:spPr bwMode="auto">
              <a:xfrm flipV="1">
                <a:off x="4282" y="447"/>
                <a:ext cx="0" cy="2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1" name="Line 30"/>
              <p:cNvSpPr>
                <a:spLocks noChangeShapeType="1"/>
              </p:cNvSpPr>
              <p:nvPr/>
            </p:nvSpPr>
            <p:spPr bwMode="auto">
              <a:xfrm flipV="1">
                <a:off x="4282" y="388"/>
                <a:ext cx="0" cy="3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2" name="Freeform 31"/>
              <p:cNvSpPr>
                <a:spLocks noChangeArrowheads="1"/>
              </p:cNvSpPr>
              <p:nvPr/>
            </p:nvSpPr>
            <p:spPr bwMode="auto">
              <a:xfrm>
                <a:off x="4247" y="320"/>
                <a:ext cx="68" cy="51"/>
              </a:xfrm>
              <a:custGeom>
                <a:avLst/>
                <a:gdLst>
                  <a:gd name="T0" fmla="*/ 35 w 68"/>
                  <a:gd name="T1" fmla="*/ 0 h 51"/>
                  <a:gd name="T2" fmla="*/ 68 w 68"/>
                  <a:gd name="T3" fmla="*/ 51 h 51"/>
                  <a:gd name="T4" fmla="*/ 64 w 68"/>
                  <a:gd name="T5" fmla="*/ 49 h 51"/>
                  <a:gd name="T6" fmla="*/ 58 w 68"/>
                  <a:gd name="T7" fmla="*/ 46 h 51"/>
                  <a:gd name="T8" fmla="*/ 52 w 68"/>
                  <a:gd name="T9" fmla="*/ 46 h 51"/>
                  <a:gd name="T10" fmla="*/ 48 w 68"/>
                  <a:gd name="T11" fmla="*/ 46 h 51"/>
                  <a:gd name="T12" fmla="*/ 42 w 68"/>
                  <a:gd name="T13" fmla="*/ 44 h 51"/>
                  <a:gd name="T14" fmla="*/ 35 w 68"/>
                  <a:gd name="T15" fmla="*/ 44 h 51"/>
                  <a:gd name="T16" fmla="*/ 32 w 68"/>
                  <a:gd name="T17" fmla="*/ 44 h 51"/>
                  <a:gd name="T18" fmla="*/ 26 w 68"/>
                  <a:gd name="T19" fmla="*/ 44 h 51"/>
                  <a:gd name="T20" fmla="*/ 19 w 68"/>
                  <a:gd name="T21" fmla="*/ 46 h 51"/>
                  <a:gd name="T22" fmla="*/ 16 w 68"/>
                  <a:gd name="T23" fmla="*/ 46 h 51"/>
                  <a:gd name="T24" fmla="*/ 10 w 68"/>
                  <a:gd name="T25" fmla="*/ 46 h 51"/>
                  <a:gd name="T26" fmla="*/ 6 w 68"/>
                  <a:gd name="T27" fmla="*/ 49 h 51"/>
                  <a:gd name="T28" fmla="*/ 0 w 68"/>
                  <a:gd name="T29" fmla="*/ 51 h 51"/>
                  <a:gd name="T30" fmla="*/ 35 w 68"/>
                  <a:gd name="T31" fmla="*/ 0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8" h="51">
                    <a:moveTo>
                      <a:pt x="35" y="0"/>
                    </a:moveTo>
                    <a:lnTo>
                      <a:pt x="68" y="51"/>
                    </a:lnTo>
                    <a:lnTo>
                      <a:pt x="64" y="49"/>
                    </a:lnTo>
                    <a:lnTo>
                      <a:pt x="58" y="46"/>
                    </a:lnTo>
                    <a:lnTo>
                      <a:pt x="52" y="46"/>
                    </a:lnTo>
                    <a:lnTo>
                      <a:pt x="48" y="46"/>
                    </a:lnTo>
                    <a:lnTo>
                      <a:pt x="42" y="44"/>
                    </a:lnTo>
                    <a:lnTo>
                      <a:pt x="35" y="44"/>
                    </a:lnTo>
                    <a:lnTo>
                      <a:pt x="32" y="44"/>
                    </a:lnTo>
                    <a:lnTo>
                      <a:pt x="26" y="44"/>
                    </a:lnTo>
                    <a:lnTo>
                      <a:pt x="19" y="46"/>
                    </a:lnTo>
                    <a:lnTo>
                      <a:pt x="16" y="46"/>
                    </a:lnTo>
                    <a:lnTo>
                      <a:pt x="10" y="46"/>
                    </a:lnTo>
                    <a:lnTo>
                      <a:pt x="6" y="49"/>
                    </a:lnTo>
                    <a:lnTo>
                      <a:pt x="0" y="5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3" name="Rectangle 32"/>
              <p:cNvSpPr>
                <a:spLocks noChangeArrowheads="1"/>
              </p:cNvSpPr>
              <p:nvPr/>
            </p:nvSpPr>
            <p:spPr bwMode="auto">
              <a:xfrm>
                <a:off x="2705" y="632"/>
                <a:ext cx="25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数据</a:t>
                </a:r>
                <a:endParaRPr lang="zh-CN" altLang="en-US"/>
              </a:p>
            </p:txBody>
          </p:sp>
          <p:sp>
            <p:nvSpPr>
              <p:cNvPr id="22564" name="Rectangle 33"/>
              <p:cNvSpPr>
                <a:spLocks noChangeArrowheads="1"/>
              </p:cNvSpPr>
              <p:nvPr/>
            </p:nvSpPr>
            <p:spPr bwMode="auto">
              <a:xfrm>
                <a:off x="3431" y="632"/>
                <a:ext cx="25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噪声</a:t>
                </a:r>
                <a:endParaRPr lang="zh-CN" altLang="en-US"/>
              </a:p>
            </p:txBody>
          </p:sp>
          <p:sp>
            <p:nvSpPr>
              <p:cNvPr id="22565" name="Rectangle 34"/>
              <p:cNvSpPr>
                <a:spLocks noChangeArrowheads="1"/>
              </p:cNvSpPr>
              <p:nvPr/>
            </p:nvSpPr>
            <p:spPr bwMode="auto">
              <a:xfrm>
                <a:off x="4005" y="632"/>
                <a:ext cx="570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数据</a:t>
                </a:r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+</a:t>
                </a:r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噪声</a:t>
                </a:r>
                <a:endParaRPr lang="zh-CN" altLang="en-US"/>
              </a:p>
            </p:txBody>
          </p:sp>
          <p:sp>
            <p:nvSpPr>
              <p:cNvPr id="22566" name="Rectangle 35"/>
              <p:cNvSpPr>
                <a:spLocks noChangeArrowheads="1"/>
              </p:cNvSpPr>
              <p:nvPr/>
            </p:nvSpPr>
            <p:spPr bwMode="auto">
              <a:xfrm>
                <a:off x="3463" y="815"/>
                <a:ext cx="190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(a)</a:t>
                </a:r>
                <a:endParaRPr lang="en-US" altLang="zh-CN"/>
              </a:p>
            </p:txBody>
          </p:sp>
          <p:sp>
            <p:nvSpPr>
              <p:cNvPr id="22567" name="Freeform 36"/>
              <p:cNvSpPr>
                <a:spLocks noChangeArrowheads="1"/>
              </p:cNvSpPr>
              <p:nvPr/>
            </p:nvSpPr>
            <p:spPr bwMode="auto">
              <a:xfrm>
                <a:off x="2101" y="1372"/>
                <a:ext cx="3633" cy="183"/>
              </a:xfrm>
              <a:custGeom>
                <a:avLst/>
                <a:gdLst>
                  <a:gd name="T0" fmla="*/ 0 w 3633"/>
                  <a:gd name="T1" fmla="*/ 183 h 183"/>
                  <a:gd name="T2" fmla="*/ 242 w 3633"/>
                  <a:gd name="T3" fmla="*/ 183 h 183"/>
                  <a:gd name="T4" fmla="*/ 242 w 3633"/>
                  <a:gd name="T5" fmla="*/ 0 h 183"/>
                  <a:gd name="T6" fmla="*/ 484 w 3633"/>
                  <a:gd name="T7" fmla="*/ 0 h 183"/>
                  <a:gd name="T8" fmla="*/ 484 w 3633"/>
                  <a:gd name="T9" fmla="*/ 183 h 183"/>
                  <a:gd name="T10" fmla="*/ 726 w 3633"/>
                  <a:gd name="T11" fmla="*/ 183 h 183"/>
                  <a:gd name="T12" fmla="*/ 726 w 3633"/>
                  <a:gd name="T13" fmla="*/ 0 h 183"/>
                  <a:gd name="T14" fmla="*/ 1210 w 3633"/>
                  <a:gd name="T15" fmla="*/ 0 h 183"/>
                  <a:gd name="T16" fmla="*/ 1210 w 3633"/>
                  <a:gd name="T17" fmla="*/ 183 h 183"/>
                  <a:gd name="T18" fmla="*/ 1697 w 3633"/>
                  <a:gd name="T19" fmla="*/ 183 h 183"/>
                  <a:gd name="T20" fmla="*/ 1697 w 3633"/>
                  <a:gd name="T21" fmla="*/ 0 h 183"/>
                  <a:gd name="T22" fmla="*/ 2181 w 3633"/>
                  <a:gd name="T23" fmla="*/ 0 h 183"/>
                  <a:gd name="T24" fmla="*/ 2181 w 3633"/>
                  <a:gd name="T25" fmla="*/ 183 h 183"/>
                  <a:gd name="T26" fmla="*/ 2665 w 3633"/>
                  <a:gd name="T27" fmla="*/ 183 h 183"/>
                  <a:gd name="T28" fmla="*/ 2665 w 3633"/>
                  <a:gd name="T29" fmla="*/ 0 h 183"/>
                  <a:gd name="T30" fmla="*/ 2907 w 3633"/>
                  <a:gd name="T31" fmla="*/ 0 h 183"/>
                  <a:gd name="T32" fmla="*/ 2907 w 3633"/>
                  <a:gd name="T33" fmla="*/ 183 h 183"/>
                  <a:gd name="T34" fmla="*/ 3149 w 3633"/>
                  <a:gd name="T35" fmla="*/ 183 h 183"/>
                  <a:gd name="T36" fmla="*/ 3149 w 3633"/>
                  <a:gd name="T37" fmla="*/ 0 h 183"/>
                  <a:gd name="T38" fmla="*/ 3391 w 3633"/>
                  <a:gd name="T39" fmla="*/ 0 h 183"/>
                  <a:gd name="T40" fmla="*/ 3391 w 3633"/>
                  <a:gd name="T41" fmla="*/ 183 h 183"/>
                  <a:gd name="T42" fmla="*/ 3633 w 3633"/>
                  <a:gd name="T43" fmla="*/ 183 h 18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633" h="183">
                    <a:moveTo>
                      <a:pt x="0" y="183"/>
                    </a:moveTo>
                    <a:lnTo>
                      <a:pt x="242" y="183"/>
                    </a:lnTo>
                    <a:lnTo>
                      <a:pt x="242" y="0"/>
                    </a:lnTo>
                    <a:lnTo>
                      <a:pt x="484" y="0"/>
                    </a:lnTo>
                    <a:lnTo>
                      <a:pt x="484" y="183"/>
                    </a:lnTo>
                    <a:lnTo>
                      <a:pt x="726" y="183"/>
                    </a:lnTo>
                    <a:lnTo>
                      <a:pt x="726" y="0"/>
                    </a:lnTo>
                    <a:lnTo>
                      <a:pt x="1210" y="0"/>
                    </a:lnTo>
                    <a:lnTo>
                      <a:pt x="1210" y="183"/>
                    </a:lnTo>
                    <a:lnTo>
                      <a:pt x="1697" y="183"/>
                    </a:lnTo>
                    <a:lnTo>
                      <a:pt x="1697" y="0"/>
                    </a:lnTo>
                    <a:lnTo>
                      <a:pt x="2181" y="0"/>
                    </a:lnTo>
                    <a:lnTo>
                      <a:pt x="2181" y="183"/>
                    </a:lnTo>
                    <a:lnTo>
                      <a:pt x="2665" y="183"/>
                    </a:lnTo>
                    <a:lnTo>
                      <a:pt x="2665" y="0"/>
                    </a:lnTo>
                    <a:lnTo>
                      <a:pt x="2907" y="0"/>
                    </a:lnTo>
                    <a:lnTo>
                      <a:pt x="2907" y="183"/>
                    </a:lnTo>
                    <a:lnTo>
                      <a:pt x="3149" y="183"/>
                    </a:lnTo>
                    <a:lnTo>
                      <a:pt x="3149" y="0"/>
                    </a:lnTo>
                    <a:lnTo>
                      <a:pt x="3391" y="0"/>
                    </a:lnTo>
                    <a:lnTo>
                      <a:pt x="3391" y="183"/>
                    </a:lnTo>
                    <a:lnTo>
                      <a:pt x="3633" y="183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8" name="Line 37"/>
              <p:cNvSpPr>
                <a:spLocks noChangeShapeType="1"/>
              </p:cNvSpPr>
              <p:nvPr/>
            </p:nvSpPr>
            <p:spPr bwMode="auto">
              <a:xfrm>
                <a:off x="2101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9" name="Line 38"/>
              <p:cNvSpPr>
                <a:spLocks noChangeShapeType="1"/>
              </p:cNvSpPr>
              <p:nvPr/>
            </p:nvSpPr>
            <p:spPr bwMode="auto">
              <a:xfrm>
                <a:off x="2179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0" name="Line 39"/>
              <p:cNvSpPr>
                <a:spLocks noChangeShapeType="1"/>
              </p:cNvSpPr>
              <p:nvPr/>
            </p:nvSpPr>
            <p:spPr bwMode="auto">
              <a:xfrm>
                <a:off x="2256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1" name="Line 40"/>
              <p:cNvSpPr>
                <a:spLocks noChangeShapeType="1"/>
              </p:cNvSpPr>
              <p:nvPr/>
            </p:nvSpPr>
            <p:spPr bwMode="auto">
              <a:xfrm>
                <a:off x="2334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2" name="Line 41"/>
              <p:cNvSpPr>
                <a:spLocks noChangeShapeType="1"/>
              </p:cNvSpPr>
              <p:nvPr/>
            </p:nvSpPr>
            <p:spPr bwMode="auto">
              <a:xfrm>
                <a:off x="2411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3" name="Line 42"/>
              <p:cNvSpPr>
                <a:spLocks noChangeShapeType="1"/>
              </p:cNvSpPr>
              <p:nvPr/>
            </p:nvSpPr>
            <p:spPr bwMode="auto">
              <a:xfrm>
                <a:off x="2489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4" name="Line 43"/>
              <p:cNvSpPr>
                <a:spLocks noChangeShapeType="1"/>
              </p:cNvSpPr>
              <p:nvPr/>
            </p:nvSpPr>
            <p:spPr bwMode="auto">
              <a:xfrm>
                <a:off x="2566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5" name="Line 44"/>
              <p:cNvSpPr>
                <a:spLocks noChangeShapeType="1"/>
              </p:cNvSpPr>
              <p:nvPr/>
            </p:nvSpPr>
            <p:spPr bwMode="auto">
              <a:xfrm>
                <a:off x="2643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6" name="Line 45"/>
              <p:cNvSpPr>
                <a:spLocks noChangeShapeType="1"/>
              </p:cNvSpPr>
              <p:nvPr/>
            </p:nvSpPr>
            <p:spPr bwMode="auto">
              <a:xfrm>
                <a:off x="2721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7" name="Line 46"/>
              <p:cNvSpPr>
                <a:spLocks noChangeShapeType="1"/>
              </p:cNvSpPr>
              <p:nvPr/>
            </p:nvSpPr>
            <p:spPr bwMode="auto">
              <a:xfrm>
                <a:off x="2798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8" name="Line 47"/>
              <p:cNvSpPr>
                <a:spLocks noChangeShapeType="1"/>
              </p:cNvSpPr>
              <p:nvPr/>
            </p:nvSpPr>
            <p:spPr bwMode="auto">
              <a:xfrm>
                <a:off x="2876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9" name="Line 48"/>
              <p:cNvSpPr>
                <a:spLocks noChangeShapeType="1"/>
              </p:cNvSpPr>
              <p:nvPr/>
            </p:nvSpPr>
            <p:spPr bwMode="auto">
              <a:xfrm>
                <a:off x="2953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0" name="Line 49"/>
              <p:cNvSpPr>
                <a:spLocks noChangeShapeType="1"/>
              </p:cNvSpPr>
              <p:nvPr/>
            </p:nvSpPr>
            <p:spPr bwMode="auto">
              <a:xfrm>
                <a:off x="3031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1" name="Line 50"/>
              <p:cNvSpPr>
                <a:spLocks noChangeShapeType="1"/>
              </p:cNvSpPr>
              <p:nvPr/>
            </p:nvSpPr>
            <p:spPr bwMode="auto">
              <a:xfrm>
                <a:off x="3108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2" name="Line 51"/>
              <p:cNvSpPr>
                <a:spLocks noChangeShapeType="1"/>
              </p:cNvSpPr>
              <p:nvPr/>
            </p:nvSpPr>
            <p:spPr bwMode="auto">
              <a:xfrm>
                <a:off x="3185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3" name="Line 52"/>
              <p:cNvSpPr>
                <a:spLocks noChangeShapeType="1"/>
              </p:cNvSpPr>
              <p:nvPr/>
            </p:nvSpPr>
            <p:spPr bwMode="auto">
              <a:xfrm>
                <a:off x="3263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4" name="Line 53"/>
              <p:cNvSpPr>
                <a:spLocks noChangeShapeType="1"/>
              </p:cNvSpPr>
              <p:nvPr/>
            </p:nvSpPr>
            <p:spPr bwMode="auto">
              <a:xfrm>
                <a:off x="3340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5" name="Line 54"/>
              <p:cNvSpPr>
                <a:spLocks noChangeShapeType="1"/>
              </p:cNvSpPr>
              <p:nvPr/>
            </p:nvSpPr>
            <p:spPr bwMode="auto">
              <a:xfrm>
                <a:off x="3418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6" name="Line 55"/>
              <p:cNvSpPr>
                <a:spLocks noChangeShapeType="1"/>
              </p:cNvSpPr>
              <p:nvPr/>
            </p:nvSpPr>
            <p:spPr bwMode="auto">
              <a:xfrm>
                <a:off x="3495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7" name="Line 56"/>
              <p:cNvSpPr>
                <a:spLocks noChangeShapeType="1"/>
              </p:cNvSpPr>
              <p:nvPr/>
            </p:nvSpPr>
            <p:spPr bwMode="auto">
              <a:xfrm>
                <a:off x="3573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8" name="Line 57"/>
              <p:cNvSpPr>
                <a:spLocks noChangeShapeType="1"/>
              </p:cNvSpPr>
              <p:nvPr/>
            </p:nvSpPr>
            <p:spPr bwMode="auto">
              <a:xfrm>
                <a:off x="3650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9" name="Line 58"/>
              <p:cNvSpPr>
                <a:spLocks noChangeShapeType="1"/>
              </p:cNvSpPr>
              <p:nvPr/>
            </p:nvSpPr>
            <p:spPr bwMode="auto">
              <a:xfrm>
                <a:off x="3727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0" name="Line 59"/>
              <p:cNvSpPr>
                <a:spLocks noChangeShapeType="1"/>
              </p:cNvSpPr>
              <p:nvPr/>
            </p:nvSpPr>
            <p:spPr bwMode="auto">
              <a:xfrm>
                <a:off x="3805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1" name="Line 60"/>
              <p:cNvSpPr>
                <a:spLocks noChangeShapeType="1"/>
              </p:cNvSpPr>
              <p:nvPr/>
            </p:nvSpPr>
            <p:spPr bwMode="auto">
              <a:xfrm>
                <a:off x="3882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2" name="Line 61"/>
              <p:cNvSpPr>
                <a:spLocks noChangeShapeType="1"/>
              </p:cNvSpPr>
              <p:nvPr/>
            </p:nvSpPr>
            <p:spPr bwMode="auto">
              <a:xfrm>
                <a:off x="3960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3" name="Line 62"/>
              <p:cNvSpPr>
                <a:spLocks noChangeShapeType="1"/>
              </p:cNvSpPr>
              <p:nvPr/>
            </p:nvSpPr>
            <p:spPr bwMode="auto">
              <a:xfrm>
                <a:off x="4037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4" name="Line 63"/>
              <p:cNvSpPr>
                <a:spLocks noChangeShapeType="1"/>
              </p:cNvSpPr>
              <p:nvPr/>
            </p:nvSpPr>
            <p:spPr bwMode="auto">
              <a:xfrm>
                <a:off x="4115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5" name="Line 64"/>
              <p:cNvSpPr>
                <a:spLocks noChangeShapeType="1"/>
              </p:cNvSpPr>
              <p:nvPr/>
            </p:nvSpPr>
            <p:spPr bwMode="auto">
              <a:xfrm>
                <a:off x="4192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6" name="Line 65"/>
              <p:cNvSpPr>
                <a:spLocks noChangeShapeType="1"/>
              </p:cNvSpPr>
              <p:nvPr/>
            </p:nvSpPr>
            <p:spPr bwMode="auto">
              <a:xfrm>
                <a:off x="4269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7" name="Line 66"/>
              <p:cNvSpPr>
                <a:spLocks noChangeShapeType="1"/>
              </p:cNvSpPr>
              <p:nvPr/>
            </p:nvSpPr>
            <p:spPr bwMode="auto">
              <a:xfrm>
                <a:off x="4347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8" name="Line 67"/>
              <p:cNvSpPr>
                <a:spLocks noChangeShapeType="1"/>
              </p:cNvSpPr>
              <p:nvPr/>
            </p:nvSpPr>
            <p:spPr bwMode="auto">
              <a:xfrm>
                <a:off x="4424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9" name="Line 68"/>
              <p:cNvSpPr>
                <a:spLocks noChangeShapeType="1"/>
              </p:cNvSpPr>
              <p:nvPr/>
            </p:nvSpPr>
            <p:spPr bwMode="auto">
              <a:xfrm>
                <a:off x="4502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0" name="Line 69"/>
              <p:cNvSpPr>
                <a:spLocks noChangeShapeType="1"/>
              </p:cNvSpPr>
              <p:nvPr/>
            </p:nvSpPr>
            <p:spPr bwMode="auto">
              <a:xfrm>
                <a:off x="4579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1" name="Line 70"/>
              <p:cNvSpPr>
                <a:spLocks noChangeShapeType="1"/>
              </p:cNvSpPr>
              <p:nvPr/>
            </p:nvSpPr>
            <p:spPr bwMode="auto">
              <a:xfrm>
                <a:off x="4657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2" name="Line 71"/>
              <p:cNvSpPr>
                <a:spLocks noChangeShapeType="1"/>
              </p:cNvSpPr>
              <p:nvPr/>
            </p:nvSpPr>
            <p:spPr bwMode="auto">
              <a:xfrm>
                <a:off x="4734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3" name="Line 72"/>
              <p:cNvSpPr>
                <a:spLocks noChangeShapeType="1"/>
              </p:cNvSpPr>
              <p:nvPr/>
            </p:nvSpPr>
            <p:spPr bwMode="auto">
              <a:xfrm>
                <a:off x="4811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4" name="Line 73"/>
              <p:cNvSpPr>
                <a:spLocks noChangeShapeType="1"/>
              </p:cNvSpPr>
              <p:nvPr/>
            </p:nvSpPr>
            <p:spPr bwMode="auto">
              <a:xfrm>
                <a:off x="4889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5" name="Line 74"/>
              <p:cNvSpPr>
                <a:spLocks noChangeShapeType="1"/>
              </p:cNvSpPr>
              <p:nvPr/>
            </p:nvSpPr>
            <p:spPr bwMode="auto">
              <a:xfrm>
                <a:off x="4966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6" name="Line 75"/>
              <p:cNvSpPr>
                <a:spLocks noChangeShapeType="1"/>
              </p:cNvSpPr>
              <p:nvPr/>
            </p:nvSpPr>
            <p:spPr bwMode="auto">
              <a:xfrm>
                <a:off x="5044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7" name="Line 76"/>
              <p:cNvSpPr>
                <a:spLocks noChangeShapeType="1"/>
              </p:cNvSpPr>
              <p:nvPr/>
            </p:nvSpPr>
            <p:spPr bwMode="auto">
              <a:xfrm>
                <a:off x="5121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8" name="Line 77"/>
              <p:cNvSpPr>
                <a:spLocks noChangeShapeType="1"/>
              </p:cNvSpPr>
              <p:nvPr/>
            </p:nvSpPr>
            <p:spPr bwMode="auto">
              <a:xfrm>
                <a:off x="5199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9" name="Line 78"/>
              <p:cNvSpPr>
                <a:spLocks noChangeShapeType="1"/>
              </p:cNvSpPr>
              <p:nvPr/>
            </p:nvSpPr>
            <p:spPr bwMode="auto">
              <a:xfrm>
                <a:off x="5276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0" name="Line 79"/>
              <p:cNvSpPr>
                <a:spLocks noChangeShapeType="1"/>
              </p:cNvSpPr>
              <p:nvPr/>
            </p:nvSpPr>
            <p:spPr bwMode="auto">
              <a:xfrm>
                <a:off x="5353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1" name="Line 80"/>
              <p:cNvSpPr>
                <a:spLocks noChangeShapeType="1"/>
              </p:cNvSpPr>
              <p:nvPr/>
            </p:nvSpPr>
            <p:spPr bwMode="auto">
              <a:xfrm>
                <a:off x="5431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2" name="Line 81"/>
              <p:cNvSpPr>
                <a:spLocks noChangeShapeType="1"/>
              </p:cNvSpPr>
              <p:nvPr/>
            </p:nvSpPr>
            <p:spPr bwMode="auto">
              <a:xfrm>
                <a:off x="5508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3" name="Line 82"/>
              <p:cNvSpPr>
                <a:spLocks noChangeShapeType="1"/>
              </p:cNvSpPr>
              <p:nvPr/>
            </p:nvSpPr>
            <p:spPr bwMode="auto">
              <a:xfrm>
                <a:off x="5586" y="1968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4" name="Line 83"/>
              <p:cNvSpPr>
                <a:spLocks noChangeShapeType="1"/>
              </p:cNvSpPr>
              <p:nvPr/>
            </p:nvSpPr>
            <p:spPr bwMode="auto">
              <a:xfrm>
                <a:off x="5663" y="1968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5" name="Line 84"/>
              <p:cNvSpPr>
                <a:spLocks noChangeShapeType="1"/>
              </p:cNvSpPr>
              <p:nvPr/>
            </p:nvSpPr>
            <p:spPr bwMode="auto">
              <a:xfrm>
                <a:off x="2101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6" name="Line 85"/>
              <p:cNvSpPr>
                <a:spLocks noChangeShapeType="1"/>
              </p:cNvSpPr>
              <p:nvPr/>
            </p:nvSpPr>
            <p:spPr bwMode="auto">
              <a:xfrm>
                <a:off x="2179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7" name="Line 86"/>
              <p:cNvSpPr>
                <a:spLocks noChangeShapeType="1"/>
              </p:cNvSpPr>
              <p:nvPr/>
            </p:nvSpPr>
            <p:spPr bwMode="auto">
              <a:xfrm>
                <a:off x="2256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8" name="Line 87"/>
              <p:cNvSpPr>
                <a:spLocks noChangeShapeType="1"/>
              </p:cNvSpPr>
              <p:nvPr/>
            </p:nvSpPr>
            <p:spPr bwMode="auto">
              <a:xfrm>
                <a:off x="2334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9" name="Line 88"/>
              <p:cNvSpPr>
                <a:spLocks noChangeShapeType="1"/>
              </p:cNvSpPr>
              <p:nvPr/>
            </p:nvSpPr>
            <p:spPr bwMode="auto">
              <a:xfrm>
                <a:off x="2411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0" name="Line 89"/>
              <p:cNvSpPr>
                <a:spLocks noChangeShapeType="1"/>
              </p:cNvSpPr>
              <p:nvPr/>
            </p:nvSpPr>
            <p:spPr bwMode="auto">
              <a:xfrm>
                <a:off x="2489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1" name="Line 90"/>
              <p:cNvSpPr>
                <a:spLocks noChangeShapeType="1"/>
              </p:cNvSpPr>
              <p:nvPr/>
            </p:nvSpPr>
            <p:spPr bwMode="auto">
              <a:xfrm>
                <a:off x="2566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2" name="Line 91"/>
              <p:cNvSpPr>
                <a:spLocks noChangeShapeType="1"/>
              </p:cNvSpPr>
              <p:nvPr/>
            </p:nvSpPr>
            <p:spPr bwMode="auto">
              <a:xfrm>
                <a:off x="2643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3" name="Line 92"/>
              <p:cNvSpPr>
                <a:spLocks noChangeShapeType="1"/>
              </p:cNvSpPr>
              <p:nvPr/>
            </p:nvSpPr>
            <p:spPr bwMode="auto">
              <a:xfrm>
                <a:off x="2721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4" name="Line 93"/>
              <p:cNvSpPr>
                <a:spLocks noChangeShapeType="1"/>
              </p:cNvSpPr>
              <p:nvPr/>
            </p:nvSpPr>
            <p:spPr bwMode="auto">
              <a:xfrm>
                <a:off x="2798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5" name="Line 94"/>
              <p:cNvSpPr>
                <a:spLocks noChangeShapeType="1"/>
              </p:cNvSpPr>
              <p:nvPr/>
            </p:nvSpPr>
            <p:spPr bwMode="auto">
              <a:xfrm>
                <a:off x="2876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6" name="Line 95"/>
              <p:cNvSpPr>
                <a:spLocks noChangeShapeType="1"/>
              </p:cNvSpPr>
              <p:nvPr/>
            </p:nvSpPr>
            <p:spPr bwMode="auto">
              <a:xfrm>
                <a:off x="2953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7" name="Line 96"/>
              <p:cNvSpPr>
                <a:spLocks noChangeShapeType="1"/>
              </p:cNvSpPr>
              <p:nvPr/>
            </p:nvSpPr>
            <p:spPr bwMode="auto">
              <a:xfrm>
                <a:off x="3031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8" name="Line 97"/>
              <p:cNvSpPr>
                <a:spLocks noChangeShapeType="1"/>
              </p:cNvSpPr>
              <p:nvPr/>
            </p:nvSpPr>
            <p:spPr bwMode="auto">
              <a:xfrm>
                <a:off x="3108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9" name="Line 98"/>
              <p:cNvSpPr>
                <a:spLocks noChangeShapeType="1"/>
              </p:cNvSpPr>
              <p:nvPr/>
            </p:nvSpPr>
            <p:spPr bwMode="auto">
              <a:xfrm>
                <a:off x="3185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0" name="Line 99"/>
              <p:cNvSpPr>
                <a:spLocks noChangeShapeType="1"/>
              </p:cNvSpPr>
              <p:nvPr/>
            </p:nvSpPr>
            <p:spPr bwMode="auto">
              <a:xfrm>
                <a:off x="3263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1" name="Line 100"/>
              <p:cNvSpPr>
                <a:spLocks noChangeShapeType="1"/>
              </p:cNvSpPr>
              <p:nvPr/>
            </p:nvSpPr>
            <p:spPr bwMode="auto">
              <a:xfrm>
                <a:off x="3340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2" name="Line 101"/>
              <p:cNvSpPr>
                <a:spLocks noChangeShapeType="1"/>
              </p:cNvSpPr>
              <p:nvPr/>
            </p:nvSpPr>
            <p:spPr bwMode="auto">
              <a:xfrm>
                <a:off x="3418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3" name="Line 102"/>
              <p:cNvSpPr>
                <a:spLocks noChangeShapeType="1"/>
              </p:cNvSpPr>
              <p:nvPr/>
            </p:nvSpPr>
            <p:spPr bwMode="auto">
              <a:xfrm>
                <a:off x="3495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4" name="Line 103"/>
              <p:cNvSpPr>
                <a:spLocks noChangeShapeType="1"/>
              </p:cNvSpPr>
              <p:nvPr/>
            </p:nvSpPr>
            <p:spPr bwMode="auto">
              <a:xfrm>
                <a:off x="3573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5" name="Line 104"/>
              <p:cNvSpPr>
                <a:spLocks noChangeShapeType="1"/>
              </p:cNvSpPr>
              <p:nvPr/>
            </p:nvSpPr>
            <p:spPr bwMode="auto">
              <a:xfrm>
                <a:off x="3650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6" name="Line 105"/>
              <p:cNvSpPr>
                <a:spLocks noChangeShapeType="1"/>
              </p:cNvSpPr>
              <p:nvPr/>
            </p:nvSpPr>
            <p:spPr bwMode="auto">
              <a:xfrm>
                <a:off x="3727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7" name="Line 106"/>
              <p:cNvSpPr>
                <a:spLocks noChangeShapeType="1"/>
              </p:cNvSpPr>
              <p:nvPr/>
            </p:nvSpPr>
            <p:spPr bwMode="auto">
              <a:xfrm>
                <a:off x="3805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8" name="Line 107"/>
              <p:cNvSpPr>
                <a:spLocks noChangeShapeType="1"/>
              </p:cNvSpPr>
              <p:nvPr/>
            </p:nvSpPr>
            <p:spPr bwMode="auto">
              <a:xfrm>
                <a:off x="3882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9" name="Line 108"/>
              <p:cNvSpPr>
                <a:spLocks noChangeShapeType="1"/>
              </p:cNvSpPr>
              <p:nvPr/>
            </p:nvSpPr>
            <p:spPr bwMode="auto">
              <a:xfrm>
                <a:off x="3960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0" name="Line 109"/>
              <p:cNvSpPr>
                <a:spLocks noChangeShapeType="1"/>
              </p:cNvSpPr>
              <p:nvPr/>
            </p:nvSpPr>
            <p:spPr bwMode="auto">
              <a:xfrm>
                <a:off x="4037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1" name="Line 110"/>
              <p:cNvSpPr>
                <a:spLocks noChangeShapeType="1"/>
              </p:cNvSpPr>
              <p:nvPr/>
            </p:nvSpPr>
            <p:spPr bwMode="auto">
              <a:xfrm>
                <a:off x="4115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2" name="Line 111"/>
              <p:cNvSpPr>
                <a:spLocks noChangeShapeType="1"/>
              </p:cNvSpPr>
              <p:nvPr/>
            </p:nvSpPr>
            <p:spPr bwMode="auto">
              <a:xfrm>
                <a:off x="4192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3" name="Line 112"/>
              <p:cNvSpPr>
                <a:spLocks noChangeShapeType="1"/>
              </p:cNvSpPr>
              <p:nvPr/>
            </p:nvSpPr>
            <p:spPr bwMode="auto">
              <a:xfrm>
                <a:off x="4269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4" name="Line 113"/>
              <p:cNvSpPr>
                <a:spLocks noChangeShapeType="1"/>
              </p:cNvSpPr>
              <p:nvPr/>
            </p:nvSpPr>
            <p:spPr bwMode="auto">
              <a:xfrm>
                <a:off x="4347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5" name="Line 114"/>
              <p:cNvSpPr>
                <a:spLocks noChangeShapeType="1"/>
              </p:cNvSpPr>
              <p:nvPr/>
            </p:nvSpPr>
            <p:spPr bwMode="auto">
              <a:xfrm>
                <a:off x="4424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6" name="Line 115"/>
              <p:cNvSpPr>
                <a:spLocks noChangeShapeType="1"/>
              </p:cNvSpPr>
              <p:nvPr/>
            </p:nvSpPr>
            <p:spPr bwMode="auto">
              <a:xfrm>
                <a:off x="4502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7" name="Line 116"/>
              <p:cNvSpPr>
                <a:spLocks noChangeShapeType="1"/>
              </p:cNvSpPr>
              <p:nvPr/>
            </p:nvSpPr>
            <p:spPr bwMode="auto">
              <a:xfrm>
                <a:off x="4579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8" name="Line 117"/>
              <p:cNvSpPr>
                <a:spLocks noChangeShapeType="1"/>
              </p:cNvSpPr>
              <p:nvPr/>
            </p:nvSpPr>
            <p:spPr bwMode="auto">
              <a:xfrm>
                <a:off x="4657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9" name="Line 118"/>
              <p:cNvSpPr>
                <a:spLocks noChangeShapeType="1"/>
              </p:cNvSpPr>
              <p:nvPr/>
            </p:nvSpPr>
            <p:spPr bwMode="auto">
              <a:xfrm>
                <a:off x="4734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0" name="Line 119"/>
              <p:cNvSpPr>
                <a:spLocks noChangeShapeType="1"/>
              </p:cNvSpPr>
              <p:nvPr/>
            </p:nvSpPr>
            <p:spPr bwMode="auto">
              <a:xfrm>
                <a:off x="4811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1" name="Line 120"/>
              <p:cNvSpPr>
                <a:spLocks noChangeShapeType="1"/>
              </p:cNvSpPr>
              <p:nvPr/>
            </p:nvSpPr>
            <p:spPr bwMode="auto">
              <a:xfrm>
                <a:off x="4889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2" name="Line 121"/>
              <p:cNvSpPr>
                <a:spLocks noChangeShapeType="1"/>
              </p:cNvSpPr>
              <p:nvPr/>
            </p:nvSpPr>
            <p:spPr bwMode="auto">
              <a:xfrm>
                <a:off x="4966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3" name="Line 122"/>
              <p:cNvSpPr>
                <a:spLocks noChangeShapeType="1"/>
              </p:cNvSpPr>
              <p:nvPr/>
            </p:nvSpPr>
            <p:spPr bwMode="auto">
              <a:xfrm>
                <a:off x="5044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4" name="Line 123"/>
              <p:cNvSpPr>
                <a:spLocks noChangeShapeType="1"/>
              </p:cNvSpPr>
              <p:nvPr/>
            </p:nvSpPr>
            <p:spPr bwMode="auto">
              <a:xfrm>
                <a:off x="5121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5" name="Line 124"/>
              <p:cNvSpPr>
                <a:spLocks noChangeShapeType="1"/>
              </p:cNvSpPr>
              <p:nvPr/>
            </p:nvSpPr>
            <p:spPr bwMode="auto">
              <a:xfrm>
                <a:off x="5199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6" name="Line 125"/>
              <p:cNvSpPr>
                <a:spLocks noChangeShapeType="1"/>
              </p:cNvSpPr>
              <p:nvPr/>
            </p:nvSpPr>
            <p:spPr bwMode="auto">
              <a:xfrm>
                <a:off x="5276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7" name="Line 126"/>
              <p:cNvSpPr>
                <a:spLocks noChangeShapeType="1"/>
              </p:cNvSpPr>
              <p:nvPr/>
            </p:nvSpPr>
            <p:spPr bwMode="auto">
              <a:xfrm>
                <a:off x="5353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8" name="Line 127"/>
              <p:cNvSpPr>
                <a:spLocks noChangeShapeType="1"/>
              </p:cNvSpPr>
              <p:nvPr/>
            </p:nvSpPr>
            <p:spPr bwMode="auto">
              <a:xfrm>
                <a:off x="5431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9" name="Line 128"/>
              <p:cNvSpPr>
                <a:spLocks noChangeShapeType="1"/>
              </p:cNvSpPr>
              <p:nvPr/>
            </p:nvSpPr>
            <p:spPr bwMode="auto">
              <a:xfrm>
                <a:off x="5508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0" name="Line 129"/>
              <p:cNvSpPr>
                <a:spLocks noChangeShapeType="1"/>
              </p:cNvSpPr>
              <p:nvPr/>
            </p:nvSpPr>
            <p:spPr bwMode="auto">
              <a:xfrm>
                <a:off x="5586" y="2517"/>
                <a:ext cx="38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1" name="Line 130"/>
              <p:cNvSpPr>
                <a:spLocks noChangeShapeType="1"/>
              </p:cNvSpPr>
              <p:nvPr/>
            </p:nvSpPr>
            <p:spPr bwMode="auto">
              <a:xfrm>
                <a:off x="5663" y="2517"/>
                <a:ext cx="39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2" name="Line 131"/>
              <p:cNvSpPr>
                <a:spLocks noChangeShapeType="1"/>
              </p:cNvSpPr>
              <p:nvPr/>
            </p:nvSpPr>
            <p:spPr bwMode="auto">
              <a:xfrm>
                <a:off x="2285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3" name="Line 132"/>
              <p:cNvSpPr>
                <a:spLocks noChangeShapeType="1"/>
              </p:cNvSpPr>
              <p:nvPr/>
            </p:nvSpPr>
            <p:spPr bwMode="auto">
              <a:xfrm>
                <a:off x="2527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4" name="Line 133"/>
              <p:cNvSpPr>
                <a:spLocks noChangeShapeType="1"/>
              </p:cNvSpPr>
              <p:nvPr/>
            </p:nvSpPr>
            <p:spPr bwMode="auto">
              <a:xfrm>
                <a:off x="2769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5" name="Line 134"/>
              <p:cNvSpPr>
                <a:spLocks noChangeShapeType="1"/>
              </p:cNvSpPr>
              <p:nvPr/>
            </p:nvSpPr>
            <p:spPr bwMode="auto">
              <a:xfrm>
                <a:off x="3011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6" name="Line 135"/>
              <p:cNvSpPr>
                <a:spLocks noChangeShapeType="1"/>
              </p:cNvSpPr>
              <p:nvPr/>
            </p:nvSpPr>
            <p:spPr bwMode="auto">
              <a:xfrm>
                <a:off x="3253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7" name="Line 136"/>
              <p:cNvSpPr>
                <a:spLocks noChangeShapeType="1"/>
              </p:cNvSpPr>
              <p:nvPr/>
            </p:nvSpPr>
            <p:spPr bwMode="auto">
              <a:xfrm>
                <a:off x="3495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8" name="Line 137"/>
              <p:cNvSpPr>
                <a:spLocks noChangeShapeType="1"/>
              </p:cNvSpPr>
              <p:nvPr/>
            </p:nvSpPr>
            <p:spPr bwMode="auto">
              <a:xfrm>
                <a:off x="3737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9" name="Line 138"/>
              <p:cNvSpPr>
                <a:spLocks noChangeShapeType="1"/>
              </p:cNvSpPr>
              <p:nvPr/>
            </p:nvSpPr>
            <p:spPr bwMode="auto">
              <a:xfrm>
                <a:off x="4221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0" name="Line 139"/>
              <p:cNvSpPr>
                <a:spLocks noChangeShapeType="1"/>
              </p:cNvSpPr>
              <p:nvPr/>
            </p:nvSpPr>
            <p:spPr bwMode="auto">
              <a:xfrm>
                <a:off x="3979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1" name="Line 140"/>
              <p:cNvSpPr>
                <a:spLocks noChangeShapeType="1"/>
              </p:cNvSpPr>
              <p:nvPr/>
            </p:nvSpPr>
            <p:spPr bwMode="auto">
              <a:xfrm>
                <a:off x="4463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2" name="Line 141"/>
              <p:cNvSpPr>
                <a:spLocks noChangeShapeType="1"/>
              </p:cNvSpPr>
              <p:nvPr/>
            </p:nvSpPr>
            <p:spPr bwMode="auto">
              <a:xfrm>
                <a:off x="4705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3" name="Line 142"/>
              <p:cNvSpPr>
                <a:spLocks noChangeShapeType="1"/>
              </p:cNvSpPr>
              <p:nvPr/>
            </p:nvSpPr>
            <p:spPr bwMode="auto">
              <a:xfrm>
                <a:off x="4947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4" name="Line 143"/>
              <p:cNvSpPr>
                <a:spLocks noChangeShapeType="1"/>
              </p:cNvSpPr>
              <p:nvPr/>
            </p:nvSpPr>
            <p:spPr bwMode="auto">
              <a:xfrm>
                <a:off x="5189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5" name="Line 144"/>
              <p:cNvSpPr>
                <a:spLocks noChangeShapeType="1"/>
              </p:cNvSpPr>
              <p:nvPr/>
            </p:nvSpPr>
            <p:spPr bwMode="auto">
              <a:xfrm>
                <a:off x="5431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6" name="Line 145"/>
              <p:cNvSpPr>
                <a:spLocks noChangeShapeType="1"/>
              </p:cNvSpPr>
              <p:nvPr/>
            </p:nvSpPr>
            <p:spPr bwMode="auto">
              <a:xfrm>
                <a:off x="5673" y="2976"/>
                <a:ext cx="0" cy="18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7" name="Rectangle 146"/>
              <p:cNvSpPr>
                <a:spLocks noChangeArrowheads="1"/>
              </p:cNvSpPr>
              <p:nvPr/>
            </p:nvSpPr>
            <p:spPr bwMode="auto">
              <a:xfrm>
                <a:off x="2253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78" name="Rectangle 147"/>
              <p:cNvSpPr>
                <a:spLocks noChangeArrowheads="1"/>
              </p:cNvSpPr>
              <p:nvPr/>
            </p:nvSpPr>
            <p:spPr bwMode="auto">
              <a:xfrm>
                <a:off x="2253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79" name="Rectangle 148"/>
              <p:cNvSpPr>
                <a:spLocks noChangeArrowheads="1"/>
              </p:cNvSpPr>
              <p:nvPr/>
            </p:nvSpPr>
            <p:spPr bwMode="auto">
              <a:xfrm>
                <a:off x="2495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80" name="Rectangle 149"/>
              <p:cNvSpPr>
                <a:spLocks noChangeArrowheads="1"/>
              </p:cNvSpPr>
              <p:nvPr/>
            </p:nvSpPr>
            <p:spPr bwMode="auto">
              <a:xfrm>
                <a:off x="2495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81" name="Rectangle 150"/>
              <p:cNvSpPr>
                <a:spLocks noChangeArrowheads="1"/>
              </p:cNvSpPr>
              <p:nvPr/>
            </p:nvSpPr>
            <p:spPr bwMode="auto">
              <a:xfrm>
                <a:off x="2737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82" name="Rectangle 151"/>
              <p:cNvSpPr>
                <a:spLocks noChangeArrowheads="1"/>
              </p:cNvSpPr>
              <p:nvPr/>
            </p:nvSpPr>
            <p:spPr bwMode="auto">
              <a:xfrm>
                <a:off x="2737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83" name="Rectangle 152"/>
              <p:cNvSpPr>
                <a:spLocks noChangeArrowheads="1"/>
              </p:cNvSpPr>
              <p:nvPr/>
            </p:nvSpPr>
            <p:spPr bwMode="auto">
              <a:xfrm>
                <a:off x="2979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84" name="Rectangle 153"/>
              <p:cNvSpPr>
                <a:spLocks noChangeArrowheads="1"/>
              </p:cNvSpPr>
              <p:nvPr/>
            </p:nvSpPr>
            <p:spPr bwMode="auto">
              <a:xfrm>
                <a:off x="3221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85" name="Rectangle 154"/>
              <p:cNvSpPr>
                <a:spLocks noChangeArrowheads="1"/>
              </p:cNvSpPr>
              <p:nvPr/>
            </p:nvSpPr>
            <p:spPr bwMode="auto">
              <a:xfrm>
                <a:off x="2979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86" name="Rectangle 155"/>
              <p:cNvSpPr>
                <a:spLocks noChangeArrowheads="1"/>
              </p:cNvSpPr>
              <p:nvPr/>
            </p:nvSpPr>
            <p:spPr bwMode="auto">
              <a:xfrm>
                <a:off x="3221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87" name="Rectangle 156"/>
              <p:cNvSpPr>
                <a:spLocks noChangeArrowheads="1"/>
              </p:cNvSpPr>
              <p:nvPr/>
            </p:nvSpPr>
            <p:spPr bwMode="auto">
              <a:xfrm>
                <a:off x="3463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88" name="Rectangle 157"/>
              <p:cNvSpPr>
                <a:spLocks noChangeArrowheads="1"/>
              </p:cNvSpPr>
              <p:nvPr/>
            </p:nvSpPr>
            <p:spPr bwMode="auto">
              <a:xfrm>
                <a:off x="3463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89" name="Rectangle 158"/>
              <p:cNvSpPr>
                <a:spLocks noChangeArrowheads="1"/>
              </p:cNvSpPr>
              <p:nvPr/>
            </p:nvSpPr>
            <p:spPr bwMode="auto">
              <a:xfrm>
                <a:off x="3705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90" name="Rectangle 159"/>
              <p:cNvSpPr>
                <a:spLocks noChangeArrowheads="1"/>
              </p:cNvSpPr>
              <p:nvPr/>
            </p:nvSpPr>
            <p:spPr bwMode="auto">
              <a:xfrm>
                <a:off x="3705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91" name="Rectangle 160"/>
              <p:cNvSpPr>
                <a:spLocks noChangeArrowheads="1"/>
              </p:cNvSpPr>
              <p:nvPr/>
            </p:nvSpPr>
            <p:spPr bwMode="auto">
              <a:xfrm>
                <a:off x="4189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92" name="Rectangle 161"/>
              <p:cNvSpPr>
                <a:spLocks noChangeArrowheads="1"/>
              </p:cNvSpPr>
              <p:nvPr/>
            </p:nvSpPr>
            <p:spPr bwMode="auto">
              <a:xfrm>
                <a:off x="4189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93" name="Rectangle 162"/>
              <p:cNvSpPr>
                <a:spLocks noChangeArrowheads="1"/>
              </p:cNvSpPr>
              <p:nvPr/>
            </p:nvSpPr>
            <p:spPr bwMode="auto">
              <a:xfrm>
                <a:off x="3947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94" name="Rectangle 163"/>
              <p:cNvSpPr>
                <a:spLocks noChangeArrowheads="1"/>
              </p:cNvSpPr>
              <p:nvPr/>
            </p:nvSpPr>
            <p:spPr bwMode="auto">
              <a:xfrm>
                <a:off x="3947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695" name="Rectangle 164"/>
              <p:cNvSpPr>
                <a:spLocks noChangeArrowheads="1"/>
              </p:cNvSpPr>
              <p:nvPr/>
            </p:nvSpPr>
            <p:spPr bwMode="auto">
              <a:xfrm>
                <a:off x="4431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96" name="Rectangle 165"/>
              <p:cNvSpPr>
                <a:spLocks noChangeArrowheads="1"/>
              </p:cNvSpPr>
              <p:nvPr/>
            </p:nvSpPr>
            <p:spPr bwMode="auto">
              <a:xfrm>
                <a:off x="4431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97" name="Rectangle 166"/>
              <p:cNvSpPr>
                <a:spLocks noChangeArrowheads="1"/>
              </p:cNvSpPr>
              <p:nvPr/>
            </p:nvSpPr>
            <p:spPr bwMode="auto">
              <a:xfrm>
                <a:off x="4673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98" name="Rectangle 167"/>
              <p:cNvSpPr>
                <a:spLocks noChangeArrowheads="1"/>
              </p:cNvSpPr>
              <p:nvPr/>
            </p:nvSpPr>
            <p:spPr bwMode="auto">
              <a:xfrm>
                <a:off x="4673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699" name="Rectangle 168"/>
              <p:cNvSpPr>
                <a:spLocks noChangeArrowheads="1"/>
              </p:cNvSpPr>
              <p:nvPr/>
            </p:nvSpPr>
            <p:spPr bwMode="auto">
              <a:xfrm>
                <a:off x="4915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00" name="Rectangle 169"/>
              <p:cNvSpPr>
                <a:spLocks noChangeArrowheads="1"/>
              </p:cNvSpPr>
              <p:nvPr/>
            </p:nvSpPr>
            <p:spPr bwMode="auto">
              <a:xfrm>
                <a:off x="4915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01" name="Rectangle 170"/>
              <p:cNvSpPr>
                <a:spLocks noChangeArrowheads="1"/>
              </p:cNvSpPr>
              <p:nvPr/>
            </p:nvSpPr>
            <p:spPr bwMode="auto">
              <a:xfrm>
                <a:off x="5157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02" name="Rectangle 171"/>
              <p:cNvSpPr>
                <a:spLocks noChangeArrowheads="1"/>
              </p:cNvSpPr>
              <p:nvPr/>
            </p:nvSpPr>
            <p:spPr bwMode="auto">
              <a:xfrm>
                <a:off x="5157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03" name="Rectangle 172"/>
              <p:cNvSpPr>
                <a:spLocks noChangeArrowheads="1"/>
              </p:cNvSpPr>
              <p:nvPr/>
            </p:nvSpPr>
            <p:spPr bwMode="auto">
              <a:xfrm>
                <a:off x="5399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04" name="Rectangle 173"/>
              <p:cNvSpPr>
                <a:spLocks noChangeArrowheads="1"/>
              </p:cNvSpPr>
              <p:nvPr/>
            </p:nvSpPr>
            <p:spPr bwMode="auto">
              <a:xfrm>
                <a:off x="5399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05" name="Rectangle 174"/>
              <p:cNvSpPr>
                <a:spLocks noChangeArrowheads="1"/>
              </p:cNvSpPr>
              <p:nvPr/>
            </p:nvSpPr>
            <p:spPr bwMode="auto">
              <a:xfrm>
                <a:off x="5644" y="3288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06" name="Rectangle 175"/>
              <p:cNvSpPr>
                <a:spLocks noChangeArrowheads="1"/>
              </p:cNvSpPr>
              <p:nvPr/>
            </p:nvSpPr>
            <p:spPr bwMode="auto">
              <a:xfrm>
                <a:off x="5644" y="3517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07" name="Rectangle 176"/>
              <p:cNvSpPr>
                <a:spLocks noChangeArrowheads="1"/>
              </p:cNvSpPr>
              <p:nvPr/>
            </p:nvSpPr>
            <p:spPr bwMode="auto">
              <a:xfrm>
                <a:off x="2192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08" name="Rectangle 177"/>
              <p:cNvSpPr>
                <a:spLocks noChangeArrowheads="1"/>
              </p:cNvSpPr>
              <p:nvPr/>
            </p:nvSpPr>
            <p:spPr bwMode="auto">
              <a:xfrm>
                <a:off x="2434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09" name="Rectangle 178"/>
              <p:cNvSpPr>
                <a:spLocks noChangeArrowheads="1"/>
              </p:cNvSpPr>
              <p:nvPr/>
            </p:nvSpPr>
            <p:spPr bwMode="auto">
              <a:xfrm>
                <a:off x="2676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10" name="Rectangle 179"/>
              <p:cNvSpPr>
                <a:spLocks noChangeArrowheads="1"/>
              </p:cNvSpPr>
              <p:nvPr/>
            </p:nvSpPr>
            <p:spPr bwMode="auto">
              <a:xfrm>
                <a:off x="2918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11" name="Rectangle 180"/>
              <p:cNvSpPr>
                <a:spLocks noChangeArrowheads="1"/>
              </p:cNvSpPr>
              <p:nvPr/>
            </p:nvSpPr>
            <p:spPr bwMode="auto">
              <a:xfrm>
                <a:off x="3160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12" name="Rectangle 181"/>
              <p:cNvSpPr>
                <a:spLocks noChangeArrowheads="1"/>
              </p:cNvSpPr>
              <p:nvPr/>
            </p:nvSpPr>
            <p:spPr bwMode="auto">
              <a:xfrm>
                <a:off x="3402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13" name="Rectangle 182"/>
              <p:cNvSpPr>
                <a:spLocks noChangeArrowheads="1"/>
              </p:cNvSpPr>
              <p:nvPr/>
            </p:nvSpPr>
            <p:spPr bwMode="auto">
              <a:xfrm>
                <a:off x="3647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14" name="Rectangle 183"/>
              <p:cNvSpPr>
                <a:spLocks noChangeArrowheads="1"/>
              </p:cNvSpPr>
              <p:nvPr/>
            </p:nvSpPr>
            <p:spPr bwMode="auto">
              <a:xfrm>
                <a:off x="4131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15" name="Rectangle 184"/>
              <p:cNvSpPr>
                <a:spLocks noChangeArrowheads="1"/>
              </p:cNvSpPr>
              <p:nvPr/>
            </p:nvSpPr>
            <p:spPr bwMode="auto">
              <a:xfrm>
                <a:off x="3889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16" name="Rectangle 185"/>
              <p:cNvSpPr>
                <a:spLocks noChangeArrowheads="1"/>
              </p:cNvSpPr>
              <p:nvPr/>
            </p:nvSpPr>
            <p:spPr bwMode="auto">
              <a:xfrm>
                <a:off x="4373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17" name="Rectangle 186"/>
              <p:cNvSpPr>
                <a:spLocks noChangeArrowheads="1"/>
              </p:cNvSpPr>
              <p:nvPr/>
            </p:nvSpPr>
            <p:spPr bwMode="auto">
              <a:xfrm>
                <a:off x="4615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18" name="Rectangle 187"/>
              <p:cNvSpPr>
                <a:spLocks noChangeArrowheads="1"/>
              </p:cNvSpPr>
              <p:nvPr/>
            </p:nvSpPr>
            <p:spPr bwMode="auto">
              <a:xfrm>
                <a:off x="4857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19" name="Rectangle 188"/>
              <p:cNvSpPr>
                <a:spLocks noChangeArrowheads="1"/>
              </p:cNvSpPr>
              <p:nvPr/>
            </p:nvSpPr>
            <p:spPr bwMode="auto">
              <a:xfrm>
                <a:off x="5099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20" name="Rectangle 189"/>
              <p:cNvSpPr>
                <a:spLocks noChangeArrowheads="1"/>
              </p:cNvSpPr>
              <p:nvPr/>
            </p:nvSpPr>
            <p:spPr bwMode="auto">
              <a:xfrm>
                <a:off x="5341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</a:t>
                </a:r>
                <a:endParaRPr lang="en-US" altLang="zh-CN"/>
              </a:p>
            </p:txBody>
          </p:sp>
          <p:sp>
            <p:nvSpPr>
              <p:cNvPr id="22721" name="Rectangle 190"/>
              <p:cNvSpPr>
                <a:spLocks noChangeArrowheads="1"/>
              </p:cNvSpPr>
              <p:nvPr/>
            </p:nvSpPr>
            <p:spPr bwMode="auto">
              <a:xfrm>
                <a:off x="5583" y="1181"/>
                <a:ext cx="6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/>
              </a:p>
            </p:txBody>
          </p:sp>
          <p:sp>
            <p:nvSpPr>
              <p:cNvPr id="22722" name="Rectangle 191"/>
              <p:cNvSpPr>
                <a:spLocks noChangeArrowheads="1"/>
              </p:cNvSpPr>
              <p:nvPr/>
            </p:nvSpPr>
            <p:spPr bwMode="auto">
              <a:xfrm>
                <a:off x="1311" y="1181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传输数据</a:t>
                </a:r>
                <a:endParaRPr lang="zh-CN" altLang="en-US"/>
              </a:p>
            </p:txBody>
          </p:sp>
          <p:sp>
            <p:nvSpPr>
              <p:cNvPr id="22723" name="Rectangle 192"/>
              <p:cNvSpPr>
                <a:spLocks noChangeArrowheads="1"/>
              </p:cNvSpPr>
              <p:nvPr/>
            </p:nvSpPr>
            <p:spPr bwMode="auto">
              <a:xfrm>
                <a:off x="1188" y="1411"/>
                <a:ext cx="760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数据信号波形</a:t>
                </a:r>
                <a:endParaRPr lang="zh-CN" altLang="en-US"/>
              </a:p>
            </p:txBody>
          </p:sp>
          <p:sp>
            <p:nvSpPr>
              <p:cNvPr id="22724" name="Rectangle 193"/>
              <p:cNvSpPr>
                <a:spLocks noChangeArrowheads="1"/>
              </p:cNvSpPr>
              <p:nvPr/>
            </p:nvSpPr>
            <p:spPr bwMode="auto">
              <a:xfrm>
                <a:off x="1437" y="1892"/>
                <a:ext cx="25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噪声</a:t>
                </a:r>
                <a:endParaRPr lang="zh-CN" altLang="en-US"/>
              </a:p>
            </p:txBody>
          </p:sp>
          <p:sp>
            <p:nvSpPr>
              <p:cNvPr id="22725" name="Rectangle 194"/>
              <p:cNvSpPr>
                <a:spLocks noChangeArrowheads="1"/>
              </p:cNvSpPr>
              <p:nvPr/>
            </p:nvSpPr>
            <p:spPr bwMode="auto">
              <a:xfrm>
                <a:off x="1343" y="2353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数据信号</a:t>
                </a:r>
                <a:endParaRPr lang="zh-CN" altLang="en-US"/>
              </a:p>
            </p:txBody>
          </p:sp>
          <p:sp>
            <p:nvSpPr>
              <p:cNvPr id="22726" name="Rectangle 195"/>
              <p:cNvSpPr>
                <a:spLocks noChangeArrowheads="1"/>
              </p:cNvSpPr>
              <p:nvPr/>
            </p:nvSpPr>
            <p:spPr bwMode="auto">
              <a:xfrm>
                <a:off x="1282" y="2463"/>
                <a:ext cx="633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与噪声信号</a:t>
                </a:r>
                <a:endParaRPr lang="zh-CN" altLang="en-US"/>
              </a:p>
            </p:txBody>
          </p:sp>
          <p:sp>
            <p:nvSpPr>
              <p:cNvPr id="22727" name="Rectangle 196"/>
              <p:cNvSpPr>
                <a:spLocks noChangeArrowheads="1"/>
              </p:cNvSpPr>
              <p:nvPr/>
            </p:nvSpPr>
            <p:spPr bwMode="auto">
              <a:xfrm>
                <a:off x="1221" y="2573"/>
                <a:ext cx="760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叠加后的波形</a:t>
                </a:r>
                <a:endParaRPr lang="zh-CN" altLang="en-US"/>
              </a:p>
            </p:txBody>
          </p:sp>
          <p:sp>
            <p:nvSpPr>
              <p:cNvPr id="22728" name="Rectangle 197"/>
              <p:cNvSpPr>
                <a:spLocks noChangeArrowheads="1"/>
              </p:cNvSpPr>
              <p:nvPr/>
            </p:nvSpPr>
            <p:spPr bwMode="auto">
              <a:xfrm>
                <a:off x="1405" y="3012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采样时间</a:t>
                </a:r>
                <a:endParaRPr lang="zh-CN" altLang="en-US"/>
              </a:p>
            </p:txBody>
          </p:sp>
          <p:sp>
            <p:nvSpPr>
              <p:cNvPr id="22729" name="Rectangle 198"/>
              <p:cNvSpPr>
                <a:spLocks noChangeArrowheads="1"/>
              </p:cNvSpPr>
              <p:nvPr/>
            </p:nvSpPr>
            <p:spPr bwMode="auto">
              <a:xfrm>
                <a:off x="1405" y="3288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接收数据</a:t>
                </a:r>
                <a:endParaRPr lang="zh-CN" altLang="en-US"/>
              </a:p>
            </p:txBody>
          </p:sp>
          <p:sp>
            <p:nvSpPr>
              <p:cNvPr id="22730" name="Rectangle 199"/>
              <p:cNvSpPr>
                <a:spLocks noChangeArrowheads="1"/>
              </p:cNvSpPr>
              <p:nvPr/>
            </p:nvSpPr>
            <p:spPr bwMode="auto">
              <a:xfrm>
                <a:off x="1405" y="3517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原始数据</a:t>
                </a:r>
                <a:endParaRPr lang="zh-CN" altLang="en-US"/>
              </a:p>
            </p:txBody>
          </p:sp>
          <p:sp>
            <p:nvSpPr>
              <p:cNvPr id="22731" name="Rectangle 200"/>
              <p:cNvSpPr>
                <a:spLocks noChangeArrowheads="1"/>
              </p:cNvSpPr>
              <p:nvPr/>
            </p:nvSpPr>
            <p:spPr bwMode="auto">
              <a:xfrm>
                <a:off x="4337" y="3701"/>
                <a:ext cx="506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2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出错的位</a:t>
                </a:r>
                <a:endParaRPr lang="zh-CN" altLang="en-US"/>
              </a:p>
            </p:txBody>
          </p:sp>
          <p:sp>
            <p:nvSpPr>
              <p:cNvPr id="22732" name="Freeform 201"/>
              <p:cNvSpPr>
                <a:spLocks noChangeArrowheads="1"/>
              </p:cNvSpPr>
              <p:nvPr/>
            </p:nvSpPr>
            <p:spPr bwMode="auto">
              <a:xfrm>
                <a:off x="3776" y="3640"/>
                <a:ext cx="474" cy="115"/>
              </a:xfrm>
              <a:custGeom>
                <a:avLst/>
                <a:gdLst>
                  <a:gd name="T0" fmla="*/ 474 w 474"/>
                  <a:gd name="T1" fmla="*/ 115 h 115"/>
                  <a:gd name="T2" fmla="*/ 419 w 474"/>
                  <a:gd name="T3" fmla="*/ 112 h 115"/>
                  <a:gd name="T4" fmla="*/ 361 w 474"/>
                  <a:gd name="T5" fmla="*/ 107 h 115"/>
                  <a:gd name="T6" fmla="*/ 297 w 474"/>
                  <a:gd name="T7" fmla="*/ 98 h 115"/>
                  <a:gd name="T8" fmla="*/ 232 w 474"/>
                  <a:gd name="T9" fmla="*/ 83 h 115"/>
                  <a:gd name="T10" fmla="*/ 171 w 474"/>
                  <a:gd name="T11" fmla="*/ 66 h 115"/>
                  <a:gd name="T12" fmla="*/ 110 w 474"/>
                  <a:gd name="T13" fmla="*/ 46 h 115"/>
                  <a:gd name="T14" fmla="*/ 51 w 474"/>
                  <a:gd name="T15" fmla="*/ 24 h 115"/>
                  <a:gd name="T16" fmla="*/ 0 w 474"/>
                  <a:gd name="T17" fmla="*/ 0 h 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74" h="115">
                    <a:moveTo>
                      <a:pt x="474" y="115"/>
                    </a:moveTo>
                    <a:lnTo>
                      <a:pt x="419" y="112"/>
                    </a:lnTo>
                    <a:lnTo>
                      <a:pt x="361" y="107"/>
                    </a:lnTo>
                    <a:lnTo>
                      <a:pt x="297" y="98"/>
                    </a:lnTo>
                    <a:lnTo>
                      <a:pt x="232" y="83"/>
                    </a:lnTo>
                    <a:lnTo>
                      <a:pt x="171" y="66"/>
                    </a:lnTo>
                    <a:lnTo>
                      <a:pt x="110" y="46"/>
                    </a:lnTo>
                    <a:lnTo>
                      <a:pt x="51" y="24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3" name="Freeform 202"/>
              <p:cNvSpPr>
                <a:spLocks noChangeArrowheads="1"/>
              </p:cNvSpPr>
              <p:nvPr/>
            </p:nvSpPr>
            <p:spPr bwMode="auto">
              <a:xfrm>
                <a:off x="3737" y="3616"/>
                <a:ext cx="74" cy="51"/>
              </a:xfrm>
              <a:custGeom>
                <a:avLst/>
                <a:gdLst>
                  <a:gd name="T0" fmla="*/ 0 w 74"/>
                  <a:gd name="T1" fmla="*/ 0 h 51"/>
                  <a:gd name="T2" fmla="*/ 74 w 74"/>
                  <a:gd name="T3" fmla="*/ 12 h 51"/>
                  <a:gd name="T4" fmla="*/ 68 w 74"/>
                  <a:gd name="T5" fmla="*/ 12 h 51"/>
                  <a:gd name="T6" fmla="*/ 65 w 74"/>
                  <a:gd name="T7" fmla="*/ 14 h 51"/>
                  <a:gd name="T8" fmla="*/ 61 w 74"/>
                  <a:gd name="T9" fmla="*/ 17 h 51"/>
                  <a:gd name="T10" fmla="*/ 55 w 74"/>
                  <a:gd name="T11" fmla="*/ 19 h 51"/>
                  <a:gd name="T12" fmla="*/ 52 w 74"/>
                  <a:gd name="T13" fmla="*/ 24 h 51"/>
                  <a:gd name="T14" fmla="*/ 49 w 74"/>
                  <a:gd name="T15" fmla="*/ 26 h 51"/>
                  <a:gd name="T16" fmla="*/ 45 w 74"/>
                  <a:gd name="T17" fmla="*/ 29 h 51"/>
                  <a:gd name="T18" fmla="*/ 42 w 74"/>
                  <a:gd name="T19" fmla="*/ 34 h 51"/>
                  <a:gd name="T20" fmla="*/ 39 w 74"/>
                  <a:gd name="T21" fmla="*/ 36 h 51"/>
                  <a:gd name="T22" fmla="*/ 39 w 74"/>
                  <a:gd name="T23" fmla="*/ 41 h 51"/>
                  <a:gd name="T24" fmla="*/ 36 w 74"/>
                  <a:gd name="T25" fmla="*/ 43 h 51"/>
                  <a:gd name="T26" fmla="*/ 36 w 74"/>
                  <a:gd name="T27" fmla="*/ 48 h 51"/>
                  <a:gd name="T28" fmla="*/ 32 w 74"/>
                  <a:gd name="T29" fmla="*/ 51 h 51"/>
                  <a:gd name="T30" fmla="*/ 0 w 74"/>
                  <a:gd name="T31" fmla="*/ 0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4" h="51">
                    <a:moveTo>
                      <a:pt x="0" y="0"/>
                    </a:moveTo>
                    <a:lnTo>
                      <a:pt x="74" y="12"/>
                    </a:lnTo>
                    <a:lnTo>
                      <a:pt x="68" y="12"/>
                    </a:lnTo>
                    <a:lnTo>
                      <a:pt x="65" y="14"/>
                    </a:lnTo>
                    <a:lnTo>
                      <a:pt x="61" y="17"/>
                    </a:lnTo>
                    <a:lnTo>
                      <a:pt x="55" y="19"/>
                    </a:lnTo>
                    <a:lnTo>
                      <a:pt x="52" y="24"/>
                    </a:lnTo>
                    <a:lnTo>
                      <a:pt x="49" y="26"/>
                    </a:lnTo>
                    <a:lnTo>
                      <a:pt x="45" y="29"/>
                    </a:lnTo>
                    <a:lnTo>
                      <a:pt x="42" y="34"/>
                    </a:lnTo>
                    <a:lnTo>
                      <a:pt x="39" y="36"/>
                    </a:lnTo>
                    <a:lnTo>
                      <a:pt x="39" y="41"/>
                    </a:lnTo>
                    <a:lnTo>
                      <a:pt x="36" y="43"/>
                    </a:lnTo>
                    <a:lnTo>
                      <a:pt x="36" y="48"/>
                    </a:lnTo>
                    <a:lnTo>
                      <a:pt x="32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4" name="Freeform 203"/>
              <p:cNvSpPr>
                <a:spLocks noChangeArrowheads="1"/>
              </p:cNvSpPr>
              <p:nvPr/>
            </p:nvSpPr>
            <p:spPr bwMode="auto">
              <a:xfrm>
                <a:off x="4918" y="3640"/>
                <a:ext cx="471" cy="115"/>
              </a:xfrm>
              <a:custGeom>
                <a:avLst/>
                <a:gdLst>
                  <a:gd name="T0" fmla="*/ 0 w 471"/>
                  <a:gd name="T1" fmla="*/ 115 h 115"/>
                  <a:gd name="T2" fmla="*/ 52 w 471"/>
                  <a:gd name="T3" fmla="*/ 112 h 115"/>
                  <a:gd name="T4" fmla="*/ 113 w 471"/>
                  <a:gd name="T5" fmla="*/ 107 h 115"/>
                  <a:gd name="T6" fmla="*/ 174 w 471"/>
                  <a:gd name="T7" fmla="*/ 98 h 115"/>
                  <a:gd name="T8" fmla="*/ 239 w 471"/>
                  <a:gd name="T9" fmla="*/ 83 h 115"/>
                  <a:gd name="T10" fmla="*/ 303 w 471"/>
                  <a:gd name="T11" fmla="*/ 66 h 115"/>
                  <a:gd name="T12" fmla="*/ 365 w 471"/>
                  <a:gd name="T13" fmla="*/ 46 h 115"/>
                  <a:gd name="T14" fmla="*/ 423 w 471"/>
                  <a:gd name="T15" fmla="*/ 24 h 115"/>
                  <a:gd name="T16" fmla="*/ 471 w 471"/>
                  <a:gd name="T17" fmla="*/ 0 h 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71" h="115">
                    <a:moveTo>
                      <a:pt x="0" y="115"/>
                    </a:moveTo>
                    <a:lnTo>
                      <a:pt x="52" y="112"/>
                    </a:lnTo>
                    <a:lnTo>
                      <a:pt x="113" y="107"/>
                    </a:lnTo>
                    <a:lnTo>
                      <a:pt x="174" y="98"/>
                    </a:lnTo>
                    <a:lnTo>
                      <a:pt x="239" y="83"/>
                    </a:lnTo>
                    <a:lnTo>
                      <a:pt x="303" y="66"/>
                    </a:lnTo>
                    <a:lnTo>
                      <a:pt x="365" y="46"/>
                    </a:lnTo>
                    <a:lnTo>
                      <a:pt x="423" y="24"/>
                    </a:lnTo>
                    <a:lnTo>
                      <a:pt x="47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5" name="Freeform 204"/>
              <p:cNvSpPr>
                <a:spLocks noChangeArrowheads="1"/>
              </p:cNvSpPr>
              <p:nvPr/>
            </p:nvSpPr>
            <p:spPr bwMode="auto">
              <a:xfrm>
                <a:off x="5357" y="3616"/>
                <a:ext cx="74" cy="51"/>
              </a:xfrm>
              <a:custGeom>
                <a:avLst/>
                <a:gdLst>
                  <a:gd name="T0" fmla="*/ 74 w 74"/>
                  <a:gd name="T1" fmla="*/ 0 h 51"/>
                  <a:gd name="T2" fmla="*/ 0 w 74"/>
                  <a:gd name="T3" fmla="*/ 12 h 51"/>
                  <a:gd name="T4" fmla="*/ 3 w 74"/>
                  <a:gd name="T5" fmla="*/ 12 h 51"/>
                  <a:gd name="T6" fmla="*/ 9 w 74"/>
                  <a:gd name="T7" fmla="*/ 14 h 51"/>
                  <a:gd name="T8" fmla="*/ 13 w 74"/>
                  <a:gd name="T9" fmla="*/ 17 h 51"/>
                  <a:gd name="T10" fmla="*/ 16 w 74"/>
                  <a:gd name="T11" fmla="*/ 19 h 51"/>
                  <a:gd name="T12" fmla="*/ 22 w 74"/>
                  <a:gd name="T13" fmla="*/ 24 h 51"/>
                  <a:gd name="T14" fmla="*/ 26 w 74"/>
                  <a:gd name="T15" fmla="*/ 26 h 51"/>
                  <a:gd name="T16" fmla="*/ 29 w 74"/>
                  <a:gd name="T17" fmla="*/ 29 h 51"/>
                  <a:gd name="T18" fmla="*/ 32 w 74"/>
                  <a:gd name="T19" fmla="*/ 34 h 51"/>
                  <a:gd name="T20" fmla="*/ 32 w 74"/>
                  <a:gd name="T21" fmla="*/ 36 h 51"/>
                  <a:gd name="T22" fmla="*/ 35 w 74"/>
                  <a:gd name="T23" fmla="*/ 41 h 51"/>
                  <a:gd name="T24" fmla="*/ 38 w 74"/>
                  <a:gd name="T25" fmla="*/ 43 h 51"/>
                  <a:gd name="T26" fmla="*/ 38 w 74"/>
                  <a:gd name="T27" fmla="*/ 48 h 51"/>
                  <a:gd name="T28" fmla="*/ 42 w 74"/>
                  <a:gd name="T29" fmla="*/ 51 h 51"/>
                  <a:gd name="T30" fmla="*/ 74 w 74"/>
                  <a:gd name="T31" fmla="*/ 0 h 5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74" h="51">
                    <a:moveTo>
                      <a:pt x="74" y="0"/>
                    </a:moveTo>
                    <a:lnTo>
                      <a:pt x="0" y="12"/>
                    </a:lnTo>
                    <a:lnTo>
                      <a:pt x="3" y="12"/>
                    </a:lnTo>
                    <a:lnTo>
                      <a:pt x="9" y="14"/>
                    </a:lnTo>
                    <a:lnTo>
                      <a:pt x="13" y="17"/>
                    </a:lnTo>
                    <a:lnTo>
                      <a:pt x="16" y="19"/>
                    </a:lnTo>
                    <a:lnTo>
                      <a:pt x="22" y="24"/>
                    </a:lnTo>
                    <a:lnTo>
                      <a:pt x="26" y="26"/>
                    </a:lnTo>
                    <a:lnTo>
                      <a:pt x="29" y="29"/>
                    </a:lnTo>
                    <a:lnTo>
                      <a:pt x="32" y="34"/>
                    </a:lnTo>
                    <a:lnTo>
                      <a:pt x="32" y="36"/>
                    </a:lnTo>
                    <a:lnTo>
                      <a:pt x="35" y="41"/>
                    </a:lnTo>
                    <a:lnTo>
                      <a:pt x="38" y="43"/>
                    </a:lnTo>
                    <a:lnTo>
                      <a:pt x="38" y="48"/>
                    </a:lnTo>
                    <a:lnTo>
                      <a:pt x="42" y="51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6" name="Freeform 205"/>
              <p:cNvSpPr>
                <a:spLocks noChangeArrowheads="1"/>
              </p:cNvSpPr>
              <p:nvPr/>
            </p:nvSpPr>
            <p:spPr bwMode="auto">
              <a:xfrm>
                <a:off x="2101" y="1807"/>
                <a:ext cx="3601" cy="366"/>
              </a:xfrm>
              <a:custGeom>
                <a:avLst/>
                <a:gdLst>
                  <a:gd name="T0" fmla="*/ 46 w 3601"/>
                  <a:gd name="T1" fmla="*/ 139 h 366"/>
                  <a:gd name="T2" fmla="*/ 107 w 3601"/>
                  <a:gd name="T3" fmla="*/ 139 h 366"/>
                  <a:gd name="T4" fmla="*/ 152 w 3601"/>
                  <a:gd name="T5" fmla="*/ 161 h 366"/>
                  <a:gd name="T6" fmla="*/ 213 w 3601"/>
                  <a:gd name="T7" fmla="*/ 114 h 366"/>
                  <a:gd name="T8" fmla="*/ 275 w 3601"/>
                  <a:gd name="T9" fmla="*/ 68 h 366"/>
                  <a:gd name="T10" fmla="*/ 336 w 3601"/>
                  <a:gd name="T11" fmla="*/ 139 h 366"/>
                  <a:gd name="T12" fmla="*/ 394 w 3601"/>
                  <a:gd name="T13" fmla="*/ 114 h 366"/>
                  <a:gd name="T14" fmla="*/ 455 w 3601"/>
                  <a:gd name="T15" fmla="*/ 114 h 366"/>
                  <a:gd name="T16" fmla="*/ 546 w 3601"/>
                  <a:gd name="T17" fmla="*/ 46 h 366"/>
                  <a:gd name="T18" fmla="*/ 607 w 3601"/>
                  <a:gd name="T19" fmla="*/ 34 h 366"/>
                  <a:gd name="T20" fmla="*/ 681 w 3601"/>
                  <a:gd name="T21" fmla="*/ 92 h 366"/>
                  <a:gd name="T22" fmla="*/ 742 w 3601"/>
                  <a:gd name="T23" fmla="*/ 139 h 366"/>
                  <a:gd name="T24" fmla="*/ 804 w 3601"/>
                  <a:gd name="T25" fmla="*/ 139 h 366"/>
                  <a:gd name="T26" fmla="*/ 865 w 3601"/>
                  <a:gd name="T27" fmla="*/ 127 h 366"/>
                  <a:gd name="T28" fmla="*/ 923 w 3601"/>
                  <a:gd name="T29" fmla="*/ 139 h 366"/>
                  <a:gd name="T30" fmla="*/ 1001 w 3601"/>
                  <a:gd name="T31" fmla="*/ 139 h 366"/>
                  <a:gd name="T32" fmla="*/ 1062 w 3601"/>
                  <a:gd name="T33" fmla="*/ 148 h 366"/>
                  <a:gd name="T34" fmla="*/ 1107 w 3601"/>
                  <a:gd name="T35" fmla="*/ 183 h 366"/>
                  <a:gd name="T36" fmla="*/ 1165 w 3601"/>
                  <a:gd name="T37" fmla="*/ 183 h 366"/>
                  <a:gd name="T38" fmla="*/ 1226 w 3601"/>
                  <a:gd name="T39" fmla="*/ 183 h 366"/>
                  <a:gd name="T40" fmla="*/ 1288 w 3601"/>
                  <a:gd name="T41" fmla="*/ 161 h 366"/>
                  <a:gd name="T42" fmla="*/ 1333 w 3601"/>
                  <a:gd name="T43" fmla="*/ 68 h 366"/>
                  <a:gd name="T44" fmla="*/ 1394 w 3601"/>
                  <a:gd name="T45" fmla="*/ 46 h 366"/>
                  <a:gd name="T46" fmla="*/ 1439 w 3601"/>
                  <a:gd name="T47" fmla="*/ 46 h 366"/>
                  <a:gd name="T48" fmla="*/ 1501 w 3601"/>
                  <a:gd name="T49" fmla="*/ 183 h 366"/>
                  <a:gd name="T50" fmla="*/ 1559 w 3601"/>
                  <a:gd name="T51" fmla="*/ 139 h 366"/>
                  <a:gd name="T52" fmla="*/ 1620 w 3601"/>
                  <a:gd name="T53" fmla="*/ 161 h 366"/>
                  <a:gd name="T54" fmla="*/ 1681 w 3601"/>
                  <a:gd name="T55" fmla="*/ 183 h 366"/>
                  <a:gd name="T56" fmla="*/ 1743 w 3601"/>
                  <a:gd name="T57" fmla="*/ 183 h 366"/>
                  <a:gd name="T58" fmla="*/ 1801 w 3601"/>
                  <a:gd name="T59" fmla="*/ 183 h 366"/>
                  <a:gd name="T60" fmla="*/ 1862 w 3601"/>
                  <a:gd name="T61" fmla="*/ 161 h 366"/>
                  <a:gd name="T62" fmla="*/ 1923 w 3601"/>
                  <a:gd name="T63" fmla="*/ 161 h 366"/>
                  <a:gd name="T64" fmla="*/ 1985 w 3601"/>
                  <a:gd name="T65" fmla="*/ 183 h 366"/>
                  <a:gd name="T66" fmla="*/ 2043 w 3601"/>
                  <a:gd name="T67" fmla="*/ 183 h 366"/>
                  <a:gd name="T68" fmla="*/ 2104 w 3601"/>
                  <a:gd name="T69" fmla="*/ 161 h 366"/>
                  <a:gd name="T70" fmla="*/ 2165 w 3601"/>
                  <a:gd name="T71" fmla="*/ 183 h 366"/>
                  <a:gd name="T72" fmla="*/ 2227 w 3601"/>
                  <a:gd name="T73" fmla="*/ 173 h 366"/>
                  <a:gd name="T74" fmla="*/ 2285 w 3601"/>
                  <a:gd name="T75" fmla="*/ 183 h 366"/>
                  <a:gd name="T76" fmla="*/ 2346 w 3601"/>
                  <a:gd name="T77" fmla="*/ 229 h 366"/>
                  <a:gd name="T78" fmla="*/ 2407 w 3601"/>
                  <a:gd name="T79" fmla="*/ 183 h 366"/>
                  <a:gd name="T80" fmla="*/ 2469 w 3601"/>
                  <a:gd name="T81" fmla="*/ 161 h 366"/>
                  <a:gd name="T82" fmla="*/ 2543 w 3601"/>
                  <a:gd name="T83" fmla="*/ 161 h 366"/>
                  <a:gd name="T84" fmla="*/ 2604 w 3601"/>
                  <a:gd name="T85" fmla="*/ 183 h 366"/>
                  <a:gd name="T86" fmla="*/ 2665 w 3601"/>
                  <a:gd name="T87" fmla="*/ 183 h 366"/>
                  <a:gd name="T88" fmla="*/ 2723 w 3601"/>
                  <a:gd name="T89" fmla="*/ 229 h 366"/>
                  <a:gd name="T90" fmla="*/ 2785 w 3601"/>
                  <a:gd name="T91" fmla="*/ 183 h 366"/>
                  <a:gd name="T92" fmla="*/ 2846 w 3601"/>
                  <a:gd name="T93" fmla="*/ 161 h 366"/>
                  <a:gd name="T94" fmla="*/ 2920 w 3601"/>
                  <a:gd name="T95" fmla="*/ 161 h 366"/>
                  <a:gd name="T96" fmla="*/ 2981 w 3601"/>
                  <a:gd name="T97" fmla="*/ 229 h 366"/>
                  <a:gd name="T98" fmla="*/ 3043 w 3601"/>
                  <a:gd name="T99" fmla="*/ 297 h 366"/>
                  <a:gd name="T100" fmla="*/ 3104 w 3601"/>
                  <a:gd name="T101" fmla="*/ 366 h 366"/>
                  <a:gd name="T102" fmla="*/ 3162 w 3601"/>
                  <a:gd name="T103" fmla="*/ 366 h 366"/>
                  <a:gd name="T104" fmla="*/ 3223 w 3601"/>
                  <a:gd name="T105" fmla="*/ 344 h 366"/>
                  <a:gd name="T106" fmla="*/ 3269 w 3601"/>
                  <a:gd name="T107" fmla="*/ 297 h 366"/>
                  <a:gd name="T108" fmla="*/ 3346 w 3601"/>
                  <a:gd name="T109" fmla="*/ 183 h 366"/>
                  <a:gd name="T110" fmla="*/ 3404 w 3601"/>
                  <a:gd name="T111" fmla="*/ 183 h 366"/>
                  <a:gd name="T112" fmla="*/ 3465 w 3601"/>
                  <a:gd name="T113" fmla="*/ 183 h 366"/>
                  <a:gd name="T114" fmla="*/ 3527 w 3601"/>
                  <a:gd name="T115" fmla="*/ 161 h 366"/>
                  <a:gd name="T116" fmla="*/ 3601 w 3601"/>
                  <a:gd name="T117" fmla="*/ 183 h 36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3601" h="366">
                    <a:moveTo>
                      <a:pt x="0" y="161"/>
                    </a:moveTo>
                    <a:lnTo>
                      <a:pt x="17" y="139"/>
                    </a:lnTo>
                    <a:lnTo>
                      <a:pt x="33" y="161"/>
                    </a:lnTo>
                    <a:lnTo>
                      <a:pt x="46" y="139"/>
                    </a:lnTo>
                    <a:lnTo>
                      <a:pt x="62" y="173"/>
                    </a:lnTo>
                    <a:lnTo>
                      <a:pt x="78" y="139"/>
                    </a:lnTo>
                    <a:lnTo>
                      <a:pt x="91" y="161"/>
                    </a:lnTo>
                    <a:lnTo>
                      <a:pt x="107" y="139"/>
                    </a:lnTo>
                    <a:lnTo>
                      <a:pt x="123" y="161"/>
                    </a:lnTo>
                    <a:lnTo>
                      <a:pt x="139" y="127"/>
                    </a:lnTo>
                    <a:lnTo>
                      <a:pt x="152" y="195"/>
                    </a:lnTo>
                    <a:lnTo>
                      <a:pt x="152" y="161"/>
                    </a:lnTo>
                    <a:lnTo>
                      <a:pt x="168" y="207"/>
                    </a:lnTo>
                    <a:lnTo>
                      <a:pt x="184" y="114"/>
                    </a:lnTo>
                    <a:lnTo>
                      <a:pt x="197" y="183"/>
                    </a:lnTo>
                    <a:lnTo>
                      <a:pt x="213" y="114"/>
                    </a:lnTo>
                    <a:lnTo>
                      <a:pt x="230" y="183"/>
                    </a:lnTo>
                    <a:lnTo>
                      <a:pt x="242" y="92"/>
                    </a:lnTo>
                    <a:lnTo>
                      <a:pt x="259" y="139"/>
                    </a:lnTo>
                    <a:lnTo>
                      <a:pt x="275" y="68"/>
                    </a:lnTo>
                    <a:lnTo>
                      <a:pt x="288" y="183"/>
                    </a:lnTo>
                    <a:lnTo>
                      <a:pt x="304" y="114"/>
                    </a:lnTo>
                    <a:lnTo>
                      <a:pt x="320" y="161"/>
                    </a:lnTo>
                    <a:lnTo>
                      <a:pt x="336" y="139"/>
                    </a:lnTo>
                    <a:lnTo>
                      <a:pt x="349" y="173"/>
                    </a:lnTo>
                    <a:lnTo>
                      <a:pt x="365" y="127"/>
                    </a:lnTo>
                    <a:lnTo>
                      <a:pt x="381" y="161"/>
                    </a:lnTo>
                    <a:lnTo>
                      <a:pt x="394" y="114"/>
                    </a:lnTo>
                    <a:lnTo>
                      <a:pt x="410" y="161"/>
                    </a:lnTo>
                    <a:lnTo>
                      <a:pt x="426" y="92"/>
                    </a:lnTo>
                    <a:lnTo>
                      <a:pt x="439" y="173"/>
                    </a:lnTo>
                    <a:lnTo>
                      <a:pt x="455" y="114"/>
                    </a:lnTo>
                    <a:lnTo>
                      <a:pt x="471" y="183"/>
                    </a:lnTo>
                    <a:lnTo>
                      <a:pt x="484" y="114"/>
                    </a:lnTo>
                    <a:lnTo>
                      <a:pt x="517" y="161"/>
                    </a:lnTo>
                    <a:lnTo>
                      <a:pt x="546" y="46"/>
                    </a:lnTo>
                    <a:lnTo>
                      <a:pt x="562" y="68"/>
                    </a:lnTo>
                    <a:lnTo>
                      <a:pt x="578" y="24"/>
                    </a:lnTo>
                    <a:lnTo>
                      <a:pt x="591" y="68"/>
                    </a:lnTo>
                    <a:lnTo>
                      <a:pt x="607" y="34"/>
                    </a:lnTo>
                    <a:lnTo>
                      <a:pt x="636" y="114"/>
                    </a:lnTo>
                    <a:lnTo>
                      <a:pt x="652" y="92"/>
                    </a:lnTo>
                    <a:lnTo>
                      <a:pt x="668" y="139"/>
                    </a:lnTo>
                    <a:lnTo>
                      <a:pt x="681" y="92"/>
                    </a:lnTo>
                    <a:lnTo>
                      <a:pt x="697" y="139"/>
                    </a:lnTo>
                    <a:lnTo>
                      <a:pt x="713" y="114"/>
                    </a:lnTo>
                    <a:lnTo>
                      <a:pt x="726" y="183"/>
                    </a:lnTo>
                    <a:lnTo>
                      <a:pt x="742" y="139"/>
                    </a:lnTo>
                    <a:lnTo>
                      <a:pt x="759" y="183"/>
                    </a:lnTo>
                    <a:lnTo>
                      <a:pt x="772" y="139"/>
                    </a:lnTo>
                    <a:lnTo>
                      <a:pt x="788" y="183"/>
                    </a:lnTo>
                    <a:lnTo>
                      <a:pt x="804" y="139"/>
                    </a:lnTo>
                    <a:lnTo>
                      <a:pt x="820" y="173"/>
                    </a:lnTo>
                    <a:lnTo>
                      <a:pt x="833" y="114"/>
                    </a:lnTo>
                    <a:lnTo>
                      <a:pt x="849" y="161"/>
                    </a:lnTo>
                    <a:lnTo>
                      <a:pt x="865" y="127"/>
                    </a:lnTo>
                    <a:lnTo>
                      <a:pt x="878" y="183"/>
                    </a:lnTo>
                    <a:lnTo>
                      <a:pt x="894" y="139"/>
                    </a:lnTo>
                    <a:lnTo>
                      <a:pt x="910" y="161"/>
                    </a:lnTo>
                    <a:lnTo>
                      <a:pt x="923" y="139"/>
                    </a:lnTo>
                    <a:lnTo>
                      <a:pt x="939" y="183"/>
                    </a:lnTo>
                    <a:lnTo>
                      <a:pt x="968" y="139"/>
                    </a:lnTo>
                    <a:lnTo>
                      <a:pt x="984" y="173"/>
                    </a:lnTo>
                    <a:lnTo>
                      <a:pt x="1001" y="139"/>
                    </a:lnTo>
                    <a:lnTo>
                      <a:pt x="1017" y="183"/>
                    </a:lnTo>
                    <a:lnTo>
                      <a:pt x="1030" y="161"/>
                    </a:lnTo>
                    <a:lnTo>
                      <a:pt x="1046" y="183"/>
                    </a:lnTo>
                    <a:lnTo>
                      <a:pt x="1062" y="148"/>
                    </a:lnTo>
                    <a:lnTo>
                      <a:pt x="1075" y="183"/>
                    </a:lnTo>
                    <a:lnTo>
                      <a:pt x="1075" y="161"/>
                    </a:lnTo>
                    <a:lnTo>
                      <a:pt x="1091" y="139"/>
                    </a:lnTo>
                    <a:lnTo>
                      <a:pt x="1107" y="183"/>
                    </a:lnTo>
                    <a:lnTo>
                      <a:pt x="1120" y="139"/>
                    </a:lnTo>
                    <a:lnTo>
                      <a:pt x="1136" y="161"/>
                    </a:lnTo>
                    <a:lnTo>
                      <a:pt x="1152" y="139"/>
                    </a:lnTo>
                    <a:lnTo>
                      <a:pt x="1165" y="183"/>
                    </a:lnTo>
                    <a:lnTo>
                      <a:pt x="1181" y="114"/>
                    </a:lnTo>
                    <a:lnTo>
                      <a:pt x="1181" y="161"/>
                    </a:lnTo>
                    <a:lnTo>
                      <a:pt x="1210" y="139"/>
                    </a:lnTo>
                    <a:lnTo>
                      <a:pt x="1226" y="183"/>
                    </a:lnTo>
                    <a:lnTo>
                      <a:pt x="1243" y="148"/>
                    </a:lnTo>
                    <a:lnTo>
                      <a:pt x="1259" y="173"/>
                    </a:lnTo>
                    <a:lnTo>
                      <a:pt x="1272" y="92"/>
                    </a:lnTo>
                    <a:lnTo>
                      <a:pt x="1288" y="161"/>
                    </a:lnTo>
                    <a:lnTo>
                      <a:pt x="1288" y="114"/>
                    </a:lnTo>
                    <a:lnTo>
                      <a:pt x="1304" y="139"/>
                    </a:lnTo>
                    <a:lnTo>
                      <a:pt x="1317" y="24"/>
                    </a:lnTo>
                    <a:lnTo>
                      <a:pt x="1333" y="68"/>
                    </a:lnTo>
                    <a:lnTo>
                      <a:pt x="1349" y="0"/>
                    </a:lnTo>
                    <a:lnTo>
                      <a:pt x="1362" y="92"/>
                    </a:lnTo>
                    <a:lnTo>
                      <a:pt x="1378" y="0"/>
                    </a:lnTo>
                    <a:lnTo>
                      <a:pt x="1394" y="46"/>
                    </a:lnTo>
                    <a:lnTo>
                      <a:pt x="1394" y="24"/>
                    </a:lnTo>
                    <a:lnTo>
                      <a:pt x="1407" y="46"/>
                    </a:lnTo>
                    <a:lnTo>
                      <a:pt x="1423" y="12"/>
                    </a:lnTo>
                    <a:lnTo>
                      <a:pt x="1439" y="46"/>
                    </a:lnTo>
                    <a:lnTo>
                      <a:pt x="1455" y="24"/>
                    </a:lnTo>
                    <a:lnTo>
                      <a:pt x="1468" y="92"/>
                    </a:lnTo>
                    <a:lnTo>
                      <a:pt x="1485" y="68"/>
                    </a:lnTo>
                    <a:lnTo>
                      <a:pt x="1501" y="183"/>
                    </a:lnTo>
                    <a:lnTo>
                      <a:pt x="1514" y="127"/>
                    </a:lnTo>
                    <a:lnTo>
                      <a:pt x="1530" y="183"/>
                    </a:lnTo>
                    <a:lnTo>
                      <a:pt x="1546" y="68"/>
                    </a:lnTo>
                    <a:lnTo>
                      <a:pt x="1559" y="139"/>
                    </a:lnTo>
                    <a:lnTo>
                      <a:pt x="1575" y="92"/>
                    </a:lnTo>
                    <a:lnTo>
                      <a:pt x="1591" y="183"/>
                    </a:lnTo>
                    <a:lnTo>
                      <a:pt x="1604" y="114"/>
                    </a:lnTo>
                    <a:lnTo>
                      <a:pt x="1620" y="161"/>
                    </a:lnTo>
                    <a:lnTo>
                      <a:pt x="1636" y="114"/>
                    </a:lnTo>
                    <a:lnTo>
                      <a:pt x="1649" y="173"/>
                    </a:lnTo>
                    <a:lnTo>
                      <a:pt x="1665" y="114"/>
                    </a:lnTo>
                    <a:lnTo>
                      <a:pt x="1681" y="183"/>
                    </a:lnTo>
                    <a:lnTo>
                      <a:pt x="1697" y="139"/>
                    </a:lnTo>
                    <a:lnTo>
                      <a:pt x="1710" y="161"/>
                    </a:lnTo>
                    <a:lnTo>
                      <a:pt x="1726" y="114"/>
                    </a:lnTo>
                    <a:lnTo>
                      <a:pt x="1743" y="183"/>
                    </a:lnTo>
                    <a:lnTo>
                      <a:pt x="1756" y="127"/>
                    </a:lnTo>
                    <a:lnTo>
                      <a:pt x="1772" y="183"/>
                    </a:lnTo>
                    <a:lnTo>
                      <a:pt x="1788" y="114"/>
                    </a:lnTo>
                    <a:lnTo>
                      <a:pt x="1801" y="183"/>
                    </a:lnTo>
                    <a:lnTo>
                      <a:pt x="1817" y="139"/>
                    </a:lnTo>
                    <a:lnTo>
                      <a:pt x="1833" y="183"/>
                    </a:lnTo>
                    <a:lnTo>
                      <a:pt x="1846" y="92"/>
                    </a:lnTo>
                    <a:lnTo>
                      <a:pt x="1862" y="161"/>
                    </a:lnTo>
                    <a:lnTo>
                      <a:pt x="1878" y="139"/>
                    </a:lnTo>
                    <a:lnTo>
                      <a:pt x="1894" y="161"/>
                    </a:lnTo>
                    <a:lnTo>
                      <a:pt x="1907" y="139"/>
                    </a:lnTo>
                    <a:lnTo>
                      <a:pt x="1923" y="161"/>
                    </a:lnTo>
                    <a:lnTo>
                      <a:pt x="1939" y="139"/>
                    </a:lnTo>
                    <a:lnTo>
                      <a:pt x="1952" y="183"/>
                    </a:lnTo>
                    <a:lnTo>
                      <a:pt x="1968" y="139"/>
                    </a:lnTo>
                    <a:lnTo>
                      <a:pt x="1985" y="183"/>
                    </a:lnTo>
                    <a:lnTo>
                      <a:pt x="1997" y="139"/>
                    </a:lnTo>
                    <a:lnTo>
                      <a:pt x="2014" y="183"/>
                    </a:lnTo>
                    <a:lnTo>
                      <a:pt x="2030" y="148"/>
                    </a:lnTo>
                    <a:lnTo>
                      <a:pt x="2043" y="183"/>
                    </a:lnTo>
                    <a:lnTo>
                      <a:pt x="2059" y="161"/>
                    </a:lnTo>
                    <a:lnTo>
                      <a:pt x="2075" y="183"/>
                    </a:lnTo>
                    <a:lnTo>
                      <a:pt x="2088" y="139"/>
                    </a:lnTo>
                    <a:lnTo>
                      <a:pt x="2104" y="161"/>
                    </a:lnTo>
                    <a:lnTo>
                      <a:pt x="2120" y="114"/>
                    </a:lnTo>
                    <a:lnTo>
                      <a:pt x="2136" y="183"/>
                    </a:lnTo>
                    <a:lnTo>
                      <a:pt x="2149" y="139"/>
                    </a:lnTo>
                    <a:lnTo>
                      <a:pt x="2165" y="183"/>
                    </a:lnTo>
                    <a:lnTo>
                      <a:pt x="2181" y="139"/>
                    </a:lnTo>
                    <a:lnTo>
                      <a:pt x="2194" y="183"/>
                    </a:lnTo>
                    <a:lnTo>
                      <a:pt x="2210" y="139"/>
                    </a:lnTo>
                    <a:lnTo>
                      <a:pt x="2227" y="173"/>
                    </a:lnTo>
                    <a:lnTo>
                      <a:pt x="2239" y="127"/>
                    </a:lnTo>
                    <a:lnTo>
                      <a:pt x="2256" y="161"/>
                    </a:lnTo>
                    <a:lnTo>
                      <a:pt x="2272" y="114"/>
                    </a:lnTo>
                    <a:lnTo>
                      <a:pt x="2285" y="183"/>
                    </a:lnTo>
                    <a:lnTo>
                      <a:pt x="2301" y="161"/>
                    </a:lnTo>
                    <a:lnTo>
                      <a:pt x="2317" y="207"/>
                    </a:lnTo>
                    <a:lnTo>
                      <a:pt x="2330" y="183"/>
                    </a:lnTo>
                    <a:lnTo>
                      <a:pt x="2346" y="229"/>
                    </a:lnTo>
                    <a:lnTo>
                      <a:pt x="2362" y="161"/>
                    </a:lnTo>
                    <a:lnTo>
                      <a:pt x="2378" y="183"/>
                    </a:lnTo>
                    <a:lnTo>
                      <a:pt x="2391" y="139"/>
                    </a:lnTo>
                    <a:lnTo>
                      <a:pt x="2407" y="183"/>
                    </a:lnTo>
                    <a:lnTo>
                      <a:pt x="2423" y="139"/>
                    </a:lnTo>
                    <a:lnTo>
                      <a:pt x="2436" y="183"/>
                    </a:lnTo>
                    <a:lnTo>
                      <a:pt x="2452" y="139"/>
                    </a:lnTo>
                    <a:lnTo>
                      <a:pt x="2469" y="161"/>
                    </a:lnTo>
                    <a:lnTo>
                      <a:pt x="2481" y="127"/>
                    </a:lnTo>
                    <a:lnTo>
                      <a:pt x="2514" y="183"/>
                    </a:lnTo>
                    <a:lnTo>
                      <a:pt x="2527" y="139"/>
                    </a:lnTo>
                    <a:lnTo>
                      <a:pt x="2543" y="161"/>
                    </a:lnTo>
                    <a:lnTo>
                      <a:pt x="2559" y="139"/>
                    </a:lnTo>
                    <a:lnTo>
                      <a:pt x="2575" y="207"/>
                    </a:lnTo>
                    <a:lnTo>
                      <a:pt x="2588" y="161"/>
                    </a:lnTo>
                    <a:lnTo>
                      <a:pt x="2604" y="183"/>
                    </a:lnTo>
                    <a:lnTo>
                      <a:pt x="2620" y="139"/>
                    </a:lnTo>
                    <a:lnTo>
                      <a:pt x="2633" y="183"/>
                    </a:lnTo>
                    <a:lnTo>
                      <a:pt x="2649" y="139"/>
                    </a:lnTo>
                    <a:lnTo>
                      <a:pt x="2665" y="183"/>
                    </a:lnTo>
                    <a:lnTo>
                      <a:pt x="2678" y="139"/>
                    </a:lnTo>
                    <a:lnTo>
                      <a:pt x="2694" y="183"/>
                    </a:lnTo>
                    <a:lnTo>
                      <a:pt x="2710" y="114"/>
                    </a:lnTo>
                    <a:lnTo>
                      <a:pt x="2723" y="229"/>
                    </a:lnTo>
                    <a:lnTo>
                      <a:pt x="2740" y="139"/>
                    </a:lnTo>
                    <a:lnTo>
                      <a:pt x="2756" y="161"/>
                    </a:lnTo>
                    <a:lnTo>
                      <a:pt x="2769" y="139"/>
                    </a:lnTo>
                    <a:lnTo>
                      <a:pt x="2785" y="183"/>
                    </a:lnTo>
                    <a:lnTo>
                      <a:pt x="2801" y="139"/>
                    </a:lnTo>
                    <a:lnTo>
                      <a:pt x="2817" y="183"/>
                    </a:lnTo>
                    <a:lnTo>
                      <a:pt x="2830" y="139"/>
                    </a:lnTo>
                    <a:lnTo>
                      <a:pt x="2846" y="161"/>
                    </a:lnTo>
                    <a:lnTo>
                      <a:pt x="2862" y="139"/>
                    </a:lnTo>
                    <a:lnTo>
                      <a:pt x="2875" y="183"/>
                    </a:lnTo>
                    <a:lnTo>
                      <a:pt x="2907" y="105"/>
                    </a:lnTo>
                    <a:lnTo>
                      <a:pt x="2920" y="161"/>
                    </a:lnTo>
                    <a:lnTo>
                      <a:pt x="2936" y="114"/>
                    </a:lnTo>
                    <a:lnTo>
                      <a:pt x="2952" y="183"/>
                    </a:lnTo>
                    <a:lnTo>
                      <a:pt x="2965" y="139"/>
                    </a:lnTo>
                    <a:lnTo>
                      <a:pt x="2981" y="229"/>
                    </a:lnTo>
                    <a:lnTo>
                      <a:pt x="2998" y="183"/>
                    </a:lnTo>
                    <a:lnTo>
                      <a:pt x="3014" y="275"/>
                    </a:lnTo>
                    <a:lnTo>
                      <a:pt x="3027" y="241"/>
                    </a:lnTo>
                    <a:lnTo>
                      <a:pt x="3043" y="297"/>
                    </a:lnTo>
                    <a:lnTo>
                      <a:pt x="3059" y="263"/>
                    </a:lnTo>
                    <a:lnTo>
                      <a:pt x="3072" y="344"/>
                    </a:lnTo>
                    <a:lnTo>
                      <a:pt x="3088" y="297"/>
                    </a:lnTo>
                    <a:lnTo>
                      <a:pt x="3104" y="366"/>
                    </a:lnTo>
                    <a:lnTo>
                      <a:pt x="3117" y="344"/>
                    </a:lnTo>
                    <a:lnTo>
                      <a:pt x="3133" y="366"/>
                    </a:lnTo>
                    <a:lnTo>
                      <a:pt x="3149" y="344"/>
                    </a:lnTo>
                    <a:lnTo>
                      <a:pt x="3162" y="366"/>
                    </a:lnTo>
                    <a:lnTo>
                      <a:pt x="3178" y="322"/>
                    </a:lnTo>
                    <a:lnTo>
                      <a:pt x="3194" y="356"/>
                    </a:lnTo>
                    <a:lnTo>
                      <a:pt x="3207" y="322"/>
                    </a:lnTo>
                    <a:lnTo>
                      <a:pt x="3223" y="344"/>
                    </a:lnTo>
                    <a:lnTo>
                      <a:pt x="3240" y="297"/>
                    </a:lnTo>
                    <a:lnTo>
                      <a:pt x="3240" y="322"/>
                    </a:lnTo>
                    <a:lnTo>
                      <a:pt x="3269" y="251"/>
                    </a:lnTo>
                    <a:lnTo>
                      <a:pt x="3269" y="297"/>
                    </a:lnTo>
                    <a:lnTo>
                      <a:pt x="3301" y="139"/>
                    </a:lnTo>
                    <a:lnTo>
                      <a:pt x="3314" y="207"/>
                    </a:lnTo>
                    <a:lnTo>
                      <a:pt x="3330" y="139"/>
                    </a:lnTo>
                    <a:lnTo>
                      <a:pt x="3346" y="183"/>
                    </a:lnTo>
                    <a:lnTo>
                      <a:pt x="3359" y="139"/>
                    </a:lnTo>
                    <a:lnTo>
                      <a:pt x="3375" y="183"/>
                    </a:lnTo>
                    <a:lnTo>
                      <a:pt x="3391" y="139"/>
                    </a:lnTo>
                    <a:lnTo>
                      <a:pt x="3404" y="183"/>
                    </a:lnTo>
                    <a:lnTo>
                      <a:pt x="3420" y="139"/>
                    </a:lnTo>
                    <a:lnTo>
                      <a:pt x="3436" y="161"/>
                    </a:lnTo>
                    <a:lnTo>
                      <a:pt x="3453" y="139"/>
                    </a:lnTo>
                    <a:lnTo>
                      <a:pt x="3465" y="183"/>
                    </a:lnTo>
                    <a:lnTo>
                      <a:pt x="3482" y="114"/>
                    </a:lnTo>
                    <a:lnTo>
                      <a:pt x="3498" y="207"/>
                    </a:lnTo>
                    <a:lnTo>
                      <a:pt x="3511" y="92"/>
                    </a:lnTo>
                    <a:lnTo>
                      <a:pt x="3527" y="161"/>
                    </a:lnTo>
                    <a:lnTo>
                      <a:pt x="3543" y="114"/>
                    </a:lnTo>
                    <a:lnTo>
                      <a:pt x="3556" y="207"/>
                    </a:lnTo>
                    <a:lnTo>
                      <a:pt x="3572" y="139"/>
                    </a:lnTo>
                    <a:lnTo>
                      <a:pt x="3601" y="183"/>
                    </a:lnTo>
                    <a:lnTo>
                      <a:pt x="3601" y="139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7" name="Freeform 206"/>
              <p:cNvSpPr>
                <a:spLocks noChangeArrowheads="1"/>
              </p:cNvSpPr>
              <p:nvPr/>
            </p:nvSpPr>
            <p:spPr bwMode="auto">
              <a:xfrm>
                <a:off x="2101" y="2356"/>
                <a:ext cx="3572" cy="322"/>
              </a:xfrm>
              <a:custGeom>
                <a:avLst/>
                <a:gdLst>
                  <a:gd name="T0" fmla="*/ 62 w 3572"/>
                  <a:gd name="T1" fmla="*/ 183 h 322"/>
                  <a:gd name="T2" fmla="*/ 139 w 3572"/>
                  <a:gd name="T3" fmla="*/ 207 h 322"/>
                  <a:gd name="T4" fmla="*/ 197 w 3572"/>
                  <a:gd name="T5" fmla="*/ 71 h 322"/>
                  <a:gd name="T6" fmla="*/ 275 w 3572"/>
                  <a:gd name="T7" fmla="*/ 71 h 322"/>
                  <a:gd name="T8" fmla="*/ 349 w 3572"/>
                  <a:gd name="T9" fmla="*/ 46 h 322"/>
                  <a:gd name="T10" fmla="*/ 439 w 3572"/>
                  <a:gd name="T11" fmla="*/ 183 h 322"/>
                  <a:gd name="T12" fmla="*/ 517 w 3572"/>
                  <a:gd name="T13" fmla="*/ 93 h 322"/>
                  <a:gd name="T14" fmla="*/ 591 w 3572"/>
                  <a:gd name="T15" fmla="*/ 183 h 322"/>
                  <a:gd name="T16" fmla="*/ 652 w 3572"/>
                  <a:gd name="T17" fmla="*/ 207 h 322"/>
                  <a:gd name="T18" fmla="*/ 726 w 3572"/>
                  <a:gd name="T19" fmla="*/ 229 h 322"/>
                  <a:gd name="T20" fmla="*/ 804 w 3572"/>
                  <a:gd name="T21" fmla="*/ 71 h 322"/>
                  <a:gd name="T22" fmla="*/ 878 w 3572"/>
                  <a:gd name="T23" fmla="*/ 115 h 322"/>
                  <a:gd name="T24" fmla="*/ 955 w 3572"/>
                  <a:gd name="T25" fmla="*/ 93 h 322"/>
                  <a:gd name="T26" fmla="*/ 1030 w 3572"/>
                  <a:gd name="T27" fmla="*/ 115 h 322"/>
                  <a:gd name="T28" fmla="*/ 1091 w 3572"/>
                  <a:gd name="T29" fmla="*/ 207 h 322"/>
                  <a:gd name="T30" fmla="*/ 1165 w 3572"/>
                  <a:gd name="T31" fmla="*/ 254 h 322"/>
                  <a:gd name="T32" fmla="*/ 1226 w 3572"/>
                  <a:gd name="T33" fmla="*/ 139 h 322"/>
                  <a:gd name="T34" fmla="*/ 1288 w 3572"/>
                  <a:gd name="T35" fmla="*/ 161 h 322"/>
                  <a:gd name="T36" fmla="*/ 1333 w 3572"/>
                  <a:gd name="T37" fmla="*/ 71 h 322"/>
                  <a:gd name="T38" fmla="*/ 1407 w 3572"/>
                  <a:gd name="T39" fmla="*/ 139 h 322"/>
                  <a:gd name="T40" fmla="*/ 1485 w 3572"/>
                  <a:gd name="T41" fmla="*/ 46 h 322"/>
                  <a:gd name="T42" fmla="*/ 1546 w 3572"/>
                  <a:gd name="T43" fmla="*/ 93 h 322"/>
                  <a:gd name="T44" fmla="*/ 1620 w 3572"/>
                  <a:gd name="T45" fmla="*/ 80 h 322"/>
                  <a:gd name="T46" fmla="*/ 1697 w 3572"/>
                  <a:gd name="T47" fmla="*/ 46 h 322"/>
                  <a:gd name="T48" fmla="*/ 1772 w 3572"/>
                  <a:gd name="T49" fmla="*/ 93 h 322"/>
                  <a:gd name="T50" fmla="*/ 1846 w 3572"/>
                  <a:gd name="T51" fmla="*/ 46 h 322"/>
                  <a:gd name="T52" fmla="*/ 1923 w 3572"/>
                  <a:gd name="T53" fmla="*/ 93 h 322"/>
                  <a:gd name="T54" fmla="*/ 1968 w 3572"/>
                  <a:gd name="T55" fmla="*/ 46 h 322"/>
                  <a:gd name="T56" fmla="*/ 2030 w 3572"/>
                  <a:gd name="T57" fmla="*/ 139 h 322"/>
                  <a:gd name="T58" fmla="*/ 2104 w 3572"/>
                  <a:gd name="T59" fmla="*/ 207 h 322"/>
                  <a:gd name="T60" fmla="*/ 2165 w 3572"/>
                  <a:gd name="T61" fmla="*/ 254 h 322"/>
                  <a:gd name="T62" fmla="*/ 2239 w 3572"/>
                  <a:gd name="T63" fmla="*/ 207 h 322"/>
                  <a:gd name="T64" fmla="*/ 2301 w 3572"/>
                  <a:gd name="T65" fmla="*/ 298 h 322"/>
                  <a:gd name="T66" fmla="*/ 2378 w 3572"/>
                  <a:gd name="T67" fmla="*/ 254 h 322"/>
                  <a:gd name="T68" fmla="*/ 2452 w 3572"/>
                  <a:gd name="T69" fmla="*/ 298 h 322"/>
                  <a:gd name="T70" fmla="*/ 2514 w 3572"/>
                  <a:gd name="T71" fmla="*/ 207 h 322"/>
                  <a:gd name="T72" fmla="*/ 2575 w 3572"/>
                  <a:gd name="T73" fmla="*/ 229 h 322"/>
                  <a:gd name="T74" fmla="*/ 2649 w 3572"/>
                  <a:gd name="T75" fmla="*/ 183 h 322"/>
                  <a:gd name="T76" fmla="*/ 2710 w 3572"/>
                  <a:gd name="T77" fmla="*/ 93 h 322"/>
                  <a:gd name="T78" fmla="*/ 2769 w 3572"/>
                  <a:gd name="T79" fmla="*/ 46 h 322"/>
                  <a:gd name="T80" fmla="*/ 2846 w 3572"/>
                  <a:gd name="T81" fmla="*/ 93 h 322"/>
                  <a:gd name="T82" fmla="*/ 2920 w 3572"/>
                  <a:gd name="T83" fmla="*/ 183 h 322"/>
                  <a:gd name="T84" fmla="*/ 2998 w 3572"/>
                  <a:gd name="T85" fmla="*/ 207 h 322"/>
                  <a:gd name="T86" fmla="*/ 3043 w 3572"/>
                  <a:gd name="T87" fmla="*/ 229 h 322"/>
                  <a:gd name="T88" fmla="*/ 3117 w 3572"/>
                  <a:gd name="T89" fmla="*/ 276 h 322"/>
                  <a:gd name="T90" fmla="*/ 3194 w 3572"/>
                  <a:gd name="T91" fmla="*/ 254 h 322"/>
                  <a:gd name="T92" fmla="*/ 3256 w 3572"/>
                  <a:gd name="T93" fmla="*/ 207 h 322"/>
                  <a:gd name="T94" fmla="*/ 3314 w 3572"/>
                  <a:gd name="T95" fmla="*/ 46 h 322"/>
                  <a:gd name="T96" fmla="*/ 3391 w 3572"/>
                  <a:gd name="T97" fmla="*/ 207 h 322"/>
                  <a:gd name="T98" fmla="*/ 3453 w 3572"/>
                  <a:gd name="T99" fmla="*/ 183 h 322"/>
                  <a:gd name="T100" fmla="*/ 3527 w 3572"/>
                  <a:gd name="T101" fmla="*/ 207 h 32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572" h="322">
                    <a:moveTo>
                      <a:pt x="0" y="207"/>
                    </a:moveTo>
                    <a:lnTo>
                      <a:pt x="17" y="229"/>
                    </a:lnTo>
                    <a:lnTo>
                      <a:pt x="33" y="207"/>
                    </a:lnTo>
                    <a:lnTo>
                      <a:pt x="46" y="229"/>
                    </a:lnTo>
                    <a:lnTo>
                      <a:pt x="62" y="183"/>
                    </a:lnTo>
                    <a:lnTo>
                      <a:pt x="78" y="229"/>
                    </a:lnTo>
                    <a:lnTo>
                      <a:pt x="91" y="207"/>
                    </a:lnTo>
                    <a:lnTo>
                      <a:pt x="107" y="229"/>
                    </a:lnTo>
                    <a:lnTo>
                      <a:pt x="123" y="183"/>
                    </a:lnTo>
                    <a:lnTo>
                      <a:pt x="139" y="207"/>
                    </a:lnTo>
                    <a:lnTo>
                      <a:pt x="152" y="115"/>
                    </a:lnTo>
                    <a:lnTo>
                      <a:pt x="168" y="139"/>
                    </a:lnTo>
                    <a:lnTo>
                      <a:pt x="184" y="93"/>
                    </a:lnTo>
                    <a:lnTo>
                      <a:pt x="184" y="115"/>
                    </a:lnTo>
                    <a:lnTo>
                      <a:pt x="197" y="71"/>
                    </a:lnTo>
                    <a:lnTo>
                      <a:pt x="213" y="115"/>
                    </a:lnTo>
                    <a:lnTo>
                      <a:pt x="230" y="46"/>
                    </a:lnTo>
                    <a:lnTo>
                      <a:pt x="242" y="93"/>
                    </a:lnTo>
                    <a:lnTo>
                      <a:pt x="259" y="24"/>
                    </a:lnTo>
                    <a:lnTo>
                      <a:pt x="275" y="71"/>
                    </a:lnTo>
                    <a:lnTo>
                      <a:pt x="288" y="12"/>
                    </a:lnTo>
                    <a:lnTo>
                      <a:pt x="304" y="71"/>
                    </a:lnTo>
                    <a:lnTo>
                      <a:pt x="320" y="34"/>
                    </a:lnTo>
                    <a:lnTo>
                      <a:pt x="336" y="93"/>
                    </a:lnTo>
                    <a:lnTo>
                      <a:pt x="349" y="46"/>
                    </a:lnTo>
                    <a:lnTo>
                      <a:pt x="365" y="93"/>
                    </a:lnTo>
                    <a:lnTo>
                      <a:pt x="381" y="46"/>
                    </a:lnTo>
                    <a:lnTo>
                      <a:pt x="394" y="207"/>
                    </a:lnTo>
                    <a:lnTo>
                      <a:pt x="426" y="161"/>
                    </a:lnTo>
                    <a:lnTo>
                      <a:pt x="439" y="183"/>
                    </a:lnTo>
                    <a:lnTo>
                      <a:pt x="455" y="139"/>
                    </a:lnTo>
                    <a:lnTo>
                      <a:pt x="471" y="161"/>
                    </a:lnTo>
                    <a:lnTo>
                      <a:pt x="484" y="115"/>
                    </a:lnTo>
                    <a:lnTo>
                      <a:pt x="501" y="161"/>
                    </a:lnTo>
                    <a:lnTo>
                      <a:pt x="517" y="93"/>
                    </a:lnTo>
                    <a:lnTo>
                      <a:pt x="530" y="139"/>
                    </a:lnTo>
                    <a:lnTo>
                      <a:pt x="546" y="115"/>
                    </a:lnTo>
                    <a:lnTo>
                      <a:pt x="562" y="183"/>
                    </a:lnTo>
                    <a:lnTo>
                      <a:pt x="578" y="139"/>
                    </a:lnTo>
                    <a:lnTo>
                      <a:pt x="591" y="183"/>
                    </a:lnTo>
                    <a:lnTo>
                      <a:pt x="607" y="115"/>
                    </a:lnTo>
                    <a:lnTo>
                      <a:pt x="607" y="229"/>
                    </a:lnTo>
                    <a:lnTo>
                      <a:pt x="623" y="183"/>
                    </a:lnTo>
                    <a:lnTo>
                      <a:pt x="636" y="254"/>
                    </a:lnTo>
                    <a:lnTo>
                      <a:pt x="652" y="207"/>
                    </a:lnTo>
                    <a:lnTo>
                      <a:pt x="668" y="229"/>
                    </a:lnTo>
                    <a:lnTo>
                      <a:pt x="681" y="207"/>
                    </a:lnTo>
                    <a:lnTo>
                      <a:pt x="697" y="229"/>
                    </a:lnTo>
                    <a:lnTo>
                      <a:pt x="713" y="207"/>
                    </a:lnTo>
                    <a:lnTo>
                      <a:pt x="726" y="229"/>
                    </a:lnTo>
                    <a:lnTo>
                      <a:pt x="742" y="139"/>
                    </a:lnTo>
                    <a:lnTo>
                      <a:pt x="759" y="183"/>
                    </a:lnTo>
                    <a:lnTo>
                      <a:pt x="772" y="115"/>
                    </a:lnTo>
                    <a:lnTo>
                      <a:pt x="788" y="139"/>
                    </a:lnTo>
                    <a:lnTo>
                      <a:pt x="804" y="71"/>
                    </a:lnTo>
                    <a:lnTo>
                      <a:pt x="820" y="93"/>
                    </a:lnTo>
                    <a:lnTo>
                      <a:pt x="833" y="58"/>
                    </a:lnTo>
                    <a:lnTo>
                      <a:pt x="849" y="93"/>
                    </a:lnTo>
                    <a:lnTo>
                      <a:pt x="865" y="71"/>
                    </a:lnTo>
                    <a:lnTo>
                      <a:pt x="878" y="115"/>
                    </a:lnTo>
                    <a:lnTo>
                      <a:pt x="894" y="93"/>
                    </a:lnTo>
                    <a:lnTo>
                      <a:pt x="910" y="115"/>
                    </a:lnTo>
                    <a:lnTo>
                      <a:pt x="923" y="93"/>
                    </a:lnTo>
                    <a:lnTo>
                      <a:pt x="939" y="115"/>
                    </a:lnTo>
                    <a:lnTo>
                      <a:pt x="955" y="93"/>
                    </a:lnTo>
                    <a:lnTo>
                      <a:pt x="968" y="115"/>
                    </a:lnTo>
                    <a:lnTo>
                      <a:pt x="984" y="93"/>
                    </a:lnTo>
                    <a:lnTo>
                      <a:pt x="1001" y="115"/>
                    </a:lnTo>
                    <a:lnTo>
                      <a:pt x="1017" y="93"/>
                    </a:lnTo>
                    <a:lnTo>
                      <a:pt x="1030" y="115"/>
                    </a:lnTo>
                    <a:lnTo>
                      <a:pt x="1046" y="71"/>
                    </a:lnTo>
                    <a:lnTo>
                      <a:pt x="1062" y="207"/>
                    </a:lnTo>
                    <a:lnTo>
                      <a:pt x="1062" y="183"/>
                    </a:lnTo>
                    <a:lnTo>
                      <a:pt x="1075" y="229"/>
                    </a:lnTo>
                    <a:lnTo>
                      <a:pt x="1091" y="207"/>
                    </a:lnTo>
                    <a:lnTo>
                      <a:pt x="1107" y="242"/>
                    </a:lnTo>
                    <a:lnTo>
                      <a:pt x="1120" y="229"/>
                    </a:lnTo>
                    <a:lnTo>
                      <a:pt x="1136" y="254"/>
                    </a:lnTo>
                    <a:lnTo>
                      <a:pt x="1152" y="229"/>
                    </a:lnTo>
                    <a:lnTo>
                      <a:pt x="1165" y="254"/>
                    </a:lnTo>
                    <a:lnTo>
                      <a:pt x="1181" y="207"/>
                    </a:lnTo>
                    <a:lnTo>
                      <a:pt x="1197" y="229"/>
                    </a:lnTo>
                    <a:lnTo>
                      <a:pt x="1210" y="161"/>
                    </a:lnTo>
                    <a:lnTo>
                      <a:pt x="1210" y="220"/>
                    </a:lnTo>
                    <a:lnTo>
                      <a:pt x="1226" y="139"/>
                    </a:lnTo>
                    <a:lnTo>
                      <a:pt x="1243" y="183"/>
                    </a:lnTo>
                    <a:lnTo>
                      <a:pt x="1259" y="115"/>
                    </a:lnTo>
                    <a:lnTo>
                      <a:pt x="1272" y="161"/>
                    </a:lnTo>
                    <a:lnTo>
                      <a:pt x="1272" y="115"/>
                    </a:lnTo>
                    <a:lnTo>
                      <a:pt x="1288" y="161"/>
                    </a:lnTo>
                    <a:lnTo>
                      <a:pt x="1304" y="93"/>
                    </a:lnTo>
                    <a:lnTo>
                      <a:pt x="1317" y="183"/>
                    </a:lnTo>
                    <a:lnTo>
                      <a:pt x="1317" y="115"/>
                    </a:lnTo>
                    <a:lnTo>
                      <a:pt x="1333" y="161"/>
                    </a:lnTo>
                    <a:lnTo>
                      <a:pt x="1333" y="71"/>
                    </a:lnTo>
                    <a:lnTo>
                      <a:pt x="1349" y="139"/>
                    </a:lnTo>
                    <a:lnTo>
                      <a:pt x="1362" y="105"/>
                    </a:lnTo>
                    <a:lnTo>
                      <a:pt x="1378" y="183"/>
                    </a:lnTo>
                    <a:lnTo>
                      <a:pt x="1394" y="115"/>
                    </a:lnTo>
                    <a:lnTo>
                      <a:pt x="1407" y="139"/>
                    </a:lnTo>
                    <a:lnTo>
                      <a:pt x="1423" y="93"/>
                    </a:lnTo>
                    <a:lnTo>
                      <a:pt x="1439" y="139"/>
                    </a:lnTo>
                    <a:lnTo>
                      <a:pt x="1455" y="46"/>
                    </a:lnTo>
                    <a:lnTo>
                      <a:pt x="1468" y="93"/>
                    </a:lnTo>
                    <a:lnTo>
                      <a:pt x="1485" y="46"/>
                    </a:lnTo>
                    <a:lnTo>
                      <a:pt x="1501" y="115"/>
                    </a:lnTo>
                    <a:lnTo>
                      <a:pt x="1514" y="24"/>
                    </a:lnTo>
                    <a:lnTo>
                      <a:pt x="1514" y="93"/>
                    </a:lnTo>
                    <a:lnTo>
                      <a:pt x="1530" y="46"/>
                    </a:lnTo>
                    <a:lnTo>
                      <a:pt x="1546" y="93"/>
                    </a:lnTo>
                    <a:lnTo>
                      <a:pt x="1559" y="0"/>
                    </a:lnTo>
                    <a:lnTo>
                      <a:pt x="1575" y="93"/>
                    </a:lnTo>
                    <a:lnTo>
                      <a:pt x="1591" y="71"/>
                    </a:lnTo>
                    <a:lnTo>
                      <a:pt x="1604" y="115"/>
                    </a:lnTo>
                    <a:lnTo>
                      <a:pt x="1620" y="80"/>
                    </a:lnTo>
                    <a:lnTo>
                      <a:pt x="1636" y="71"/>
                    </a:lnTo>
                    <a:lnTo>
                      <a:pt x="1649" y="93"/>
                    </a:lnTo>
                    <a:lnTo>
                      <a:pt x="1665" y="46"/>
                    </a:lnTo>
                    <a:lnTo>
                      <a:pt x="1681" y="71"/>
                    </a:lnTo>
                    <a:lnTo>
                      <a:pt x="1697" y="46"/>
                    </a:lnTo>
                    <a:lnTo>
                      <a:pt x="1710" y="93"/>
                    </a:lnTo>
                    <a:lnTo>
                      <a:pt x="1726" y="46"/>
                    </a:lnTo>
                    <a:lnTo>
                      <a:pt x="1743" y="71"/>
                    </a:lnTo>
                    <a:lnTo>
                      <a:pt x="1756" y="46"/>
                    </a:lnTo>
                    <a:lnTo>
                      <a:pt x="1772" y="93"/>
                    </a:lnTo>
                    <a:lnTo>
                      <a:pt x="1788" y="71"/>
                    </a:lnTo>
                    <a:lnTo>
                      <a:pt x="1801" y="93"/>
                    </a:lnTo>
                    <a:lnTo>
                      <a:pt x="1817" y="46"/>
                    </a:lnTo>
                    <a:lnTo>
                      <a:pt x="1817" y="93"/>
                    </a:lnTo>
                    <a:lnTo>
                      <a:pt x="1846" y="46"/>
                    </a:lnTo>
                    <a:lnTo>
                      <a:pt x="1862" y="93"/>
                    </a:lnTo>
                    <a:lnTo>
                      <a:pt x="1878" y="71"/>
                    </a:lnTo>
                    <a:lnTo>
                      <a:pt x="1894" y="93"/>
                    </a:lnTo>
                    <a:lnTo>
                      <a:pt x="1907" y="71"/>
                    </a:lnTo>
                    <a:lnTo>
                      <a:pt x="1923" y="93"/>
                    </a:lnTo>
                    <a:lnTo>
                      <a:pt x="1939" y="46"/>
                    </a:lnTo>
                    <a:lnTo>
                      <a:pt x="1939" y="71"/>
                    </a:lnTo>
                    <a:lnTo>
                      <a:pt x="1952" y="24"/>
                    </a:lnTo>
                    <a:lnTo>
                      <a:pt x="1968" y="71"/>
                    </a:lnTo>
                    <a:lnTo>
                      <a:pt x="1968" y="46"/>
                    </a:lnTo>
                    <a:lnTo>
                      <a:pt x="1985" y="93"/>
                    </a:lnTo>
                    <a:lnTo>
                      <a:pt x="1997" y="46"/>
                    </a:lnTo>
                    <a:lnTo>
                      <a:pt x="2014" y="115"/>
                    </a:lnTo>
                    <a:lnTo>
                      <a:pt x="2030" y="80"/>
                    </a:lnTo>
                    <a:lnTo>
                      <a:pt x="2030" y="139"/>
                    </a:lnTo>
                    <a:lnTo>
                      <a:pt x="2043" y="115"/>
                    </a:lnTo>
                    <a:lnTo>
                      <a:pt x="2059" y="229"/>
                    </a:lnTo>
                    <a:lnTo>
                      <a:pt x="2075" y="207"/>
                    </a:lnTo>
                    <a:lnTo>
                      <a:pt x="2088" y="254"/>
                    </a:lnTo>
                    <a:lnTo>
                      <a:pt x="2104" y="207"/>
                    </a:lnTo>
                    <a:lnTo>
                      <a:pt x="2120" y="254"/>
                    </a:lnTo>
                    <a:lnTo>
                      <a:pt x="2136" y="229"/>
                    </a:lnTo>
                    <a:lnTo>
                      <a:pt x="2149" y="254"/>
                    </a:lnTo>
                    <a:lnTo>
                      <a:pt x="2149" y="229"/>
                    </a:lnTo>
                    <a:lnTo>
                      <a:pt x="2165" y="254"/>
                    </a:lnTo>
                    <a:lnTo>
                      <a:pt x="2181" y="207"/>
                    </a:lnTo>
                    <a:lnTo>
                      <a:pt x="2194" y="254"/>
                    </a:lnTo>
                    <a:lnTo>
                      <a:pt x="2210" y="207"/>
                    </a:lnTo>
                    <a:lnTo>
                      <a:pt x="2227" y="254"/>
                    </a:lnTo>
                    <a:lnTo>
                      <a:pt x="2239" y="207"/>
                    </a:lnTo>
                    <a:lnTo>
                      <a:pt x="2256" y="254"/>
                    </a:lnTo>
                    <a:lnTo>
                      <a:pt x="2272" y="229"/>
                    </a:lnTo>
                    <a:lnTo>
                      <a:pt x="2272" y="298"/>
                    </a:lnTo>
                    <a:lnTo>
                      <a:pt x="2285" y="254"/>
                    </a:lnTo>
                    <a:lnTo>
                      <a:pt x="2301" y="298"/>
                    </a:lnTo>
                    <a:lnTo>
                      <a:pt x="2317" y="242"/>
                    </a:lnTo>
                    <a:lnTo>
                      <a:pt x="2330" y="322"/>
                    </a:lnTo>
                    <a:lnTo>
                      <a:pt x="2346" y="254"/>
                    </a:lnTo>
                    <a:lnTo>
                      <a:pt x="2362" y="298"/>
                    </a:lnTo>
                    <a:lnTo>
                      <a:pt x="2378" y="254"/>
                    </a:lnTo>
                    <a:lnTo>
                      <a:pt x="2391" y="298"/>
                    </a:lnTo>
                    <a:lnTo>
                      <a:pt x="2407" y="276"/>
                    </a:lnTo>
                    <a:lnTo>
                      <a:pt x="2423" y="298"/>
                    </a:lnTo>
                    <a:lnTo>
                      <a:pt x="2436" y="254"/>
                    </a:lnTo>
                    <a:lnTo>
                      <a:pt x="2452" y="298"/>
                    </a:lnTo>
                    <a:lnTo>
                      <a:pt x="2452" y="254"/>
                    </a:lnTo>
                    <a:lnTo>
                      <a:pt x="2469" y="276"/>
                    </a:lnTo>
                    <a:lnTo>
                      <a:pt x="2481" y="229"/>
                    </a:lnTo>
                    <a:lnTo>
                      <a:pt x="2498" y="263"/>
                    </a:lnTo>
                    <a:lnTo>
                      <a:pt x="2514" y="207"/>
                    </a:lnTo>
                    <a:lnTo>
                      <a:pt x="2527" y="254"/>
                    </a:lnTo>
                    <a:lnTo>
                      <a:pt x="2543" y="139"/>
                    </a:lnTo>
                    <a:lnTo>
                      <a:pt x="2543" y="220"/>
                    </a:lnTo>
                    <a:lnTo>
                      <a:pt x="2559" y="183"/>
                    </a:lnTo>
                    <a:lnTo>
                      <a:pt x="2575" y="229"/>
                    </a:lnTo>
                    <a:lnTo>
                      <a:pt x="2588" y="183"/>
                    </a:lnTo>
                    <a:lnTo>
                      <a:pt x="2604" y="229"/>
                    </a:lnTo>
                    <a:lnTo>
                      <a:pt x="2620" y="183"/>
                    </a:lnTo>
                    <a:lnTo>
                      <a:pt x="2633" y="207"/>
                    </a:lnTo>
                    <a:lnTo>
                      <a:pt x="2649" y="183"/>
                    </a:lnTo>
                    <a:lnTo>
                      <a:pt x="2665" y="229"/>
                    </a:lnTo>
                    <a:lnTo>
                      <a:pt x="2678" y="139"/>
                    </a:lnTo>
                    <a:lnTo>
                      <a:pt x="2694" y="183"/>
                    </a:lnTo>
                    <a:lnTo>
                      <a:pt x="2694" y="46"/>
                    </a:lnTo>
                    <a:lnTo>
                      <a:pt x="2710" y="93"/>
                    </a:lnTo>
                    <a:lnTo>
                      <a:pt x="2723" y="46"/>
                    </a:lnTo>
                    <a:lnTo>
                      <a:pt x="2723" y="71"/>
                    </a:lnTo>
                    <a:lnTo>
                      <a:pt x="2740" y="46"/>
                    </a:lnTo>
                    <a:lnTo>
                      <a:pt x="2756" y="71"/>
                    </a:lnTo>
                    <a:lnTo>
                      <a:pt x="2769" y="46"/>
                    </a:lnTo>
                    <a:lnTo>
                      <a:pt x="2785" y="80"/>
                    </a:lnTo>
                    <a:lnTo>
                      <a:pt x="2801" y="34"/>
                    </a:lnTo>
                    <a:lnTo>
                      <a:pt x="2817" y="71"/>
                    </a:lnTo>
                    <a:lnTo>
                      <a:pt x="2830" y="46"/>
                    </a:lnTo>
                    <a:lnTo>
                      <a:pt x="2846" y="93"/>
                    </a:lnTo>
                    <a:lnTo>
                      <a:pt x="2862" y="46"/>
                    </a:lnTo>
                    <a:lnTo>
                      <a:pt x="2875" y="207"/>
                    </a:lnTo>
                    <a:lnTo>
                      <a:pt x="2891" y="161"/>
                    </a:lnTo>
                    <a:lnTo>
                      <a:pt x="2907" y="207"/>
                    </a:lnTo>
                    <a:lnTo>
                      <a:pt x="2920" y="183"/>
                    </a:lnTo>
                    <a:lnTo>
                      <a:pt x="2936" y="229"/>
                    </a:lnTo>
                    <a:lnTo>
                      <a:pt x="2952" y="183"/>
                    </a:lnTo>
                    <a:lnTo>
                      <a:pt x="2965" y="207"/>
                    </a:lnTo>
                    <a:lnTo>
                      <a:pt x="2981" y="139"/>
                    </a:lnTo>
                    <a:lnTo>
                      <a:pt x="2998" y="207"/>
                    </a:lnTo>
                    <a:lnTo>
                      <a:pt x="3014" y="183"/>
                    </a:lnTo>
                    <a:lnTo>
                      <a:pt x="3027" y="229"/>
                    </a:lnTo>
                    <a:lnTo>
                      <a:pt x="3027" y="207"/>
                    </a:lnTo>
                    <a:lnTo>
                      <a:pt x="3043" y="276"/>
                    </a:lnTo>
                    <a:lnTo>
                      <a:pt x="3043" y="229"/>
                    </a:lnTo>
                    <a:lnTo>
                      <a:pt x="3059" y="298"/>
                    </a:lnTo>
                    <a:lnTo>
                      <a:pt x="3072" y="254"/>
                    </a:lnTo>
                    <a:lnTo>
                      <a:pt x="3088" y="298"/>
                    </a:lnTo>
                    <a:lnTo>
                      <a:pt x="3104" y="229"/>
                    </a:lnTo>
                    <a:lnTo>
                      <a:pt x="3117" y="276"/>
                    </a:lnTo>
                    <a:lnTo>
                      <a:pt x="3133" y="242"/>
                    </a:lnTo>
                    <a:lnTo>
                      <a:pt x="3149" y="276"/>
                    </a:lnTo>
                    <a:lnTo>
                      <a:pt x="3162" y="254"/>
                    </a:lnTo>
                    <a:lnTo>
                      <a:pt x="3178" y="276"/>
                    </a:lnTo>
                    <a:lnTo>
                      <a:pt x="3194" y="254"/>
                    </a:lnTo>
                    <a:lnTo>
                      <a:pt x="3207" y="276"/>
                    </a:lnTo>
                    <a:lnTo>
                      <a:pt x="3207" y="183"/>
                    </a:lnTo>
                    <a:lnTo>
                      <a:pt x="3223" y="229"/>
                    </a:lnTo>
                    <a:lnTo>
                      <a:pt x="3240" y="139"/>
                    </a:lnTo>
                    <a:lnTo>
                      <a:pt x="3256" y="207"/>
                    </a:lnTo>
                    <a:lnTo>
                      <a:pt x="3269" y="93"/>
                    </a:lnTo>
                    <a:lnTo>
                      <a:pt x="3269" y="139"/>
                    </a:lnTo>
                    <a:lnTo>
                      <a:pt x="3285" y="46"/>
                    </a:lnTo>
                    <a:lnTo>
                      <a:pt x="3301" y="93"/>
                    </a:lnTo>
                    <a:lnTo>
                      <a:pt x="3314" y="46"/>
                    </a:lnTo>
                    <a:lnTo>
                      <a:pt x="3330" y="93"/>
                    </a:lnTo>
                    <a:lnTo>
                      <a:pt x="3346" y="71"/>
                    </a:lnTo>
                    <a:lnTo>
                      <a:pt x="3359" y="139"/>
                    </a:lnTo>
                    <a:lnTo>
                      <a:pt x="3375" y="93"/>
                    </a:lnTo>
                    <a:lnTo>
                      <a:pt x="3391" y="207"/>
                    </a:lnTo>
                    <a:lnTo>
                      <a:pt x="3404" y="183"/>
                    </a:lnTo>
                    <a:lnTo>
                      <a:pt x="3420" y="207"/>
                    </a:lnTo>
                    <a:lnTo>
                      <a:pt x="3420" y="183"/>
                    </a:lnTo>
                    <a:lnTo>
                      <a:pt x="3453" y="207"/>
                    </a:lnTo>
                    <a:lnTo>
                      <a:pt x="3453" y="183"/>
                    </a:lnTo>
                    <a:lnTo>
                      <a:pt x="3465" y="207"/>
                    </a:lnTo>
                    <a:lnTo>
                      <a:pt x="3482" y="183"/>
                    </a:lnTo>
                    <a:lnTo>
                      <a:pt x="3498" y="229"/>
                    </a:lnTo>
                    <a:lnTo>
                      <a:pt x="3511" y="161"/>
                    </a:lnTo>
                    <a:lnTo>
                      <a:pt x="3527" y="207"/>
                    </a:lnTo>
                    <a:lnTo>
                      <a:pt x="3543" y="139"/>
                    </a:lnTo>
                    <a:lnTo>
                      <a:pt x="3572" y="195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8" name="Freeform 207"/>
              <p:cNvSpPr>
                <a:spLocks noChangeArrowheads="1"/>
              </p:cNvSpPr>
              <p:nvPr/>
            </p:nvSpPr>
            <p:spPr bwMode="auto">
              <a:xfrm>
                <a:off x="5673" y="2517"/>
                <a:ext cx="29" cy="59"/>
              </a:xfrm>
              <a:custGeom>
                <a:avLst/>
                <a:gdLst>
                  <a:gd name="T0" fmla="*/ 0 w 29"/>
                  <a:gd name="T1" fmla="*/ 34 h 59"/>
                  <a:gd name="T2" fmla="*/ 0 w 29"/>
                  <a:gd name="T3" fmla="*/ 0 h 59"/>
                  <a:gd name="T4" fmla="*/ 16 w 29"/>
                  <a:gd name="T5" fmla="*/ 59 h 59"/>
                  <a:gd name="T6" fmla="*/ 29 w 29"/>
                  <a:gd name="T7" fmla="*/ 0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59">
                    <a:moveTo>
                      <a:pt x="0" y="34"/>
                    </a:moveTo>
                    <a:lnTo>
                      <a:pt x="0" y="0"/>
                    </a:lnTo>
                    <a:lnTo>
                      <a:pt x="16" y="59"/>
                    </a:lnTo>
                    <a:lnTo>
                      <a:pt x="29" y="0"/>
                    </a:lnTo>
                  </a:path>
                </a:pathLst>
              </a:cu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38" name="Rectangle 209"/>
            <p:cNvSpPr>
              <a:spLocks noChangeArrowheads="1"/>
            </p:cNvSpPr>
            <p:nvPr/>
          </p:nvSpPr>
          <p:spPr bwMode="auto">
            <a:xfrm>
              <a:off x="3463" y="3930"/>
              <a:ext cx="190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宋体" panose="02010600030101010101" pitchFamily="2" charset="-122"/>
                </a:rPr>
                <a:t>(b)</a:t>
              </a:r>
              <a:endParaRPr lang="en-US" altLang="zh-CN"/>
            </a:p>
          </p:txBody>
        </p:sp>
      </p:grpSp>
      <p:sp>
        <p:nvSpPr>
          <p:cNvPr id="22533" name="矩形 1"/>
          <p:cNvSpPr>
            <a:spLocks noChangeArrowheads="1"/>
          </p:cNvSpPr>
          <p:nvPr/>
        </p:nvSpPr>
        <p:spPr bwMode="auto">
          <a:xfrm>
            <a:off x="396148" y="1984488"/>
            <a:ext cx="408230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由于通信信道总是有一定的噪声存在，因此在到达信宿时，接收信号是信号与噪声的叠加。如果噪声对信号叠加的结果在电平判断时出现错误，就会引起通信数据的错误</a:t>
            </a:r>
          </a:p>
        </p:txBody>
      </p:sp>
      <p:sp>
        <p:nvSpPr>
          <p:cNvPr id="22535" name="矩形 210"/>
          <p:cNvSpPr>
            <a:spLocks noChangeArrowheads="1"/>
          </p:cNvSpPr>
          <p:nvPr/>
        </p:nvSpPr>
        <p:spPr bwMode="auto">
          <a:xfrm>
            <a:off x="191344" y="79009"/>
            <a:ext cx="1627369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差错控制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63352" y="1053996"/>
            <a:ext cx="11665296" cy="100668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数据帧在传输过程中可能会出错，接收方需要能够判断接收到的数据是否正确，保证只能将正确的数据向上提交。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3900488" y="100488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94878A40-E8A9-47A4-BE4C-DDF5E3D29FD0}"/>
              </a:ext>
            </a:extLst>
          </p:cNvPr>
          <p:cNvSpPr txBox="1"/>
          <p:nvPr/>
        </p:nvSpPr>
        <p:spPr>
          <a:xfrm>
            <a:off x="274440" y="2204864"/>
            <a:ext cx="11870232" cy="149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核心思想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是在有效数据（信息位）被发送前，按某种关系附加一定的冗余位，构成一个符合某一规则的码字后发送。接收方根据收到的码字是否仍符合原规则来判断是否出错。包括：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检错编码和纠错编码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矩形 210">
            <a:extLst>
              <a:ext uri="{FF2B5EF4-FFF2-40B4-BE49-F238E27FC236}">
                <a16:creationId xmlns:a16="http://schemas.microsoft.com/office/drawing/2014/main" id="{16F5C6F8-A07D-4340-8617-C79894C8B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88640"/>
            <a:ext cx="1518364" cy="531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差错控制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20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矩形 6"/>
          <p:cNvSpPr>
            <a:spLocks noChangeArrowheads="1"/>
          </p:cNvSpPr>
          <p:nvPr/>
        </p:nvSpPr>
        <p:spPr bwMode="auto">
          <a:xfrm>
            <a:off x="335360" y="886519"/>
            <a:ext cx="1731564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 dirty="0"/>
              <a:t>奇偶校验码</a:t>
            </a: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1D86B2-F0CD-4368-9944-7122C416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1673074"/>
            <a:ext cx="7560840" cy="216586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C3B3F69-209C-49FA-BFEF-409904C48222}"/>
              </a:ext>
            </a:extLst>
          </p:cNvPr>
          <p:cNvSpPr txBox="1"/>
          <p:nvPr/>
        </p:nvSpPr>
        <p:spPr>
          <a:xfrm>
            <a:off x="479376" y="4437113"/>
            <a:ext cx="11377264" cy="138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1001101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对应的奇校验码为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1001101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，对应的偶校验码为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1001101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。它只能检测奇数位的出错情况，但不知道哪些位错，也不能发现偶数位的出错情况。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A7697C-3D14-490F-8667-9ECFB708CF39}"/>
              </a:ext>
            </a:extLst>
          </p:cNvPr>
          <p:cNvSpPr txBox="1"/>
          <p:nvPr/>
        </p:nvSpPr>
        <p:spPr>
          <a:xfrm>
            <a:off x="191344" y="91437"/>
            <a:ext cx="838842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800" dirty="0"/>
              <a:t>常见的检错编码有奇偶校验码和循环冗余码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矩形 6"/>
          <p:cNvSpPr>
            <a:spLocks noChangeArrowheads="1"/>
          </p:cNvSpPr>
          <p:nvPr/>
        </p:nvSpPr>
        <p:spPr bwMode="auto">
          <a:xfrm>
            <a:off x="191344" y="44624"/>
            <a:ext cx="2646878" cy="647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kern="0" dirty="0">
                <a:solidFill>
                  <a:schemeClr val="hlink"/>
                </a:solidFill>
              </a:rPr>
              <a:t>循环冗余检验</a:t>
            </a:r>
            <a:r>
              <a:rPr lang="zh-CN" altLang="en-US" kern="0" dirty="0">
                <a:solidFill>
                  <a:schemeClr val="hlink"/>
                </a:solidFill>
              </a:rPr>
              <a:t>码</a:t>
            </a: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01BAFC-4B76-4025-811A-D86C9738C8F3}"/>
              </a:ext>
            </a:extLst>
          </p:cNvPr>
          <p:cNvSpPr txBox="1"/>
          <p:nvPr/>
        </p:nvSpPr>
        <p:spPr>
          <a:xfrm>
            <a:off x="335360" y="1041664"/>
            <a:ext cx="11449272" cy="581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kern="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endParaRPr lang="en-US" altLang="zh-CN" b="1" kern="0" dirty="0">
              <a:solidFill>
                <a:schemeClr val="hlin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(1)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收发双方约定生成校验码的位串。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位位串可以视为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k-1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的多项式的系数，如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用多项式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=x</a:t>
            </a:r>
            <a:r>
              <a:rPr lang="en-US" altLang="zh-CN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+x</a:t>
            </a:r>
            <a:r>
              <a:rPr lang="en-US" altLang="zh-CN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(2)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发送方基于待发送的数据和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，计算出冗余码，将冗余码附加到数据后面一起发送。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(3)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接收方收到数据和冗余码后，通过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来计算收到的数据和冗余码是否产生差错。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假设一个待传送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运算产生一个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位的冗余码，称为帧检验序列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(FCS)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。这样形成的帧将由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m+r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位组成。在所要发送的数据后面增加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位冗余码，虽然增大了传输开销，但是可以进行差错检测，这种代价往往是值得的。这个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m+r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位刚好能被预先确定的多项式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整除。因此，接收方用相同的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去除收到的帧，若无余数，则认为无差错。</a:t>
            </a:r>
          </a:p>
        </p:txBody>
      </p:sp>
    </p:spTree>
    <p:extLst>
      <p:ext uri="{BB962C8B-B14F-4D97-AF65-F5344CB8AC3E}">
        <p14:creationId xmlns:p14="http://schemas.microsoft.com/office/powerpoint/2010/main" val="1868218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711624" y="1770212"/>
            <a:ext cx="5256584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包括两个部分：</a:t>
            </a:r>
            <a:endParaRPr lang="en-US" altLang="zh-CN" sz="2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1970088" eaLnBrk="1" hangingPunct="1">
              <a:lnSpc>
                <a:spcPct val="120000"/>
              </a:lnSpc>
              <a:buNone/>
              <a:defRPr/>
            </a:pPr>
            <a:r>
              <a:rPr lang="en-US" altLang="zh-CN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校验码</a:t>
            </a:r>
            <a:r>
              <a:rPr lang="en-US" altLang="zh-CN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FCS</a:t>
            </a:r>
          </a:p>
          <a:p>
            <a:pPr marL="0" indent="1970088" eaLnBrk="1" hangingPunct="1">
              <a:lnSpc>
                <a:spcPct val="120000"/>
              </a:lnSpc>
              <a:buNone/>
              <a:defRPr/>
            </a:pPr>
            <a:r>
              <a:rPr lang="en-US" altLang="zh-CN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</a:t>
            </a: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校验码  </a:t>
            </a: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C1AEFBFD-935C-48D7-BD58-47F40395B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44624"/>
            <a:ext cx="2646878" cy="647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kern="0" dirty="0">
                <a:solidFill>
                  <a:schemeClr val="hlink"/>
                </a:solidFill>
              </a:rPr>
              <a:t>循环冗余检验</a:t>
            </a:r>
            <a:r>
              <a:rPr lang="zh-CN" altLang="en-US" kern="0" dirty="0">
                <a:solidFill>
                  <a:schemeClr val="hlink"/>
                </a:solidFill>
              </a:rPr>
              <a:t>码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983629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63352" y="1196752"/>
            <a:ext cx="11593288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假设一段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位的数据，计算冗余码的步骤如下：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的阶为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r,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在数据后面加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，相当于乘以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(2) </a:t>
            </a: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en-US" altLang="zh-CN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除。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利用模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除法，用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G(x)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对应的二进制串去除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中计算得出的数据串，得到的余数即为冗余码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位）。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按照模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运算规则，加法不进位，减法不借位，相当于对应位进行逻辑异或运算。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92D3C0B-0BE1-4934-B268-2B8647013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508" y="141118"/>
            <a:ext cx="3131492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600" b="1" kern="0" dirty="0"/>
              <a:t>校验码</a:t>
            </a:r>
            <a:r>
              <a:rPr lang="en-US" altLang="zh-CN" sz="2600" b="1" kern="0" dirty="0"/>
              <a:t>FCS</a:t>
            </a:r>
            <a:r>
              <a:rPr lang="zh-CN" altLang="en-US" sz="2600" b="1" kern="0" dirty="0"/>
              <a:t>的计算 </a:t>
            </a: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1C8A1629-01CC-41AE-A8E0-860F66254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44624"/>
            <a:ext cx="2646878" cy="647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kern="0" dirty="0">
                <a:solidFill>
                  <a:schemeClr val="hlink"/>
                </a:solidFill>
              </a:rPr>
              <a:t>循环冗余检验</a:t>
            </a:r>
            <a:r>
              <a:rPr lang="zh-CN" altLang="en-US" kern="0" dirty="0">
                <a:solidFill>
                  <a:schemeClr val="hlink"/>
                </a:solidFill>
              </a:rPr>
              <a:t>码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9160" y="158395"/>
            <a:ext cx="3131492" cy="550863"/>
          </a:xfrm>
        </p:spPr>
        <p:txBody>
          <a:bodyPr/>
          <a:lstStyle/>
          <a:p>
            <a:pPr algn="ctr" eaLnBrk="1" hangingPunct="1"/>
            <a:r>
              <a:rPr lang="zh-CN" altLang="en-US" sz="2600" b="1" dirty="0"/>
              <a:t>校验码</a:t>
            </a:r>
            <a:r>
              <a:rPr lang="en-US" altLang="zh-CN" sz="2600" b="1" dirty="0"/>
              <a:t>FCS</a:t>
            </a:r>
            <a:r>
              <a:rPr lang="zh-CN" altLang="en-US" sz="2600" b="1" dirty="0"/>
              <a:t>的计算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21E19E-9E8E-4F55-815B-F4B90A631A58}"/>
              </a:ext>
            </a:extLst>
          </p:cNvPr>
          <p:cNvSpPr txBox="1"/>
          <p:nvPr/>
        </p:nvSpPr>
        <p:spPr>
          <a:xfrm>
            <a:off x="380430" y="1047725"/>
            <a:ext cx="11404202" cy="1384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ea typeface="微软雅黑" panose="020B0503020204020204" pitchFamily="34" charset="-122"/>
              </a:rPr>
              <a:t>        假设数据</a:t>
            </a:r>
            <a:r>
              <a:rPr lang="en-US" altLang="zh-CN" dirty="0">
                <a:ea typeface="微软雅黑" panose="020B0503020204020204" pitchFamily="34" charset="-122"/>
              </a:rPr>
              <a:t>M=101001(</a:t>
            </a:r>
            <a:r>
              <a:rPr lang="zh-CN" altLang="en-US" dirty="0">
                <a:ea typeface="微软雅黑" panose="020B0503020204020204" pitchFamily="34" charset="-122"/>
              </a:rPr>
              <a:t>即 </a:t>
            </a:r>
            <a:r>
              <a:rPr lang="en-US" altLang="zh-CN" dirty="0">
                <a:ea typeface="微软雅黑" panose="020B0503020204020204" pitchFamily="34" charset="-122"/>
              </a:rPr>
              <a:t>m=6)</a:t>
            </a:r>
            <a:r>
              <a:rPr lang="zh-CN" altLang="en-US" dirty="0">
                <a:ea typeface="微软雅黑" panose="020B0503020204020204" pitchFamily="34" charset="-122"/>
              </a:rPr>
              <a:t>，除数 </a:t>
            </a:r>
            <a:r>
              <a:rPr lang="en-US" altLang="zh-CN" dirty="0">
                <a:ea typeface="微软雅黑" panose="020B0503020204020204" pitchFamily="34" charset="-122"/>
              </a:rPr>
              <a:t>G(x)=1101(x</a:t>
            </a:r>
            <a:r>
              <a:rPr lang="en-US" altLang="zh-CN" baseline="30000" dirty="0">
                <a:ea typeface="微软雅黑" panose="020B0503020204020204" pitchFamily="34" charset="-122"/>
              </a:rPr>
              <a:t>3</a:t>
            </a:r>
            <a:r>
              <a:rPr lang="en-US" altLang="zh-CN" dirty="0">
                <a:ea typeface="微软雅黑" panose="020B0503020204020204" pitchFamily="34" charset="-122"/>
              </a:rPr>
              <a:t>+x</a:t>
            </a:r>
            <a:r>
              <a:rPr lang="en-US" altLang="zh-CN" baseline="30000" dirty="0">
                <a:ea typeface="微软雅黑" panose="020B0503020204020204" pitchFamily="34" charset="-122"/>
              </a:rPr>
              <a:t>2</a:t>
            </a:r>
            <a:r>
              <a:rPr lang="en-US" altLang="zh-CN" dirty="0">
                <a:ea typeface="微软雅黑" panose="020B0503020204020204" pitchFamily="34" charset="-122"/>
              </a:rPr>
              <a:t>+1, </a:t>
            </a:r>
            <a:r>
              <a:rPr lang="zh-CN" altLang="en-US" dirty="0">
                <a:ea typeface="微软雅黑" panose="020B0503020204020204" pitchFamily="34" charset="-122"/>
              </a:rPr>
              <a:t>即</a:t>
            </a:r>
            <a:r>
              <a:rPr lang="en-US" altLang="zh-CN" dirty="0">
                <a:ea typeface="微软雅黑" panose="020B0503020204020204" pitchFamily="34" charset="-122"/>
              </a:rPr>
              <a:t>r=3)</a:t>
            </a:r>
            <a:r>
              <a:rPr lang="zh-CN" altLang="en-US" dirty="0">
                <a:ea typeface="微软雅黑" panose="020B0503020204020204" pitchFamily="34" charset="-122"/>
              </a:rPr>
              <a:t>，经模 </a:t>
            </a:r>
            <a:r>
              <a:rPr lang="en-US" altLang="zh-CN" dirty="0">
                <a:ea typeface="微软雅黑" panose="020B0503020204020204" pitchFamily="34" charset="-122"/>
              </a:rPr>
              <a:t>2</a:t>
            </a:r>
            <a:r>
              <a:rPr lang="zh-CN" altLang="en-US" dirty="0">
                <a:ea typeface="微软雅黑" panose="020B0503020204020204" pitchFamily="34" charset="-122"/>
              </a:rPr>
              <a:t>除法运算后的结果是</a:t>
            </a:r>
            <a:r>
              <a:rPr lang="en-US" altLang="zh-CN" dirty="0"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ea typeface="微软雅黑" panose="020B0503020204020204" pitchFamily="34" charset="-122"/>
              </a:rPr>
              <a:t>商</a:t>
            </a:r>
            <a:r>
              <a:rPr lang="en-US" altLang="zh-CN" dirty="0">
                <a:ea typeface="微软雅黑" panose="020B0503020204020204" pitchFamily="34" charset="-122"/>
              </a:rPr>
              <a:t>Q=110101(</a:t>
            </a:r>
            <a:r>
              <a:rPr lang="zh-CN" altLang="en-US" dirty="0">
                <a:ea typeface="微软雅黑" panose="020B0503020204020204" pitchFamily="34" charset="-122"/>
              </a:rPr>
              <a:t>这个商没什么用</a:t>
            </a:r>
            <a:r>
              <a:rPr lang="en-US" altLang="zh-CN" dirty="0">
                <a:ea typeface="微软雅黑" panose="020B0503020204020204" pitchFamily="34" charset="-122"/>
              </a:rPr>
              <a:t>)</a:t>
            </a:r>
            <a:r>
              <a:rPr lang="zh-CN" altLang="en-US" dirty="0">
                <a:ea typeface="微软雅黑" panose="020B0503020204020204" pitchFamily="34" charset="-122"/>
              </a:rPr>
              <a:t>，余数</a:t>
            </a:r>
            <a:r>
              <a:rPr lang="en-US" altLang="zh-CN" dirty="0">
                <a:ea typeface="微软雅黑" panose="020B0503020204020204" pitchFamily="34" charset="-122"/>
              </a:rPr>
              <a:t>R=001</a:t>
            </a:r>
            <a:r>
              <a:rPr lang="zh-CN" altLang="en-US" dirty="0"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a typeface="微软雅黑" panose="020B0503020204020204" pitchFamily="34" charset="-122"/>
              </a:rPr>
              <a:t>r</a:t>
            </a:r>
            <a:r>
              <a:rPr lang="zh-CN" altLang="en-US" dirty="0">
                <a:ea typeface="微软雅黑" panose="020B0503020204020204" pitchFamily="34" charset="-122"/>
              </a:rPr>
              <a:t>位）。因此，发送出去的数据为</a:t>
            </a:r>
            <a:r>
              <a:rPr lang="en-US" altLang="zh-CN" dirty="0">
                <a:ea typeface="微软雅黑" panose="020B0503020204020204" pitchFamily="34" charset="-122"/>
              </a:rPr>
              <a:t>101001001(</a:t>
            </a:r>
            <a:r>
              <a:rPr lang="zh-CN" altLang="en-US" dirty="0">
                <a:ea typeface="微软雅黑" panose="020B0503020204020204" pitchFamily="34" charset="-122"/>
              </a:rPr>
              <a:t>即</a:t>
            </a:r>
            <a:r>
              <a:rPr lang="en-US" altLang="zh-CN" dirty="0">
                <a:ea typeface="微软雅黑" panose="020B0503020204020204" pitchFamily="34" charset="-122"/>
              </a:rPr>
              <a:t>2</a:t>
            </a:r>
            <a:r>
              <a:rPr lang="en-US" altLang="zh-CN" baseline="30000" dirty="0">
                <a:ea typeface="微软雅黑" panose="020B0503020204020204" pitchFamily="34" charset="-122"/>
              </a:rPr>
              <a:t>r</a:t>
            </a:r>
            <a:r>
              <a:rPr lang="en-US" altLang="zh-CN" dirty="0">
                <a:ea typeface="微软雅黑" panose="020B0503020204020204" pitchFamily="34" charset="-122"/>
              </a:rPr>
              <a:t>M+FCS)</a:t>
            </a:r>
            <a:r>
              <a:rPr lang="zh-CN" altLang="en-US" dirty="0">
                <a:ea typeface="微软雅黑" panose="020B0503020204020204" pitchFamily="34" charset="-122"/>
              </a:rPr>
              <a:t>，共有</a:t>
            </a:r>
            <a:r>
              <a:rPr lang="en-US" altLang="zh-CN" dirty="0" err="1">
                <a:ea typeface="微软雅黑" panose="020B0503020204020204" pitchFamily="34" charset="-122"/>
              </a:rPr>
              <a:t>m+r</a:t>
            </a:r>
            <a:r>
              <a:rPr lang="zh-CN" altLang="en-US" dirty="0">
                <a:ea typeface="微软雅黑" panose="020B0503020204020204" pitchFamily="34" charset="-122"/>
              </a:rPr>
              <a:t>位，运算过程如图所示。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E891D6-FF5A-463E-B581-2EB480272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2348880"/>
            <a:ext cx="5544616" cy="437290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C214C6F1-A5D8-4F6F-8182-CD8DC37F8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0" y="4412373"/>
            <a:ext cx="6079948" cy="187220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6">
            <a:extLst>
              <a:ext uri="{FF2B5EF4-FFF2-40B4-BE49-F238E27FC236}">
                <a16:creationId xmlns:a16="http://schemas.microsoft.com/office/drawing/2014/main" id="{F2A43DD3-A515-4EF5-AC83-6B366D0BD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44624"/>
            <a:ext cx="2698175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kern="0" dirty="0">
                <a:solidFill>
                  <a:schemeClr val="hlink"/>
                </a:solidFill>
              </a:rPr>
              <a:t>循环冗余检验码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187162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263352" y="980728"/>
            <a:ext cx="6592886" cy="550862"/>
          </a:xfrm>
        </p:spPr>
        <p:txBody>
          <a:bodyPr>
            <a:noAutofit/>
          </a:bodyPr>
          <a:lstStyle/>
          <a:p>
            <a:pPr eaLnBrk="1" hangingPunct="1"/>
            <a:b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接收端对收到的每一帧进行检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11424" y="1916832"/>
            <a:ext cx="10657184" cy="15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将接收到的数据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除以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若得出的余数 </a:t>
            </a:r>
            <a:r>
              <a:rPr lang="en-US" altLang="zh-CN" sz="2400" i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，则判定这个帧没有差错，就</a:t>
            </a:r>
            <a:r>
              <a:rPr lang="zh-CN" altLang="en-US" sz="2400" kern="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接受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(accept)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若余数 </a:t>
            </a:r>
            <a:r>
              <a:rPr lang="en-US" altLang="zh-CN" sz="24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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，则判定这个帧有差错，就</a:t>
            </a:r>
            <a:r>
              <a:rPr lang="zh-CN" altLang="en-US" sz="2400" kern="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丢弃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23192B-E44C-476D-8BF6-73B11EA1FEB6}"/>
              </a:ext>
            </a:extLst>
          </p:cNvPr>
          <p:cNvSpPr txBox="1"/>
          <p:nvPr/>
        </p:nvSpPr>
        <p:spPr>
          <a:xfrm>
            <a:off x="3215680" y="234413"/>
            <a:ext cx="172819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zh-CN" dirty="0"/>
              <a:t>CRC </a:t>
            </a:r>
            <a:r>
              <a:rPr lang="zh-CN" altLang="en-US" dirty="0"/>
              <a:t>检验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748D3F-D143-4E28-B89B-BF4F4A86D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44624"/>
            <a:ext cx="2698175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kern="0" dirty="0">
                <a:solidFill>
                  <a:schemeClr val="hlink"/>
                </a:solidFill>
              </a:rPr>
              <a:t>循环冗余检验码</a:t>
            </a:r>
            <a:endParaRPr lang="en-US" altLang="zh-CN" sz="28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DDA5643-A91A-4599-8422-C8A728BE4B54}"/>
              </a:ext>
            </a:extLst>
          </p:cNvPr>
          <p:cNvSpPr txBox="1"/>
          <p:nvPr/>
        </p:nvSpPr>
        <p:spPr>
          <a:xfrm>
            <a:off x="263352" y="836712"/>
            <a:ext cx="11665296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若甲向乙发送数据时采用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CRC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检验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生成多项式为</a:t>
            </a:r>
            <a:r>
              <a:rPr lang="en-US" altLang="zh-CN" i="1" kern="100" dirty="0">
                <a:ea typeface="等线" panose="02010600030101010101" pitchFamily="2" charset="-122"/>
                <a:cs typeface="Times New Roman" panose="02020603050405020304" pitchFamily="18" charset="0"/>
              </a:rPr>
              <a:t>G(X)=X</a:t>
            </a:r>
            <a:r>
              <a:rPr lang="en-US" altLang="zh-CN" i="1" kern="100" baseline="30000" dirty="0"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kern="100" dirty="0">
                <a:ea typeface="等线" panose="02010600030101010101" pitchFamily="2" charset="-122"/>
                <a:cs typeface="Times New Roman" panose="02020603050405020304" pitchFamily="18" charset="0"/>
              </a:rPr>
              <a:t>+X+1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G=10011)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，则乙方接收到比特串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时，可以断定其在传输过程中未发生错误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A.10111 0000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B.10111 0100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C.10111 1000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.10111 1100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EB4F09-64E5-4186-84AF-4217F46F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91" y="3444386"/>
            <a:ext cx="8820472" cy="332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94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51384" y="1052736"/>
            <a:ext cx="11233248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循环冗余检验码不能确定是哪一个或哪几个比特出现了差错。不能检测出所有的错误。只要经过严格的挑选，并使用足够多位的除数 </a:t>
            </a:r>
            <a:r>
              <a:rPr lang="en-US" altLang="zh-CN" sz="2400" i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，那么出现检测不到的差错的概率就很小。 </a:t>
            </a: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校验码的位数越多检错能力越强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仅用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差错检测技术只能做到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无差错接受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(accept)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9263" indent="0" algn="just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zh-CN" altLang="en-US" sz="24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“无差错接受”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是指：“凡是接受的帧（即</a:t>
            </a:r>
            <a:r>
              <a:rPr lang="zh-CN" altLang="en-US" sz="2400" kern="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不包括丢弃的帧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），都能以非常接近于 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的概率认为这些帧在传输过程中没有产生差错”。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FCS 生成和CRC检验由硬件实现，处理迅速，不影响数据传输。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zh-CN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946AE7-2803-4B14-A03B-0372845DF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44624"/>
            <a:ext cx="2698175" cy="65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kern="0" dirty="0">
                <a:solidFill>
                  <a:schemeClr val="hlink"/>
                </a:solidFill>
              </a:rPr>
              <a:t>循环冗余检验码</a:t>
            </a:r>
            <a:endParaRPr lang="en-US" altLang="zh-CN" sz="28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03712" y="2420888"/>
            <a:ext cx="6120680" cy="685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00CC"/>
                </a:solidFill>
                <a:ea typeface="黑体" panose="02010609060101010101" pitchFamily="49" charset="-122"/>
              </a:rPr>
              <a:t>（三）可靠传输机制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E1D0FB-EAA9-4F0F-B776-D31E9FA33873}"/>
              </a:ext>
            </a:extLst>
          </p:cNvPr>
          <p:cNvSpPr txBox="1"/>
          <p:nvPr/>
        </p:nvSpPr>
        <p:spPr>
          <a:xfrm>
            <a:off x="1271464" y="3789040"/>
            <a:ext cx="9649072" cy="53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可靠传输</a:t>
            </a:r>
            <a:r>
              <a:rPr lang="zh-CN" altLang="en-US" sz="2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是指接收方能够接收到发送方发出的完全相同的数据。</a:t>
            </a:r>
            <a:endParaRPr lang="en-US" altLang="zh-CN" sz="2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1908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>
            <a:extLst>
              <a:ext uri="{FF2B5EF4-FFF2-40B4-BE49-F238E27FC236}">
                <a16:creationId xmlns:a16="http://schemas.microsoft.com/office/drawing/2014/main" id="{B1DB1B08-7308-4AC9-80C2-06982C00A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999809"/>
            <a:ext cx="11305256" cy="1972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完全理想化的数据传输是基于以下两个假定：</a:t>
            </a:r>
          </a:p>
          <a:p>
            <a:pPr algn="just">
              <a:lnSpc>
                <a:spcPct val="120000"/>
              </a:lnSpc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网络是理想的传输网络，所传送的任何数据既不会出差错也不会丢失</a:t>
            </a:r>
          </a:p>
          <a:p>
            <a:pPr algn="just">
              <a:lnSpc>
                <a:spcPct val="120000"/>
              </a:lnSpc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不管发方以多快的速率发送数据，收方总是来得及收下，并及时上交进程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2D720B-4A7D-4A1A-8310-194BBB8F0572}"/>
              </a:ext>
            </a:extLst>
          </p:cNvPr>
          <p:cNvSpPr txBox="1"/>
          <p:nvPr/>
        </p:nvSpPr>
        <p:spPr>
          <a:xfrm>
            <a:off x="191344" y="188640"/>
            <a:ext cx="4032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完全理想化的数据传输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61E1569-FBE9-45A0-A8B9-563117D78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84" y="2636824"/>
            <a:ext cx="4392488" cy="417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11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92D720B-4A7D-4A1A-8310-194BBB8F0572}"/>
              </a:ext>
            </a:extLst>
          </p:cNvPr>
          <p:cNvSpPr txBox="1"/>
          <p:nvPr/>
        </p:nvSpPr>
        <p:spPr>
          <a:xfrm>
            <a:off x="151124" y="188640"/>
            <a:ext cx="8676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具有最简单流量控制（</a:t>
            </a:r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en-US" altLang="zh-CN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等待）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的数据传输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CE63819-6820-47B7-A561-92AACFA4D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54760"/>
            <a:ext cx="11521280" cy="941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kumimoji="1" sz="2600" b="1">
                <a:latin typeface="+mj-ea"/>
                <a:ea typeface="+mj-ea"/>
              </a:defRPr>
            </a:lvl1pPr>
            <a:lvl2pPr marL="742950" indent="-285750">
              <a:defRPr kumimoji="1"/>
            </a:lvl2pPr>
            <a:lvl3pPr marL="1143000" indent="-228600">
              <a:defRPr kumimoji="1"/>
            </a:lvl3pPr>
            <a:lvl4pPr marL="1600200" indent="-228600">
              <a:defRPr kumimoji="1"/>
            </a:lvl4pPr>
            <a:lvl5pPr marL="2057400" indent="-228600">
              <a:defRPr kumimoji="1"/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/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/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/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/>
            </a:lvl9pPr>
          </a:lstStyle>
          <a:p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现在去掉上述的第二个假定。保留第一个假定，即进程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向进程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传输数据的通信信道仍然是</a:t>
            </a:r>
            <a:r>
              <a:rPr lang="zh-CN" altLang="en-US" sz="24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无差错的理想信道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FE86D3-BD67-49E9-8B73-06D002EA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2276872"/>
            <a:ext cx="4355656" cy="41014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4DF5BD2-A7E8-4CF2-AA3E-1B4D434D3113}"/>
              </a:ext>
            </a:extLst>
          </p:cNvPr>
          <p:cNvSpPr txBox="1"/>
          <p:nvPr/>
        </p:nvSpPr>
        <p:spPr>
          <a:xfrm>
            <a:off x="451490" y="2180691"/>
            <a:ext cx="6292582" cy="448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发送方每发送一帧，都要等待接收方的应答信号（确认，确认也是一个数据帧），之后才能发送下一帧；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接收方每接收一帧，都要反馈一个应答信号（确认），表示可接收下一帧，如果接收方不反馈应答信号，那么发送方必须一直等待。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每次只允许发送一帧，然后就陷入等待接收方确认信息的过程中，因此传输效率极低。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EB139D-F26F-4355-A06C-EFC199B53FCD}"/>
              </a:ext>
            </a:extLst>
          </p:cNvPr>
          <p:cNvSpPr txBox="1"/>
          <p:nvPr/>
        </p:nvSpPr>
        <p:spPr>
          <a:xfrm rot="21224486">
            <a:off x="7912285" y="3946756"/>
            <a:ext cx="7945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  认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1A01DA-98B4-4145-B2B2-57F6DD1E8878}"/>
              </a:ext>
            </a:extLst>
          </p:cNvPr>
          <p:cNvSpPr txBox="1"/>
          <p:nvPr/>
        </p:nvSpPr>
        <p:spPr>
          <a:xfrm rot="21224486">
            <a:off x="7912286" y="5419432"/>
            <a:ext cx="7945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  认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28251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F34D1C-7E99-44A4-B352-AA79AB15F077}"/>
              </a:ext>
            </a:extLst>
          </p:cNvPr>
          <p:cNvSpPr/>
          <p:nvPr/>
        </p:nvSpPr>
        <p:spPr>
          <a:xfrm>
            <a:off x="191344" y="908721"/>
            <a:ext cx="11737304" cy="9411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在实际情况中，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传输数据的信道不是可靠的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数据会产生差错和丢失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，并且在信道时延比较大的链路上，每个数据帧发送后都等待通信效率太低。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D0C4BD-ECFD-4585-BD8C-5BF915AD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1953650"/>
            <a:ext cx="8856984" cy="34582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F0F6D45-B7DA-4E95-82CE-FFAF22CEB85A}"/>
              </a:ext>
            </a:extLst>
          </p:cNvPr>
          <p:cNvSpPr txBox="1"/>
          <p:nvPr/>
        </p:nvSpPr>
        <p:spPr>
          <a:xfrm>
            <a:off x="2855640" y="5450868"/>
            <a:ext cx="9073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正常             数据帧丢失      数据帧校验出错      确认帧丢失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A4CF8C-5C3F-4F5B-BE99-8EBF6D7919E1}"/>
              </a:ext>
            </a:extLst>
          </p:cNvPr>
          <p:cNvSpPr txBox="1"/>
          <p:nvPr/>
        </p:nvSpPr>
        <p:spPr>
          <a:xfrm>
            <a:off x="184424" y="5272440"/>
            <a:ext cx="71856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措施：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对数据帧进行编号；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校验码：保证无差错接收；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确认和超时重传：保证丢失出错的数据帧重传。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2399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16632"/>
            <a:ext cx="7848872" cy="6858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最简单的可靠传输协议：停止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 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ARQ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038F73-B9E9-4E37-A0F5-AA182FECD739}"/>
              </a:ext>
            </a:extLst>
          </p:cNvPr>
          <p:cNvSpPr txBox="1"/>
          <p:nvPr/>
        </p:nvSpPr>
        <p:spPr>
          <a:xfrm>
            <a:off x="407368" y="1196752"/>
            <a:ext cx="11449272" cy="227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数据帧中用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位用来表示帧的编号，有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两种编号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接收到正确的数据帧，并且处理完毕后，需要发送一个确认帧给发送方。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将数据帧发送到介质上后，启动定时器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，然后等待该帧的确认帧，定时器超时未收到确认帧，则重新发送该数据帧，并重新启动定时器。：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自动重传请求ARQ(Automatic Repeat-reQuest)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9C585E-32FC-4AA9-BC4B-D65634C2C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3861822"/>
            <a:ext cx="9937104" cy="9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87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70B6218-DA34-4D78-961A-FAF6D1D7456E}"/>
              </a:ext>
            </a:extLst>
          </p:cNvPr>
          <p:cNvSpPr txBox="1"/>
          <p:nvPr/>
        </p:nvSpPr>
        <p:spPr>
          <a:xfrm>
            <a:off x="252960" y="76886"/>
            <a:ext cx="11665296" cy="18275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发送方每发送一个数据帧后，就立即为该帧启动一个关联的定时器，然后等待接收方对该帧的确认，会有两种情况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261938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接收到确认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，撤销定时器，发送下一个数据帧，并为新发送的帧设置定时器。</a:t>
            </a:r>
          </a:p>
          <a:p>
            <a:pPr marL="457200" indent="261938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若超时未收到该数据帧的确认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，则重发该数据帧，并重新启动定时器。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5C12E3-0225-4B20-9A60-3BD763626EF6}"/>
              </a:ext>
            </a:extLst>
          </p:cNvPr>
          <p:cNvSpPr txBox="1"/>
          <p:nvPr/>
        </p:nvSpPr>
        <p:spPr>
          <a:xfrm>
            <a:off x="281486" y="1904438"/>
            <a:ext cx="11305256" cy="249549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sz="2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1.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V(R)=0,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表示希望接收的帧编号为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2.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等待接收数据帧；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3.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接收到一个数据帧，校验错误，抛弃，转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；校验正确，比较帧编号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N(S)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12900" defTabSz="62706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200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相等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，接收，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V(R)=1-V(R),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发确认  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ACK(V(R))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。转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12900" defTabSz="62706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200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不相等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，抛弃，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发确认   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ACK(V(R))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。转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335172-F59A-40DD-9B09-DCC480A1622C}"/>
              </a:ext>
            </a:extLst>
          </p:cNvPr>
          <p:cNvSpPr txBox="1"/>
          <p:nvPr/>
        </p:nvSpPr>
        <p:spPr>
          <a:xfrm>
            <a:off x="209478" y="4365104"/>
            <a:ext cx="11449272" cy="249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发确认 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是对最近一次正确接收的数据帧的确认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。如，最近一次正确接收帧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，接下来希望接收帧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V(R)=1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6575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接收到校验错误的帧：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丢弃，不处理。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marL="536575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接收到帧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抛弃该帧，因为已经接收过帧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了，同时还要发帧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的确认。因为可能确认帧丢失，造成发送方超时重发了帧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6575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接收到帧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发帧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下次希望接收帧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68079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23" y="2888940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589" y="2924944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487488" y="3068960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A2EE964-B946-4B57-BC5F-FFC07D2999FB}"/>
              </a:ext>
            </a:extLst>
          </p:cNvPr>
          <p:cNvSpPr/>
          <p:nvPr/>
        </p:nvSpPr>
        <p:spPr bwMode="auto">
          <a:xfrm>
            <a:off x="1582473" y="2648074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F0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91" y="1592796"/>
            <a:ext cx="8473279" cy="5912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B8F4925-47FB-406C-A03E-81DE514DA604}"/>
              </a:ext>
            </a:extLst>
          </p:cNvPr>
          <p:cNvSpPr/>
          <p:nvPr/>
        </p:nvSpPr>
        <p:spPr bwMode="auto">
          <a:xfrm>
            <a:off x="821198" y="1708423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37921" y="2426470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976DE22-C4ED-4C1F-838C-1FFE056161F9}"/>
              </a:ext>
            </a:extLst>
          </p:cNvPr>
          <p:cNvGrpSpPr/>
          <p:nvPr/>
        </p:nvGrpSpPr>
        <p:grpSpPr>
          <a:xfrm>
            <a:off x="983289" y="3324499"/>
            <a:ext cx="591536" cy="776235"/>
            <a:chOff x="677204" y="2852820"/>
            <a:chExt cx="591536" cy="776235"/>
          </a:xfrm>
        </p:grpSpPr>
        <p:pic>
          <p:nvPicPr>
            <p:cNvPr id="18" name="图片 27">
              <a:extLst>
                <a:ext uri="{FF2B5EF4-FFF2-40B4-BE49-F238E27FC236}">
                  <a16:creationId xmlns:a16="http://schemas.microsoft.com/office/drawing/2014/main" id="{BA64FC04-83FD-44C2-8A1E-087C8C9B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64EE38D-3803-4D34-A193-56BCA9077DCD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DF5041A7-AB81-4A86-8B00-84D72EB917FB}"/>
              </a:ext>
            </a:extLst>
          </p:cNvPr>
          <p:cNvSpPr txBox="1"/>
          <p:nvPr/>
        </p:nvSpPr>
        <p:spPr>
          <a:xfrm>
            <a:off x="281646" y="881932"/>
            <a:ext cx="2267744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149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96296E-6 L 0.55872 0.0053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3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B8F4925-47FB-406C-A03E-81DE514DA604}"/>
              </a:ext>
            </a:extLst>
          </p:cNvPr>
          <p:cNvSpPr/>
          <p:nvPr/>
        </p:nvSpPr>
        <p:spPr bwMode="auto">
          <a:xfrm>
            <a:off x="839415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976DE22-C4ED-4C1F-838C-1FFE056161F9}"/>
              </a:ext>
            </a:extLst>
          </p:cNvPr>
          <p:cNvGrpSpPr/>
          <p:nvPr/>
        </p:nvGrpSpPr>
        <p:grpSpPr>
          <a:xfrm>
            <a:off x="1001506" y="3288495"/>
            <a:ext cx="591536" cy="776235"/>
            <a:chOff x="677204" y="2852820"/>
            <a:chExt cx="591536" cy="776235"/>
          </a:xfrm>
        </p:grpSpPr>
        <p:pic>
          <p:nvPicPr>
            <p:cNvPr id="18" name="图片 27">
              <a:extLst>
                <a:ext uri="{FF2B5EF4-FFF2-40B4-BE49-F238E27FC236}">
                  <a16:creationId xmlns:a16="http://schemas.microsoft.com/office/drawing/2014/main" id="{BA64FC04-83FD-44C2-8A1E-087C8C9B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64EE38D-3803-4D34-A193-56BCA9077DCD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6C33E-A0A5-4FF7-BCDC-22418DBD360B}"/>
              </a:ext>
            </a:extLst>
          </p:cNvPr>
          <p:cNvSpPr txBox="1"/>
          <p:nvPr/>
        </p:nvSpPr>
        <p:spPr>
          <a:xfrm>
            <a:off x="7949970" y="2758423"/>
            <a:ext cx="14766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接收，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校验正确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</a:p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发确认</a:t>
            </a:r>
            <a:endParaRPr lang="zh-CN" altLang="en-US" sz="1800" i="1" dirty="0"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F2D26B-41D8-41D2-8589-4CC173F6A4C0}"/>
              </a:ext>
            </a:extLst>
          </p:cNvPr>
          <p:cNvSpPr txBox="1"/>
          <p:nvPr/>
        </p:nvSpPr>
        <p:spPr>
          <a:xfrm>
            <a:off x="299863" y="845928"/>
            <a:ext cx="205172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9057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287" y="2816932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653" y="2852936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2063552" y="2996952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55" y="1520788"/>
            <a:ext cx="8473279" cy="5912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B8F4925-47FB-406C-A03E-81DE514DA604}"/>
              </a:ext>
            </a:extLst>
          </p:cNvPr>
          <p:cNvSpPr/>
          <p:nvPr/>
        </p:nvSpPr>
        <p:spPr bwMode="auto">
          <a:xfrm>
            <a:off x="1397262" y="1636415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913985" y="2354462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B7ACA-F3F9-4710-B187-B8756E2ABA0B}"/>
              </a:ext>
            </a:extLst>
          </p:cNvPr>
          <p:cNvSpPr/>
          <p:nvPr/>
        </p:nvSpPr>
        <p:spPr bwMode="auto">
          <a:xfrm>
            <a:off x="6900662" y="3090670"/>
            <a:ext cx="86409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cs typeface="Times New Roman" panose="02020603050405020304" pitchFamily="18" charset="0"/>
              </a:rPr>
              <a:t>ACK(1)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976DE22-C4ED-4C1F-838C-1FFE056161F9}"/>
              </a:ext>
            </a:extLst>
          </p:cNvPr>
          <p:cNvGrpSpPr/>
          <p:nvPr/>
        </p:nvGrpSpPr>
        <p:grpSpPr>
          <a:xfrm>
            <a:off x="1559353" y="3252491"/>
            <a:ext cx="591536" cy="776235"/>
            <a:chOff x="677204" y="2852820"/>
            <a:chExt cx="591536" cy="776235"/>
          </a:xfrm>
        </p:grpSpPr>
        <p:pic>
          <p:nvPicPr>
            <p:cNvPr id="18" name="图片 27">
              <a:extLst>
                <a:ext uri="{FF2B5EF4-FFF2-40B4-BE49-F238E27FC236}">
                  <a16:creationId xmlns:a16="http://schemas.microsoft.com/office/drawing/2014/main" id="{BA64FC04-83FD-44C2-8A1E-087C8C9B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64EE38D-3803-4D34-A193-56BCA9077DCD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37F247F-BB06-4C01-8949-109007454157}"/>
              </a:ext>
            </a:extLst>
          </p:cNvPr>
          <p:cNvSpPr txBox="1"/>
          <p:nvPr/>
        </p:nvSpPr>
        <p:spPr>
          <a:xfrm>
            <a:off x="299863" y="845928"/>
            <a:ext cx="2051720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001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-0.52304 -0.005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59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23" y="2888940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589" y="2924944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487488" y="3068960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91" y="1592796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37921" y="2426470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1465650" y="1708423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3CEA6C-6C67-4843-8DFB-4199FD40D0F9}"/>
              </a:ext>
            </a:extLst>
          </p:cNvPr>
          <p:cNvSpPr txBox="1"/>
          <p:nvPr/>
        </p:nvSpPr>
        <p:spPr>
          <a:xfrm>
            <a:off x="281646" y="881932"/>
            <a:ext cx="5364088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编号帧完毕，准备发送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5464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23" y="2888940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589" y="2924944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487488" y="3068960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EA2EE964-B946-4B57-BC5F-FFC07D2999FB}"/>
              </a:ext>
            </a:extLst>
          </p:cNvPr>
          <p:cNvSpPr/>
          <p:nvPr/>
        </p:nvSpPr>
        <p:spPr bwMode="auto">
          <a:xfrm>
            <a:off x="1582473" y="2648074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F1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91" y="1592796"/>
            <a:ext cx="8473279" cy="5912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B8F4925-47FB-406C-A03E-81DE514DA604}"/>
              </a:ext>
            </a:extLst>
          </p:cNvPr>
          <p:cNvSpPr/>
          <p:nvPr/>
        </p:nvSpPr>
        <p:spPr bwMode="auto">
          <a:xfrm>
            <a:off x="1397262" y="1686296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37921" y="2426470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976DE22-C4ED-4C1F-838C-1FFE056161F9}"/>
              </a:ext>
            </a:extLst>
          </p:cNvPr>
          <p:cNvGrpSpPr/>
          <p:nvPr/>
        </p:nvGrpSpPr>
        <p:grpSpPr>
          <a:xfrm>
            <a:off x="983289" y="3324499"/>
            <a:ext cx="591536" cy="776235"/>
            <a:chOff x="677204" y="2852820"/>
            <a:chExt cx="591536" cy="776235"/>
          </a:xfrm>
        </p:grpSpPr>
        <p:pic>
          <p:nvPicPr>
            <p:cNvPr id="18" name="图片 27">
              <a:extLst>
                <a:ext uri="{FF2B5EF4-FFF2-40B4-BE49-F238E27FC236}">
                  <a16:creationId xmlns:a16="http://schemas.microsoft.com/office/drawing/2014/main" id="{BA64FC04-83FD-44C2-8A1E-087C8C9B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64EE38D-3803-4D34-A193-56BCA9077DCD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T1</a:t>
              </a:r>
              <a:endParaRPr lang="zh-CN" altLang="en-US" sz="20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D518624-074B-4420-AD9B-8A975C9CF89E}"/>
              </a:ext>
            </a:extLst>
          </p:cNvPr>
          <p:cNvSpPr txBox="1"/>
          <p:nvPr/>
        </p:nvSpPr>
        <p:spPr>
          <a:xfrm>
            <a:off x="281646" y="881932"/>
            <a:ext cx="2123728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6691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96296E-6 L 0.55872 0.0053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3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23" y="2888940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589" y="2924944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487488" y="3068960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91" y="1592796"/>
            <a:ext cx="8473279" cy="5912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B8F4925-47FB-406C-A03E-81DE514DA604}"/>
              </a:ext>
            </a:extLst>
          </p:cNvPr>
          <p:cNvSpPr/>
          <p:nvPr/>
        </p:nvSpPr>
        <p:spPr bwMode="auto">
          <a:xfrm>
            <a:off x="1397262" y="1719721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37921" y="2426470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976DE22-C4ED-4C1F-838C-1FFE056161F9}"/>
              </a:ext>
            </a:extLst>
          </p:cNvPr>
          <p:cNvGrpSpPr/>
          <p:nvPr/>
        </p:nvGrpSpPr>
        <p:grpSpPr>
          <a:xfrm>
            <a:off x="983289" y="3324499"/>
            <a:ext cx="591536" cy="776235"/>
            <a:chOff x="677204" y="2852820"/>
            <a:chExt cx="591536" cy="776235"/>
          </a:xfrm>
        </p:grpSpPr>
        <p:pic>
          <p:nvPicPr>
            <p:cNvPr id="18" name="图片 27">
              <a:extLst>
                <a:ext uri="{FF2B5EF4-FFF2-40B4-BE49-F238E27FC236}">
                  <a16:creationId xmlns:a16="http://schemas.microsoft.com/office/drawing/2014/main" id="{BA64FC04-83FD-44C2-8A1E-087C8C9B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64EE38D-3803-4D34-A193-56BCA9077DCD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T1</a:t>
              </a:r>
              <a:endParaRPr lang="zh-CN" altLang="en-US" sz="20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6C33E-A0A5-4FF7-BCDC-22418DBD360B}"/>
              </a:ext>
            </a:extLst>
          </p:cNvPr>
          <p:cNvSpPr txBox="1"/>
          <p:nvPr/>
        </p:nvSpPr>
        <p:spPr>
          <a:xfrm>
            <a:off x="7931753" y="2794427"/>
            <a:ext cx="14766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接收，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校验正确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</a:p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发确认</a:t>
            </a:r>
            <a:endParaRPr lang="zh-CN" altLang="en-US" sz="1800" i="1" dirty="0"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FC2F2B-53FE-4FD0-BA03-6E4B388A9D3D}"/>
              </a:ext>
            </a:extLst>
          </p:cNvPr>
          <p:cNvSpPr txBox="1"/>
          <p:nvPr/>
        </p:nvSpPr>
        <p:spPr>
          <a:xfrm>
            <a:off x="281646" y="881932"/>
            <a:ext cx="2123728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486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23" y="2888940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589" y="2924944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487488" y="3068960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91" y="1592796"/>
            <a:ext cx="8473279" cy="59129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B8F4925-47FB-406C-A03E-81DE514DA604}"/>
              </a:ext>
            </a:extLst>
          </p:cNvPr>
          <p:cNvSpPr/>
          <p:nvPr/>
        </p:nvSpPr>
        <p:spPr bwMode="auto">
          <a:xfrm>
            <a:off x="1397262" y="1708423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37921" y="2426470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B7ACA-F3F9-4710-B187-B8756E2ABA0B}"/>
              </a:ext>
            </a:extLst>
          </p:cNvPr>
          <p:cNvSpPr/>
          <p:nvPr/>
        </p:nvSpPr>
        <p:spPr bwMode="auto">
          <a:xfrm>
            <a:off x="6324598" y="3162678"/>
            <a:ext cx="86409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cs typeface="Times New Roman" panose="02020603050405020304" pitchFamily="18" charset="0"/>
              </a:rPr>
              <a:t>ACK(0)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976DE22-C4ED-4C1F-838C-1FFE056161F9}"/>
              </a:ext>
            </a:extLst>
          </p:cNvPr>
          <p:cNvGrpSpPr/>
          <p:nvPr/>
        </p:nvGrpSpPr>
        <p:grpSpPr>
          <a:xfrm>
            <a:off x="983289" y="3324499"/>
            <a:ext cx="591536" cy="776235"/>
            <a:chOff x="677204" y="2852820"/>
            <a:chExt cx="591536" cy="776235"/>
          </a:xfrm>
        </p:grpSpPr>
        <p:pic>
          <p:nvPicPr>
            <p:cNvPr id="18" name="图片 27">
              <a:extLst>
                <a:ext uri="{FF2B5EF4-FFF2-40B4-BE49-F238E27FC236}">
                  <a16:creationId xmlns:a16="http://schemas.microsoft.com/office/drawing/2014/main" id="{BA64FC04-83FD-44C2-8A1E-087C8C9B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64EE38D-3803-4D34-A193-56BCA9077DCD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T1</a:t>
              </a:r>
              <a:endParaRPr lang="zh-CN" altLang="en-US" sz="20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CDC7236-2DF8-4361-B474-ABFF6DA56671}"/>
              </a:ext>
            </a:extLst>
          </p:cNvPr>
          <p:cNvSpPr txBox="1"/>
          <p:nvPr/>
        </p:nvSpPr>
        <p:spPr>
          <a:xfrm>
            <a:off x="281646" y="881932"/>
            <a:ext cx="2195736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98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-0.52305 -0.005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59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E36D0-D497-4303-8E84-1392DFE97E36}"/>
              </a:ext>
            </a:extLst>
          </p:cNvPr>
          <p:cNvSpPr txBox="1"/>
          <p:nvPr/>
        </p:nvSpPr>
        <p:spPr>
          <a:xfrm>
            <a:off x="299863" y="845928"/>
            <a:ext cx="3707904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编号帧，半路出错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86DA13E-E025-4FF7-9F85-E7EA1ECD426D}"/>
              </a:ext>
            </a:extLst>
          </p:cNvPr>
          <p:cNvGrpSpPr/>
          <p:nvPr/>
        </p:nvGrpSpPr>
        <p:grpSpPr>
          <a:xfrm>
            <a:off x="1001506" y="3288495"/>
            <a:ext cx="591536" cy="776235"/>
            <a:chOff x="677204" y="2852820"/>
            <a:chExt cx="591536" cy="776235"/>
          </a:xfrm>
        </p:grpSpPr>
        <p:pic>
          <p:nvPicPr>
            <p:cNvPr id="10" name="图片 27">
              <a:extLst>
                <a:ext uri="{FF2B5EF4-FFF2-40B4-BE49-F238E27FC236}">
                  <a16:creationId xmlns:a16="http://schemas.microsoft.com/office/drawing/2014/main" id="{B7E3EDC8-AFE2-4C08-9930-2FDB44F2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3E6239C-5AE6-4527-8EBB-0AAA033E7D73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9248FD0A-2253-45EC-91F2-BE3A004F24D2}"/>
              </a:ext>
            </a:extLst>
          </p:cNvPr>
          <p:cNvSpPr/>
          <p:nvPr/>
        </p:nvSpPr>
        <p:spPr bwMode="auto">
          <a:xfrm>
            <a:off x="1600690" y="2612070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F0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82078EC9-5388-4183-B64F-5D5E30A65E89}"/>
              </a:ext>
            </a:extLst>
          </p:cNvPr>
          <p:cNvSpPr/>
          <p:nvPr/>
        </p:nvSpPr>
        <p:spPr bwMode="auto">
          <a:xfrm>
            <a:off x="4223791" y="2612070"/>
            <a:ext cx="247260" cy="665798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5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0.28295 0.0025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4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05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471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29370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73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79803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87216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86DA13E-E025-4FF7-9F85-E7EA1ECD426D}"/>
              </a:ext>
            </a:extLst>
          </p:cNvPr>
          <p:cNvGrpSpPr/>
          <p:nvPr/>
        </p:nvGrpSpPr>
        <p:grpSpPr>
          <a:xfrm>
            <a:off x="1025171" y="3288495"/>
            <a:ext cx="591536" cy="776235"/>
            <a:chOff x="677204" y="2852820"/>
            <a:chExt cx="591536" cy="776235"/>
          </a:xfrm>
        </p:grpSpPr>
        <p:pic>
          <p:nvPicPr>
            <p:cNvPr id="10" name="图片 27">
              <a:extLst>
                <a:ext uri="{FF2B5EF4-FFF2-40B4-BE49-F238E27FC236}">
                  <a16:creationId xmlns:a16="http://schemas.microsoft.com/office/drawing/2014/main" id="{B7E3EDC8-AFE2-4C08-9930-2FDB44F2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3E6239C-5AE6-4527-8EBB-0AAA033E7D73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9248FD0A-2253-45EC-91F2-BE3A004F24D2}"/>
              </a:ext>
            </a:extLst>
          </p:cNvPr>
          <p:cNvSpPr/>
          <p:nvPr/>
        </p:nvSpPr>
        <p:spPr bwMode="auto">
          <a:xfrm>
            <a:off x="1624355" y="2612070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F0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FEA91C-1513-4E08-8C12-445CA033974B}"/>
              </a:ext>
            </a:extLst>
          </p:cNvPr>
          <p:cNvSpPr txBox="1"/>
          <p:nvPr/>
        </p:nvSpPr>
        <p:spPr>
          <a:xfrm>
            <a:off x="719065" y="4097847"/>
            <a:ext cx="1492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超时重传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F49A07-C020-4FDD-9AF4-621E83AA834C}"/>
              </a:ext>
            </a:extLst>
          </p:cNvPr>
          <p:cNvSpPr txBox="1"/>
          <p:nvPr/>
        </p:nvSpPr>
        <p:spPr>
          <a:xfrm>
            <a:off x="323528" y="845928"/>
            <a:ext cx="4139952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编号帧出错，超时重传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23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55872 0.0053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3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E36D0-D497-4303-8E84-1392DFE97E36}"/>
              </a:ext>
            </a:extLst>
          </p:cNvPr>
          <p:cNvSpPr txBox="1"/>
          <p:nvPr/>
        </p:nvSpPr>
        <p:spPr>
          <a:xfrm>
            <a:off x="299863" y="845928"/>
            <a:ext cx="4499992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编号帧，校验错误，丢弃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86DA13E-E025-4FF7-9F85-E7EA1ECD426D}"/>
              </a:ext>
            </a:extLst>
          </p:cNvPr>
          <p:cNvGrpSpPr/>
          <p:nvPr/>
        </p:nvGrpSpPr>
        <p:grpSpPr>
          <a:xfrm>
            <a:off x="1001506" y="3288495"/>
            <a:ext cx="591536" cy="776235"/>
            <a:chOff x="677204" y="2852820"/>
            <a:chExt cx="591536" cy="776235"/>
          </a:xfrm>
        </p:grpSpPr>
        <p:pic>
          <p:nvPicPr>
            <p:cNvPr id="10" name="图片 27">
              <a:extLst>
                <a:ext uri="{FF2B5EF4-FFF2-40B4-BE49-F238E27FC236}">
                  <a16:creationId xmlns:a16="http://schemas.microsoft.com/office/drawing/2014/main" id="{B7E3EDC8-AFE2-4C08-9930-2FDB44F2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3E6239C-5AE6-4527-8EBB-0AAA033E7D73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A026C438-B043-4785-BBC4-46A8B7A2CD28}"/>
              </a:ext>
            </a:extLst>
          </p:cNvPr>
          <p:cNvSpPr txBox="1"/>
          <p:nvPr/>
        </p:nvSpPr>
        <p:spPr>
          <a:xfrm>
            <a:off x="8008989" y="2680262"/>
            <a:ext cx="1242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接收，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校验错误</a:t>
            </a:r>
            <a:endParaRPr lang="en-US" altLang="zh-CN" sz="1800" b="1" i="1" dirty="0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丢弃</a:t>
            </a:r>
            <a:endParaRPr lang="zh-CN" altLang="en-US" sz="1800" i="1" dirty="0"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C2415F-D30E-432A-9161-AEC209A0B3EF}"/>
              </a:ext>
            </a:extLst>
          </p:cNvPr>
          <p:cNvSpPr txBox="1"/>
          <p:nvPr/>
        </p:nvSpPr>
        <p:spPr>
          <a:xfrm>
            <a:off x="695400" y="4097847"/>
            <a:ext cx="1492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超时重传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023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V(R)=0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86DA13E-E025-4FF7-9F85-E7EA1ECD426D}"/>
              </a:ext>
            </a:extLst>
          </p:cNvPr>
          <p:cNvGrpSpPr/>
          <p:nvPr/>
        </p:nvGrpSpPr>
        <p:grpSpPr>
          <a:xfrm>
            <a:off x="1001506" y="3288495"/>
            <a:ext cx="591536" cy="776235"/>
            <a:chOff x="677204" y="2852820"/>
            <a:chExt cx="591536" cy="776235"/>
          </a:xfrm>
        </p:grpSpPr>
        <p:pic>
          <p:nvPicPr>
            <p:cNvPr id="10" name="图片 27">
              <a:extLst>
                <a:ext uri="{FF2B5EF4-FFF2-40B4-BE49-F238E27FC236}">
                  <a16:creationId xmlns:a16="http://schemas.microsoft.com/office/drawing/2014/main" id="{B7E3EDC8-AFE2-4C08-9930-2FDB44F2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3E6239C-5AE6-4527-8EBB-0AAA033E7D73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9248FD0A-2253-45EC-91F2-BE3A004F24D2}"/>
              </a:ext>
            </a:extLst>
          </p:cNvPr>
          <p:cNvSpPr/>
          <p:nvPr/>
        </p:nvSpPr>
        <p:spPr bwMode="auto">
          <a:xfrm>
            <a:off x="1600690" y="2612070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F0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FEA91C-1513-4E08-8C12-445CA033974B}"/>
              </a:ext>
            </a:extLst>
          </p:cNvPr>
          <p:cNvSpPr txBox="1"/>
          <p:nvPr/>
        </p:nvSpPr>
        <p:spPr>
          <a:xfrm>
            <a:off x="695400" y="4097847"/>
            <a:ext cx="1492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超时重传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6B19EE-2E67-48FA-B728-9B0EEDB42C9F}"/>
              </a:ext>
            </a:extLst>
          </p:cNvPr>
          <p:cNvSpPr txBox="1"/>
          <p:nvPr/>
        </p:nvSpPr>
        <p:spPr>
          <a:xfrm>
            <a:off x="299863" y="845928"/>
            <a:ext cx="2843808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超时重传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65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0.55873 0.0053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3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23B123-A698-4429-B88E-C371F31E6936}"/>
              </a:ext>
            </a:extLst>
          </p:cNvPr>
          <p:cNvSpPr txBox="1"/>
          <p:nvPr/>
        </p:nvSpPr>
        <p:spPr>
          <a:xfrm>
            <a:off x="8008989" y="2680262"/>
            <a:ext cx="1242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接收，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校验正确</a:t>
            </a:r>
            <a:endParaRPr lang="en-US" altLang="zh-CN" sz="1800" b="1" i="1" dirty="0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ACK(1)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5F1725A-EB5F-4670-A3B4-7073FD6E4D46}"/>
              </a:ext>
            </a:extLst>
          </p:cNvPr>
          <p:cNvGrpSpPr/>
          <p:nvPr/>
        </p:nvGrpSpPr>
        <p:grpSpPr>
          <a:xfrm>
            <a:off x="1001506" y="3288495"/>
            <a:ext cx="591536" cy="776235"/>
            <a:chOff x="677204" y="2852820"/>
            <a:chExt cx="591536" cy="776235"/>
          </a:xfrm>
        </p:grpSpPr>
        <p:pic>
          <p:nvPicPr>
            <p:cNvPr id="20" name="图片 27">
              <a:extLst>
                <a:ext uri="{FF2B5EF4-FFF2-40B4-BE49-F238E27FC236}">
                  <a16:creationId xmlns:a16="http://schemas.microsoft.com/office/drawing/2014/main" id="{CE5C8516-041F-4931-AF20-410566B59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CF92BC9-F8A1-4F66-8D39-172109C1E95B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4DC9FF53-B1A8-48DA-A9FD-C11F60084CFE}"/>
              </a:ext>
            </a:extLst>
          </p:cNvPr>
          <p:cNvSpPr txBox="1"/>
          <p:nvPr/>
        </p:nvSpPr>
        <p:spPr>
          <a:xfrm>
            <a:off x="299863" y="845928"/>
            <a:ext cx="4499992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编号帧被接收，但是确认出错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788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9C99E2-6A9C-4655-A954-40AC97B41590}"/>
              </a:ext>
            </a:extLst>
          </p:cNvPr>
          <p:cNvSpPr/>
          <p:nvPr/>
        </p:nvSpPr>
        <p:spPr bwMode="auto">
          <a:xfrm>
            <a:off x="6342815" y="3126674"/>
            <a:ext cx="86409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cs typeface="Times New Roman" panose="02020603050405020304" pitchFamily="18" charset="0"/>
              </a:rPr>
              <a:t>ACK(1)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9B2EF850-1BF8-489C-B357-B651761158F1}"/>
              </a:ext>
            </a:extLst>
          </p:cNvPr>
          <p:cNvSpPr/>
          <p:nvPr/>
        </p:nvSpPr>
        <p:spPr bwMode="auto">
          <a:xfrm>
            <a:off x="3908413" y="3120877"/>
            <a:ext cx="387386" cy="612219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443EEB-7F46-49AD-8F6E-9EC8B2E6CE62}"/>
              </a:ext>
            </a:extLst>
          </p:cNvPr>
          <p:cNvGrpSpPr/>
          <p:nvPr/>
        </p:nvGrpSpPr>
        <p:grpSpPr>
          <a:xfrm>
            <a:off x="1001506" y="3288495"/>
            <a:ext cx="591536" cy="776235"/>
            <a:chOff x="677204" y="2852820"/>
            <a:chExt cx="591536" cy="776235"/>
          </a:xfrm>
        </p:grpSpPr>
        <p:pic>
          <p:nvPicPr>
            <p:cNvPr id="13" name="图片 27">
              <a:extLst>
                <a:ext uri="{FF2B5EF4-FFF2-40B4-BE49-F238E27FC236}">
                  <a16:creationId xmlns:a16="http://schemas.microsoft.com/office/drawing/2014/main" id="{8DC4F021-060A-441F-8F65-79027EB12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0655ABD-E502-4A0A-9E56-FC39C80040D4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DF2BDBA7-6226-4A28-A880-2543044B13A9}"/>
              </a:ext>
            </a:extLst>
          </p:cNvPr>
          <p:cNvSpPr txBox="1"/>
          <p:nvPr/>
        </p:nvSpPr>
        <p:spPr>
          <a:xfrm>
            <a:off x="299863" y="845928"/>
            <a:ext cx="4499992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编号帧被接收，但是确认出错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324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7 L -0.29479 -0.005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40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E36D0-D497-4303-8E84-1392DFE97E36}"/>
              </a:ext>
            </a:extLst>
          </p:cNvPr>
          <p:cNvSpPr txBox="1"/>
          <p:nvPr/>
        </p:nvSpPr>
        <p:spPr>
          <a:xfrm>
            <a:off x="299863" y="845928"/>
            <a:ext cx="2987824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编号帧超时重传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443EEB-7F46-49AD-8F6E-9EC8B2E6CE62}"/>
              </a:ext>
            </a:extLst>
          </p:cNvPr>
          <p:cNvGrpSpPr/>
          <p:nvPr/>
        </p:nvGrpSpPr>
        <p:grpSpPr>
          <a:xfrm>
            <a:off x="1009154" y="3278887"/>
            <a:ext cx="591536" cy="776235"/>
            <a:chOff x="677204" y="2852820"/>
            <a:chExt cx="591536" cy="776235"/>
          </a:xfrm>
        </p:grpSpPr>
        <p:pic>
          <p:nvPicPr>
            <p:cNvPr id="13" name="图片 27">
              <a:extLst>
                <a:ext uri="{FF2B5EF4-FFF2-40B4-BE49-F238E27FC236}">
                  <a16:creationId xmlns:a16="http://schemas.microsoft.com/office/drawing/2014/main" id="{8DC4F021-060A-441F-8F65-79027EB12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0655ABD-E502-4A0A-9E56-FC39C80040D4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B916908-4E20-4935-9A9D-AD8D3FBD8AC9}"/>
              </a:ext>
            </a:extLst>
          </p:cNvPr>
          <p:cNvSpPr txBox="1"/>
          <p:nvPr/>
        </p:nvSpPr>
        <p:spPr>
          <a:xfrm>
            <a:off x="695400" y="4011329"/>
            <a:ext cx="1492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超时重传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F17804-051A-492C-A1E4-44CFF756E33B}"/>
              </a:ext>
            </a:extLst>
          </p:cNvPr>
          <p:cNvSpPr/>
          <p:nvPr/>
        </p:nvSpPr>
        <p:spPr bwMode="auto">
          <a:xfrm>
            <a:off x="1600690" y="2612070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F0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1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0.55873 0.0053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3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443EEB-7F46-49AD-8F6E-9EC8B2E6CE62}"/>
              </a:ext>
            </a:extLst>
          </p:cNvPr>
          <p:cNvGrpSpPr/>
          <p:nvPr/>
        </p:nvGrpSpPr>
        <p:grpSpPr>
          <a:xfrm>
            <a:off x="983431" y="3257618"/>
            <a:ext cx="591536" cy="776235"/>
            <a:chOff x="677204" y="2852820"/>
            <a:chExt cx="591536" cy="776235"/>
          </a:xfrm>
        </p:grpSpPr>
        <p:pic>
          <p:nvPicPr>
            <p:cNvPr id="13" name="图片 27">
              <a:extLst>
                <a:ext uri="{FF2B5EF4-FFF2-40B4-BE49-F238E27FC236}">
                  <a16:creationId xmlns:a16="http://schemas.microsoft.com/office/drawing/2014/main" id="{8DC4F021-060A-441F-8F65-79027EB12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0655ABD-E502-4A0A-9E56-FC39C80040D4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BB654D9B-D740-4C21-BE9C-24CE43B19BA1}"/>
              </a:ext>
            </a:extLst>
          </p:cNvPr>
          <p:cNvSpPr txBox="1"/>
          <p:nvPr/>
        </p:nvSpPr>
        <p:spPr>
          <a:xfrm>
            <a:off x="7970850" y="2688231"/>
            <a:ext cx="143487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接收，</a:t>
            </a:r>
            <a:endParaRPr lang="en-US" altLang="zh-CN" sz="1800" i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校验正确</a:t>
            </a:r>
            <a:endParaRPr lang="en-US" altLang="zh-CN" sz="1800" b="1" i="1" dirty="0">
              <a:solidFill>
                <a:srgbClr val="FF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N(S)</a:t>
            </a:r>
            <a:r>
              <a:rPr lang="zh-CN" altLang="en-US" sz="14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不等于</a:t>
            </a:r>
            <a:r>
              <a:rPr lang="en-US" altLang="zh-CN" sz="14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V(R)</a:t>
            </a:r>
          </a:p>
          <a:p>
            <a:r>
              <a:rPr lang="en-US" altLang="zh-CN" sz="18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ACK(1)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0C4419-596F-42AB-8323-5154D48F6ACC}"/>
              </a:ext>
            </a:extLst>
          </p:cNvPr>
          <p:cNvSpPr txBox="1"/>
          <p:nvPr/>
        </p:nvSpPr>
        <p:spPr>
          <a:xfrm>
            <a:off x="299863" y="841423"/>
            <a:ext cx="7056275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接收方收到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编号帧，重复传输，接收方发送确认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57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063551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443EEB-7F46-49AD-8F6E-9EC8B2E6CE62}"/>
              </a:ext>
            </a:extLst>
          </p:cNvPr>
          <p:cNvGrpSpPr/>
          <p:nvPr/>
        </p:nvGrpSpPr>
        <p:grpSpPr>
          <a:xfrm>
            <a:off x="983431" y="3257618"/>
            <a:ext cx="591536" cy="776235"/>
            <a:chOff x="677204" y="2852820"/>
            <a:chExt cx="591536" cy="776235"/>
          </a:xfrm>
        </p:grpSpPr>
        <p:pic>
          <p:nvPicPr>
            <p:cNvPr id="13" name="图片 27">
              <a:extLst>
                <a:ext uri="{FF2B5EF4-FFF2-40B4-BE49-F238E27FC236}">
                  <a16:creationId xmlns:a16="http://schemas.microsoft.com/office/drawing/2014/main" id="{8DC4F021-060A-441F-8F65-79027EB12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0655ABD-E502-4A0A-9E56-FC39C80040D4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T0</a:t>
              </a:r>
              <a:endParaRPr lang="zh-CN" altLang="en-US" sz="2000" dirty="0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CF4001D1-E98E-440D-AF8C-7876B3EF8A1B}"/>
              </a:ext>
            </a:extLst>
          </p:cNvPr>
          <p:cNvSpPr/>
          <p:nvPr/>
        </p:nvSpPr>
        <p:spPr bwMode="auto">
          <a:xfrm>
            <a:off x="6342815" y="3126674"/>
            <a:ext cx="86409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cs typeface="Times New Roman" panose="02020603050405020304" pitchFamily="18" charset="0"/>
              </a:rPr>
              <a:t>ACK(1)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AA1C81-2C97-4682-B98D-0F4E1F549A51}"/>
              </a:ext>
            </a:extLst>
          </p:cNvPr>
          <p:cNvSpPr txBox="1"/>
          <p:nvPr/>
        </p:nvSpPr>
        <p:spPr>
          <a:xfrm>
            <a:off x="299863" y="841423"/>
            <a:ext cx="7056275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接收方收到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编号帧，重复传输，接收方发送确认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20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7 L -0.52305 -0.005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59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CED019-94CC-4FBE-890D-F234A0DD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852936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4D663F-42F7-473E-A9D2-A5ABBAEF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06" y="2888940"/>
            <a:ext cx="450265" cy="3600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58853A-438C-4CA7-BF46-1D43881FE06B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1505705" y="3032956"/>
            <a:ext cx="5886439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D0AD105-9E3F-47E3-AB7D-5C12E449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56792"/>
            <a:ext cx="8473279" cy="5912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B9E077F-1DFB-4E51-9AD9-074726E7F325}"/>
              </a:ext>
            </a:extLst>
          </p:cNvPr>
          <p:cNvSpPr txBox="1"/>
          <p:nvPr/>
        </p:nvSpPr>
        <p:spPr>
          <a:xfrm>
            <a:off x="7356138" y="2390466"/>
            <a:ext cx="1061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V(R)=1</a:t>
            </a:r>
            <a:endParaRPr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CD6AD7-DA3A-4880-AA80-6AE28F6B4B89}"/>
              </a:ext>
            </a:extLst>
          </p:cNvPr>
          <p:cNvSpPr/>
          <p:nvPr/>
        </p:nvSpPr>
        <p:spPr bwMode="auto">
          <a:xfrm>
            <a:off x="2701895" y="1672419"/>
            <a:ext cx="64807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0E36D0-D497-4303-8E84-1392DFE97E36}"/>
              </a:ext>
            </a:extLst>
          </p:cNvPr>
          <p:cNvSpPr txBox="1"/>
          <p:nvPr/>
        </p:nvSpPr>
        <p:spPr>
          <a:xfrm>
            <a:off x="299863" y="845928"/>
            <a:ext cx="2267744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dirty="0"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a typeface="微软雅黑" panose="020B0503020204020204" pitchFamily="34" charset="-122"/>
                <a:cs typeface="Times New Roman" panose="02020603050405020304" pitchFamily="18" charset="0"/>
              </a:rPr>
              <a:t>编号帧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443EEB-7F46-49AD-8F6E-9EC8B2E6CE62}"/>
              </a:ext>
            </a:extLst>
          </p:cNvPr>
          <p:cNvGrpSpPr/>
          <p:nvPr/>
        </p:nvGrpSpPr>
        <p:grpSpPr>
          <a:xfrm>
            <a:off x="983431" y="3257618"/>
            <a:ext cx="591536" cy="776235"/>
            <a:chOff x="677204" y="2852820"/>
            <a:chExt cx="591536" cy="776235"/>
          </a:xfrm>
        </p:grpSpPr>
        <p:pic>
          <p:nvPicPr>
            <p:cNvPr id="13" name="图片 27">
              <a:extLst>
                <a:ext uri="{FF2B5EF4-FFF2-40B4-BE49-F238E27FC236}">
                  <a16:creationId xmlns:a16="http://schemas.microsoft.com/office/drawing/2014/main" id="{8DC4F021-060A-441F-8F65-79027EB12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204" y="2852820"/>
              <a:ext cx="528637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0655ABD-E502-4A0A-9E56-FC39C80040D4}"/>
                </a:ext>
              </a:extLst>
            </p:cNvPr>
            <p:cNvSpPr txBox="1"/>
            <p:nvPr/>
          </p:nvSpPr>
          <p:spPr>
            <a:xfrm>
              <a:off x="717389" y="3228945"/>
              <a:ext cx="5513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T1</a:t>
              </a:r>
              <a:endParaRPr lang="zh-CN" altLang="en-US" sz="2000" dirty="0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E850B74C-E0CB-4867-8A0F-E24215005812}"/>
              </a:ext>
            </a:extLst>
          </p:cNvPr>
          <p:cNvSpPr/>
          <p:nvPr/>
        </p:nvSpPr>
        <p:spPr bwMode="auto">
          <a:xfrm>
            <a:off x="1600690" y="2612070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F1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43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0.55873 0.004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59" y="908720"/>
            <a:ext cx="5400600" cy="541784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讨论：不对帧编号是否可以？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E3D5B0-9455-499C-BD2A-ED6B9A4E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700808"/>
            <a:ext cx="8357743" cy="54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不可以，在重复发送时，接收方无法识别是否为重复数据。</a:t>
            </a:r>
          </a:p>
        </p:txBody>
      </p:sp>
    </p:spTree>
    <p:extLst>
      <p:ext uri="{BB962C8B-B14F-4D97-AF65-F5344CB8AC3E}">
        <p14:creationId xmlns:p14="http://schemas.microsoft.com/office/powerpoint/2010/main" val="33179352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63352" y="937441"/>
            <a:ext cx="5400600" cy="541784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等待协议的缺点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E3D5B0-9455-499C-BD2A-ED6B9A4E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556792"/>
            <a:ext cx="11521279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en-US" altLang="zh-CN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等待协议可以实现可靠的传输，但是传输效率比较低。</a:t>
            </a:r>
            <a:r>
              <a:rPr lang="zh-CN" altLang="en-US" sz="24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在传播时间大于发送时间的链路中，尤其明显。</a:t>
            </a:r>
            <a:endParaRPr lang="en-US" altLang="zh-CN" sz="24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接收方发出确认帧，到下次数据帧来临前，接收方都是处于闲的状态。为了提高数据传输的效率，可以让接收方在发出确认后，立即接收到下一帧数据。这样就要求发送方持续发送数据帧，在没有收到前一帧确认的情况下就发送下一个数据帧。</a:t>
            </a:r>
          </a:p>
        </p:txBody>
      </p:sp>
    </p:spTree>
    <p:extLst>
      <p:ext uri="{BB962C8B-B14F-4D97-AF65-F5344CB8AC3E}">
        <p14:creationId xmlns:p14="http://schemas.microsoft.com/office/powerpoint/2010/main" val="19060535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6E3D5B0-9455-499C-BD2A-ED6B9A4E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836712"/>
            <a:ext cx="9937104" cy="50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发送方在没有收到确认的情况下连续发送数据帧。会出现什么问题？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1AE6ED-1449-4159-B58A-380EC51C9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459" y="2406157"/>
            <a:ext cx="450265" cy="360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7F754F-8710-45C4-82C0-36DEDA4B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825" y="2442161"/>
            <a:ext cx="450265" cy="36004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DD0F041-8C03-44E1-A1D2-8BD3E843D33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 bwMode="auto">
          <a:xfrm>
            <a:off x="2576724" y="2586177"/>
            <a:ext cx="5931101" cy="3600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F8C0FEBE-3D32-4D63-8414-A34C37FBF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091" y="1412776"/>
            <a:ext cx="8473279" cy="59129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80F7048-327D-4364-80CA-7592DA10F17E}"/>
              </a:ext>
            </a:extLst>
          </p:cNvPr>
          <p:cNvSpPr/>
          <p:nvPr/>
        </p:nvSpPr>
        <p:spPr bwMode="auto">
          <a:xfrm>
            <a:off x="7648378" y="2196169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F0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CD8AC1-997C-4B6E-9718-F7678C0F65C7}"/>
              </a:ext>
            </a:extLst>
          </p:cNvPr>
          <p:cNvSpPr/>
          <p:nvPr/>
        </p:nvSpPr>
        <p:spPr bwMode="auto">
          <a:xfrm>
            <a:off x="6822485" y="2196169"/>
            <a:ext cx="648072" cy="369332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highlight>
                  <a:srgbClr val="FFFF00"/>
                </a:highlight>
                <a:cs typeface="Times New Roman" panose="02020603050405020304" pitchFamily="18" charset="0"/>
              </a:rPr>
              <a:t>F1</a:t>
            </a:r>
            <a:endParaRPr lang="zh-CN" altLang="en-US" sz="1800" dirty="0">
              <a:highlight>
                <a:srgbClr val="FFFF00"/>
              </a:highlight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2E0A9E-806C-4B3C-938D-E58267449295}"/>
              </a:ext>
            </a:extLst>
          </p:cNvPr>
          <p:cNvSpPr/>
          <p:nvPr/>
        </p:nvSpPr>
        <p:spPr bwMode="auto">
          <a:xfrm>
            <a:off x="2882361" y="2750371"/>
            <a:ext cx="86409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cs typeface="Times New Roman" panose="02020603050405020304" pitchFamily="18" charset="0"/>
              </a:rPr>
              <a:t>ACK(1)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7445EA-743B-4FB2-8F9F-7B8D9DBC574B}"/>
              </a:ext>
            </a:extLst>
          </p:cNvPr>
          <p:cNvSpPr/>
          <p:nvPr/>
        </p:nvSpPr>
        <p:spPr bwMode="auto">
          <a:xfrm>
            <a:off x="3970215" y="2750371"/>
            <a:ext cx="86409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 eaLnBrk="1" hangingPunct="1"/>
            <a:r>
              <a:rPr lang="en-US" altLang="zh-CN" sz="1800" dirty="0">
                <a:cs typeface="Times New Roman" panose="02020603050405020304" pitchFamily="18" charset="0"/>
              </a:rPr>
              <a:t>ACK(0)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DA76E4-338F-498E-8D49-726C0BF1970E}"/>
              </a:ext>
            </a:extLst>
          </p:cNvPr>
          <p:cNvSpPr txBox="1"/>
          <p:nvPr/>
        </p:nvSpPr>
        <p:spPr>
          <a:xfrm>
            <a:off x="1628650" y="2114350"/>
            <a:ext cx="6399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55C4DC0-D659-4F87-9FEA-99AC371CE8D5}"/>
              </a:ext>
            </a:extLst>
          </p:cNvPr>
          <p:cNvSpPr txBox="1"/>
          <p:nvPr/>
        </p:nvSpPr>
        <p:spPr>
          <a:xfrm>
            <a:off x="9019540" y="2142677"/>
            <a:ext cx="6399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044478-E93D-4E0B-B293-8415679F582A}"/>
              </a:ext>
            </a:extLst>
          </p:cNvPr>
          <p:cNvSpPr txBox="1"/>
          <p:nvPr/>
        </p:nvSpPr>
        <p:spPr>
          <a:xfrm>
            <a:off x="263352" y="3603129"/>
            <a:ext cx="11593288" cy="2404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存在的问题：</a:t>
            </a:r>
            <a:endParaRPr lang="en-US" altLang="zh-CN" sz="22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当出现两个连续帧，</a:t>
            </a:r>
            <a:r>
              <a:rPr lang="en-US" altLang="zh-CN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F0</a:t>
            </a: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丢失时，接收方无法发现。实际上当出现套圈编号的帧连续发送时就会出现问题。因此连续发送出去的帧的数量不能超过一圈的帧数。</a:t>
            </a:r>
            <a:endParaRPr lang="en-US" altLang="zh-CN" sz="21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只连续发送</a:t>
            </a:r>
            <a:r>
              <a:rPr lang="en-US" altLang="zh-CN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F0</a:t>
            </a: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两个帧呢？然后暂停。假设接收方正确收到，但是确认都丢失了，发送方超时重传，还是编号为</a:t>
            </a:r>
            <a:r>
              <a:rPr lang="en-US" altLang="zh-CN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1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的帧，接收方如何识别是重传的？</a:t>
            </a:r>
            <a:r>
              <a:rPr lang="zh-CN" altLang="en-US" sz="21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无法识别！连续发的帧的数量要小于一圈的数量。假设用</a:t>
            </a:r>
            <a:r>
              <a:rPr lang="en-US" altLang="zh-CN" sz="21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bits</a:t>
            </a:r>
            <a:r>
              <a:rPr lang="zh-CN" altLang="en-US" sz="21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给帧编号，则连续发的帧的数量小于</a:t>
            </a:r>
            <a:r>
              <a:rPr lang="en-US" altLang="zh-CN" sz="21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100" kern="0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1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494687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87688" y="4073121"/>
            <a:ext cx="4176464" cy="54178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2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流量控制</a:t>
            </a:r>
            <a:r>
              <a:rPr lang="en-US" altLang="zh-CN" sz="32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940F98-6718-41F2-91A0-F2486CB95B9F}"/>
              </a:ext>
            </a:extLst>
          </p:cNvPr>
          <p:cNvSpPr txBox="1"/>
          <p:nvPr/>
        </p:nvSpPr>
        <p:spPr>
          <a:xfrm>
            <a:off x="227348" y="980728"/>
            <a:ext cx="11737304" cy="182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如果希望连续发送更多的数据帧，可以采用更多的位给帧编号，假设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bits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编号；总共发送出去的且没有收到确认的帧的数量要小于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kern="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越大连续发送的帧可以越多。但是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是有限制的（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越长占用的数据帧的位数越多；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越多连续发送的数据帧越多，如果有数据帧出错重传的越多）。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4126B8-3DC1-4C18-8844-CDF04923CE84}"/>
              </a:ext>
            </a:extLst>
          </p:cNvPr>
          <p:cNvSpPr txBox="1"/>
          <p:nvPr/>
        </p:nvSpPr>
        <p:spPr>
          <a:xfrm>
            <a:off x="839416" y="2852936"/>
            <a:ext cx="8856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下面看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位编号下流量控制的过程，假设信道无差错。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0773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63352" y="188640"/>
            <a:ext cx="5400600" cy="541784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99FFF6-2360-4D91-B95A-FCDB928B6C18}"/>
              </a:ext>
            </a:extLst>
          </p:cNvPr>
          <p:cNvSpPr txBox="1"/>
          <p:nvPr/>
        </p:nvSpPr>
        <p:spPr>
          <a:xfrm>
            <a:off x="312444" y="1036497"/>
            <a:ext cx="11616204" cy="227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每个数据帧中有 </a:t>
            </a:r>
            <a:r>
              <a:rPr lang="en-US" altLang="zh-CN" i="1" dirty="0">
                <a:solidFill>
                  <a:srgbClr val="0000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bit 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用来对帧进行编号，帧的编号范围为</a:t>
            </a:r>
            <a:r>
              <a:rPr lang="en-US" altLang="zh-CN" dirty="0">
                <a:solidFill>
                  <a:srgbClr val="0000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0~2</a:t>
            </a:r>
            <a:r>
              <a:rPr lang="en-US" altLang="zh-CN" baseline="30000" dirty="0">
                <a:solidFill>
                  <a:srgbClr val="0000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CC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对所有待发送的数据帧按照顺序进行编号。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假设帧中有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位用来进行帧编号，那么将待发送的数据划分成数据帧，依次对每个帧进行编号，如下：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8A2581-0E31-4A66-96B3-A84417EA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62" y="3717032"/>
            <a:ext cx="10031876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15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20107"/>
            <a:ext cx="4608512" cy="6858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255EEF-548E-430E-962C-600E63BF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3068960"/>
            <a:ext cx="10657184" cy="37890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743B5D-A270-4260-9BE4-3A4813CF8155}"/>
              </a:ext>
            </a:extLst>
          </p:cNvPr>
          <p:cNvSpPr txBox="1"/>
          <p:nvPr/>
        </p:nvSpPr>
        <p:spPr>
          <a:xfrm>
            <a:off x="197678" y="911014"/>
            <a:ext cx="11802978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接收窗口</a:t>
            </a:r>
            <a:r>
              <a:rPr lang="en-US" altLang="zh-CN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接收方维持的一组连续的允许接收帧的数量以及序号。当接收方接收到的数据帧的序号在接收窗口内，则该帧被接收。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9E552F-AD2C-4D9A-BD84-5C6575804CCA}"/>
              </a:ext>
            </a:extLst>
          </p:cNvPr>
          <p:cNvSpPr txBox="1"/>
          <p:nvPr/>
        </p:nvSpPr>
        <p:spPr>
          <a:xfrm>
            <a:off x="263352" y="2132856"/>
            <a:ext cx="11737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7030A0"/>
                </a:solidFill>
                <a:ea typeface="黑体" panose="02010609060101010101" pitchFamily="49" charset="-122"/>
              </a:rPr>
              <a:t>W</a:t>
            </a:r>
            <a:r>
              <a:rPr lang="en-US" altLang="zh-CN" i="1" baseline="-25000" dirty="0">
                <a:solidFill>
                  <a:srgbClr val="7030A0"/>
                </a:solidFill>
                <a:ea typeface="黑体" panose="02010609060101010101" pitchFamily="49" charset="-122"/>
              </a:rPr>
              <a:t>R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=1  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时，初始时，包含帧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，若正确接收到帧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，则发送确认，窗口后移动，包含帧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，正确接收到帧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，发送确认，窗口后移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…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860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93BDED4-C1BC-4B52-9364-20837D95491C}"/>
              </a:ext>
            </a:extLst>
          </p:cNvPr>
          <p:cNvSpPr txBox="1"/>
          <p:nvPr/>
        </p:nvSpPr>
        <p:spPr>
          <a:xfrm>
            <a:off x="263352" y="837202"/>
            <a:ext cx="11665296" cy="182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发送窗口</a:t>
            </a:r>
            <a:r>
              <a:rPr lang="en-US" altLang="zh-CN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发送方维持一组连续的允许发送帧的序号。发送窗口表示在还未收到对方确认的情况下，发送方最多还能发多少帧和哪些帧。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窗口后沿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：指向待确认的数据帧。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窗口前沿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：指向待发送的数据帧。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8F77C2-A435-4956-BEB1-0A4318F4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3861048"/>
            <a:ext cx="8332916" cy="6659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03A302E-FAAA-4AC7-BE7C-863C24DCF07E}"/>
              </a:ext>
            </a:extLst>
          </p:cNvPr>
          <p:cNvSpPr txBox="1"/>
          <p:nvPr/>
        </p:nvSpPr>
        <p:spPr>
          <a:xfrm>
            <a:off x="1363855" y="3204912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P1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B1A7351-F933-46FE-AE02-C1FD1E9A0B5B}"/>
              </a:ext>
            </a:extLst>
          </p:cNvPr>
          <p:cNvCxnSpPr/>
          <p:nvPr/>
        </p:nvCxnSpPr>
        <p:spPr bwMode="auto">
          <a:xfrm>
            <a:off x="1592795" y="3643477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643E6E1-B490-4CD6-AC7B-824B015B2CF7}"/>
              </a:ext>
            </a:extLst>
          </p:cNvPr>
          <p:cNvSpPr txBox="1"/>
          <p:nvPr/>
        </p:nvSpPr>
        <p:spPr>
          <a:xfrm>
            <a:off x="1363855" y="2877423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2A15A6-D0CB-4BAD-AF49-245CBA5B6A94}"/>
              </a:ext>
            </a:extLst>
          </p:cNvPr>
          <p:cNvSpPr txBox="1"/>
          <p:nvPr/>
        </p:nvSpPr>
        <p:spPr>
          <a:xfrm>
            <a:off x="3956143" y="3204912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P3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E3D6AAF-5DA0-4ECC-9203-50DDE63B850B}"/>
              </a:ext>
            </a:extLst>
          </p:cNvPr>
          <p:cNvCxnSpPr/>
          <p:nvPr/>
        </p:nvCxnSpPr>
        <p:spPr bwMode="auto">
          <a:xfrm>
            <a:off x="4172166" y="3643476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8" name="Text Box 95">
            <a:extLst>
              <a:ext uri="{FF2B5EF4-FFF2-40B4-BE49-F238E27FC236}">
                <a16:creationId xmlns:a16="http://schemas.microsoft.com/office/drawing/2014/main" id="{9583D8B4-BEA6-472E-A88D-6B872A154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125" y="4483294"/>
            <a:ext cx="5514651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P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发送窗口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zh-CN" altLang="en-US" sz="2400" baseline="-25000" dirty="0">
              <a:solidFill>
                <a:schemeClr val="folHlin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P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已发送但尚未收到确认的帧数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P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允许发送但尚未发送的帧数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7985D9-02C5-47F4-9FD5-B7A5ED23DAC8}"/>
              </a:ext>
            </a:extLst>
          </p:cNvPr>
          <p:cNvSpPr txBox="1"/>
          <p:nvPr/>
        </p:nvSpPr>
        <p:spPr>
          <a:xfrm>
            <a:off x="6849820" y="290757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7030A0"/>
                </a:solidFill>
                <a:ea typeface="黑体" panose="02010609060101010101" pitchFamily="49" charset="-122"/>
              </a:rPr>
              <a:t>W</a:t>
            </a:r>
            <a:r>
              <a:rPr lang="en-US" altLang="zh-CN" i="1" baseline="-25000" dirty="0">
                <a:solidFill>
                  <a:srgbClr val="7030A0"/>
                </a:solidFill>
                <a:ea typeface="黑体" panose="02010609060101010101" pitchFamily="49" charset="-122"/>
              </a:rPr>
              <a:t>T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=5  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时的初始状态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557F59-13FE-4899-AA97-690A0B842F33}"/>
              </a:ext>
            </a:extLst>
          </p:cNvPr>
          <p:cNvSpPr/>
          <p:nvPr/>
        </p:nvSpPr>
        <p:spPr bwMode="auto">
          <a:xfrm>
            <a:off x="1568039" y="4054288"/>
            <a:ext cx="2604121" cy="369332"/>
          </a:xfrm>
          <a:prstGeom prst="rect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13451AB-EC64-49C4-9741-1764662BB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201315"/>
            <a:ext cx="5400600" cy="54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</a:p>
        </p:txBody>
      </p:sp>
    </p:spTree>
    <p:extLst>
      <p:ext uri="{BB962C8B-B14F-4D97-AF65-F5344CB8AC3E}">
        <p14:creationId xmlns:p14="http://schemas.microsoft.com/office/powerpoint/2010/main" val="3668312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134117"/>
            <a:ext cx="5829371" cy="6858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3BDED4-C1BC-4B52-9364-20837D95491C}"/>
              </a:ext>
            </a:extLst>
          </p:cNvPr>
          <p:cNvSpPr txBox="1"/>
          <p:nvPr/>
        </p:nvSpPr>
        <p:spPr>
          <a:xfrm>
            <a:off x="263352" y="877651"/>
            <a:ext cx="11737304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发送窗口</a:t>
            </a:r>
            <a:r>
              <a:rPr lang="en-US" altLang="zh-CN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发送方维持的一组连续的允许发送帧的序号。发送窗口表示在还未收到对方确认的情况下，发送方最多还能发多少帧和哪些帧。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8F77C2-A435-4956-BEB1-0A4318F4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24" y="3322388"/>
            <a:ext cx="8332916" cy="6659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03A302E-FAAA-4AC7-BE7C-863C24DCF07E}"/>
              </a:ext>
            </a:extLst>
          </p:cNvPr>
          <p:cNvSpPr txBox="1"/>
          <p:nvPr/>
        </p:nvSpPr>
        <p:spPr>
          <a:xfrm>
            <a:off x="1907291" y="2666252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P1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B1A7351-F933-46FE-AE02-C1FD1E9A0B5B}"/>
              </a:ext>
            </a:extLst>
          </p:cNvPr>
          <p:cNvCxnSpPr/>
          <p:nvPr/>
        </p:nvCxnSpPr>
        <p:spPr bwMode="auto">
          <a:xfrm>
            <a:off x="2136231" y="3104817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643E6E1-B490-4CD6-AC7B-824B015B2CF7}"/>
              </a:ext>
            </a:extLst>
          </p:cNvPr>
          <p:cNvSpPr txBox="1"/>
          <p:nvPr/>
        </p:nvSpPr>
        <p:spPr>
          <a:xfrm>
            <a:off x="2902485" y="2666252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2A15A6-D0CB-4BAD-AF49-245CBA5B6A94}"/>
              </a:ext>
            </a:extLst>
          </p:cNvPr>
          <p:cNvSpPr txBox="1"/>
          <p:nvPr/>
        </p:nvSpPr>
        <p:spPr>
          <a:xfrm>
            <a:off x="4499579" y="2666252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P3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E3D6AAF-5DA0-4ECC-9203-50DDE63B850B}"/>
              </a:ext>
            </a:extLst>
          </p:cNvPr>
          <p:cNvCxnSpPr/>
          <p:nvPr/>
        </p:nvCxnSpPr>
        <p:spPr bwMode="auto">
          <a:xfrm>
            <a:off x="4715602" y="3104816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8" name="Text Box 95">
            <a:extLst>
              <a:ext uri="{FF2B5EF4-FFF2-40B4-BE49-F238E27FC236}">
                <a16:creationId xmlns:a16="http://schemas.microsoft.com/office/drawing/2014/main" id="{9583D8B4-BEA6-472E-A88D-6B872A154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291" y="4051245"/>
            <a:ext cx="8370876" cy="1938992"/>
          </a:xfrm>
          <a:prstGeom prst="rect">
            <a:avLst/>
          </a:prstGeom>
          <a:solidFill>
            <a:srgbClr val="FFFF99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当接收到接收方的确认时，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向前移动，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也可以向前移动，只要保证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P3-P1&lt;=W</a:t>
            </a:r>
            <a:r>
              <a:rPr lang="en-US" altLang="zh-CN" sz="2400" baseline="-250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，这样就可以包含更多的可以发送的数据帧。当发送数据帧时，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向前移动。如果发送的很快，但是迟迟没有确认到来，则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赶上</a:t>
            </a:r>
            <a:r>
              <a:rPr lang="en-US" altLang="zh-CN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</a:t>
            </a:r>
            <a:r>
              <a:rPr lang="zh-CN" altLang="en-US" sz="2400" dirty="0">
                <a:solidFill>
                  <a:schemeClr val="fol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时，就不能再发更多的数据帧。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7985D9-02C5-47F4-9FD5-B7A5ED23DAC8}"/>
              </a:ext>
            </a:extLst>
          </p:cNvPr>
          <p:cNvSpPr txBox="1"/>
          <p:nvPr/>
        </p:nvSpPr>
        <p:spPr>
          <a:xfrm>
            <a:off x="1847528" y="2146550"/>
            <a:ext cx="7920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7030A0"/>
                </a:solidFill>
                <a:ea typeface="黑体" panose="02010609060101010101" pitchFamily="49" charset="-122"/>
              </a:rPr>
              <a:t>W</a:t>
            </a:r>
            <a:r>
              <a:rPr lang="en-US" altLang="zh-CN" i="1" baseline="-25000" dirty="0">
                <a:solidFill>
                  <a:srgbClr val="7030A0"/>
                </a:solidFill>
                <a:ea typeface="黑体" panose="02010609060101010101" pitchFamily="49" charset="-122"/>
              </a:rPr>
              <a:t>T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=5  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时，发送了帧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，帧</a:t>
            </a:r>
            <a:r>
              <a:rPr lang="en-US" altLang="zh-CN" dirty="0">
                <a:solidFill>
                  <a:srgbClr val="7030A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7030A0"/>
                </a:solidFill>
                <a:ea typeface="黑体" panose="02010609060101010101" pitchFamily="49" charset="-122"/>
              </a:rPr>
              <a:t>，但还没有收到确认。</a:t>
            </a:r>
            <a:endParaRPr lang="zh-CN" altLang="en-US" dirty="0">
              <a:solidFill>
                <a:srgbClr val="7030A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D486F68-FEE9-4BD0-95D8-851631987E74}"/>
              </a:ext>
            </a:extLst>
          </p:cNvPr>
          <p:cNvCxnSpPr/>
          <p:nvPr/>
        </p:nvCxnSpPr>
        <p:spPr bwMode="auto">
          <a:xfrm>
            <a:off x="3144784" y="3106222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496AAE1-E189-42E2-90D8-F9AA2D0D3455}"/>
              </a:ext>
            </a:extLst>
          </p:cNvPr>
          <p:cNvSpPr/>
          <p:nvPr/>
        </p:nvSpPr>
        <p:spPr bwMode="auto">
          <a:xfrm>
            <a:off x="3144783" y="3479195"/>
            <a:ext cx="1570816" cy="369332"/>
          </a:xfrm>
          <a:prstGeom prst="rect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997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40DC38-6FA5-4436-9DAF-DEBB2035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124744"/>
            <a:ext cx="10297144" cy="518457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49426CA-20B3-49FE-88A1-9D135E466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44624"/>
            <a:ext cx="49652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  <a:r>
              <a:rPr lang="zh-CN" altLang="en-US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8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发送窗口</a:t>
            </a:r>
          </a:p>
        </p:txBody>
      </p:sp>
    </p:spTree>
    <p:extLst>
      <p:ext uri="{BB962C8B-B14F-4D97-AF65-F5344CB8AC3E}">
        <p14:creationId xmlns:p14="http://schemas.microsoft.com/office/powerpoint/2010/main" val="18989355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567056-5AC2-4209-857D-F2ECD69E01A8}"/>
              </a:ext>
            </a:extLst>
          </p:cNvPr>
          <p:cNvSpPr txBox="1"/>
          <p:nvPr/>
        </p:nvSpPr>
        <p:spPr>
          <a:xfrm>
            <a:off x="2711624" y="1988840"/>
            <a:ext cx="6336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发送方连续发送情况下的可靠传输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3D3099-6A4F-41E8-AD4E-19BF9A89090E}"/>
              </a:ext>
            </a:extLst>
          </p:cNvPr>
          <p:cNvSpPr txBox="1"/>
          <p:nvPr/>
        </p:nvSpPr>
        <p:spPr>
          <a:xfrm>
            <a:off x="3935760" y="3284984"/>
            <a:ext cx="3456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+ARQ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8162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567056-5AC2-4209-857D-F2ECD69E01A8}"/>
              </a:ext>
            </a:extLst>
          </p:cNvPr>
          <p:cNvSpPr txBox="1"/>
          <p:nvPr/>
        </p:nvSpPr>
        <p:spPr>
          <a:xfrm>
            <a:off x="191344" y="188640"/>
            <a:ext cx="5472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+ARQ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BFAD01-F457-49EA-AB3B-FBB9C252F494}"/>
              </a:ext>
            </a:extLst>
          </p:cNvPr>
          <p:cNvSpPr txBox="1"/>
          <p:nvPr/>
        </p:nvSpPr>
        <p:spPr>
          <a:xfrm>
            <a:off x="479376" y="1124744"/>
            <a:ext cx="11161240" cy="2901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要实现可靠的高效的数据传输，需要在流量控制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滑动窗口机制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的基础上，加上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自动重传请求ARQ(Automatic Repeat-reQuest)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ARQ使用确认和超时重传机制来实现差错控制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是指接收方每收到发送方发来的数据帧，都需要向发送方发回一个</a:t>
            </a:r>
            <a:r>
              <a:rPr lang="zh-CN" altLang="en-US" sz="22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确认帧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，表示已正确收到该数据帧；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超时重传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是指发送方在发送一个数据帧后就启动一个关联的定时器，若在规定时间内没有收到所发数据帧的确认帧，则重发该数据帧，直到发送成功。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77576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567056-5AC2-4209-857D-F2ECD69E01A8}"/>
              </a:ext>
            </a:extLst>
          </p:cNvPr>
          <p:cNvSpPr txBox="1"/>
          <p:nvPr/>
        </p:nvSpPr>
        <p:spPr>
          <a:xfrm>
            <a:off x="191344" y="188640"/>
            <a:ext cx="26642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ARQ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7ABB08-83BE-485C-A690-BD7AA6291F98}"/>
              </a:ext>
            </a:extLst>
          </p:cNvPr>
          <p:cNvSpPr txBox="1"/>
          <p:nvPr/>
        </p:nvSpPr>
        <p:spPr>
          <a:xfrm>
            <a:off x="983432" y="1873686"/>
            <a:ext cx="10513168" cy="1605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(Stop-and-Wait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）协议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=1, 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</a:p>
          <a:p>
            <a:pPr marL="0" lvl="1"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后退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帧协议（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&gt;1,W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  <a:p>
            <a:pPr marL="0" lvl="1"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选择重传协议（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&gt;1, W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F1D079-A58A-41B5-89B8-2249FEE7E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40" y="3602110"/>
            <a:ext cx="1072919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</a:pP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因为发送窗口大于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，因此也称为连续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ARQ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协议。</a:t>
            </a:r>
            <a:r>
              <a:rPr kumimoji="0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(1),(2)</a:t>
            </a:r>
            <a:r>
              <a:rPr kumimoji="0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都要满足</a:t>
            </a:r>
            <a:r>
              <a:rPr kumimoji="0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+W</a:t>
            </a:r>
            <a:r>
              <a:rPr kumimoji="0" lang="en-US" altLang="zh-CN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&lt;=2</a:t>
            </a:r>
            <a:r>
              <a:rPr kumimoji="0" lang="en-US" altLang="zh-CN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，即发和接收窗口总和不能超过一个周期大小。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67CC0A-7718-42F8-A8BF-2030D1D6FCA3}"/>
              </a:ext>
            </a:extLst>
          </p:cNvPr>
          <p:cNvSpPr txBox="1"/>
          <p:nvPr/>
        </p:nvSpPr>
        <p:spPr>
          <a:xfrm>
            <a:off x="335360" y="920217"/>
            <a:ext cx="1152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bits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对帧编号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链路层可靠传输协议有如下三种，主要区别是接收窗口和发送窗口不同，以及造成的传输机制的不同：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56638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EDD4F5E-4A51-4804-A144-773284035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688" y="2708920"/>
            <a:ext cx="56886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后退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帧协议  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Go-Back-N, GBN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6">
            <a:extLst>
              <a:ext uri="{FF2B5EF4-FFF2-40B4-BE49-F238E27FC236}">
                <a16:creationId xmlns:a16="http://schemas.microsoft.com/office/drawing/2014/main" id="{17030190-3BEC-4641-ADBB-EF2D4EF0B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836712"/>
            <a:ext cx="11521280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zh-CN" altLang="en-US" sz="25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接收方</a:t>
            </a:r>
            <a:r>
              <a:rPr kumimoji="0" lang="en-US" altLang="zh-CN" sz="25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sz="2500" baseline="-250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25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kumimoji="0" lang="zh-CN" altLang="en-US" sz="25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。只能按序接收。</a:t>
            </a:r>
            <a:endParaRPr kumimoji="0" lang="en-US" altLang="zh-CN" sz="25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1.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初始化接收窗口内编号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。在接收方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表示期望接收到的帧的编号；</a:t>
            </a:r>
            <a:endParaRPr kumimoji="0"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2.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等待接收数据帧；</a:t>
            </a:r>
            <a:endParaRPr kumimoji="0"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088" indent="-446088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3.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接收到数据帧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校验错误，抛弃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校验正确，比较帧序号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N(S)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与接收窗口的序号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 :</a:t>
            </a:r>
          </a:p>
          <a:p>
            <a:pPr marL="342900" indent="282575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500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相同，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接收，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V(R)=V(R)+1 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，发送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 </a:t>
            </a:r>
            <a:r>
              <a:rPr kumimoji="0"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V(R) 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，转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282575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500" u="sng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不相同，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抛弃，发送 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 </a:t>
            </a:r>
            <a:r>
              <a:rPr kumimoji="0"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V(R) 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，转</a:t>
            </a:r>
            <a:r>
              <a:rPr kumimoji="0"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endParaRPr kumimoji="0" lang="zh-CN" alt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DD4F5E-4A51-4804-A144-773284035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88640"/>
            <a:ext cx="56886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后退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帧协议  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Go-Back-N, GBN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02B957-FB39-4261-8B6E-910682DC911D}"/>
              </a:ext>
            </a:extLst>
          </p:cNvPr>
          <p:cNvSpPr txBox="1"/>
          <p:nvPr/>
        </p:nvSpPr>
        <p:spPr>
          <a:xfrm>
            <a:off x="551384" y="5085184"/>
            <a:ext cx="11089232" cy="127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要注意：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的变化是有周期的，若周期为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0~7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，则当前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时，正确接收后，发送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ACK(0),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表示要接收下个周期的帧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   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某个数据帧没有正确接收到，后继编号的帧都被抛弃。</a:t>
            </a:r>
            <a:endParaRPr lang="zh-CN" altLang="en-US" sz="2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715454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>
            <a:extLst>
              <a:ext uri="{FF2B5EF4-FFF2-40B4-BE49-F238E27FC236}">
                <a16:creationId xmlns:a16="http://schemas.microsoft.com/office/drawing/2014/main" id="{D1920772-C935-41C2-9906-20E936834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06" y="215061"/>
            <a:ext cx="54925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后退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帧协议  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Go-Back-N, GBN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1507" name="Rectangle 6">
            <a:extLst>
              <a:ext uri="{FF2B5EF4-FFF2-40B4-BE49-F238E27FC236}">
                <a16:creationId xmlns:a16="http://schemas.microsoft.com/office/drawing/2014/main" id="{ACBDC0DB-A868-49EE-BC28-CCCF60228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851456"/>
            <a:ext cx="11665296" cy="3745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）对发送窗口内的待发送帧进行发送，每发送一个数据帧都启动一个关联的定时器；</a:t>
            </a:r>
            <a:endParaRPr kumimoji="0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）接收到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ACK(n)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时，对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及其以前的帧都进行确认，取消他们对应的定时器；</a:t>
            </a:r>
            <a:endParaRPr kumimoji="0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）如果某个定时器超时，则该定时器对应的数据帧及其以后所发送的数据帧都要重发，并重新启动关联的定时器。</a:t>
            </a:r>
            <a:endParaRPr kumimoji="0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defRPr/>
            </a:pPr>
            <a:endParaRPr kumimoji="0"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944554-24D3-4C93-83C4-BA806A793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2" y="4596467"/>
            <a:ext cx="8332916" cy="6659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487CD1-FFE8-45EE-A740-979FCAA5B844}"/>
              </a:ext>
            </a:extLst>
          </p:cNvPr>
          <p:cNvSpPr txBox="1"/>
          <p:nvPr/>
        </p:nvSpPr>
        <p:spPr>
          <a:xfrm>
            <a:off x="1805909" y="4150076"/>
            <a:ext cx="6018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黑体" panose="02010609060101010101" pitchFamily="49" charset="-122"/>
              </a:rPr>
              <a:t>P1</a:t>
            </a:r>
            <a:endParaRPr lang="zh-CN" altLang="en-US" sz="22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02BC471-FE50-40CD-9613-54C1972082E3}"/>
              </a:ext>
            </a:extLst>
          </p:cNvPr>
          <p:cNvCxnSpPr/>
          <p:nvPr/>
        </p:nvCxnSpPr>
        <p:spPr bwMode="auto">
          <a:xfrm>
            <a:off x="2034849" y="4535280"/>
            <a:ext cx="0" cy="26170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1ACF431-B761-40C0-8303-AD6F4AB4C5C7}"/>
              </a:ext>
            </a:extLst>
          </p:cNvPr>
          <p:cNvSpPr txBox="1"/>
          <p:nvPr/>
        </p:nvSpPr>
        <p:spPr>
          <a:xfrm>
            <a:off x="5440642" y="4150076"/>
            <a:ext cx="6018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黑体" panose="02010609060101010101" pitchFamily="49" charset="-122"/>
              </a:rPr>
              <a:t>P3</a:t>
            </a:r>
            <a:endParaRPr lang="zh-CN" altLang="en-US" sz="220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77BB31C-5BEB-499E-8682-B65DAED2CC66}"/>
              </a:ext>
            </a:extLst>
          </p:cNvPr>
          <p:cNvCxnSpPr/>
          <p:nvPr/>
        </p:nvCxnSpPr>
        <p:spPr bwMode="auto">
          <a:xfrm>
            <a:off x="5656665" y="4535279"/>
            <a:ext cx="0" cy="26170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2259B28-09CD-44BA-A915-7BF12321A0D4}"/>
              </a:ext>
            </a:extLst>
          </p:cNvPr>
          <p:cNvSpPr/>
          <p:nvPr/>
        </p:nvSpPr>
        <p:spPr bwMode="auto">
          <a:xfrm>
            <a:off x="2010093" y="4789707"/>
            <a:ext cx="3646573" cy="369332"/>
          </a:xfrm>
          <a:prstGeom prst="rect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D83A65-7653-4828-B0E7-2B88E0D20E26}"/>
              </a:ext>
            </a:extLst>
          </p:cNvPr>
          <p:cNvSpPr txBox="1"/>
          <p:nvPr/>
        </p:nvSpPr>
        <p:spPr>
          <a:xfrm>
            <a:off x="1804579" y="3860883"/>
            <a:ext cx="6018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ea typeface="黑体" panose="02010609060101010101" pitchFamily="49" charset="-122"/>
              </a:rPr>
              <a:t>P2</a:t>
            </a:r>
            <a:endParaRPr lang="zh-CN" altLang="en-US" sz="2200" dirty="0"/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98F77C2-A435-4956-BEB1-0A4318F48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385036"/>
            <a:ext cx="8332916" cy="6659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03A302E-FAAA-4AC7-BE7C-863C24DCF07E}"/>
              </a:ext>
            </a:extLst>
          </p:cNvPr>
          <p:cNvSpPr txBox="1"/>
          <p:nvPr/>
        </p:nvSpPr>
        <p:spPr>
          <a:xfrm>
            <a:off x="1723894" y="728900"/>
            <a:ext cx="1033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P1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B1A7351-F933-46FE-AE02-C1FD1E9A0B5B}"/>
              </a:ext>
            </a:extLst>
          </p:cNvPr>
          <p:cNvCxnSpPr/>
          <p:nvPr/>
        </p:nvCxnSpPr>
        <p:spPr bwMode="auto">
          <a:xfrm>
            <a:off x="1952835" y="1167465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643E6E1-B490-4CD6-AC7B-824B015B2CF7}"/>
              </a:ext>
            </a:extLst>
          </p:cNvPr>
          <p:cNvSpPr txBox="1"/>
          <p:nvPr/>
        </p:nvSpPr>
        <p:spPr>
          <a:xfrm>
            <a:off x="2207569" y="728900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2A15A6-D0CB-4BAD-AF49-245CBA5B6A94}"/>
              </a:ext>
            </a:extLst>
          </p:cNvPr>
          <p:cNvSpPr txBox="1"/>
          <p:nvPr/>
        </p:nvSpPr>
        <p:spPr>
          <a:xfrm>
            <a:off x="5350086" y="728900"/>
            <a:ext cx="6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P3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E3D6AAF-5DA0-4ECC-9203-50DDE63B850B}"/>
              </a:ext>
            </a:extLst>
          </p:cNvPr>
          <p:cNvCxnSpPr/>
          <p:nvPr/>
        </p:nvCxnSpPr>
        <p:spPr bwMode="auto">
          <a:xfrm>
            <a:off x="5566109" y="1167464"/>
            <a:ext cx="0" cy="3483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E2B02A6-2B49-4407-9736-7926844FF323}"/>
              </a:ext>
            </a:extLst>
          </p:cNvPr>
          <p:cNvSpPr txBox="1"/>
          <p:nvPr/>
        </p:nvSpPr>
        <p:spPr>
          <a:xfrm>
            <a:off x="263352" y="274632"/>
            <a:ext cx="1033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0070C0"/>
                </a:solidFill>
                <a:ea typeface="黑体" panose="02010609060101010101" pitchFamily="49" charset="-122"/>
              </a:rPr>
              <a:t>W</a:t>
            </a:r>
            <a:r>
              <a:rPr lang="en-US" altLang="zh-CN" i="1" baseline="-25000" dirty="0">
                <a:solidFill>
                  <a:srgbClr val="0070C0"/>
                </a:solidFill>
                <a:ea typeface="黑体" panose="02010609060101010101" pitchFamily="49" charset="-122"/>
              </a:rPr>
              <a:t>T</a:t>
            </a:r>
            <a:r>
              <a:rPr lang="en-US" altLang="zh-CN" i="1" dirty="0">
                <a:solidFill>
                  <a:srgbClr val="0070C0"/>
                </a:solidFill>
                <a:ea typeface="黑体" panose="02010609060101010101" pitchFamily="49" charset="-122"/>
              </a:rPr>
              <a:t>=7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28BDAD5-2A97-46E5-978E-368DCBAC7427}"/>
              </a:ext>
            </a:extLst>
          </p:cNvPr>
          <p:cNvSpPr txBox="1"/>
          <p:nvPr/>
        </p:nvSpPr>
        <p:spPr>
          <a:xfrm>
            <a:off x="9264352" y="1022597"/>
            <a:ext cx="1033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>
                <a:ea typeface="黑体" panose="02010609060101010101" pitchFamily="49" charset="-122"/>
              </a:rPr>
              <a:t>初始</a:t>
            </a:r>
            <a:endParaRPr lang="zh-CN" altLang="en-US" i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261BC9D-51F0-45CA-9C57-D3028F86F4B0}"/>
              </a:ext>
            </a:extLst>
          </p:cNvPr>
          <p:cNvGrpSpPr/>
          <p:nvPr/>
        </p:nvGrpSpPr>
        <p:grpSpPr>
          <a:xfrm>
            <a:off x="1723894" y="2084486"/>
            <a:ext cx="8456550" cy="1322119"/>
            <a:chOff x="199894" y="2084485"/>
            <a:chExt cx="8456550" cy="1322119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234B1DB-EC1D-4822-9B0E-3DD6F3A7C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2740622"/>
              <a:ext cx="8332916" cy="665982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4562AD4-0EC4-48C6-874C-3CFD2378008D}"/>
                </a:ext>
              </a:extLst>
            </p:cNvPr>
            <p:cNvSpPr txBox="1"/>
            <p:nvPr/>
          </p:nvSpPr>
          <p:spPr>
            <a:xfrm>
              <a:off x="199894" y="2084485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P1</a:t>
              </a:r>
              <a:endParaRPr lang="zh-CN" altLang="en-US" dirty="0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2DCF286-ED85-4739-8906-AA66526DB8A5}"/>
                </a:ext>
              </a:extLst>
            </p:cNvPr>
            <p:cNvCxnSpPr/>
            <p:nvPr/>
          </p:nvCxnSpPr>
          <p:spPr bwMode="auto">
            <a:xfrm>
              <a:off x="428835" y="2523050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E8541E3-8EF8-4392-89D6-C4A50F07CE31}"/>
                </a:ext>
              </a:extLst>
            </p:cNvPr>
            <p:cNvSpPr txBox="1"/>
            <p:nvPr/>
          </p:nvSpPr>
          <p:spPr>
            <a:xfrm>
              <a:off x="2771800" y="2084485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P2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040F4E6-A27C-437D-9394-40F8175D4445}"/>
                </a:ext>
              </a:extLst>
            </p:cNvPr>
            <p:cNvSpPr txBox="1"/>
            <p:nvPr/>
          </p:nvSpPr>
          <p:spPr>
            <a:xfrm>
              <a:off x="3826085" y="2084485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P3</a:t>
              </a:r>
              <a:endParaRPr lang="zh-CN" altLang="en-US" dirty="0"/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9CC4D3A6-873C-4E57-A3F9-D1679F603B70}"/>
                </a:ext>
              </a:extLst>
            </p:cNvPr>
            <p:cNvCxnSpPr/>
            <p:nvPr/>
          </p:nvCxnSpPr>
          <p:spPr bwMode="auto">
            <a:xfrm>
              <a:off x="4042109" y="2523049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E170F9B-4A75-4A12-8ADC-D4898BF2BF7A}"/>
                </a:ext>
              </a:extLst>
            </p:cNvPr>
            <p:cNvCxnSpPr/>
            <p:nvPr/>
          </p:nvCxnSpPr>
          <p:spPr bwMode="auto">
            <a:xfrm>
              <a:off x="3014100" y="2524455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586920B-9279-46AC-8A46-77D1180755FE}"/>
                </a:ext>
              </a:extLst>
            </p:cNvPr>
            <p:cNvSpPr/>
            <p:nvPr/>
          </p:nvSpPr>
          <p:spPr bwMode="auto">
            <a:xfrm>
              <a:off x="2987823" y="2907292"/>
              <a:ext cx="1065351" cy="369332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 w="9525" cap="flat" cmpd="sng" algn="ctr">
              <a:solidFill>
                <a:schemeClr val="tx1">
                  <a:alpha val="36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eaLnBrk="1" hangingPunct="1"/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0AC7834-0DC0-4962-9789-363E3D6402CA}"/>
                </a:ext>
              </a:extLst>
            </p:cNvPr>
            <p:cNvSpPr txBox="1"/>
            <p:nvPr/>
          </p:nvSpPr>
          <p:spPr>
            <a:xfrm>
              <a:off x="6951732" y="2378182"/>
              <a:ext cx="170471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i="1" dirty="0">
                  <a:ea typeface="黑体" panose="02010609060101010101" pitchFamily="49" charset="-122"/>
                </a:rPr>
                <a:t>发送了</a:t>
              </a:r>
              <a:r>
                <a:rPr lang="en-US" altLang="zh-CN" i="1" dirty="0">
                  <a:ea typeface="黑体" panose="02010609060101010101" pitchFamily="49" charset="-122"/>
                </a:rPr>
                <a:t>5</a:t>
              </a:r>
              <a:r>
                <a:rPr lang="zh-CN" altLang="en-US" i="1" dirty="0">
                  <a:ea typeface="黑体" panose="02010609060101010101" pitchFamily="49" charset="-122"/>
                </a:rPr>
                <a:t>帧</a:t>
              </a:r>
              <a:endParaRPr lang="zh-CN" altLang="en-US" i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057B787-AD3A-4701-85C3-2B5902F56674}"/>
              </a:ext>
            </a:extLst>
          </p:cNvPr>
          <p:cNvGrpSpPr/>
          <p:nvPr/>
        </p:nvGrpSpPr>
        <p:grpSpPr>
          <a:xfrm>
            <a:off x="1847528" y="3403263"/>
            <a:ext cx="8450986" cy="1322119"/>
            <a:chOff x="323528" y="3403262"/>
            <a:chExt cx="8450986" cy="1322119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184675BB-53F3-4AEF-9720-C2D0944C1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4059399"/>
              <a:ext cx="8332916" cy="665982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0F77F18-A6F3-4F23-908C-F1E58700A624}"/>
                </a:ext>
              </a:extLst>
            </p:cNvPr>
            <p:cNvSpPr txBox="1"/>
            <p:nvPr/>
          </p:nvSpPr>
          <p:spPr>
            <a:xfrm>
              <a:off x="1233797" y="3403262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P1</a:t>
              </a:r>
              <a:endParaRPr lang="zh-CN" altLang="en-US" dirty="0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7BCAE3D7-AA0F-4E75-8719-5965F7151AFB}"/>
                </a:ext>
              </a:extLst>
            </p:cNvPr>
            <p:cNvCxnSpPr/>
            <p:nvPr/>
          </p:nvCxnSpPr>
          <p:spPr bwMode="auto">
            <a:xfrm>
              <a:off x="1462738" y="3841827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3B302D7-B8EC-494F-A67F-960C0DC077F4}"/>
                </a:ext>
              </a:extLst>
            </p:cNvPr>
            <p:cNvSpPr txBox="1"/>
            <p:nvPr/>
          </p:nvSpPr>
          <p:spPr>
            <a:xfrm>
              <a:off x="2771800" y="3403262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P2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E4DA88E-27A6-489B-948F-C7E6E0A6C51C}"/>
                </a:ext>
              </a:extLst>
            </p:cNvPr>
            <p:cNvSpPr txBox="1"/>
            <p:nvPr/>
          </p:nvSpPr>
          <p:spPr>
            <a:xfrm>
              <a:off x="4906205" y="3403262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P3</a:t>
              </a:r>
              <a:endParaRPr lang="zh-CN" altLang="en-US" dirty="0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F819100-C337-4B4D-B299-12FF04218E28}"/>
                </a:ext>
              </a:extLst>
            </p:cNvPr>
            <p:cNvCxnSpPr/>
            <p:nvPr/>
          </p:nvCxnSpPr>
          <p:spPr bwMode="auto">
            <a:xfrm>
              <a:off x="5122229" y="3841826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25F940D-F9F8-438D-A5B7-F1C5A540978A}"/>
                </a:ext>
              </a:extLst>
            </p:cNvPr>
            <p:cNvCxnSpPr/>
            <p:nvPr/>
          </p:nvCxnSpPr>
          <p:spPr bwMode="auto">
            <a:xfrm>
              <a:off x="3014100" y="3843232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C951EBA-4715-4C4C-BD0E-63842501ED83}"/>
                </a:ext>
              </a:extLst>
            </p:cNvPr>
            <p:cNvSpPr/>
            <p:nvPr/>
          </p:nvSpPr>
          <p:spPr bwMode="auto">
            <a:xfrm>
              <a:off x="2995287" y="4253871"/>
              <a:ext cx="2122993" cy="369332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 w="9525" cap="flat" cmpd="sng" algn="ctr">
              <a:solidFill>
                <a:schemeClr val="tx1">
                  <a:alpha val="36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eaLnBrk="1" hangingPunct="1"/>
              <a:endParaRPr lang="zh-CN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6C20B41-01C3-4E5E-8B41-5443915B8D6C}"/>
                </a:ext>
              </a:extLst>
            </p:cNvPr>
            <p:cNvSpPr txBox="1"/>
            <p:nvPr/>
          </p:nvSpPr>
          <p:spPr>
            <a:xfrm>
              <a:off x="6110414" y="3449428"/>
              <a:ext cx="266410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200" i="1" dirty="0">
                  <a:ea typeface="黑体" panose="02010609060101010101" pitchFamily="49" charset="-122"/>
                </a:rPr>
                <a:t>收到</a:t>
              </a:r>
              <a:r>
                <a:rPr lang="en-US" altLang="zh-CN" sz="2200" i="1" dirty="0">
                  <a:ea typeface="黑体" panose="02010609060101010101" pitchFamily="49" charset="-122"/>
                </a:rPr>
                <a:t>0</a:t>
              </a:r>
              <a:r>
                <a:rPr lang="zh-CN" altLang="en-US" sz="2200" i="1" dirty="0">
                  <a:ea typeface="黑体" panose="02010609060101010101" pitchFamily="49" charset="-122"/>
                </a:rPr>
                <a:t>和</a:t>
              </a:r>
              <a:r>
                <a:rPr lang="en-US" altLang="zh-CN" sz="2200" i="1" dirty="0">
                  <a:ea typeface="黑体" panose="02010609060101010101" pitchFamily="49" charset="-122"/>
                </a:rPr>
                <a:t>1</a:t>
              </a:r>
              <a:r>
                <a:rPr lang="zh-CN" altLang="en-US" sz="2200" i="1" dirty="0">
                  <a:ea typeface="黑体" panose="02010609060101010101" pitchFamily="49" charset="-122"/>
                </a:rPr>
                <a:t>帧的确认</a:t>
              </a:r>
              <a:r>
                <a:rPr lang="en-US" altLang="zh-CN" sz="2200" i="1" dirty="0">
                  <a:ea typeface="黑体" panose="02010609060101010101" pitchFamily="49" charset="-122"/>
                </a:rPr>
                <a:t>,P3</a:t>
              </a:r>
              <a:r>
                <a:rPr lang="zh-CN" altLang="en-US" sz="2200" i="1" dirty="0">
                  <a:ea typeface="黑体" panose="02010609060101010101" pitchFamily="49" charset="-122"/>
                </a:rPr>
                <a:t>也可以移动</a:t>
              </a:r>
              <a:endParaRPr lang="zh-CN" altLang="en-US" sz="2200" i="1" dirty="0"/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22051B73-3CCE-47B8-8C96-7AEC6FA2710E}"/>
              </a:ext>
            </a:extLst>
          </p:cNvPr>
          <p:cNvSpPr txBox="1"/>
          <p:nvPr/>
        </p:nvSpPr>
        <p:spPr>
          <a:xfrm>
            <a:off x="1831259" y="4919854"/>
            <a:ext cx="84633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>
                <a:solidFill>
                  <a:srgbClr val="FF0000"/>
                </a:solidFill>
                <a:ea typeface="黑体" panose="02010609060101010101" pitchFamily="49" charset="-122"/>
              </a:rPr>
              <a:t>一直收不到 </a:t>
            </a:r>
            <a:r>
              <a:rPr lang="en-US" altLang="zh-CN" i="1" dirty="0">
                <a:solidFill>
                  <a:srgbClr val="FF0000"/>
                </a:solidFill>
                <a:ea typeface="黑体" panose="02010609060101010101" pitchFamily="49" charset="-122"/>
              </a:rPr>
              <a:t>F2</a:t>
            </a:r>
            <a:r>
              <a:rPr lang="zh-CN" altLang="en-US" i="1" dirty="0">
                <a:solidFill>
                  <a:srgbClr val="FF0000"/>
                </a:solidFill>
                <a:ea typeface="黑体" panose="02010609060101010101" pitchFamily="49" charset="-122"/>
              </a:rPr>
              <a:t>的确认，</a:t>
            </a:r>
            <a:r>
              <a:rPr lang="en-US" altLang="zh-CN" i="1" dirty="0">
                <a:solidFill>
                  <a:srgbClr val="FF0000"/>
                </a:solidFill>
                <a:ea typeface="黑体" panose="02010609060101010101" pitchFamily="49" charset="-122"/>
              </a:rPr>
              <a:t>T2</a:t>
            </a:r>
            <a:r>
              <a:rPr lang="zh-CN" altLang="en-US" i="1" dirty="0">
                <a:solidFill>
                  <a:srgbClr val="FF0000"/>
                </a:solidFill>
                <a:ea typeface="黑体" panose="02010609060101010101" pitchFamily="49" charset="-122"/>
              </a:rPr>
              <a:t>会超时；</a:t>
            </a:r>
            <a:r>
              <a:rPr lang="en-US" altLang="zh-CN" i="1" dirty="0">
                <a:solidFill>
                  <a:srgbClr val="FF0000"/>
                </a:solidFill>
                <a:ea typeface="黑体" panose="02010609060101010101" pitchFamily="49" charset="-122"/>
              </a:rPr>
              <a:t>P2</a:t>
            </a:r>
            <a:r>
              <a:rPr lang="zh-CN" altLang="en-US" i="1" dirty="0">
                <a:solidFill>
                  <a:srgbClr val="FF0000"/>
                </a:solidFill>
                <a:ea typeface="黑体" panose="02010609060101010101" pitchFamily="49" charset="-122"/>
              </a:rPr>
              <a:t>移动到</a:t>
            </a:r>
            <a:r>
              <a:rPr lang="en-US" altLang="zh-CN" i="1" dirty="0">
                <a:solidFill>
                  <a:srgbClr val="FF0000"/>
                </a:solidFill>
                <a:ea typeface="黑体" panose="02010609060101010101" pitchFamily="49" charset="-122"/>
              </a:rPr>
              <a:t>P1</a:t>
            </a:r>
            <a:r>
              <a:rPr lang="zh-CN" altLang="en-US" i="1" dirty="0">
                <a:solidFill>
                  <a:srgbClr val="FF0000"/>
                </a:solidFill>
                <a:ea typeface="黑体" panose="02010609060101010101" pitchFamily="49" charset="-122"/>
              </a:rPr>
              <a:t>位置，再次发送</a:t>
            </a:r>
            <a:r>
              <a:rPr lang="en-US" altLang="zh-CN" i="1" dirty="0">
                <a:solidFill>
                  <a:srgbClr val="FF0000"/>
                </a:solidFill>
                <a:ea typeface="黑体" panose="02010609060101010101" pitchFamily="49" charset="-122"/>
              </a:rPr>
              <a:t>2,3,4</a:t>
            </a:r>
            <a:r>
              <a:rPr lang="zh-CN" altLang="en-US" i="1" dirty="0">
                <a:solidFill>
                  <a:srgbClr val="FF0000"/>
                </a:solidFill>
                <a:ea typeface="黑体" panose="02010609060101010101" pitchFamily="49" charset="-122"/>
              </a:rPr>
              <a:t>以及后面的数据，不超过</a:t>
            </a:r>
            <a:r>
              <a:rPr lang="en-US" altLang="zh-CN" i="1" dirty="0">
                <a:solidFill>
                  <a:srgbClr val="FF0000"/>
                </a:solidFill>
                <a:ea typeface="黑体" panose="02010609060101010101" pitchFamily="49" charset="-122"/>
              </a:rPr>
              <a:t>P3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310AB7D-F5F3-4641-9A84-80E196A3DDC5}"/>
              </a:ext>
            </a:extLst>
          </p:cNvPr>
          <p:cNvGrpSpPr/>
          <p:nvPr/>
        </p:nvGrpSpPr>
        <p:grpSpPr>
          <a:xfrm>
            <a:off x="1843582" y="5542509"/>
            <a:ext cx="8450986" cy="1326154"/>
            <a:chOff x="319582" y="5542509"/>
            <a:chExt cx="8450986" cy="13261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0387A9E2-7D07-4DDF-9ED8-E8EB19597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582" y="6202681"/>
              <a:ext cx="8332916" cy="665982"/>
            </a:xfrm>
            <a:prstGeom prst="rect">
              <a:avLst/>
            </a:prstGeom>
          </p:spPr>
        </p:pic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EEDD5F4-9FBD-494E-9FEF-3EF78443CF43}"/>
                </a:ext>
              </a:extLst>
            </p:cNvPr>
            <p:cNvSpPr txBox="1"/>
            <p:nvPr/>
          </p:nvSpPr>
          <p:spPr>
            <a:xfrm>
              <a:off x="1229851" y="5546544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P1</a:t>
              </a:r>
              <a:endParaRPr lang="zh-CN" altLang="en-US" dirty="0"/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6F4E1A97-FB36-43FA-9B0F-91BEAA3E619E}"/>
                </a:ext>
              </a:extLst>
            </p:cNvPr>
            <p:cNvCxnSpPr/>
            <p:nvPr/>
          </p:nvCxnSpPr>
          <p:spPr bwMode="auto">
            <a:xfrm>
              <a:off x="1458792" y="5985109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B69877E-9EE1-4439-84D3-D2385DB57047}"/>
                </a:ext>
              </a:extLst>
            </p:cNvPr>
            <p:cNvSpPr txBox="1"/>
            <p:nvPr/>
          </p:nvSpPr>
          <p:spPr>
            <a:xfrm>
              <a:off x="1619899" y="5542509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P2</a:t>
              </a:r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32D054A-62A2-4F03-9CBD-63028202E592}"/>
                </a:ext>
              </a:extLst>
            </p:cNvPr>
            <p:cNvSpPr txBox="1"/>
            <p:nvPr/>
          </p:nvSpPr>
          <p:spPr>
            <a:xfrm>
              <a:off x="4902259" y="5546544"/>
              <a:ext cx="6018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P3</a:t>
              </a:r>
              <a:endParaRPr lang="zh-CN" altLang="en-US" dirty="0"/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E87065C-6999-402B-8697-B4CE0ABA58B6}"/>
                </a:ext>
              </a:extLst>
            </p:cNvPr>
            <p:cNvCxnSpPr/>
            <p:nvPr/>
          </p:nvCxnSpPr>
          <p:spPr bwMode="auto">
            <a:xfrm>
              <a:off x="5118283" y="5985108"/>
              <a:ext cx="0" cy="34833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289DE43-F3BD-43C7-8808-2A248A452631}"/>
                </a:ext>
              </a:extLst>
            </p:cNvPr>
            <p:cNvSpPr txBox="1"/>
            <p:nvPr/>
          </p:nvSpPr>
          <p:spPr>
            <a:xfrm>
              <a:off x="6106468" y="5592710"/>
              <a:ext cx="266410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200" i="1" dirty="0">
                  <a:ea typeface="黑体" panose="02010609060101010101" pitchFamily="49" charset="-122"/>
                </a:rPr>
                <a:t>收到</a:t>
              </a:r>
              <a:r>
                <a:rPr lang="en-US" altLang="zh-CN" sz="2200" i="1" dirty="0">
                  <a:ea typeface="黑体" panose="02010609060101010101" pitchFamily="49" charset="-122"/>
                </a:rPr>
                <a:t>0</a:t>
              </a:r>
              <a:r>
                <a:rPr lang="zh-CN" altLang="en-US" sz="2200" i="1" dirty="0">
                  <a:ea typeface="黑体" panose="02010609060101010101" pitchFamily="49" charset="-122"/>
                </a:rPr>
                <a:t>和</a:t>
              </a:r>
              <a:r>
                <a:rPr lang="en-US" altLang="zh-CN" sz="2200" i="1" dirty="0">
                  <a:ea typeface="黑体" panose="02010609060101010101" pitchFamily="49" charset="-122"/>
                </a:rPr>
                <a:t>1</a:t>
              </a:r>
              <a:r>
                <a:rPr lang="zh-CN" altLang="en-US" sz="2200" i="1" dirty="0">
                  <a:ea typeface="黑体" panose="02010609060101010101" pitchFamily="49" charset="-122"/>
                </a:rPr>
                <a:t>帧的确认</a:t>
              </a:r>
              <a:r>
                <a:rPr lang="en-US" altLang="zh-CN" sz="2200" i="1" dirty="0">
                  <a:ea typeface="黑体" panose="02010609060101010101" pitchFamily="49" charset="-122"/>
                </a:rPr>
                <a:t>,P3</a:t>
              </a:r>
              <a:r>
                <a:rPr lang="zh-CN" altLang="en-US" sz="2200" i="1" dirty="0">
                  <a:ea typeface="黑体" panose="02010609060101010101" pitchFamily="49" charset="-122"/>
                </a:rPr>
                <a:t>也可以移动</a:t>
              </a:r>
              <a:endParaRPr lang="zh-CN" altLang="en-US" sz="2200" i="1" dirty="0"/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3B99BEB6-2DAC-4AFA-8977-A906F88073DE}"/>
              </a:ext>
            </a:extLst>
          </p:cNvPr>
          <p:cNvSpPr/>
          <p:nvPr/>
        </p:nvSpPr>
        <p:spPr bwMode="auto">
          <a:xfrm>
            <a:off x="1952835" y="1560428"/>
            <a:ext cx="3613271" cy="369332"/>
          </a:xfrm>
          <a:prstGeom prst="rect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35DF9A2-F17D-45F8-84E8-64DADECDD5BF}"/>
              </a:ext>
            </a:extLst>
          </p:cNvPr>
          <p:cNvSpPr/>
          <p:nvPr/>
        </p:nvSpPr>
        <p:spPr bwMode="auto">
          <a:xfrm>
            <a:off x="2995506" y="6382691"/>
            <a:ext cx="3613271" cy="369332"/>
          </a:xfrm>
          <a:prstGeom prst="rect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12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2">
            <a:extLst>
              <a:ext uri="{FF2B5EF4-FFF2-40B4-BE49-F238E27FC236}">
                <a16:creationId xmlns:a16="http://schemas.microsoft.com/office/drawing/2014/main" id="{7618C802-C1FC-4D6D-A1F6-FBEF3D8F7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4" y="3841750"/>
            <a:ext cx="708025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F0</a:t>
            </a:r>
          </a:p>
        </p:txBody>
      </p:sp>
      <p:sp>
        <p:nvSpPr>
          <p:cNvPr id="23556" name="矩形 16">
            <a:extLst>
              <a:ext uri="{FF2B5EF4-FFF2-40B4-BE49-F238E27FC236}">
                <a16:creationId xmlns:a16="http://schemas.microsoft.com/office/drawing/2014/main" id="{AD4093B4-5A8A-4008-8637-C3C026BFE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557" name="矩形 21">
            <a:extLst>
              <a:ext uri="{FF2B5EF4-FFF2-40B4-BE49-F238E27FC236}">
                <a16:creationId xmlns:a16="http://schemas.microsoft.com/office/drawing/2014/main" id="{C831DA53-B9FB-42E5-B9FC-82AAD2A5F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38" y="3117851"/>
            <a:ext cx="419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657545-0648-47F0-B571-F07510779999}"/>
              </a:ext>
            </a:extLst>
          </p:cNvPr>
          <p:cNvSpPr/>
          <p:nvPr/>
        </p:nvSpPr>
        <p:spPr>
          <a:xfrm>
            <a:off x="190135" y="1681688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2C4C0C-DB17-4491-9CE8-ECCC5B50F109}"/>
              </a:ext>
            </a:extLst>
          </p:cNvPr>
          <p:cNvSpPr/>
          <p:nvPr/>
        </p:nvSpPr>
        <p:spPr>
          <a:xfrm>
            <a:off x="6240463" y="5151438"/>
            <a:ext cx="4210050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cxnSp>
        <p:nvCxnSpPr>
          <p:cNvPr id="23560" name="直接连接符 34">
            <a:extLst>
              <a:ext uri="{FF2B5EF4-FFF2-40B4-BE49-F238E27FC236}">
                <a16:creationId xmlns:a16="http://schemas.microsoft.com/office/drawing/2014/main" id="{F0D7A349-1795-45EF-8481-96E65AED76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1" name="直接连接符 36">
            <a:extLst>
              <a:ext uri="{FF2B5EF4-FFF2-40B4-BE49-F238E27FC236}">
                <a16:creationId xmlns:a16="http://schemas.microsoft.com/office/drawing/2014/main" id="{06148612-98E5-4F77-A173-7D709190AD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直接连接符 37">
            <a:extLst>
              <a:ext uri="{FF2B5EF4-FFF2-40B4-BE49-F238E27FC236}">
                <a16:creationId xmlns:a16="http://schemas.microsoft.com/office/drawing/2014/main" id="{694562C4-C036-4540-B9B1-FA07000F93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3FAF54E2-8B34-4872-A2C2-933A99FA25DA}"/>
              </a:ext>
            </a:extLst>
          </p:cNvPr>
          <p:cNvSpPr/>
          <p:nvPr/>
        </p:nvSpPr>
        <p:spPr>
          <a:xfrm>
            <a:off x="9191625" y="3544888"/>
            <a:ext cx="14605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等待序号为</a:t>
            </a:r>
            <a:r>
              <a:rPr lang="en-US" altLang="zh-CN" b="1" dirty="0">
                <a:solidFill>
                  <a:srgbClr val="FF3300"/>
                </a:solidFill>
                <a:latin typeface="+mj-ea"/>
              </a:rPr>
              <a:t>0</a:t>
            </a: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的帧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23564" name="图片 38">
            <a:extLst>
              <a:ext uri="{FF2B5EF4-FFF2-40B4-BE49-F238E27FC236}">
                <a16:creationId xmlns:a16="http://schemas.microsoft.com/office/drawing/2014/main" id="{07E84107-7F7A-4487-AD75-080457C5C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5" name="Rectangle 12">
            <a:extLst>
              <a:ext uri="{FF2B5EF4-FFF2-40B4-BE49-F238E27FC236}">
                <a16:creationId xmlns:a16="http://schemas.microsoft.com/office/drawing/2014/main" id="{E6CAFDF2-1E73-4FD1-8FE5-743093554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EC6B38-B05E-4E3A-A18D-FD11BFCF6EDC}"/>
              </a:ext>
            </a:extLst>
          </p:cNvPr>
          <p:cNvSpPr/>
          <p:nvPr/>
        </p:nvSpPr>
        <p:spPr>
          <a:xfrm>
            <a:off x="8990012" y="2014539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42716C-466C-4D02-97BD-48C464893547}"/>
              </a:ext>
            </a:extLst>
          </p:cNvPr>
          <p:cNvSpPr txBox="1"/>
          <p:nvPr/>
        </p:nvSpPr>
        <p:spPr>
          <a:xfrm>
            <a:off x="157843" y="754474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12">
            <a:extLst>
              <a:ext uri="{FF2B5EF4-FFF2-40B4-BE49-F238E27FC236}">
                <a16:creationId xmlns:a16="http://schemas.microsoft.com/office/drawing/2014/main" id="{B7D115D0-1F02-4ADE-B147-5296EDE59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838" y="3844925"/>
            <a:ext cx="709612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</a:p>
        </p:txBody>
      </p:sp>
      <p:sp>
        <p:nvSpPr>
          <p:cNvPr id="24580" name="矩形 16">
            <a:extLst>
              <a:ext uri="{FF2B5EF4-FFF2-40B4-BE49-F238E27FC236}">
                <a16:creationId xmlns:a16="http://schemas.microsoft.com/office/drawing/2014/main" id="{EBD7D7D7-E638-45A4-9EDB-07FC54F03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42EBEB-6E8F-4637-82BE-D0492CC7D9B0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24583" name="Rectangle 12">
            <a:extLst>
              <a:ext uri="{FF2B5EF4-FFF2-40B4-BE49-F238E27FC236}">
                <a16:creationId xmlns:a16="http://schemas.microsoft.com/office/drawing/2014/main" id="{9FA9E2DD-793E-4552-B0E0-45B29C4E9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9" y="3844925"/>
            <a:ext cx="708025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F0</a:t>
            </a:r>
          </a:p>
        </p:txBody>
      </p:sp>
      <p:cxnSp>
        <p:nvCxnSpPr>
          <p:cNvPr id="24584" name="直接连接符 34">
            <a:extLst>
              <a:ext uri="{FF2B5EF4-FFF2-40B4-BE49-F238E27FC236}">
                <a16:creationId xmlns:a16="http://schemas.microsoft.com/office/drawing/2014/main" id="{038CDF8F-9ACB-4A61-AAFE-57A7EEB1C6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5" name="直接连接符 36">
            <a:extLst>
              <a:ext uri="{FF2B5EF4-FFF2-40B4-BE49-F238E27FC236}">
                <a16:creationId xmlns:a16="http://schemas.microsoft.com/office/drawing/2014/main" id="{378C96F0-C311-4573-AF58-E49B62890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6" name="直接连接符 37">
            <a:extLst>
              <a:ext uri="{FF2B5EF4-FFF2-40B4-BE49-F238E27FC236}">
                <a16:creationId xmlns:a16="http://schemas.microsoft.com/office/drawing/2014/main" id="{8313B311-267B-420F-8E55-9C7524A37D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7" name="矩形 22">
            <a:extLst>
              <a:ext uri="{FF2B5EF4-FFF2-40B4-BE49-F238E27FC236}">
                <a16:creationId xmlns:a16="http://schemas.microsoft.com/office/drawing/2014/main" id="{1BCB7086-206B-45A3-A056-74AF93672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38" y="3117851"/>
            <a:ext cx="419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DEF16A-59F5-4E29-9152-EC10E7B9FD6C}"/>
              </a:ext>
            </a:extLst>
          </p:cNvPr>
          <p:cNvSpPr/>
          <p:nvPr/>
        </p:nvSpPr>
        <p:spPr>
          <a:xfrm>
            <a:off x="9191625" y="3544888"/>
            <a:ext cx="14605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等待序号为</a:t>
            </a:r>
            <a:r>
              <a:rPr lang="en-US" altLang="zh-CN" b="1" dirty="0">
                <a:solidFill>
                  <a:srgbClr val="FF3300"/>
                </a:solidFill>
                <a:latin typeface="+mj-ea"/>
              </a:rPr>
              <a:t>0</a:t>
            </a: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的帧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24589" name="图片 25">
            <a:extLst>
              <a:ext uri="{FF2B5EF4-FFF2-40B4-BE49-F238E27FC236}">
                <a16:creationId xmlns:a16="http://schemas.microsoft.com/office/drawing/2014/main" id="{1013BDE6-1F64-4237-B7DC-A07E195B0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图片 26">
            <a:extLst>
              <a:ext uri="{FF2B5EF4-FFF2-40B4-BE49-F238E27FC236}">
                <a16:creationId xmlns:a16="http://schemas.microsoft.com/office/drawing/2014/main" id="{D513D545-3C7B-4C20-B5ED-A2457763C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1" name="Rectangle 12">
            <a:extLst>
              <a:ext uri="{FF2B5EF4-FFF2-40B4-BE49-F238E27FC236}">
                <a16:creationId xmlns:a16="http://schemas.microsoft.com/office/drawing/2014/main" id="{489D2874-AC05-45E5-AF95-F74167A8C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24592" name="Rectangle 12">
            <a:extLst>
              <a:ext uri="{FF2B5EF4-FFF2-40B4-BE49-F238E27FC236}">
                <a16:creationId xmlns:a16="http://schemas.microsoft.com/office/drawing/2014/main" id="{4E896AD7-07E6-4BD5-AA4B-FE0691EA1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EEFF20-1DEF-4892-B1A3-04D51A618CC1}"/>
              </a:ext>
            </a:extLst>
          </p:cNvPr>
          <p:cNvSpPr txBox="1"/>
          <p:nvPr/>
        </p:nvSpPr>
        <p:spPr>
          <a:xfrm>
            <a:off x="263352" y="769761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657545-0648-47F0-B571-F07510779999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EC6B38-B05E-4E3A-A18D-FD11BFCF6EDC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12">
            <a:extLst>
              <a:ext uri="{FF2B5EF4-FFF2-40B4-BE49-F238E27FC236}">
                <a16:creationId xmlns:a16="http://schemas.microsoft.com/office/drawing/2014/main" id="{815512CC-C6EF-41C0-A2F7-CEA5EA24F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3857625"/>
            <a:ext cx="708025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F0</a:t>
            </a:r>
          </a:p>
        </p:txBody>
      </p:sp>
      <p:sp>
        <p:nvSpPr>
          <p:cNvPr id="25604" name="Rectangle 12">
            <a:extLst>
              <a:ext uri="{FF2B5EF4-FFF2-40B4-BE49-F238E27FC236}">
                <a16:creationId xmlns:a16="http://schemas.microsoft.com/office/drawing/2014/main" id="{CD25D705-752C-46F6-A879-19CD2C5CA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51" y="3824289"/>
            <a:ext cx="709613" cy="3333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</a:p>
        </p:txBody>
      </p:sp>
      <p:sp>
        <p:nvSpPr>
          <p:cNvPr id="25605" name="矩形 16">
            <a:extLst>
              <a:ext uri="{FF2B5EF4-FFF2-40B4-BE49-F238E27FC236}">
                <a16:creationId xmlns:a16="http://schemas.microsoft.com/office/drawing/2014/main" id="{0F99D2E7-D6BF-433E-A31F-BE6A30C6D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EB9E49-3A60-400E-BE0D-935B3D3985CA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25608" name="Rectangle 12">
            <a:extLst>
              <a:ext uri="{FF2B5EF4-FFF2-40B4-BE49-F238E27FC236}">
                <a16:creationId xmlns:a16="http://schemas.microsoft.com/office/drawing/2014/main" id="{D5A8EF26-F78C-4FA4-BCC4-20AD76DCF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1" y="3844925"/>
            <a:ext cx="708025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</a:p>
        </p:txBody>
      </p:sp>
      <p:cxnSp>
        <p:nvCxnSpPr>
          <p:cNvPr id="25609" name="直接连接符 34">
            <a:extLst>
              <a:ext uri="{FF2B5EF4-FFF2-40B4-BE49-F238E27FC236}">
                <a16:creationId xmlns:a16="http://schemas.microsoft.com/office/drawing/2014/main" id="{63E0E943-0BDF-4960-91C8-537D3193CF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直接连接符 36">
            <a:extLst>
              <a:ext uri="{FF2B5EF4-FFF2-40B4-BE49-F238E27FC236}">
                <a16:creationId xmlns:a16="http://schemas.microsoft.com/office/drawing/2014/main" id="{23073CA0-4231-45CC-B26E-AA442D8495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1" name="直接连接符 37">
            <a:extLst>
              <a:ext uri="{FF2B5EF4-FFF2-40B4-BE49-F238E27FC236}">
                <a16:creationId xmlns:a16="http://schemas.microsoft.com/office/drawing/2014/main" id="{48D4205C-3141-443C-8111-C717ACB88A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2" name="矩形 22">
            <a:extLst>
              <a:ext uri="{FF2B5EF4-FFF2-40B4-BE49-F238E27FC236}">
                <a16:creationId xmlns:a16="http://schemas.microsoft.com/office/drawing/2014/main" id="{ED09D6FB-F2C2-4ED3-866F-F3D6D27A7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38" y="3117851"/>
            <a:ext cx="419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6E176A-D7C5-4202-BD79-25637E15B2EF}"/>
              </a:ext>
            </a:extLst>
          </p:cNvPr>
          <p:cNvSpPr/>
          <p:nvPr/>
        </p:nvSpPr>
        <p:spPr>
          <a:xfrm>
            <a:off x="9191625" y="3544888"/>
            <a:ext cx="14605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等待序号为</a:t>
            </a:r>
            <a:r>
              <a:rPr lang="en-US" altLang="zh-CN" b="1" dirty="0">
                <a:solidFill>
                  <a:srgbClr val="FF3300"/>
                </a:solidFill>
                <a:latin typeface="+mj-ea"/>
              </a:rPr>
              <a:t>0</a:t>
            </a: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的帧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25614" name="图片 25">
            <a:extLst>
              <a:ext uri="{FF2B5EF4-FFF2-40B4-BE49-F238E27FC236}">
                <a16:creationId xmlns:a16="http://schemas.microsoft.com/office/drawing/2014/main" id="{B0DABBD1-31E4-4197-9CCB-87B0B5BA2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5" name="图片 26">
            <a:extLst>
              <a:ext uri="{FF2B5EF4-FFF2-40B4-BE49-F238E27FC236}">
                <a16:creationId xmlns:a16="http://schemas.microsoft.com/office/drawing/2014/main" id="{8725DF1C-B447-4944-99AF-216CD8CD22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6" name="图片 27">
            <a:extLst>
              <a:ext uri="{FF2B5EF4-FFF2-40B4-BE49-F238E27FC236}">
                <a16:creationId xmlns:a16="http://schemas.microsoft.com/office/drawing/2014/main" id="{8C94C2B6-FAFC-4738-8500-DD6440168E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7" name="Rectangle 12">
            <a:extLst>
              <a:ext uri="{FF2B5EF4-FFF2-40B4-BE49-F238E27FC236}">
                <a16:creationId xmlns:a16="http://schemas.microsoft.com/office/drawing/2014/main" id="{73963DB4-C674-4873-9E6A-4D10F9FF3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25618" name="Rectangle 12">
            <a:extLst>
              <a:ext uri="{FF2B5EF4-FFF2-40B4-BE49-F238E27FC236}">
                <a16:creationId xmlns:a16="http://schemas.microsoft.com/office/drawing/2014/main" id="{1688217A-BC93-4C51-95D0-1523EDA6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25619" name="Rectangle 12">
            <a:extLst>
              <a:ext uri="{FF2B5EF4-FFF2-40B4-BE49-F238E27FC236}">
                <a16:creationId xmlns:a16="http://schemas.microsoft.com/office/drawing/2014/main" id="{AA4A6D08-77BB-4DA5-864E-E77938CF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E8B0F6-B1E3-46AF-B19E-70457477C004}"/>
              </a:ext>
            </a:extLst>
          </p:cNvPr>
          <p:cNvSpPr txBox="1"/>
          <p:nvPr/>
        </p:nvSpPr>
        <p:spPr>
          <a:xfrm>
            <a:off x="263352" y="771463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615569-40EC-4685-8DD8-69F2B54A5F9A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E3C81B-BAB0-4481-B1A0-394F60A68663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2">
            <a:extLst>
              <a:ext uri="{FF2B5EF4-FFF2-40B4-BE49-F238E27FC236}">
                <a16:creationId xmlns:a16="http://schemas.microsoft.com/office/drawing/2014/main" id="{5BA68ABE-28AB-478F-9A39-530D5ED8A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9" y="3816351"/>
            <a:ext cx="706437" cy="3159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</a:p>
        </p:txBody>
      </p:sp>
      <p:sp>
        <p:nvSpPr>
          <p:cNvPr id="26628" name="Rectangle 12">
            <a:extLst>
              <a:ext uri="{FF2B5EF4-FFF2-40B4-BE49-F238E27FC236}">
                <a16:creationId xmlns:a16="http://schemas.microsoft.com/office/drawing/2014/main" id="{77E7D233-94F2-4BCB-9F4B-C9876957C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822701"/>
            <a:ext cx="814388" cy="3159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</a:p>
        </p:txBody>
      </p:sp>
      <p:sp>
        <p:nvSpPr>
          <p:cNvPr id="26629" name="Rectangle 12">
            <a:extLst>
              <a:ext uri="{FF2B5EF4-FFF2-40B4-BE49-F238E27FC236}">
                <a16:creationId xmlns:a16="http://schemas.microsoft.com/office/drawing/2014/main" id="{26A4DFF9-C5DF-4937-B4BD-5568F0CC9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3800475"/>
            <a:ext cx="708025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F3</a:t>
            </a:r>
          </a:p>
        </p:txBody>
      </p:sp>
      <p:sp>
        <p:nvSpPr>
          <p:cNvPr id="26630" name="矩形 16">
            <a:extLst>
              <a:ext uri="{FF2B5EF4-FFF2-40B4-BE49-F238E27FC236}">
                <a16:creationId xmlns:a16="http://schemas.microsoft.com/office/drawing/2014/main" id="{1BF6D3F6-60F1-4328-9CB0-918AE09BD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6631" name="矩形 21">
            <a:extLst>
              <a:ext uri="{FF2B5EF4-FFF2-40B4-BE49-F238E27FC236}">
                <a16:creationId xmlns:a16="http://schemas.microsoft.com/office/drawing/2014/main" id="{069E6A8C-3322-4D95-9C13-3173AAF2A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913" y="3111501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24C1DD-1379-411D-A536-DD238C98A646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26634" name="Rectangle 12">
            <a:extLst>
              <a:ext uri="{FF2B5EF4-FFF2-40B4-BE49-F238E27FC236}">
                <a16:creationId xmlns:a16="http://schemas.microsoft.com/office/drawing/2014/main" id="{64CA3FE0-8213-4568-9E69-6988DE4BB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6" y="3822700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cxnSp>
        <p:nvCxnSpPr>
          <p:cNvPr id="26635" name="直接连接符 34">
            <a:extLst>
              <a:ext uri="{FF2B5EF4-FFF2-40B4-BE49-F238E27FC236}">
                <a16:creationId xmlns:a16="http://schemas.microsoft.com/office/drawing/2014/main" id="{565B4F01-A0E5-436F-99E8-5FDAEAEE3B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直接连接符 36">
            <a:extLst>
              <a:ext uri="{FF2B5EF4-FFF2-40B4-BE49-F238E27FC236}">
                <a16:creationId xmlns:a16="http://schemas.microsoft.com/office/drawing/2014/main" id="{C28492E3-918F-43A3-AF32-0CC726E9C9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直接连接符 37">
            <a:extLst>
              <a:ext uri="{FF2B5EF4-FFF2-40B4-BE49-F238E27FC236}">
                <a16:creationId xmlns:a16="http://schemas.microsoft.com/office/drawing/2014/main" id="{0BAAD0FA-A009-43A5-8B71-16CBFF93BC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8" name="流程图: 多文档 2">
            <a:extLst>
              <a:ext uri="{FF2B5EF4-FFF2-40B4-BE49-F238E27FC236}">
                <a16:creationId xmlns:a16="http://schemas.microsoft.com/office/drawing/2014/main" id="{883F4AB7-90C4-4D52-86F5-9497365D7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3787775"/>
            <a:ext cx="1012894" cy="462201"/>
          </a:xfrm>
          <a:prstGeom prst="flowChartMulti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F0</a:t>
            </a:r>
          </a:p>
        </p:txBody>
      </p:sp>
      <p:pic>
        <p:nvPicPr>
          <p:cNvPr id="26639" name="图片 24">
            <a:extLst>
              <a:ext uri="{FF2B5EF4-FFF2-40B4-BE49-F238E27FC236}">
                <a16:creationId xmlns:a16="http://schemas.microsoft.com/office/drawing/2014/main" id="{BB7EC410-64B8-4A77-BAA7-D3BBB6F1C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0" name="图片 25">
            <a:extLst>
              <a:ext uri="{FF2B5EF4-FFF2-40B4-BE49-F238E27FC236}">
                <a16:creationId xmlns:a16="http://schemas.microsoft.com/office/drawing/2014/main" id="{513407D8-5903-4EF7-9D54-5CF8C8731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1" name="图片 26">
            <a:extLst>
              <a:ext uri="{FF2B5EF4-FFF2-40B4-BE49-F238E27FC236}">
                <a16:creationId xmlns:a16="http://schemas.microsoft.com/office/drawing/2014/main" id="{A70BD371-5EC6-4615-94EB-7FB59845FB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2" name="图片 27">
            <a:extLst>
              <a:ext uri="{FF2B5EF4-FFF2-40B4-BE49-F238E27FC236}">
                <a16:creationId xmlns:a16="http://schemas.microsoft.com/office/drawing/2014/main" id="{E4DEBAED-94FB-4508-A001-3B1032BF8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3" name="图片 29">
            <a:extLst>
              <a:ext uri="{FF2B5EF4-FFF2-40B4-BE49-F238E27FC236}">
                <a16:creationId xmlns:a16="http://schemas.microsoft.com/office/drawing/2014/main" id="{14AFA076-728B-4026-B44A-A475377CD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6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4" name="Rectangle 12">
            <a:extLst>
              <a:ext uri="{FF2B5EF4-FFF2-40B4-BE49-F238E27FC236}">
                <a16:creationId xmlns:a16="http://schemas.microsoft.com/office/drawing/2014/main" id="{4E8746B3-21DE-4E2A-9C02-E834A6599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26645" name="Rectangle 12">
            <a:extLst>
              <a:ext uri="{FF2B5EF4-FFF2-40B4-BE49-F238E27FC236}">
                <a16:creationId xmlns:a16="http://schemas.microsoft.com/office/drawing/2014/main" id="{B681672D-8A97-4AAD-98A0-E56D0660C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26646" name="Rectangle 12">
            <a:extLst>
              <a:ext uri="{FF2B5EF4-FFF2-40B4-BE49-F238E27FC236}">
                <a16:creationId xmlns:a16="http://schemas.microsoft.com/office/drawing/2014/main" id="{5803AFED-7F63-4E2D-8CB0-F24537EE0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26647" name="Rectangle 12">
            <a:extLst>
              <a:ext uri="{FF2B5EF4-FFF2-40B4-BE49-F238E27FC236}">
                <a16:creationId xmlns:a16="http://schemas.microsoft.com/office/drawing/2014/main" id="{49A3ABD5-3A56-40DE-8D74-C361D7B84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5118100"/>
            <a:ext cx="457200" cy="331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DE2DBC8-03FC-4A51-A32A-FEF536C467AB}"/>
              </a:ext>
            </a:extLst>
          </p:cNvPr>
          <p:cNvSpPr txBox="1"/>
          <p:nvPr/>
        </p:nvSpPr>
        <p:spPr>
          <a:xfrm>
            <a:off x="263352" y="771463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D3DE542-FD67-4176-80F5-7047FB670693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862DB0-C911-4CE6-812A-677C40FDE5B1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2">
            <a:extLst>
              <a:ext uri="{FF2B5EF4-FFF2-40B4-BE49-F238E27FC236}">
                <a16:creationId xmlns:a16="http://schemas.microsoft.com/office/drawing/2014/main" id="{5FCAD935-3D35-45C0-9885-37B5A57B6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3862389"/>
            <a:ext cx="706437" cy="3143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</a:p>
        </p:txBody>
      </p:sp>
      <p:sp>
        <p:nvSpPr>
          <p:cNvPr id="27652" name="Rectangle 12">
            <a:extLst>
              <a:ext uri="{FF2B5EF4-FFF2-40B4-BE49-F238E27FC236}">
                <a16:creationId xmlns:a16="http://schemas.microsoft.com/office/drawing/2014/main" id="{8489A8D9-98D6-42B5-AAB0-2D233AE3B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3843338"/>
            <a:ext cx="814388" cy="3159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</a:p>
        </p:txBody>
      </p:sp>
      <p:sp>
        <p:nvSpPr>
          <p:cNvPr id="27653" name="Rectangle 12">
            <a:extLst>
              <a:ext uri="{FF2B5EF4-FFF2-40B4-BE49-F238E27FC236}">
                <a16:creationId xmlns:a16="http://schemas.microsoft.com/office/drawing/2014/main" id="{FBBBC34D-4198-48C4-8E05-830DBE48B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826" y="3827464"/>
            <a:ext cx="708025" cy="3317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F3</a:t>
            </a:r>
          </a:p>
        </p:txBody>
      </p:sp>
      <p:sp>
        <p:nvSpPr>
          <p:cNvPr id="27654" name="矩形 16">
            <a:extLst>
              <a:ext uri="{FF2B5EF4-FFF2-40B4-BE49-F238E27FC236}">
                <a16:creationId xmlns:a16="http://schemas.microsoft.com/office/drawing/2014/main" id="{516DBBA7-2F4C-4D1D-8170-1C96DDCA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655" name="矩形 21">
            <a:extLst>
              <a:ext uri="{FF2B5EF4-FFF2-40B4-BE49-F238E27FC236}">
                <a16:creationId xmlns:a16="http://schemas.microsoft.com/office/drawing/2014/main" id="{54BD1C46-8667-4243-9622-AD33798DF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913" y="3111501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39DA02-B37D-4D21-83BF-7D62352CB164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27658" name="Rectangle 12">
            <a:extLst>
              <a:ext uri="{FF2B5EF4-FFF2-40B4-BE49-F238E27FC236}">
                <a16:creationId xmlns:a16="http://schemas.microsoft.com/office/drawing/2014/main" id="{8E2C05E8-D182-4384-B2BB-56185087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6" y="3840163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cxnSp>
        <p:nvCxnSpPr>
          <p:cNvPr id="27659" name="直接连接符 34">
            <a:extLst>
              <a:ext uri="{FF2B5EF4-FFF2-40B4-BE49-F238E27FC236}">
                <a16:creationId xmlns:a16="http://schemas.microsoft.com/office/drawing/2014/main" id="{115A7420-05BC-4548-AFC3-A5AFD76A6F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直接连接符 36">
            <a:extLst>
              <a:ext uri="{FF2B5EF4-FFF2-40B4-BE49-F238E27FC236}">
                <a16:creationId xmlns:a16="http://schemas.microsoft.com/office/drawing/2014/main" id="{DDE8BF01-5FF7-4B5E-946E-639C4116AF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直接连接符 37">
            <a:extLst>
              <a:ext uri="{FF2B5EF4-FFF2-40B4-BE49-F238E27FC236}">
                <a16:creationId xmlns:a16="http://schemas.microsoft.com/office/drawing/2014/main" id="{223F8593-FFC3-43E8-BCF3-A8DF78C3EF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206E646-D006-4422-B984-213DF980A7F0}"/>
              </a:ext>
            </a:extLst>
          </p:cNvPr>
          <p:cNvSpPr/>
          <p:nvPr/>
        </p:nvSpPr>
        <p:spPr>
          <a:xfrm>
            <a:off x="9191625" y="3544888"/>
            <a:ext cx="14605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等待序号为</a:t>
            </a:r>
            <a:r>
              <a:rPr lang="en-US" altLang="zh-CN" b="1" dirty="0">
                <a:solidFill>
                  <a:srgbClr val="FF3300"/>
                </a:solidFill>
                <a:latin typeface="+mj-ea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的帧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C6486AB7-8329-4794-9712-765070D4B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3121026"/>
            <a:ext cx="706437" cy="3143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ACK1</a:t>
            </a:r>
          </a:p>
        </p:txBody>
      </p:sp>
      <p:pic>
        <p:nvPicPr>
          <p:cNvPr id="27664" name="图片 17">
            <a:extLst>
              <a:ext uri="{FF2B5EF4-FFF2-40B4-BE49-F238E27FC236}">
                <a16:creationId xmlns:a16="http://schemas.microsoft.com/office/drawing/2014/main" id="{CE96B45A-DBC5-4E34-AC53-2653CBD83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5" name="图片 18">
            <a:extLst>
              <a:ext uri="{FF2B5EF4-FFF2-40B4-BE49-F238E27FC236}">
                <a16:creationId xmlns:a16="http://schemas.microsoft.com/office/drawing/2014/main" id="{A41D7BC3-A058-4EF6-8042-F9721AB6D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6" name="图片 19">
            <a:extLst>
              <a:ext uri="{FF2B5EF4-FFF2-40B4-BE49-F238E27FC236}">
                <a16:creationId xmlns:a16="http://schemas.microsoft.com/office/drawing/2014/main" id="{5F56D944-1068-4424-A281-044EEF8CBB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7" name="图片 22">
            <a:extLst>
              <a:ext uri="{FF2B5EF4-FFF2-40B4-BE49-F238E27FC236}">
                <a16:creationId xmlns:a16="http://schemas.microsoft.com/office/drawing/2014/main" id="{36BE0C56-D1A8-4675-80BA-4D30BA2C5F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8" name="图片 24">
            <a:extLst>
              <a:ext uri="{FF2B5EF4-FFF2-40B4-BE49-F238E27FC236}">
                <a16:creationId xmlns:a16="http://schemas.microsoft.com/office/drawing/2014/main" id="{D60005F0-1E10-429F-8525-17C0820A9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6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9" name="Rectangle 12">
            <a:extLst>
              <a:ext uri="{FF2B5EF4-FFF2-40B4-BE49-F238E27FC236}">
                <a16:creationId xmlns:a16="http://schemas.microsoft.com/office/drawing/2014/main" id="{136E3AF0-E900-4196-B606-F41634630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27670" name="Rectangle 12">
            <a:extLst>
              <a:ext uri="{FF2B5EF4-FFF2-40B4-BE49-F238E27FC236}">
                <a16:creationId xmlns:a16="http://schemas.microsoft.com/office/drawing/2014/main" id="{46330EA5-4F61-43DA-B936-1CB3C297A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27671" name="Rectangle 12">
            <a:extLst>
              <a:ext uri="{FF2B5EF4-FFF2-40B4-BE49-F238E27FC236}">
                <a16:creationId xmlns:a16="http://schemas.microsoft.com/office/drawing/2014/main" id="{9AE0326D-6AE6-4C87-B91C-36A6623A0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27672" name="Rectangle 12">
            <a:extLst>
              <a:ext uri="{FF2B5EF4-FFF2-40B4-BE49-F238E27FC236}">
                <a16:creationId xmlns:a16="http://schemas.microsoft.com/office/drawing/2014/main" id="{AD9F0CFE-6FD5-4B88-AFED-05957D1F9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5118100"/>
            <a:ext cx="457200" cy="331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3A6AFFC-9C3A-4B8E-B266-371C28913091}"/>
              </a:ext>
            </a:extLst>
          </p:cNvPr>
          <p:cNvSpPr txBox="1"/>
          <p:nvPr/>
        </p:nvSpPr>
        <p:spPr>
          <a:xfrm>
            <a:off x="263352" y="771463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B57AC9-A93B-4B93-9CB4-F23D5C07499B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1084D0-ADFB-4CE2-A304-8D34A335A4D8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2">
            <a:extLst>
              <a:ext uri="{FF2B5EF4-FFF2-40B4-BE49-F238E27FC236}">
                <a16:creationId xmlns:a16="http://schemas.microsoft.com/office/drawing/2014/main" id="{72CC65C4-CC7C-430D-9B66-85511CD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1" y="3862389"/>
            <a:ext cx="815975" cy="3143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</a:p>
        </p:txBody>
      </p:sp>
      <p:sp>
        <p:nvSpPr>
          <p:cNvPr id="28676" name="Rectangle 12">
            <a:extLst>
              <a:ext uri="{FF2B5EF4-FFF2-40B4-BE49-F238E27FC236}">
                <a16:creationId xmlns:a16="http://schemas.microsoft.com/office/drawing/2014/main" id="{2BDFCB39-055B-44D4-B26B-DF710B68D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6" y="3862389"/>
            <a:ext cx="708025" cy="3317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F3</a:t>
            </a:r>
          </a:p>
        </p:txBody>
      </p:sp>
      <p:sp>
        <p:nvSpPr>
          <p:cNvPr id="28677" name="矩形 16">
            <a:extLst>
              <a:ext uri="{FF2B5EF4-FFF2-40B4-BE49-F238E27FC236}">
                <a16:creationId xmlns:a16="http://schemas.microsoft.com/office/drawing/2014/main" id="{7FE4B500-F978-4869-A961-614688876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678" name="矩形 21">
            <a:extLst>
              <a:ext uri="{FF2B5EF4-FFF2-40B4-BE49-F238E27FC236}">
                <a16:creationId xmlns:a16="http://schemas.microsoft.com/office/drawing/2014/main" id="{7AC77318-F771-4050-9EB1-BBEA069BF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913" y="3111501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9264D9-9076-4DEB-995A-C1AF3984EA92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28681" name="Rectangle 12">
            <a:extLst>
              <a:ext uri="{FF2B5EF4-FFF2-40B4-BE49-F238E27FC236}">
                <a16:creationId xmlns:a16="http://schemas.microsoft.com/office/drawing/2014/main" id="{18251E2F-3BC2-4585-A4B2-2F2BF4012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9" y="3840163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cxnSp>
        <p:nvCxnSpPr>
          <p:cNvPr id="28682" name="直接连接符 34">
            <a:extLst>
              <a:ext uri="{FF2B5EF4-FFF2-40B4-BE49-F238E27FC236}">
                <a16:creationId xmlns:a16="http://schemas.microsoft.com/office/drawing/2014/main" id="{81A15ED2-2E3F-4B08-9C8E-4ACD5D5798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3" name="直接连接符 36">
            <a:extLst>
              <a:ext uri="{FF2B5EF4-FFF2-40B4-BE49-F238E27FC236}">
                <a16:creationId xmlns:a16="http://schemas.microsoft.com/office/drawing/2014/main" id="{14AD56C5-232C-4008-8576-9794DAA7F7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4" name="直接连接符 37">
            <a:extLst>
              <a:ext uri="{FF2B5EF4-FFF2-40B4-BE49-F238E27FC236}">
                <a16:creationId xmlns:a16="http://schemas.microsoft.com/office/drawing/2014/main" id="{8A96CB03-53FD-4670-BFB0-88F8F5CFA5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2">
            <a:extLst>
              <a:ext uri="{FF2B5EF4-FFF2-40B4-BE49-F238E27FC236}">
                <a16:creationId xmlns:a16="http://schemas.microsoft.com/office/drawing/2014/main" id="{83AEA840-32EF-4E87-8B8D-E233D2951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9" y="3113088"/>
            <a:ext cx="706437" cy="3159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ACK1</a:t>
            </a:r>
          </a:p>
        </p:txBody>
      </p:sp>
      <p:pic>
        <p:nvPicPr>
          <p:cNvPr id="28686" name="图片 17">
            <a:extLst>
              <a:ext uri="{FF2B5EF4-FFF2-40B4-BE49-F238E27FC236}">
                <a16:creationId xmlns:a16="http://schemas.microsoft.com/office/drawing/2014/main" id="{B8E363F1-A9B8-40F2-B78A-CB3707E07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7" name="图片 18">
            <a:extLst>
              <a:ext uri="{FF2B5EF4-FFF2-40B4-BE49-F238E27FC236}">
                <a16:creationId xmlns:a16="http://schemas.microsoft.com/office/drawing/2014/main" id="{C49C0AC6-6ECE-483F-AF5F-C22FD63BF8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8" name="图片 19">
            <a:extLst>
              <a:ext uri="{FF2B5EF4-FFF2-40B4-BE49-F238E27FC236}">
                <a16:creationId xmlns:a16="http://schemas.microsoft.com/office/drawing/2014/main" id="{60BA6F95-235F-4514-805C-55B0D699DF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9" name="图片 22">
            <a:extLst>
              <a:ext uri="{FF2B5EF4-FFF2-40B4-BE49-F238E27FC236}">
                <a16:creationId xmlns:a16="http://schemas.microsoft.com/office/drawing/2014/main" id="{A2097FAE-33D1-4BFA-87AC-6F2D4F8FB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0" name="图片 24">
            <a:extLst>
              <a:ext uri="{FF2B5EF4-FFF2-40B4-BE49-F238E27FC236}">
                <a16:creationId xmlns:a16="http://schemas.microsoft.com/office/drawing/2014/main" id="{00B546BA-CCF7-4DD6-81A6-81FE88AA7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6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1" name="Rectangle 12">
            <a:extLst>
              <a:ext uri="{FF2B5EF4-FFF2-40B4-BE49-F238E27FC236}">
                <a16:creationId xmlns:a16="http://schemas.microsoft.com/office/drawing/2014/main" id="{A0298559-6325-476B-B918-A77C976B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28692" name="Rectangle 12">
            <a:extLst>
              <a:ext uri="{FF2B5EF4-FFF2-40B4-BE49-F238E27FC236}">
                <a16:creationId xmlns:a16="http://schemas.microsoft.com/office/drawing/2014/main" id="{D04D3038-0009-417C-99EC-1BAF846A9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28693" name="Rectangle 12">
            <a:extLst>
              <a:ext uri="{FF2B5EF4-FFF2-40B4-BE49-F238E27FC236}">
                <a16:creationId xmlns:a16="http://schemas.microsoft.com/office/drawing/2014/main" id="{E23D5555-EAC3-4AEB-A01F-6D5EDC205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28694" name="Rectangle 12">
            <a:extLst>
              <a:ext uri="{FF2B5EF4-FFF2-40B4-BE49-F238E27FC236}">
                <a16:creationId xmlns:a16="http://schemas.microsoft.com/office/drawing/2014/main" id="{FC5A851A-E812-4C69-AC5F-B2F2A69DC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5118100"/>
            <a:ext cx="457200" cy="331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</a:p>
        </p:txBody>
      </p:sp>
      <p:sp>
        <p:nvSpPr>
          <p:cNvPr id="28695" name="流程图: 多文档 29">
            <a:extLst>
              <a:ext uri="{FF2B5EF4-FFF2-40B4-BE49-F238E27FC236}">
                <a16:creationId xmlns:a16="http://schemas.microsoft.com/office/drawing/2014/main" id="{7D45EF80-F45E-4884-BB80-304CD0337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3787775"/>
            <a:ext cx="1012894" cy="462201"/>
          </a:xfrm>
          <a:prstGeom prst="flowChartMulti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F1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266963-2562-4ACC-9B57-339A18D28760}"/>
              </a:ext>
            </a:extLst>
          </p:cNvPr>
          <p:cNvSpPr txBox="1"/>
          <p:nvPr/>
        </p:nvSpPr>
        <p:spPr>
          <a:xfrm>
            <a:off x="157843" y="751200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CA991D-AB1D-42F5-8C4B-C14E53F507A3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B46A75-B8D0-4529-B6F1-2C1BA951B816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2">
            <a:extLst>
              <a:ext uri="{FF2B5EF4-FFF2-40B4-BE49-F238E27FC236}">
                <a16:creationId xmlns:a16="http://schemas.microsoft.com/office/drawing/2014/main" id="{F600267B-EA85-4615-AAA0-E705504F8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1" y="3862389"/>
            <a:ext cx="815975" cy="3143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</a:p>
        </p:txBody>
      </p:sp>
      <p:sp>
        <p:nvSpPr>
          <p:cNvPr id="29700" name="Rectangle 12">
            <a:extLst>
              <a:ext uri="{FF2B5EF4-FFF2-40B4-BE49-F238E27FC236}">
                <a16:creationId xmlns:a16="http://schemas.microsoft.com/office/drawing/2014/main" id="{696D5DAD-8E25-490A-BC07-38C82BA62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6" y="3862389"/>
            <a:ext cx="708025" cy="3317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F3</a:t>
            </a:r>
          </a:p>
        </p:txBody>
      </p:sp>
      <p:sp>
        <p:nvSpPr>
          <p:cNvPr id="29701" name="矩形 16">
            <a:extLst>
              <a:ext uri="{FF2B5EF4-FFF2-40B4-BE49-F238E27FC236}">
                <a16:creationId xmlns:a16="http://schemas.microsoft.com/office/drawing/2014/main" id="{8092B23B-93A3-4F01-96F6-DBA7338CF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702" name="矩形 21">
            <a:extLst>
              <a:ext uri="{FF2B5EF4-FFF2-40B4-BE49-F238E27FC236}">
                <a16:creationId xmlns:a16="http://schemas.microsoft.com/office/drawing/2014/main" id="{A2819C32-E62A-46F7-94AC-26A015855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913" y="3111501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91E48A-F605-4955-ABD2-546407FAF1F1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29705" name="Rectangle 12">
            <a:extLst>
              <a:ext uri="{FF2B5EF4-FFF2-40B4-BE49-F238E27FC236}">
                <a16:creationId xmlns:a16="http://schemas.microsoft.com/office/drawing/2014/main" id="{4051FBD0-7A0E-4F73-99F3-7EAB8B87B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9" y="3840163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cxnSp>
        <p:nvCxnSpPr>
          <p:cNvPr id="29706" name="直接连接符 34">
            <a:extLst>
              <a:ext uri="{FF2B5EF4-FFF2-40B4-BE49-F238E27FC236}">
                <a16:creationId xmlns:a16="http://schemas.microsoft.com/office/drawing/2014/main" id="{ABF6B78C-AA9B-42CB-9BD4-54070811D1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7" name="直接连接符 36">
            <a:extLst>
              <a:ext uri="{FF2B5EF4-FFF2-40B4-BE49-F238E27FC236}">
                <a16:creationId xmlns:a16="http://schemas.microsoft.com/office/drawing/2014/main" id="{3C653360-B266-4B1C-B05E-F5CB34DDB2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8" name="直接连接符 37">
            <a:extLst>
              <a:ext uri="{FF2B5EF4-FFF2-40B4-BE49-F238E27FC236}">
                <a16:creationId xmlns:a16="http://schemas.microsoft.com/office/drawing/2014/main" id="{EFE56CB6-48BE-40B0-92D5-E2943E5482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12">
            <a:extLst>
              <a:ext uri="{FF2B5EF4-FFF2-40B4-BE49-F238E27FC236}">
                <a16:creationId xmlns:a16="http://schemas.microsoft.com/office/drawing/2014/main" id="{ED00FF74-33CE-4E1B-AF15-CAEA614F5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3068639"/>
            <a:ext cx="706438" cy="3143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ACK1</a:t>
            </a:r>
          </a:p>
        </p:txBody>
      </p:sp>
      <p:pic>
        <p:nvPicPr>
          <p:cNvPr id="29710" name="图片 17">
            <a:extLst>
              <a:ext uri="{FF2B5EF4-FFF2-40B4-BE49-F238E27FC236}">
                <a16:creationId xmlns:a16="http://schemas.microsoft.com/office/drawing/2014/main" id="{22CB6B9D-BF70-40CC-8979-F67ECB547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1" name="图片 18">
            <a:extLst>
              <a:ext uri="{FF2B5EF4-FFF2-40B4-BE49-F238E27FC236}">
                <a16:creationId xmlns:a16="http://schemas.microsoft.com/office/drawing/2014/main" id="{44CC1158-BA0F-4869-AFC6-C0DC34EADB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2" name="图片 19">
            <a:extLst>
              <a:ext uri="{FF2B5EF4-FFF2-40B4-BE49-F238E27FC236}">
                <a16:creationId xmlns:a16="http://schemas.microsoft.com/office/drawing/2014/main" id="{A3BBAD81-CD2E-4F22-9D90-9710907EF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3" name="图片 22">
            <a:extLst>
              <a:ext uri="{FF2B5EF4-FFF2-40B4-BE49-F238E27FC236}">
                <a16:creationId xmlns:a16="http://schemas.microsoft.com/office/drawing/2014/main" id="{C3921F86-AEC9-477C-BB4F-EE0DB0359F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4" name="图片 24">
            <a:extLst>
              <a:ext uri="{FF2B5EF4-FFF2-40B4-BE49-F238E27FC236}">
                <a16:creationId xmlns:a16="http://schemas.microsoft.com/office/drawing/2014/main" id="{A743B31D-B4E6-4EC9-B6DA-F47479351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6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5" name="Rectangle 12">
            <a:extLst>
              <a:ext uri="{FF2B5EF4-FFF2-40B4-BE49-F238E27FC236}">
                <a16:creationId xmlns:a16="http://schemas.microsoft.com/office/drawing/2014/main" id="{9FDD1DC1-1DDA-441C-94B6-2738AF02C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29716" name="Rectangle 12">
            <a:extLst>
              <a:ext uri="{FF2B5EF4-FFF2-40B4-BE49-F238E27FC236}">
                <a16:creationId xmlns:a16="http://schemas.microsoft.com/office/drawing/2014/main" id="{E7F9C41B-53C0-410F-895E-6F142BCFA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29717" name="Rectangle 12">
            <a:extLst>
              <a:ext uri="{FF2B5EF4-FFF2-40B4-BE49-F238E27FC236}">
                <a16:creationId xmlns:a16="http://schemas.microsoft.com/office/drawing/2014/main" id="{6A820C0B-E946-4AEE-A936-673D3073C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29718" name="Rectangle 12">
            <a:extLst>
              <a:ext uri="{FF2B5EF4-FFF2-40B4-BE49-F238E27FC236}">
                <a16:creationId xmlns:a16="http://schemas.microsoft.com/office/drawing/2014/main" id="{2667224D-AFD5-4047-8D94-94F9823EA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5118100"/>
            <a:ext cx="457200" cy="331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145C4BE1-590F-4473-8959-2DA1486F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3087688"/>
            <a:ext cx="706438" cy="3159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2C6F3A-5BFB-41F7-BE22-41F708A13E1C}"/>
              </a:ext>
            </a:extLst>
          </p:cNvPr>
          <p:cNvSpPr/>
          <p:nvPr/>
        </p:nvSpPr>
        <p:spPr>
          <a:xfrm>
            <a:off x="9191625" y="3544888"/>
            <a:ext cx="14605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等待序号为</a:t>
            </a:r>
            <a:r>
              <a:rPr lang="en-US" altLang="zh-CN" b="1" dirty="0">
                <a:solidFill>
                  <a:srgbClr val="FF3300"/>
                </a:solidFill>
                <a:latin typeface="+mj-ea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+mj-ea"/>
              </a:rPr>
              <a:t>的帧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6CE155-0624-4A1D-BAC3-9A01601C950F}"/>
              </a:ext>
            </a:extLst>
          </p:cNvPr>
          <p:cNvSpPr txBox="1"/>
          <p:nvPr/>
        </p:nvSpPr>
        <p:spPr>
          <a:xfrm>
            <a:off x="157843" y="751200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F567BE-1AF6-429D-9927-41F5473F5852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EEFF59-4EC9-45C9-9E3A-C5F0698F22B5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2">
            <a:extLst>
              <a:ext uri="{FF2B5EF4-FFF2-40B4-BE49-F238E27FC236}">
                <a16:creationId xmlns:a16="http://schemas.microsoft.com/office/drawing/2014/main" id="{B0FC771D-04D3-483E-A3DD-1A741EA50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1" y="3902075"/>
            <a:ext cx="708025" cy="3317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F3</a:t>
            </a:r>
          </a:p>
        </p:txBody>
      </p:sp>
      <p:sp>
        <p:nvSpPr>
          <p:cNvPr id="30724" name="矩形 16">
            <a:extLst>
              <a:ext uri="{FF2B5EF4-FFF2-40B4-BE49-F238E27FC236}">
                <a16:creationId xmlns:a16="http://schemas.microsoft.com/office/drawing/2014/main" id="{DD0FF113-F649-46D0-BB84-6368AD4AB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725" name="矩形 21">
            <a:extLst>
              <a:ext uri="{FF2B5EF4-FFF2-40B4-BE49-F238E27FC236}">
                <a16:creationId xmlns:a16="http://schemas.microsoft.com/office/drawing/2014/main" id="{1B43900A-6E10-404F-A7E2-7F066509F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913" y="3111501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C16D95-3100-475B-99FF-B7F8850B4C8E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30728" name="Rectangle 12">
            <a:extLst>
              <a:ext uri="{FF2B5EF4-FFF2-40B4-BE49-F238E27FC236}">
                <a16:creationId xmlns:a16="http://schemas.microsoft.com/office/drawing/2014/main" id="{D36937B1-9A58-46F2-BFA3-B448BB7A7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164" y="3873500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cxnSp>
        <p:nvCxnSpPr>
          <p:cNvPr id="30729" name="直接连接符 34">
            <a:extLst>
              <a:ext uri="{FF2B5EF4-FFF2-40B4-BE49-F238E27FC236}">
                <a16:creationId xmlns:a16="http://schemas.microsoft.com/office/drawing/2014/main" id="{752531A2-5142-4420-8DBF-92D8CC03B9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0" name="直接连接符 36">
            <a:extLst>
              <a:ext uri="{FF2B5EF4-FFF2-40B4-BE49-F238E27FC236}">
                <a16:creationId xmlns:a16="http://schemas.microsoft.com/office/drawing/2014/main" id="{D0514889-E941-4889-8785-DD5770135D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1" name="直接连接符 37">
            <a:extLst>
              <a:ext uri="{FF2B5EF4-FFF2-40B4-BE49-F238E27FC236}">
                <a16:creationId xmlns:a16="http://schemas.microsoft.com/office/drawing/2014/main" id="{8E96D259-39C0-4612-8C2E-B3A41CDE69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0732" name="图片 17">
            <a:extLst>
              <a:ext uri="{FF2B5EF4-FFF2-40B4-BE49-F238E27FC236}">
                <a16:creationId xmlns:a16="http://schemas.microsoft.com/office/drawing/2014/main" id="{68A5B75C-00B3-4B43-BFBC-2883B791B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64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3" name="图片 18">
            <a:extLst>
              <a:ext uri="{FF2B5EF4-FFF2-40B4-BE49-F238E27FC236}">
                <a16:creationId xmlns:a16="http://schemas.microsoft.com/office/drawing/2014/main" id="{84D0E785-EF53-4C54-8177-E2CC2E26DB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4" name="图片 19">
            <a:extLst>
              <a:ext uri="{FF2B5EF4-FFF2-40B4-BE49-F238E27FC236}">
                <a16:creationId xmlns:a16="http://schemas.microsoft.com/office/drawing/2014/main" id="{8229ABD4-9B66-4DE4-ADA6-E248B2AF2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5" name="图片 22">
            <a:extLst>
              <a:ext uri="{FF2B5EF4-FFF2-40B4-BE49-F238E27FC236}">
                <a16:creationId xmlns:a16="http://schemas.microsoft.com/office/drawing/2014/main" id="{921F1C26-8957-467A-99F0-CF158FDF5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6" name="图片 24">
            <a:extLst>
              <a:ext uri="{FF2B5EF4-FFF2-40B4-BE49-F238E27FC236}">
                <a16:creationId xmlns:a16="http://schemas.microsoft.com/office/drawing/2014/main" id="{7F80DA58-F1E2-4D37-94B1-C8753974A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6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7" name="Rectangle 12">
            <a:extLst>
              <a:ext uri="{FF2B5EF4-FFF2-40B4-BE49-F238E27FC236}">
                <a16:creationId xmlns:a16="http://schemas.microsoft.com/office/drawing/2014/main" id="{256AA70A-4B2E-4228-8888-FB6ABEF8D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5151439"/>
            <a:ext cx="457200" cy="33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sp>
        <p:nvSpPr>
          <p:cNvPr id="30738" name="Rectangle 12">
            <a:extLst>
              <a:ext uri="{FF2B5EF4-FFF2-40B4-BE49-F238E27FC236}">
                <a16:creationId xmlns:a16="http://schemas.microsoft.com/office/drawing/2014/main" id="{91B76314-4FF1-4E33-9372-648B9ADC9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30739" name="Rectangle 12">
            <a:extLst>
              <a:ext uri="{FF2B5EF4-FFF2-40B4-BE49-F238E27FC236}">
                <a16:creationId xmlns:a16="http://schemas.microsoft.com/office/drawing/2014/main" id="{82580D4D-6199-4C0E-92C4-31F5DB00E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30740" name="Rectangle 12">
            <a:extLst>
              <a:ext uri="{FF2B5EF4-FFF2-40B4-BE49-F238E27FC236}">
                <a16:creationId xmlns:a16="http://schemas.microsoft.com/office/drawing/2014/main" id="{4EBF121B-3497-46FA-95D7-A07631594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5118100"/>
            <a:ext cx="457200" cy="331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5DAF59CE-BA14-4D76-B0C4-1DE16673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9" y="3068639"/>
            <a:ext cx="706437" cy="3143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ACK2</a:t>
            </a:r>
          </a:p>
        </p:txBody>
      </p:sp>
      <p:sp>
        <p:nvSpPr>
          <p:cNvPr id="30742" name="流程图: 多文档 29">
            <a:extLst>
              <a:ext uri="{FF2B5EF4-FFF2-40B4-BE49-F238E27FC236}">
                <a16:creationId xmlns:a16="http://schemas.microsoft.com/office/drawing/2014/main" id="{CFE14A1B-1F66-4AFF-B440-5FBB8DAEF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3787775"/>
            <a:ext cx="1012894" cy="462201"/>
          </a:xfrm>
          <a:prstGeom prst="flowChartMulti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F2</a:t>
            </a:r>
          </a:p>
        </p:txBody>
      </p:sp>
      <p:sp>
        <p:nvSpPr>
          <p:cNvPr id="30743" name="流程图: 多文档 32">
            <a:extLst>
              <a:ext uri="{FF2B5EF4-FFF2-40B4-BE49-F238E27FC236}">
                <a16:creationId xmlns:a16="http://schemas.microsoft.com/office/drawing/2014/main" id="{CBAD2DDD-1AC4-48DD-B6AF-8C1B0A9AC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550" y="3719514"/>
            <a:ext cx="1812548" cy="808851"/>
          </a:xfrm>
          <a:prstGeom prst="flowChartMulti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接收到</a:t>
            </a:r>
            <a:r>
              <a:rPr lang="en-US" altLang="zh-CN" sz="18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ACK(1)</a:t>
            </a:r>
          </a:p>
          <a:p>
            <a:pPr eaLnBrk="1" hangingPunct="1"/>
            <a:r>
              <a:rPr lang="zh-CN" altLang="en-US" sz="18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取消</a:t>
            </a:r>
            <a:r>
              <a:rPr lang="en-US" altLang="zh-CN" sz="18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t0</a:t>
            </a:r>
          </a:p>
        </p:txBody>
      </p:sp>
      <p:cxnSp>
        <p:nvCxnSpPr>
          <p:cNvPr id="30744" name="直接连接符 3">
            <a:extLst>
              <a:ext uri="{FF2B5EF4-FFF2-40B4-BE49-F238E27FC236}">
                <a16:creationId xmlns:a16="http://schemas.microsoft.com/office/drawing/2014/main" id="{EDF24CBD-6C84-46FC-8AC5-D900CABA9A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79875" y="4527551"/>
            <a:ext cx="215900" cy="1133475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5" name="Rectangle 12">
            <a:extLst>
              <a:ext uri="{FF2B5EF4-FFF2-40B4-BE49-F238E27FC236}">
                <a16:creationId xmlns:a16="http://schemas.microsoft.com/office/drawing/2014/main" id="{E60C19CD-B66A-4DBA-ABDB-76007B24F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1" y="3873500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30746" name="Rectangle 12">
            <a:extLst>
              <a:ext uri="{FF2B5EF4-FFF2-40B4-BE49-F238E27FC236}">
                <a16:creationId xmlns:a16="http://schemas.microsoft.com/office/drawing/2014/main" id="{5F22D674-466A-4C4D-B76E-003B5A2B2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4" y="3860800"/>
            <a:ext cx="708025" cy="3381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D0E797-0289-4468-99E1-79F5CDA6B2FE}"/>
              </a:ext>
            </a:extLst>
          </p:cNvPr>
          <p:cNvSpPr txBox="1"/>
          <p:nvPr/>
        </p:nvSpPr>
        <p:spPr>
          <a:xfrm>
            <a:off x="181467" y="766095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673D08-CB40-4029-A618-399AA9ABAEFA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D81813-6D4B-452D-A8BB-4B5829F42243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矩形 16">
            <a:extLst>
              <a:ext uri="{FF2B5EF4-FFF2-40B4-BE49-F238E27FC236}">
                <a16:creationId xmlns:a16="http://schemas.microsoft.com/office/drawing/2014/main" id="{8BF18F11-D15B-41B2-B1D5-41FCD1C18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8" y="3117851"/>
            <a:ext cx="423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1748" name="矩形 21">
            <a:extLst>
              <a:ext uri="{FF2B5EF4-FFF2-40B4-BE49-F238E27FC236}">
                <a16:creationId xmlns:a16="http://schemas.microsoft.com/office/drawing/2014/main" id="{756CEC64-70AB-4D84-99EC-51ABD1DA4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913" y="3111501"/>
            <a:ext cx="419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000099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DA0D37-692D-4917-B7B5-4A6A1FC6E2B9}"/>
              </a:ext>
            </a:extLst>
          </p:cNvPr>
          <p:cNvSpPr/>
          <p:nvPr/>
        </p:nvSpPr>
        <p:spPr>
          <a:xfrm>
            <a:off x="6151563" y="4889500"/>
            <a:ext cx="421005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在接收到</a:t>
            </a:r>
            <a:r>
              <a:rPr lang="en-US" altLang="zh-CN" b="1" dirty="0" err="1">
                <a:solidFill>
                  <a:srgbClr val="000099"/>
                </a:solidFill>
                <a:latin typeface="+mj-ea"/>
                <a:ea typeface="+mj-ea"/>
              </a:rPr>
              <a:t>Fn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，并且正确处理后，需要发送</a:t>
            </a:r>
            <a:r>
              <a:rPr lang="en-US" altLang="zh-CN" b="1" dirty="0">
                <a:solidFill>
                  <a:srgbClr val="000099"/>
                </a:solidFill>
                <a:latin typeface="+mj-ea"/>
                <a:ea typeface="+mj-ea"/>
              </a:rPr>
              <a:t>ACK(n+1)</a:t>
            </a:r>
            <a:r>
              <a:rPr lang="zh-CN" altLang="en-US" b="1" dirty="0">
                <a:solidFill>
                  <a:srgbClr val="000099"/>
                </a:solidFill>
                <a:latin typeface="+mj-ea"/>
                <a:ea typeface="+mj-ea"/>
              </a:rPr>
              <a:t>进行确认。</a:t>
            </a:r>
            <a:endParaRPr lang="en-US" altLang="zh-CN" b="1" dirty="0">
              <a:solidFill>
                <a:srgbClr val="000099"/>
              </a:solidFill>
              <a:latin typeface="+mj-ea"/>
              <a:ea typeface="+mj-ea"/>
            </a:endParaRPr>
          </a:p>
          <a:p>
            <a:pPr>
              <a:defRPr/>
            </a:pPr>
            <a:endParaRPr lang="zh-CN" altLang="en-US" b="1" dirty="0">
              <a:solidFill>
                <a:srgbClr val="000099"/>
              </a:solidFill>
              <a:latin typeface="+mj-ea"/>
              <a:ea typeface="+mj-ea"/>
            </a:endParaRPr>
          </a:p>
        </p:txBody>
      </p:sp>
      <p:sp>
        <p:nvSpPr>
          <p:cNvPr id="31751" name="Rectangle 12">
            <a:extLst>
              <a:ext uri="{FF2B5EF4-FFF2-40B4-BE49-F238E27FC236}">
                <a16:creationId xmlns:a16="http://schemas.microsoft.com/office/drawing/2014/main" id="{4A30A24C-7D5E-47E2-A328-4797EE451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9" y="3862388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cxnSp>
        <p:nvCxnSpPr>
          <p:cNvPr id="31752" name="直接连接符 34">
            <a:extLst>
              <a:ext uri="{FF2B5EF4-FFF2-40B4-BE49-F238E27FC236}">
                <a16:creationId xmlns:a16="http://schemas.microsoft.com/office/drawing/2014/main" id="{A3B439A3-5747-409C-92C5-A6288667F7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76" y="2852738"/>
            <a:ext cx="61198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3" name="直接连接符 36">
            <a:extLst>
              <a:ext uri="{FF2B5EF4-FFF2-40B4-BE49-F238E27FC236}">
                <a16:creationId xmlns:a16="http://schemas.microsoft.com/office/drawing/2014/main" id="{A8E6F4A5-18F1-446D-8556-57CB550B13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43656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4" name="直接连接符 37">
            <a:extLst>
              <a:ext uri="{FF2B5EF4-FFF2-40B4-BE49-F238E27FC236}">
                <a16:creationId xmlns:a16="http://schemas.microsoft.com/office/drawing/2014/main" id="{EB8B6DC9-E30B-411F-A1B8-10ADD46D1D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81325" y="3578225"/>
            <a:ext cx="6121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1755" name="图片 18">
            <a:extLst>
              <a:ext uri="{FF2B5EF4-FFF2-40B4-BE49-F238E27FC236}">
                <a16:creationId xmlns:a16="http://schemas.microsoft.com/office/drawing/2014/main" id="{01860AE1-43D1-45E9-B9DD-BFB3040CA8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98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6" name="图片 19">
            <a:extLst>
              <a:ext uri="{FF2B5EF4-FFF2-40B4-BE49-F238E27FC236}">
                <a16:creationId xmlns:a16="http://schemas.microsoft.com/office/drawing/2014/main" id="{F8E2E147-F2C0-4D60-9A21-E7D53DA99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7" name="图片 22">
            <a:extLst>
              <a:ext uri="{FF2B5EF4-FFF2-40B4-BE49-F238E27FC236}">
                <a16:creationId xmlns:a16="http://schemas.microsoft.com/office/drawing/2014/main" id="{2F918B7F-5C01-453A-BD13-D049617E15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4711701"/>
            <a:ext cx="5286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8" name="图片 24">
            <a:extLst>
              <a:ext uri="{FF2B5EF4-FFF2-40B4-BE49-F238E27FC236}">
                <a16:creationId xmlns:a16="http://schemas.microsoft.com/office/drawing/2014/main" id="{04216DD3-D9C7-4FDB-A662-62CA874AC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6" y="4711701"/>
            <a:ext cx="5302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9" name="Rectangle 12">
            <a:extLst>
              <a:ext uri="{FF2B5EF4-FFF2-40B4-BE49-F238E27FC236}">
                <a16:creationId xmlns:a16="http://schemas.microsoft.com/office/drawing/2014/main" id="{1D2366AA-581B-4D85-86A5-860B46A5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sp>
        <p:nvSpPr>
          <p:cNvPr id="31760" name="Rectangle 12">
            <a:extLst>
              <a:ext uri="{FF2B5EF4-FFF2-40B4-BE49-F238E27FC236}">
                <a16:creationId xmlns:a16="http://schemas.microsoft.com/office/drawing/2014/main" id="{E9DF9982-3035-4989-8409-000A238C9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5133976"/>
            <a:ext cx="457200" cy="333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</a:p>
        </p:txBody>
      </p:sp>
      <p:sp>
        <p:nvSpPr>
          <p:cNvPr id="31761" name="Rectangle 12">
            <a:extLst>
              <a:ext uri="{FF2B5EF4-FFF2-40B4-BE49-F238E27FC236}">
                <a16:creationId xmlns:a16="http://schemas.microsoft.com/office/drawing/2014/main" id="{02F82B58-BEE0-496A-AEED-17ADB90B6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5118100"/>
            <a:ext cx="457200" cy="331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t3</a:t>
            </a:r>
          </a:p>
        </p:txBody>
      </p:sp>
      <p:sp>
        <p:nvSpPr>
          <p:cNvPr id="31763" name="流程图: 多文档 29">
            <a:extLst>
              <a:ext uri="{FF2B5EF4-FFF2-40B4-BE49-F238E27FC236}">
                <a16:creationId xmlns:a16="http://schemas.microsoft.com/office/drawing/2014/main" id="{E32A5678-EDE4-482F-9729-C886BCB5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2726" y="3752851"/>
            <a:ext cx="1012894" cy="462201"/>
          </a:xfrm>
          <a:prstGeom prst="flowChartMulti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</a:t>
            </a:r>
            <a:r>
              <a:rPr lang="en-US" altLang="zh-CN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F3</a:t>
            </a:r>
          </a:p>
        </p:txBody>
      </p:sp>
      <p:sp>
        <p:nvSpPr>
          <p:cNvPr id="31764" name="流程图: 多文档 32">
            <a:extLst>
              <a:ext uri="{FF2B5EF4-FFF2-40B4-BE49-F238E27FC236}">
                <a16:creationId xmlns:a16="http://schemas.microsoft.com/office/drawing/2014/main" id="{43C2D2F0-A400-4B82-BE5B-E664BA7B7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550" y="3719514"/>
            <a:ext cx="1812548" cy="808851"/>
          </a:xfrm>
          <a:prstGeom prst="flowChartMulti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接收到</a:t>
            </a:r>
            <a:r>
              <a:rPr lang="en-US" altLang="zh-CN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ACK(2)</a:t>
            </a:r>
          </a:p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取消</a:t>
            </a:r>
            <a:r>
              <a:rPr lang="en-US" altLang="zh-CN" sz="18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</a:p>
        </p:txBody>
      </p:sp>
      <p:cxnSp>
        <p:nvCxnSpPr>
          <p:cNvPr id="31765" name="直接连接符 3">
            <a:extLst>
              <a:ext uri="{FF2B5EF4-FFF2-40B4-BE49-F238E27FC236}">
                <a16:creationId xmlns:a16="http://schemas.microsoft.com/office/drawing/2014/main" id="{492BA1B6-2BC1-4158-91D3-DCF97FAEBB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54425" y="4584701"/>
            <a:ext cx="215900" cy="1133475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6" name="Rectangle 12">
            <a:extLst>
              <a:ext uri="{FF2B5EF4-FFF2-40B4-BE49-F238E27FC236}">
                <a16:creationId xmlns:a16="http://schemas.microsoft.com/office/drawing/2014/main" id="{3591427D-F829-43BD-9D8B-5B9C30889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651" y="3870325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31767" name="Rectangle 12">
            <a:extLst>
              <a:ext uri="{FF2B5EF4-FFF2-40B4-BE49-F238E27FC236}">
                <a16:creationId xmlns:a16="http://schemas.microsoft.com/office/drawing/2014/main" id="{15C0AAB2-041B-44F4-B105-231434919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4" y="3870325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31768" name="Rectangle 12">
            <a:extLst>
              <a:ext uri="{FF2B5EF4-FFF2-40B4-BE49-F238E27FC236}">
                <a16:creationId xmlns:a16="http://schemas.microsoft.com/office/drawing/2014/main" id="{B82B3CB4-7733-4612-A449-10605AD38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4" y="3862388"/>
            <a:ext cx="708025" cy="3365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7E572263-42F5-41FF-8CAA-C927C7E16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3143251"/>
            <a:ext cx="706438" cy="3159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ACK3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36B615-144C-404D-8DD0-2D84C8690060}"/>
              </a:ext>
            </a:extLst>
          </p:cNvPr>
          <p:cNvSpPr txBox="1"/>
          <p:nvPr/>
        </p:nvSpPr>
        <p:spPr>
          <a:xfrm>
            <a:off x="191344" y="786114"/>
            <a:ext cx="4662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32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演示</a:t>
            </a:r>
            <a:endParaRPr lang="zh-CN" altLang="en-US" sz="3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ADDE1D-16E9-490E-9D84-D00A7EEEB3F9}"/>
              </a:ext>
            </a:extLst>
          </p:cNvPr>
          <p:cNvSpPr/>
          <p:nvPr/>
        </p:nvSpPr>
        <p:spPr>
          <a:xfrm>
            <a:off x="551384" y="1557160"/>
            <a:ext cx="4294554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发送的每个数据帧都关联一个定时器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;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接收到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ACK(n)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时取消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定时器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+mj-ea"/>
                <a:ea typeface="+mj-ea"/>
              </a:rPr>
              <a:t>n-1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及其以前的定时器。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316981-BF69-4045-AD55-7E79CFD6B6F7}"/>
              </a:ext>
            </a:extLst>
          </p:cNvPr>
          <p:cNvSpPr/>
          <p:nvPr/>
        </p:nvSpPr>
        <p:spPr>
          <a:xfrm>
            <a:off x="9351261" y="1890011"/>
            <a:ext cx="2218555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rgbClr val="00B050"/>
                </a:solidFill>
                <a:latin typeface="+mj-ea"/>
              </a:rPr>
              <a:t>B</a:t>
            </a:r>
            <a:r>
              <a:rPr lang="zh-CN" altLang="en-US" b="1" dirty="0">
                <a:solidFill>
                  <a:srgbClr val="00B050"/>
                </a:solidFill>
                <a:latin typeface="+mj-ea"/>
              </a:rPr>
              <a:t>是按照顺序一个一个收。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>
            <a:extLst>
              <a:ext uri="{FF2B5EF4-FFF2-40B4-BE49-F238E27FC236}">
                <a16:creationId xmlns:a16="http://schemas.microsoft.com/office/drawing/2014/main" id="{41266033-84FC-4BFC-BCD2-C70150878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88640"/>
            <a:ext cx="5256584" cy="53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接收方可能的接收情景以及处理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42F287-4395-4992-B595-2CBD32D4C4EA}"/>
              </a:ext>
            </a:extLst>
          </p:cNvPr>
          <p:cNvSpPr/>
          <p:nvPr/>
        </p:nvSpPr>
        <p:spPr>
          <a:xfrm>
            <a:off x="335360" y="1844824"/>
            <a:ext cx="10945216" cy="3637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接收到校验错误的数据帧：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接收到比预期编号大的数据帧：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丢弃数据帧，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重复发送确认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。发送方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会超时。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收到编号小于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的帧：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丢弃，发送确认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丢失一圈帧）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收到编号等于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的帧：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V(R)=V(R)+1,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发送确认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ACK(V(R))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，等待下一个帧。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E1FE39-DBC7-4DC1-8685-5B4D0FDE17E1}"/>
              </a:ext>
            </a:extLst>
          </p:cNvPr>
          <p:cNvSpPr txBox="1"/>
          <p:nvPr/>
        </p:nvSpPr>
        <p:spPr>
          <a:xfrm>
            <a:off x="444231" y="1076321"/>
            <a:ext cx="648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假设接收方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V(R)=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即接收方希望接收到帧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50870867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>
            <a:extLst>
              <a:ext uri="{FF2B5EF4-FFF2-40B4-BE49-F238E27FC236}">
                <a16:creationId xmlns:a16="http://schemas.microsoft.com/office/drawing/2014/main" id="{3772C455-FD7A-4169-B591-66CC6F48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88640"/>
            <a:ext cx="6222378" cy="52322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中的</a:t>
            </a:r>
            <a:r>
              <a:rPr lang="en-US" altLang="zh-CN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ACK(n)</a:t>
            </a:r>
            <a:r>
              <a:rPr lang="zh-CN" altLang="en-US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具有累积确认</a:t>
            </a:r>
          </a:p>
        </p:txBody>
      </p:sp>
      <p:sp>
        <p:nvSpPr>
          <p:cNvPr id="34" name="矩形 21">
            <a:extLst>
              <a:ext uri="{FF2B5EF4-FFF2-40B4-BE49-F238E27FC236}">
                <a16:creationId xmlns:a16="http://schemas.microsoft.com/office/drawing/2014/main" id="{58A2D5AE-6C80-48C9-9CB0-7AA2034A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980728"/>
            <a:ext cx="11593288" cy="2886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中的确认帧具有累积确认功能，当发送方收到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及其以前编号的帧都收到，接下来接收方希望接收编号为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对于接收方，可以在忙碌时，连续接收完多个帧才给出一个最新的确认；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对于发送方，可以在有某些确认帧丢失的情况下，仍然能够根据后继的确认帧保证数据的正确确认。</a:t>
            </a:r>
          </a:p>
        </p:txBody>
      </p:sp>
    </p:spTree>
    <p:extLst>
      <p:ext uri="{BB962C8B-B14F-4D97-AF65-F5344CB8AC3E}">
        <p14:creationId xmlns:p14="http://schemas.microsoft.com/office/powerpoint/2010/main" val="837971857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>
            <a:extLst>
              <a:ext uri="{FF2B5EF4-FFF2-40B4-BE49-F238E27FC236}">
                <a16:creationId xmlns:a16="http://schemas.microsoft.com/office/drawing/2014/main" id="{3772C455-FD7A-4169-B591-66CC6F48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188640"/>
            <a:ext cx="7158846" cy="52322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讨论：</a:t>
            </a:r>
            <a:r>
              <a:rPr lang="en-US" altLang="zh-CN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最大发送窗口</a:t>
            </a:r>
            <a:r>
              <a:rPr lang="en-US" altLang="zh-CN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W</a:t>
            </a:r>
            <a:r>
              <a:rPr lang="en-US" altLang="zh-CN" sz="2800" b="1" baseline="-25000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T</a:t>
            </a:r>
            <a:r>
              <a:rPr lang="en-US" altLang="zh-CN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=</a:t>
            </a:r>
            <a:r>
              <a:rPr lang="en-US" altLang="zh-CN" sz="28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 2</a:t>
            </a:r>
            <a:r>
              <a:rPr lang="en-US" altLang="zh-CN" sz="2800" b="1" baseline="30000" dirty="0">
                <a:latin typeface="华文细黑" panose="02010600040101010101" pitchFamily="2" charset="-122"/>
                <a:ea typeface="华文细黑" panose="02010600040101010101" pitchFamily="2" charset="-122"/>
              </a:rPr>
              <a:t>n</a:t>
            </a:r>
            <a:r>
              <a:rPr lang="en-US" altLang="zh-CN" sz="28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-1</a:t>
            </a:r>
            <a:endParaRPr lang="zh-CN" altLang="en-US" sz="2800" b="1" dirty="0">
              <a:solidFill>
                <a:srgbClr val="000099"/>
              </a:solidFill>
              <a:latin typeface="Verdana" pitchFamily="34" charset="0"/>
              <a:ea typeface="黑体" pitchFamily="49" charset="-122"/>
            </a:endParaRPr>
          </a:p>
        </p:txBody>
      </p:sp>
      <p:sp>
        <p:nvSpPr>
          <p:cNvPr id="34" name="矩形 21">
            <a:extLst>
              <a:ext uri="{FF2B5EF4-FFF2-40B4-BE49-F238E27FC236}">
                <a16:creationId xmlns:a16="http://schemas.microsoft.com/office/drawing/2014/main" id="{58A2D5AE-6C80-48C9-9CB0-7AA2034A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75" y="980728"/>
            <a:ext cx="11661772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位进行帧编号，那么发送窗口最大为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。再大就会出现套圈，无法正常传输数据。</a:t>
            </a:r>
          </a:p>
        </p:txBody>
      </p:sp>
      <p:sp>
        <p:nvSpPr>
          <p:cNvPr id="31" name="矩形 21">
            <a:extLst>
              <a:ext uri="{FF2B5EF4-FFF2-40B4-BE49-F238E27FC236}">
                <a16:creationId xmlns:a16="http://schemas.microsoft.com/office/drawing/2014/main" id="{F55189B5-8EAC-40CC-B843-7F1337758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68" y="2132856"/>
            <a:ext cx="11661772" cy="227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假设帧编号有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位，假设发送窗口为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发送方发送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帧，接收方都收到了，并且发送了确认，那么接收方会期望接收下一轮的从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开始的帧； 假设确认全部丢失，那么发送方会将刚才从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帧全部重发，接收方看到帧编号与期望接收的帧编号相同，就会接收，因此重复接收数据，造成错误。</a:t>
            </a:r>
          </a:p>
        </p:txBody>
      </p:sp>
    </p:spTree>
    <p:extLst>
      <p:ext uri="{BB962C8B-B14F-4D97-AF65-F5344CB8AC3E}">
        <p14:creationId xmlns:p14="http://schemas.microsoft.com/office/powerpoint/2010/main" val="37286802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>
            <a:extLst>
              <a:ext uri="{FF2B5EF4-FFF2-40B4-BE49-F238E27FC236}">
                <a16:creationId xmlns:a16="http://schemas.microsoft.com/office/drawing/2014/main" id="{3772C455-FD7A-4169-B591-66CC6F48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88640"/>
            <a:ext cx="7086838" cy="52322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讨论： </a:t>
            </a:r>
            <a:r>
              <a:rPr lang="en-US" altLang="zh-CN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GBN</a:t>
            </a:r>
            <a:r>
              <a:rPr lang="zh-CN" altLang="en-US" sz="2800" b="1" dirty="0">
                <a:solidFill>
                  <a:srgbClr val="000099"/>
                </a:solidFill>
                <a:latin typeface="Verdana" pitchFamily="34" charset="0"/>
                <a:ea typeface="黑体" pitchFamily="49" charset="-122"/>
              </a:rPr>
              <a:t>一定比停止等待协议好吗</a:t>
            </a:r>
          </a:p>
        </p:txBody>
      </p:sp>
      <p:sp>
        <p:nvSpPr>
          <p:cNvPr id="34" name="矩形 21">
            <a:extLst>
              <a:ext uri="{FF2B5EF4-FFF2-40B4-BE49-F238E27FC236}">
                <a16:creationId xmlns:a16="http://schemas.microsoft.com/office/drawing/2014/main" id="{58A2D5AE-6C80-48C9-9CB0-7AA2034A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052736"/>
            <a:ext cx="11665296" cy="1384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一方面因为连续发送数据帧而提高了信道利用率，另一个方面在重传时又必须重传原来已经正确到达的帧（仅仅因为这些帧的前面有一帧出错），因此这种做法会降低传输效率。当信道误码率较大时，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不一定优于停止等待协议。</a:t>
            </a:r>
          </a:p>
        </p:txBody>
      </p:sp>
    </p:spTree>
    <p:extLst>
      <p:ext uri="{BB962C8B-B14F-4D97-AF65-F5344CB8AC3E}">
        <p14:creationId xmlns:p14="http://schemas.microsoft.com/office/powerpoint/2010/main" val="2876213846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4154B30-3165-43FD-BCF4-23192625D15F}"/>
              </a:ext>
            </a:extLst>
          </p:cNvPr>
          <p:cNvSpPr txBox="1"/>
          <p:nvPr/>
        </p:nvSpPr>
        <p:spPr>
          <a:xfrm>
            <a:off x="335360" y="980728"/>
            <a:ext cx="11233248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在简单的停止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等待协议中，当帧出现丢失时，发送方会永远等待下去，解决这种死锁现象的办法是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差错检验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帧序号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C.NAK 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机制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超时机制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DFA137-E4DA-47A5-8FDE-A51ADBA3ED53}"/>
              </a:ext>
            </a:extLst>
          </p:cNvPr>
          <p:cNvSpPr txBox="1"/>
          <p:nvPr/>
        </p:nvSpPr>
        <p:spPr>
          <a:xfrm>
            <a:off x="335360" y="3640957"/>
            <a:ext cx="113052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在停止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等待协议中，为了让接收方能判断所收到的数据帧是否重复，采用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的方法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帧编号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检错码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重传计时器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D.NAK 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帧</a:t>
            </a:r>
          </a:p>
        </p:txBody>
      </p:sp>
    </p:spTree>
    <p:extLst>
      <p:ext uri="{BB962C8B-B14F-4D97-AF65-F5344CB8AC3E}">
        <p14:creationId xmlns:p14="http://schemas.microsoft.com/office/powerpoint/2010/main" val="4097757636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D703C0-B455-4CC7-A2F6-8DB2515CDA35}"/>
              </a:ext>
            </a:extLst>
          </p:cNvPr>
          <p:cNvSpPr txBox="1"/>
          <p:nvPr/>
        </p:nvSpPr>
        <p:spPr>
          <a:xfrm>
            <a:off x="407368" y="1052736"/>
            <a:ext cx="1152128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流量控制是实现发送方和接收方速度一致的机制，实现这种机制所采取的措施是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增大接收方接收速度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减小发送方发送速度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接收方向发送方反馈信息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增加双方的缓冲区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D0A42C-5030-4D71-A64E-657155843928}"/>
              </a:ext>
            </a:extLst>
          </p:cNvPr>
          <p:cNvSpPr txBox="1"/>
          <p:nvPr/>
        </p:nvSpPr>
        <p:spPr>
          <a:xfrm>
            <a:off x="407370" y="3645024"/>
            <a:ext cx="115212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数据链路层采用了后退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帧协议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(GBN)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，若发送窗口的大小是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32, 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则至少需要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)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位的序列号才能保证协议不出错。</a:t>
            </a: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A.4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B.5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C.6</a:t>
            </a:r>
            <a:endParaRPr lang="zh-CN" altLang="zh-CN" kern="1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D.7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DA1E11-1066-4655-BC14-1F28E380587B}"/>
              </a:ext>
            </a:extLst>
          </p:cNvPr>
          <p:cNvSpPr txBox="1"/>
          <p:nvPr/>
        </p:nvSpPr>
        <p:spPr>
          <a:xfrm>
            <a:off x="8040216" y="5589241"/>
            <a:ext cx="22322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</a:t>
            </a:r>
            <a:r>
              <a:rPr lang="en-US" altLang="zh-CN" baseline="-25000" dirty="0"/>
              <a:t>T</a:t>
            </a:r>
            <a:r>
              <a:rPr lang="en-US" altLang="zh-CN" dirty="0"/>
              <a:t>+W</a:t>
            </a:r>
            <a:r>
              <a:rPr lang="en-US" altLang="zh-CN" baseline="-25000" dirty="0"/>
              <a:t>R</a:t>
            </a:r>
            <a:r>
              <a:rPr lang="en-US" altLang="zh-CN" dirty="0"/>
              <a:t>&lt;=2</a:t>
            </a:r>
            <a:r>
              <a:rPr lang="en-US" altLang="zh-CN" baseline="30000" dirty="0"/>
              <a:t>n</a:t>
            </a:r>
          </a:p>
          <a:p>
            <a:endParaRPr lang="en-US" altLang="zh-CN" baseline="30000" dirty="0"/>
          </a:p>
          <a:p>
            <a:r>
              <a:rPr lang="en-US" altLang="zh-CN" baseline="30000" dirty="0"/>
              <a:t>32 + 1 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288067280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075B1C-B9CF-46EE-BC33-487C692F4800}"/>
              </a:ext>
            </a:extLst>
          </p:cNvPr>
          <p:cNvSpPr txBox="1"/>
          <p:nvPr/>
        </p:nvSpPr>
        <p:spPr>
          <a:xfrm>
            <a:off x="335360" y="1108298"/>
            <a:ext cx="115932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数据链路层采用后退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帧协议，发送方已经发送了编号从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的帧，当计时器超时的时候，只收到对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号帧的确认，发送方需要重传的数目是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A.1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.2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C.5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D.6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8F1562-5D66-4779-8939-9A9CC052F6A1}"/>
              </a:ext>
            </a:extLst>
          </p:cNvPr>
          <p:cNvSpPr txBox="1"/>
          <p:nvPr/>
        </p:nvSpPr>
        <p:spPr>
          <a:xfrm>
            <a:off x="6672064" y="5733257"/>
            <a:ext cx="3888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累积确认，收到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号帧的确认表示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4,3,2,1,0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都收到。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846628"/>
      </p:ext>
    </p:extLst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>
            <a:extLst>
              <a:ext uri="{FF2B5EF4-FFF2-40B4-BE49-F238E27FC236}">
                <a16:creationId xmlns:a16="http://schemas.microsoft.com/office/drawing/2014/main" id="{2E55C686-7D96-43F5-9396-3D167CBF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88640"/>
            <a:ext cx="8640960" cy="5332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69900" indent="-469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选择重传协议 </a:t>
            </a:r>
            <a:r>
              <a:rPr kumimoji="0"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(Selective Repeat, SR ARQ)</a:t>
            </a:r>
            <a:endParaRPr kumimoji="0"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251EB3-DB19-48D6-9A19-A032710DFD93}"/>
              </a:ext>
            </a:extLst>
          </p:cNvPr>
          <p:cNvSpPr txBox="1"/>
          <p:nvPr/>
        </p:nvSpPr>
        <p:spPr>
          <a:xfrm>
            <a:off x="263352" y="980728"/>
            <a:ext cx="11665296" cy="282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可能将已正确传送到目的方的帧再重传一遍，这显然是一种浪费。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更高的策略是当接收方发现某帧出错后，其后继续送来的正确的帧接收方仍可收下来，存放在一个缓冲区中，同时要求发送方重新传送出错的帧。一旦收到重新传来的帧后，就可以和存于缓冲区中的帧一起按正确的顺序递交高层。这种方法称为</a:t>
            </a:r>
            <a:r>
              <a:rPr lang="zh-CN" altLang="en-US" sz="25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选择重传协议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选择重传要求接收方有足够大的缓冲区空间（超出一个数据帧的大小）。</a:t>
            </a:r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1169AF-B785-4346-ADD1-AFA33F27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4941168"/>
            <a:ext cx="8332916" cy="665982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E7E1CD3-674B-439B-94AC-2F07D5D7DCD0}"/>
              </a:ext>
            </a:extLst>
          </p:cNvPr>
          <p:cNvSpPr/>
          <p:nvPr/>
        </p:nvSpPr>
        <p:spPr bwMode="auto">
          <a:xfrm>
            <a:off x="2052938" y="5114289"/>
            <a:ext cx="2127276" cy="369332"/>
          </a:xfrm>
          <a:prstGeom prst="rect">
            <a:avLst/>
          </a:prstGeom>
          <a:solidFill>
            <a:srgbClr val="FFC000">
              <a:alpha val="53000"/>
            </a:srgb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5C2CC9-E92C-4979-87D3-05AEA3DC04B5}"/>
              </a:ext>
            </a:extLst>
          </p:cNvPr>
          <p:cNvSpPr/>
          <p:nvPr/>
        </p:nvSpPr>
        <p:spPr bwMode="auto">
          <a:xfrm>
            <a:off x="2623947" y="5114289"/>
            <a:ext cx="504056" cy="369332"/>
          </a:xfrm>
          <a:prstGeom prst="rect">
            <a:avLst/>
          </a:prstGeom>
          <a:solidFill>
            <a:srgbClr val="00B050">
              <a:alpha val="53000"/>
            </a:srgb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467E98-1917-481A-98C5-CF1BB67E0C27}"/>
              </a:ext>
            </a:extLst>
          </p:cNvPr>
          <p:cNvSpPr/>
          <p:nvPr/>
        </p:nvSpPr>
        <p:spPr bwMode="auto">
          <a:xfrm>
            <a:off x="3658335" y="5142455"/>
            <a:ext cx="504057" cy="369332"/>
          </a:xfrm>
          <a:prstGeom prst="rect">
            <a:avLst/>
          </a:prstGeom>
          <a:solidFill>
            <a:srgbClr val="00B050">
              <a:alpha val="53000"/>
            </a:srgb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58F48E-2284-4F23-8012-E2797CD574C2}"/>
              </a:ext>
            </a:extLst>
          </p:cNvPr>
          <p:cNvSpPr txBox="1"/>
          <p:nvPr/>
        </p:nvSpPr>
        <p:spPr>
          <a:xfrm>
            <a:off x="191344" y="188640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接收方如何提交数据？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A6BE5F-2890-45D3-9BC1-386DD3AF0147}"/>
              </a:ext>
            </a:extLst>
          </p:cNvPr>
          <p:cNvSpPr txBox="1"/>
          <p:nvPr/>
        </p:nvSpPr>
        <p:spPr>
          <a:xfrm>
            <a:off x="263352" y="836712"/>
            <a:ext cx="11377264" cy="2270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接收方在接收到数据帧后，校验正确，并且把数据提交给上层后，才算正确接收到。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接收方需要按照发送方数据的真实顺序向上层提交，如果前面的数据没有接收到，后面的数据即使正确接收，也要放在缓冲区中，不能提交。这样会影响接收窗口后移，同时影响发送窗口后移。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1ED5DF-18EC-416F-9F94-10D4C73D778B}"/>
              </a:ext>
            </a:extLst>
          </p:cNvPr>
          <p:cNvSpPr txBox="1"/>
          <p:nvPr/>
        </p:nvSpPr>
        <p:spPr>
          <a:xfrm>
            <a:off x="469370" y="3061059"/>
            <a:ext cx="11377264" cy="190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如下图，假设接收窗口大小为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，目前包括帧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，目前收到帧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；那么帧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不能提交给网络层，因为帧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还没有到。如果此时提交那么上层得到的是一个错误的顺序的数据，那么数据含义就会改变。如果接收到帧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可以一起提交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不能提交，此时接收窗口变成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。如果此时接收到帧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，也会放到缓冲区，但是不能提交，直到帧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到达，那么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2,3,4,5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一起提交，接收窗口变成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6,7,0,1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EC3CFBF-1AD2-43A3-A0A6-57F2BC7F9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5517232"/>
            <a:ext cx="8332916" cy="66598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77AA80A-5A2C-4F1C-AA71-582CE934E569}"/>
              </a:ext>
            </a:extLst>
          </p:cNvPr>
          <p:cNvSpPr/>
          <p:nvPr/>
        </p:nvSpPr>
        <p:spPr bwMode="auto">
          <a:xfrm>
            <a:off x="3138803" y="5706067"/>
            <a:ext cx="2127276" cy="369332"/>
          </a:xfrm>
          <a:prstGeom prst="rect">
            <a:avLst/>
          </a:prstGeom>
          <a:solidFill>
            <a:srgbClr val="FFC000">
              <a:alpha val="53000"/>
            </a:srgb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E8C343-9339-4615-A686-FD6B6A7E2A48}"/>
              </a:ext>
            </a:extLst>
          </p:cNvPr>
          <p:cNvSpPr/>
          <p:nvPr/>
        </p:nvSpPr>
        <p:spPr bwMode="auto">
          <a:xfrm>
            <a:off x="3658335" y="5718519"/>
            <a:ext cx="504057" cy="369332"/>
          </a:xfrm>
          <a:prstGeom prst="rect">
            <a:avLst/>
          </a:prstGeom>
          <a:solidFill>
            <a:srgbClr val="00B050">
              <a:alpha val="53000"/>
            </a:srgb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77B5DC6-1BF4-4B83-8A52-4BA4492F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6192018"/>
            <a:ext cx="8332916" cy="665982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2D8ACC84-3DD5-414D-9D02-2A4BD934543B}"/>
              </a:ext>
            </a:extLst>
          </p:cNvPr>
          <p:cNvSpPr/>
          <p:nvPr/>
        </p:nvSpPr>
        <p:spPr bwMode="auto">
          <a:xfrm>
            <a:off x="5192860" y="6380853"/>
            <a:ext cx="2127276" cy="369332"/>
          </a:xfrm>
          <a:prstGeom prst="rect">
            <a:avLst/>
          </a:prstGeom>
          <a:solidFill>
            <a:srgbClr val="FFC000">
              <a:alpha val="53000"/>
            </a:srgbClr>
          </a:solidFill>
          <a:ln w="9525" cap="flat" cmpd="sng" algn="ctr">
            <a:solidFill>
              <a:schemeClr val="tx1">
                <a:alpha val="36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eaLnBrk="1" hangingPunct="1"/>
            <a:endParaRPr lang="zh-CN" altLang="en-US" sz="18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>
            <a:extLst>
              <a:ext uri="{FF2B5EF4-FFF2-40B4-BE49-F238E27FC236}">
                <a16:creationId xmlns:a16="http://schemas.microsoft.com/office/drawing/2014/main" id="{2E55C686-7D96-43F5-9396-3D167CBF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980728"/>
            <a:ext cx="11449271" cy="3412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69900" indent="-469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接收方不能再采用累积确认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，而是对每个正确接收的数据帧逐一进行确认。当接收到到正确的第</a:t>
            </a:r>
            <a:r>
              <a:rPr kumimoji="0"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帧时，发送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</a:t>
            </a:r>
            <a:r>
              <a:rPr kumimoji="0"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仅仅确认第</a:t>
            </a:r>
            <a:r>
              <a:rPr kumimoji="0"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帧，不像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GBN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那样累积确认。</a:t>
            </a:r>
            <a:endParaRPr kumimoji="0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接收方需要设置足够的帧缓冲区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（帧缓冲区大小等于接收窗口的大小），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&lt;=W</a:t>
            </a:r>
            <a:r>
              <a:rPr kumimoji="0"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W</a:t>
            </a:r>
            <a:r>
              <a:rPr kumimoji="0"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&lt;=2</a:t>
            </a:r>
            <a:r>
              <a:rPr kumimoji="0" lang="en-US" altLang="zh-CN" sz="2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R+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&lt;=2</a:t>
            </a:r>
            <a:r>
              <a:rPr kumimoji="0" lang="en-US" altLang="zh-CN" sz="2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60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当接收方接收到一个出错的帧时，可以向发送方发送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NAK(</a:t>
            </a:r>
            <a:r>
              <a:rPr kumimoji="0"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kumimoji="0" lang="en-US" altLang="zh-CN" sz="2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帧出错。或者不发送任何信息，发送方对应该帧的定时器超时会重发该帧。</a:t>
            </a:r>
          </a:p>
        </p:txBody>
      </p:sp>
      <p:sp>
        <p:nvSpPr>
          <p:cNvPr id="37891" name="Rectangle 4">
            <a:extLst>
              <a:ext uri="{FF2B5EF4-FFF2-40B4-BE49-F238E27FC236}">
                <a16:creationId xmlns:a16="http://schemas.microsoft.com/office/drawing/2014/main" id="{B4298FB9-6D63-423C-BFA1-0E93DCCA1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8696" y="0"/>
            <a:ext cx="345631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SR-ARQ</a:t>
            </a:r>
            <a:r>
              <a:rPr kumimoji="0" lang="zh-CN" altLang="en-US" sz="28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endParaRPr kumimoji="0" lang="zh-CN" altLang="en-US" sz="3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0075953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4">
            <a:extLst>
              <a:ext uri="{FF2B5EF4-FFF2-40B4-BE49-F238E27FC236}">
                <a16:creationId xmlns:a16="http://schemas.microsoft.com/office/drawing/2014/main" id="{B4298FB9-6D63-423C-BFA1-0E93DCCA1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44" y="-4045"/>
            <a:ext cx="8712968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讨论：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kumimoji="0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的窗口大小：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&lt;=W</a:t>
            </a:r>
            <a:r>
              <a:rPr kumimoji="0" lang="en-US" altLang="zh-CN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W</a:t>
            </a:r>
            <a:r>
              <a:rPr kumimoji="0" lang="en-US" altLang="zh-CN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&lt;=2</a:t>
            </a:r>
            <a:r>
              <a:rPr kumimoji="0" lang="en-US" altLang="zh-CN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kumimoji="0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&lt;=2</a:t>
            </a:r>
            <a:r>
              <a:rPr kumimoji="0" lang="en-US" altLang="zh-CN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3200" dirty="0">
              <a:solidFill>
                <a:srgbClr val="0070C0"/>
              </a:solidFill>
              <a:latin typeface="Verdana" panose="020B060403050404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32B43F-EAF4-45F5-8919-82B1A8266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86" y="955973"/>
            <a:ext cx="11669227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）若接收窗口大于发送窗口，则接收窗口永远不可能填满，接收窗口多出的空间毫无意义。</a:t>
            </a:r>
            <a:endParaRPr kumimoji="0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R+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0"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&gt;2</a:t>
            </a:r>
            <a:r>
              <a:rPr kumimoji="0"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那么在接收方窗口向前移动后，如果发送方发送的数据由于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丢失而重传，则接收方无法判断是新数据还是旧数据重传。只要没有确认的数据和待接收的数据出现套圈的情况，则收发双发就无法保证数据的正确性。</a:t>
            </a:r>
            <a:endParaRPr kumimoji="0" lang="zh-CN" altLang="en-US" dirty="0">
              <a:latin typeface="Verdana" panose="020B060403050404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6DA7DE-96FE-4DEC-A7E4-396B1920E03F}"/>
              </a:ext>
            </a:extLst>
          </p:cNvPr>
          <p:cNvSpPr txBox="1"/>
          <p:nvPr/>
        </p:nvSpPr>
        <p:spPr>
          <a:xfrm>
            <a:off x="261386" y="3527913"/>
            <a:ext cx="11669226" cy="168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3bit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用来给帧编号，一个周期为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0~7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编号；假设现在发送窗口为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0,1,2,3,4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，接收窗口为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0,1,2,3, 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接收窗口和发送窗口大小总和为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；发送方将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0~4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帧发送，接收方接收到，发送确认，接收窗口为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5,6,7,0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；确认全部丢失，发送方重发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0,1,2,3,4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；帧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会被接收，但是这个帧</a:t>
            </a:r>
            <a:r>
              <a:rPr lang="en-US" altLang="zh-CN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已经不是同一个周期的。</a:t>
            </a:r>
            <a:endParaRPr lang="zh-CN" altLang="en-US" sz="2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704305"/>
      </p:ext>
    </p:extLst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F530166-3E18-4C26-AB8B-11803712A654}"/>
              </a:ext>
            </a:extLst>
          </p:cNvPr>
          <p:cNvSpPr txBox="1"/>
          <p:nvPr/>
        </p:nvSpPr>
        <p:spPr>
          <a:xfrm>
            <a:off x="263352" y="1052736"/>
            <a:ext cx="115932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对于滑动窗口协议，若分组序号采用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比特编号，发送窗口大小为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，则接收窗口最大是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A.2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B.3</a:t>
            </a:r>
            <a:endParaRPr lang="zh-CN" altLang="zh-CN" kern="1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C.4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D.5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48B485-A62F-418B-8821-38FE45802883}"/>
              </a:ext>
            </a:extLst>
          </p:cNvPr>
          <p:cNvSpPr txBox="1"/>
          <p:nvPr/>
        </p:nvSpPr>
        <p:spPr>
          <a:xfrm>
            <a:off x="7032104" y="5877273"/>
            <a:ext cx="35283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总共</a:t>
            </a:r>
            <a:r>
              <a:rPr lang="en-US" altLang="zh-CN" dirty="0"/>
              <a:t>8</a:t>
            </a:r>
            <a:r>
              <a:rPr lang="zh-CN" altLang="en-US" dirty="0"/>
              <a:t>个序号，发送和接收窗口总和不能超过</a:t>
            </a:r>
            <a:r>
              <a:rPr lang="en-US" altLang="zh-CN" dirty="0"/>
              <a:t>8.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0977046"/>
      </p:ext>
    </p:extLst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94609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主题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7463</TotalTime>
  <Words>6896</Words>
  <Application>Microsoft Office PowerPoint</Application>
  <PresentationFormat>宽屏</PresentationFormat>
  <Paragraphs>730</Paragraphs>
  <Slides>90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90</vt:i4>
      </vt:variant>
    </vt:vector>
  </HeadingPairs>
  <TitlesOfParts>
    <vt:vector size="106" baseType="lpstr">
      <vt:lpstr>-apple-system</vt:lpstr>
      <vt:lpstr>PingFang SC</vt:lpstr>
      <vt:lpstr>等线</vt:lpstr>
      <vt:lpstr>黑体</vt:lpstr>
      <vt:lpstr>华文细黑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Verdana</vt:lpstr>
      <vt:lpstr>Wingdings</vt:lpstr>
      <vt:lpstr>主题1</vt:lpstr>
      <vt:lpstr>1_主题1</vt:lpstr>
      <vt:lpstr>PowerPoint 演示文稿</vt:lpstr>
      <vt:lpstr>PowerPoint 演示文稿</vt:lpstr>
      <vt:lpstr>PowerPoint 演示文稿</vt:lpstr>
      <vt:lpstr>PowerPoint 演示文稿</vt:lpstr>
      <vt:lpstr>   链路 就是一条无源的点到点的物理线路段，中间没有任何其他的交换结点。在进行通信时，两个计算机之间的通路往往是由许多的链路串接而成。    当需要在一条线路上传送数据时，除了必须有一条物理线路外，还必须有一些必要的规程来控制这些数据的传输。把实现这些规程的硬件和软件加到链路上，就构成了数据链路。</vt:lpstr>
      <vt:lpstr>PowerPoint 演示文稿</vt:lpstr>
      <vt:lpstr>数据链路层的简单模型</vt:lpstr>
      <vt:lpstr>PowerPoint 演示文稿</vt:lpstr>
      <vt:lpstr>PowerPoint 演示文稿</vt:lpstr>
      <vt:lpstr>（二）数据链路层的功能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传输差错：通过通信信道后接收的数据与发送数据不一致的现象。 </vt:lpstr>
      <vt:lpstr>数据帧在传输过程中可能会出错，接收方需要能够判断接收到的数据是否正确，保证只能将正确的数据向上提交。</vt:lpstr>
      <vt:lpstr>PowerPoint 演示文稿</vt:lpstr>
      <vt:lpstr>PowerPoint 演示文稿</vt:lpstr>
      <vt:lpstr>PowerPoint 演示文稿</vt:lpstr>
      <vt:lpstr>PowerPoint 演示文稿</vt:lpstr>
      <vt:lpstr>校验码FCS的计算 </vt:lpstr>
      <vt:lpstr> 接收端对收到的每一帧进行检验 </vt:lpstr>
      <vt:lpstr>PowerPoint 演示文稿</vt:lpstr>
      <vt:lpstr>PowerPoint 演示文稿</vt:lpstr>
      <vt:lpstr>（三）可靠传输机制</vt:lpstr>
      <vt:lpstr>PowerPoint 演示文稿</vt:lpstr>
      <vt:lpstr>PowerPoint 演示文稿</vt:lpstr>
      <vt:lpstr>PowerPoint 演示文稿</vt:lpstr>
      <vt:lpstr>最简单的可靠传输协议：停止-等待 ARQ协议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讨论：不对帧编号是否可以？</vt:lpstr>
      <vt:lpstr>停止-等待协议的缺点</vt:lpstr>
      <vt:lpstr>PowerPoint 演示文稿</vt:lpstr>
      <vt:lpstr>流量控制-滑动窗口机制</vt:lpstr>
      <vt:lpstr>滑动窗口机制</vt:lpstr>
      <vt:lpstr>滑动窗口机制</vt:lpstr>
      <vt:lpstr>PowerPoint 演示文稿</vt:lpstr>
      <vt:lpstr>滑动窗口机制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河海大学计算机学院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万定生</dc:creator>
  <cp:lastModifiedBy>BLAIR</cp:lastModifiedBy>
  <cp:revision>1897</cp:revision>
  <dcterms:created xsi:type="dcterms:W3CDTF">2002-03-04T09:39:37Z</dcterms:created>
  <dcterms:modified xsi:type="dcterms:W3CDTF">2026-03-29T12:53:07Z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DA5354F522A843ADB1BC275B7B87DD63</vt:lpwstr>
  </property>
  <property fmtid="{D5CDD505-2E9C-101B-9397-08002B2CF9AE}" pid="3" name="KSOProductBuildVer">
    <vt:lpwstr>2052-11.1.0.11294</vt:lpwstr>
  </property>
</Properties>
</file>