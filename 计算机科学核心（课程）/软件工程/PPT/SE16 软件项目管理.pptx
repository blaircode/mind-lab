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</p:sldIdLst>
  <p:sldSz cx="12190413" cy="6858000"/>
  <p:notesSz cx="7099300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64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90675-D7BC-47C0-9FB3-AC98D480C2C9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3727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6E2FD8-536C-4AE3-8562-D1E1D9514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9527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6E2FD8-536C-4AE3-8562-D1E1D95146E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5631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958187-8685-41AD-9873-87302334F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EC74F64-43DD-41DE-916E-A97423C61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72CB-30FB-4609-B3F6-198B15B3BA30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A0DEE76-F8E7-4C5A-9E13-EEF68B119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05E4308-C5F5-4F52-84A5-A6C879FEB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0B3E5-F8DB-4205-A995-AB5F6AF2A7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6729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0622495-1F51-4002-A3D9-D5F101F18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91" y="365126"/>
            <a:ext cx="1051423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CA282A-AA0E-482A-8019-8847B43C5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091" y="1825625"/>
            <a:ext cx="1051423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79D7F5-E9AD-4C49-9314-47E5D3316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091" y="6356351"/>
            <a:ext cx="27428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8872CB-30FB-4609-B3F6-198B15B3BA30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618F44-4349-4BB8-910E-C41EE6F7E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75" y="6356351"/>
            <a:ext cx="4114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5B6013-3FFB-4B19-8934-49DA1E29CA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479" y="6356351"/>
            <a:ext cx="27428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40B3E5-F8DB-4205-A995-AB5F6AF2A7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29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30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77" indent="-228577" algn="l" defTabSz="9143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3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86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40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94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9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3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7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3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7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1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jpe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eg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31BDAC2-DBEB-4FE4-87A6-888EF08E9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FC63A53-4F24-4ADB-A715-3469A04EBE5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132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176FDC9-4903-452B-A8ED-AB77C9FA1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6680598-43F9-40B7-8755-EF419FD30D3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491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E1F69E8-09EC-4E7B-B7F8-A2108D637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1.1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何为项目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(Project)?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5523B31-1306-4CDF-B6BE-944E04C9E8A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842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49275DE-7E49-40C1-8F24-46A9E5862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1.2 </a:t>
            </a:r>
            <a:r>
              <a:rPr lang="zh-CN" altLang="en-US"/>
              <a:t>项目特点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19D0BAE-78C6-47D6-9A63-2E5D484A779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664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B1702B0-BF69-48EB-8AD5-FA75293B1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影响项目成功的因素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730C60F-484C-402A-8F82-F752D3D113A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730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CAC33CD-806C-4526-B2BA-7BD3E5F1A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1.3 </a:t>
            </a:r>
            <a:r>
              <a:rPr lang="zh-CN" altLang="en-US"/>
              <a:t>软件项目及其特点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260EF1A-AD41-4695-A65F-0A270333167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660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7626DB0-89E9-41B8-9A09-D2A86FE3F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1C269CC-7B54-45C7-A740-F32E8E7C7B0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533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4DAC3F1-0E66-4614-8A46-F15960F7D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2.1 </a:t>
            </a:r>
            <a:r>
              <a:rPr lang="zh-CN" altLang="en-US"/>
              <a:t>软件项目的任务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1C8883E-EB68-47DD-BA42-9595C79BEC5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044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5130266-F4D4-4E46-B048-798B3F9A5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软件项目实施方法 </a:t>
            </a:r>
            <a:r>
              <a:rPr lang="en-US" altLang="zh-CN"/>
              <a:t>– </a:t>
            </a:r>
            <a:r>
              <a:rPr lang="zh-CN" altLang="en-US"/>
              <a:t>工程化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F68F78A-5F79-48F0-88CD-5DEA8733EED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896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170665F-E1E1-4DA1-B909-0256AA77F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2.2 </a:t>
            </a:r>
            <a:r>
              <a:rPr lang="zh-CN" altLang="en-US"/>
              <a:t>软件项目涉及的对象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E7E411F-9F60-4027-90A7-76F02596DBA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331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0528A2D-85F3-4BB6-BFF5-584BBC8A8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例：软件项目的人员及团队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736A6EA-4DAE-4E73-81B5-85BCC42007F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920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F196778-63FA-4C6C-9F25-EF5AEFC27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2.3 </a:t>
            </a:r>
            <a:r>
              <a:rPr lang="zh-CN" altLang="en-US"/>
              <a:t>何为软件项目管理</a:t>
            </a:r>
            <a:r>
              <a:rPr lang="en-US" altLang="zh-CN"/>
              <a:t>?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A322D1D-FC23-4338-8DCD-7621BCCF8A3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225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1F62A2C-1470-40F5-842E-800A05F41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软件项目管理的对象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ECD435A-1960-44A5-913B-0E776536232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99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439CBDB-8070-479E-9DE8-1258A9C71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2.4 </a:t>
            </a:r>
            <a:r>
              <a:rPr lang="zh-CN" altLang="en-US"/>
              <a:t>软件项目的管理要素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56C1F34-81D2-4D35-9B25-C6E31D3E3BB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690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B4DA691-E694-4331-8723-3A58C25D0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2.5 </a:t>
            </a:r>
            <a:r>
              <a:rPr lang="zh-CN" altLang="en-US"/>
              <a:t>过程管理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5CCDEB6-783E-4A5F-92A7-60F8C84F904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94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E4F5643-3926-46DD-ADB8-2024DF1E0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 </a:t>
            </a:r>
            <a:r>
              <a:rPr lang="zh-CN" altLang="en-US"/>
              <a:t>过程定义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9026ACD-D53C-4111-B688-63793BF78F8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449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2EAAA70-4FF6-43E1-98AD-D3A7C1ED0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例：根据软件项目的特点来定义过程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594CC54-207B-400D-8C73-609E887302D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4120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C2939C2-3633-4DE4-A48B-2B2A88294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项目案例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62EC3EB-82E9-4E0E-8F79-DD7392B5823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6214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0072FFF-88DE-45C1-A2CA-B99E61BF0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项目案例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DFC1F06-9FC2-47CF-B7F2-101D5BAD673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669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226121C-6789-45B9-9215-77BE211B9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项目案例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2E6D0C7-2C0C-42BD-AF46-15CB6CA7D0D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9897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BA7F5F6-9911-4ADD-8243-5D652F22E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项目案例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8C53B39-FF5B-42AF-8E73-71733793558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2658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3C2723D-5178-4B7A-B08A-179D65925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软件开发项目需要定量数据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E94156C-35CE-4518-A8A8-D58AC8E3785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215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1A1F668-E0A9-4D4E-A74B-F2AEA32CD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 </a:t>
            </a:r>
            <a:r>
              <a:rPr lang="zh-CN" altLang="en-US"/>
              <a:t>软件度量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08C4A66-9733-4777-8C04-935F1447B57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3593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F8CD99C-7441-475B-901B-AF1BECB49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产品度量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982884D-3760-4693-AC5E-BA0F1A5890B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8806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072C197-BF91-48DD-841A-931342DC1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需求模型度量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12821C9-1312-4C81-9CFB-27C596977BD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7338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10CD9A2-532E-4990-AE81-567321CC6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功能点度量基本步骤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039480C-9769-4ACC-9B72-48394C865F6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3116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F2EC331-27B1-4F54-AB7F-DFD423580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计算各要素的基本计数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7969F65-70BE-4826-BE4E-CC74F65D207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271282"/>
      </p:ext>
    </p:extLst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B681898-EA73-41B8-AB95-B566F5387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应用复杂度加权因子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D49868F-992D-4A88-82E7-F377FE10803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305704"/>
      </p:ext>
    </p:extLst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E363E46-4BCC-417C-8AFE-E4DB23166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应用技术复杂性因子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BBB31B7-5806-44A5-BF39-8050FE47AF7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290013"/>
      </p:ext>
    </p:extLst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58CF2DA-4794-45B9-953E-D4A0AB15A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计算调整后的功能点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5EC6856-27D3-451E-9F40-748C726D947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419578"/>
      </p:ext>
    </p:extLst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1ACD2ED-A44D-4A6F-B0C4-C047B6664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SafeHome</a:t>
            </a:r>
            <a:r>
              <a: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用户交互功能数据流图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1DEFFED-DC94-44F4-B9AF-A3105A77E43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379148"/>
      </p:ext>
    </p:extLst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42E5AFF-F431-4D86-BE58-FC02F2C97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功能点度量实例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343A256-BD37-47F6-8245-F6DC99B2CE0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808343"/>
      </p:ext>
    </p:extLst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3DD2BC7-D27C-4708-B906-1C550CC05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功能点度量实例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203E075-13D4-494A-8813-6CD9E89843E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788482"/>
      </p:ext>
    </p:extLst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DDCFF83-E24E-417E-8D8F-7B51CAE8D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小练习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451B733-0508-48A9-A1BC-AC87D904BA9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803568"/>
      </p:ext>
    </p:extLst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C5C98C9-B911-421B-AD86-D6D8496DA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设计模型度量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C024706-31A2-4264-B62E-7A14998B19D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378063"/>
      </p:ext>
    </p:extLst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2B80077-E95E-48C6-9DEF-DA4B3ED2F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Card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软件设计复杂性度量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6370EE5-5F91-496E-8F57-37D8A823ADD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0525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BC1E0F0-A05E-4148-80E8-CE7268BAC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Fenton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简单形态度量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DF22739-8A3E-437F-9846-CBA3DF5E6E5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8764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8436952-03C0-45F0-AF3B-A56AB753F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CK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度量集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69B91D8-F866-406A-8EF9-7C5E7591E2F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281308"/>
      </p:ext>
    </p:extLst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B297F15-9C92-4962-BDAA-F2DB5D7BA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MOOD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度量集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998A274-42B1-47BB-8D4D-7EFD87FEECD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2077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A54BC31-90FD-4870-B42C-816AEEE9C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MOOD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度量集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3F2CE5C-394F-49E9-80F9-390B40C1ADB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8218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AC831F7-AC66-4986-A437-A90405CEE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源代码度量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---Halstead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方法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5702744-1E05-4000-9B91-C4303D23EDF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8754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A078AFF-FD1D-4B57-A8B9-56775F7D5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6CD79A9-C70F-40F0-AE8E-79612598245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5354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AD4FB03-4740-42B7-88F4-2B4D4568F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软件质量的度量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BF901A8-BE4C-4112-8A47-CFA17E35CF6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178006"/>
      </p:ext>
    </p:extLst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D4FBF83-C5E6-4089-BE82-04CC7175B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软件质量的度量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BB7D38E-2FCD-4BAF-8C10-F5202001163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579197"/>
      </p:ext>
    </p:extLst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D1D2F18-433E-4AC1-B7E3-7629FEDDA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软件估算概述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14D8047-1267-41DC-BA8D-AE84E6EAAE5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918471"/>
      </p:ext>
    </p:extLst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6FA38F9-F5D1-4AD5-B3F1-F0B668C26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软件估算方法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6C8C138-07CB-4517-B0B1-F6AC46DBB48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184008"/>
      </p:ext>
    </p:extLst>
  </p:cSld>
  <p:clrMapOvr>
    <a:masterClrMapping/>
  </p:clrMapOvr>
  <p:transition spd="slow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A3359D1-1B44-4A22-ADB0-B8E59836F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规模估算统计方法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A05CCA6-474D-4CC9-9F1D-94D10A01C1E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713668"/>
      </p:ext>
    </p:extLst>
  </p:cSld>
  <p:clrMapOvr>
    <a:masterClrMapping/>
  </p:clrMapOvr>
  <p:transition spd="slow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D7F3A24-8252-419B-AF57-E0A2F4043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/>
              <a:t>基于</a:t>
            </a:r>
            <a:r>
              <a:rPr lang="en-US" altLang="zh-CN" sz="3200"/>
              <a:t>LOC</a:t>
            </a:r>
            <a:r>
              <a:rPr lang="zh-CN" altLang="en-US" sz="3200"/>
              <a:t>估算的实例</a:t>
            </a:r>
            <a:r>
              <a:rPr lang="en-US" altLang="zh-CN" sz="3200"/>
              <a:t>(CAD</a:t>
            </a:r>
            <a:r>
              <a:rPr lang="zh-CN" altLang="en-US" sz="3200"/>
              <a:t>系统</a:t>
            </a:r>
            <a:r>
              <a:rPr lang="en-US" altLang="zh-CN" sz="3200"/>
              <a:t>)</a:t>
            </a:r>
            <a:endParaRPr lang="zh-CN" altLang="en-US" sz="32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B1B55CA-C497-429E-B1F8-E0BCC951003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800556"/>
      </p:ext>
    </p:extLst>
  </p:cSld>
  <p:clrMapOvr>
    <a:masterClrMapping/>
  </p:clrMapOvr>
  <p:transition spd="slow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3AB523A-E0BB-446C-B69B-7885F8F7F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/>
              <a:t>基于</a:t>
            </a:r>
            <a:r>
              <a:rPr lang="en-US" altLang="zh-CN" sz="3200"/>
              <a:t>FP</a:t>
            </a:r>
            <a:r>
              <a:rPr lang="zh-CN" altLang="en-US" sz="3200"/>
              <a:t>估算的实例</a:t>
            </a:r>
            <a:r>
              <a:rPr lang="en-US" altLang="zh-CN" sz="3200"/>
              <a:t>(CAD</a:t>
            </a:r>
            <a:r>
              <a:rPr lang="zh-CN" altLang="en-US" sz="3200"/>
              <a:t>系统</a:t>
            </a:r>
            <a:r>
              <a:rPr lang="en-US" altLang="zh-CN" sz="3200"/>
              <a:t>)</a:t>
            </a:r>
            <a:endParaRPr lang="zh-CN" altLang="en-US" sz="32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3DED229-48B2-4AD9-A961-43493448624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830388"/>
      </p:ext>
    </p:extLst>
  </p:cSld>
  <p:clrMapOvr>
    <a:masterClrMapping/>
  </p:clrMapOvr>
  <p:transition spd="slow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7D5B7F4-7E39-4EB4-8627-C971F3B20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基于过程的估算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6D2DA22-EAA4-4B73-97A3-F829EAF7836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03181"/>
      </p:ext>
    </p:extLst>
  </p:cSld>
  <p:clrMapOvr>
    <a:masterClrMapping/>
  </p:clrMapOvr>
  <p:transition spd="slow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D7F3E92-B6B0-49A9-8452-C35F71E57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基于用例的估算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690B2E6-BFA3-40CD-8435-D4D607E2083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103286"/>
      </p:ext>
    </p:extLst>
  </p:cSld>
  <p:clrMapOvr>
    <a:masterClrMapping/>
  </p:clrMapOvr>
  <p:transition spd="slow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1061486-7232-44E0-BB73-06C485E5B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基于用例的估算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89BE918-0981-4D97-BF45-F21F808DA0C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988898"/>
      </p:ext>
    </p:extLst>
  </p:cSld>
  <p:clrMapOvr>
    <a:masterClrMapping/>
  </p:clrMapOvr>
  <p:transition spd="slow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B598ADD-A481-49F3-A0D3-7057396BC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基于用例点估算的实例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F0EF86F-228D-4636-99C2-F4AB675182C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762516"/>
      </p:ext>
    </p:extLst>
  </p:cSld>
  <p:clrMapOvr>
    <a:masterClrMapping/>
  </p:clrMapOvr>
  <p:transition spd="slow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C4D3AC9-9338-4169-A39C-7D1FBD291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调和不同的估算方法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EB9E4E6-9B02-4495-818C-975D7210236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743384"/>
      </p:ext>
    </p:extLst>
  </p:cSld>
  <p:clrMapOvr>
    <a:masterClrMapping/>
  </p:clrMapOvr>
  <p:transition spd="slow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279B907-EF0B-49B7-957E-0E5B401C9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静态单变量模型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5FFFD13-918F-48EF-96C6-679AB9DEFD5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52331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E1A899A-DC6A-4C4F-949C-849122A08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常用模型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3E647F5-7C57-44A9-9C68-C4514460E5E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08132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8438E12-1A05-4944-B847-AA4542BE4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/>
              <a:t>软件方程</a:t>
            </a:r>
            <a:endParaRPr lang="zh-CN" altLang="en-US" sz="40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D3F6676-72AE-45C0-9056-B26DBFC869A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07842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FFB6955-E8B4-4BEC-B86E-188CD2DAF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1F1B980-6357-42B9-A483-1CE788A08BE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44532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8D82FCB-C4EF-4166-A605-37844A55C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latin typeface="Times New Roman" panose="02020603050405020304" pitchFamily="18" charset="0"/>
              </a:rPr>
              <a:t>COCOMO-II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A80756E-73CE-4A8E-96A0-3B9CD507469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93662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41DC8FC-A4B1-41F1-8839-135B41B50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BD83A49-A24F-4C1D-A36D-BD08B483A1D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82547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20BF895-3A6F-4524-BC5C-E8E1E8CEE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83B4CF9-68D4-4F94-989C-7F1A05280F1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47561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15F55E3-DFB9-41DB-8B38-CFD1304CD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 </a:t>
            </a:r>
            <a:r>
              <a:rPr lang="zh-CN" altLang="en-US"/>
              <a:t>项目计划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6361A51-5489-43B2-8AB4-56C74C4BC0E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08256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914B14D-C07A-419D-A40C-076A723F9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软件开发也需要计划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F1C9B71-63F7-459C-8152-EC021F043DE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28562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DA7B868-043A-4A00-995F-2E4B34181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什么是软件项目计划?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5BDE7F1-2E06-41F4-839E-52D5D673785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997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DDF15B6-CCA1-4E36-A502-162121822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工作量分配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00664C4-C503-4B54-9368-83E1C99EAA1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17181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C8992B9-83B0-4DDA-A886-99F86BED0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描述项目进度计划</a:t>
            </a:r>
            <a:r>
              <a:rPr lang="en-US" altLang="zh-CN"/>
              <a:t>-</a:t>
            </a:r>
            <a:r>
              <a:rPr lang="zh-CN" altLang="en-US"/>
              <a:t>甘特图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D417E2D-83F1-422A-8993-C58F0FD4B8D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21549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C9ECCF4-C646-4D47-8DDB-F7C9EBF9A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2.6 </a:t>
            </a:r>
            <a:r>
              <a:rPr lang="zh-CN" altLang="en-US"/>
              <a:t>产品管理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9DC2C9E-1410-44B5-85EA-8B62D845077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70705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8C74F14-7033-4DF8-A098-3D52368AF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 </a:t>
            </a:r>
            <a:r>
              <a:rPr lang="zh-CN" altLang="en-US"/>
              <a:t>软件质量保证 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14900D5-C717-444E-ABCC-2D1F33B9B5A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74355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B1BA1E3-4C43-43F1-AC12-A2CC12377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软件质量保证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F0643D4-7C52-44CF-BD5B-6A2C2BD7159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88538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ABC785A-D445-42F5-999D-84F86E22E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SQA</a:t>
            </a:r>
            <a:r>
              <a:rPr lang="zh-CN" altLang="en-US"/>
              <a:t>措施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D048043-30A9-49C1-BBDB-3F01DC84F6A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779721"/>
      </p:ext>
    </p:extLst>
  </p:cSld>
  <p:clrMapOvr>
    <a:masterClrMapping/>
  </p:clrMapOvr>
  <p:transition spd="slow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68D1799-B17E-4D3E-A27D-D96599A3F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评审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56868CE-D68B-45A0-8C9E-6B3C652E1D9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08867"/>
      </p:ext>
    </p:extLst>
  </p:cSld>
  <p:clrMapOvr>
    <a:masterClrMapping/>
  </p:clrMapOvr>
  <p:transition spd="slow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BCBC3EF-4B90-4F5D-AC65-BE323268C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技术评审（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TR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F18799C-C0C1-4F4D-8F2E-6B35633D507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488726"/>
      </p:ext>
    </p:extLst>
  </p:cSld>
  <p:clrMapOvr>
    <a:masterClrMapping/>
  </p:clrMapOvr>
  <p:transition spd="slow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C0AFD36-65D7-4A4C-8093-E38E734E7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341A973-AD17-46B7-A7BD-12240359130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88071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35BBEA5-C4F5-42EA-96E8-6D053A3F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 </a:t>
            </a:r>
            <a:r>
              <a:rPr lang="zh-CN" altLang="en-US"/>
              <a:t>软件配置管理 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F2DE1AD-14D0-43E8-B1C7-176439DF5BB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64708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A759841-1CDB-400C-9508-6C5479CC1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SCM</a:t>
            </a:r>
            <a:r>
              <a:rPr lang="zh-CN" altLang="en-US"/>
              <a:t>概念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C025EC6-A55E-4561-9A80-3504958D6AF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88720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6FE3A42-EE37-4AA9-AF7F-AA86B3162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基线</a:t>
            </a:r>
            <a:endParaRPr lang="en-US" altLang="zh-CN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EBA5E3C-D1C5-484F-A426-D27FB8C371C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39081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592CF99-8879-49AB-89C7-86E4F273A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基线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E06A91E-2BC4-413D-BB44-B62A74138A4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62733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E68F938-96D3-4374-8D34-70E666A81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基线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782200F-7650-4FD0-BFA6-C4D3FD4E5BD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78014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D77E200-ED33-4298-AC37-F9046692F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配置管理库（</a:t>
            </a:r>
            <a:r>
              <a:rPr lang="en-US" altLang="zh-CN"/>
              <a:t>SCM Repository</a:t>
            </a:r>
            <a:r>
              <a:rPr lang="zh-CN" altLang="en-US"/>
              <a:t>）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D5001CD-276A-4009-851F-DB06F73D1B9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42728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66630A6-0637-4958-B86A-812AA0EFB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配置管理库内容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B750768-53EC-4E61-8C7F-2E81347F992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19424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E93D820-6870-4AE2-B935-EA77DB06F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配置管理过程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114BD6C-E245-47BC-A508-98D143CCEC0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71894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5E80A1D-AAD1-4E87-9E85-FE26F7899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变更控制</a:t>
            </a:r>
            <a:endParaRPr lang="en-US" altLang="zh-CN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53C386C-18DF-4C48-B12D-284EDB73BCB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96576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3FBA74D-B103-4FD6-9377-1454EC3AD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决定是否变更的因素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5040DE4-7DA6-411A-9AFC-68F523FC7E9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597720"/>
      </p:ext>
    </p:extLst>
  </p:cSld>
  <p:clrMapOvr>
    <a:masterClrMapping/>
  </p:clrMapOvr>
  <p:transition spd="slow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681A147-F120-4373-A211-DD8EE299C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团队开发的版本问题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1EC2513-7ADE-49D2-B5B2-68A6B7C4E36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60807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4C172B0-CE44-4A25-B4AA-D5DB2BF37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团队开发的版本问题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61B6EB6-44DF-49FA-BB75-524F58766DB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52984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8F42DBB-03A1-43D9-9B34-B4A4E00C4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团队开发的版本问题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8DCD5B4-6309-42C1-A2DA-219CACE3433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13871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E38EB69-062E-4445-A945-691FE9F62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团队开发的版本问题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12C6AEE-3024-4160-BAA3-514F8A680F6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2582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D0160C3-C588-446A-835D-4CA76C47A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团队开发的版本问题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C835A8E-D5BB-419B-8501-642BCD6B5AB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61996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AB7B9F1-6532-4C90-A28E-CA94B0404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团队开发的版本问题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F78D695-FB66-46FF-9743-E6CE8D0A453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27255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1FC1BCA-9EF2-43FA-84C3-ED721BE71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版本控制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9BEB3D6-A63A-4787-AAA2-BC330DE2FC9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27204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EEC9FF1-46F0-4D84-BC78-1F4BFE6A7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版本控制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888807E-5D88-4CD3-93DE-7833DF2CCE1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39550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16D8F41-2977-401D-BE53-A5FA1B9F2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分支与合并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8078513-6666-4EC0-A6B2-678711DD08F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25679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C16E525-4B54-4563-88DC-34399BB20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小结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EDD5556-19BD-4ECB-BA2B-C69CF2F1E45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53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338</Words>
  <Application>Microsoft Office PowerPoint</Application>
  <PresentationFormat>自定义</PresentationFormat>
  <Paragraphs>89</Paragraphs>
  <Slides>93</Slides>
  <Notes>1</Notes>
  <HiddenSlides>5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93</vt:i4>
      </vt:variant>
    </vt:vector>
  </HeadingPairs>
  <TitlesOfParts>
    <vt:vector size="99" baseType="lpstr">
      <vt:lpstr>等线</vt:lpstr>
      <vt:lpstr>等线 Light</vt:lpstr>
      <vt:lpstr>微软雅黑</vt:lpstr>
      <vt:lpstr>Arial</vt:lpstr>
      <vt:lpstr>Times New Roman</vt:lpstr>
      <vt:lpstr>Office 主题​​</vt:lpstr>
      <vt:lpstr>PowerPoint 演示文稿</vt:lpstr>
      <vt:lpstr>内容</vt:lpstr>
      <vt:lpstr>1.1 何为项目 (Project)?</vt:lpstr>
      <vt:lpstr>1.2 项目特点</vt:lpstr>
      <vt:lpstr>影响项目成功的因素</vt:lpstr>
      <vt:lpstr>1.3 软件项目及其特点</vt:lpstr>
      <vt:lpstr>内容</vt:lpstr>
      <vt:lpstr>2.1 软件项目的任务</vt:lpstr>
      <vt:lpstr>软件项目实施方法 – 工程化</vt:lpstr>
      <vt:lpstr>2.2 软件项目涉及的对象</vt:lpstr>
      <vt:lpstr>例：软件项目的人员及团队</vt:lpstr>
      <vt:lpstr>2.3 何为软件项目管理?</vt:lpstr>
      <vt:lpstr>软件项目管理的对象</vt:lpstr>
      <vt:lpstr>2.4 软件项目的管理要素</vt:lpstr>
      <vt:lpstr>2.5 过程管理</vt:lpstr>
      <vt:lpstr>1. 过程定义</vt:lpstr>
      <vt:lpstr>例：根据软件项目的特点来定义过程</vt:lpstr>
      <vt:lpstr>项目案例</vt:lpstr>
      <vt:lpstr>项目案例</vt:lpstr>
      <vt:lpstr>项目案例</vt:lpstr>
      <vt:lpstr>项目案例</vt:lpstr>
      <vt:lpstr>软件开发项目需要定量数据</vt:lpstr>
      <vt:lpstr>2. 软件度量</vt:lpstr>
      <vt:lpstr>产品度量</vt:lpstr>
      <vt:lpstr>需求模型度量</vt:lpstr>
      <vt:lpstr>功能点度量基本步骤</vt:lpstr>
      <vt:lpstr>计算各要素的基本计数</vt:lpstr>
      <vt:lpstr>应用复杂度加权因子</vt:lpstr>
      <vt:lpstr>应用技术复杂性因子</vt:lpstr>
      <vt:lpstr>计算调整后的功能点</vt:lpstr>
      <vt:lpstr>SafeHome用户交互功能数据流图</vt:lpstr>
      <vt:lpstr>功能点度量实例</vt:lpstr>
      <vt:lpstr>功能点度量实例</vt:lpstr>
      <vt:lpstr>小练习</vt:lpstr>
      <vt:lpstr>设计模型度量</vt:lpstr>
      <vt:lpstr>Card软件设计复杂性度量</vt:lpstr>
      <vt:lpstr>Fenton简单形态度量</vt:lpstr>
      <vt:lpstr>CK度量集</vt:lpstr>
      <vt:lpstr>MOOD度量集</vt:lpstr>
      <vt:lpstr>MOOD度量集</vt:lpstr>
      <vt:lpstr>源代码度量---Halstead方法</vt:lpstr>
      <vt:lpstr>例</vt:lpstr>
      <vt:lpstr>软件质量的度量</vt:lpstr>
      <vt:lpstr>软件质量的度量</vt:lpstr>
      <vt:lpstr>软件估算概述</vt:lpstr>
      <vt:lpstr>软件估算方法</vt:lpstr>
      <vt:lpstr>规模估算统计方法</vt:lpstr>
      <vt:lpstr>基于LOC估算的实例(CAD系统)</vt:lpstr>
      <vt:lpstr>基于FP估算的实例(CAD系统)</vt:lpstr>
      <vt:lpstr>基于过程的估算</vt:lpstr>
      <vt:lpstr>基于用例的估算</vt:lpstr>
      <vt:lpstr>基于用例的估算</vt:lpstr>
      <vt:lpstr>基于用例点估算的实例</vt:lpstr>
      <vt:lpstr>调和不同的估算方法</vt:lpstr>
      <vt:lpstr>静态单变量模型</vt:lpstr>
      <vt:lpstr>常用模型</vt:lpstr>
      <vt:lpstr>软件方程</vt:lpstr>
      <vt:lpstr>PowerPoint 演示文稿</vt:lpstr>
      <vt:lpstr>COCOMO-II模型</vt:lpstr>
      <vt:lpstr>PowerPoint 演示文稿</vt:lpstr>
      <vt:lpstr>PowerPoint 演示文稿</vt:lpstr>
      <vt:lpstr>3. 项目计划</vt:lpstr>
      <vt:lpstr>软件开发也需要计划</vt:lpstr>
      <vt:lpstr>什么是软件项目计划?</vt:lpstr>
      <vt:lpstr>工作量分配</vt:lpstr>
      <vt:lpstr>描述项目进度计划-甘特图</vt:lpstr>
      <vt:lpstr>2.6 产品管理</vt:lpstr>
      <vt:lpstr>1. 软件质量保证 </vt:lpstr>
      <vt:lpstr>软件质量保证</vt:lpstr>
      <vt:lpstr>SQA措施</vt:lpstr>
      <vt:lpstr>评审</vt:lpstr>
      <vt:lpstr>技术评审（TR）</vt:lpstr>
      <vt:lpstr>PowerPoint 演示文稿</vt:lpstr>
      <vt:lpstr>2. 软件配置管理 </vt:lpstr>
      <vt:lpstr>SCM概念</vt:lpstr>
      <vt:lpstr>基线</vt:lpstr>
      <vt:lpstr>基线</vt:lpstr>
      <vt:lpstr>基线</vt:lpstr>
      <vt:lpstr>配置管理库（SCM Repository）</vt:lpstr>
      <vt:lpstr>配置管理库内容</vt:lpstr>
      <vt:lpstr>配置管理过程</vt:lpstr>
      <vt:lpstr>变更控制</vt:lpstr>
      <vt:lpstr>决定是否变更的因素</vt:lpstr>
      <vt:lpstr>团队开发的版本问题</vt:lpstr>
      <vt:lpstr>团队开发的版本问题</vt:lpstr>
      <vt:lpstr>团队开发的版本问题</vt:lpstr>
      <vt:lpstr>团队开发的版本问题</vt:lpstr>
      <vt:lpstr>团队开发的版本问题</vt:lpstr>
      <vt:lpstr>团队开发的版本问题</vt:lpstr>
      <vt:lpstr>版本控制</vt:lpstr>
      <vt:lpstr>版本控制</vt:lpstr>
      <vt:lpstr>分支与合并</vt:lpstr>
      <vt:lpstr>小结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18465</dc:creator>
  <cp:lastModifiedBy>BLAIR</cp:lastModifiedBy>
  <cp:revision>1</cp:revision>
  <dcterms:created xsi:type="dcterms:W3CDTF">2023-11-06T03:24:46Z</dcterms:created>
  <dcterms:modified xsi:type="dcterms:W3CDTF">2025-12-22T07:37:17Z</dcterms:modified>
</cp:coreProperties>
</file>