
<file path=[Content_Types].xml><?xml version="1.0" encoding="utf-8"?>
<Types xmlns="http://schemas.openxmlformats.org/package/2006/content-types">
  <Default Extension="bin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media/image2.bin" ContentType="image/png"/>
  <Override PartName="/ppt/media/image3.bin" ContentType="image/png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media/image8.bin" ContentType="image/png"/>
  <Override PartName="/ppt/media/image9.bin" ContentType="image/png"/>
  <Override PartName="/ppt/media/image10.bin" ContentType="image/png"/>
  <Override PartName="/ppt/media/image11.bin" ContentType="image/png"/>
  <Override PartName="/ppt/media/image12.bin" ContentType="image/png"/>
  <Override PartName="/ppt/media/image13.bin" ContentType="image/png"/>
  <Override PartName="/ppt/notesSlides/notesSlide1.xml" ContentType="application/vnd.openxmlformats-officedocument.presentationml.notesSlide+xml"/>
  <Override PartName="/ppt/media/image14.bin" ContentType="image/png"/>
  <Override PartName="/ppt/media/image15.bin" ContentType="image/png"/>
  <Override PartName="/ppt/notesSlides/notesSlide2.xml" ContentType="application/vnd.openxmlformats-officedocument.presentationml.notesSlide+xml"/>
  <Override PartName="/ppt/media/image16.bin" ContentType="image/png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media/image17.bin" ContentType="image/png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media/image18.bin" ContentType="image/png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5" r:id="rId6"/>
    <p:sldId id="267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  <a:srgbClr val="F20000"/>
    <a:srgbClr val="3F3F3F"/>
    <a:srgbClr val="F5E2C3"/>
    <a:srgbClr val="F0D094"/>
    <a:srgbClr val="F6E8D5"/>
    <a:srgbClr val="FFECC6"/>
    <a:srgbClr val="D52C23"/>
    <a:srgbClr val="F8E0B6"/>
    <a:srgbClr val="F1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6314" autoAdjust="0"/>
  </p:normalViewPr>
  <p:slideViewPr>
    <p:cSldViewPr snapToGrid="0" showGuides="1">
      <p:cViewPr varScale="1">
        <p:scale>
          <a:sx n="64" d="100"/>
          <a:sy n="64" d="100"/>
        </p:scale>
        <p:origin x="76" y="32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7F2B2-C81D-4948-9EDF-568F71B89931}" type="datetimeFigureOut">
              <a:rPr lang="zh-CN" altLang="en-US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8009E-218E-4EEF-9489-D323FC6996E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7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77E52-FF20-4F21-94C0-F945EDCFD0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224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77E52-FF20-4F21-94C0-F945EDCFD0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117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77E52-FF20-4F21-94C0-F945EDCFD0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203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177E52-FF20-4F21-94C0-F945EDCFD0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198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08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14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21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96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3857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0107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2400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661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9274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bin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8151B5-9BF1-4652-8106-DECF143ACEB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bin"/><Relationship Id="rId18" Type="http://schemas.openxmlformats.org/officeDocument/2006/relationships/image" Target="../media/image9.bin"/><Relationship Id="rId3" Type="http://schemas.openxmlformats.org/officeDocument/2006/relationships/tags" Target="../tags/tag3.xml"/><Relationship Id="rId21" Type="http://schemas.openxmlformats.org/officeDocument/2006/relationships/image" Target="../media/image12.bin"/><Relationship Id="rId7" Type="http://schemas.openxmlformats.org/officeDocument/2006/relationships/tags" Target="../tags/tag7.xml"/><Relationship Id="rId12" Type="http://schemas.openxmlformats.org/officeDocument/2006/relationships/image" Target="../media/image3.bin"/><Relationship Id="rId17" Type="http://schemas.openxmlformats.org/officeDocument/2006/relationships/image" Target="../media/image8.bin"/><Relationship Id="rId2" Type="http://schemas.openxmlformats.org/officeDocument/2006/relationships/tags" Target="../tags/tag2.xml"/><Relationship Id="rId16" Type="http://schemas.openxmlformats.org/officeDocument/2006/relationships/image" Target="../media/image7.bin"/><Relationship Id="rId20" Type="http://schemas.openxmlformats.org/officeDocument/2006/relationships/image" Target="../media/image11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bin"/><Relationship Id="rId5" Type="http://schemas.openxmlformats.org/officeDocument/2006/relationships/tags" Target="../tags/tag5.xml"/><Relationship Id="rId15" Type="http://schemas.openxmlformats.org/officeDocument/2006/relationships/image" Target="../media/image6.bin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10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bin"/><Relationship Id="rId22" Type="http://schemas.openxmlformats.org/officeDocument/2006/relationships/image" Target="../media/image1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bin"/><Relationship Id="rId3" Type="http://schemas.openxmlformats.org/officeDocument/2006/relationships/image" Target="../media/image3.bin"/><Relationship Id="rId7" Type="http://schemas.openxmlformats.org/officeDocument/2006/relationships/image" Target="../media/image7.bin"/><Relationship Id="rId2" Type="http://schemas.openxmlformats.org/officeDocument/2006/relationships/image" Target="../media/image2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bin"/><Relationship Id="rId11" Type="http://schemas.openxmlformats.org/officeDocument/2006/relationships/image" Target="../media/image12.bin"/><Relationship Id="rId5" Type="http://schemas.openxmlformats.org/officeDocument/2006/relationships/image" Target="../media/image5.bin"/><Relationship Id="rId10" Type="http://schemas.openxmlformats.org/officeDocument/2006/relationships/image" Target="../media/image11.bin"/><Relationship Id="rId4" Type="http://schemas.openxmlformats.org/officeDocument/2006/relationships/image" Target="../media/image4.bin"/><Relationship Id="rId9" Type="http://schemas.openxmlformats.org/officeDocument/2006/relationships/image" Target="../media/image10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7.bin"/><Relationship Id="rId4" Type="http://schemas.openxmlformats.org/officeDocument/2006/relationships/image" Target="../media/image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8.bin"/><Relationship Id="rId4" Type="http://schemas.openxmlformats.org/officeDocument/2006/relationships/image" Target="../media/image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4.bin"/><Relationship Id="rId18" Type="http://schemas.openxmlformats.org/officeDocument/2006/relationships/image" Target="../media/image9.bin"/><Relationship Id="rId3" Type="http://schemas.openxmlformats.org/officeDocument/2006/relationships/tags" Target="../tags/tag14.xml"/><Relationship Id="rId21" Type="http://schemas.openxmlformats.org/officeDocument/2006/relationships/image" Target="../media/image12.bin"/><Relationship Id="rId7" Type="http://schemas.openxmlformats.org/officeDocument/2006/relationships/tags" Target="../tags/tag18.xml"/><Relationship Id="rId12" Type="http://schemas.openxmlformats.org/officeDocument/2006/relationships/image" Target="../media/image3.bin"/><Relationship Id="rId17" Type="http://schemas.openxmlformats.org/officeDocument/2006/relationships/image" Target="../media/image8.bin"/><Relationship Id="rId2" Type="http://schemas.openxmlformats.org/officeDocument/2006/relationships/tags" Target="../tags/tag13.xml"/><Relationship Id="rId16" Type="http://schemas.openxmlformats.org/officeDocument/2006/relationships/image" Target="../media/image7.bin"/><Relationship Id="rId20" Type="http://schemas.openxmlformats.org/officeDocument/2006/relationships/image" Target="../media/image11.bin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2.bin"/><Relationship Id="rId5" Type="http://schemas.openxmlformats.org/officeDocument/2006/relationships/tags" Target="../tags/tag16.xml"/><Relationship Id="rId15" Type="http://schemas.openxmlformats.org/officeDocument/2006/relationships/image" Target="../media/image6.bin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10.bin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5.bin"/><Relationship Id="rId22" Type="http://schemas.openxmlformats.org/officeDocument/2006/relationships/image" Target="../media/image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91E55DF-E40D-4088-A28C-042F6017BA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5094670"/>
            <a:ext cx="12223163" cy="1881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8BCDC0-A99A-4505-9723-A34CA5A7FE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1"/>
          <a:stretch>
            <a:fillRect/>
          </a:stretch>
        </p:blipFill>
        <p:spPr>
          <a:xfrm>
            <a:off x="-22559" y="5329189"/>
            <a:ext cx="12237117" cy="15204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C5D498-2658-4824-9B70-39FAADB512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3321261"/>
            <a:ext cx="3457012" cy="28808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B9094CD-091E-4214-80F1-B5DCBFC1A9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563" y="3405068"/>
            <a:ext cx="728213" cy="18445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88FFB35-2454-4D60-9D44-39B3AE85D3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53" y="3841581"/>
            <a:ext cx="5053960" cy="152044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5422270A-4AAB-45EF-827E-24C978C5F62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7" y="4603141"/>
            <a:ext cx="5121502" cy="7588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3124AD8-7267-4FC3-9738-2BD34B3722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1"/>
          <a:stretch>
            <a:fillRect/>
          </a:stretch>
        </p:blipFill>
        <p:spPr>
          <a:xfrm>
            <a:off x="3998438" y="3970299"/>
            <a:ext cx="4297222" cy="1292935"/>
          </a:xfrm>
          <a:prstGeom prst="rect">
            <a:avLst/>
          </a:prstGeom>
        </p:spPr>
      </p:pic>
      <p:sp>
        <p:nvSpPr>
          <p:cNvPr id="46" name="PA-102224">
            <a:extLst>
              <a:ext uri="{FF2B5EF4-FFF2-40B4-BE49-F238E27FC236}">
                <a16:creationId xmlns:a16="http://schemas.microsoft.com/office/drawing/2014/main" id="{A3AC9ABA-F4B2-40A6-B525-3D4359374F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87861" y="1238776"/>
            <a:ext cx="90001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800">
                <a:solidFill>
                  <a:srgbClr val="FF0000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《</a:t>
            </a:r>
            <a:r>
              <a:rPr lang="zh-CN" altLang="en-US" sz="4800">
                <a:solidFill>
                  <a:srgbClr val="FF0000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矛盾论</a:t>
            </a:r>
            <a:r>
              <a:rPr lang="en-US" altLang="zh-CN" sz="4800">
                <a:solidFill>
                  <a:srgbClr val="FF0000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》</a:t>
            </a:r>
            <a:r>
              <a:rPr lang="zh-CN" altLang="en-US" sz="4800">
                <a:solidFill>
                  <a:srgbClr val="FF0000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中的“同一性”</a:t>
            </a:r>
            <a:endParaRPr lang="en-US" altLang="zh-CN" sz="4800">
              <a:solidFill>
                <a:srgbClr val="FF0000"/>
              </a:solidFill>
              <a:latin typeface="汉仪雅酷黑 75W" panose="020B0804020202020204" pitchFamily="34" charset="-122"/>
              <a:ea typeface="汉仪雅酷黑 75W" panose="020B0804020202020204" pitchFamily="34" charset="-122"/>
              <a:cs typeface="+mn-ea"/>
              <a:sym typeface="+mn-lt"/>
            </a:endParaRPr>
          </a:p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—— 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一种转化的科学与生成的智慧</a:t>
            </a:r>
          </a:p>
        </p:txBody>
      </p:sp>
      <p:grpSp>
        <p:nvGrpSpPr>
          <p:cNvPr id="47" name="PA-102214">
            <a:extLst>
              <a:ext uri="{FF2B5EF4-FFF2-40B4-BE49-F238E27FC236}">
                <a16:creationId xmlns:a16="http://schemas.microsoft.com/office/drawing/2014/main" id="{7EAEE4AB-6408-4C8E-B7DE-8DA06D21B9A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384279" y="2934682"/>
            <a:ext cx="7525539" cy="315265"/>
            <a:chOff x="1188720" y="5413580"/>
            <a:chExt cx="9814562" cy="411158"/>
          </a:xfrm>
          <a:solidFill>
            <a:srgbClr val="FF0000"/>
          </a:solidFill>
        </p:grpSpPr>
        <p:sp>
          <p:nvSpPr>
            <p:cNvPr id="48" name="PA-矩形 10">
              <a:extLst>
                <a:ext uri="{FF2B5EF4-FFF2-40B4-BE49-F238E27FC236}">
                  <a16:creationId xmlns:a16="http://schemas.microsoft.com/office/drawing/2014/main" id="{FD9DCEF5-07B9-40E8-A48C-038CC6D5B8D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88720" y="5604759"/>
              <a:ext cx="4003040" cy="288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PA-矩形 11">
              <a:extLst>
                <a:ext uri="{FF2B5EF4-FFF2-40B4-BE49-F238E27FC236}">
                  <a16:creationId xmlns:a16="http://schemas.microsoft.com/office/drawing/2014/main" id="{26DC5FF8-BA85-4E3C-BBC3-2938439D654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000242" y="5604759"/>
              <a:ext cx="4003040" cy="288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E9F8977-B23A-4BB1-B191-03D423A328CE}"/>
                </a:ext>
              </a:extLst>
            </p:cNvPr>
            <p:cNvGrpSpPr/>
            <p:nvPr/>
          </p:nvGrpSpPr>
          <p:grpSpPr>
            <a:xfrm>
              <a:off x="5406442" y="5413580"/>
              <a:ext cx="1379118" cy="411158"/>
              <a:chOff x="5402520" y="5413580"/>
              <a:chExt cx="1379118" cy="411158"/>
            </a:xfrm>
            <a:grpFill/>
          </p:grpSpPr>
          <p:sp>
            <p:nvSpPr>
              <p:cNvPr id="51" name="PA-5-Point Star 13">
                <a:extLst>
                  <a:ext uri="{FF2B5EF4-FFF2-40B4-BE49-F238E27FC236}">
                    <a16:creationId xmlns:a16="http://schemas.microsoft.com/office/drawing/2014/main" id="{33C0D1D7-6B26-4836-9FA4-4FF423246262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886500" y="5413580"/>
                <a:ext cx="411158" cy="41115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2" name="PA-5-Point Star 14">
                <a:extLst>
                  <a:ext uri="{FF2B5EF4-FFF2-40B4-BE49-F238E27FC236}">
                    <a16:creationId xmlns:a16="http://schemas.microsoft.com/office/drawing/2014/main" id="{1FDD3393-C62F-4326-AD9F-499E06577CA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586085" y="5494700"/>
                <a:ext cx="248918" cy="24891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PA-5-Point Star 15">
                <a:extLst>
                  <a:ext uri="{FF2B5EF4-FFF2-40B4-BE49-F238E27FC236}">
                    <a16:creationId xmlns:a16="http://schemas.microsoft.com/office/drawing/2014/main" id="{46477DAB-69F7-4B9A-BEE8-BAD88BA7786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6349155" y="5494700"/>
                <a:ext cx="248918" cy="24891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4" name="PA-5-Point Star 16">
                <a:extLst>
                  <a:ext uri="{FF2B5EF4-FFF2-40B4-BE49-F238E27FC236}">
                    <a16:creationId xmlns:a16="http://schemas.microsoft.com/office/drawing/2014/main" id="{9526F844-5B1A-438B-8A05-8D0A75A50CE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402520" y="5553125"/>
                <a:ext cx="132068" cy="13206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5" name="PA-5-Point Star 17">
                <a:extLst>
                  <a:ext uri="{FF2B5EF4-FFF2-40B4-BE49-F238E27FC236}">
                    <a16:creationId xmlns:a16="http://schemas.microsoft.com/office/drawing/2014/main" id="{337313C4-3C46-4884-95D1-EF501CB344EC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649570" y="5553125"/>
                <a:ext cx="132068" cy="13206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E9D9A01-F36C-4E0E-A3A8-1BE31436DC61}"/>
              </a:ext>
            </a:extLst>
          </p:cNvPr>
          <p:cNvGrpSpPr/>
          <p:nvPr/>
        </p:nvGrpSpPr>
        <p:grpSpPr>
          <a:xfrm>
            <a:off x="1360484" y="2828694"/>
            <a:ext cx="9544058" cy="461803"/>
            <a:chOff x="1400202" y="3033571"/>
            <a:chExt cx="9544058" cy="46180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C870DA4-1F0A-4894-BF96-D970EEE9A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0202" y="3058207"/>
              <a:ext cx="454754" cy="437167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3F766359-B8B3-4EA2-93A3-450C9A475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9506" y="3033571"/>
              <a:ext cx="454754" cy="437167"/>
            </a:xfrm>
            <a:prstGeom prst="rect">
              <a:avLst/>
            </a:prstGeom>
          </p:spPr>
        </p:pic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6C78E66F-6E45-4BAD-A61E-0168ADE9CB50}"/>
              </a:ext>
            </a:extLst>
          </p:cNvPr>
          <p:cNvSpPr/>
          <p:nvPr/>
        </p:nvSpPr>
        <p:spPr>
          <a:xfrm>
            <a:off x="3599677" y="36630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  <a:sym typeface="+mn-lt"/>
              </a:rPr>
              <a:t>分享人：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  <a:sym typeface="+mn-lt"/>
              </a:rPr>
              <a:t>BLAIR</a:t>
            </a:r>
            <a:endParaRPr lang="zh-CN" altLang="en-US" b="1">
              <a:solidFill>
                <a:srgbClr val="FF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6E9C6A9-7097-4563-9104-5255B4FDE081}"/>
              </a:ext>
            </a:extLst>
          </p:cNvPr>
          <p:cNvSpPr/>
          <p:nvPr/>
        </p:nvSpPr>
        <p:spPr>
          <a:xfrm>
            <a:off x="6739560" y="3600967"/>
            <a:ext cx="2468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分享日期：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+mj-ea"/>
                <a:cs typeface="+mn-ea"/>
                <a:sym typeface="+mn-lt"/>
              </a:rPr>
              <a:t>2025.9.26</a:t>
            </a:r>
            <a:endParaRPr lang="zh-CN" altLang="en-US" b="1">
              <a:solidFill>
                <a:srgbClr val="FF000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D712457B-01DB-4570-A912-A3FEAAE69B6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413" y="3203541"/>
            <a:ext cx="2085857" cy="20858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0CF1C78-6DE3-457D-9F7A-C8074CA7E6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7"/>
          <a:stretch>
            <a:fillRect/>
          </a:stretch>
        </p:blipFill>
        <p:spPr>
          <a:xfrm>
            <a:off x="-8605" y="4013973"/>
            <a:ext cx="12237118" cy="2818423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D73C666F-B970-42E1-9276-88F3B6FA7FF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46" y="419358"/>
            <a:ext cx="1289191" cy="938966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AAF79DD0-F196-49DC-AE61-F730263B3D4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91" y="1767926"/>
            <a:ext cx="1609818" cy="51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9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91E55DF-E40D-4088-A28C-042F6017B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5094670"/>
            <a:ext cx="12223163" cy="1881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8BCDC0-A99A-4505-9723-A34CA5A7F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1"/>
          <a:stretch>
            <a:fillRect/>
          </a:stretch>
        </p:blipFill>
        <p:spPr>
          <a:xfrm>
            <a:off x="-22559" y="5329189"/>
            <a:ext cx="12237117" cy="15204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C5D498-2658-4824-9B70-39FAADB512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3321261"/>
            <a:ext cx="3457012" cy="28808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B9094CD-091E-4214-80F1-B5DCBFC1A9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563" y="3405068"/>
            <a:ext cx="728213" cy="18445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88FFB35-2454-4D60-9D44-39B3AE85D3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53" y="3841581"/>
            <a:ext cx="5053960" cy="152044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5422270A-4AAB-45EF-827E-24C978C5F6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7" y="4603141"/>
            <a:ext cx="5121502" cy="7588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3124AD8-7267-4FC3-9738-2BD34B3722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1"/>
          <a:stretch>
            <a:fillRect/>
          </a:stretch>
        </p:blipFill>
        <p:spPr>
          <a:xfrm>
            <a:off x="3998438" y="3970299"/>
            <a:ext cx="4297222" cy="129293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D712457B-01DB-4570-A912-A3FEAAE69B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413" y="3203541"/>
            <a:ext cx="2085857" cy="20858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0CF1C78-6DE3-457D-9F7A-C8074CA7E6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7"/>
          <a:stretch>
            <a:fillRect/>
          </a:stretch>
        </p:blipFill>
        <p:spPr>
          <a:xfrm>
            <a:off x="-8605" y="4013973"/>
            <a:ext cx="12237118" cy="281842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B0D7DAC-0943-412C-B4CE-FBFB6842B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8577" y="85003"/>
            <a:ext cx="1289191" cy="938966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717D3C23-37F5-458F-AD60-A84793BF1386}"/>
              </a:ext>
            </a:extLst>
          </p:cNvPr>
          <p:cNvSpPr/>
          <p:nvPr/>
        </p:nvSpPr>
        <p:spPr>
          <a:xfrm>
            <a:off x="2374267" y="1372281"/>
            <a:ext cx="643064" cy="643064"/>
          </a:xfrm>
          <a:prstGeom prst="ellipse">
            <a:avLst/>
          </a:prstGeom>
          <a:solidFill>
            <a:srgbClr val="FF0000"/>
          </a:solidFill>
          <a:ln w="101600">
            <a:solidFill>
              <a:srgbClr val="C00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latin typeface="汉仪雅酷黑 75W" panose="020B0804020202020204" pitchFamily="34" charset="-122"/>
                <a:ea typeface="汉仪雅酷黑 75W" panose="020B0804020202020204" pitchFamily="34" charset="-122"/>
                <a:sym typeface="字魂58号-创中黑-Regular" panose="00000500000000000000" pitchFamily="2" charset="-122"/>
              </a:rPr>
              <a:t>1</a:t>
            </a:r>
            <a:endParaRPr lang="zh-CN" altLang="en-US" sz="3600">
              <a:latin typeface="汉仪雅酷黑 75W" panose="020B0804020202020204" pitchFamily="34" charset="-122"/>
              <a:ea typeface="汉仪雅酷黑 75W" panose="020B0804020202020204" pitchFamily="34" charset="-122"/>
              <a:sym typeface="字魂58号-创中黑-Regular" panose="00000500000000000000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FDB1205-D8B0-4319-8C6C-B863CFD121EE}"/>
              </a:ext>
            </a:extLst>
          </p:cNvPr>
          <p:cNvSpPr/>
          <p:nvPr/>
        </p:nvSpPr>
        <p:spPr>
          <a:xfrm>
            <a:off x="3297426" y="1395188"/>
            <a:ext cx="5546537" cy="629197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zh-CN" altLang="en-US" sz="2800" b="1">
                <a:solidFill>
                  <a:srgbClr val="FF0000"/>
                </a:solidFill>
                <a:cs typeface="+mn-ea"/>
                <a:sym typeface="+mn-lt"/>
              </a:rPr>
              <a:t>同一性仅仅是“相互依存”吗？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26A44C2-C009-4784-BDDD-5F3BC4C102EB}"/>
              </a:ext>
            </a:extLst>
          </p:cNvPr>
          <p:cNvSpPr/>
          <p:nvPr/>
        </p:nvSpPr>
        <p:spPr>
          <a:xfrm>
            <a:off x="2374267" y="2405555"/>
            <a:ext cx="643064" cy="643064"/>
          </a:xfrm>
          <a:prstGeom prst="ellipse">
            <a:avLst/>
          </a:prstGeom>
          <a:solidFill>
            <a:srgbClr val="FF0000"/>
          </a:solidFill>
          <a:ln w="101600">
            <a:solidFill>
              <a:srgbClr val="C00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latin typeface="汉仪雅酷黑 75W" panose="020B0804020202020204" pitchFamily="34" charset="-122"/>
                <a:ea typeface="汉仪雅酷黑 75W" panose="020B0804020202020204" pitchFamily="34" charset="-122"/>
                <a:sym typeface="字魂58号-创中黑-Regular" panose="00000500000000000000" pitchFamily="2" charset="-122"/>
              </a:rPr>
              <a:t>2</a:t>
            </a:r>
            <a:endParaRPr lang="zh-CN" altLang="en-US" sz="3600">
              <a:latin typeface="汉仪雅酷黑 75W" panose="020B0804020202020204" pitchFamily="34" charset="-122"/>
              <a:ea typeface="汉仪雅酷黑 75W" panose="020B0804020202020204" pitchFamily="34" charset="-122"/>
              <a:sym typeface="字魂58号-创中黑-Regular" panose="00000500000000000000" pitchFamily="2" charset="-122"/>
            </a:endParaRPr>
          </a:p>
        </p:txBody>
      </p:sp>
      <p:sp>
        <p:nvSpPr>
          <p:cNvPr id="19" name="矩形: 圆角 45">
            <a:extLst>
              <a:ext uri="{FF2B5EF4-FFF2-40B4-BE49-F238E27FC236}">
                <a16:creationId xmlns:a16="http://schemas.microsoft.com/office/drawing/2014/main" id="{D319C301-A8D5-4C13-BA58-5F7D314CC91B}"/>
              </a:ext>
            </a:extLst>
          </p:cNvPr>
          <p:cNvSpPr/>
          <p:nvPr/>
        </p:nvSpPr>
        <p:spPr>
          <a:xfrm>
            <a:off x="3297427" y="2328838"/>
            <a:ext cx="5546536" cy="629197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zh-CN" altLang="en-US" sz="2800" b="1">
                <a:solidFill>
                  <a:srgbClr val="FF0000"/>
                </a:solidFill>
                <a:cs typeface="+mn-ea"/>
                <a:sym typeface="+mn-lt"/>
              </a:rPr>
              <a:t>它如何作为一种“转化”的科学？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AD8D391-DFB3-410E-9BCD-3F5A40B1A9F9}"/>
              </a:ext>
            </a:extLst>
          </p:cNvPr>
          <p:cNvSpPr/>
          <p:nvPr/>
        </p:nvSpPr>
        <p:spPr>
          <a:xfrm>
            <a:off x="2374267" y="3406776"/>
            <a:ext cx="643064" cy="643064"/>
          </a:xfrm>
          <a:prstGeom prst="ellipse">
            <a:avLst/>
          </a:prstGeom>
          <a:solidFill>
            <a:srgbClr val="FF0000"/>
          </a:solidFill>
          <a:ln w="101600">
            <a:solidFill>
              <a:srgbClr val="C00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latin typeface="汉仪雅酷黑 75W" panose="020B0804020202020204" pitchFamily="34" charset="-122"/>
                <a:ea typeface="汉仪雅酷黑 75W" panose="020B0804020202020204" pitchFamily="34" charset="-122"/>
                <a:sym typeface="字魂58号-创中黑-Regular" panose="00000500000000000000" pitchFamily="2" charset="-122"/>
              </a:rPr>
              <a:t>3</a:t>
            </a:r>
            <a:endParaRPr lang="zh-CN" altLang="en-US" sz="3600">
              <a:latin typeface="汉仪雅酷黑 75W" panose="020B0804020202020204" pitchFamily="34" charset="-122"/>
              <a:ea typeface="汉仪雅酷黑 75W" panose="020B0804020202020204" pitchFamily="34" charset="-122"/>
              <a:sym typeface="字魂58号-创中黑-Regular" panose="00000500000000000000" pitchFamily="2" charset="-122"/>
            </a:endParaRPr>
          </a:p>
        </p:txBody>
      </p:sp>
      <p:sp>
        <p:nvSpPr>
          <p:cNvPr id="21" name="矩形: 圆角 45">
            <a:extLst>
              <a:ext uri="{FF2B5EF4-FFF2-40B4-BE49-F238E27FC236}">
                <a16:creationId xmlns:a16="http://schemas.microsoft.com/office/drawing/2014/main" id="{1DB0250B-984B-4E35-832D-F64686F3E07D}"/>
              </a:ext>
            </a:extLst>
          </p:cNvPr>
          <p:cNvSpPr/>
          <p:nvPr/>
        </p:nvSpPr>
        <p:spPr>
          <a:xfrm>
            <a:off x="3297426" y="3330059"/>
            <a:ext cx="5546537" cy="629197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zh-CN" altLang="en-US" sz="2800" b="1">
                <a:solidFill>
                  <a:srgbClr val="FF0000"/>
                </a:solidFill>
                <a:cs typeface="+mn-ea"/>
                <a:sym typeface="+mn-lt"/>
              </a:rPr>
              <a:t>它如何塑造我们独特的实践哲学？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5C3385-0376-4E3B-8099-6EC3A2B28EAA}"/>
              </a:ext>
            </a:extLst>
          </p:cNvPr>
          <p:cNvSpPr/>
          <p:nvPr/>
        </p:nvSpPr>
        <p:spPr>
          <a:xfrm>
            <a:off x="1136271" y="635876"/>
            <a:ext cx="11273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u="sng" spc="-100">
                <a:solidFill>
                  <a:srgbClr val="FF0000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字魂58号-创中黑-Regular" panose="00000500000000000000" pitchFamily="2" charset="-122"/>
              </a:rPr>
              <a:t>核心问题</a:t>
            </a:r>
          </a:p>
        </p:txBody>
      </p:sp>
    </p:spTree>
    <p:extLst>
      <p:ext uri="{BB962C8B-B14F-4D97-AF65-F5344CB8AC3E}">
        <p14:creationId xmlns:p14="http://schemas.microsoft.com/office/powerpoint/2010/main" val="987261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8551999-B48B-49C8-8C9D-0BCE8130F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5029" cy="101502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D991B1B-2EAE-42BC-B1CA-298F2396C1C2}"/>
              </a:ext>
            </a:extLst>
          </p:cNvPr>
          <p:cNvGrpSpPr/>
          <p:nvPr/>
        </p:nvGrpSpPr>
        <p:grpSpPr>
          <a:xfrm>
            <a:off x="1275527" y="286295"/>
            <a:ext cx="8811457" cy="568447"/>
            <a:chOff x="234490" y="1362686"/>
            <a:chExt cx="9775433" cy="767903"/>
          </a:xfrm>
        </p:grpSpPr>
        <p:sp>
          <p:nvSpPr>
            <p:cNvPr id="5" name="矩形: 圆角 10">
              <a:extLst>
                <a:ext uri="{FF2B5EF4-FFF2-40B4-BE49-F238E27FC236}">
                  <a16:creationId xmlns:a16="http://schemas.microsoft.com/office/drawing/2014/main" id="{5E038D93-E05C-4738-A2C6-A2B2FDD383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490" y="1362686"/>
              <a:ext cx="2023379" cy="76790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61925" cap="flat" cmpd="sng" algn="ctr">
              <a:solidFill>
                <a:srgbClr val="FF0000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24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-Regular" panose="00000500000000000000" pitchFamily="2" charset="-122"/>
                </a:rPr>
                <a:t>第一部分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01BD7CB-8079-4A6D-8D0C-2C634413736A}"/>
                </a:ext>
              </a:extLst>
            </p:cNvPr>
            <p:cNvSpPr/>
            <p:nvPr/>
          </p:nvSpPr>
          <p:spPr>
            <a:xfrm>
              <a:off x="2483670" y="1461823"/>
              <a:ext cx="7526253" cy="540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000">
                  <a:solidFill>
                    <a:srgbClr val="FF0000"/>
                  </a:solidFill>
                  <a:cs typeface="+mn-ea"/>
                  <a:sym typeface="+mn-lt"/>
                </a:rPr>
                <a:t>深化理解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2B2FB6B4-4298-4CC9-AF5D-E4D007C74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935"/>
            <a:ext cx="4652451" cy="4153064"/>
          </a:xfrm>
          <a:prstGeom prst="rect">
            <a:avLst/>
          </a:prstGeom>
        </p:spPr>
      </p:pic>
      <p:sp>
        <p:nvSpPr>
          <p:cNvPr id="3" name="Aitds3">
            <a:extLst>
              <a:ext uri="{FF2B5EF4-FFF2-40B4-BE49-F238E27FC236}">
                <a16:creationId xmlns:a16="http://schemas.microsoft.com/office/drawing/2014/main" id="{3AE2E5A7-1002-4B09-BD41-D1C6FE0C714A}"/>
              </a:ext>
            </a:extLst>
          </p:cNvPr>
          <p:cNvSpPr txBox="1"/>
          <p:nvPr/>
        </p:nvSpPr>
        <p:spPr>
          <a:xfrm>
            <a:off x="3669507" y="1719507"/>
            <a:ext cx="79067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757575"/>
                </a:solidFill>
              </a:rPr>
              <a:t>同一性是矛盾双方相互“贯通”并最终导向“转化”的内在桥梁 。</a:t>
            </a:r>
            <a:endParaRPr lang="en-US" altLang="zh-CN" sz="2400">
              <a:solidFill>
                <a:srgbClr val="757575"/>
              </a:solidFill>
            </a:endParaRPr>
          </a:p>
          <a:p>
            <a:endParaRPr lang="en-US" altLang="zh-CN" sz="2400">
              <a:solidFill>
                <a:srgbClr val="757575"/>
              </a:solidFill>
            </a:endParaRPr>
          </a:p>
          <a:p>
            <a:r>
              <a:rPr lang="zh-CN" altLang="en-US" sz="2400">
                <a:solidFill>
                  <a:srgbClr val="757575"/>
                </a:solidFill>
              </a:rPr>
              <a:t>“对立面的同一，是有条件的、暂时的、易逝的、相对的。互相排斥的对立面的斗争则是绝对的。</a:t>
            </a:r>
            <a:endParaRPr lang="en-US" altLang="zh-CN" sz="2400">
              <a:solidFill>
                <a:srgbClr val="757575"/>
              </a:solidFill>
            </a:endParaRPr>
          </a:p>
          <a:p>
            <a:endParaRPr lang="en-US" altLang="zh-CN" sz="2400">
              <a:solidFill>
                <a:srgbClr val="757575"/>
              </a:solidFill>
            </a:endParaRPr>
          </a:p>
          <a:p>
            <a:r>
              <a:rPr lang="zh-CN" altLang="en-US" sz="2400">
                <a:solidFill>
                  <a:srgbClr val="757575"/>
                </a:solidFill>
              </a:rPr>
              <a:t>绝对的斗争服务于相对的“同一性”，最终目的是实现</a:t>
            </a:r>
            <a:r>
              <a:rPr lang="zh-CN" altLang="en-US" sz="2400" b="1">
                <a:solidFill>
                  <a:srgbClr val="757575"/>
                </a:solidFill>
              </a:rPr>
              <a:t>转化</a:t>
            </a:r>
            <a:r>
              <a:rPr lang="zh-CN" altLang="en-US" sz="2400">
                <a:solidFill>
                  <a:srgbClr val="757575"/>
                </a:solidFill>
              </a:rPr>
              <a:t> 。</a:t>
            </a:r>
          </a:p>
        </p:txBody>
      </p:sp>
      <p:sp>
        <p:nvSpPr>
          <p:cNvPr id="15" name="Aitds4">
            <a:extLst>
              <a:ext uri="{FF2B5EF4-FFF2-40B4-BE49-F238E27FC236}">
                <a16:creationId xmlns:a16="http://schemas.microsoft.com/office/drawing/2014/main" id="{E918435D-60F8-4156-9521-4DF56D9BEBF2}"/>
              </a:ext>
            </a:extLst>
          </p:cNvPr>
          <p:cNvSpPr/>
          <p:nvPr/>
        </p:nvSpPr>
        <p:spPr>
          <a:xfrm>
            <a:off x="3501715" y="1310040"/>
            <a:ext cx="8242290" cy="3671357"/>
          </a:xfrm>
          <a:prstGeom prst="roundRect">
            <a:avLst>
              <a:gd name="adj" fmla="val 512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Aitds5">
            <a:extLst>
              <a:ext uri="{FF2B5EF4-FFF2-40B4-BE49-F238E27FC236}">
                <a16:creationId xmlns:a16="http://schemas.microsoft.com/office/drawing/2014/main" id="{546C6BFE-7894-4624-BD0A-B6C6251C4D62}"/>
              </a:ext>
            </a:extLst>
          </p:cNvPr>
          <p:cNvSpPr/>
          <p:nvPr/>
        </p:nvSpPr>
        <p:spPr>
          <a:xfrm>
            <a:off x="4959050" y="1055187"/>
            <a:ext cx="5127934" cy="44941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121917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133" b="1" kern="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path path="circle">
                    <a:fillToRect l="100000" b="100000"/>
                  </a:path>
                </a:gradFill>
                <a:cs typeface="+mn-ea"/>
                <a:sym typeface="+mn-lt"/>
              </a:rPr>
              <a:t>不只是依存，更是“转化”的内在桥梁</a:t>
            </a:r>
            <a:endParaRPr kumimoji="0" lang="zh-CN" altLang="en-US" sz="2133" b="1" i="0" u="none" strike="noStrike" kern="0" cap="none" spc="0" normalizeH="0" baseline="0" noProof="0">
              <a:ln>
                <a:noFill/>
              </a:ln>
              <a:gradFill>
                <a:gsLst>
                  <a:gs pos="100000">
                    <a:prstClr val="white"/>
                  </a:gs>
                  <a:gs pos="0">
                    <a:prstClr val="white">
                      <a:lumMod val="95000"/>
                    </a:prstClr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Aitds3">
            <a:extLst>
              <a:ext uri="{FF2B5EF4-FFF2-40B4-BE49-F238E27FC236}">
                <a16:creationId xmlns:a16="http://schemas.microsoft.com/office/drawing/2014/main" id="{41893AB1-8432-F148-FCD0-940F4D73492E}"/>
              </a:ext>
            </a:extLst>
          </p:cNvPr>
          <p:cNvSpPr txBox="1"/>
          <p:nvPr/>
        </p:nvSpPr>
        <p:spPr>
          <a:xfrm>
            <a:off x="3949959" y="5202648"/>
            <a:ext cx="580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757575"/>
                </a:solidFill>
              </a:rPr>
              <a:t>功能区分：</a:t>
            </a:r>
            <a:endParaRPr lang="en-US" altLang="zh-CN" sz="2400">
              <a:solidFill>
                <a:srgbClr val="757575"/>
              </a:solidFill>
            </a:endParaRPr>
          </a:p>
          <a:p>
            <a:r>
              <a:rPr lang="en-US" altLang="zh-CN" sz="2400">
                <a:solidFill>
                  <a:srgbClr val="757575"/>
                </a:solidFill>
              </a:rPr>
              <a:t>	</a:t>
            </a:r>
            <a:r>
              <a:rPr lang="zh-CN" altLang="en-US" sz="2400">
                <a:solidFill>
                  <a:srgbClr val="757575"/>
                </a:solidFill>
              </a:rPr>
              <a:t>斗争性 → 发展的动力 </a:t>
            </a:r>
            <a:endParaRPr lang="en-US" altLang="zh-CN" sz="2400">
              <a:solidFill>
                <a:srgbClr val="757575"/>
              </a:solidFill>
            </a:endParaRPr>
          </a:p>
          <a:p>
            <a:r>
              <a:rPr lang="en-US" altLang="zh-CN" sz="2400">
                <a:solidFill>
                  <a:srgbClr val="757575"/>
                </a:solidFill>
              </a:rPr>
              <a:t>	</a:t>
            </a:r>
            <a:r>
              <a:rPr lang="zh-CN" altLang="en-US" sz="2400">
                <a:solidFill>
                  <a:srgbClr val="757575"/>
                </a:solidFill>
              </a:rPr>
              <a:t>同一性 → 发展的方向与可能性 </a:t>
            </a:r>
          </a:p>
        </p:txBody>
      </p:sp>
      <p:sp>
        <p:nvSpPr>
          <p:cNvPr id="24" name="Aitds4">
            <a:extLst>
              <a:ext uri="{FF2B5EF4-FFF2-40B4-BE49-F238E27FC236}">
                <a16:creationId xmlns:a16="http://schemas.microsoft.com/office/drawing/2014/main" id="{30AFD304-CC2E-FBE0-0638-230649965B76}"/>
              </a:ext>
            </a:extLst>
          </p:cNvPr>
          <p:cNvSpPr/>
          <p:nvPr/>
        </p:nvSpPr>
        <p:spPr>
          <a:xfrm>
            <a:off x="3501715" y="5150342"/>
            <a:ext cx="8242290" cy="1306059"/>
          </a:xfrm>
          <a:prstGeom prst="roundRect">
            <a:avLst>
              <a:gd name="adj" fmla="val 512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ED5A5-7332-10A8-5798-9612E8775277}"/>
              </a:ext>
            </a:extLst>
          </p:cNvPr>
          <p:cNvSpPr txBox="1"/>
          <p:nvPr/>
        </p:nvSpPr>
        <p:spPr>
          <a:xfrm>
            <a:off x="4156546" y="6550967"/>
            <a:ext cx="60936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参考文献：王文兵，荆世群著</a:t>
            </a:r>
            <a:r>
              <a:rPr lang="en-US" altLang="zh-CN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《</a:t>
            </a:r>
            <a:r>
              <a:rPr lang="zh-CN" altLang="zh-CN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《</a:t>
            </a:r>
            <a:r>
              <a:rPr lang="zh-CN" altLang="en-US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矛盾论</a:t>
            </a:r>
            <a:r>
              <a:rPr lang="en-US" altLang="zh-CN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》</a:t>
            </a:r>
            <a:r>
              <a:rPr lang="zh-CN" altLang="en-US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精学导读</a:t>
            </a:r>
            <a:r>
              <a:rPr lang="en-US" altLang="zh-CN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》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6221239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06 2.96296E-06 L -0.10456 2.96296E-06" pathEditMode="relative" rAng="0" ptsTypes="AA">
                                      <p:cBhvr>
                                        <p:cTn id="25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 animBg="1"/>
      <p:bldP spid="16" grpId="0" animBg="1"/>
      <p:bldP spid="16" grpId="1" animBg="1"/>
      <p:bldP spid="16" grpId="2" animBg="1"/>
      <p:bldP spid="23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8551999-B48B-49C8-8C9D-0BCE8130F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5029" cy="10150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E49DFE-49E1-4B2D-9345-2F59A97F4395}"/>
              </a:ext>
            </a:extLst>
          </p:cNvPr>
          <p:cNvSpPr/>
          <p:nvPr/>
        </p:nvSpPr>
        <p:spPr>
          <a:xfrm>
            <a:off x="375378" y="1086704"/>
            <a:ext cx="87477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zh-CN" altLang="en-US" sz="2800" b="1">
                <a:solidFill>
                  <a:srgbClr val="FF0000"/>
                </a:solidFill>
                <a:cs typeface="+mn-ea"/>
                <a:sym typeface="+mn-lt"/>
              </a:rPr>
              <a:t>从“静态分析”到“动态创造” </a:t>
            </a:r>
            <a:endParaRPr lang="en-US" altLang="zh-CN" sz="2800" b="1">
              <a:solidFill>
                <a:srgbClr val="FF0000"/>
              </a:solidFill>
              <a:cs typeface="+mn-ea"/>
              <a:sym typeface="+mn-lt"/>
            </a:endParaRPr>
          </a:p>
          <a:p>
            <a:pPr lvl="0" algn="just">
              <a:defRPr/>
            </a:pPr>
            <a:endParaRPr lang="en-US" altLang="zh-CN" sz="2800" b="1">
              <a:solidFill>
                <a:srgbClr val="FF0000"/>
              </a:solidFill>
              <a:cs typeface="+mn-ea"/>
              <a:sym typeface="+mn-lt"/>
            </a:endParaRPr>
          </a:p>
          <a:p>
            <a:pPr lvl="0" algn="just">
              <a:defRPr/>
            </a:pPr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“同一性”思想提供了一套极其强大 </a:t>
            </a:r>
            <a:r>
              <a:rPr lang="zh-CN" altLang="en-US" sz="2800" b="1">
                <a:solidFill>
                  <a:srgbClr val="757575"/>
                </a:solidFill>
                <a:cs typeface="+mn-ea"/>
                <a:sym typeface="+mn-lt"/>
              </a:rPr>
              <a:t>“转化”</a:t>
            </a:r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方法论 。</a:t>
            </a:r>
            <a:endParaRPr lang="en-US" altLang="zh-CN" sz="2800">
              <a:solidFill>
                <a:srgbClr val="757575"/>
              </a:solidFill>
              <a:cs typeface="+mn-ea"/>
              <a:sym typeface="+mn-lt"/>
            </a:endParaRPr>
          </a:p>
          <a:p>
            <a:pPr lvl="0" algn="just">
              <a:defRPr/>
            </a:pPr>
            <a:r>
              <a:rPr lang="zh-CN" altLang="en-US" sz="2800" b="1">
                <a:solidFill>
                  <a:srgbClr val="757575"/>
                </a:solidFill>
                <a:cs typeface="+mn-ea"/>
                <a:sym typeface="+mn-lt"/>
              </a:rPr>
              <a:t>行动指南</a:t>
            </a:r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：不安于现状，而是动态地去</a:t>
            </a:r>
            <a:r>
              <a:rPr lang="zh-CN" altLang="en-US" sz="2800" b="1">
                <a:solidFill>
                  <a:srgbClr val="757575"/>
                </a:solidFill>
                <a:cs typeface="+mn-ea"/>
                <a:sym typeface="+mn-lt"/>
              </a:rPr>
              <a:t>创造条件</a:t>
            </a:r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，促成矛盾向我们期望的方向转化 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6082615-E515-46FC-AE0A-9EAE88E1384A}"/>
              </a:ext>
            </a:extLst>
          </p:cNvPr>
          <p:cNvCxnSpPr>
            <a:cxnSpLocks/>
          </p:cNvCxnSpPr>
          <p:nvPr/>
        </p:nvCxnSpPr>
        <p:spPr>
          <a:xfrm>
            <a:off x="507514" y="3429000"/>
            <a:ext cx="8747769" cy="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dash"/>
          </a:ln>
          <a:effectLst/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B2FB6B4-4298-4CC9-AF5D-E4D007C74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25409" y="3465513"/>
            <a:ext cx="5566591" cy="3493176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3AC1018-395B-D677-4791-A51B01AC44F2}"/>
              </a:ext>
            </a:extLst>
          </p:cNvPr>
          <p:cNvGrpSpPr/>
          <p:nvPr/>
        </p:nvGrpSpPr>
        <p:grpSpPr>
          <a:xfrm>
            <a:off x="1275527" y="286295"/>
            <a:ext cx="8811457" cy="568447"/>
            <a:chOff x="234490" y="1362686"/>
            <a:chExt cx="9775433" cy="767903"/>
          </a:xfrm>
        </p:grpSpPr>
        <p:sp>
          <p:nvSpPr>
            <p:cNvPr id="15" name="矩形: 圆角 10">
              <a:extLst>
                <a:ext uri="{FF2B5EF4-FFF2-40B4-BE49-F238E27FC236}">
                  <a16:creationId xmlns:a16="http://schemas.microsoft.com/office/drawing/2014/main" id="{A041AD00-D48F-21DE-418D-BE8D82D3F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490" y="1362686"/>
              <a:ext cx="2023379" cy="76790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61925" cap="flat" cmpd="sng" algn="ctr">
              <a:solidFill>
                <a:srgbClr val="FF0000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24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-Regular" panose="00000500000000000000" pitchFamily="2" charset="-122"/>
                </a:rPr>
                <a:t>第二部分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B0C8402-F392-92BD-A0E9-600F4B95FD16}"/>
                </a:ext>
              </a:extLst>
            </p:cNvPr>
            <p:cNvSpPr/>
            <p:nvPr/>
          </p:nvSpPr>
          <p:spPr>
            <a:xfrm>
              <a:off x="2483670" y="1461823"/>
              <a:ext cx="7526253" cy="540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000">
                  <a:solidFill>
                    <a:srgbClr val="FF0000"/>
                  </a:solidFill>
                  <a:cs typeface="+mn-ea"/>
                  <a:sym typeface="+mn-lt"/>
                </a:rPr>
                <a:t>方法论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29E9140-C8DE-F86E-1A21-9182694997A2}"/>
              </a:ext>
            </a:extLst>
          </p:cNvPr>
          <p:cNvSpPr/>
          <p:nvPr/>
        </p:nvSpPr>
        <p:spPr>
          <a:xfrm>
            <a:off x="375378" y="3564222"/>
            <a:ext cx="87477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36"/>
            <a:r>
              <a:rPr lang="zh-CN" altLang="en-US" sz="2800" b="1">
                <a:solidFill>
                  <a:srgbClr val="FF0000"/>
                </a:solidFill>
                <a:cs typeface="+mn-ea"/>
                <a:sym typeface="+mn-lt"/>
              </a:rPr>
              <a:t>案例分析</a:t>
            </a:r>
          </a:p>
          <a:p>
            <a:pPr defTabSz="1218936"/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案例：科技领域的“自主研发”与“技术引进”</a:t>
            </a:r>
            <a:endParaRPr lang="zh-CN" altLang="en-US" sz="2800" b="1">
              <a:solidFill>
                <a:srgbClr val="75757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字魂58号-创中黑-Regular" panose="000005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B288A1-ABBF-725C-4EE2-3881405AF798}"/>
              </a:ext>
            </a:extLst>
          </p:cNvPr>
          <p:cNvSpPr/>
          <p:nvPr/>
        </p:nvSpPr>
        <p:spPr>
          <a:xfrm>
            <a:off x="375378" y="4518329"/>
            <a:ext cx="64397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36"/>
            <a:r>
              <a:rPr lang="zh-CN" altLang="en-US" sz="2800">
                <a:solidFill>
                  <a:srgbClr val="757575"/>
                </a:solidFill>
                <a:cs typeface="+mn-ea"/>
                <a:sym typeface="+mn-lt"/>
              </a:rPr>
              <a:t>“同一性”思考：认识到“引进”的根本目的，是为了更好地“自主” 。不是二选一，而是设计一个机制，让“引进”成为“自主”的“养料”和“催化剂” 。</a:t>
            </a:r>
            <a:endParaRPr lang="zh-CN" altLang="en-US" sz="2800">
              <a:solidFill>
                <a:srgbClr val="75757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字魂58号-创中黑-Regular" panose="00000500000000000000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230080-BA91-4F9A-BD5D-24C6FE78D2E3}"/>
              </a:ext>
            </a:extLst>
          </p:cNvPr>
          <p:cNvSpPr txBox="1"/>
          <p:nvPr/>
        </p:nvSpPr>
        <p:spPr>
          <a:xfrm>
            <a:off x="375378" y="6519446"/>
            <a:ext cx="60936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参考文献：</a:t>
            </a:r>
            <a:r>
              <a:rPr lang="zh-CN" altLang="zh-CN" sz="160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韩毓海，《一篇读罢头飞雪，重读马克思》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65616568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8551999-B48B-49C8-8C9D-0BCE8130F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5029" cy="101502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04A192C-EC81-4F9B-BD12-82C7DB19D11D}"/>
              </a:ext>
            </a:extLst>
          </p:cNvPr>
          <p:cNvGrpSpPr/>
          <p:nvPr/>
        </p:nvGrpSpPr>
        <p:grpSpPr>
          <a:xfrm>
            <a:off x="716518" y="2601832"/>
            <a:ext cx="8283989" cy="3896486"/>
            <a:chOff x="2388306" y="4358568"/>
            <a:chExt cx="8283989" cy="3152834"/>
          </a:xfrm>
          <a:noFill/>
        </p:grpSpPr>
        <p:sp>
          <p:nvSpPr>
            <p:cNvPr id="5" name="同侧圆角矩形 16">
              <a:extLst>
                <a:ext uri="{FF2B5EF4-FFF2-40B4-BE49-F238E27FC236}">
                  <a16:creationId xmlns:a16="http://schemas.microsoft.com/office/drawing/2014/main" id="{B4CAA9AD-671F-4AA5-9ACC-E461CB9FE51E}"/>
                </a:ext>
              </a:extLst>
            </p:cNvPr>
            <p:cNvSpPr/>
            <p:nvPr/>
          </p:nvSpPr>
          <p:spPr>
            <a:xfrm>
              <a:off x="2388306" y="4358568"/>
              <a:ext cx="8283989" cy="3152834"/>
            </a:xfrm>
            <a:prstGeom prst="round2SameRect">
              <a:avLst/>
            </a:prstGeom>
            <a:grp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字魂58号-创中黑-Regular" panose="00000500000000000000" pitchFamily="2" charset="-122"/>
              </a:endParaRPr>
            </a:p>
          </p:txBody>
        </p:sp>
        <p:sp>
          <p:nvSpPr>
            <p:cNvPr id="6" name="PA-矩形 36">
              <a:extLst>
                <a:ext uri="{FF2B5EF4-FFF2-40B4-BE49-F238E27FC236}">
                  <a16:creationId xmlns:a16="http://schemas.microsoft.com/office/drawing/2014/main" id="{A3799A9E-2850-40FB-AB43-EFA1847F25C3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712033" y="4358568"/>
              <a:ext cx="7543634" cy="30980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>
                  <a:solidFill>
                    <a:srgbClr val="757575"/>
                  </a:solidFill>
                  <a:latin typeface="宋体" panose="02010600030101010101" pitchFamily="2" charset="-122"/>
                </a:rPr>
                <a:t>对比：</a:t>
              </a:r>
              <a:endParaRPr lang="en-US" altLang="zh-CN" sz="2800">
                <a:solidFill>
                  <a:srgbClr val="757575"/>
                </a:solidFill>
                <a:latin typeface="宋体" panose="02010600030101010101" pitchFamily="2" charset="-122"/>
              </a:endParaRPr>
            </a:p>
            <a:p>
              <a:pPr lvl="1"/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西方形式逻辑：追求清晰、非此即彼的划分（</a:t>
              </a:r>
              <a:r>
                <a:rPr lang="en-US" altLang="zh-CN" sz="2400">
                  <a:solidFill>
                    <a:srgbClr val="757575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不能是“非</a:t>
              </a:r>
              <a:r>
                <a:rPr lang="en-US" altLang="zh-CN" sz="2400">
                  <a:solidFill>
                    <a:srgbClr val="757575"/>
                  </a:solidFill>
                  <a:latin typeface="宋体" panose="02010600030101010101" pitchFamily="2" charset="-122"/>
                </a:rPr>
                <a:t>A”</a:t>
              </a:r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2400">
                <a:solidFill>
                  <a:srgbClr val="757575"/>
                </a:solidFill>
                <a:latin typeface="宋体" panose="02010600030101010101" pitchFamily="2" charset="-122"/>
              </a:endParaRPr>
            </a:p>
            <a:p>
              <a:pPr lvl="1"/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毛泽东的哲学：在混沌和动态中把握趋势、引导转化的生成性哲学</a:t>
              </a:r>
              <a:endParaRPr lang="en-US" altLang="zh-CN" sz="2400">
                <a:solidFill>
                  <a:srgbClr val="757575"/>
                </a:solidFill>
                <a:latin typeface="宋体" panose="02010600030101010101" pitchFamily="2" charset="-122"/>
              </a:endParaRPr>
            </a:p>
            <a:p>
              <a:r>
                <a:rPr lang="zh-CN" altLang="en-US" sz="2800">
                  <a:solidFill>
                    <a:srgbClr val="757575"/>
                  </a:solidFill>
                  <a:latin typeface="宋体" panose="02010600030101010101" pitchFamily="2" charset="-122"/>
                </a:rPr>
                <a:t>核心智慧：</a:t>
              </a:r>
              <a:endParaRPr lang="en-US" altLang="zh-CN" sz="2800">
                <a:solidFill>
                  <a:srgbClr val="757575"/>
                </a:solidFill>
                <a:latin typeface="宋体" panose="02010600030101010101" pitchFamily="2" charset="-122"/>
              </a:endParaRPr>
            </a:p>
            <a:p>
              <a:pPr lvl="1"/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承认世界的复杂性与模糊地带</a:t>
              </a:r>
              <a:endParaRPr lang="en-US" altLang="zh-CN" sz="2400">
                <a:solidFill>
                  <a:srgbClr val="757575"/>
                </a:solidFill>
                <a:latin typeface="宋体" panose="02010600030101010101" pitchFamily="2" charset="-122"/>
              </a:endParaRPr>
            </a:p>
            <a:p>
              <a:pPr lvl="1"/>
              <a:r>
                <a:rPr lang="zh-CN" altLang="en-US" sz="2400">
                  <a:solidFill>
                    <a:srgbClr val="757575"/>
                  </a:solidFill>
                  <a:latin typeface="宋体" panose="02010600030101010101" pitchFamily="2" charset="-122"/>
                </a:rPr>
                <a:t>不追求无矛盾的“乌托邦”，而是在矛盾运动中实现一次次“惊险一跃” </a:t>
              </a:r>
              <a:endParaRPr lang="en-US" altLang="zh-CN" sz="2400">
                <a:solidFill>
                  <a:srgbClr val="757575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C7E393-6F12-499F-9F3C-AB2F331CBF5F}"/>
              </a:ext>
            </a:extLst>
          </p:cNvPr>
          <p:cNvGrpSpPr/>
          <p:nvPr/>
        </p:nvGrpSpPr>
        <p:grpSpPr>
          <a:xfrm>
            <a:off x="530781" y="1452724"/>
            <a:ext cx="7312440" cy="764423"/>
            <a:chOff x="1033591" y="1739625"/>
            <a:chExt cx="7312440" cy="764423"/>
          </a:xfrm>
        </p:grpSpPr>
        <p:sp>
          <p:nvSpPr>
            <p:cNvPr id="11" name="Rounded Rectangle 38">
              <a:extLst>
                <a:ext uri="{FF2B5EF4-FFF2-40B4-BE49-F238E27FC236}">
                  <a16:creationId xmlns:a16="http://schemas.microsoft.com/office/drawing/2014/main" id="{7B74C430-6B14-45E3-8E95-1459499BB36D}"/>
                </a:ext>
              </a:extLst>
            </p:cNvPr>
            <p:cNvSpPr/>
            <p:nvPr/>
          </p:nvSpPr>
          <p:spPr>
            <a:xfrm rot="16200000">
              <a:off x="4307600" y="-1348646"/>
              <a:ext cx="764423" cy="694096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09">
                <a:defRPr/>
              </a:pPr>
              <a:endParaRPr lang="en-US" sz="3200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-Regular" panose="00000500000000000000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78E5EC-B661-4C96-98BA-3807DF495C33}"/>
                </a:ext>
              </a:extLst>
            </p:cNvPr>
            <p:cNvSpPr txBox="1"/>
            <p:nvPr/>
          </p:nvSpPr>
          <p:spPr>
            <a:xfrm>
              <a:off x="1033591" y="1819229"/>
              <a:ext cx="73124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1219170">
                <a:defRPr/>
              </a:pPr>
              <a:r>
                <a:rPr lang="zh-CN" altLang="en-US" sz="3200" b="1" kern="0"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path path="circle">
                      <a:fillToRect l="100000" b="100000"/>
                    </a:path>
                  </a:gradFill>
                  <a:cs typeface="+mn-ea"/>
                  <a:sym typeface="+mn-lt"/>
                </a:rPr>
                <a:t>生成性哲学：在动态中驾驭复杂性 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A18FA8D5-5D07-461C-9EAE-4869C6676F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731" y="1619808"/>
            <a:ext cx="2151888" cy="588264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B09B6CD-5014-D00B-E8FC-46C6741EF2BD}"/>
              </a:ext>
            </a:extLst>
          </p:cNvPr>
          <p:cNvGrpSpPr/>
          <p:nvPr/>
        </p:nvGrpSpPr>
        <p:grpSpPr>
          <a:xfrm>
            <a:off x="1275527" y="286295"/>
            <a:ext cx="8811457" cy="568447"/>
            <a:chOff x="234490" y="1362686"/>
            <a:chExt cx="9775433" cy="767903"/>
          </a:xfrm>
        </p:grpSpPr>
        <p:sp>
          <p:nvSpPr>
            <p:cNvPr id="14" name="矩形: 圆角 10">
              <a:extLst>
                <a:ext uri="{FF2B5EF4-FFF2-40B4-BE49-F238E27FC236}">
                  <a16:creationId xmlns:a16="http://schemas.microsoft.com/office/drawing/2014/main" id="{557DE5BC-A9EB-DC76-438A-02F97727BB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490" y="1362686"/>
              <a:ext cx="2023379" cy="767903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61925" cap="flat" cmpd="sng" algn="ctr">
              <a:solidFill>
                <a:srgbClr val="FF0000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24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-Regular" panose="00000500000000000000" pitchFamily="2" charset="-122"/>
                </a:rPr>
                <a:t>第三部分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969A468-E98D-9A79-EAFA-ED80A665966D}"/>
                </a:ext>
              </a:extLst>
            </p:cNvPr>
            <p:cNvSpPr/>
            <p:nvPr/>
          </p:nvSpPr>
          <p:spPr>
            <a:xfrm>
              <a:off x="2483670" y="1461823"/>
              <a:ext cx="7526253" cy="540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2000">
                  <a:solidFill>
                    <a:srgbClr val="FF0000"/>
                  </a:solidFill>
                  <a:cs typeface="+mn-ea"/>
                  <a:sym typeface="+mn-lt"/>
                </a:rPr>
                <a:t>哲学智慧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9413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BA02EC-07B3-4F8E-AA5A-4B427CCAB3F2}"/>
              </a:ext>
            </a:extLst>
          </p:cNvPr>
          <p:cNvSpPr/>
          <p:nvPr/>
        </p:nvSpPr>
        <p:spPr>
          <a:xfrm>
            <a:off x="969509" y="422477"/>
            <a:ext cx="23166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总结与启发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551999-B48B-49C8-8C9D-0BCE8130F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5029" cy="101502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04A192C-EC81-4F9B-BD12-82C7DB19D11D}"/>
              </a:ext>
            </a:extLst>
          </p:cNvPr>
          <p:cNvGrpSpPr/>
          <p:nvPr/>
        </p:nvGrpSpPr>
        <p:grpSpPr>
          <a:xfrm>
            <a:off x="331373" y="2961514"/>
            <a:ext cx="8191089" cy="3656664"/>
            <a:chOff x="2388306" y="4358568"/>
            <a:chExt cx="8191089" cy="2810986"/>
          </a:xfrm>
          <a:noFill/>
        </p:grpSpPr>
        <p:sp>
          <p:nvSpPr>
            <p:cNvPr id="5" name="同侧圆角矩形 16">
              <a:extLst>
                <a:ext uri="{FF2B5EF4-FFF2-40B4-BE49-F238E27FC236}">
                  <a16:creationId xmlns:a16="http://schemas.microsoft.com/office/drawing/2014/main" id="{B4CAA9AD-671F-4AA5-9ACC-E461CB9FE51E}"/>
                </a:ext>
              </a:extLst>
            </p:cNvPr>
            <p:cNvSpPr/>
            <p:nvPr/>
          </p:nvSpPr>
          <p:spPr>
            <a:xfrm>
              <a:off x="2388306" y="4358568"/>
              <a:ext cx="8191089" cy="2810986"/>
            </a:xfrm>
            <a:prstGeom prst="round2SameRect">
              <a:avLst/>
            </a:prstGeom>
            <a:grp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字魂58号-创中黑-Regular" panose="00000500000000000000" pitchFamily="2" charset="-122"/>
              </a:endParaRPr>
            </a:p>
          </p:txBody>
        </p:sp>
        <p:sp>
          <p:nvSpPr>
            <p:cNvPr id="6" name="PA-矩形 36">
              <a:extLst>
                <a:ext uri="{FF2B5EF4-FFF2-40B4-BE49-F238E27FC236}">
                  <a16:creationId xmlns:a16="http://schemas.microsoft.com/office/drawing/2014/main" id="{A3799A9E-2850-40FB-AB43-EFA1847F25C3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738051" y="4487420"/>
              <a:ext cx="7543634" cy="249846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超越</a:t>
              </a: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“依存”看“转化”：矛盾的价值在于其提供了转化的可能性 。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757575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757575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超越</a:t>
              </a: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“分析”看“创造”：我们的任务不只是分析矛盾，更是创造条件，引导其转化 。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757575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757575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超越</a:t>
              </a: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757575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“对立”看“统一”：在最尖锐的对立中，依然存在着统一的可能，这正是战略远见的来源 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C7E393-6F12-499F-9F3C-AB2F331CBF5F}"/>
              </a:ext>
            </a:extLst>
          </p:cNvPr>
          <p:cNvGrpSpPr/>
          <p:nvPr/>
        </p:nvGrpSpPr>
        <p:grpSpPr>
          <a:xfrm>
            <a:off x="507514" y="1733455"/>
            <a:ext cx="6472034" cy="764423"/>
            <a:chOff x="1245346" y="1931868"/>
            <a:chExt cx="8191088" cy="764423"/>
          </a:xfrm>
        </p:grpSpPr>
        <p:sp>
          <p:nvSpPr>
            <p:cNvPr id="11" name="Rounded Rectangle 38">
              <a:extLst>
                <a:ext uri="{FF2B5EF4-FFF2-40B4-BE49-F238E27FC236}">
                  <a16:creationId xmlns:a16="http://schemas.microsoft.com/office/drawing/2014/main" id="{7B74C430-6B14-45E3-8E95-1459499BB36D}"/>
                </a:ext>
              </a:extLst>
            </p:cNvPr>
            <p:cNvSpPr/>
            <p:nvPr/>
          </p:nvSpPr>
          <p:spPr>
            <a:xfrm rot="16200000">
              <a:off x="4958678" y="-1781464"/>
              <a:ext cx="764423" cy="8191088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字魂58号-创中黑-Regular" panose="00000500000000000000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78E5EC-B661-4C96-98BA-3807DF495C33}"/>
                </a:ext>
              </a:extLst>
            </p:cNvPr>
            <p:cNvSpPr txBox="1"/>
            <p:nvPr/>
          </p:nvSpPr>
          <p:spPr>
            <a:xfrm>
              <a:off x="1655059" y="2052470"/>
              <a:ext cx="7153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rPr>
                <a:t>《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rPr>
                <a:t>矛盾论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rPr>
                <a:t>》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rPr>
                <a:t>的当代价值：三个超越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A18FA8D5-5D07-461C-9EAE-4869C6676F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752" y="2050648"/>
            <a:ext cx="4807352" cy="480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54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35D2-3D6A-D0EC-348F-DD2BCA859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91864A39-C194-F274-FF44-D1898129B2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5094670"/>
            <a:ext cx="12223163" cy="1881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AA4C2B-B5BF-673A-2775-84C50D6E2B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1"/>
          <a:stretch>
            <a:fillRect/>
          </a:stretch>
        </p:blipFill>
        <p:spPr>
          <a:xfrm>
            <a:off x="-22559" y="5329189"/>
            <a:ext cx="12237117" cy="15204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2C4B01-A8B5-00D2-02A3-2A832B978F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05" y="3321261"/>
            <a:ext cx="3457012" cy="28808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A6BFD5-AA2B-C245-8299-4AF1C5233F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563" y="3405068"/>
            <a:ext cx="728213" cy="18445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571E771-35C9-590E-6FAC-1DE29809B7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053" y="3841581"/>
            <a:ext cx="5053960" cy="152044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B8F7F6CE-7DCB-285F-B758-A077EA0A9F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7" y="4603141"/>
            <a:ext cx="5121502" cy="7588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B57EDB8-762E-417A-0996-939FDED9F0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1"/>
          <a:stretch>
            <a:fillRect/>
          </a:stretch>
        </p:blipFill>
        <p:spPr>
          <a:xfrm>
            <a:off x="3998438" y="3970299"/>
            <a:ext cx="4297222" cy="1292935"/>
          </a:xfrm>
          <a:prstGeom prst="rect">
            <a:avLst/>
          </a:prstGeom>
        </p:spPr>
      </p:pic>
      <p:sp>
        <p:nvSpPr>
          <p:cNvPr id="46" name="PA-102224">
            <a:extLst>
              <a:ext uri="{FF2B5EF4-FFF2-40B4-BE49-F238E27FC236}">
                <a16:creationId xmlns:a16="http://schemas.microsoft.com/office/drawing/2014/main" id="{1F941815-FACD-7951-1E4C-7A079AFBE1F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87861" y="1238776"/>
            <a:ext cx="90001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《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矛盾论</a:t>
            </a: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》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中的“同一性”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汉仪雅酷黑 75W" panose="020B0804020202020204" pitchFamily="34" charset="-122"/>
              <a:ea typeface="汉仪雅酷黑 75W" panose="020B0804020202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—— 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  <a:cs typeface="+mn-ea"/>
                <a:sym typeface="+mn-lt"/>
              </a:rPr>
              <a:t>一种转化的科学与生成的智慧</a:t>
            </a:r>
          </a:p>
        </p:txBody>
      </p:sp>
      <p:grpSp>
        <p:nvGrpSpPr>
          <p:cNvPr id="47" name="PA-102214">
            <a:extLst>
              <a:ext uri="{FF2B5EF4-FFF2-40B4-BE49-F238E27FC236}">
                <a16:creationId xmlns:a16="http://schemas.microsoft.com/office/drawing/2014/main" id="{15715BDD-3EF8-1AB1-04E4-6C98265AFE2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384279" y="2934682"/>
            <a:ext cx="7525539" cy="315265"/>
            <a:chOff x="1188720" y="5413580"/>
            <a:chExt cx="9814562" cy="411158"/>
          </a:xfrm>
          <a:solidFill>
            <a:srgbClr val="FF0000"/>
          </a:solidFill>
        </p:grpSpPr>
        <p:sp>
          <p:nvSpPr>
            <p:cNvPr id="48" name="PA-矩形 10">
              <a:extLst>
                <a:ext uri="{FF2B5EF4-FFF2-40B4-BE49-F238E27FC236}">
                  <a16:creationId xmlns:a16="http://schemas.microsoft.com/office/drawing/2014/main" id="{652E74AA-41B0-2E48-4770-82A4ACBA441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88720" y="5604759"/>
              <a:ext cx="4003040" cy="288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obe Arabic" panose="020F03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9" name="PA-矩形 11">
              <a:extLst>
                <a:ext uri="{FF2B5EF4-FFF2-40B4-BE49-F238E27FC236}">
                  <a16:creationId xmlns:a16="http://schemas.microsoft.com/office/drawing/2014/main" id="{0457005B-3D81-DC44-5C22-8F70CA8E889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000242" y="5604759"/>
              <a:ext cx="4003040" cy="288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obe Arabic" panose="020F0302020204030204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69F3F55-461A-96E1-F73F-3A2A1D581CB8}"/>
                </a:ext>
              </a:extLst>
            </p:cNvPr>
            <p:cNvGrpSpPr/>
            <p:nvPr/>
          </p:nvGrpSpPr>
          <p:grpSpPr>
            <a:xfrm>
              <a:off x="5406442" y="5413580"/>
              <a:ext cx="1379118" cy="411158"/>
              <a:chOff x="5402520" y="5413580"/>
              <a:chExt cx="1379118" cy="411158"/>
            </a:xfrm>
            <a:grpFill/>
          </p:grpSpPr>
          <p:sp>
            <p:nvSpPr>
              <p:cNvPr id="51" name="PA-5-Point Star 13">
                <a:extLst>
                  <a:ext uri="{FF2B5EF4-FFF2-40B4-BE49-F238E27FC236}">
                    <a16:creationId xmlns:a16="http://schemas.microsoft.com/office/drawing/2014/main" id="{401C2F29-AE62-B3EB-5B08-95CFDC4628F0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886500" y="5413580"/>
                <a:ext cx="411158" cy="41115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2" name="PA-5-Point Star 14">
                <a:extLst>
                  <a:ext uri="{FF2B5EF4-FFF2-40B4-BE49-F238E27FC236}">
                    <a16:creationId xmlns:a16="http://schemas.microsoft.com/office/drawing/2014/main" id="{74BCB43B-5EB9-C7CE-3860-D117D6C649B4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586085" y="5494700"/>
                <a:ext cx="248918" cy="24891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3" name="PA-5-Point Star 15">
                <a:extLst>
                  <a:ext uri="{FF2B5EF4-FFF2-40B4-BE49-F238E27FC236}">
                    <a16:creationId xmlns:a16="http://schemas.microsoft.com/office/drawing/2014/main" id="{90B41B98-5A13-565A-D30D-AEA7242B2320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6349155" y="5494700"/>
                <a:ext cx="248918" cy="24891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4" name="PA-5-Point Star 16">
                <a:extLst>
                  <a:ext uri="{FF2B5EF4-FFF2-40B4-BE49-F238E27FC236}">
                    <a16:creationId xmlns:a16="http://schemas.microsoft.com/office/drawing/2014/main" id="{5C26B515-03AD-C3CA-9BCE-C2FFBA3609B0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402520" y="5553125"/>
                <a:ext cx="132068" cy="13206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5" name="PA-5-Point Star 17">
                <a:extLst>
                  <a:ext uri="{FF2B5EF4-FFF2-40B4-BE49-F238E27FC236}">
                    <a16:creationId xmlns:a16="http://schemas.microsoft.com/office/drawing/2014/main" id="{48624A42-47EE-53F9-9F40-BAE3AB66B797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649570" y="5553125"/>
                <a:ext cx="132068" cy="132068"/>
              </a:xfrm>
              <a:prstGeom prst="star5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dobe Arabic" panose="020F0302020204030204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D6099AF-115F-724A-E240-60920FF9448F}"/>
              </a:ext>
            </a:extLst>
          </p:cNvPr>
          <p:cNvGrpSpPr/>
          <p:nvPr/>
        </p:nvGrpSpPr>
        <p:grpSpPr>
          <a:xfrm>
            <a:off x="1360484" y="2828694"/>
            <a:ext cx="9544058" cy="461803"/>
            <a:chOff x="1400202" y="3033571"/>
            <a:chExt cx="9544058" cy="46180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226A868-E03B-6D4B-52CC-36E53A4CE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0202" y="3058207"/>
              <a:ext cx="454754" cy="437167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B82D7A6-3A70-7738-D201-4595F0E4E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9506" y="3033571"/>
              <a:ext cx="454754" cy="437167"/>
            </a:xfrm>
            <a:prstGeom prst="rect">
              <a:avLst/>
            </a:prstGeom>
          </p:spPr>
        </p:pic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DBF4D5EB-97C2-1CBA-8AE0-7E2502BC9A21}"/>
              </a:ext>
            </a:extLst>
          </p:cNvPr>
          <p:cNvSpPr/>
          <p:nvPr/>
        </p:nvSpPr>
        <p:spPr>
          <a:xfrm>
            <a:off x="3599677" y="36630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分享人：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BLAIR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BFF428E-B71E-9666-3B93-58AA23CA408C}"/>
              </a:ext>
            </a:extLst>
          </p:cNvPr>
          <p:cNvSpPr/>
          <p:nvPr/>
        </p:nvSpPr>
        <p:spPr>
          <a:xfrm>
            <a:off x="6739560" y="3600967"/>
            <a:ext cx="2468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分享日期：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2025.9.26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8B9E039-1168-BF8D-95FB-12B859F3E74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413" y="3203541"/>
            <a:ext cx="2085857" cy="20858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A27E118-AD3C-CFF9-9935-515F4EDD94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7"/>
          <a:stretch>
            <a:fillRect/>
          </a:stretch>
        </p:blipFill>
        <p:spPr>
          <a:xfrm>
            <a:off x="-8605" y="4013973"/>
            <a:ext cx="12237118" cy="2818423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E115832F-88BC-0CA2-0151-4F4B68E91FA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46" y="419358"/>
            <a:ext cx="1289191" cy="938966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8C97C5B-A15E-CBEC-C8B9-DEC8602B4F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91" y="1767926"/>
            <a:ext cx="1609818" cy="51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42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wob31cu">
      <a:majorFont>
        <a:latin typeface="Adobe Arabic" panose="020F0302020204030204"/>
        <a:ea typeface="微软雅黑"/>
        <a:cs typeface="Arial"/>
      </a:majorFont>
      <a:minorFont>
        <a:latin typeface="Adobe Arabic" panose="020F0302020204030204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421</Words>
  <Application>Microsoft Office PowerPoint</Application>
  <PresentationFormat>宽屏</PresentationFormat>
  <Paragraphs>57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Adobe Arabic</vt:lpstr>
      <vt:lpstr>等线</vt:lpstr>
      <vt:lpstr>汉仪雅酷黑 75W</vt:lpstr>
      <vt:lpstr>宋体</vt:lpstr>
      <vt:lpstr>微软雅黑</vt:lpstr>
      <vt:lpstr>Arial</vt:lpstr>
      <vt:lpstr>Calibri</vt:lpstr>
      <vt:lpstr>Segoe UI Emoji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huawei</dc:creator>
  <cp:lastModifiedBy>BLAIR</cp:lastModifiedBy>
  <cp:revision>8</cp:revision>
  <cp:lastPrinted>2025-05-01T07:15:14Z</cp:lastPrinted>
  <dcterms:created xsi:type="dcterms:W3CDTF">2025-05-01T07:15:14Z</dcterms:created>
  <dcterms:modified xsi:type="dcterms:W3CDTF">2026-03-12T08:23:46Z</dcterms:modified>
</cp:coreProperties>
</file>