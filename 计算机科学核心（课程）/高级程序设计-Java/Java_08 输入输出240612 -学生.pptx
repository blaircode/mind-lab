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3"/>
  </p:notesMasterIdLst>
  <p:sldIdLst>
    <p:sldId id="396" r:id="rId2"/>
    <p:sldId id="569" r:id="rId3"/>
    <p:sldId id="570" r:id="rId4"/>
    <p:sldId id="571" r:id="rId5"/>
    <p:sldId id="572" r:id="rId6"/>
    <p:sldId id="573" r:id="rId7"/>
    <p:sldId id="479" r:id="rId8"/>
    <p:sldId id="480" r:id="rId9"/>
    <p:sldId id="574" r:id="rId10"/>
    <p:sldId id="575" r:id="rId11"/>
    <p:sldId id="576" r:id="rId12"/>
    <p:sldId id="481" r:id="rId13"/>
    <p:sldId id="578" r:id="rId14"/>
    <p:sldId id="486" r:id="rId15"/>
    <p:sldId id="451" r:id="rId16"/>
    <p:sldId id="460" r:id="rId17"/>
    <p:sldId id="461" r:id="rId18"/>
    <p:sldId id="462" r:id="rId19"/>
    <p:sldId id="467" r:id="rId20"/>
    <p:sldId id="463" r:id="rId21"/>
    <p:sldId id="468" r:id="rId22"/>
    <p:sldId id="482" r:id="rId23"/>
    <p:sldId id="483" r:id="rId24"/>
    <p:sldId id="484" r:id="rId25"/>
    <p:sldId id="487" r:id="rId26"/>
    <p:sldId id="469" r:id="rId27"/>
    <p:sldId id="470" r:id="rId28"/>
    <p:sldId id="471" r:id="rId29"/>
    <p:sldId id="472" r:id="rId30"/>
    <p:sldId id="2623" r:id="rId31"/>
    <p:sldId id="2624" r:id="rId32"/>
    <p:sldId id="473" r:id="rId33"/>
    <p:sldId id="475" r:id="rId34"/>
    <p:sldId id="485" r:id="rId35"/>
    <p:sldId id="531" r:id="rId36"/>
    <p:sldId id="535" r:id="rId37"/>
    <p:sldId id="2600" r:id="rId38"/>
    <p:sldId id="2619" r:id="rId39"/>
    <p:sldId id="2601" r:id="rId40"/>
    <p:sldId id="2604" r:id="rId41"/>
    <p:sldId id="2602" r:id="rId42"/>
    <p:sldId id="2605" r:id="rId43"/>
    <p:sldId id="2607" r:id="rId44"/>
    <p:sldId id="2608" r:id="rId45"/>
    <p:sldId id="2615" r:id="rId46"/>
    <p:sldId id="2620" r:id="rId47"/>
    <p:sldId id="2609" r:id="rId48"/>
    <p:sldId id="536" r:id="rId49"/>
    <p:sldId id="532" r:id="rId50"/>
    <p:sldId id="533" r:id="rId51"/>
    <p:sldId id="2606" r:id="rId52"/>
    <p:sldId id="2616" r:id="rId53"/>
    <p:sldId id="2617" r:id="rId54"/>
    <p:sldId id="2618" r:id="rId55"/>
    <p:sldId id="594" r:id="rId56"/>
    <p:sldId id="2635" r:id="rId57"/>
    <p:sldId id="589" r:id="rId58"/>
    <p:sldId id="507" r:id="rId59"/>
    <p:sldId id="593" r:id="rId60"/>
    <p:sldId id="508" r:id="rId61"/>
    <p:sldId id="509" r:id="rId62"/>
    <p:sldId id="511" r:id="rId63"/>
    <p:sldId id="2625" r:id="rId64"/>
    <p:sldId id="512" r:id="rId65"/>
    <p:sldId id="2622" r:id="rId66"/>
    <p:sldId id="2633" r:id="rId67"/>
    <p:sldId id="2634" r:id="rId68"/>
    <p:sldId id="2626" r:id="rId69"/>
    <p:sldId id="2627" r:id="rId70"/>
    <p:sldId id="2630" r:id="rId71"/>
    <p:sldId id="2629" r:id="rId72"/>
    <p:sldId id="513" r:id="rId73"/>
    <p:sldId id="2654" r:id="rId74"/>
    <p:sldId id="2655" r:id="rId75"/>
    <p:sldId id="514" r:id="rId76"/>
    <p:sldId id="2848" r:id="rId77"/>
    <p:sldId id="515" r:id="rId78"/>
    <p:sldId id="595" r:id="rId79"/>
    <p:sldId id="517" r:id="rId80"/>
    <p:sldId id="2636" r:id="rId81"/>
    <p:sldId id="2656" r:id="rId82"/>
    <p:sldId id="2642" r:id="rId83"/>
    <p:sldId id="2838" r:id="rId84"/>
    <p:sldId id="2839" r:id="rId85"/>
    <p:sldId id="2840" r:id="rId86"/>
    <p:sldId id="2841" r:id="rId87"/>
    <p:sldId id="2842" r:id="rId88"/>
    <p:sldId id="2843" r:id="rId89"/>
    <p:sldId id="2650" r:id="rId90"/>
    <p:sldId id="2652" r:id="rId91"/>
    <p:sldId id="516" r:id="rId92"/>
    <p:sldId id="518" r:id="rId93"/>
    <p:sldId id="519" r:id="rId94"/>
    <p:sldId id="520" r:id="rId95"/>
    <p:sldId id="521" r:id="rId96"/>
    <p:sldId id="526" r:id="rId97"/>
    <p:sldId id="527" r:id="rId98"/>
    <p:sldId id="596" r:id="rId99"/>
    <p:sldId id="494" r:id="rId100"/>
    <p:sldId id="2805" r:id="rId101"/>
    <p:sldId id="2659" r:id="rId102"/>
    <p:sldId id="2801" r:id="rId103"/>
    <p:sldId id="2802" r:id="rId104"/>
    <p:sldId id="2800" r:id="rId105"/>
    <p:sldId id="2803" r:id="rId106"/>
    <p:sldId id="2846" r:id="rId107"/>
    <p:sldId id="2804" r:id="rId108"/>
    <p:sldId id="495" r:id="rId109"/>
    <p:sldId id="496" r:id="rId110"/>
    <p:sldId id="497" r:id="rId111"/>
    <p:sldId id="2847" r:id="rId112"/>
    <p:sldId id="476" r:id="rId113"/>
    <p:sldId id="2809" r:id="rId114"/>
    <p:sldId id="2810" r:id="rId115"/>
    <p:sldId id="477" r:id="rId116"/>
    <p:sldId id="478" r:id="rId117"/>
    <p:sldId id="488" r:id="rId118"/>
    <p:sldId id="489" r:id="rId119"/>
    <p:sldId id="490" r:id="rId120"/>
    <p:sldId id="491" r:id="rId121"/>
    <p:sldId id="492" r:id="rId122"/>
    <p:sldId id="493" r:id="rId123"/>
    <p:sldId id="500" r:id="rId124"/>
    <p:sldId id="501" r:id="rId125"/>
    <p:sldId id="503" r:id="rId126"/>
    <p:sldId id="504" r:id="rId127"/>
    <p:sldId id="505" r:id="rId128"/>
    <p:sldId id="2853" r:id="rId129"/>
    <p:sldId id="2855" r:id="rId130"/>
    <p:sldId id="2854" r:id="rId131"/>
    <p:sldId id="598" r:id="rId132"/>
    <p:sldId id="550" r:id="rId133"/>
    <p:sldId id="539" r:id="rId134"/>
    <p:sldId id="540" r:id="rId135"/>
    <p:sldId id="541" r:id="rId136"/>
    <p:sldId id="542" r:id="rId137"/>
    <p:sldId id="544" r:id="rId138"/>
    <p:sldId id="549" r:id="rId139"/>
    <p:sldId id="2815" r:id="rId140"/>
    <p:sldId id="2830" r:id="rId141"/>
    <p:sldId id="2831" r:id="rId142"/>
    <p:sldId id="2832" r:id="rId143"/>
    <p:sldId id="2833" r:id="rId144"/>
    <p:sldId id="2836" r:id="rId145"/>
    <p:sldId id="545" r:id="rId146"/>
    <p:sldId id="546" r:id="rId147"/>
    <p:sldId id="547" r:id="rId148"/>
    <p:sldId id="551" r:id="rId149"/>
    <p:sldId id="599" r:id="rId150"/>
    <p:sldId id="552" r:id="rId151"/>
    <p:sldId id="553" r:id="rId152"/>
    <p:sldId id="554" r:id="rId153"/>
    <p:sldId id="560" r:id="rId154"/>
    <p:sldId id="561" r:id="rId155"/>
    <p:sldId id="555" r:id="rId156"/>
    <p:sldId id="577" r:id="rId157"/>
    <p:sldId id="568" r:id="rId158"/>
    <p:sldId id="2849" r:id="rId159"/>
    <p:sldId id="2851" r:id="rId160"/>
    <p:sldId id="2850" r:id="rId161"/>
    <p:sldId id="2852" r:id="rId16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009900"/>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12" autoAdjust="0"/>
    <p:restoredTop sz="64483" autoAdjust="0"/>
  </p:normalViewPr>
  <p:slideViewPr>
    <p:cSldViewPr showGuides="1">
      <p:cViewPr varScale="1">
        <p:scale>
          <a:sx n="81" d="100"/>
          <a:sy n="81" d="100"/>
        </p:scale>
        <p:origin x="242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4BD1B172-AE0D-4FAB-9DD3-D9B59E343C9A}" type="datetimeFigureOut">
              <a:rPr lang="zh-CN" altLang="en-US"/>
              <a:pPr>
                <a:defRPr/>
              </a:pPr>
              <a:t>2024/6/12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DDAFDE63-365A-4E29-A343-93161BAD4F5B}" type="slidenum">
              <a:rPr lang="zh-CN" altLang="en-US"/>
              <a:pPr/>
              <a:t>‹#›</a:t>
            </a:fld>
            <a:endParaRPr lang="zh-CN" altLang="en-US"/>
          </a:p>
        </p:txBody>
      </p:sp>
    </p:spTree>
    <p:extLst>
      <p:ext uri="{BB962C8B-B14F-4D97-AF65-F5344CB8AC3E}">
        <p14:creationId xmlns:p14="http://schemas.microsoft.com/office/powerpoint/2010/main" val="107706795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a:t>
            </a:fld>
            <a:endParaRPr lang="zh-CN" altLang="en-US"/>
          </a:p>
        </p:txBody>
      </p:sp>
    </p:spTree>
    <p:extLst>
      <p:ext uri="{BB962C8B-B14F-4D97-AF65-F5344CB8AC3E}">
        <p14:creationId xmlns:p14="http://schemas.microsoft.com/office/powerpoint/2010/main" val="1579769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2</a:t>
            </a:fld>
            <a:endParaRPr lang="zh-CN" altLang="en-US"/>
          </a:p>
        </p:txBody>
      </p:sp>
    </p:spTree>
    <p:extLst>
      <p:ext uri="{BB962C8B-B14F-4D97-AF65-F5344CB8AC3E}">
        <p14:creationId xmlns:p14="http://schemas.microsoft.com/office/powerpoint/2010/main" val="3185540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3</a:t>
            </a:fld>
            <a:endParaRPr lang="zh-CN" altLang="en-US"/>
          </a:p>
        </p:txBody>
      </p:sp>
    </p:spTree>
    <p:extLst>
      <p:ext uri="{BB962C8B-B14F-4D97-AF65-F5344CB8AC3E}">
        <p14:creationId xmlns:p14="http://schemas.microsoft.com/office/powerpoint/2010/main" val="1329743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6</a:t>
            </a:fld>
            <a:endParaRPr lang="zh-CN" altLang="en-US"/>
          </a:p>
        </p:txBody>
      </p:sp>
    </p:spTree>
    <p:extLst>
      <p:ext uri="{BB962C8B-B14F-4D97-AF65-F5344CB8AC3E}">
        <p14:creationId xmlns:p14="http://schemas.microsoft.com/office/powerpoint/2010/main" val="606367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8</a:t>
            </a:fld>
            <a:endParaRPr lang="zh-CN" altLang="en-US"/>
          </a:p>
        </p:txBody>
      </p:sp>
    </p:spTree>
    <p:extLst>
      <p:ext uri="{BB962C8B-B14F-4D97-AF65-F5344CB8AC3E}">
        <p14:creationId xmlns:p14="http://schemas.microsoft.com/office/powerpoint/2010/main" val="3296505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10</a:t>
            </a:fld>
            <a:endParaRPr lang="zh-CN" altLang="en-US"/>
          </a:p>
        </p:txBody>
      </p:sp>
    </p:spTree>
    <p:extLst>
      <p:ext uri="{BB962C8B-B14F-4D97-AF65-F5344CB8AC3E}">
        <p14:creationId xmlns:p14="http://schemas.microsoft.com/office/powerpoint/2010/main" val="361439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11</a:t>
            </a:fld>
            <a:endParaRPr lang="zh-CN" altLang="en-US"/>
          </a:p>
        </p:txBody>
      </p:sp>
    </p:spTree>
    <p:extLst>
      <p:ext uri="{BB962C8B-B14F-4D97-AF65-F5344CB8AC3E}">
        <p14:creationId xmlns:p14="http://schemas.microsoft.com/office/powerpoint/2010/main" val="3544629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12</a:t>
            </a:fld>
            <a:endParaRPr lang="zh-CN" altLang="en-US"/>
          </a:p>
        </p:txBody>
      </p:sp>
    </p:spTree>
    <p:extLst>
      <p:ext uri="{BB962C8B-B14F-4D97-AF65-F5344CB8AC3E}">
        <p14:creationId xmlns:p14="http://schemas.microsoft.com/office/powerpoint/2010/main" val="4197611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13</a:t>
            </a:fld>
            <a:endParaRPr lang="zh-CN" altLang="en-US"/>
          </a:p>
        </p:txBody>
      </p:sp>
    </p:spTree>
    <p:extLst>
      <p:ext uri="{BB962C8B-B14F-4D97-AF65-F5344CB8AC3E}">
        <p14:creationId xmlns:p14="http://schemas.microsoft.com/office/powerpoint/2010/main" val="878496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14</a:t>
            </a:fld>
            <a:endParaRPr lang="zh-CN" altLang="en-US"/>
          </a:p>
        </p:txBody>
      </p:sp>
    </p:spTree>
    <p:extLst>
      <p:ext uri="{BB962C8B-B14F-4D97-AF65-F5344CB8AC3E}">
        <p14:creationId xmlns:p14="http://schemas.microsoft.com/office/powerpoint/2010/main" val="680823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15</a:t>
            </a:fld>
            <a:endParaRPr lang="zh-CN" altLang="en-US"/>
          </a:p>
        </p:txBody>
      </p:sp>
    </p:spTree>
    <p:extLst>
      <p:ext uri="{BB962C8B-B14F-4D97-AF65-F5344CB8AC3E}">
        <p14:creationId xmlns:p14="http://schemas.microsoft.com/office/powerpoint/2010/main" val="1604009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17</a:t>
            </a:fld>
            <a:endParaRPr lang="zh-CN" altLang="en-US"/>
          </a:p>
        </p:txBody>
      </p:sp>
    </p:spTree>
    <p:extLst>
      <p:ext uri="{BB962C8B-B14F-4D97-AF65-F5344CB8AC3E}">
        <p14:creationId xmlns:p14="http://schemas.microsoft.com/office/powerpoint/2010/main" val="278109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20</a:t>
            </a:fld>
            <a:endParaRPr lang="zh-CN" altLang="en-US"/>
          </a:p>
        </p:txBody>
      </p:sp>
    </p:spTree>
    <p:extLst>
      <p:ext uri="{BB962C8B-B14F-4D97-AF65-F5344CB8AC3E}">
        <p14:creationId xmlns:p14="http://schemas.microsoft.com/office/powerpoint/2010/main" val="1200329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42022D-6E7A-48FE-8D62-D0C52F2E6712}" type="slidenum">
              <a:rPr lang="zh-CN" altLang="en-US">
                <a:latin typeface="Calibri" panose="020F0502020204030204" pitchFamily="34" charset="0"/>
              </a:rPr>
              <a:pPr eaLnBrk="1" hangingPunct="1"/>
              <a:t>25</a:t>
            </a:fld>
            <a:endParaRPr lang="zh-CN" altLang="en-US">
              <a:latin typeface="Calibri" panose="020F0502020204030204" pitchFamily="34" charset="0"/>
            </a:endParaRPr>
          </a:p>
        </p:txBody>
      </p:sp>
    </p:spTree>
    <p:extLst>
      <p:ext uri="{BB962C8B-B14F-4D97-AF65-F5344CB8AC3E}">
        <p14:creationId xmlns:p14="http://schemas.microsoft.com/office/powerpoint/2010/main" val="1225649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4D6E590-86BD-430E-9F6E-A2BF8B51A17A}" type="slidenum">
              <a:rPr lang="zh-CN" altLang="en-US">
                <a:latin typeface="Calibri" panose="020F0502020204030204" pitchFamily="34" charset="0"/>
              </a:rPr>
              <a:pPr eaLnBrk="1" hangingPunct="1"/>
              <a:t>26</a:t>
            </a:fld>
            <a:endParaRPr lang="zh-CN" altLang="en-US">
              <a:latin typeface="Calibri" panose="020F0502020204030204" pitchFamily="34" charset="0"/>
            </a:endParaRPr>
          </a:p>
        </p:txBody>
      </p:sp>
    </p:spTree>
    <p:extLst>
      <p:ext uri="{BB962C8B-B14F-4D97-AF65-F5344CB8AC3E}">
        <p14:creationId xmlns:p14="http://schemas.microsoft.com/office/powerpoint/2010/main" val="2271373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28</a:t>
            </a:fld>
            <a:endParaRPr lang="zh-CN" altLang="en-US"/>
          </a:p>
        </p:txBody>
      </p:sp>
    </p:spTree>
    <p:extLst>
      <p:ext uri="{BB962C8B-B14F-4D97-AF65-F5344CB8AC3E}">
        <p14:creationId xmlns:p14="http://schemas.microsoft.com/office/powerpoint/2010/main" val="312843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29</a:t>
            </a:fld>
            <a:endParaRPr lang="zh-CN" altLang="en-US"/>
          </a:p>
        </p:txBody>
      </p:sp>
    </p:spTree>
    <p:extLst>
      <p:ext uri="{BB962C8B-B14F-4D97-AF65-F5344CB8AC3E}">
        <p14:creationId xmlns:p14="http://schemas.microsoft.com/office/powerpoint/2010/main" val="1346325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30</a:t>
            </a:fld>
            <a:endParaRPr lang="zh-CN" altLang="en-US"/>
          </a:p>
        </p:txBody>
      </p:sp>
    </p:spTree>
    <p:extLst>
      <p:ext uri="{BB962C8B-B14F-4D97-AF65-F5344CB8AC3E}">
        <p14:creationId xmlns:p14="http://schemas.microsoft.com/office/powerpoint/2010/main" val="17377167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31</a:t>
            </a:fld>
            <a:endParaRPr lang="zh-CN" altLang="en-US"/>
          </a:p>
        </p:txBody>
      </p:sp>
    </p:spTree>
    <p:extLst>
      <p:ext uri="{BB962C8B-B14F-4D97-AF65-F5344CB8AC3E}">
        <p14:creationId xmlns:p14="http://schemas.microsoft.com/office/powerpoint/2010/main" val="5372668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32</a:t>
            </a:fld>
            <a:endParaRPr lang="zh-CN" altLang="en-US"/>
          </a:p>
        </p:txBody>
      </p:sp>
    </p:spTree>
    <p:extLst>
      <p:ext uri="{BB962C8B-B14F-4D97-AF65-F5344CB8AC3E}">
        <p14:creationId xmlns:p14="http://schemas.microsoft.com/office/powerpoint/2010/main" val="4241212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35</a:t>
            </a:fld>
            <a:endParaRPr lang="zh-CN" altLang="en-US"/>
          </a:p>
        </p:txBody>
      </p:sp>
    </p:spTree>
    <p:extLst>
      <p:ext uri="{BB962C8B-B14F-4D97-AF65-F5344CB8AC3E}">
        <p14:creationId xmlns:p14="http://schemas.microsoft.com/office/powerpoint/2010/main" val="38080323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36</a:t>
            </a:fld>
            <a:endParaRPr lang="zh-CN" altLang="en-US"/>
          </a:p>
        </p:txBody>
      </p:sp>
    </p:spTree>
    <p:extLst>
      <p:ext uri="{BB962C8B-B14F-4D97-AF65-F5344CB8AC3E}">
        <p14:creationId xmlns:p14="http://schemas.microsoft.com/office/powerpoint/2010/main" val="1804666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37</a:t>
            </a:fld>
            <a:endParaRPr lang="zh-CN" altLang="en-US"/>
          </a:p>
        </p:txBody>
      </p:sp>
    </p:spTree>
    <p:extLst>
      <p:ext uri="{BB962C8B-B14F-4D97-AF65-F5344CB8AC3E}">
        <p14:creationId xmlns:p14="http://schemas.microsoft.com/office/powerpoint/2010/main" val="5367061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39</a:t>
            </a:fld>
            <a:endParaRPr lang="zh-CN" altLang="en-US"/>
          </a:p>
        </p:txBody>
      </p:sp>
    </p:spTree>
    <p:extLst>
      <p:ext uri="{BB962C8B-B14F-4D97-AF65-F5344CB8AC3E}">
        <p14:creationId xmlns:p14="http://schemas.microsoft.com/office/powerpoint/2010/main" val="42306683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40</a:t>
            </a:fld>
            <a:endParaRPr lang="zh-CN" altLang="en-US"/>
          </a:p>
        </p:txBody>
      </p:sp>
    </p:spTree>
    <p:extLst>
      <p:ext uri="{BB962C8B-B14F-4D97-AF65-F5344CB8AC3E}">
        <p14:creationId xmlns:p14="http://schemas.microsoft.com/office/powerpoint/2010/main" val="2983414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41</a:t>
            </a:fld>
            <a:endParaRPr lang="zh-CN" altLang="en-US"/>
          </a:p>
        </p:txBody>
      </p:sp>
    </p:spTree>
    <p:extLst>
      <p:ext uri="{BB962C8B-B14F-4D97-AF65-F5344CB8AC3E}">
        <p14:creationId xmlns:p14="http://schemas.microsoft.com/office/powerpoint/2010/main" val="25648174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42</a:t>
            </a:fld>
            <a:endParaRPr lang="zh-CN" altLang="en-US"/>
          </a:p>
        </p:txBody>
      </p:sp>
    </p:spTree>
    <p:extLst>
      <p:ext uri="{BB962C8B-B14F-4D97-AF65-F5344CB8AC3E}">
        <p14:creationId xmlns:p14="http://schemas.microsoft.com/office/powerpoint/2010/main" val="2821140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43</a:t>
            </a:fld>
            <a:endParaRPr lang="zh-CN" altLang="en-US"/>
          </a:p>
        </p:txBody>
      </p:sp>
    </p:spTree>
    <p:extLst>
      <p:ext uri="{BB962C8B-B14F-4D97-AF65-F5344CB8AC3E}">
        <p14:creationId xmlns:p14="http://schemas.microsoft.com/office/powerpoint/2010/main" val="27370080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44</a:t>
            </a:fld>
            <a:endParaRPr lang="zh-CN" altLang="en-US"/>
          </a:p>
        </p:txBody>
      </p:sp>
    </p:spTree>
    <p:extLst>
      <p:ext uri="{BB962C8B-B14F-4D97-AF65-F5344CB8AC3E}">
        <p14:creationId xmlns:p14="http://schemas.microsoft.com/office/powerpoint/2010/main" val="23343011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45</a:t>
            </a:fld>
            <a:endParaRPr lang="zh-CN" altLang="en-US"/>
          </a:p>
        </p:txBody>
      </p:sp>
    </p:spTree>
    <p:extLst>
      <p:ext uri="{BB962C8B-B14F-4D97-AF65-F5344CB8AC3E}">
        <p14:creationId xmlns:p14="http://schemas.microsoft.com/office/powerpoint/2010/main" val="20212393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46</a:t>
            </a:fld>
            <a:endParaRPr lang="zh-CN" altLang="en-US"/>
          </a:p>
        </p:txBody>
      </p:sp>
    </p:spTree>
    <p:extLst>
      <p:ext uri="{BB962C8B-B14F-4D97-AF65-F5344CB8AC3E}">
        <p14:creationId xmlns:p14="http://schemas.microsoft.com/office/powerpoint/2010/main" val="9885417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47</a:t>
            </a:fld>
            <a:endParaRPr lang="zh-CN" altLang="en-US"/>
          </a:p>
        </p:txBody>
      </p:sp>
    </p:spTree>
    <p:extLst>
      <p:ext uri="{BB962C8B-B14F-4D97-AF65-F5344CB8AC3E}">
        <p14:creationId xmlns:p14="http://schemas.microsoft.com/office/powerpoint/2010/main" val="2901536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49</a:t>
            </a:fld>
            <a:endParaRPr lang="zh-CN" altLang="en-US"/>
          </a:p>
        </p:txBody>
      </p:sp>
    </p:spTree>
    <p:extLst>
      <p:ext uri="{BB962C8B-B14F-4D97-AF65-F5344CB8AC3E}">
        <p14:creationId xmlns:p14="http://schemas.microsoft.com/office/powerpoint/2010/main" val="32153748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51</a:t>
            </a:fld>
            <a:endParaRPr lang="zh-CN" altLang="en-US"/>
          </a:p>
        </p:txBody>
      </p:sp>
    </p:spTree>
    <p:extLst>
      <p:ext uri="{BB962C8B-B14F-4D97-AF65-F5344CB8AC3E}">
        <p14:creationId xmlns:p14="http://schemas.microsoft.com/office/powerpoint/2010/main" val="31665327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53</a:t>
            </a:fld>
            <a:endParaRPr lang="zh-CN" altLang="en-US"/>
          </a:p>
        </p:txBody>
      </p:sp>
    </p:spTree>
    <p:extLst>
      <p:ext uri="{BB962C8B-B14F-4D97-AF65-F5344CB8AC3E}">
        <p14:creationId xmlns:p14="http://schemas.microsoft.com/office/powerpoint/2010/main" val="7983140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54</a:t>
            </a:fld>
            <a:endParaRPr lang="zh-CN" altLang="en-US"/>
          </a:p>
        </p:txBody>
      </p:sp>
    </p:spTree>
    <p:extLst>
      <p:ext uri="{BB962C8B-B14F-4D97-AF65-F5344CB8AC3E}">
        <p14:creationId xmlns:p14="http://schemas.microsoft.com/office/powerpoint/2010/main" val="20222258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56</a:t>
            </a:fld>
            <a:endParaRPr lang="zh-CN" altLang="en-US"/>
          </a:p>
        </p:txBody>
      </p:sp>
    </p:spTree>
    <p:extLst>
      <p:ext uri="{BB962C8B-B14F-4D97-AF65-F5344CB8AC3E}">
        <p14:creationId xmlns:p14="http://schemas.microsoft.com/office/powerpoint/2010/main" val="35369408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79008810-D77B-4E40-A671-02409678F1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91D06D9A-2F1D-412E-A471-AF49C91123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1508" name="灯片编号占位符 3">
            <a:extLst>
              <a:ext uri="{FF2B5EF4-FFF2-40B4-BE49-F238E27FC236}">
                <a16:creationId xmlns:a16="http://schemas.microsoft.com/office/drawing/2014/main" id="{9A2C53D4-C612-4EB0-9C60-3922DA9E614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BEDEB466-FE9A-40E9-97FD-4345BD42E7E1}" type="slidenum">
              <a:rPr lang="zh-CN" altLang="en-US"/>
              <a:pPr>
                <a:spcBef>
                  <a:spcPct val="0"/>
                </a:spcBef>
              </a:pPr>
              <a:t>57</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58</a:t>
            </a:fld>
            <a:endParaRPr lang="zh-CN" altLang="en-US"/>
          </a:p>
        </p:txBody>
      </p:sp>
    </p:spTree>
    <p:extLst>
      <p:ext uri="{BB962C8B-B14F-4D97-AF65-F5344CB8AC3E}">
        <p14:creationId xmlns:p14="http://schemas.microsoft.com/office/powerpoint/2010/main" val="5864784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59</a:t>
            </a:fld>
            <a:endParaRPr lang="zh-CN" altLang="en-US"/>
          </a:p>
        </p:txBody>
      </p:sp>
    </p:spTree>
    <p:extLst>
      <p:ext uri="{BB962C8B-B14F-4D97-AF65-F5344CB8AC3E}">
        <p14:creationId xmlns:p14="http://schemas.microsoft.com/office/powerpoint/2010/main" val="10924465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61</a:t>
            </a:fld>
            <a:endParaRPr lang="zh-CN" altLang="en-US"/>
          </a:p>
        </p:txBody>
      </p:sp>
    </p:spTree>
    <p:extLst>
      <p:ext uri="{BB962C8B-B14F-4D97-AF65-F5344CB8AC3E}">
        <p14:creationId xmlns:p14="http://schemas.microsoft.com/office/powerpoint/2010/main" val="9823189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latinLnBrk="1"/>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62</a:t>
            </a:fld>
            <a:endParaRPr lang="zh-CN" altLang="en-US"/>
          </a:p>
        </p:txBody>
      </p:sp>
    </p:spTree>
    <p:extLst>
      <p:ext uri="{BB962C8B-B14F-4D97-AF65-F5344CB8AC3E}">
        <p14:creationId xmlns:p14="http://schemas.microsoft.com/office/powerpoint/2010/main" val="13933048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latinLnBrk="1"/>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63</a:t>
            </a:fld>
            <a:endParaRPr lang="zh-CN" altLang="en-US"/>
          </a:p>
        </p:txBody>
      </p:sp>
    </p:spTree>
    <p:extLst>
      <p:ext uri="{BB962C8B-B14F-4D97-AF65-F5344CB8AC3E}">
        <p14:creationId xmlns:p14="http://schemas.microsoft.com/office/powerpoint/2010/main" val="17967762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65</a:t>
            </a:fld>
            <a:endParaRPr lang="zh-CN" altLang="en-US"/>
          </a:p>
        </p:txBody>
      </p:sp>
    </p:spTree>
    <p:extLst>
      <p:ext uri="{BB962C8B-B14F-4D97-AF65-F5344CB8AC3E}">
        <p14:creationId xmlns:p14="http://schemas.microsoft.com/office/powerpoint/2010/main" val="440628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66</a:t>
            </a:fld>
            <a:endParaRPr lang="zh-CN" altLang="en-US"/>
          </a:p>
        </p:txBody>
      </p:sp>
    </p:spTree>
    <p:extLst>
      <p:ext uri="{BB962C8B-B14F-4D97-AF65-F5344CB8AC3E}">
        <p14:creationId xmlns:p14="http://schemas.microsoft.com/office/powerpoint/2010/main" val="11475367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67</a:t>
            </a:fld>
            <a:endParaRPr lang="zh-CN" altLang="en-US"/>
          </a:p>
        </p:txBody>
      </p:sp>
    </p:spTree>
    <p:extLst>
      <p:ext uri="{BB962C8B-B14F-4D97-AF65-F5344CB8AC3E}">
        <p14:creationId xmlns:p14="http://schemas.microsoft.com/office/powerpoint/2010/main" val="2848756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68</a:t>
            </a:fld>
            <a:endParaRPr lang="zh-CN" altLang="en-US"/>
          </a:p>
        </p:txBody>
      </p:sp>
    </p:spTree>
    <p:extLst>
      <p:ext uri="{BB962C8B-B14F-4D97-AF65-F5344CB8AC3E}">
        <p14:creationId xmlns:p14="http://schemas.microsoft.com/office/powerpoint/2010/main" val="22372584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69</a:t>
            </a:fld>
            <a:endParaRPr lang="zh-CN" altLang="en-US"/>
          </a:p>
        </p:txBody>
      </p:sp>
    </p:spTree>
    <p:extLst>
      <p:ext uri="{BB962C8B-B14F-4D97-AF65-F5344CB8AC3E}">
        <p14:creationId xmlns:p14="http://schemas.microsoft.com/office/powerpoint/2010/main" val="42362360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70</a:t>
            </a:fld>
            <a:endParaRPr lang="zh-CN" altLang="en-US"/>
          </a:p>
        </p:txBody>
      </p:sp>
    </p:spTree>
    <p:extLst>
      <p:ext uri="{BB962C8B-B14F-4D97-AF65-F5344CB8AC3E}">
        <p14:creationId xmlns:p14="http://schemas.microsoft.com/office/powerpoint/2010/main" val="26362006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71</a:t>
            </a:fld>
            <a:endParaRPr lang="zh-CN" altLang="en-US"/>
          </a:p>
        </p:txBody>
      </p:sp>
    </p:spTree>
    <p:extLst>
      <p:ext uri="{BB962C8B-B14F-4D97-AF65-F5344CB8AC3E}">
        <p14:creationId xmlns:p14="http://schemas.microsoft.com/office/powerpoint/2010/main" val="31477555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73</a:t>
            </a:fld>
            <a:endParaRPr lang="zh-CN" altLang="en-US"/>
          </a:p>
        </p:txBody>
      </p:sp>
    </p:spTree>
    <p:extLst>
      <p:ext uri="{BB962C8B-B14F-4D97-AF65-F5344CB8AC3E}">
        <p14:creationId xmlns:p14="http://schemas.microsoft.com/office/powerpoint/2010/main" val="4796305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70FF8181-36FB-453D-BB7A-7CBA702883DF}"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808905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75</a:t>
            </a:fld>
            <a:endParaRPr lang="zh-CN" altLang="en-US"/>
          </a:p>
        </p:txBody>
      </p:sp>
    </p:spTree>
    <p:extLst>
      <p:ext uri="{BB962C8B-B14F-4D97-AF65-F5344CB8AC3E}">
        <p14:creationId xmlns:p14="http://schemas.microsoft.com/office/powerpoint/2010/main" val="27787597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76</a:t>
            </a:fld>
            <a:endParaRPr lang="zh-CN" altLang="en-US"/>
          </a:p>
        </p:txBody>
      </p:sp>
    </p:spTree>
    <p:extLst>
      <p:ext uri="{BB962C8B-B14F-4D97-AF65-F5344CB8AC3E}">
        <p14:creationId xmlns:p14="http://schemas.microsoft.com/office/powerpoint/2010/main" val="36466296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78</a:t>
            </a:fld>
            <a:endParaRPr lang="zh-CN" altLang="en-US"/>
          </a:p>
        </p:txBody>
      </p:sp>
    </p:spTree>
    <p:extLst>
      <p:ext uri="{BB962C8B-B14F-4D97-AF65-F5344CB8AC3E}">
        <p14:creationId xmlns:p14="http://schemas.microsoft.com/office/powerpoint/2010/main" val="22698070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80</a:t>
            </a:fld>
            <a:endParaRPr lang="zh-CN" altLang="en-US"/>
          </a:p>
        </p:txBody>
      </p:sp>
    </p:spTree>
    <p:extLst>
      <p:ext uri="{BB962C8B-B14F-4D97-AF65-F5344CB8AC3E}">
        <p14:creationId xmlns:p14="http://schemas.microsoft.com/office/powerpoint/2010/main" val="12871211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81</a:t>
            </a:fld>
            <a:endParaRPr lang="zh-CN" altLang="en-US"/>
          </a:p>
        </p:txBody>
      </p:sp>
    </p:spTree>
    <p:extLst>
      <p:ext uri="{BB962C8B-B14F-4D97-AF65-F5344CB8AC3E}">
        <p14:creationId xmlns:p14="http://schemas.microsoft.com/office/powerpoint/2010/main" val="34552637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82</a:t>
            </a:fld>
            <a:endParaRPr lang="zh-CN" altLang="en-US"/>
          </a:p>
        </p:txBody>
      </p:sp>
    </p:spTree>
    <p:extLst>
      <p:ext uri="{BB962C8B-B14F-4D97-AF65-F5344CB8AC3E}">
        <p14:creationId xmlns:p14="http://schemas.microsoft.com/office/powerpoint/2010/main" val="24739078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83</a:t>
            </a:fld>
            <a:endParaRPr lang="zh-CN" altLang="en-US"/>
          </a:p>
        </p:txBody>
      </p:sp>
    </p:spTree>
    <p:extLst>
      <p:ext uri="{BB962C8B-B14F-4D97-AF65-F5344CB8AC3E}">
        <p14:creationId xmlns:p14="http://schemas.microsoft.com/office/powerpoint/2010/main" val="8493572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84</a:t>
            </a:fld>
            <a:endParaRPr lang="zh-CN" altLang="en-US"/>
          </a:p>
        </p:txBody>
      </p:sp>
    </p:spTree>
    <p:extLst>
      <p:ext uri="{BB962C8B-B14F-4D97-AF65-F5344CB8AC3E}">
        <p14:creationId xmlns:p14="http://schemas.microsoft.com/office/powerpoint/2010/main" val="2739921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85</a:t>
            </a:fld>
            <a:endParaRPr lang="zh-CN" altLang="en-US"/>
          </a:p>
        </p:txBody>
      </p:sp>
    </p:spTree>
    <p:extLst>
      <p:ext uri="{BB962C8B-B14F-4D97-AF65-F5344CB8AC3E}">
        <p14:creationId xmlns:p14="http://schemas.microsoft.com/office/powerpoint/2010/main" val="348979798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86</a:t>
            </a:fld>
            <a:endParaRPr lang="zh-CN" altLang="en-US"/>
          </a:p>
        </p:txBody>
      </p:sp>
    </p:spTree>
    <p:extLst>
      <p:ext uri="{BB962C8B-B14F-4D97-AF65-F5344CB8AC3E}">
        <p14:creationId xmlns:p14="http://schemas.microsoft.com/office/powerpoint/2010/main" val="16336883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87</a:t>
            </a:fld>
            <a:endParaRPr lang="zh-CN" altLang="en-US"/>
          </a:p>
        </p:txBody>
      </p:sp>
    </p:spTree>
    <p:extLst>
      <p:ext uri="{BB962C8B-B14F-4D97-AF65-F5344CB8AC3E}">
        <p14:creationId xmlns:p14="http://schemas.microsoft.com/office/powerpoint/2010/main" val="41645943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88</a:t>
            </a:fld>
            <a:endParaRPr lang="zh-CN" altLang="en-US"/>
          </a:p>
        </p:txBody>
      </p:sp>
    </p:spTree>
    <p:extLst>
      <p:ext uri="{BB962C8B-B14F-4D97-AF65-F5344CB8AC3E}">
        <p14:creationId xmlns:p14="http://schemas.microsoft.com/office/powerpoint/2010/main" val="16173104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89</a:t>
            </a:fld>
            <a:endParaRPr lang="zh-CN" altLang="en-US"/>
          </a:p>
        </p:txBody>
      </p:sp>
    </p:spTree>
    <p:extLst>
      <p:ext uri="{BB962C8B-B14F-4D97-AF65-F5344CB8AC3E}">
        <p14:creationId xmlns:p14="http://schemas.microsoft.com/office/powerpoint/2010/main" val="29157620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90</a:t>
            </a:fld>
            <a:endParaRPr lang="zh-CN" altLang="en-US"/>
          </a:p>
        </p:txBody>
      </p:sp>
    </p:spTree>
    <p:extLst>
      <p:ext uri="{BB962C8B-B14F-4D97-AF65-F5344CB8AC3E}">
        <p14:creationId xmlns:p14="http://schemas.microsoft.com/office/powerpoint/2010/main" val="375505850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91</a:t>
            </a:fld>
            <a:endParaRPr lang="zh-CN" altLang="en-US"/>
          </a:p>
        </p:txBody>
      </p:sp>
    </p:spTree>
    <p:extLst>
      <p:ext uri="{BB962C8B-B14F-4D97-AF65-F5344CB8AC3E}">
        <p14:creationId xmlns:p14="http://schemas.microsoft.com/office/powerpoint/2010/main" val="56144800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92</a:t>
            </a:fld>
            <a:endParaRPr lang="zh-CN" altLang="en-US"/>
          </a:p>
        </p:txBody>
      </p:sp>
    </p:spTree>
    <p:extLst>
      <p:ext uri="{BB962C8B-B14F-4D97-AF65-F5344CB8AC3E}">
        <p14:creationId xmlns:p14="http://schemas.microsoft.com/office/powerpoint/2010/main" val="348208666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93</a:t>
            </a:fld>
            <a:endParaRPr lang="zh-CN" altLang="en-US"/>
          </a:p>
        </p:txBody>
      </p:sp>
    </p:spTree>
    <p:extLst>
      <p:ext uri="{BB962C8B-B14F-4D97-AF65-F5344CB8AC3E}">
        <p14:creationId xmlns:p14="http://schemas.microsoft.com/office/powerpoint/2010/main" val="58575445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99</a:t>
            </a:fld>
            <a:endParaRPr lang="zh-CN" altLang="en-US"/>
          </a:p>
        </p:txBody>
      </p:sp>
    </p:spTree>
    <p:extLst>
      <p:ext uri="{BB962C8B-B14F-4D97-AF65-F5344CB8AC3E}">
        <p14:creationId xmlns:p14="http://schemas.microsoft.com/office/powerpoint/2010/main" val="40975606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100</a:t>
            </a:fld>
            <a:endParaRPr lang="zh-CN" altLang="en-US"/>
          </a:p>
        </p:txBody>
      </p:sp>
    </p:spTree>
    <p:extLst>
      <p:ext uri="{BB962C8B-B14F-4D97-AF65-F5344CB8AC3E}">
        <p14:creationId xmlns:p14="http://schemas.microsoft.com/office/powerpoint/2010/main" val="22146316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101</a:t>
            </a:fld>
            <a:endParaRPr lang="zh-CN" altLang="en-US"/>
          </a:p>
        </p:txBody>
      </p:sp>
    </p:spTree>
    <p:extLst>
      <p:ext uri="{BB962C8B-B14F-4D97-AF65-F5344CB8AC3E}">
        <p14:creationId xmlns:p14="http://schemas.microsoft.com/office/powerpoint/2010/main" val="33995385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102</a:t>
            </a:fld>
            <a:endParaRPr lang="zh-CN" altLang="en-US"/>
          </a:p>
        </p:txBody>
      </p:sp>
    </p:spTree>
    <p:extLst>
      <p:ext uri="{BB962C8B-B14F-4D97-AF65-F5344CB8AC3E}">
        <p14:creationId xmlns:p14="http://schemas.microsoft.com/office/powerpoint/2010/main" val="264156346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103</a:t>
            </a:fld>
            <a:endParaRPr lang="zh-CN" altLang="en-US"/>
          </a:p>
        </p:txBody>
      </p:sp>
    </p:spTree>
    <p:extLst>
      <p:ext uri="{BB962C8B-B14F-4D97-AF65-F5344CB8AC3E}">
        <p14:creationId xmlns:p14="http://schemas.microsoft.com/office/powerpoint/2010/main" val="31634619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104</a:t>
            </a:fld>
            <a:endParaRPr lang="zh-CN" altLang="en-US"/>
          </a:p>
        </p:txBody>
      </p:sp>
    </p:spTree>
    <p:extLst>
      <p:ext uri="{BB962C8B-B14F-4D97-AF65-F5344CB8AC3E}">
        <p14:creationId xmlns:p14="http://schemas.microsoft.com/office/powerpoint/2010/main" val="30989422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105</a:t>
            </a:fld>
            <a:endParaRPr lang="zh-CN" altLang="en-US"/>
          </a:p>
        </p:txBody>
      </p:sp>
    </p:spTree>
    <p:extLst>
      <p:ext uri="{BB962C8B-B14F-4D97-AF65-F5344CB8AC3E}">
        <p14:creationId xmlns:p14="http://schemas.microsoft.com/office/powerpoint/2010/main" val="73007009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106</a:t>
            </a:fld>
            <a:endParaRPr lang="zh-CN" altLang="en-US"/>
          </a:p>
        </p:txBody>
      </p:sp>
    </p:spTree>
    <p:extLst>
      <p:ext uri="{BB962C8B-B14F-4D97-AF65-F5344CB8AC3E}">
        <p14:creationId xmlns:p14="http://schemas.microsoft.com/office/powerpoint/2010/main" val="407361131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107</a:t>
            </a:fld>
            <a:endParaRPr lang="zh-CN" altLang="en-US"/>
          </a:p>
        </p:txBody>
      </p:sp>
    </p:spTree>
    <p:extLst>
      <p:ext uri="{BB962C8B-B14F-4D97-AF65-F5344CB8AC3E}">
        <p14:creationId xmlns:p14="http://schemas.microsoft.com/office/powerpoint/2010/main" val="235652852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109</a:t>
            </a:fld>
            <a:endParaRPr lang="zh-CN" altLang="en-US"/>
          </a:p>
        </p:txBody>
      </p:sp>
    </p:spTree>
    <p:extLst>
      <p:ext uri="{BB962C8B-B14F-4D97-AF65-F5344CB8AC3E}">
        <p14:creationId xmlns:p14="http://schemas.microsoft.com/office/powerpoint/2010/main" val="333183543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573BAE-A0EE-4550-9627-7D3844C520A2}" type="slidenum">
              <a:rPr lang="zh-CN" altLang="en-US">
                <a:latin typeface="Calibri" panose="020F0502020204030204" pitchFamily="34" charset="0"/>
              </a:rPr>
              <a:pPr eaLnBrk="1" hangingPunct="1"/>
              <a:t>110</a:t>
            </a:fld>
            <a:endParaRPr lang="zh-CN" altLang="en-US">
              <a:latin typeface="Calibri" panose="020F0502020204030204" pitchFamily="34" charset="0"/>
            </a:endParaRPr>
          </a:p>
        </p:txBody>
      </p:sp>
    </p:spTree>
    <p:extLst>
      <p:ext uri="{BB962C8B-B14F-4D97-AF65-F5344CB8AC3E}">
        <p14:creationId xmlns:p14="http://schemas.microsoft.com/office/powerpoint/2010/main" val="24508500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113</a:t>
            </a:fld>
            <a:endParaRPr lang="zh-CN" altLang="en-US"/>
          </a:p>
        </p:txBody>
      </p:sp>
    </p:spTree>
    <p:extLst>
      <p:ext uri="{BB962C8B-B14F-4D97-AF65-F5344CB8AC3E}">
        <p14:creationId xmlns:p14="http://schemas.microsoft.com/office/powerpoint/2010/main" val="20022889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114</a:t>
            </a:fld>
            <a:endParaRPr lang="zh-CN" altLang="en-US"/>
          </a:p>
        </p:txBody>
      </p:sp>
    </p:spTree>
    <p:extLst>
      <p:ext uri="{BB962C8B-B14F-4D97-AF65-F5344CB8AC3E}">
        <p14:creationId xmlns:p14="http://schemas.microsoft.com/office/powerpoint/2010/main" val="76120973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115</a:t>
            </a:fld>
            <a:endParaRPr lang="zh-CN" altLang="en-US"/>
          </a:p>
        </p:txBody>
      </p:sp>
    </p:spTree>
    <p:extLst>
      <p:ext uri="{BB962C8B-B14F-4D97-AF65-F5344CB8AC3E}">
        <p14:creationId xmlns:p14="http://schemas.microsoft.com/office/powerpoint/2010/main" val="389211923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117</a:t>
            </a:fld>
            <a:endParaRPr lang="zh-CN" altLang="en-US"/>
          </a:p>
        </p:txBody>
      </p:sp>
    </p:spTree>
    <p:extLst>
      <p:ext uri="{BB962C8B-B14F-4D97-AF65-F5344CB8AC3E}">
        <p14:creationId xmlns:p14="http://schemas.microsoft.com/office/powerpoint/2010/main" val="341158227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118</a:t>
            </a:fld>
            <a:endParaRPr lang="zh-CN" altLang="en-US"/>
          </a:p>
        </p:txBody>
      </p:sp>
    </p:spTree>
    <p:extLst>
      <p:ext uri="{BB962C8B-B14F-4D97-AF65-F5344CB8AC3E}">
        <p14:creationId xmlns:p14="http://schemas.microsoft.com/office/powerpoint/2010/main" val="260175219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124</a:t>
            </a:fld>
            <a:endParaRPr lang="zh-CN" altLang="en-US"/>
          </a:p>
        </p:txBody>
      </p:sp>
    </p:spTree>
    <p:extLst>
      <p:ext uri="{BB962C8B-B14F-4D97-AF65-F5344CB8AC3E}">
        <p14:creationId xmlns:p14="http://schemas.microsoft.com/office/powerpoint/2010/main" val="170255882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235CA6-B030-47FE-B5B9-73D69AEB7EF4}"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1190272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235CA6-B030-47FE-B5B9-73D69AEB7EF4}"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10146897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131</a:t>
            </a:fld>
            <a:endParaRPr lang="zh-CN" altLang="en-US"/>
          </a:p>
        </p:txBody>
      </p:sp>
    </p:spTree>
    <p:extLst>
      <p:ext uri="{BB962C8B-B14F-4D97-AF65-F5344CB8AC3E}">
        <p14:creationId xmlns:p14="http://schemas.microsoft.com/office/powerpoint/2010/main" val="125231040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132</a:t>
            </a:fld>
            <a:endParaRPr lang="zh-CN" altLang="en-US"/>
          </a:p>
        </p:txBody>
      </p:sp>
    </p:spTree>
    <p:extLst>
      <p:ext uri="{BB962C8B-B14F-4D97-AF65-F5344CB8AC3E}">
        <p14:creationId xmlns:p14="http://schemas.microsoft.com/office/powerpoint/2010/main" val="426012493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133</a:t>
            </a:fld>
            <a:endParaRPr lang="zh-CN" altLang="en-US"/>
          </a:p>
        </p:txBody>
      </p:sp>
    </p:spTree>
    <p:extLst>
      <p:ext uri="{BB962C8B-B14F-4D97-AF65-F5344CB8AC3E}">
        <p14:creationId xmlns:p14="http://schemas.microsoft.com/office/powerpoint/2010/main" val="155454320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135</a:t>
            </a:fld>
            <a:endParaRPr lang="zh-CN" altLang="en-US"/>
          </a:p>
        </p:txBody>
      </p:sp>
    </p:spTree>
    <p:extLst>
      <p:ext uri="{BB962C8B-B14F-4D97-AF65-F5344CB8AC3E}">
        <p14:creationId xmlns:p14="http://schemas.microsoft.com/office/powerpoint/2010/main" val="85763171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138</a:t>
            </a:fld>
            <a:endParaRPr lang="zh-CN" altLang="en-US"/>
          </a:p>
        </p:txBody>
      </p:sp>
    </p:spTree>
    <p:extLst>
      <p:ext uri="{BB962C8B-B14F-4D97-AF65-F5344CB8AC3E}">
        <p14:creationId xmlns:p14="http://schemas.microsoft.com/office/powerpoint/2010/main" val="77063794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139</a:t>
            </a:fld>
            <a:endParaRPr lang="zh-CN" altLang="en-US"/>
          </a:p>
        </p:txBody>
      </p:sp>
    </p:spTree>
    <p:extLst>
      <p:ext uri="{BB962C8B-B14F-4D97-AF65-F5344CB8AC3E}">
        <p14:creationId xmlns:p14="http://schemas.microsoft.com/office/powerpoint/2010/main" val="114753671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140</a:t>
            </a:fld>
            <a:endParaRPr lang="zh-CN" altLang="en-US"/>
          </a:p>
        </p:txBody>
      </p:sp>
    </p:spTree>
    <p:extLst>
      <p:ext uri="{BB962C8B-B14F-4D97-AF65-F5344CB8AC3E}">
        <p14:creationId xmlns:p14="http://schemas.microsoft.com/office/powerpoint/2010/main" val="60566847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141</a:t>
            </a:fld>
            <a:endParaRPr lang="zh-CN" altLang="en-US"/>
          </a:p>
        </p:txBody>
      </p:sp>
    </p:spTree>
    <p:extLst>
      <p:ext uri="{BB962C8B-B14F-4D97-AF65-F5344CB8AC3E}">
        <p14:creationId xmlns:p14="http://schemas.microsoft.com/office/powerpoint/2010/main" val="28487560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142</a:t>
            </a:fld>
            <a:endParaRPr lang="zh-CN" altLang="en-US"/>
          </a:p>
        </p:txBody>
      </p:sp>
    </p:spTree>
    <p:extLst>
      <p:ext uri="{BB962C8B-B14F-4D97-AF65-F5344CB8AC3E}">
        <p14:creationId xmlns:p14="http://schemas.microsoft.com/office/powerpoint/2010/main" val="291538538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143</a:t>
            </a:fld>
            <a:endParaRPr lang="zh-CN" altLang="en-US"/>
          </a:p>
        </p:txBody>
      </p:sp>
    </p:spTree>
    <p:extLst>
      <p:ext uri="{BB962C8B-B14F-4D97-AF65-F5344CB8AC3E}">
        <p14:creationId xmlns:p14="http://schemas.microsoft.com/office/powerpoint/2010/main" val="37415997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144</a:t>
            </a:fld>
            <a:endParaRPr lang="zh-CN" altLang="en-US"/>
          </a:p>
        </p:txBody>
      </p:sp>
    </p:spTree>
    <p:extLst>
      <p:ext uri="{BB962C8B-B14F-4D97-AF65-F5344CB8AC3E}">
        <p14:creationId xmlns:p14="http://schemas.microsoft.com/office/powerpoint/2010/main" val="238493976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150</a:t>
            </a:fld>
            <a:endParaRPr lang="zh-CN" altLang="en-US"/>
          </a:p>
        </p:txBody>
      </p:sp>
    </p:spTree>
    <p:extLst>
      <p:ext uri="{BB962C8B-B14F-4D97-AF65-F5344CB8AC3E}">
        <p14:creationId xmlns:p14="http://schemas.microsoft.com/office/powerpoint/2010/main" val="17857579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151</a:t>
            </a:fld>
            <a:endParaRPr lang="zh-CN" altLang="en-US"/>
          </a:p>
        </p:txBody>
      </p:sp>
    </p:spTree>
    <p:extLst>
      <p:ext uri="{BB962C8B-B14F-4D97-AF65-F5344CB8AC3E}">
        <p14:creationId xmlns:p14="http://schemas.microsoft.com/office/powerpoint/2010/main" val="409917173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DAFDE63-365A-4E29-A343-93161BAD4F5B}" type="slidenum">
              <a:rPr lang="zh-CN" altLang="en-US" smtClean="0"/>
              <a:pPr/>
              <a:t>152</a:t>
            </a:fld>
            <a:endParaRPr lang="zh-CN" altLang="en-US"/>
          </a:p>
        </p:txBody>
      </p:sp>
    </p:spTree>
    <p:extLst>
      <p:ext uri="{BB962C8B-B14F-4D97-AF65-F5344CB8AC3E}">
        <p14:creationId xmlns:p14="http://schemas.microsoft.com/office/powerpoint/2010/main" val="135061373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158</a:t>
            </a:fld>
            <a:endParaRPr lang="zh-CN" altLang="en-US"/>
          </a:p>
        </p:txBody>
      </p:sp>
    </p:spTree>
    <p:extLst>
      <p:ext uri="{BB962C8B-B14F-4D97-AF65-F5344CB8AC3E}">
        <p14:creationId xmlns:p14="http://schemas.microsoft.com/office/powerpoint/2010/main" val="3382540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p:cNvGrpSpPr>
            <a:grpSpLocks/>
          </p:cNvGrpSpPr>
          <p:nvPr/>
        </p:nvGrpSpPr>
        <p:grpSpPr bwMode="auto">
          <a:xfrm>
            <a:off x="7493000" y="2992438"/>
            <a:ext cx="1338263" cy="2189162"/>
            <a:chOff x="0" y="0"/>
            <a:chExt cx="843" cy="1379"/>
          </a:xfrm>
        </p:grpSpPr>
        <p:sp>
          <p:nvSpPr>
            <p:cNvPr id="6" name="Oval 9"/>
            <p:cNvSpPr>
              <a:spLocks noChangeArrowheads="1"/>
            </p:cNvSpPr>
            <p:nvPr/>
          </p:nvSpPr>
          <p:spPr bwMode="auto">
            <a:xfrm>
              <a:off x="0" y="0"/>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7" name="Oval 10"/>
            <p:cNvSpPr>
              <a:spLocks noChangeArrowheads="1"/>
            </p:cNvSpPr>
            <p:nvPr/>
          </p:nvSpPr>
          <p:spPr bwMode="auto">
            <a:xfrm>
              <a:off x="179" y="0"/>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8" name="Oval 11"/>
            <p:cNvSpPr>
              <a:spLocks noChangeArrowheads="1"/>
            </p:cNvSpPr>
            <p:nvPr/>
          </p:nvSpPr>
          <p:spPr bwMode="auto">
            <a:xfrm>
              <a:off x="358" y="0"/>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9" name="Oval 12"/>
            <p:cNvSpPr>
              <a:spLocks noChangeArrowheads="1"/>
            </p:cNvSpPr>
            <p:nvPr/>
          </p:nvSpPr>
          <p:spPr bwMode="auto">
            <a:xfrm>
              <a:off x="0" y="179"/>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 name="Oval 13"/>
            <p:cNvSpPr>
              <a:spLocks noChangeArrowheads="1"/>
            </p:cNvSpPr>
            <p:nvPr/>
          </p:nvSpPr>
          <p:spPr bwMode="auto">
            <a:xfrm>
              <a:off x="179" y="179"/>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1" name="Oval 14"/>
            <p:cNvSpPr>
              <a:spLocks noChangeArrowheads="1"/>
            </p:cNvSpPr>
            <p:nvPr/>
          </p:nvSpPr>
          <p:spPr bwMode="auto">
            <a:xfrm>
              <a:off x="358" y="179"/>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2" name="Oval 15"/>
            <p:cNvSpPr>
              <a:spLocks noChangeArrowheads="1"/>
            </p:cNvSpPr>
            <p:nvPr/>
          </p:nvSpPr>
          <p:spPr bwMode="auto">
            <a:xfrm>
              <a:off x="537" y="1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3" name="Oval 16"/>
            <p:cNvSpPr>
              <a:spLocks noChangeArrowheads="1"/>
            </p:cNvSpPr>
            <p:nvPr/>
          </p:nvSpPr>
          <p:spPr bwMode="auto">
            <a:xfrm>
              <a:off x="0" y="358"/>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4" name="Oval 17"/>
            <p:cNvSpPr>
              <a:spLocks noChangeArrowheads="1"/>
            </p:cNvSpPr>
            <p:nvPr/>
          </p:nvSpPr>
          <p:spPr bwMode="auto">
            <a:xfrm>
              <a:off x="179" y="358"/>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5" name="Oval 18"/>
            <p:cNvSpPr>
              <a:spLocks noChangeArrowheads="1"/>
            </p:cNvSpPr>
            <p:nvPr/>
          </p:nvSpPr>
          <p:spPr bwMode="auto">
            <a:xfrm>
              <a:off x="358" y="358"/>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6" name="Oval 19"/>
            <p:cNvSpPr>
              <a:spLocks noChangeArrowheads="1"/>
            </p:cNvSpPr>
            <p:nvPr/>
          </p:nvSpPr>
          <p:spPr bwMode="auto">
            <a:xfrm>
              <a:off x="537" y="358"/>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7" name="Oval 20"/>
            <p:cNvSpPr>
              <a:spLocks noChangeArrowheads="1"/>
            </p:cNvSpPr>
            <p:nvPr/>
          </p:nvSpPr>
          <p:spPr bwMode="auto">
            <a:xfrm>
              <a:off x="716" y="3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8" name="Oval 21"/>
            <p:cNvSpPr>
              <a:spLocks noChangeArrowheads="1"/>
            </p:cNvSpPr>
            <p:nvPr/>
          </p:nvSpPr>
          <p:spPr bwMode="auto">
            <a:xfrm>
              <a:off x="0" y="536"/>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9" name="Oval 22"/>
            <p:cNvSpPr>
              <a:spLocks noChangeArrowheads="1"/>
            </p:cNvSpPr>
            <p:nvPr/>
          </p:nvSpPr>
          <p:spPr bwMode="auto">
            <a:xfrm>
              <a:off x="179" y="536"/>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0" name="Oval 23"/>
            <p:cNvSpPr>
              <a:spLocks noChangeArrowheads="1"/>
            </p:cNvSpPr>
            <p:nvPr/>
          </p:nvSpPr>
          <p:spPr bwMode="auto">
            <a:xfrm>
              <a:off x="358" y="536"/>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1" name="Oval 24"/>
            <p:cNvSpPr>
              <a:spLocks noChangeArrowheads="1"/>
            </p:cNvSpPr>
            <p:nvPr/>
          </p:nvSpPr>
          <p:spPr bwMode="auto">
            <a:xfrm>
              <a:off x="537" y="536"/>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2" name="Oval 25"/>
            <p:cNvSpPr>
              <a:spLocks noChangeArrowheads="1"/>
            </p:cNvSpPr>
            <p:nvPr/>
          </p:nvSpPr>
          <p:spPr bwMode="auto">
            <a:xfrm>
              <a:off x="0" y="715"/>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3" name="Oval 26"/>
            <p:cNvSpPr>
              <a:spLocks noChangeArrowheads="1"/>
            </p:cNvSpPr>
            <p:nvPr/>
          </p:nvSpPr>
          <p:spPr bwMode="auto">
            <a:xfrm>
              <a:off x="179" y="715"/>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4" name="Oval 27"/>
            <p:cNvSpPr>
              <a:spLocks noChangeArrowheads="1"/>
            </p:cNvSpPr>
            <p:nvPr/>
          </p:nvSpPr>
          <p:spPr bwMode="auto">
            <a:xfrm>
              <a:off x="358" y="715"/>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5" name="Oval 28"/>
            <p:cNvSpPr>
              <a:spLocks noChangeArrowheads="1"/>
            </p:cNvSpPr>
            <p:nvPr/>
          </p:nvSpPr>
          <p:spPr bwMode="auto">
            <a:xfrm>
              <a:off x="537" y="715"/>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6" name="Oval 29"/>
            <p:cNvSpPr>
              <a:spLocks noChangeArrowheads="1"/>
            </p:cNvSpPr>
            <p:nvPr/>
          </p:nvSpPr>
          <p:spPr bwMode="auto">
            <a:xfrm>
              <a:off x="716" y="715"/>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7" name="Oval 30"/>
            <p:cNvSpPr>
              <a:spLocks noChangeArrowheads="1"/>
            </p:cNvSpPr>
            <p:nvPr/>
          </p:nvSpPr>
          <p:spPr bwMode="auto">
            <a:xfrm>
              <a:off x="0" y="89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8" name="Oval 31"/>
            <p:cNvSpPr>
              <a:spLocks noChangeArrowheads="1"/>
            </p:cNvSpPr>
            <p:nvPr/>
          </p:nvSpPr>
          <p:spPr bwMode="auto">
            <a:xfrm>
              <a:off x="179" y="894"/>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29" name="Oval 32"/>
            <p:cNvSpPr>
              <a:spLocks noChangeArrowheads="1"/>
            </p:cNvSpPr>
            <p:nvPr/>
          </p:nvSpPr>
          <p:spPr bwMode="auto">
            <a:xfrm>
              <a:off x="358" y="894"/>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0" name="Oval 33"/>
            <p:cNvSpPr>
              <a:spLocks noChangeArrowheads="1"/>
            </p:cNvSpPr>
            <p:nvPr/>
          </p:nvSpPr>
          <p:spPr bwMode="auto">
            <a:xfrm>
              <a:off x="537" y="894"/>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1" name="Oval 34"/>
            <p:cNvSpPr>
              <a:spLocks noChangeArrowheads="1"/>
            </p:cNvSpPr>
            <p:nvPr/>
          </p:nvSpPr>
          <p:spPr bwMode="auto">
            <a:xfrm>
              <a:off x="0" y="107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2" name="Oval 35"/>
            <p:cNvSpPr>
              <a:spLocks noChangeArrowheads="1"/>
            </p:cNvSpPr>
            <p:nvPr/>
          </p:nvSpPr>
          <p:spPr bwMode="auto">
            <a:xfrm>
              <a:off x="179" y="107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3" name="Oval 36"/>
            <p:cNvSpPr>
              <a:spLocks noChangeArrowheads="1"/>
            </p:cNvSpPr>
            <p:nvPr/>
          </p:nvSpPr>
          <p:spPr bwMode="auto">
            <a:xfrm>
              <a:off x="358" y="1073"/>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4" name="Oval 37"/>
            <p:cNvSpPr>
              <a:spLocks noChangeArrowheads="1"/>
            </p:cNvSpPr>
            <p:nvPr/>
          </p:nvSpPr>
          <p:spPr bwMode="auto">
            <a:xfrm>
              <a:off x="537" y="1073"/>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5" name="Oval 38"/>
            <p:cNvSpPr>
              <a:spLocks noChangeArrowheads="1"/>
            </p:cNvSpPr>
            <p:nvPr/>
          </p:nvSpPr>
          <p:spPr bwMode="auto">
            <a:xfrm>
              <a:off x="179" y="1252"/>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36" name="Oval 39"/>
            <p:cNvSpPr>
              <a:spLocks noChangeArrowheads="1"/>
            </p:cNvSpPr>
            <p:nvPr/>
          </p:nvSpPr>
          <p:spPr bwMode="auto">
            <a:xfrm>
              <a:off x="537" y="1252"/>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600"/>
            </a:lvl1pPr>
          </a:lstStyle>
          <a:p>
            <a:r>
              <a:rPr lang="en-GB" altLang="zh-CN"/>
              <a:t>Click to edit Master title style</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000"/>
            </a:lvl1pPr>
          </a:lstStyle>
          <a:p>
            <a:r>
              <a:rPr lang="en-GB" altLang="zh-CN"/>
              <a:t>Click to edit Master subtitle style</a:t>
            </a:r>
          </a:p>
        </p:txBody>
      </p:sp>
      <p:sp>
        <p:nvSpPr>
          <p:cNvPr id="38" name="Rectangle 5"/>
          <p:cNvSpPr>
            <a:spLocks noGrp="1" noChangeArrowheads="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39" name="Rectangle 6"/>
          <p:cNvSpPr>
            <a:spLocks noGrp="1" noChangeArrowheads="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40" name="Rectangle 7"/>
          <p:cNvSpPr>
            <a:spLocks noGrp="1" noChangeArrowheads="1"/>
          </p:cNvSpPr>
          <p:nvPr>
            <p:ph type="sldNum" sz="quarter" idx="12"/>
          </p:nvPr>
        </p:nvSpPr>
        <p:spPr>
          <a:xfrm>
            <a:off x="6553200" y="6248400"/>
            <a:ext cx="2133600" cy="457200"/>
          </a:xfrm>
        </p:spPr>
        <p:txBody>
          <a:bodyPr/>
          <a:lstStyle>
            <a:lvl1pPr>
              <a:defRPr sz="1000" b="0">
                <a:solidFill>
                  <a:srgbClr val="000000"/>
                </a:solidFill>
              </a:defRPr>
            </a:lvl1pPr>
          </a:lstStyle>
          <a:p>
            <a:fld id="{E95F5AE1-B278-4172-B5B9-915FF06CA8C2}" type="slidenum">
              <a:rPr lang="en-GB" altLang="en-US"/>
              <a:pPr/>
              <a:t>‹#›</a:t>
            </a:fld>
            <a:endParaRPr lang="en-GB" altLang="en-US"/>
          </a:p>
        </p:txBody>
      </p:sp>
    </p:spTree>
    <p:extLst>
      <p:ext uri="{BB962C8B-B14F-4D97-AF65-F5344CB8AC3E}">
        <p14:creationId xmlns:p14="http://schemas.microsoft.com/office/powerpoint/2010/main" val="1569080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5" name="页脚占位符 4"/>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6" name="灯片编号占位符 5"/>
          <p:cNvSpPr>
            <a:spLocks noGrp="1"/>
          </p:cNvSpPr>
          <p:nvPr>
            <p:ph type="sldNum" sz="quarter" idx="12"/>
          </p:nvPr>
        </p:nvSpPr>
        <p:spPr/>
        <p:txBody>
          <a:bodyPr/>
          <a:lstStyle>
            <a:lvl1pPr>
              <a:defRPr/>
            </a:lvl1pPr>
          </a:lstStyle>
          <a:p>
            <a:fld id="{674F770A-BA1C-4F89-B23C-E2BCA3DC8D52}" type="slidenum">
              <a:rPr lang="en-GB" altLang="en-US"/>
              <a:pPr/>
              <a:t>‹#›</a:t>
            </a:fld>
            <a:endParaRPr lang="en-GB" altLang="en-US"/>
          </a:p>
        </p:txBody>
      </p:sp>
    </p:spTree>
    <p:extLst>
      <p:ext uri="{BB962C8B-B14F-4D97-AF65-F5344CB8AC3E}">
        <p14:creationId xmlns:p14="http://schemas.microsoft.com/office/powerpoint/2010/main" val="2479149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5" name="页脚占位符 4"/>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6" name="灯片编号占位符 5"/>
          <p:cNvSpPr>
            <a:spLocks noGrp="1"/>
          </p:cNvSpPr>
          <p:nvPr>
            <p:ph type="sldNum" sz="quarter" idx="12"/>
          </p:nvPr>
        </p:nvSpPr>
        <p:spPr/>
        <p:txBody>
          <a:bodyPr/>
          <a:lstStyle>
            <a:lvl1pPr>
              <a:defRPr/>
            </a:lvl1pPr>
          </a:lstStyle>
          <a:p>
            <a:fld id="{93682A99-3BA0-4770-A835-BFD47F51C799}" type="slidenum">
              <a:rPr lang="en-GB" altLang="en-US"/>
              <a:pPr/>
              <a:t>‹#›</a:t>
            </a:fld>
            <a:endParaRPr lang="en-GB" altLang="en-US"/>
          </a:p>
        </p:txBody>
      </p:sp>
    </p:spTree>
    <p:extLst>
      <p:ext uri="{BB962C8B-B14F-4D97-AF65-F5344CB8AC3E}">
        <p14:creationId xmlns:p14="http://schemas.microsoft.com/office/powerpoint/2010/main" val="1161454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981075"/>
            <a:ext cx="4038600" cy="5184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9313" y="981075"/>
            <a:ext cx="4038600" cy="5184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6" name="页脚占位符 5"/>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7" name="灯片编号占位符 6"/>
          <p:cNvSpPr>
            <a:spLocks noGrp="1"/>
          </p:cNvSpPr>
          <p:nvPr>
            <p:ph type="sldNum" sz="quarter" idx="12"/>
          </p:nvPr>
        </p:nvSpPr>
        <p:spPr/>
        <p:txBody>
          <a:bodyPr/>
          <a:lstStyle>
            <a:lvl1pPr>
              <a:defRPr/>
            </a:lvl1pPr>
          </a:lstStyle>
          <a:p>
            <a:fld id="{29379F54-6D24-4173-8971-861591EFD3D0}" type="slidenum">
              <a:rPr lang="en-GB" altLang="en-US"/>
              <a:pPr/>
              <a:t>‹#›</a:t>
            </a:fld>
            <a:endParaRPr lang="en-GB" altLang="en-US"/>
          </a:p>
        </p:txBody>
      </p:sp>
    </p:spTree>
    <p:extLst>
      <p:ext uri="{BB962C8B-B14F-4D97-AF65-F5344CB8AC3E}">
        <p14:creationId xmlns:p14="http://schemas.microsoft.com/office/powerpoint/2010/main" val="3032294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8" name="页脚占位符 7"/>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9" name="灯片编号占位符 8"/>
          <p:cNvSpPr>
            <a:spLocks noGrp="1"/>
          </p:cNvSpPr>
          <p:nvPr>
            <p:ph type="sldNum" sz="quarter" idx="12"/>
          </p:nvPr>
        </p:nvSpPr>
        <p:spPr/>
        <p:txBody>
          <a:bodyPr/>
          <a:lstStyle>
            <a:lvl1pPr>
              <a:defRPr/>
            </a:lvl1pPr>
          </a:lstStyle>
          <a:p>
            <a:fld id="{1052D595-B2B3-486D-8FAB-8ABC8731915E}" type="slidenum">
              <a:rPr lang="en-GB" altLang="en-US"/>
              <a:pPr/>
              <a:t>‹#›</a:t>
            </a:fld>
            <a:endParaRPr lang="en-GB" altLang="en-US"/>
          </a:p>
        </p:txBody>
      </p:sp>
    </p:spTree>
    <p:extLst>
      <p:ext uri="{BB962C8B-B14F-4D97-AF65-F5344CB8AC3E}">
        <p14:creationId xmlns:p14="http://schemas.microsoft.com/office/powerpoint/2010/main" val="3660551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4" name="页脚占位符 3"/>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5" name="灯片编号占位符 4"/>
          <p:cNvSpPr>
            <a:spLocks noGrp="1"/>
          </p:cNvSpPr>
          <p:nvPr>
            <p:ph type="sldNum" sz="quarter" idx="12"/>
          </p:nvPr>
        </p:nvSpPr>
        <p:spPr/>
        <p:txBody>
          <a:bodyPr/>
          <a:lstStyle>
            <a:lvl1pPr>
              <a:defRPr/>
            </a:lvl1pPr>
          </a:lstStyle>
          <a:p>
            <a:fld id="{C9A5DB87-5F95-481F-A8CE-BEA488C6B94F}" type="slidenum">
              <a:rPr lang="en-GB" altLang="en-US"/>
              <a:pPr/>
              <a:t>‹#›</a:t>
            </a:fld>
            <a:endParaRPr lang="en-GB" altLang="en-US"/>
          </a:p>
        </p:txBody>
      </p:sp>
    </p:spTree>
    <p:extLst>
      <p:ext uri="{BB962C8B-B14F-4D97-AF65-F5344CB8AC3E}">
        <p14:creationId xmlns:p14="http://schemas.microsoft.com/office/powerpoint/2010/main" val="2567433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3" name="页脚占位符 2"/>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4" name="灯片编号占位符 3"/>
          <p:cNvSpPr>
            <a:spLocks noGrp="1"/>
          </p:cNvSpPr>
          <p:nvPr>
            <p:ph type="sldNum" sz="quarter" idx="12"/>
          </p:nvPr>
        </p:nvSpPr>
        <p:spPr/>
        <p:txBody>
          <a:bodyPr/>
          <a:lstStyle>
            <a:lvl1pPr>
              <a:defRPr/>
            </a:lvl1pPr>
          </a:lstStyle>
          <a:p>
            <a:fld id="{1F001190-B905-4658-9052-54C97C51EC8C}" type="slidenum">
              <a:rPr lang="en-GB" altLang="en-US"/>
              <a:pPr/>
              <a:t>‹#›</a:t>
            </a:fld>
            <a:endParaRPr lang="en-GB" altLang="en-US"/>
          </a:p>
        </p:txBody>
      </p:sp>
    </p:spTree>
    <p:extLst>
      <p:ext uri="{BB962C8B-B14F-4D97-AF65-F5344CB8AC3E}">
        <p14:creationId xmlns:p14="http://schemas.microsoft.com/office/powerpoint/2010/main" val="4053074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6" name="页脚占位符 5"/>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7" name="灯片编号占位符 6"/>
          <p:cNvSpPr>
            <a:spLocks noGrp="1"/>
          </p:cNvSpPr>
          <p:nvPr>
            <p:ph type="sldNum" sz="quarter" idx="12"/>
          </p:nvPr>
        </p:nvSpPr>
        <p:spPr/>
        <p:txBody>
          <a:bodyPr/>
          <a:lstStyle>
            <a:lvl1pPr>
              <a:defRPr/>
            </a:lvl1pPr>
          </a:lstStyle>
          <a:p>
            <a:fld id="{49F41AAC-7B67-408C-A82D-E51CD8910B8E}" type="slidenum">
              <a:rPr lang="en-GB" altLang="en-US"/>
              <a:pPr/>
              <a:t>‹#›</a:t>
            </a:fld>
            <a:endParaRPr lang="en-GB" altLang="en-US"/>
          </a:p>
        </p:txBody>
      </p:sp>
    </p:spTree>
    <p:extLst>
      <p:ext uri="{BB962C8B-B14F-4D97-AF65-F5344CB8AC3E}">
        <p14:creationId xmlns:p14="http://schemas.microsoft.com/office/powerpoint/2010/main" val="655110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6" name="页脚占位符 5"/>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7" name="灯片编号占位符 6"/>
          <p:cNvSpPr>
            <a:spLocks noGrp="1"/>
          </p:cNvSpPr>
          <p:nvPr>
            <p:ph type="sldNum" sz="quarter" idx="12"/>
          </p:nvPr>
        </p:nvSpPr>
        <p:spPr/>
        <p:txBody>
          <a:bodyPr/>
          <a:lstStyle>
            <a:lvl1pPr>
              <a:defRPr/>
            </a:lvl1pPr>
          </a:lstStyle>
          <a:p>
            <a:fld id="{147FDCD0-7857-4A01-9082-4DD4914D1228}" type="slidenum">
              <a:rPr lang="en-GB" altLang="en-US"/>
              <a:pPr/>
              <a:t>‹#›</a:t>
            </a:fld>
            <a:endParaRPr lang="en-GB" altLang="en-US"/>
          </a:p>
        </p:txBody>
      </p:sp>
    </p:spTree>
    <p:extLst>
      <p:ext uri="{BB962C8B-B14F-4D97-AF65-F5344CB8AC3E}">
        <p14:creationId xmlns:p14="http://schemas.microsoft.com/office/powerpoint/2010/main" val="2925532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5" name="页脚占位符 4"/>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6" name="灯片编号占位符 5"/>
          <p:cNvSpPr>
            <a:spLocks noGrp="1"/>
          </p:cNvSpPr>
          <p:nvPr>
            <p:ph type="sldNum" sz="quarter" idx="12"/>
          </p:nvPr>
        </p:nvSpPr>
        <p:spPr/>
        <p:txBody>
          <a:bodyPr/>
          <a:lstStyle>
            <a:lvl1pPr>
              <a:defRPr/>
            </a:lvl1pPr>
          </a:lstStyle>
          <a:p>
            <a:fld id="{08F71BD7-AFEE-4FAF-A032-119EA69281EE}" type="slidenum">
              <a:rPr lang="en-GB" altLang="en-US"/>
              <a:pPr/>
              <a:t>‹#›</a:t>
            </a:fld>
            <a:endParaRPr lang="en-GB" altLang="en-US"/>
          </a:p>
        </p:txBody>
      </p:sp>
    </p:spTree>
    <p:extLst>
      <p:ext uri="{BB962C8B-B14F-4D97-AF65-F5344CB8AC3E}">
        <p14:creationId xmlns:p14="http://schemas.microsoft.com/office/powerpoint/2010/main" val="261075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0513" y="188913"/>
            <a:ext cx="2057400" cy="59769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188913"/>
            <a:ext cx="6019800" cy="5976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lgn="r" fontAlgn="auto">
              <a:spcBef>
                <a:spcPts val="0"/>
              </a:spcBef>
              <a:spcAft>
                <a:spcPts val="0"/>
              </a:spcAft>
              <a:defRPr>
                <a:ea typeface="宋体" pitchFamily="2" charset="-122"/>
              </a:defRPr>
            </a:lvl1pPr>
          </a:lstStyle>
          <a:p>
            <a:pPr>
              <a:defRPr/>
            </a:pPr>
            <a:endParaRPr lang="en-GB" altLang="en-US"/>
          </a:p>
        </p:txBody>
      </p:sp>
      <p:sp>
        <p:nvSpPr>
          <p:cNvPr id="5" name="页脚占位符 4"/>
          <p:cNvSpPr>
            <a:spLocks noGrp="1"/>
          </p:cNvSpPr>
          <p:nvPr>
            <p:ph type="ftr" sz="quarter" idx="11"/>
          </p:nvPr>
        </p:nvSpPr>
        <p:spPr/>
        <p:txBody>
          <a:bodyPr/>
          <a:lstStyle>
            <a:lvl1pPr fontAlgn="auto">
              <a:spcBef>
                <a:spcPts val="0"/>
              </a:spcBef>
              <a:spcAft>
                <a:spcPts val="0"/>
              </a:spcAft>
              <a:defRPr>
                <a:ea typeface="宋体" pitchFamily="2" charset="-122"/>
              </a:defRPr>
            </a:lvl1pPr>
          </a:lstStyle>
          <a:p>
            <a:pPr>
              <a:defRPr/>
            </a:pPr>
            <a:endParaRPr lang="en-GB" altLang="en-US"/>
          </a:p>
        </p:txBody>
      </p:sp>
      <p:sp>
        <p:nvSpPr>
          <p:cNvPr id="6" name="灯片编号占位符 5"/>
          <p:cNvSpPr>
            <a:spLocks noGrp="1"/>
          </p:cNvSpPr>
          <p:nvPr>
            <p:ph type="sldNum" sz="quarter" idx="12"/>
          </p:nvPr>
        </p:nvSpPr>
        <p:spPr/>
        <p:txBody>
          <a:bodyPr/>
          <a:lstStyle>
            <a:lvl1pPr>
              <a:defRPr/>
            </a:lvl1pPr>
          </a:lstStyle>
          <a:p>
            <a:fld id="{57017EC3-E1C5-4DF1-A4E7-B6F76F25200A}" type="slidenum">
              <a:rPr lang="en-GB" altLang="en-US"/>
              <a:pPr/>
              <a:t>‹#›</a:t>
            </a:fld>
            <a:endParaRPr lang="en-GB" altLang="en-US"/>
          </a:p>
        </p:txBody>
      </p:sp>
    </p:spTree>
    <p:extLst>
      <p:ext uri="{BB962C8B-B14F-4D97-AF65-F5344CB8AC3E}">
        <p14:creationId xmlns:p14="http://schemas.microsoft.com/office/powerpoint/2010/main" val="3519389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6019800" cy="685800"/>
          </a:xfrm>
        </p:spPr>
        <p:txBody>
          <a:bodyPr/>
          <a:lstStyle/>
          <a:p>
            <a:r>
              <a:rPr lang="zh-CN" altLang="en-US"/>
              <a:t>单击此处编辑母版标题样式</a:t>
            </a:r>
          </a:p>
        </p:txBody>
      </p:sp>
      <p:sp>
        <p:nvSpPr>
          <p:cNvPr id="3" name="SmartArt 占位符 2"/>
          <p:cNvSpPr>
            <a:spLocks noGrp="1"/>
          </p:cNvSpPr>
          <p:nvPr>
            <p:ph type="dgm" idx="1"/>
          </p:nvPr>
        </p:nvSpPr>
        <p:spPr>
          <a:xfrm>
            <a:off x="381000" y="1066800"/>
            <a:ext cx="8382000" cy="5486400"/>
          </a:xfrm>
        </p:spPr>
        <p:txBody>
          <a:bodyPr/>
          <a:lstStyle/>
          <a:p>
            <a:pPr lvl="0"/>
            <a:endParaRPr lang="zh-CN" altLang="en-US" noProof="0"/>
          </a:p>
        </p:txBody>
      </p:sp>
    </p:spTree>
    <p:extLst>
      <p:ext uri="{BB962C8B-B14F-4D97-AF65-F5344CB8AC3E}">
        <p14:creationId xmlns:p14="http://schemas.microsoft.com/office/powerpoint/2010/main" val="1126127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533160" y="1002232"/>
            <a:ext cx="8024100" cy="517190"/>
          </a:xfrm>
          <a:prstGeom prst="rect">
            <a:avLst/>
          </a:prstGeom>
        </p:spPr>
        <p:txBody>
          <a:bodyPr anchor="ctr" anchorCtr="0"/>
          <a:lstStyle>
            <a:lvl1pPr>
              <a:defRPr lang="zh-CN" altLang="en-US" sz="15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533160" y="1624205"/>
            <a:ext cx="8024100" cy="3861223"/>
          </a:xfrm>
          <a:prstGeom prst="rect">
            <a:avLst/>
          </a:prstGeom>
        </p:spPr>
        <p:txBody>
          <a:bodyPr/>
          <a:lstStyle>
            <a:lvl1pPr marL="0" indent="0">
              <a:lnSpc>
                <a:spcPct val="150000"/>
              </a:lnSpc>
              <a:buNone/>
              <a:defRPr sz="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84060402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5765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案例">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604730" y="1056254"/>
            <a:ext cx="921357"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397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sz="1500"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1646587" y="1103440"/>
            <a:ext cx="6910673" cy="517190"/>
          </a:xfrm>
          <a:prstGeom prst="rect">
            <a:avLst/>
          </a:prstGeom>
        </p:spPr>
        <p:txBody>
          <a:bodyPr anchor="ctr" anchorCtr="0"/>
          <a:lstStyle>
            <a:lvl1pPr marL="0" indent="0">
              <a:buNone/>
              <a:defRPr lang="zh-CN" altLang="en-US" sz="15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1646587" y="1743281"/>
            <a:ext cx="6910673" cy="3762373"/>
          </a:xfrm>
          <a:prstGeom prst="rect">
            <a:avLst/>
          </a:prstGeom>
        </p:spPr>
        <p:txBody>
          <a:bodyPr/>
          <a:lstStyle>
            <a:lvl1pPr marL="0" indent="0">
              <a:lnSpc>
                <a:spcPct val="150000"/>
              </a:lnSpc>
              <a:buNone/>
              <a:defRPr sz="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455DD043-453D-F04F-965C-A5E686829A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717" y="1246948"/>
            <a:ext cx="151262" cy="201682"/>
          </a:xfrm>
          <a:prstGeom prst="rect">
            <a:avLst/>
          </a:prstGeom>
        </p:spPr>
      </p:pic>
    </p:spTree>
    <p:extLst>
      <p:ext uri="{BB962C8B-B14F-4D97-AF65-F5344CB8AC3E}">
        <p14:creationId xmlns:p14="http://schemas.microsoft.com/office/powerpoint/2010/main" val="3084933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3844938" y="1463040"/>
            <a:ext cx="4320404" cy="4511040"/>
          </a:xfrm>
          <a:prstGeom prst="rect">
            <a:avLst/>
          </a:prstGeom>
        </p:spPr>
        <p:txBody>
          <a:bodyPr anchor="ctr"/>
          <a:lstStyle>
            <a:lvl1pPr marL="257175" marR="0" indent="-257175" algn="l" defTabSz="685800" rtl="0" eaLnBrk="0" fontAlgn="base" latinLnBrk="0" hangingPunct="0">
              <a:lnSpc>
                <a:spcPct val="200000"/>
              </a:lnSpc>
              <a:spcBef>
                <a:spcPct val="20000"/>
              </a:spcBef>
              <a:spcAft>
                <a:spcPct val="0"/>
              </a:spcAft>
              <a:buClrTx/>
              <a:buSzTx/>
              <a:buFont typeface="+mj-lt"/>
              <a:buAutoNum type="arabicPeriod"/>
              <a:tabLst/>
              <a:defRPr sz="135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457189" indent="0">
              <a:buNone/>
              <a:defRPr/>
            </a:lvl2pPr>
            <a:lvl3pPr marL="914378" indent="0">
              <a:buNone/>
              <a:defRPr/>
            </a:lvl3pPr>
            <a:lvl4pPr marL="1371566"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3829050" cy="1079500"/>
          </a:xfrm>
          <a:prstGeom prst="rect">
            <a:avLst/>
          </a:prstGeom>
          <a:noFill/>
          <a:ln>
            <a:noFill/>
          </a:ln>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36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36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533160" y="1813093"/>
            <a:ext cx="2690512"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Tree>
    <p:extLst>
      <p:ext uri="{BB962C8B-B14F-4D97-AF65-F5344CB8AC3E}">
        <p14:creationId xmlns:p14="http://schemas.microsoft.com/office/powerpoint/2010/main" val="1570391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p:cNvSpPr>
            <a:spLocks noGrp="1" noChangeArrowheads="1"/>
          </p:cNvSpPr>
          <p:nvPr>
            <p:ph type="title"/>
          </p:nvPr>
        </p:nvSpPr>
        <p:spPr bwMode="auto">
          <a:xfrm>
            <a:off x="468313" y="188913"/>
            <a:ext cx="75438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zh-CN"/>
              <a:t>Click to edit Master title style</a:t>
            </a:r>
          </a:p>
        </p:txBody>
      </p:sp>
      <p:sp>
        <p:nvSpPr>
          <p:cNvPr id="1028" name="Rectangle 4"/>
          <p:cNvSpPr>
            <a:spLocks noGrp="1" noChangeArrowheads="1"/>
          </p:cNvSpPr>
          <p:nvPr>
            <p:ph type="body" idx="1"/>
          </p:nvPr>
        </p:nvSpPr>
        <p:spPr bwMode="auto">
          <a:xfrm>
            <a:off x="468313" y="981075"/>
            <a:ext cx="82296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solidFill>
                  <a:srgbClr val="000000"/>
                </a:solidFill>
                <a:latin typeface="+mn-lt"/>
                <a:ea typeface="+mn-ea"/>
              </a:defRPr>
            </a:lvl1pPr>
          </a:lstStyle>
          <a:p>
            <a:pPr>
              <a:defRPr/>
            </a:pPr>
            <a:endParaRPr lang="en-GB" altLang="en-US"/>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solidFill>
                  <a:srgbClr val="000000"/>
                </a:solidFill>
                <a:latin typeface="+mn-lt"/>
                <a:ea typeface="+mn-ea"/>
              </a:defRPr>
            </a:lvl1pPr>
          </a:lstStyle>
          <a:p>
            <a:pPr>
              <a:defRPr/>
            </a:pPr>
            <a:endParaRPr lang="en-GB" altLang="en-US"/>
          </a:p>
        </p:txBody>
      </p:sp>
      <p:sp>
        <p:nvSpPr>
          <p:cNvPr id="1031" name="Rectangle 7"/>
          <p:cNvSpPr>
            <a:spLocks noGrp="1" noChangeArrowheads="1"/>
          </p:cNvSpPr>
          <p:nvPr>
            <p:ph type="sldNum" sz="quarter" idx="4"/>
          </p:nvPr>
        </p:nvSpPr>
        <p:spPr bwMode="auto">
          <a:xfrm>
            <a:off x="7596188" y="6248400"/>
            <a:ext cx="10906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solidFill>
                  <a:srgbClr val="CC0000"/>
                </a:solidFill>
              </a:defRPr>
            </a:lvl1pPr>
          </a:lstStyle>
          <a:p>
            <a:fld id="{1F853BB6-0C74-4BBA-B433-FF5F6B7026DF}" type="slidenum">
              <a:rPr lang="en-GB" altLang="en-US"/>
              <a:pPr/>
              <a:t>‹#›</a:t>
            </a:fld>
            <a:endParaRPr lang="en-GB" altLang="en-US"/>
          </a:p>
        </p:txBody>
      </p:sp>
      <p:grpSp>
        <p:nvGrpSpPr>
          <p:cNvPr id="1032" name="Group 8"/>
          <p:cNvGrpSpPr>
            <a:grpSpLocks/>
          </p:cNvGrpSpPr>
          <p:nvPr/>
        </p:nvGrpSpPr>
        <p:grpSpPr bwMode="auto">
          <a:xfrm>
            <a:off x="8153400" y="152400"/>
            <a:ext cx="792163" cy="1295400"/>
            <a:chOff x="0" y="0"/>
            <a:chExt cx="528" cy="864"/>
          </a:xfrm>
        </p:grpSpPr>
        <p:sp>
          <p:nvSpPr>
            <p:cNvPr id="1034" name="Oval 9"/>
            <p:cNvSpPr>
              <a:spLocks noChangeArrowheads="1"/>
            </p:cNvSpPr>
            <p:nvPr/>
          </p:nvSpPr>
          <p:spPr bwMode="auto">
            <a:xfrm>
              <a:off x="0" y="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5" name="Oval 10"/>
            <p:cNvSpPr>
              <a:spLocks noChangeArrowheads="1"/>
            </p:cNvSpPr>
            <p:nvPr/>
          </p:nvSpPr>
          <p:spPr bwMode="auto">
            <a:xfrm>
              <a:off x="112" y="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6" name="Oval 11"/>
            <p:cNvSpPr>
              <a:spLocks noChangeArrowheads="1"/>
            </p:cNvSpPr>
            <p:nvPr/>
          </p:nvSpPr>
          <p:spPr bwMode="auto">
            <a:xfrm>
              <a:off x="224" y="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7" name="Oval 12"/>
            <p:cNvSpPr>
              <a:spLocks noChangeArrowheads="1"/>
            </p:cNvSpPr>
            <p:nvPr/>
          </p:nvSpPr>
          <p:spPr bwMode="auto">
            <a:xfrm>
              <a:off x="0" y="11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8" name="Oval 13"/>
            <p:cNvSpPr>
              <a:spLocks noChangeArrowheads="1"/>
            </p:cNvSpPr>
            <p:nvPr/>
          </p:nvSpPr>
          <p:spPr bwMode="auto">
            <a:xfrm>
              <a:off x="112" y="11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39" name="Oval 14"/>
            <p:cNvSpPr>
              <a:spLocks noChangeArrowheads="1"/>
            </p:cNvSpPr>
            <p:nvPr/>
          </p:nvSpPr>
          <p:spPr bwMode="auto">
            <a:xfrm>
              <a:off x="224" y="11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0" name="Oval 15"/>
            <p:cNvSpPr>
              <a:spLocks noChangeArrowheads="1"/>
            </p:cNvSpPr>
            <p:nvPr/>
          </p:nvSpPr>
          <p:spPr bwMode="auto">
            <a:xfrm>
              <a:off x="336" y="112"/>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1" name="Oval 16"/>
            <p:cNvSpPr>
              <a:spLocks noChangeArrowheads="1"/>
            </p:cNvSpPr>
            <p:nvPr/>
          </p:nvSpPr>
          <p:spPr bwMode="auto">
            <a:xfrm>
              <a:off x="0" y="224"/>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2" name="Oval 17"/>
            <p:cNvSpPr>
              <a:spLocks noChangeArrowheads="1"/>
            </p:cNvSpPr>
            <p:nvPr/>
          </p:nvSpPr>
          <p:spPr bwMode="auto">
            <a:xfrm>
              <a:off x="112" y="224"/>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3" name="Oval 18"/>
            <p:cNvSpPr>
              <a:spLocks noChangeArrowheads="1"/>
            </p:cNvSpPr>
            <p:nvPr/>
          </p:nvSpPr>
          <p:spPr bwMode="auto">
            <a:xfrm>
              <a:off x="224" y="224"/>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4" name="Oval 19"/>
            <p:cNvSpPr>
              <a:spLocks noChangeArrowheads="1"/>
            </p:cNvSpPr>
            <p:nvPr/>
          </p:nvSpPr>
          <p:spPr bwMode="auto">
            <a:xfrm>
              <a:off x="336" y="224"/>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5" name="Oval 20"/>
            <p:cNvSpPr>
              <a:spLocks noChangeArrowheads="1"/>
            </p:cNvSpPr>
            <p:nvPr/>
          </p:nvSpPr>
          <p:spPr bwMode="auto">
            <a:xfrm>
              <a:off x="448" y="224"/>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6" name="Oval 21"/>
            <p:cNvSpPr>
              <a:spLocks noChangeArrowheads="1"/>
            </p:cNvSpPr>
            <p:nvPr/>
          </p:nvSpPr>
          <p:spPr bwMode="auto">
            <a:xfrm>
              <a:off x="0" y="33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7" name="Oval 22"/>
            <p:cNvSpPr>
              <a:spLocks noChangeArrowheads="1"/>
            </p:cNvSpPr>
            <p:nvPr/>
          </p:nvSpPr>
          <p:spPr bwMode="auto">
            <a:xfrm>
              <a:off x="112" y="336"/>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8" name="Oval 23"/>
            <p:cNvSpPr>
              <a:spLocks noChangeArrowheads="1"/>
            </p:cNvSpPr>
            <p:nvPr/>
          </p:nvSpPr>
          <p:spPr bwMode="auto">
            <a:xfrm>
              <a:off x="224" y="336"/>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49" name="Oval 24"/>
            <p:cNvSpPr>
              <a:spLocks noChangeArrowheads="1"/>
            </p:cNvSpPr>
            <p:nvPr/>
          </p:nvSpPr>
          <p:spPr bwMode="auto">
            <a:xfrm>
              <a:off x="336" y="336"/>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0" name="Oval 25"/>
            <p:cNvSpPr>
              <a:spLocks noChangeArrowheads="1"/>
            </p:cNvSpPr>
            <p:nvPr/>
          </p:nvSpPr>
          <p:spPr bwMode="auto">
            <a:xfrm>
              <a:off x="0" y="44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1" name="Oval 26"/>
            <p:cNvSpPr>
              <a:spLocks noChangeArrowheads="1"/>
            </p:cNvSpPr>
            <p:nvPr/>
          </p:nvSpPr>
          <p:spPr bwMode="auto">
            <a:xfrm>
              <a:off x="112" y="44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2" name="Oval 27"/>
            <p:cNvSpPr>
              <a:spLocks noChangeArrowheads="1"/>
            </p:cNvSpPr>
            <p:nvPr/>
          </p:nvSpPr>
          <p:spPr bwMode="auto">
            <a:xfrm>
              <a:off x="224" y="448"/>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3" name="Oval 28"/>
            <p:cNvSpPr>
              <a:spLocks noChangeArrowheads="1"/>
            </p:cNvSpPr>
            <p:nvPr/>
          </p:nvSpPr>
          <p:spPr bwMode="auto">
            <a:xfrm>
              <a:off x="336" y="448"/>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4" name="Oval 29"/>
            <p:cNvSpPr>
              <a:spLocks noChangeArrowheads="1"/>
            </p:cNvSpPr>
            <p:nvPr/>
          </p:nvSpPr>
          <p:spPr bwMode="auto">
            <a:xfrm>
              <a:off x="448" y="44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5" name="Oval 30"/>
            <p:cNvSpPr>
              <a:spLocks noChangeArrowheads="1"/>
            </p:cNvSpPr>
            <p:nvPr/>
          </p:nvSpPr>
          <p:spPr bwMode="auto">
            <a:xfrm>
              <a:off x="0" y="560"/>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6" name="Oval 31"/>
            <p:cNvSpPr>
              <a:spLocks noChangeArrowheads="1"/>
            </p:cNvSpPr>
            <p:nvPr/>
          </p:nvSpPr>
          <p:spPr bwMode="auto">
            <a:xfrm>
              <a:off x="112" y="560"/>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7" name="Oval 32"/>
            <p:cNvSpPr>
              <a:spLocks noChangeArrowheads="1"/>
            </p:cNvSpPr>
            <p:nvPr/>
          </p:nvSpPr>
          <p:spPr bwMode="auto">
            <a:xfrm>
              <a:off x="224" y="560"/>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8" name="Oval 33"/>
            <p:cNvSpPr>
              <a:spLocks noChangeArrowheads="1"/>
            </p:cNvSpPr>
            <p:nvPr/>
          </p:nvSpPr>
          <p:spPr bwMode="auto">
            <a:xfrm>
              <a:off x="336" y="560"/>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59" name="Oval 34"/>
            <p:cNvSpPr>
              <a:spLocks noChangeArrowheads="1"/>
            </p:cNvSpPr>
            <p:nvPr/>
          </p:nvSpPr>
          <p:spPr bwMode="auto">
            <a:xfrm>
              <a:off x="0" y="672"/>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0" name="Oval 35"/>
            <p:cNvSpPr>
              <a:spLocks noChangeArrowheads="1"/>
            </p:cNvSpPr>
            <p:nvPr/>
          </p:nvSpPr>
          <p:spPr bwMode="auto">
            <a:xfrm>
              <a:off x="112" y="672"/>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1" name="Oval 36"/>
            <p:cNvSpPr>
              <a:spLocks noChangeArrowheads="1"/>
            </p:cNvSpPr>
            <p:nvPr/>
          </p:nvSpPr>
          <p:spPr bwMode="auto">
            <a:xfrm>
              <a:off x="224" y="672"/>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2" name="Oval 37"/>
            <p:cNvSpPr>
              <a:spLocks noChangeArrowheads="1"/>
            </p:cNvSpPr>
            <p:nvPr/>
          </p:nvSpPr>
          <p:spPr bwMode="auto">
            <a:xfrm>
              <a:off x="336" y="672"/>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3" name="Oval 38"/>
            <p:cNvSpPr>
              <a:spLocks noChangeArrowheads="1"/>
            </p:cNvSpPr>
            <p:nvPr/>
          </p:nvSpPr>
          <p:spPr bwMode="auto">
            <a:xfrm>
              <a:off x="112" y="784"/>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sp>
          <p:nvSpPr>
            <p:cNvPr id="1064" name="Oval 39"/>
            <p:cNvSpPr>
              <a:spLocks noChangeArrowheads="1"/>
            </p:cNvSpPr>
            <p:nvPr/>
          </p:nvSpPr>
          <p:spPr bwMode="auto">
            <a:xfrm>
              <a:off x="336" y="784"/>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solidFill>
                  <a:srgbClr val="000000"/>
                </a:solidFill>
                <a:latin typeface="Courier New" panose="02070309020205020404" pitchFamily="49" charset="0"/>
              </a:endParaRPr>
            </a:p>
          </p:txBody>
        </p:sp>
      </p:grpSp>
      <p:sp>
        <p:nvSpPr>
          <p:cNvPr id="1033" name="Text Box 40"/>
          <p:cNvSpPr txBox="1">
            <a:spLocks noChangeArrowheads="1"/>
          </p:cNvSpPr>
          <p:nvPr userDrawn="1"/>
        </p:nvSpPr>
        <p:spPr bwMode="auto">
          <a:xfrm>
            <a:off x="8532813" y="6308725"/>
            <a:ext cx="436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E4AA881-C16F-4825-ADFE-01D66AE0706A}" type="slidenum">
              <a:rPr lang="en-GB" altLang="en-US" b="1">
                <a:solidFill>
                  <a:srgbClr val="CC0000"/>
                </a:solidFill>
              </a:rPr>
              <a:pPr eaLnBrk="1" hangingPunct="1"/>
              <a:t>‹#›</a:t>
            </a:fld>
            <a:endParaRPr lang="zh-CN" altLang="en-US" b="1">
              <a:solidFill>
                <a:srgbClr val="CC0000"/>
              </a:solidFill>
            </a:endParaRPr>
          </a:p>
        </p:txBody>
      </p:sp>
    </p:spTree>
  </p:cSld>
  <p:clrMap bg1="lt1" tx1="dk1" bg2="lt2" tx2="dk2" accent1="accent1" accent2="accent2" accent3="accent3" accent4="accent4" accent5="accent5" accent6="accent6" hlink="hlink" folHlink="folHlink"/>
  <p:sldLayoutIdLst>
    <p:sldLayoutId id="2147484849" r:id="rId1"/>
    <p:sldLayoutId id="2147484850" r:id="rId2"/>
    <p:sldLayoutId id="2147484851" r:id="rId3"/>
    <p:sldLayoutId id="2147484852" r:id="rId4"/>
    <p:sldLayoutId id="2147484853" r:id="rId5"/>
    <p:sldLayoutId id="2147484854" r:id="rId6"/>
    <p:sldLayoutId id="2147484855" r:id="rId7"/>
    <p:sldLayoutId id="2147484856" r:id="rId8"/>
    <p:sldLayoutId id="2147484857" r:id="rId9"/>
    <p:sldLayoutId id="2147484858" r:id="rId10"/>
    <p:sldLayoutId id="2147484859" r:id="rId11"/>
    <p:sldLayoutId id="2147484860" r:id="rId12"/>
    <p:sldLayoutId id="2147484878" r:id="rId13"/>
    <p:sldLayoutId id="2147484879" r:id="rId14"/>
    <p:sldLayoutId id="2147484880" r:id="rId15"/>
    <p:sldLayoutId id="2147484882" r:id="rId16"/>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n"/>
        <a:defRPr sz="28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400" b="1">
          <a:solidFill>
            <a:schemeClr val="tx1"/>
          </a:solidFill>
          <a:latin typeface="Times New Roman" pitchFamily="18" charset="0"/>
          <a:ea typeface="楷体_GB2312" pitchFamily="1" charset="-122"/>
        </a:defRPr>
      </a:lvl2pPr>
      <a:lvl3pPr marL="987425" indent="-293688" algn="l" rtl="0" eaLnBrk="0" fontAlgn="base" hangingPunct="0">
        <a:spcBef>
          <a:spcPct val="20000"/>
        </a:spcBef>
        <a:spcAft>
          <a:spcPct val="0"/>
        </a:spcAft>
        <a:buClr>
          <a:schemeClr val="tx2"/>
        </a:buClr>
        <a:buSzPct val="70000"/>
        <a:buFont typeface="Wingdings" panose="05000000000000000000" pitchFamily="2" charset="2"/>
        <a:buChar char="Ø"/>
        <a:defRPr sz="2000">
          <a:solidFill>
            <a:schemeClr val="tx1"/>
          </a:solidFill>
          <a:latin typeface="+mn-lt"/>
          <a:ea typeface="楷体_GB2312" pitchFamily="1" charset="-122"/>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a:solidFill>
            <a:schemeClr val="tx1"/>
          </a:solidFill>
          <a:latin typeface="+mn-lt"/>
          <a:ea typeface="楷体_GB2312" pitchFamily="1" charset="-122"/>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1600">
          <a:solidFill>
            <a:schemeClr val="tx1"/>
          </a:solidFill>
          <a:latin typeface="+mn-lt"/>
          <a:ea typeface="楷体_GB2312" pitchFamily="1" charset="-122"/>
        </a:defRPr>
      </a:lvl5pPr>
      <a:lvl6pPr marL="20558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6pPr>
      <a:lvl7pPr marL="25130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7pPr>
      <a:lvl8pPr marL="29702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8pPr>
      <a:lvl9pPr marL="3427413" indent="-315913" algn="l" rtl="0" fontAlgn="base">
        <a:spcBef>
          <a:spcPct val="20000"/>
        </a:spcBef>
        <a:spcAft>
          <a:spcPct val="0"/>
        </a:spcAft>
        <a:buClr>
          <a:schemeClr val="folHlink"/>
        </a:buClr>
        <a:buSzPct val="80000"/>
        <a:buFont typeface="Wingdings" pitchFamily="2" charset="2"/>
        <a:buChar char="§"/>
        <a:defRPr sz="1600">
          <a:solidFill>
            <a:schemeClr val="tx1"/>
          </a:solidFill>
          <a:latin typeface="+mn-lt"/>
          <a:ea typeface="楷体_GB2312" pitchFamily="1"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14.xml"/><Relationship Id="rId4" Type="http://schemas.microsoft.com/office/2007/relationships/hdphoto" Target="../media/hdphoto1.wdp"/></Relationships>
</file>

<file path=ppt/slides/_rels/slide7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8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9.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8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0.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1.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8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8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3.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8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2.xml"/><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6.xml"/></Relationships>
</file>

<file path=ppt/slides/_rels/slide10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4.xml"/><Relationship Id="rId1" Type="http://schemas.openxmlformats.org/officeDocument/2006/relationships/slideLayout" Target="../slideLayouts/slideLayout14.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4.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4.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4.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304800" y="332656"/>
            <a:ext cx="6858000" cy="533400"/>
          </a:xfrm>
        </p:spPr>
        <p:txBody>
          <a:bodyPr/>
          <a:lstStyle/>
          <a:p>
            <a:pPr marL="838200" indent="-838200" eaLnBrk="1" hangingPunct="1"/>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第六章 输入</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输出流和文件</a:t>
            </a:r>
            <a:endParaRPr lang="zh-CN" altLang="en-US" sz="3200" b="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4035" name="Rectangle 3"/>
          <p:cNvSpPr>
            <a:spLocks noGrp="1" noChangeArrowheads="1"/>
          </p:cNvSpPr>
          <p:nvPr>
            <p:ph idx="1"/>
          </p:nvPr>
        </p:nvSpPr>
        <p:spPr>
          <a:xfrm>
            <a:off x="609600" y="1295400"/>
            <a:ext cx="7467600" cy="5257800"/>
          </a:xfrm>
        </p:spPr>
        <p:txBody>
          <a:bodyPr/>
          <a:lstStyle/>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a:t>
            </a:r>
          </a:p>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6.2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文件读写</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输出流</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B10B15AF-2E60-46A7-931F-FAA999EEBB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1916832"/>
            <a:ext cx="8508530" cy="3579719"/>
          </a:xfrm>
          <a:prstGeom prst="rect">
            <a:avLst/>
          </a:prstGeom>
        </p:spPr>
      </p:pic>
      <p:sp>
        <p:nvSpPr>
          <p:cNvPr id="11" name="文本框 10">
            <a:extLst>
              <a:ext uri="{FF2B5EF4-FFF2-40B4-BE49-F238E27FC236}">
                <a16:creationId xmlns:a16="http://schemas.microsoft.com/office/drawing/2014/main" id="{364FFD87-D1B1-481B-94ED-845CB99CADB9}"/>
              </a:ext>
            </a:extLst>
          </p:cNvPr>
          <p:cNvSpPr txBox="1"/>
          <p:nvPr/>
        </p:nvSpPr>
        <p:spPr>
          <a:xfrm>
            <a:off x="251520" y="1225682"/>
            <a:ext cx="4572000" cy="461665"/>
          </a:xfrm>
          <a:prstGeom prst="rect">
            <a:avLst/>
          </a:prstGeom>
          <a:noFill/>
        </p:spPr>
        <p:txBody>
          <a:bodyPr wrap="square">
            <a:spAutoFit/>
          </a:bodyPr>
          <a:lstStyle/>
          <a:p>
            <a:pPr marL="609600" indent="-609600" eaLnBrk="1" hangingPunct="1">
              <a:buFontTx/>
              <a:buNone/>
            </a:pPr>
            <a:r>
              <a:rPr lang="en-US" altLang="zh-CN"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IO</a:t>
            </a:r>
            <a:r>
              <a:rPr lang="zh-CN" altLang="en-US"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流</a:t>
            </a:r>
          </a:p>
        </p:txBody>
      </p:sp>
    </p:spTree>
    <p:extLst>
      <p:ext uri="{BB962C8B-B14F-4D97-AF65-F5344CB8AC3E}">
        <p14:creationId xmlns:p14="http://schemas.microsoft.com/office/powerpoint/2010/main" val="90476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输出流</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27813B50-1FCF-46B6-B5BB-90C5CDFD2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760" y="1749424"/>
            <a:ext cx="8892480" cy="4200525"/>
          </a:xfrm>
          <a:prstGeom prst="rect">
            <a:avLst/>
          </a:prstGeom>
        </p:spPr>
      </p:pic>
      <p:sp>
        <p:nvSpPr>
          <p:cNvPr id="7" name="文本框 6">
            <a:extLst>
              <a:ext uri="{FF2B5EF4-FFF2-40B4-BE49-F238E27FC236}">
                <a16:creationId xmlns:a16="http://schemas.microsoft.com/office/drawing/2014/main" id="{D25838D6-FDC4-4AC9-AD12-17AEFDDC0596}"/>
              </a:ext>
            </a:extLst>
          </p:cNvPr>
          <p:cNvSpPr txBox="1"/>
          <p:nvPr/>
        </p:nvSpPr>
        <p:spPr>
          <a:xfrm>
            <a:off x="251520" y="1225682"/>
            <a:ext cx="4572000" cy="461665"/>
          </a:xfrm>
          <a:prstGeom prst="rect">
            <a:avLst/>
          </a:prstGeom>
          <a:noFill/>
        </p:spPr>
        <p:txBody>
          <a:bodyPr wrap="square">
            <a:spAutoFit/>
          </a:bodyPr>
          <a:lstStyle/>
          <a:p>
            <a:pPr marL="609600" indent="-609600" eaLnBrk="1" hangingPunct="1">
              <a:buFontTx/>
              <a:buNone/>
            </a:pPr>
            <a:r>
              <a:rPr lang="en-US" altLang="zh-CN"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IO</a:t>
            </a:r>
            <a:r>
              <a:rPr lang="zh-CN" altLang="en-US"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流</a:t>
            </a:r>
          </a:p>
        </p:txBody>
      </p:sp>
    </p:spTree>
    <p:extLst>
      <p:ext uri="{BB962C8B-B14F-4D97-AF65-F5344CB8AC3E}">
        <p14:creationId xmlns:p14="http://schemas.microsoft.com/office/powerpoint/2010/main" val="2441431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输出流</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25838D6-FDC4-4AC9-AD12-17AEFDDC0596}"/>
              </a:ext>
            </a:extLst>
          </p:cNvPr>
          <p:cNvSpPr txBox="1"/>
          <p:nvPr/>
        </p:nvSpPr>
        <p:spPr>
          <a:xfrm>
            <a:off x="251520" y="1225682"/>
            <a:ext cx="4572000" cy="461665"/>
          </a:xfrm>
          <a:prstGeom prst="rect">
            <a:avLst/>
          </a:prstGeom>
          <a:noFill/>
        </p:spPr>
        <p:txBody>
          <a:bodyPr wrap="square">
            <a:spAutoFit/>
          </a:bodyPr>
          <a:lstStyle/>
          <a:p>
            <a:pPr marL="609600" indent="-609600" eaLnBrk="1" hangingPunct="1">
              <a:buFontTx/>
              <a:buNone/>
            </a:pPr>
            <a:r>
              <a:rPr lang="en-US" altLang="zh-CN"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IO</a:t>
            </a:r>
            <a:r>
              <a:rPr lang="zh-CN" altLang="en-US"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流</a:t>
            </a:r>
          </a:p>
        </p:txBody>
      </p:sp>
      <p:pic>
        <p:nvPicPr>
          <p:cNvPr id="5" name="图片 4">
            <a:extLst>
              <a:ext uri="{FF2B5EF4-FFF2-40B4-BE49-F238E27FC236}">
                <a16:creationId xmlns:a16="http://schemas.microsoft.com/office/drawing/2014/main" id="{D900F315-AC70-4315-A957-E1891ABF4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772816"/>
            <a:ext cx="8790922" cy="4392567"/>
          </a:xfrm>
          <a:prstGeom prst="rect">
            <a:avLst/>
          </a:prstGeom>
        </p:spPr>
      </p:pic>
    </p:spTree>
    <p:extLst>
      <p:ext uri="{BB962C8B-B14F-4D97-AF65-F5344CB8AC3E}">
        <p14:creationId xmlns:p14="http://schemas.microsoft.com/office/powerpoint/2010/main" val="101911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输出流</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25838D6-FDC4-4AC9-AD12-17AEFDDC0596}"/>
              </a:ext>
            </a:extLst>
          </p:cNvPr>
          <p:cNvSpPr txBox="1"/>
          <p:nvPr/>
        </p:nvSpPr>
        <p:spPr>
          <a:xfrm>
            <a:off x="251520" y="1225682"/>
            <a:ext cx="4572000" cy="461665"/>
          </a:xfrm>
          <a:prstGeom prst="rect">
            <a:avLst/>
          </a:prstGeom>
          <a:noFill/>
        </p:spPr>
        <p:txBody>
          <a:bodyPr wrap="square">
            <a:spAutoFit/>
          </a:bodyPr>
          <a:lstStyle/>
          <a:p>
            <a:pPr marL="609600" indent="-609600" eaLnBrk="1" hangingPunct="1">
              <a:buFontTx/>
              <a:buNone/>
            </a:pPr>
            <a:r>
              <a:rPr lang="en-US" altLang="zh-CN"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IO</a:t>
            </a:r>
            <a:r>
              <a:rPr lang="zh-CN" altLang="en-US"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流</a:t>
            </a:r>
          </a:p>
        </p:txBody>
      </p:sp>
      <p:pic>
        <p:nvPicPr>
          <p:cNvPr id="3" name="图片 2">
            <a:extLst>
              <a:ext uri="{FF2B5EF4-FFF2-40B4-BE49-F238E27FC236}">
                <a16:creationId xmlns:a16="http://schemas.microsoft.com/office/drawing/2014/main" id="{B790066A-D0A5-43BA-A838-EFA202D50F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204864"/>
            <a:ext cx="8249074" cy="3092609"/>
          </a:xfrm>
          <a:prstGeom prst="rect">
            <a:avLst/>
          </a:prstGeom>
        </p:spPr>
      </p:pic>
      <p:pic>
        <p:nvPicPr>
          <p:cNvPr id="8" name="图片 7">
            <a:extLst>
              <a:ext uri="{FF2B5EF4-FFF2-40B4-BE49-F238E27FC236}">
                <a16:creationId xmlns:a16="http://schemas.microsoft.com/office/drawing/2014/main" id="{DF0230DD-79D2-4EA5-A431-033E574D19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2080" y="2924944"/>
            <a:ext cx="1181161" cy="654084"/>
          </a:xfrm>
          <a:prstGeom prst="rect">
            <a:avLst/>
          </a:prstGeom>
        </p:spPr>
      </p:pic>
    </p:spTree>
    <p:extLst>
      <p:ext uri="{BB962C8B-B14F-4D97-AF65-F5344CB8AC3E}">
        <p14:creationId xmlns:p14="http://schemas.microsoft.com/office/powerpoint/2010/main" val="3095728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输出流</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25838D6-FDC4-4AC9-AD12-17AEFDDC0596}"/>
              </a:ext>
            </a:extLst>
          </p:cNvPr>
          <p:cNvSpPr txBox="1"/>
          <p:nvPr/>
        </p:nvSpPr>
        <p:spPr>
          <a:xfrm>
            <a:off x="251520" y="1225682"/>
            <a:ext cx="4572000" cy="461665"/>
          </a:xfrm>
          <a:prstGeom prst="rect">
            <a:avLst/>
          </a:prstGeom>
          <a:noFill/>
        </p:spPr>
        <p:txBody>
          <a:bodyPr wrap="square">
            <a:spAutoFit/>
          </a:bodyPr>
          <a:lstStyle/>
          <a:p>
            <a:pPr marL="609600" indent="-609600" eaLnBrk="1" hangingPunct="1">
              <a:buFontTx/>
              <a:buNone/>
            </a:pPr>
            <a:r>
              <a:rPr lang="en-US" altLang="zh-CN"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IO</a:t>
            </a:r>
            <a:r>
              <a:rPr lang="zh-CN" altLang="en-US"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流</a:t>
            </a:r>
          </a:p>
        </p:txBody>
      </p:sp>
      <p:pic>
        <p:nvPicPr>
          <p:cNvPr id="3" name="图片 2">
            <a:extLst>
              <a:ext uri="{FF2B5EF4-FFF2-40B4-BE49-F238E27FC236}">
                <a16:creationId xmlns:a16="http://schemas.microsoft.com/office/drawing/2014/main" id="{532F906A-027A-49A1-8E50-0A936A6505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405" y="2004977"/>
            <a:ext cx="8077615" cy="3111660"/>
          </a:xfrm>
          <a:prstGeom prst="rect">
            <a:avLst/>
          </a:prstGeom>
        </p:spPr>
      </p:pic>
      <p:pic>
        <p:nvPicPr>
          <p:cNvPr id="6" name="图片 5">
            <a:extLst>
              <a:ext uri="{FF2B5EF4-FFF2-40B4-BE49-F238E27FC236}">
                <a16:creationId xmlns:a16="http://schemas.microsoft.com/office/drawing/2014/main" id="{84181AD0-F8A1-4743-9181-49CBD080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1459" y="4293096"/>
            <a:ext cx="1028753" cy="552478"/>
          </a:xfrm>
          <a:prstGeom prst="rect">
            <a:avLst/>
          </a:prstGeom>
        </p:spPr>
      </p:pic>
    </p:spTree>
    <p:extLst>
      <p:ext uri="{BB962C8B-B14F-4D97-AF65-F5344CB8AC3E}">
        <p14:creationId xmlns:p14="http://schemas.microsoft.com/office/powerpoint/2010/main" val="4217884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输出流</a:t>
            </a:r>
          </a:p>
        </p:txBody>
      </p:sp>
      <p:sp>
        <p:nvSpPr>
          <p:cNvPr id="45059" name="内容占位符 2"/>
          <p:cNvSpPr>
            <a:spLocks noGrp="1"/>
          </p:cNvSpPr>
          <p:nvPr>
            <p:ph idx="1"/>
          </p:nvPr>
        </p:nvSpPr>
        <p:spPr>
          <a:xfrm>
            <a:off x="468314" y="981075"/>
            <a:ext cx="7543800" cy="5184775"/>
          </a:xfrm>
        </p:spPr>
        <p:txBody>
          <a:bodyPr/>
          <a:lstStyle/>
          <a:p>
            <a:pPr>
              <a:lnSpc>
                <a:spcPct val="15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通常程序需要从外部获取/输出信息</a:t>
            </a:r>
          </a:p>
          <a:p>
            <a:pPr lvl="1">
              <a:lnSpc>
                <a:spcPct val="150000"/>
              </a:lnSpc>
            </a:pPr>
            <a:r>
              <a:rPr lang="zh-CN" altLang="en-US" b="0" dirty="0">
                <a:ea typeface="黑体" panose="02010609060101010101" pitchFamily="49" charset="-122"/>
                <a:cs typeface="Times New Roman" panose="02020603050405020304" pitchFamily="18" charset="0"/>
              </a:rPr>
              <a:t>这个“外部”范围很广，包括诸如键盘、显示器、文件、磁盘、网络、另外一个程序等</a:t>
            </a:r>
          </a:p>
          <a:p>
            <a:pPr lvl="1">
              <a:lnSpc>
                <a:spcPct val="150000"/>
              </a:lnSpc>
            </a:pPr>
            <a:r>
              <a:rPr lang="zh-CN" altLang="en-US" b="0" dirty="0">
                <a:ea typeface="黑体" panose="02010609060101010101" pitchFamily="49" charset="-122"/>
                <a:cs typeface="Times New Roman" panose="02020603050405020304" pitchFamily="18" charset="0"/>
              </a:rPr>
              <a:t>“信息”也可以是任何类型的，例如一个对象、字符、图像、声音等</a:t>
            </a:r>
          </a:p>
          <a:p>
            <a:pPr>
              <a:lnSpc>
                <a:spcPct val="15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通过使用</a:t>
            </a:r>
            <a:r>
              <a:rPr lang="en-US" altLang="zh-CN" sz="2400"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java.io</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包中的输入/输出流类就可以达到输入输出信息的目的</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p>
        </p:txBody>
      </p:sp>
      <p:sp>
        <p:nvSpPr>
          <p:cNvPr id="46083" name="内容占位符 2"/>
          <p:cNvSpPr>
            <a:spLocks noGrp="1"/>
          </p:cNvSpPr>
          <p:nvPr>
            <p:ph idx="1"/>
          </p:nvPr>
        </p:nvSpPr>
        <p:spPr>
          <a:xfrm>
            <a:off x="457200" y="1052513"/>
            <a:ext cx="8229600" cy="5688012"/>
          </a:xfrm>
        </p:spPr>
        <p:txBody>
          <a:bodyPr/>
          <a:lstStyle/>
          <a:p>
            <a:pPr eaLnBrk="1" hangingPunct="1">
              <a:lnSpc>
                <a:spcPct val="11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流：数据从计算机的输入向输出流动，即流的产生。</a:t>
            </a:r>
          </a:p>
          <a:p>
            <a:pPr eaLnBrk="1" hangingPunct="1">
              <a:lnSpc>
                <a:spcPct val="11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流有两种：文本流（字符）和二进制流（字节）</a:t>
            </a:r>
          </a:p>
          <a:p>
            <a:pPr eaLnBrk="1" hangingPunct="1">
              <a:lnSpc>
                <a:spcPct val="11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Java</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里，流是一些类。</a:t>
            </a:r>
            <a:endParaRPr lang="en-US" altLang="zh-CN" sz="2400"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10000"/>
              </a:lnSpc>
            </a:pPr>
            <a:r>
              <a:rPr lang="zh-CN" altLang="en-US" b="0" dirty="0">
                <a:ea typeface="黑体" panose="02010609060101010101" pitchFamily="49" charset="-122"/>
                <a:cs typeface="Times New Roman" panose="02020603050405020304" pitchFamily="18" charset="0"/>
              </a:rPr>
              <a:t>在</a:t>
            </a:r>
            <a:r>
              <a:rPr lang="en-US" altLang="zh-CN" b="0" dirty="0">
                <a:ea typeface="黑体" panose="02010609060101010101" pitchFamily="49" charset="-122"/>
                <a:cs typeface="Times New Roman" panose="02020603050405020304" pitchFamily="18" charset="0"/>
              </a:rPr>
              <a:t>Java</a:t>
            </a:r>
            <a:r>
              <a:rPr lang="zh-CN" altLang="en-US" b="0" dirty="0">
                <a:ea typeface="黑体" panose="02010609060101010101" pitchFamily="49" charset="-122"/>
                <a:cs typeface="Times New Roman" panose="02020603050405020304" pitchFamily="18" charset="0"/>
              </a:rPr>
              <a:t>中将信息的输入与输出过程抽象为</a:t>
            </a:r>
            <a:r>
              <a:rPr lang="en-US" altLang="zh-CN" b="0" dirty="0">
                <a:ea typeface="黑体" panose="02010609060101010101" pitchFamily="49" charset="-122"/>
                <a:cs typeface="Times New Roman" panose="02020603050405020304" pitchFamily="18" charset="0"/>
              </a:rPr>
              <a:t>I/O</a:t>
            </a:r>
            <a:r>
              <a:rPr lang="zh-CN" altLang="en-US" b="0" dirty="0">
                <a:ea typeface="黑体" panose="02010609060101010101" pitchFamily="49" charset="-122"/>
                <a:cs typeface="Times New Roman" panose="02020603050405020304" pitchFamily="18" charset="0"/>
              </a:rPr>
              <a:t>流</a:t>
            </a:r>
          </a:p>
          <a:p>
            <a:pPr lvl="2">
              <a:lnSpc>
                <a:spcPct val="110000"/>
              </a:lnSpc>
            </a:pP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输入是指数据流入程序</a:t>
            </a:r>
          </a:p>
          <a:p>
            <a:pPr lvl="2">
              <a:lnSpc>
                <a:spcPct val="110000"/>
              </a:lnSpc>
            </a:pP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输出是指数据从程序流出</a:t>
            </a:r>
          </a:p>
          <a:p>
            <a:pPr lvl="1">
              <a:lnSpc>
                <a:spcPct val="110000"/>
              </a:lnSpc>
            </a:pPr>
            <a:r>
              <a:rPr lang="zh-CN" altLang="en-US" b="0" dirty="0">
                <a:ea typeface="黑体" panose="02010609060101010101" pitchFamily="49" charset="-122"/>
                <a:cs typeface="Times New Roman" panose="02020603050405020304" pitchFamily="18" charset="0"/>
              </a:rPr>
              <a:t>一个流就是</a:t>
            </a:r>
            <a:r>
              <a:rPr lang="zh-CN" altLang="en-US" b="0" dirty="0">
                <a:solidFill>
                  <a:srgbClr val="0000FF"/>
                </a:solidFill>
                <a:ea typeface="黑体" panose="02010609060101010101" pitchFamily="49" charset="-122"/>
                <a:cs typeface="Times New Roman" panose="02020603050405020304" pitchFamily="18" charset="0"/>
              </a:rPr>
              <a:t>一个从源流向目的地的数据序列</a:t>
            </a:r>
            <a:endParaRPr lang="zh-CN" altLang="en-US" b="0" dirty="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50C20935-101D-412F-B861-05BD9F67A1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704" y="4295414"/>
            <a:ext cx="4221222" cy="2373673"/>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3299D0BF-BB64-47B5-917C-1EE2DDF4C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268760"/>
            <a:ext cx="8122847" cy="4409233"/>
          </a:xfrm>
          <a:prstGeom prst="rect">
            <a:avLst/>
          </a:prstGeom>
        </p:spPr>
      </p:pic>
    </p:spTree>
    <p:extLst>
      <p:ext uri="{BB962C8B-B14F-4D97-AF65-F5344CB8AC3E}">
        <p14:creationId xmlns:p14="http://schemas.microsoft.com/office/powerpoint/2010/main" val="667815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CADC1A90-DF79-4C14-B24E-C04C0D5C8E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5" y="1598397"/>
            <a:ext cx="8251375" cy="3661206"/>
          </a:xfrm>
          <a:prstGeom prst="rect">
            <a:avLst/>
          </a:prstGeom>
        </p:spPr>
      </p:pic>
      <p:pic>
        <p:nvPicPr>
          <p:cNvPr id="7" name="图片 6">
            <a:extLst>
              <a:ext uri="{FF2B5EF4-FFF2-40B4-BE49-F238E27FC236}">
                <a16:creationId xmlns:a16="http://schemas.microsoft.com/office/drawing/2014/main" id="{9891692A-B0C6-42F9-814F-E3F167C1AD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00364"/>
            <a:ext cx="9144000" cy="4057272"/>
          </a:xfrm>
          <a:prstGeom prst="rect">
            <a:avLst/>
          </a:prstGeom>
        </p:spPr>
      </p:pic>
      <p:pic>
        <p:nvPicPr>
          <p:cNvPr id="9" name="图片 8">
            <a:extLst>
              <a:ext uri="{FF2B5EF4-FFF2-40B4-BE49-F238E27FC236}">
                <a16:creationId xmlns:a16="http://schemas.microsoft.com/office/drawing/2014/main" id="{C222A1D8-CB1B-4139-90F1-AAD8B10FF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00364"/>
            <a:ext cx="9144000" cy="4057272"/>
          </a:xfrm>
          <a:prstGeom prst="rect">
            <a:avLst/>
          </a:prstGeom>
        </p:spPr>
      </p:pic>
    </p:spTree>
    <p:extLst>
      <p:ext uri="{BB962C8B-B14F-4D97-AF65-F5344CB8AC3E}">
        <p14:creationId xmlns:p14="http://schemas.microsoft.com/office/powerpoint/2010/main" val="4174850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26566203-4987-4140-870D-6DAA0CDD4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879112"/>
            <a:ext cx="8316416" cy="3442326"/>
          </a:xfrm>
          <a:prstGeom prst="rect">
            <a:avLst/>
          </a:prstGeom>
        </p:spPr>
      </p:pic>
    </p:spTree>
    <p:extLst>
      <p:ext uri="{BB962C8B-B14F-4D97-AF65-F5344CB8AC3E}">
        <p14:creationId xmlns:p14="http://schemas.microsoft.com/office/powerpoint/2010/main" val="3761475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endParaRPr lang="zh-CN" altLang="en-US" sz="3200" dirty="0">
              <a:ea typeface="宋体" panose="02010600030101010101" pitchFamily="2" charset="-122"/>
              <a:cs typeface="Times New Roman" panose="02020603050405020304" pitchFamily="18" charset="0"/>
            </a:endParaRPr>
          </a:p>
        </p:txBody>
      </p:sp>
      <p:sp>
        <p:nvSpPr>
          <p:cNvPr id="47107" name="内容占位符 2"/>
          <p:cNvSpPr>
            <a:spLocks noGrp="1"/>
          </p:cNvSpPr>
          <p:nvPr>
            <p:ph idx="1"/>
          </p:nvPr>
        </p:nvSpPr>
        <p:spPr>
          <a:xfrm>
            <a:off x="457200" y="1052513"/>
            <a:ext cx="8229600" cy="5688012"/>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文件</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File</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也是一个逻辑概念。计算机的所有设备都可理解为一个文件。流可与文件建立联系。</a:t>
            </a:r>
            <a:endParaRPr lang="en-US" altLang="zh-CN" sz="2400" b="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dirty="0" err="1">
                <a:ea typeface="宋体" panose="02010600030101010101" pitchFamily="2" charset="-122"/>
              </a:rPr>
              <a:t>java.lang.Object</a:t>
            </a:r>
            <a:r>
              <a:rPr lang="en-US" altLang="zh-CN" sz="2400" dirty="0">
                <a:ea typeface="宋体" panose="02010600030101010101" pitchFamily="2" charset="-122"/>
              </a:rPr>
              <a:t>		  					  </a:t>
            </a:r>
            <a:r>
              <a:rPr lang="en-US" altLang="zh-CN" sz="2400" dirty="0" err="1">
                <a:ea typeface="宋体" panose="02010600030101010101" pitchFamily="2" charset="-122"/>
              </a:rPr>
              <a:t>java.io.File</a:t>
            </a:r>
            <a:r>
              <a:rPr lang="en-US" altLang="zh-CN" sz="2400" dirty="0">
                <a:ea typeface="宋体" panose="02010600030101010101" pitchFamily="2" charset="-122"/>
              </a:rPr>
              <a:t>			  				  </a:t>
            </a:r>
            <a:r>
              <a:rPr lang="en-US" altLang="zh-CN" sz="2400" dirty="0" err="1">
                <a:ea typeface="宋体" panose="02010600030101010101" pitchFamily="2" charset="-122"/>
              </a:rPr>
              <a:t>java.io.RandomAccessFile</a:t>
            </a:r>
            <a:r>
              <a:rPr lang="en-US" altLang="zh-CN" sz="2400" dirty="0">
                <a:ea typeface="宋体" panose="02010600030101010101" pitchFamily="2" charset="-122"/>
              </a:rPr>
              <a:t> 	</a:t>
            </a:r>
          </a:p>
          <a:p>
            <a:pPr>
              <a:buFont typeface="Wingdings" panose="05000000000000000000" pitchFamily="2" charset="2"/>
              <a:buNone/>
            </a:pPr>
            <a:r>
              <a:rPr lang="en-US" altLang="zh-CN" sz="2400" dirty="0">
                <a:ea typeface="宋体" panose="02010600030101010101" pitchFamily="2" charset="-122"/>
              </a:rPr>
              <a:t>             </a:t>
            </a:r>
            <a:r>
              <a:rPr lang="en-US" altLang="zh-CN" sz="2400" dirty="0" err="1">
                <a:ea typeface="宋体" panose="02010600030101010101" pitchFamily="2" charset="-122"/>
              </a:rPr>
              <a:t>java.io.InputStream</a:t>
            </a:r>
            <a:endParaRPr lang="en-US" altLang="zh-CN" sz="2400" dirty="0">
              <a:ea typeface="宋体" panose="02010600030101010101" pitchFamily="2" charset="-122"/>
            </a:endParaRPr>
          </a:p>
          <a:p>
            <a:pPr>
              <a:buFont typeface="Wingdings" panose="05000000000000000000" pitchFamily="2" charset="2"/>
              <a:buNone/>
            </a:pPr>
            <a:r>
              <a:rPr lang="en-US" altLang="zh-CN" sz="2400" dirty="0">
                <a:ea typeface="宋体" panose="02010600030101010101" pitchFamily="2" charset="-122"/>
              </a:rPr>
              <a:t>	         </a:t>
            </a:r>
            <a:r>
              <a:rPr lang="en-US" altLang="zh-CN" sz="2400" dirty="0" err="1">
                <a:ea typeface="宋体" panose="02010600030101010101" pitchFamily="2" charset="-122"/>
              </a:rPr>
              <a:t>java.io.OutputStream</a:t>
            </a:r>
            <a:endParaRPr lang="en-US" altLang="zh-CN" sz="2400" dirty="0">
              <a:ea typeface="宋体" panose="02010600030101010101" pitchFamily="2" charset="-122"/>
            </a:endParaRPr>
          </a:p>
          <a:p>
            <a:pPr>
              <a:buFont typeface="Wingdings" panose="05000000000000000000" pitchFamily="2" charset="2"/>
              <a:buNone/>
            </a:pPr>
            <a:r>
              <a:rPr lang="en-US" altLang="zh-CN" sz="2400" dirty="0">
                <a:ea typeface="宋体" panose="02010600030101010101" pitchFamily="2" charset="-122"/>
              </a:rPr>
              <a:t>	         </a:t>
            </a:r>
            <a:r>
              <a:rPr lang="en-US" altLang="zh-CN" sz="2400" dirty="0" err="1">
                <a:ea typeface="宋体" panose="02010600030101010101" pitchFamily="2" charset="-122"/>
              </a:rPr>
              <a:t>java.io.Reader</a:t>
            </a:r>
            <a:r>
              <a:rPr lang="en-US" altLang="zh-CN" sz="2400" dirty="0">
                <a:ea typeface="宋体" panose="02010600030101010101" pitchFamily="2" charset="-122"/>
              </a:rPr>
              <a:t>	</a:t>
            </a:r>
          </a:p>
          <a:p>
            <a:pPr>
              <a:buFont typeface="Wingdings" panose="05000000000000000000" pitchFamily="2" charset="2"/>
              <a:buNone/>
            </a:pPr>
            <a:r>
              <a:rPr lang="en-US" altLang="zh-CN" sz="2400" dirty="0">
                <a:ea typeface="宋体" panose="02010600030101010101" pitchFamily="2" charset="-122"/>
              </a:rPr>
              <a:t>             </a:t>
            </a:r>
            <a:r>
              <a:rPr lang="en-US" altLang="zh-CN" sz="2400" dirty="0" err="1">
                <a:ea typeface="宋体" panose="02010600030101010101" pitchFamily="2" charset="-122"/>
              </a:rPr>
              <a:t>java.io.Writer</a:t>
            </a:r>
            <a:r>
              <a:rPr lang="en-US" altLang="zh-CN" sz="2400" dirty="0">
                <a:ea typeface="宋体" panose="02010600030101010101" pitchFamily="2" charset="-122"/>
              </a:rPr>
              <a:t>	</a:t>
            </a:r>
          </a:p>
          <a:p>
            <a:pPr lvl="1">
              <a:lnSpc>
                <a:spcPct val="110000"/>
              </a:lnSpc>
            </a:pPr>
            <a:r>
              <a:rPr lang="en-US" altLang="zh-CN" b="0" dirty="0">
                <a:ea typeface="黑体" panose="02010609060101010101" pitchFamily="49" charset="-122"/>
                <a:cs typeface="Times New Roman" panose="02020603050405020304" pitchFamily="18" charset="0"/>
              </a:rPr>
              <a:t>IO</a:t>
            </a:r>
            <a:r>
              <a:rPr lang="zh-CN" altLang="en-US" b="0" dirty="0">
                <a:ea typeface="黑体" panose="02010609060101010101" pitchFamily="49" charset="-122"/>
                <a:cs typeface="Times New Roman" panose="02020603050405020304" pitchFamily="18" charset="0"/>
              </a:rPr>
              <a:t>流类一旦被创建就会自动打开</a:t>
            </a:r>
          </a:p>
          <a:p>
            <a:pPr lvl="1">
              <a:lnSpc>
                <a:spcPct val="110000"/>
              </a:lnSpc>
            </a:pPr>
            <a:r>
              <a:rPr lang="zh-CN" altLang="en-US" b="0" dirty="0">
                <a:ea typeface="黑体" panose="02010609060101010101" pitchFamily="49" charset="-122"/>
                <a:cs typeface="Times New Roman" panose="02020603050405020304" pitchFamily="18" charset="0"/>
              </a:rPr>
              <a:t>通过调用</a:t>
            </a:r>
            <a:r>
              <a:rPr lang="en-US" altLang="zh-CN" b="0" dirty="0">
                <a:ea typeface="黑体" panose="02010609060101010101" pitchFamily="49" charset="-122"/>
                <a:cs typeface="Times New Roman" panose="02020603050405020304" pitchFamily="18" charset="0"/>
              </a:rPr>
              <a:t>close</a:t>
            </a:r>
            <a:r>
              <a:rPr lang="zh-CN" altLang="en-US" b="0" dirty="0">
                <a:ea typeface="黑体" panose="02010609060101010101" pitchFamily="49" charset="-122"/>
                <a:cs typeface="Times New Roman" panose="02020603050405020304" pitchFamily="18" charset="0"/>
              </a:rPr>
              <a:t>方法，可以显式关闭任何一个流；</a:t>
            </a:r>
            <a:endParaRPr lang="en-US" altLang="zh-CN" b="0" dirty="0">
              <a:ea typeface="黑体" panose="02010609060101010101" pitchFamily="49" charset="-122"/>
              <a:cs typeface="Times New Roman" panose="02020603050405020304" pitchFamily="18" charset="0"/>
            </a:endParaRPr>
          </a:p>
          <a:p>
            <a:pPr lvl="1">
              <a:lnSpc>
                <a:spcPct val="110000"/>
              </a:lnSpc>
            </a:pPr>
            <a:r>
              <a:rPr lang="zh-CN" altLang="en-US" b="0" dirty="0">
                <a:ea typeface="黑体" panose="02010609060101010101" pitchFamily="49" charset="-122"/>
                <a:cs typeface="Times New Roman" panose="02020603050405020304" pitchFamily="18" charset="0"/>
              </a:rPr>
              <a:t>如果流对象不再被引用，</a:t>
            </a:r>
            <a:r>
              <a:rPr lang="en-US" altLang="zh-CN" b="0" dirty="0">
                <a:ea typeface="黑体" panose="02010609060101010101" pitchFamily="49" charset="-122"/>
                <a:cs typeface="Times New Roman" panose="02020603050405020304" pitchFamily="18" charset="0"/>
              </a:rPr>
              <a:t>Java</a:t>
            </a:r>
            <a:r>
              <a:rPr lang="zh-CN" altLang="en-US" b="0" dirty="0">
                <a:ea typeface="黑体" panose="02010609060101010101" pitchFamily="49" charset="-122"/>
                <a:cs typeface="Times New Roman" panose="02020603050405020304" pitchFamily="18" charset="0"/>
              </a:rPr>
              <a:t>的垃圾回收机制也会隐式地关闭它</a:t>
            </a:r>
          </a:p>
        </p:txBody>
      </p:sp>
      <p:grpSp>
        <p:nvGrpSpPr>
          <p:cNvPr id="47108" name="组合 1"/>
          <p:cNvGrpSpPr>
            <a:grpSpLocks/>
          </p:cNvGrpSpPr>
          <p:nvPr/>
        </p:nvGrpSpPr>
        <p:grpSpPr bwMode="auto">
          <a:xfrm>
            <a:off x="1042988" y="2349500"/>
            <a:ext cx="504825" cy="2247900"/>
            <a:chOff x="1115616" y="4276725"/>
            <a:chExt cx="504056" cy="2248619"/>
          </a:xfrm>
        </p:grpSpPr>
        <p:sp>
          <p:nvSpPr>
            <p:cNvPr id="47109" name="Line 17"/>
            <p:cNvSpPr>
              <a:spLocks noChangeShapeType="1"/>
            </p:cNvSpPr>
            <p:nvPr/>
          </p:nvSpPr>
          <p:spPr bwMode="auto">
            <a:xfrm>
              <a:off x="1116013" y="4276725"/>
              <a:ext cx="0" cy="2247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47110" name="Line 23"/>
            <p:cNvSpPr>
              <a:spLocks noChangeShapeType="1"/>
            </p:cNvSpPr>
            <p:nvPr/>
          </p:nvSpPr>
          <p:spPr bwMode="auto">
            <a:xfrm>
              <a:off x="1116013" y="4408536"/>
              <a:ext cx="50365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47111" name="Line 23"/>
            <p:cNvSpPr>
              <a:spLocks noChangeShapeType="1"/>
            </p:cNvSpPr>
            <p:nvPr/>
          </p:nvSpPr>
          <p:spPr bwMode="auto">
            <a:xfrm>
              <a:off x="1115616" y="4725144"/>
              <a:ext cx="50365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47112" name="Line 23"/>
            <p:cNvSpPr>
              <a:spLocks noChangeShapeType="1"/>
            </p:cNvSpPr>
            <p:nvPr/>
          </p:nvSpPr>
          <p:spPr bwMode="auto">
            <a:xfrm>
              <a:off x="1115616" y="5157192"/>
              <a:ext cx="50365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47113" name="Line 23"/>
            <p:cNvSpPr>
              <a:spLocks noChangeShapeType="1"/>
            </p:cNvSpPr>
            <p:nvPr/>
          </p:nvSpPr>
          <p:spPr bwMode="auto">
            <a:xfrm>
              <a:off x="1115616" y="5661248"/>
              <a:ext cx="50365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47114" name="Line 23"/>
            <p:cNvSpPr>
              <a:spLocks noChangeShapeType="1"/>
            </p:cNvSpPr>
            <p:nvPr/>
          </p:nvSpPr>
          <p:spPr bwMode="auto">
            <a:xfrm>
              <a:off x="1115616" y="6093296"/>
              <a:ext cx="50365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47115" name="Line 23"/>
            <p:cNvSpPr>
              <a:spLocks noChangeShapeType="1"/>
            </p:cNvSpPr>
            <p:nvPr/>
          </p:nvSpPr>
          <p:spPr bwMode="auto">
            <a:xfrm>
              <a:off x="1115616" y="6525344"/>
              <a:ext cx="50365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grpSp>
      <p:cxnSp>
        <p:nvCxnSpPr>
          <p:cNvPr id="12" name="直接连接符 11"/>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99000812-1C7F-4457-8623-2B22375FD2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52734"/>
            <a:ext cx="9144000" cy="3952532"/>
          </a:xfrm>
          <a:prstGeom prst="rect">
            <a:avLst/>
          </a:prstGeom>
        </p:spPr>
      </p:pic>
    </p:spTree>
    <p:extLst>
      <p:ext uri="{BB962C8B-B14F-4D97-AF65-F5344CB8AC3E}">
        <p14:creationId xmlns:p14="http://schemas.microsoft.com/office/powerpoint/2010/main" val="1980702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endParaRPr lang="zh-CN" altLang="en-US" sz="3200" dirty="0">
              <a:ea typeface="宋体" panose="02010600030101010101" pitchFamily="2" charset="-122"/>
              <a:cs typeface="Times New Roman" panose="02020603050405020304" pitchFamily="18" charset="0"/>
            </a:endParaRPr>
          </a:p>
        </p:txBody>
      </p:sp>
      <p:sp>
        <p:nvSpPr>
          <p:cNvPr id="48131" name="内容占位符 2"/>
          <p:cNvSpPr>
            <a:spLocks noGrp="1"/>
          </p:cNvSpPr>
          <p:nvPr>
            <p:ph idx="1"/>
          </p:nvPr>
        </p:nvSpPr>
        <p:spPr>
          <a:xfrm>
            <a:off x="468313" y="981075"/>
            <a:ext cx="8229600" cy="1295400"/>
          </a:xfrm>
        </p:spPr>
        <p:txBody>
          <a:bodyPr/>
          <a:lstStyle/>
          <a:p>
            <a:pPr>
              <a:lnSpc>
                <a:spcPct val="9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输入流</a:t>
            </a:r>
          </a:p>
          <a:p>
            <a:pPr lvl="1">
              <a:lnSpc>
                <a:spcPct val="90000"/>
              </a:lnSpc>
            </a:pPr>
            <a:r>
              <a:rPr lang="zh-CN" altLang="en-US" b="0" dirty="0">
                <a:ea typeface="黑体" panose="02010609060101010101" pitchFamily="49" charset="-122"/>
                <a:cs typeface="Times New Roman" panose="02020603050405020304" pitchFamily="18" charset="0"/>
              </a:rPr>
              <a:t>为了从信息源获取信息，程序打开一个输入流，程序可从输入流读取信息</a:t>
            </a:r>
            <a:endParaRPr lang="zh-CN" altLang="en-US" sz="2800" b="0" dirty="0">
              <a:ea typeface="黑体" panose="02010609060101010101" pitchFamily="49" charset="-122"/>
              <a:cs typeface="Times New Roman" panose="02020603050405020304" pitchFamily="18" charset="0"/>
            </a:endParaRPr>
          </a:p>
        </p:txBody>
      </p:sp>
      <p:sp>
        <p:nvSpPr>
          <p:cNvPr id="48132" name="内容占位符 2"/>
          <p:cNvSpPr txBox="1">
            <a:spLocks/>
          </p:cNvSpPr>
          <p:nvPr/>
        </p:nvSpPr>
        <p:spPr bwMode="auto">
          <a:xfrm>
            <a:off x="468313" y="4005263"/>
            <a:ext cx="8229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692150" indent="-347663"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tx2"/>
              </a:buClr>
              <a:buSzPct val="70000"/>
              <a:buFont typeface="Wingdings" panose="05000000000000000000" pitchFamily="2" charset="2"/>
              <a:buChar char="n"/>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输出流</a:t>
            </a:r>
          </a:p>
          <a:p>
            <a:pPr lvl="1">
              <a:lnSpc>
                <a:spcPct val="90000"/>
              </a:lnSpc>
              <a:spcBef>
                <a:spcPct val="20000"/>
              </a:spcBef>
              <a:buClr>
                <a:schemeClr val="accent2"/>
              </a:buClr>
              <a:buSzPct val="70000"/>
              <a:buFont typeface="Wingdings" panose="05000000000000000000" pitchFamily="2" charset="2"/>
              <a:buChar char="l"/>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当程序需要向目标位置写信息时，便需要打开一个输出流，程序通过输出流向这个目标位置写信息</a:t>
            </a:r>
          </a:p>
        </p:txBody>
      </p:sp>
      <p:pic>
        <p:nvPicPr>
          <p:cNvPr id="481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5300663"/>
            <a:ext cx="6969125"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2349500"/>
            <a:ext cx="6969125"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endParaRPr lang="zh-CN" altLang="en-US" sz="3200" dirty="0">
              <a:ea typeface="宋体" panose="02010600030101010101" pitchFamily="2" charset="-122"/>
              <a:cs typeface="Times New Roman" panose="02020603050405020304" pitchFamily="18" charset="0"/>
            </a:endParaRPr>
          </a:p>
        </p:txBody>
      </p:sp>
      <p:sp>
        <p:nvSpPr>
          <p:cNvPr id="49155" name="内容占位符 2"/>
          <p:cNvSpPr>
            <a:spLocks noGrp="1"/>
          </p:cNvSpPr>
          <p:nvPr>
            <p:ph idx="1"/>
          </p:nvPr>
        </p:nvSpPr>
        <p:spPr/>
        <p:txBody>
          <a:bodyPr/>
          <a:lstStyle/>
          <a:p>
            <a:r>
              <a:rPr lang="zh-CN" altLang="en-US" b="0" dirty="0">
                <a:latin typeface="黑体" panose="02010609060101010101" pitchFamily="49" charset="-122"/>
                <a:ea typeface="黑体" panose="02010609060101010101" pitchFamily="49" charset="-122"/>
              </a:rPr>
              <a:t>源和目标的类型</a:t>
            </a:r>
          </a:p>
        </p:txBody>
      </p:sp>
      <p:grpSp>
        <p:nvGrpSpPr>
          <p:cNvPr id="49156" name="Group 124"/>
          <p:cNvGrpSpPr>
            <a:grpSpLocks/>
          </p:cNvGrpSpPr>
          <p:nvPr/>
        </p:nvGrpSpPr>
        <p:grpSpPr bwMode="auto">
          <a:xfrm>
            <a:off x="1116013" y="1773238"/>
            <a:ext cx="7189787" cy="4398962"/>
            <a:chOff x="960" y="1200"/>
            <a:chExt cx="4272" cy="2688"/>
          </a:xfrm>
        </p:grpSpPr>
        <p:grpSp>
          <p:nvGrpSpPr>
            <p:cNvPr id="49157" name="Group 65"/>
            <p:cNvGrpSpPr>
              <a:grpSpLocks/>
            </p:cNvGrpSpPr>
            <p:nvPr/>
          </p:nvGrpSpPr>
          <p:grpSpPr bwMode="auto">
            <a:xfrm>
              <a:off x="964" y="1202"/>
              <a:ext cx="1652" cy="346"/>
              <a:chOff x="0" y="0"/>
              <a:chExt cx="875" cy="427"/>
            </a:xfrm>
          </p:grpSpPr>
          <p:sp>
            <p:nvSpPr>
              <p:cNvPr id="49227" name="Rectangle 64"/>
              <p:cNvSpPr>
                <a:spLocks noChangeArrowheads="1"/>
              </p:cNvSpPr>
              <p:nvPr/>
            </p:nvSpPr>
            <p:spPr bwMode="auto">
              <a:xfrm>
                <a:off x="0" y="0"/>
                <a:ext cx="875" cy="427"/>
              </a:xfrm>
              <a:prstGeom prst="rect">
                <a:avLst/>
              </a:prstGeom>
              <a:solidFill>
                <a:srgbClr val="ADD8E6"/>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9228" name="Group 63"/>
              <p:cNvGrpSpPr>
                <a:grpSpLocks/>
              </p:cNvGrpSpPr>
              <p:nvPr/>
            </p:nvGrpSpPr>
            <p:grpSpPr bwMode="auto">
              <a:xfrm>
                <a:off x="0" y="0"/>
                <a:ext cx="875" cy="403"/>
                <a:chOff x="0" y="0"/>
                <a:chExt cx="875" cy="403"/>
              </a:xfrm>
            </p:grpSpPr>
            <p:sp>
              <p:nvSpPr>
                <p:cNvPr id="49229" name="Rectangle 46"/>
                <p:cNvSpPr>
                  <a:spLocks noChangeArrowheads="1"/>
                </p:cNvSpPr>
                <p:nvPr/>
              </p:nvSpPr>
              <p:spPr bwMode="auto">
                <a:xfrm>
                  <a:off x="6" y="6"/>
                  <a:ext cx="863" cy="391"/>
                </a:xfrm>
                <a:prstGeom prst="rect">
                  <a:avLst/>
                </a:prstGeom>
                <a:solidFill>
                  <a:srgbClr val="ADD8E6"/>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sz="2000" dirty="0">
                      <a:solidFill>
                        <a:srgbClr val="C00000"/>
                      </a:solidFill>
                      <a:latin typeface="黑体" panose="02010609060101010101" pitchFamily="49" charset="-122"/>
                      <a:ea typeface="黑体" panose="02010609060101010101" pitchFamily="49" charset="-122"/>
                    </a:rPr>
                    <a:t>对象</a:t>
                  </a:r>
                  <a:endParaRPr lang="zh-CN" altLang="en-GB" sz="4000" dirty="0">
                    <a:solidFill>
                      <a:srgbClr val="C00000"/>
                    </a:solidFill>
                    <a:latin typeface="黑体" panose="02010609060101010101" pitchFamily="49" charset="-122"/>
                    <a:ea typeface="黑体" panose="02010609060101010101" pitchFamily="49" charset="-122"/>
                  </a:endParaRPr>
                </a:p>
              </p:txBody>
            </p:sp>
            <p:sp>
              <p:nvSpPr>
                <p:cNvPr id="49230" name="Rectangle 62"/>
                <p:cNvSpPr>
                  <a:spLocks noChangeArrowheads="1"/>
                </p:cNvSpPr>
                <p:nvPr/>
              </p:nvSpPr>
              <p:spPr bwMode="auto">
                <a:xfrm>
                  <a:off x="0" y="0"/>
                  <a:ext cx="875"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49158" name="Group 69"/>
            <p:cNvGrpSpPr>
              <a:grpSpLocks/>
            </p:cNvGrpSpPr>
            <p:nvPr/>
          </p:nvGrpSpPr>
          <p:grpSpPr bwMode="auto">
            <a:xfrm>
              <a:off x="2616" y="1202"/>
              <a:ext cx="2612" cy="346"/>
              <a:chOff x="875" y="0"/>
              <a:chExt cx="1384" cy="427"/>
            </a:xfrm>
          </p:grpSpPr>
          <p:sp>
            <p:nvSpPr>
              <p:cNvPr id="49223" name="Rectangle 68"/>
              <p:cNvSpPr>
                <a:spLocks noChangeArrowheads="1"/>
              </p:cNvSpPr>
              <p:nvPr/>
            </p:nvSpPr>
            <p:spPr bwMode="auto">
              <a:xfrm>
                <a:off x="875" y="0"/>
                <a:ext cx="1384" cy="427"/>
              </a:xfrm>
              <a:prstGeom prst="rect">
                <a:avLst/>
              </a:prstGeom>
              <a:solidFill>
                <a:srgbClr val="ADD8E6"/>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9224" name="Group 67"/>
              <p:cNvGrpSpPr>
                <a:grpSpLocks/>
              </p:cNvGrpSpPr>
              <p:nvPr/>
            </p:nvGrpSpPr>
            <p:grpSpPr bwMode="auto">
              <a:xfrm>
                <a:off x="875" y="0"/>
                <a:ext cx="1384" cy="403"/>
                <a:chOff x="875" y="0"/>
                <a:chExt cx="1384" cy="403"/>
              </a:xfrm>
            </p:grpSpPr>
            <p:sp>
              <p:nvSpPr>
                <p:cNvPr id="49225" name="Rectangle 47"/>
                <p:cNvSpPr>
                  <a:spLocks noChangeArrowheads="1"/>
                </p:cNvSpPr>
                <p:nvPr/>
              </p:nvSpPr>
              <p:spPr bwMode="auto">
                <a:xfrm>
                  <a:off x="881" y="6"/>
                  <a:ext cx="1372" cy="391"/>
                </a:xfrm>
                <a:prstGeom prst="rect">
                  <a:avLst/>
                </a:prstGeom>
                <a:solidFill>
                  <a:srgbClr val="ADD8E6"/>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sz="2000" dirty="0">
                      <a:solidFill>
                        <a:srgbClr val="C00000"/>
                      </a:solidFill>
                      <a:latin typeface="黑体" panose="02010609060101010101" pitchFamily="49" charset="-122"/>
                      <a:ea typeface="黑体" panose="02010609060101010101" pitchFamily="49" charset="-122"/>
                    </a:rPr>
                    <a:t>源? 目标? 或两者?</a:t>
                  </a:r>
                  <a:endParaRPr lang="zh-CN" altLang="en-GB" sz="4000" dirty="0">
                    <a:solidFill>
                      <a:srgbClr val="C00000"/>
                    </a:solidFill>
                    <a:latin typeface="黑体" panose="02010609060101010101" pitchFamily="49" charset="-122"/>
                    <a:ea typeface="黑体" panose="02010609060101010101" pitchFamily="49" charset="-122"/>
                  </a:endParaRPr>
                </a:p>
              </p:txBody>
            </p:sp>
            <p:sp>
              <p:nvSpPr>
                <p:cNvPr id="49226" name="Rectangle 66"/>
                <p:cNvSpPr>
                  <a:spLocks noChangeArrowheads="1"/>
                </p:cNvSpPr>
                <p:nvPr/>
              </p:nvSpPr>
              <p:spPr bwMode="auto">
                <a:xfrm>
                  <a:off x="875" y="0"/>
                  <a:ext cx="1384"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49159" name="Group 71"/>
            <p:cNvGrpSpPr>
              <a:grpSpLocks/>
            </p:cNvGrpSpPr>
            <p:nvPr/>
          </p:nvGrpSpPr>
          <p:grpSpPr bwMode="auto">
            <a:xfrm>
              <a:off x="964" y="1539"/>
              <a:ext cx="1652" cy="327"/>
              <a:chOff x="0" y="415"/>
              <a:chExt cx="875" cy="403"/>
            </a:xfrm>
          </p:grpSpPr>
          <p:sp>
            <p:nvSpPr>
              <p:cNvPr id="49221" name="Rectangle 48"/>
              <p:cNvSpPr>
                <a:spLocks noChangeArrowheads="1"/>
              </p:cNvSpPr>
              <p:nvPr/>
            </p:nvSpPr>
            <p:spPr bwMode="auto">
              <a:xfrm>
                <a:off x="6" y="421"/>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dirty="0"/>
                  <a:t>disk file</a:t>
                </a:r>
                <a:endParaRPr lang="en-GB" altLang="zh-CN" sz="3600" b="1" dirty="0"/>
              </a:p>
            </p:txBody>
          </p:sp>
          <p:sp>
            <p:nvSpPr>
              <p:cNvPr id="49222" name="Rectangle 70"/>
              <p:cNvSpPr>
                <a:spLocks noChangeArrowheads="1"/>
              </p:cNvSpPr>
              <p:nvPr/>
            </p:nvSpPr>
            <p:spPr bwMode="auto">
              <a:xfrm>
                <a:off x="0" y="415"/>
                <a:ext cx="875"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0" name="Group 73"/>
            <p:cNvGrpSpPr>
              <a:grpSpLocks/>
            </p:cNvGrpSpPr>
            <p:nvPr/>
          </p:nvGrpSpPr>
          <p:grpSpPr bwMode="auto">
            <a:xfrm>
              <a:off x="2616" y="1539"/>
              <a:ext cx="2612" cy="327"/>
              <a:chOff x="875" y="415"/>
              <a:chExt cx="1384" cy="403"/>
            </a:xfrm>
          </p:grpSpPr>
          <p:sp>
            <p:nvSpPr>
              <p:cNvPr id="49219" name="Rectangle 49"/>
              <p:cNvSpPr>
                <a:spLocks noChangeArrowheads="1"/>
              </p:cNvSpPr>
              <p:nvPr/>
            </p:nvSpPr>
            <p:spPr bwMode="auto">
              <a:xfrm>
                <a:off x="881" y="421"/>
                <a:ext cx="137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b="1"/>
                  <a:t> </a:t>
                </a:r>
              </a:p>
              <a:p>
                <a:pPr algn="ctr"/>
                <a:endParaRPr lang="zh-CN" altLang="en-GB" sz="3600" b="1"/>
              </a:p>
            </p:txBody>
          </p:sp>
          <p:sp>
            <p:nvSpPr>
              <p:cNvPr id="49220" name="Rectangle 72"/>
              <p:cNvSpPr>
                <a:spLocks noChangeArrowheads="1"/>
              </p:cNvSpPr>
              <p:nvPr/>
            </p:nvSpPr>
            <p:spPr bwMode="auto">
              <a:xfrm>
                <a:off x="875" y="415"/>
                <a:ext cx="1384"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1" name="Group 75"/>
            <p:cNvGrpSpPr>
              <a:grpSpLocks/>
            </p:cNvGrpSpPr>
            <p:nvPr/>
          </p:nvGrpSpPr>
          <p:grpSpPr bwMode="auto">
            <a:xfrm>
              <a:off x="964" y="1875"/>
              <a:ext cx="1652" cy="327"/>
              <a:chOff x="0" y="830"/>
              <a:chExt cx="875" cy="403"/>
            </a:xfrm>
          </p:grpSpPr>
          <p:sp>
            <p:nvSpPr>
              <p:cNvPr id="49217" name="Rectangle 50"/>
              <p:cNvSpPr>
                <a:spLocks noChangeArrowheads="1"/>
              </p:cNvSpPr>
              <p:nvPr/>
            </p:nvSpPr>
            <p:spPr bwMode="auto">
              <a:xfrm>
                <a:off x="6" y="836"/>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dirty="0"/>
                  <a:t>running program</a:t>
                </a:r>
                <a:endParaRPr lang="en-GB" altLang="zh-CN" sz="3600" b="1" dirty="0"/>
              </a:p>
            </p:txBody>
          </p:sp>
          <p:sp>
            <p:nvSpPr>
              <p:cNvPr id="49218" name="Rectangle 74"/>
              <p:cNvSpPr>
                <a:spLocks noChangeArrowheads="1"/>
              </p:cNvSpPr>
              <p:nvPr/>
            </p:nvSpPr>
            <p:spPr bwMode="auto">
              <a:xfrm>
                <a:off x="0" y="830"/>
                <a:ext cx="875"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2" name="Group 77"/>
            <p:cNvGrpSpPr>
              <a:grpSpLocks/>
            </p:cNvGrpSpPr>
            <p:nvPr/>
          </p:nvGrpSpPr>
          <p:grpSpPr bwMode="auto">
            <a:xfrm>
              <a:off x="2616" y="1875"/>
              <a:ext cx="2612" cy="327"/>
              <a:chOff x="875" y="830"/>
              <a:chExt cx="1384" cy="403"/>
            </a:xfrm>
          </p:grpSpPr>
          <p:sp>
            <p:nvSpPr>
              <p:cNvPr id="49215" name="Rectangle 51"/>
              <p:cNvSpPr>
                <a:spLocks noChangeArrowheads="1"/>
              </p:cNvSpPr>
              <p:nvPr/>
            </p:nvSpPr>
            <p:spPr bwMode="auto">
              <a:xfrm>
                <a:off x="881" y="836"/>
                <a:ext cx="137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b="1"/>
                  <a:t> </a:t>
                </a:r>
              </a:p>
              <a:p>
                <a:pPr algn="ctr"/>
                <a:endParaRPr lang="zh-CN" altLang="en-GB" sz="3600" b="1"/>
              </a:p>
            </p:txBody>
          </p:sp>
          <p:sp>
            <p:nvSpPr>
              <p:cNvPr id="49216" name="Rectangle 76"/>
              <p:cNvSpPr>
                <a:spLocks noChangeArrowheads="1"/>
              </p:cNvSpPr>
              <p:nvPr/>
            </p:nvSpPr>
            <p:spPr bwMode="auto">
              <a:xfrm>
                <a:off x="875" y="830"/>
                <a:ext cx="1384"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3" name="Group 79"/>
            <p:cNvGrpSpPr>
              <a:grpSpLocks/>
            </p:cNvGrpSpPr>
            <p:nvPr/>
          </p:nvGrpSpPr>
          <p:grpSpPr bwMode="auto">
            <a:xfrm>
              <a:off x="964" y="2212"/>
              <a:ext cx="1652" cy="327"/>
              <a:chOff x="0" y="1245"/>
              <a:chExt cx="875" cy="403"/>
            </a:xfrm>
          </p:grpSpPr>
          <p:sp>
            <p:nvSpPr>
              <p:cNvPr id="49213" name="Rectangle 52"/>
              <p:cNvSpPr>
                <a:spLocks noChangeArrowheads="1"/>
              </p:cNvSpPr>
              <p:nvPr/>
            </p:nvSpPr>
            <p:spPr bwMode="auto">
              <a:xfrm>
                <a:off x="6" y="1251"/>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dirty="0"/>
                  <a:t>monitor</a:t>
                </a:r>
                <a:endParaRPr lang="en-GB" altLang="zh-CN" sz="3600" b="1" dirty="0"/>
              </a:p>
            </p:txBody>
          </p:sp>
          <p:sp>
            <p:nvSpPr>
              <p:cNvPr id="49214" name="Rectangle 78"/>
              <p:cNvSpPr>
                <a:spLocks noChangeArrowheads="1"/>
              </p:cNvSpPr>
              <p:nvPr/>
            </p:nvSpPr>
            <p:spPr bwMode="auto">
              <a:xfrm>
                <a:off x="0" y="1245"/>
                <a:ext cx="875"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4" name="Group 81"/>
            <p:cNvGrpSpPr>
              <a:grpSpLocks/>
            </p:cNvGrpSpPr>
            <p:nvPr/>
          </p:nvGrpSpPr>
          <p:grpSpPr bwMode="auto">
            <a:xfrm>
              <a:off x="2616" y="2212"/>
              <a:ext cx="2612" cy="327"/>
              <a:chOff x="875" y="1245"/>
              <a:chExt cx="1384" cy="403"/>
            </a:xfrm>
          </p:grpSpPr>
          <p:sp>
            <p:nvSpPr>
              <p:cNvPr id="49211" name="Rectangle 53"/>
              <p:cNvSpPr>
                <a:spLocks noChangeArrowheads="1"/>
              </p:cNvSpPr>
              <p:nvPr/>
            </p:nvSpPr>
            <p:spPr bwMode="auto">
              <a:xfrm>
                <a:off x="881" y="1251"/>
                <a:ext cx="137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b="1"/>
                  <a:t> </a:t>
                </a:r>
              </a:p>
              <a:p>
                <a:pPr algn="ctr"/>
                <a:endParaRPr lang="zh-CN" altLang="en-GB" sz="3600" b="1"/>
              </a:p>
            </p:txBody>
          </p:sp>
          <p:sp>
            <p:nvSpPr>
              <p:cNvPr id="49212" name="Rectangle 80"/>
              <p:cNvSpPr>
                <a:spLocks noChangeArrowheads="1"/>
              </p:cNvSpPr>
              <p:nvPr/>
            </p:nvSpPr>
            <p:spPr bwMode="auto">
              <a:xfrm>
                <a:off x="875" y="1245"/>
                <a:ext cx="1384"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5" name="Group 83"/>
            <p:cNvGrpSpPr>
              <a:grpSpLocks/>
            </p:cNvGrpSpPr>
            <p:nvPr/>
          </p:nvGrpSpPr>
          <p:grpSpPr bwMode="auto">
            <a:xfrm>
              <a:off x="964" y="2549"/>
              <a:ext cx="1652" cy="327"/>
              <a:chOff x="0" y="1660"/>
              <a:chExt cx="875" cy="403"/>
            </a:xfrm>
          </p:grpSpPr>
          <p:sp>
            <p:nvSpPr>
              <p:cNvPr id="49209" name="Rectangle 54"/>
              <p:cNvSpPr>
                <a:spLocks noChangeArrowheads="1"/>
              </p:cNvSpPr>
              <p:nvPr/>
            </p:nvSpPr>
            <p:spPr bwMode="auto">
              <a:xfrm>
                <a:off x="6" y="1666"/>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dirty="0"/>
                  <a:t>keyboard</a:t>
                </a:r>
                <a:endParaRPr lang="en-GB" altLang="zh-CN" sz="3600" b="1" dirty="0"/>
              </a:p>
            </p:txBody>
          </p:sp>
          <p:sp>
            <p:nvSpPr>
              <p:cNvPr id="49210" name="Rectangle 82"/>
              <p:cNvSpPr>
                <a:spLocks noChangeArrowheads="1"/>
              </p:cNvSpPr>
              <p:nvPr/>
            </p:nvSpPr>
            <p:spPr bwMode="auto">
              <a:xfrm>
                <a:off x="0" y="1660"/>
                <a:ext cx="875"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6" name="Group 85"/>
            <p:cNvGrpSpPr>
              <a:grpSpLocks/>
            </p:cNvGrpSpPr>
            <p:nvPr/>
          </p:nvGrpSpPr>
          <p:grpSpPr bwMode="auto">
            <a:xfrm>
              <a:off x="2616" y="2549"/>
              <a:ext cx="2612" cy="327"/>
              <a:chOff x="875" y="1660"/>
              <a:chExt cx="1384" cy="403"/>
            </a:xfrm>
          </p:grpSpPr>
          <p:sp>
            <p:nvSpPr>
              <p:cNvPr id="49207" name="Rectangle 55"/>
              <p:cNvSpPr>
                <a:spLocks noChangeArrowheads="1"/>
              </p:cNvSpPr>
              <p:nvPr/>
            </p:nvSpPr>
            <p:spPr bwMode="auto">
              <a:xfrm>
                <a:off x="881" y="1666"/>
                <a:ext cx="137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b="1"/>
                  <a:t> </a:t>
                </a:r>
              </a:p>
              <a:p>
                <a:pPr algn="ctr"/>
                <a:endParaRPr lang="zh-CN" altLang="en-GB" sz="3600" b="1"/>
              </a:p>
            </p:txBody>
          </p:sp>
          <p:sp>
            <p:nvSpPr>
              <p:cNvPr id="49208" name="Rectangle 84"/>
              <p:cNvSpPr>
                <a:spLocks noChangeArrowheads="1"/>
              </p:cNvSpPr>
              <p:nvPr/>
            </p:nvSpPr>
            <p:spPr bwMode="auto">
              <a:xfrm>
                <a:off x="875" y="1660"/>
                <a:ext cx="1384"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7" name="Group 87"/>
            <p:cNvGrpSpPr>
              <a:grpSpLocks/>
            </p:cNvGrpSpPr>
            <p:nvPr/>
          </p:nvGrpSpPr>
          <p:grpSpPr bwMode="auto">
            <a:xfrm>
              <a:off x="964" y="2886"/>
              <a:ext cx="1652" cy="327"/>
              <a:chOff x="0" y="2075"/>
              <a:chExt cx="875" cy="403"/>
            </a:xfrm>
          </p:grpSpPr>
          <p:sp>
            <p:nvSpPr>
              <p:cNvPr id="49205" name="Rectangle 56"/>
              <p:cNvSpPr>
                <a:spLocks noChangeArrowheads="1"/>
              </p:cNvSpPr>
              <p:nvPr/>
            </p:nvSpPr>
            <p:spPr bwMode="auto">
              <a:xfrm>
                <a:off x="6" y="2081"/>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dirty="0"/>
                  <a:t>Internet connection</a:t>
                </a:r>
                <a:endParaRPr lang="en-GB" altLang="zh-CN" sz="3600" b="1" dirty="0"/>
              </a:p>
            </p:txBody>
          </p:sp>
          <p:sp>
            <p:nvSpPr>
              <p:cNvPr id="49206" name="Rectangle 86"/>
              <p:cNvSpPr>
                <a:spLocks noChangeArrowheads="1"/>
              </p:cNvSpPr>
              <p:nvPr/>
            </p:nvSpPr>
            <p:spPr bwMode="auto">
              <a:xfrm>
                <a:off x="0" y="2075"/>
                <a:ext cx="875"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8" name="Group 89"/>
            <p:cNvGrpSpPr>
              <a:grpSpLocks/>
            </p:cNvGrpSpPr>
            <p:nvPr/>
          </p:nvGrpSpPr>
          <p:grpSpPr bwMode="auto">
            <a:xfrm>
              <a:off x="2616" y="2886"/>
              <a:ext cx="2612" cy="327"/>
              <a:chOff x="875" y="2075"/>
              <a:chExt cx="1384" cy="403"/>
            </a:xfrm>
          </p:grpSpPr>
          <p:sp>
            <p:nvSpPr>
              <p:cNvPr id="49203" name="Rectangle 57"/>
              <p:cNvSpPr>
                <a:spLocks noChangeArrowheads="1"/>
              </p:cNvSpPr>
              <p:nvPr/>
            </p:nvSpPr>
            <p:spPr bwMode="auto">
              <a:xfrm>
                <a:off x="881" y="2081"/>
                <a:ext cx="137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b="1"/>
                  <a:t> </a:t>
                </a:r>
              </a:p>
              <a:p>
                <a:pPr algn="ctr"/>
                <a:endParaRPr lang="zh-CN" altLang="en-GB" sz="3600" b="1"/>
              </a:p>
            </p:txBody>
          </p:sp>
          <p:sp>
            <p:nvSpPr>
              <p:cNvPr id="49204" name="Rectangle 88"/>
              <p:cNvSpPr>
                <a:spLocks noChangeArrowheads="1"/>
              </p:cNvSpPr>
              <p:nvPr/>
            </p:nvSpPr>
            <p:spPr bwMode="auto">
              <a:xfrm>
                <a:off x="875" y="2075"/>
                <a:ext cx="1384"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69" name="Group 91"/>
            <p:cNvGrpSpPr>
              <a:grpSpLocks/>
            </p:cNvGrpSpPr>
            <p:nvPr/>
          </p:nvGrpSpPr>
          <p:grpSpPr bwMode="auto">
            <a:xfrm>
              <a:off x="964" y="3222"/>
              <a:ext cx="1652" cy="327"/>
              <a:chOff x="0" y="2490"/>
              <a:chExt cx="875" cy="403"/>
            </a:xfrm>
          </p:grpSpPr>
          <p:sp>
            <p:nvSpPr>
              <p:cNvPr id="49201" name="Rectangle 58"/>
              <p:cNvSpPr>
                <a:spLocks noChangeArrowheads="1"/>
              </p:cNvSpPr>
              <p:nvPr/>
            </p:nvSpPr>
            <p:spPr bwMode="auto">
              <a:xfrm>
                <a:off x="6" y="2496"/>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dirty="0"/>
                  <a:t>image scanner</a:t>
                </a:r>
                <a:endParaRPr lang="en-GB" altLang="zh-CN" sz="3600" b="1" dirty="0"/>
              </a:p>
            </p:txBody>
          </p:sp>
          <p:sp>
            <p:nvSpPr>
              <p:cNvPr id="49202" name="Rectangle 90"/>
              <p:cNvSpPr>
                <a:spLocks noChangeArrowheads="1"/>
              </p:cNvSpPr>
              <p:nvPr/>
            </p:nvSpPr>
            <p:spPr bwMode="auto">
              <a:xfrm>
                <a:off x="0" y="2490"/>
                <a:ext cx="875"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70" name="Group 93"/>
            <p:cNvGrpSpPr>
              <a:grpSpLocks/>
            </p:cNvGrpSpPr>
            <p:nvPr/>
          </p:nvGrpSpPr>
          <p:grpSpPr bwMode="auto">
            <a:xfrm>
              <a:off x="2616" y="3222"/>
              <a:ext cx="2612" cy="327"/>
              <a:chOff x="875" y="2490"/>
              <a:chExt cx="1384" cy="403"/>
            </a:xfrm>
          </p:grpSpPr>
          <p:sp>
            <p:nvSpPr>
              <p:cNvPr id="49199" name="Rectangle 59"/>
              <p:cNvSpPr>
                <a:spLocks noChangeArrowheads="1"/>
              </p:cNvSpPr>
              <p:nvPr/>
            </p:nvSpPr>
            <p:spPr bwMode="auto">
              <a:xfrm>
                <a:off x="881" y="2496"/>
                <a:ext cx="137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b="1"/>
                  <a:t> </a:t>
                </a:r>
              </a:p>
              <a:p>
                <a:pPr algn="ctr"/>
                <a:endParaRPr lang="zh-CN" altLang="en-GB" sz="3600" b="1"/>
              </a:p>
            </p:txBody>
          </p:sp>
          <p:sp>
            <p:nvSpPr>
              <p:cNvPr id="49200" name="Rectangle 92"/>
              <p:cNvSpPr>
                <a:spLocks noChangeArrowheads="1"/>
              </p:cNvSpPr>
              <p:nvPr/>
            </p:nvSpPr>
            <p:spPr bwMode="auto">
              <a:xfrm>
                <a:off x="875" y="2490"/>
                <a:ext cx="1384"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71" name="Group 95"/>
            <p:cNvGrpSpPr>
              <a:grpSpLocks/>
            </p:cNvGrpSpPr>
            <p:nvPr/>
          </p:nvGrpSpPr>
          <p:grpSpPr bwMode="auto">
            <a:xfrm>
              <a:off x="964" y="3559"/>
              <a:ext cx="1652" cy="327"/>
              <a:chOff x="0" y="2905"/>
              <a:chExt cx="875" cy="403"/>
            </a:xfrm>
          </p:grpSpPr>
          <p:sp>
            <p:nvSpPr>
              <p:cNvPr id="49197" name="Rectangle 60"/>
              <p:cNvSpPr>
                <a:spLocks noChangeArrowheads="1"/>
              </p:cNvSpPr>
              <p:nvPr/>
            </p:nvSpPr>
            <p:spPr bwMode="auto">
              <a:xfrm>
                <a:off x="6" y="2911"/>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a:t>mouse</a:t>
                </a:r>
                <a:endParaRPr lang="en-GB" altLang="zh-CN" sz="3600" b="1"/>
              </a:p>
            </p:txBody>
          </p:sp>
          <p:sp>
            <p:nvSpPr>
              <p:cNvPr id="49198" name="Rectangle 94"/>
              <p:cNvSpPr>
                <a:spLocks noChangeArrowheads="1"/>
              </p:cNvSpPr>
              <p:nvPr/>
            </p:nvSpPr>
            <p:spPr bwMode="auto">
              <a:xfrm>
                <a:off x="0" y="2905"/>
                <a:ext cx="875"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72" name="Group 97"/>
            <p:cNvGrpSpPr>
              <a:grpSpLocks/>
            </p:cNvGrpSpPr>
            <p:nvPr/>
          </p:nvGrpSpPr>
          <p:grpSpPr bwMode="auto">
            <a:xfrm>
              <a:off x="2616" y="3559"/>
              <a:ext cx="2612" cy="327"/>
              <a:chOff x="875" y="2905"/>
              <a:chExt cx="1384" cy="403"/>
            </a:xfrm>
          </p:grpSpPr>
          <p:sp>
            <p:nvSpPr>
              <p:cNvPr id="49195" name="Rectangle 61"/>
              <p:cNvSpPr>
                <a:spLocks noChangeArrowheads="1"/>
              </p:cNvSpPr>
              <p:nvPr/>
            </p:nvSpPr>
            <p:spPr bwMode="auto">
              <a:xfrm>
                <a:off x="881" y="2911"/>
                <a:ext cx="137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b="1"/>
                  <a:t> </a:t>
                </a:r>
              </a:p>
              <a:p>
                <a:pPr algn="ctr"/>
                <a:endParaRPr lang="zh-CN" altLang="en-GB" sz="3600" b="1"/>
              </a:p>
            </p:txBody>
          </p:sp>
          <p:sp>
            <p:nvSpPr>
              <p:cNvPr id="49196" name="Rectangle 96"/>
              <p:cNvSpPr>
                <a:spLocks noChangeArrowheads="1"/>
              </p:cNvSpPr>
              <p:nvPr/>
            </p:nvSpPr>
            <p:spPr bwMode="auto">
              <a:xfrm>
                <a:off x="875" y="2905"/>
                <a:ext cx="1384" cy="40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9173" name="Rectangle 99"/>
            <p:cNvSpPr>
              <a:spLocks noChangeArrowheads="1"/>
            </p:cNvSpPr>
            <p:nvPr/>
          </p:nvSpPr>
          <p:spPr bwMode="auto">
            <a:xfrm>
              <a:off x="960" y="1200"/>
              <a:ext cx="4272" cy="2688"/>
            </a:xfrm>
            <a:prstGeom prst="rect">
              <a:avLst/>
            </a:prstGeom>
            <a:noFill/>
            <a:ln w="6350"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9174" name="Group 102"/>
            <p:cNvGrpSpPr>
              <a:grpSpLocks/>
            </p:cNvGrpSpPr>
            <p:nvPr/>
          </p:nvGrpSpPr>
          <p:grpSpPr bwMode="auto">
            <a:xfrm>
              <a:off x="3148" y="1536"/>
              <a:ext cx="1652" cy="327"/>
              <a:chOff x="0" y="415"/>
              <a:chExt cx="875" cy="403"/>
            </a:xfrm>
          </p:grpSpPr>
          <p:sp>
            <p:nvSpPr>
              <p:cNvPr id="49193" name="Rectangle 103"/>
              <p:cNvSpPr>
                <a:spLocks noChangeArrowheads="1"/>
              </p:cNvSpPr>
              <p:nvPr/>
            </p:nvSpPr>
            <p:spPr bwMode="auto">
              <a:xfrm>
                <a:off x="6" y="421"/>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a:t>Both</a:t>
                </a:r>
                <a:endParaRPr lang="en-GB" altLang="zh-CN" sz="3600" b="1"/>
              </a:p>
            </p:txBody>
          </p:sp>
          <p:sp>
            <p:nvSpPr>
              <p:cNvPr id="49194" name="Rectangle 104"/>
              <p:cNvSpPr>
                <a:spLocks noChangeArrowheads="1"/>
              </p:cNvSpPr>
              <p:nvPr/>
            </p:nvSpPr>
            <p:spPr bwMode="auto">
              <a:xfrm>
                <a:off x="0" y="415"/>
                <a:ext cx="87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cap="sq">
                    <a:solidFill>
                      <a:srgbClr val="A0A0A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75" name="Group 105"/>
            <p:cNvGrpSpPr>
              <a:grpSpLocks/>
            </p:cNvGrpSpPr>
            <p:nvPr/>
          </p:nvGrpSpPr>
          <p:grpSpPr bwMode="auto">
            <a:xfrm>
              <a:off x="3148" y="1872"/>
              <a:ext cx="1652" cy="327"/>
              <a:chOff x="0" y="830"/>
              <a:chExt cx="875" cy="403"/>
            </a:xfrm>
          </p:grpSpPr>
          <p:sp>
            <p:nvSpPr>
              <p:cNvPr id="49191" name="Rectangle 106"/>
              <p:cNvSpPr>
                <a:spLocks noChangeArrowheads="1"/>
              </p:cNvSpPr>
              <p:nvPr/>
            </p:nvSpPr>
            <p:spPr bwMode="auto">
              <a:xfrm>
                <a:off x="6" y="836"/>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a:t>Both</a:t>
                </a:r>
                <a:endParaRPr lang="en-GB" altLang="zh-CN" sz="3600" b="1"/>
              </a:p>
            </p:txBody>
          </p:sp>
          <p:sp>
            <p:nvSpPr>
              <p:cNvPr id="49192" name="Rectangle 107"/>
              <p:cNvSpPr>
                <a:spLocks noChangeArrowheads="1"/>
              </p:cNvSpPr>
              <p:nvPr/>
            </p:nvSpPr>
            <p:spPr bwMode="auto">
              <a:xfrm>
                <a:off x="0" y="830"/>
                <a:ext cx="87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cap="sq">
                    <a:solidFill>
                      <a:srgbClr val="A0A0A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76" name="Group 108"/>
            <p:cNvGrpSpPr>
              <a:grpSpLocks/>
            </p:cNvGrpSpPr>
            <p:nvPr/>
          </p:nvGrpSpPr>
          <p:grpSpPr bwMode="auto">
            <a:xfrm>
              <a:off x="3148" y="2209"/>
              <a:ext cx="1652" cy="327"/>
              <a:chOff x="0" y="1245"/>
              <a:chExt cx="875" cy="403"/>
            </a:xfrm>
          </p:grpSpPr>
          <p:sp>
            <p:nvSpPr>
              <p:cNvPr id="49189" name="Rectangle 109"/>
              <p:cNvSpPr>
                <a:spLocks noChangeArrowheads="1"/>
              </p:cNvSpPr>
              <p:nvPr/>
            </p:nvSpPr>
            <p:spPr bwMode="auto">
              <a:xfrm>
                <a:off x="6" y="1251"/>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dirty="0"/>
                  <a:t>Destination</a:t>
                </a:r>
                <a:endParaRPr lang="en-GB" altLang="zh-CN" sz="3600" b="1" dirty="0"/>
              </a:p>
            </p:txBody>
          </p:sp>
          <p:sp>
            <p:nvSpPr>
              <p:cNvPr id="49190" name="Rectangle 110"/>
              <p:cNvSpPr>
                <a:spLocks noChangeArrowheads="1"/>
              </p:cNvSpPr>
              <p:nvPr/>
            </p:nvSpPr>
            <p:spPr bwMode="auto">
              <a:xfrm>
                <a:off x="0" y="1245"/>
                <a:ext cx="87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cap="sq">
                    <a:solidFill>
                      <a:srgbClr val="A0A0A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77" name="Group 111"/>
            <p:cNvGrpSpPr>
              <a:grpSpLocks/>
            </p:cNvGrpSpPr>
            <p:nvPr/>
          </p:nvGrpSpPr>
          <p:grpSpPr bwMode="auto">
            <a:xfrm>
              <a:off x="3148" y="2546"/>
              <a:ext cx="1652" cy="327"/>
              <a:chOff x="0" y="1660"/>
              <a:chExt cx="875" cy="403"/>
            </a:xfrm>
          </p:grpSpPr>
          <p:sp>
            <p:nvSpPr>
              <p:cNvPr id="49187" name="Rectangle 112"/>
              <p:cNvSpPr>
                <a:spLocks noChangeArrowheads="1"/>
              </p:cNvSpPr>
              <p:nvPr/>
            </p:nvSpPr>
            <p:spPr bwMode="auto">
              <a:xfrm>
                <a:off x="6" y="1666"/>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a:t>Source</a:t>
                </a:r>
                <a:endParaRPr lang="en-GB" altLang="zh-CN" sz="3600" b="1"/>
              </a:p>
            </p:txBody>
          </p:sp>
          <p:sp>
            <p:nvSpPr>
              <p:cNvPr id="49188" name="Rectangle 113"/>
              <p:cNvSpPr>
                <a:spLocks noChangeArrowheads="1"/>
              </p:cNvSpPr>
              <p:nvPr/>
            </p:nvSpPr>
            <p:spPr bwMode="auto">
              <a:xfrm>
                <a:off x="0" y="1660"/>
                <a:ext cx="87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cap="sq">
                    <a:solidFill>
                      <a:srgbClr val="A0A0A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78" name="Group 114"/>
            <p:cNvGrpSpPr>
              <a:grpSpLocks/>
            </p:cNvGrpSpPr>
            <p:nvPr/>
          </p:nvGrpSpPr>
          <p:grpSpPr bwMode="auto">
            <a:xfrm>
              <a:off x="3148" y="2883"/>
              <a:ext cx="1652" cy="327"/>
              <a:chOff x="0" y="2075"/>
              <a:chExt cx="875" cy="403"/>
            </a:xfrm>
          </p:grpSpPr>
          <p:sp>
            <p:nvSpPr>
              <p:cNvPr id="49185" name="Rectangle 115"/>
              <p:cNvSpPr>
                <a:spLocks noChangeArrowheads="1"/>
              </p:cNvSpPr>
              <p:nvPr/>
            </p:nvSpPr>
            <p:spPr bwMode="auto">
              <a:xfrm>
                <a:off x="6" y="2081"/>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a:t>Both</a:t>
                </a:r>
                <a:endParaRPr lang="en-GB" altLang="zh-CN" sz="3600" b="1"/>
              </a:p>
            </p:txBody>
          </p:sp>
          <p:sp>
            <p:nvSpPr>
              <p:cNvPr id="49186" name="Rectangle 116"/>
              <p:cNvSpPr>
                <a:spLocks noChangeArrowheads="1"/>
              </p:cNvSpPr>
              <p:nvPr/>
            </p:nvSpPr>
            <p:spPr bwMode="auto">
              <a:xfrm>
                <a:off x="0" y="2075"/>
                <a:ext cx="87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cap="sq">
                    <a:solidFill>
                      <a:srgbClr val="A0A0A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79" name="Group 117"/>
            <p:cNvGrpSpPr>
              <a:grpSpLocks/>
            </p:cNvGrpSpPr>
            <p:nvPr/>
          </p:nvGrpSpPr>
          <p:grpSpPr bwMode="auto">
            <a:xfrm>
              <a:off x="3148" y="3219"/>
              <a:ext cx="1652" cy="327"/>
              <a:chOff x="0" y="2490"/>
              <a:chExt cx="875" cy="403"/>
            </a:xfrm>
          </p:grpSpPr>
          <p:sp>
            <p:nvSpPr>
              <p:cNvPr id="49183" name="Rectangle 118"/>
              <p:cNvSpPr>
                <a:spLocks noChangeArrowheads="1"/>
              </p:cNvSpPr>
              <p:nvPr/>
            </p:nvSpPr>
            <p:spPr bwMode="auto">
              <a:xfrm>
                <a:off x="6" y="2496"/>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a:t>Source</a:t>
                </a:r>
                <a:endParaRPr lang="en-GB" altLang="zh-CN" sz="3600" b="1"/>
              </a:p>
            </p:txBody>
          </p:sp>
          <p:sp>
            <p:nvSpPr>
              <p:cNvPr id="49184" name="Rectangle 119"/>
              <p:cNvSpPr>
                <a:spLocks noChangeArrowheads="1"/>
              </p:cNvSpPr>
              <p:nvPr/>
            </p:nvSpPr>
            <p:spPr bwMode="auto">
              <a:xfrm>
                <a:off x="0" y="2490"/>
                <a:ext cx="87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cap="sq">
                    <a:solidFill>
                      <a:srgbClr val="A0A0A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9180" name="Group 120"/>
            <p:cNvGrpSpPr>
              <a:grpSpLocks/>
            </p:cNvGrpSpPr>
            <p:nvPr/>
          </p:nvGrpSpPr>
          <p:grpSpPr bwMode="auto">
            <a:xfrm>
              <a:off x="3148" y="3556"/>
              <a:ext cx="1652" cy="327"/>
              <a:chOff x="0" y="2905"/>
              <a:chExt cx="875" cy="403"/>
            </a:xfrm>
          </p:grpSpPr>
          <p:sp>
            <p:nvSpPr>
              <p:cNvPr id="49181" name="Rectangle 121"/>
              <p:cNvSpPr>
                <a:spLocks noChangeArrowheads="1"/>
              </p:cNvSpPr>
              <p:nvPr/>
            </p:nvSpPr>
            <p:spPr bwMode="auto">
              <a:xfrm>
                <a:off x="6" y="2911"/>
                <a:ext cx="863"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GB" altLang="zh-CN" b="1"/>
                  <a:t>Source</a:t>
                </a:r>
                <a:endParaRPr lang="en-GB" altLang="zh-CN" sz="3600" b="1"/>
              </a:p>
            </p:txBody>
          </p:sp>
          <p:sp>
            <p:nvSpPr>
              <p:cNvPr id="49182" name="Rectangle 122"/>
              <p:cNvSpPr>
                <a:spLocks noChangeArrowheads="1"/>
              </p:cNvSpPr>
              <p:nvPr/>
            </p:nvSpPr>
            <p:spPr bwMode="auto">
              <a:xfrm>
                <a:off x="0" y="2905"/>
                <a:ext cx="87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cap="sq">
                    <a:solidFill>
                      <a:srgbClr val="A0A0A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cxnSp>
        <p:nvCxnSpPr>
          <p:cNvPr id="79" name="直接连接符 78"/>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6.1.1 I/O</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流的概念</a:t>
            </a:r>
            <a:endParaRPr lang="zh-CN" altLang="en-US" sz="3200" dirty="0">
              <a:ea typeface="宋体" panose="02010600030101010101" pitchFamily="2" charset="-122"/>
              <a:cs typeface="Times New Roman" panose="02020603050405020304" pitchFamily="18" charset="0"/>
            </a:endParaRPr>
          </a:p>
        </p:txBody>
      </p:sp>
      <p:sp>
        <p:nvSpPr>
          <p:cNvPr id="50179"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读写数据的方法</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不论数据从哪来，到哪去，也不论数据本身是何类型，读写数据的方法大体上都是一样的：</a:t>
            </a:r>
            <a:endParaRPr lang="en-US" altLang="zh-CN" b="0" dirty="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打开一个流，读</a:t>
            </a:r>
            <a:r>
              <a:rPr lang="en-US" altLang="zh-CN" b="0" dirty="0">
                <a:ea typeface="黑体" panose="02010609060101010101" pitchFamily="49" charset="-122"/>
                <a:cs typeface="Times New Roman" panose="02020603050405020304" pitchFamily="18" charset="0"/>
              </a:rPr>
              <a:t>/</a:t>
            </a:r>
            <a:r>
              <a:rPr lang="zh-CN" altLang="en-US" b="0" dirty="0">
                <a:ea typeface="黑体" panose="02010609060101010101" pitchFamily="49" charset="-122"/>
                <a:cs typeface="Times New Roman" panose="02020603050405020304" pitchFamily="18" charset="0"/>
              </a:rPr>
              <a:t>写信息，关闭流。</a:t>
            </a:r>
            <a:endParaRPr lang="en-US" altLang="zh-CN" b="0" dirty="0">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p>
        </p:txBody>
      </p:sp>
      <p:sp>
        <p:nvSpPr>
          <p:cNvPr id="51203" name="内容占位符 2"/>
          <p:cNvSpPr>
            <a:spLocks noGrp="1"/>
          </p:cNvSpPr>
          <p:nvPr>
            <p:ph idx="1"/>
          </p:nvPr>
        </p:nvSpPr>
        <p:spPr>
          <a:xfrm>
            <a:off x="457200" y="1052909"/>
            <a:ext cx="8229600" cy="4752181"/>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输入/输出流可以从以下几个方面进行分类</a:t>
            </a:r>
          </a:p>
          <a:p>
            <a:pPr lvl="1"/>
            <a:r>
              <a:rPr lang="zh-CN" altLang="en-US" sz="2800" b="0" dirty="0">
                <a:ea typeface="黑体" panose="02010609060101010101" pitchFamily="49" charset="-122"/>
                <a:cs typeface="Times New Roman" panose="02020603050405020304" pitchFamily="18" charset="0"/>
              </a:rPr>
              <a:t>从流的方向划分</a:t>
            </a:r>
          </a:p>
          <a:p>
            <a:pPr lvl="2"/>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输入流</a:t>
            </a:r>
          </a:p>
          <a:p>
            <a:pPr lvl="2"/>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输出流</a:t>
            </a:r>
          </a:p>
          <a:p>
            <a:pPr lvl="1"/>
            <a:r>
              <a:rPr lang="zh-CN" altLang="en-US" sz="2800" b="0" dirty="0">
                <a:ea typeface="黑体" panose="02010609060101010101" pitchFamily="49" charset="-122"/>
                <a:cs typeface="Times New Roman" panose="02020603050405020304" pitchFamily="18" charset="0"/>
              </a:rPr>
              <a:t>从流的分工划分</a:t>
            </a:r>
          </a:p>
          <a:p>
            <a:pPr lvl="2"/>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节点流</a:t>
            </a:r>
          </a:p>
          <a:p>
            <a:pPr lvl="2"/>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处理流</a:t>
            </a:r>
          </a:p>
          <a:p>
            <a:pPr lvl="1"/>
            <a:r>
              <a:rPr lang="zh-CN" altLang="en-US" sz="2800" b="0" dirty="0">
                <a:ea typeface="黑体" panose="02010609060101010101" pitchFamily="49" charset="-122"/>
                <a:cs typeface="Times New Roman" panose="02020603050405020304" pitchFamily="18" charset="0"/>
              </a:rPr>
              <a:t>从流的内容划分</a:t>
            </a:r>
          </a:p>
          <a:p>
            <a:pPr lvl="2"/>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面向字符的流</a:t>
            </a:r>
          </a:p>
          <a:p>
            <a:pPr lvl="2"/>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面向字节的流</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52227" name="内容占位符 2"/>
          <p:cNvSpPr>
            <a:spLocks noGrp="1"/>
          </p:cNvSpPr>
          <p:nvPr>
            <p:ph idx="1"/>
          </p:nvPr>
        </p:nvSpPr>
        <p:spPr/>
        <p:txBody>
          <a:bodyPr/>
          <a:lstStyle/>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java.io</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包的顶级层次结构</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面向字符的流：专门用于字符数据</a:t>
            </a:r>
          </a:p>
          <a:p>
            <a:pPr lvl="1"/>
            <a:r>
              <a:rPr lang="zh-CN" altLang="en-US" b="0" dirty="0">
                <a:ea typeface="黑体" panose="02010609060101010101" pitchFamily="49" charset="-122"/>
                <a:cs typeface="Times New Roman" panose="02020603050405020304" pitchFamily="18" charset="0"/>
              </a:rPr>
              <a:t>面向字节的流：用于一般目的</a:t>
            </a:r>
          </a:p>
        </p:txBody>
      </p:sp>
      <p:grpSp>
        <p:nvGrpSpPr>
          <p:cNvPr id="52228" name="Group 12"/>
          <p:cNvGrpSpPr>
            <a:grpSpLocks/>
          </p:cNvGrpSpPr>
          <p:nvPr/>
        </p:nvGrpSpPr>
        <p:grpSpPr bwMode="auto">
          <a:xfrm>
            <a:off x="611188" y="2492375"/>
            <a:ext cx="7954962" cy="3960813"/>
            <a:chOff x="720" y="1104"/>
            <a:chExt cx="3936" cy="2256"/>
          </a:xfrm>
        </p:grpSpPr>
        <p:grpSp>
          <p:nvGrpSpPr>
            <p:cNvPr id="52229" name="Group 11"/>
            <p:cNvGrpSpPr>
              <a:grpSpLocks/>
            </p:cNvGrpSpPr>
            <p:nvPr/>
          </p:nvGrpSpPr>
          <p:grpSpPr bwMode="auto">
            <a:xfrm>
              <a:off x="720" y="1104"/>
              <a:ext cx="3936" cy="2256"/>
              <a:chOff x="-2" y="-2"/>
              <a:chExt cx="5764" cy="1857"/>
            </a:xfrm>
          </p:grpSpPr>
          <p:grpSp>
            <p:nvGrpSpPr>
              <p:cNvPr id="52231" name="Group 9"/>
              <p:cNvGrpSpPr>
                <a:grpSpLocks/>
              </p:cNvGrpSpPr>
              <p:nvPr/>
            </p:nvGrpSpPr>
            <p:grpSpPr bwMode="auto">
              <a:xfrm>
                <a:off x="0" y="0"/>
                <a:ext cx="5760" cy="1853"/>
                <a:chOff x="0" y="0"/>
                <a:chExt cx="5760" cy="1853"/>
              </a:xfrm>
            </p:grpSpPr>
            <p:sp>
              <p:nvSpPr>
                <p:cNvPr id="52233" name="Rectangle 8"/>
                <p:cNvSpPr>
                  <a:spLocks noChangeArrowheads="1"/>
                </p:cNvSpPr>
                <p:nvPr/>
              </p:nvSpPr>
              <p:spPr bwMode="auto">
                <a:xfrm>
                  <a:off x="0" y="0"/>
                  <a:ext cx="5760" cy="1853"/>
                </a:xfrm>
                <a:prstGeom prst="rect">
                  <a:avLst/>
                </a:prstGeom>
                <a:solidFill>
                  <a:srgbClr val="F8FFF4"/>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52234" name="Group 7"/>
                <p:cNvGrpSpPr>
                  <a:grpSpLocks/>
                </p:cNvGrpSpPr>
                <p:nvPr/>
              </p:nvGrpSpPr>
              <p:grpSpPr bwMode="auto">
                <a:xfrm>
                  <a:off x="0" y="0"/>
                  <a:ext cx="5760" cy="1853"/>
                  <a:chOff x="0" y="0"/>
                  <a:chExt cx="5760" cy="1853"/>
                </a:xfrm>
              </p:grpSpPr>
              <p:sp>
                <p:nvSpPr>
                  <p:cNvPr id="52235" name="Rectangle 4"/>
                  <p:cNvSpPr>
                    <a:spLocks noChangeArrowheads="1"/>
                  </p:cNvSpPr>
                  <p:nvPr/>
                </p:nvSpPr>
                <p:spPr bwMode="auto">
                  <a:xfrm>
                    <a:off x="0" y="0"/>
                    <a:ext cx="5760" cy="1853"/>
                  </a:xfrm>
                  <a:prstGeom prst="rect">
                    <a:avLst/>
                  </a:prstGeom>
                  <a:solidFill>
                    <a:srgbClr val="F8FFF4"/>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a:t>  </a:t>
                    </a:r>
                    <a:r>
                      <a:rPr lang="zh-CN" altLang="en-GB" sz="18700"/>
                      <a:t> </a:t>
                    </a:r>
                    <a:r>
                      <a:rPr lang="zh-CN" altLang="en-GB"/>
                      <a:t>                                                                          </a:t>
                    </a:r>
                  </a:p>
                </p:txBody>
              </p:sp>
              <p:sp>
                <p:nvSpPr>
                  <p:cNvPr id="52236" name="Rectangle 6"/>
                  <p:cNvSpPr>
                    <a:spLocks noChangeArrowheads="1"/>
                  </p:cNvSpPr>
                  <p:nvPr/>
                </p:nvSpPr>
                <p:spPr bwMode="auto">
                  <a:xfrm>
                    <a:off x="0" y="0"/>
                    <a:ext cx="5760" cy="1853"/>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52232" name="Rectangle 10"/>
              <p:cNvSpPr>
                <a:spLocks noChangeArrowheads="1"/>
              </p:cNvSpPr>
              <p:nvPr/>
            </p:nvSpPr>
            <p:spPr bwMode="auto">
              <a:xfrm>
                <a:off x="-2" y="-2"/>
                <a:ext cx="5764" cy="1857"/>
              </a:xfrm>
              <a:prstGeom prst="rect">
                <a:avLst/>
              </a:prstGeom>
              <a:noFill/>
              <a:ln w="6350"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pic>
          <p:nvPicPr>
            <p:cNvPr id="52230" name="Picture 5" descr="ioHierarchy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 y="1240"/>
              <a:ext cx="3564"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3" name="直接连接符 12"/>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53251" name="内容占位符 2"/>
          <p:cNvSpPr>
            <a:spLocks noGrp="1"/>
          </p:cNvSpPr>
          <p:nvPr>
            <p:ph idx="1"/>
          </p:nvPr>
        </p:nvSpPr>
        <p:spPr>
          <a:xfrm>
            <a:off x="468313" y="981075"/>
            <a:ext cx="8229600" cy="5472113"/>
          </a:xfrm>
        </p:spPr>
        <p:txBody>
          <a:bodyPr/>
          <a:lstStyle/>
          <a:p>
            <a:pPr>
              <a:lnSpc>
                <a:spcPct val="12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面向字符的流</a:t>
            </a:r>
          </a:p>
          <a:p>
            <a:pPr lvl="1">
              <a:lnSpc>
                <a:spcPct val="120000"/>
              </a:lnSpc>
            </a:pPr>
            <a:r>
              <a:rPr lang="zh-CN" altLang="en-US" b="0" dirty="0">
                <a:ea typeface="黑体" panose="02010609060101010101" pitchFamily="49" charset="-122"/>
                <a:cs typeface="Times New Roman" panose="02020603050405020304" pitchFamily="18" charset="0"/>
              </a:rPr>
              <a:t>针对字符数据的特点进行过优化，提供一些面向字符的有用特性</a:t>
            </a:r>
          </a:p>
          <a:p>
            <a:pPr lvl="1">
              <a:lnSpc>
                <a:spcPct val="120000"/>
              </a:lnSpc>
            </a:pPr>
            <a:r>
              <a:rPr lang="zh-CN" altLang="en-US" b="0" dirty="0">
                <a:solidFill>
                  <a:srgbClr val="FF0000"/>
                </a:solidFill>
                <a:ea typeface="黑体" panose="02010609060101010101" pitchFamily="49" charset="-122"/>
                <a:cs typeface="Times New Roman" panose="02020603050405020304" pitchFamily="18" charset="0"/>
              </a:rPr>
              <a:t>源或目标通常是文本文件</a:t>
            </a:r>
            <a:endParaRPr lang="en-US" altLang="zh-CN" b="0" dirty="0">
              <a:solidFill>
                <a:srgbClr val="FF0000"/>
              </a:solidFill>
              <a:ea typeface="黑体" panose="02010609060101010101" pitchFamily="49" charset="-122"/>
              <a:cs typeface="Times New Roman" panose="02020603050405020304" pitchFamily="18" charset="0"/>
            </a:endParaRPr>
          </a:p>
          <a:p>
            <a:pPr lvl="1">
              <a:lnSpc>
                <a:spcPct val="120000"/>
              </a:lnSpc>
            </a:pPr>
            <a:endParaRPr lang="en-US" altLang="zh-CN" b="0" dirty="0">
              <a:ea typeface="黑体" panose="02010609060101010101" pitchFamily="49" charset="-122"/>
              <a:cs typeface="Times New Roman" panose="02020603050405020304" pitchFamily="18" charset="0"/>
            </a:endParaRPr>
          </a:p>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实现内部格式和文本文件中的外部格式之间转换</a:t>
            </a:r>
            <a:endParaRPr lang="en-GB"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GB" b="0" dirty="0">
                <a:ea typeface="黑体" panose="02010609060101010101" pitchFamily="49" charset="-122"/>
                <a:cs typeface="Times New Roman" panose="02020603050405020304" pitchFamily="18" charset="0"/>
              </a:rPr>
              <a:t>内部格式：</a:t>
            </a:r>
            <a:r>
              <a:rPr lang="en-GB" altLang="zh-CN" b="0" dirty="0">
                <a:ea typeface="黑体" panose="02010609060101010101" pitchFamily="49" charset="-122"/>
                <a:cs typeface="Times New Roman" panose="02020603050405020304" pitchFamily="18" charset="0"/>
              </a:rPr>
              <a:t>16-bit char </a:t>
            </a:r>
            <a:r>
              <a:rPr lang="zh-CN" altLang="en-GB" b="0" dirty="0">
                <a:ea typeface="黑体" panose="02010609060101010101" pitchFamily="49" charset="-122"/>
                <a:cs typeface="Times New Roman" panose="02020603050405020304" pitchFamily="18" charset="0"/>
              </a:rPr>
              <a:t>数据类型 </a:t>
            </a:r>
          </a:p>
          <a:p>
            <a:pPr lvl="1"/>
            <a:r>
              <a:rPr lang="zh-CN" altLang="en-GB" b="0" dirty="0">
                <a:ea typeface="黑体" panose="02010609060101010101" pitchFamily="49" charset="-122"/>
                <a:cs typeface="Times New Roman" panose="02020603050405020304" pitchFamily="18" charset="0"/>
              </a:rPr>
              <a:t>外部格式：</a:t>
            </a:r>
          </a:p>
          <a:p>
            <a:pPr lvl="2"/>
            <a:r>
              <a:rPr lang="en-GB" altLang="zh-CN" dirty="0">
                <a:latin typeface="Times New Roman" panose="02020603050405020304" pitchFamily="18" charset="0"/>
                <a:ea typeface="黑体" panose="02010609060101010101" pitchFamily="49" charset="-122"/>
                <a:cs typeface="Times New Roman" panose="02020603050405020304" pitchFamily="18" charset="0"/>
              </a:rPr>
              <a:t>UTF(Universal character set Transformation Format)：</a:t>
            </a:r>
            <a:r>
              <a:rPr lang="zh-CN" altLang="en-GB" dirty="0">
                <a:latin typeface="Times New Roman" panose="02020603050405020304" pitchFamily="18" charset="0"/>
                <a:ea typeface="黑体" panose="02010609060101010101" pitchFamily="49" charset="-122"/>
                <a:cs typeface="Times New Roman" panose="02020603050405020304" pitchFamily="18" charset="0"/>
              </a:rPr>
              <a:t>很多人称之为</a:t>
            </a:r>
            <a:r>
              <a:rPr lang="en-GB" altLang="zh-CN" dirty="0">
                <a:latin typeface="Times New Roman" panose="02020603050405020304" pitchFamily="18" charset="0"/>
                <a:ea typeface="黑体" panose="02010609060101010101" pitchFamily="49" charset="-122"/>
                <a:cs typeface="Times New Roman" panose="02020603050405020304" pitchFamily="18" charset="0"/>
              </a:rPr>
              <a:t>"Universal Text Format"</a:t>
            </a:r>
          </a:p>
          <a:p>
            <a:pPr lvl="2"/>
            <a:r>
              <a:rPr lang="zh-CN" altLang="en-GB" dirty="0">
                <a:latin typeface="Times New Roman" panose="02020603050405020304" pitchFamily="18" charset="0"/>
                <a:ea typeface="黑体" panose="02010609060101010101" pitchFamily="49" charset="-122"/>
                <a:cs typeface="Times New Roman" panose="02020603050405020304" pitchFamily="18" charset="0"/>
              </a:rPr>
              <a:t>包括</a:t>
            </a:r>
            <a:r>
              <a:rPr lang="en-GB" altLang="zh-CN" dirty="0">
                <a:latin typeface="Times New Roman" panose="02020603050405020304" pitchFamily="18" charset="0"/>
                <a:ea typeface="黑体" panose="02010609060101010101" pitchFamily="49" charset="-122"/>
                <a:cs typeface="Times New Roman" panose="02020603050405020304" pitchFamily="18" charset="0"/>
              </a:rPr>
              <a:t>ASCII</a:t>
            </a:r>
            <a:r>
              <a:rPr lang="zh-CN" altLang="en-GB" dirty="0">
                <a:latin typeface="Times New Roman" panose="02020603050405020304" pitchFamily="18" charset="0"/>
                <a:ea typeface="黑体" panose="02010609060101010101" pitchFamily="49" charset="-122"/>
                <a:cs typeface="Times New Roman" panose="02020603050405020304" pitchFamily="18" charset="0"/>
              </a:rPr>
              <a:t> 码及非</a:t>
            </a:r>
            <a:r>
              <a:rPr lang="en-GB" altLang="zh-CN" dirty="0">
                <a:latin typeface="Times New Roman" panose="02020603050405020304" pitchFamily="18" charset="0"/>
                <a:ea typeface="黑体" panose="02010609060101010101" pitchFamily="49" charset="-122"/>
                <a:cs typeface="Times New Roman" panose="02020603050405020304" pitchFamily="18" charset="0"/>
              </a:rPr>
              <a:t>ASCII</a:t>
            </a:r>
            <a:r>
              <a:rPr lang="zh-CN" altLang="en-GB" dirty="0">
                <a:latin typeface="Times New Roman" panose="02020603050405020304" pitchFamily="18" charset="0"/>
                <a:ea typeface="黑体" panose="02010609060101010101" pitchFamily="49" charset="-122"/>
                <a:cs typeface="Times New Roman" panose="02020603050405020304" pitchFamily="18" charset="0"/>
              </a:rPr>
              <a:t> 码字符，比如： 斯拉夫</a:t>
            </a:r>
            <a:r>
              <a:rPr lang="en-GB" altLang="zh-CN" dirty="0">
                <a:latin typeface="Times New Roman" panose="02020603050405020304" pitchFamily="18" charset="0"/>
                <a:ea typeface="黑体" panose="02010609060101010101" pitchFamily="49" charset="-122"/>
                <a:cs typeface="Times New Roman" panose="02020603050405020304" pitchFamily="18" charset="0"/>
              </a:rPr>
              <a:t>(Cyrillic)</a:t>
            </a:r>
            <a:r>
              <a:rPr lang="zh-CN" altLang="en-GB" dirty="0">
                <a:latin typeface="Times New Roman" panose="02020603050405020304" pitchFamily="18" charset="0"/>
                <a:ea typeface="黑体" panose="02010609060101010101" pitchFamily="49" charset="-122"/>
                <a:cs typeface="Times New Roman" panose="02020603050405020304" pitchFamily="18" charset="0"/>
              </a:rPr>
              <a:t>字符</a:t>
            </a:r>
            <a:r>
              <a:rPr lang="en-GB"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GB" dirty="0">
                <a:latin typeface="Times New Roman" panose="02020603050405020304" pitchFamily="18" charset="0"/>
                <a:ea typeface="黑体" panose="02010609060101010101" pitchFamily="49" charset="-122"/>
                <a:cs typeface="Times New Roman" panose="02020603050405020304" pitchFamily="18" charset="0"/>
              </a:rPr>
              <a:t>希腊字符</a:t>
            </a:r>
            <a:r>
              <a:rPr lang="en-GB"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GB" dirty="0">
                <a:latin typeface="Times New Roman" panose="02020603050405020304" pitchFamily="18" charset="0"/>
                <a:ea typeface="黑体" panose="02010609060101010101" pitchFamily="49" charset="-122"/>
                <a:cs typeface="Times New Roman" panose="02020603050405020304" pitchFamily="18" charset="0"/>
              </a:rPr>
              <a:t>亚洲字符等</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54275" name="内容占位符 2"/>
          <p:cNvSpPr>
            <a:spLocks noGrp="1"/>
          </p:cNvSpPr>
          <p:nvPr>
            <p:ph idx="1"/>
          </p:nvPr>
        </p:nvSpPr>
        <p:spPr/>
        <p:txBody>
          <a:bodyPr/>
          <a:lstStyle/>
          <a:p>
            <a:pPr>
              <a:lnSpc>
                <a:spcPct val="11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面向字符的抽象类</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——Reader</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Writer</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10000"/>
              </a:lnSpc>
            </a:pPr>
            <a:r>
              <a:rPr lang="en-US" altLang="zh-CN" b="0" dirty="0">
                <a:ea typeface="黑体" panose="02010609060101010101" pitchFamily="49" charset="-122"/>
                <a:cs typeface="Times New Roman" panose="02020603050405020304" pitchFamily="18" charset="0"/>
              </a:rPr>
              <a:t>java.io</a:t>
            </a:r>
            <a:r>
              <a:rPr lang="zh-CN" altLang="en-US" b="0" dirty="0">
                <a:ea typeface="黑体" panose="02010609060101010101" pitchFamily="49" charset="-122"/>
                <a:cs typeface="Times New Roman" panose="02020603050405020304" pitchFamily="18" charset="0"/>
              </a:rPr>
              <a:t>包中所有字符流的抽象基类</a:t>
            </a:r>
          </a:p>
          <a:p>
            <a:pPr lvl="1">
              <a:lnSpc>
                <a:spcPct val="110000"/>
              </a:lnSpc>
            </a:pPr>
            <a:r>
              <a:rPr lang="en-US" altLang="zh-CN" b="0" dirty="0">
                <a:ea typeface="黑体" panose="02010609060101010101" pitchFamily="49" charset="-122"/>
                <a:cs typeface="Times New Roman" panose="02020603050405020304" pitchFamily="18" charset="0"/>
              </a:rPr>
              <a:t>Reader</a:t>
            </a:r>
            <a:r>
              <a:rPr lang="zh-CN" altLang="en-US" b="0" dirty="0">
                <a:ea typeface="黑体" panose="02010609060101010101" pitchFamily="49" charset="-122"/>
                <a:cs typeface="Times New Roman" panose="02020603050405020304" pitchFamily="18" charset="0"/>
              </a:rPr>
              <a:t>提供了输入字符的</a:t>
            </a:r>
            <a:r>
              <a:rPr lang="en-US" altLang="zh-CN" b="0" dirty="0">
                <a:ea typeface="黑体" panose="02010609060101010101" pitchFamily="49" charset="-122"/>
                <a:cs typeface="Times New Roman" panose="02020603050405020304" pitchFamily="18" charset="0"/>
              </a:rPr>
              <a:t>API</a:t>
            </a:r>
            <a:endParaRPr lang="zh-CN" altLang="en-US" b="0" dirty="0">
              <a:ea typeface="黑体" panose="02010609060101010101" pitchFamily="49" charset="-122"/>
              <a:cs typeface="Times New Roman" panose="02020603050405020304" pitchFamily="18" charset="0"/>
            </a:endParaRPr>
          </a:p>
          <a:p>
            <a:pPr lvl="1">
              <a:lnSpc>
                <a:spcPct val="110000"/>
              </a:lnSpc>
            </a:pPr>
            <a:r>
              <a:rPr lang="en-US" altLang="zh-CN" b="0" dirty="0">
                <a:ea typeface="黑体" panose="02010609060101010101" pitchFamily="49" charset="-122"/>
                <a:cs typeface="Times New Roman" panose="02020603050405020304" pitchFamily="18" charset="0"/>
              </a:rPr>
              <a:t>Writer</a:t>
            </a:r>
            <a:r>
              <a:rPr lang="zh-CN" altLang="en-US" b="0" dirty="0">
                <a:ea typeface="黑体" panose="02010609060101010101" pitchFamily="49" charset="-122"/>
                <a:cs typeface="Times New Roman" panose="02020603050405020304" pitchFamily="18" charset="0"/>
              </a:rPr>
              <a:t>提供了输出字符的</a:t>
            </a:r>
            <a:r>
              <a:rPr lang="en-US" altLang="zh-CN" b="0" dirty="0">
                <a:ea typeface="黑体" panose="02010609060101010101" pitchFamily="49" charset="-122"/>
                <a:cs typeface="Times New Roman" panose="02020603050405020304" pitchFamily="18" charset="0"/>
              </a:rPr>
              <a:t>API</a:t>
            </a:r>
            <a:endParaRPr lang="zh-CN" altLang="en-US" b="0" dirty="0">
              <a:ea typeface="黑体" panose="02010609060101010101" pitchFamily="49" charset="-122"/>
              <a:cs typeface="Times New Roman" panose="02020603050405020304" pitchFamily="18" charset="0"/>
            </a:endParaRPr>
          </a:p>
          <a:p>
            <a:pPr lvl="1">
              <a:lnSpc>
                <a:spcPct val="110000"/>
              </a:lnSpc>
            </a:pPr>
            <a:r>
              <a:rPr lang="zh-CN" altLang="en-US" b="0" dirty="0">
                <a:ea typeface="黑体" panose="02010609060101010101" pitchFamily="49" charset="-122"/>
                <a:cs typeface="Times New Roman" panose="02020603050405020304" pitchFamily="18" charset="0"/>
              </a:rPr>
              <a:t>它们的子类又可分为两大类</a:t>
            </a:r>
          </a:p>
          <a:p>
            <a:pPr lvl="2">
              <a:lnSpc>
                <a:spcPct val="110000"/>
              </a:lnSpc>
            </a:pPr>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节点流：从数据源读入数据或往目的地写出数据</a:t>
            </a:r>
          </a:p>
          <a:p>
            <a:pPr lvl="2">
              <a:lnSpc>
                <a:spcPct val="110000"/>
              </a:lnSpc>
            </a:pPr>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处理流：对数据执行某种处理</a:t>
            </a:r>
          </a:p>
          <a:p>
            <a:pPr lvl="1">
              <a:lnSpc>
                <a:spcPct val="110000"/>
              </a:lnSpc>
            </a:pPr>
            <a:r>
              <a:rPr lang="zh-CN" altLang="en-US" b="0" dirty="0">
                <a:ea typeface="黑体" panose="02010609060101010101" pitchFamily="49" charset="-122"/>
                <a:cs typeface="Times New Roman" panose="02020603050405020304" pitchFamily="18" charset="0"/>
              </a:rPr>
              <a:t>多数程序使用这两个抽象类的一系列子类来读入/写出文本信息</a:t>
            </a:r>
          </a:p>
          <a:p>
            <a:pPr lvl="2">
              <a:lnSpc>
                <a:spcPct val="11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例如</a:t>
            </a:r>
            <a:r>
              <a:rPr lang="en-US" altLang="zh-CN" sz="2400" dirty="0" err="1">
                <a:solidFill>
                  <a:schemeClr val="tx2"/>
                </a:solidFill>
                <a:latin typeface="Times New Roman" panose="02020603050405020304" pitchFamily="18" charset="0"/>
                <a:ea typeface="黑体" panose="02010609060101010101" pitchFamily="49" charset="-122"/>
                <a:cs typeface="Times New Roman" panose="02020603050405020304" pitchFamily="18" charset="0"/>
              </a:rPr>
              <a:t>FileReader</a:t>
            </a:r>
            <a:r>
              <a:rPr lang="en-US" altLang="zh-CN" sz="2400" dirty="0">
                <a:solidFill>
                  <a:srgbClr val="99CCFF"/>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err="1">
                <a:solidFill>
                  <a:schemeClr val="tx2"/>
                </a:solidFill>
                <a:latin typeface="Times New Roman" panose="02020603050405020304" pitchFamily="18" charset="0"/>
                <a:ea typeface="黑体" panose="02010609060101010101" pitchFamily="49" charset="-122"/>
                <a:cs typeface="Times New Roman" panose="02020603050405020304" pitchFamily="18" charset="0"/>
              </a:rPr>
              <a:t>FileWriter</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用来读/写文本文件</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8613" y="914400"/>
            <a:ext cx="8491537" cy="51069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299" name="Text Box 13"/>
          <p:cNvSpPr txBox="1">
            <a:spLocks noChangeArrowheads="1"/>
          </p:cNvSpPr>
          <p:nvPr/>
        </p:nvSpPr>
        <p:spPr bwMode="auto">
          <a:xfrm>
            <a:off x="5827018" y="5013176"/>
            <a:ext cx="298913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黑体" panose="02010609060101010101" pitchFamily="49" charset="-122"/>
                <a:ea typeface="黑体" panose="02010609060101010101" pitchFamily="49" charset="-122"/>
              </a:rPr>
              <a:t>阴影部分为节点流</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56323" name="内容占位符 2"/>
          <p:cNvSpPr>
            <a:spLocks noGrp="1"/>
          </p:cNvSpPr>
          <p:nvPr>
            <p:ph idx="1"/>
          </p:nvPr>
        </p:nvSpPr>
        <p:spPr>
          <a:xfrm>
            <a:off x="468313" y="981075"/>
            <a:ext cx="7776095" cy="5184775"/>
          </a:xfrm>
        </p:spPr>
        <p:txBody>
          <a:bodyPr/>
          <a:lstStyle/>
          <a:p>
            <a:pPr>
              <a:lnSpc>
                <a:spcPct val="15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面向字节的流</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50000"/>
              </a:lnSpc>
            </a:pPr>
            <a:r>
              <a:rPr lang="zh-CN" altLang="en-US" b="0" dirty="0">
                <a:ea typeface="黑体" panose="02010609060101010101" pitchFamily="49" charset="-122"/>
                <a:cs typeface="Times New Roman" panose="02020603050405020304" pitchFamily="18" charset="0"/>
              </a:rPr>
              <a:t>数据源或目标中</a:t>
            </a:r>
            <a:r>
              <a:rPr lang="zh-CN" altLang="en-US" b="0" dirty="0">
                <a:solidFill>
                  <a:srgbClr val="FF0000"/>
                </a:solidFill>
                <a:ea typeface="黑体" panose="02010609060101010101" pitchFamily="49" charset="-122"/>
                <a:cs typeface="Times New Roman" panose="02020603050405020304" pitchFamily="18" charset="0"/>
              </a:rPr>
              <a:t>含有非字符</a:t>
            </a:r>
            <a:r>
              <a:rPr lang="zh-CN" altLang="en-US" b="0" dirty="0">
                <a:ea typeface="黑体" panose="02010609060101010101" pitchFamily="49" charset="-122"/>
                <a:cs typeface="Times New Roman" panose="02020603050405020304" pitchFamily="18" charset="0"/>
              </a:rPr>
              <a:t>数据，</a:t>
            </a:r>
            <a:r>
              <a:rPr lang="zh-CN" altLang="en-US" b="0" dirty="0">
                <a:solidFill>
                  <a:srgbClr val="FF0000"/>
                </a:solidFill>
                <a:ea typeface="黑体" panose="02010609060101010101" pitchFamily="49" charset="-122"/>
                <a:cs typeface="Times New Roman" panose="02020603050405020304" pitchFamily="18" charset="0"/>
              </a:rPr>
              <a:t>必须用字节流</a:t>
            </a:r>
            <a:r>
              <a:rPr lang="zh-CN" altLang="en-US" b="0" dirty="0">
                <a:ea typeface="黑体" panose="02010609060101010101" pitchFamily="49" charset="-122"/>
                <a:cs typeface="Times New Roman" panose="02020603050405020304" pitchFamily="18" charset="0"/>
              </a:rPr>
              <a:t>来输入/输出</a:t>
            </a:r>
          </a:p>
          <a:p>
            <a:pPr lvl="1">
              <a:lnSpc>
                <a:spcPct val="150000"/>
              </a:lnSpc>
            </a:pPr>
            <a:r>
              <a:rPr lang="zh-CN" altLang="en-US" b="0" dirty="0">
                <a:ea typeface="黑体" panose="02010609060101010101" pitchFamily="49" charset="-122"/>
                <a:cs typeface="Times New Roman" panose="02020603050405020304" pitchFamily="18" charset="0"/>
              </a:rPr>
              <a:t>通常被用来读写诸如图片、声音之类的二进制数据</a:t>
            </a:r>
          </a:p>
          <a:p>
            <a:pPr lvl="1">
              <a:lnSpc>
                <a:spcPct val="150000"/>
              </a:lnSpc>
            </a:pPr>
            <a:r>
              <a:rPr lang="zh-CN" altLang="en-US" b="0" dirty="0">
                <a:ea typeface="黑体" panose="02010609060101010101" pitchFamily="49" charset="-122"/>
                <a:cs typeface="Times New Roman" panose="02020603050405020304" pitchFamily="18" charset="0"/>
              </a:rPr>
              <a:t>绝大多数数据是被存储为二进制文件的，世界上的文本文件大约只能占到2％，通常二进制文件要比含有相同数据量的文本文件小得多。</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57347"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面向字节的流</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en-US" altLang="zh-CN" b="0" dirty="0" err="1">
                <a:solidFill>
                  <a:srgbClr val="FF0000"/>
                </a:solidFill>
                <a:ea typeface="黑体" panose="02010609060101010101" pitchFamily="49" charset="-122"/>
                <a:cs typeface="Times New Roman" panose="02020603050405020304" pitchFamily="18" charset="0"/>
              </a:rPr>
              <a:t>InputStream</a:t>
            </a:r>
            <a:r>
              <a:rPr lang="zh-CN" altLang="en-US" b="0" dirty="0">
                <a:solidFill>
                  <a:srgbClr val="FF0000"/>
                </a:solidFill>
                <a:ea typeface="黑体" panose="02010609060101010101" pitchFamily="49" charset="-122"/>
                <a:cs typeface="Times New Roman" panose="02020603050405020304" pitchFamily="18" charset="0"/>
              </a:rPr>
              <a:t>和</a:t>
            </a:r>
            <a:r>
              <a:rPr lang="en-US" altLang="zh-CN" b="0" dirty="0" err="1">
                <a:solidFill>
                  <a:srgbClr val="FF0000"/>
                </a:solidFill>
                <a:ea typeface="黑体" panose="02010609060101010101" pitchFamily="49" charset="-122"/>
                <a:cs typeface="Times New Roman" panose="02020603050405020304" pitchFamily="18" charset="0"/>
              </a:rPr>
              <a:t>OutputStream</a:t>
            </a:r>
            <a:endParaRPr lang="en-US" altLang="zh-CN" b="0" dirty="0">
              <a:solidFill>
                <a:srgbClr val="FF0000"/>
              </a:solidFill>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是用来处理8位字节流的抽象基类，程序使用这两个类的子类来读写8位的字节信息</a:t>
            </a:r>
          </a:p>
          <a:p>
            <a:pPr lvl="1"/>
            <a:r>
              <a:rPr lang="zh-CN" altLang="en-US" b="0" dirty="0">
                <a:ea typeface="黑体" panose="02010609060101010101" pitchFamily="49" charset="-122"/>
                <a:cs typeface="Times New Roman" panose="02020603050405020304" pitchFamily="18" charset="0"/>
              </a:rPr>
              <a:t>分为两部分</a:t>
            </a:r>
          </a:p>
          <a:p>
            <a:pPr lvl="2"/>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节点流</a:t>
            </a:r>
          </a:p>
          <a:p>
            <a:pPr lvl="2"/>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处理流</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58371"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面向字节的流</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p:txBody>
      </p:sp>
      <p:pic>
        <p:nvPicPr>
          <p:cNvPr id="58372" name="Picture 1028" descr="Java7_g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631950"/>
            <a:ext cx="7110412" cy="2589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8373" name="Picture 1029" descr="Java7_g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430" y="4392610"/>
            <a:ext cx="7113587" cy="18462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8374" name="Text Box 1034"/>
          <p:cNvSpPr txBox="1">
            <a:spLocks noChangeArrowheads="1"/>
          </p:cNvSpPr>
          <p:nvPr/>
        </p:nvSpPr>
        <p:spPr bwMode="auto">
          <a:xfrm>
            <a:off x="5652120" y="6165850"/>
            <a:ext cx="3169096"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latin typeface="黑体" panose="02010609060101010101" pitchFamily="49" charset="-122"/>
                <a:ea typeface="黑体" panose="02010609060101010101" pitchFamily="49" charset="-122"/>
              </a:rPr>
              <a:t>阴影部分为节点流</a:t>
            </a:r>
          </a:p>
        </p:txBody>
      </p:sp>
      <p:cxnSp>
        <p:nvCxnSpPr>
          <p:cNvPr id="7" name="直接连接符 6"/>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59395" name="内容占位符 2"/>
          <p:cNvSpPr>
            <a:spLocks noGrp="1"/>
          </p:cNvSpPr>
          <p:nvPr>
            <p:ph idx="1"/>
          </p:nvPr>
        </p:nvSpPr>
        <p:spPr>
          <a:xfrm>
            <a:off x="323850" y="1124744"/>
            <a:ext cx="8496300" cy="5184775"/>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标准输入输出</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标准输入输出流属于</a:t>
            </a:r>
            <a:r>
              <a:rPr lang="en-US" altLang="zh-CN" b="0" dirty="0">
                <a:ea typeface="黑体" panose="02010609060101010101" pitchFamily="49" charset="-122"/>
                <a:cs typeface="Times New Roman" panose="02020603050405020304" pitchFamily="18" charset="0"/>
              </a:rPr>
              <a:t>System</a:t>
            </a:r>
            <a:r>
              <a:rPr lang="zh-CN" altLang="en-US" b="0" dirty="0">
                <a:ea typeface="黑体" panose="02010609060101010101" pitchFamily="49" charset="-122"/>
                <a:cs typeface="Times New Roman" panose="02020603050405020304" pitchFamily="18" charset="0"/>
              </a:rPr>
              <a:t>类。</a:t>
            </a:r>
            <a:endParaRPr lang="en-US" altLang="zh-CN" b="0" dirty="0">
              <a:ea typeface="黑体" panose="02010609060101010101" pitchFamily="49" charset="-122"/>
              <a:cs typeface="Times New Roman" panose="02020603050405020304" pitchFamily="18" charset="0"/>
            </a:endParaRPr>
          </a:p>
          <a:p>
            <a:pPr lvl="1"/>
            <a:r>
              <a:rPr lang="en-US" altLang="zh-CN" b="0" dirty="0">
                <a:ea typeface="黑体" panose="02010609060101010101" pitchFamily="49" charset="-122"/>
                <a:cs typeface="Times New Roman" panose="02020603050405020304" pitchFamily="18" charset="0"/>
              </a:rPr>
              <a:t>System</a:t>
            </a:r>
            <a:r>
              <a:rPr lang="zh-CN" altLang="en-US" b="0" dirty="0">
                <a:ea typeface="黑体" panose="02010609060101010101" pitchFamily="49" charset="-122"/>
                <a:cs typeface="Times New Roman" panose="02020603050405020304" pitchFamily="18" charset="0"/>
              </a:rPr>
              <a:t>类实现了用户使用资源时的系统无关编程接口；是</a:t>
            </a:r>
            <a:r>
              <a:rPr lang="en-US" altLang="zh-CN" b="0" dirty="0">
                <a:ea typeface="黑体" panose="02010609060101010101" pitchFamily="49" charset="-122"/>
                <a:cs typeface="Times New Roman" panose="02020603050405020304" pitchFamily="18" charset="0"/>
              </a:rPr>
              <a:t>final</a:t>
            </a:r>
            <a:r>
              <a:rPr lang="zh-CN" altLang="en-US" b="0" dirty="0">
                <a:ea typeface="黑体" panose="02010609060101010101" pitchFamily="49" charset="-122"/>
                <a:cs typeface="Times New Roman" panose="02020603050405020304" pitchFamily="18" charset="0"/>
              </a:rPr>
              <a:t>类；所有变量和方法都是</a:t>
            </a:r>
            <a:r>
              <a:rPr lang="en-US" altLang="zh-CN" b="0" dirty="0">
                <a:ea typeface="黑体" panose="02010609060101010101" pitchFamily="49" charset="-122"/>
                <a:cs typeface="Times New Roman" panose="02020603050405020304" pitchFamily="18" charset="0"/>
              </a:rPr>
              <a:t>static</a:t>
            </a:r>
            <a:r>
              <a:rPr lang="zh-CN" altLang="en-US" b="0" dirty="0">
                <a:ea typeface="黑体" panose="02010609060101010101" pitchFamily="49" charset="-122"/>
                <a:cs typeface="Times New Roman" panose="02020603050405020304" pitchFamily="18" charset="0"/>
              </a:rPr>
              <a:t>的；不用初始化（</a:t>
            </a:r>
            <a:r>
              <a:rPr lang="en-US" altLang="zh-CN" b="0" dirty="0">
                <a:ea typeface="黑体" panose="02010609060101010101" pitchFamily="49" charset="-122"/>
                <a:cs typeface="Times New Roman" panose="02020603050405020304" pitchFamily="18" charset="0"/>
              </a:rPr>
              <a:t>new </a:t>
            </a:r>
            <a:r>
              <a:rPr lang="zh-CN" altLang="en-US" b="0" dirty="0">
                <a:ea typeface="黑体" panose="02010609060101010101" pitchFamily="49" charset="-122"/>
                <a:cs typeface="Times New Roman" panose="02020603050405020304" pitchFamily="18" charset="0"/>
              </a:rPr>
              <a:t>）就可以使用</a:t>
            </a:r>
          </a:p>
          <a:p>
            <a:pPr lvl="1"/>
            <a:r>
              <a:rPr lang="en-US" altLang="zh-CN" b="0" dirty="0">
                <a:ea typeface="黑体" panose="02010609060101010101" pitchFamily="49" charset="-122"/>
                <a:cs typeface="Times New Roman" panose="02020603050405020304" pitchFamily="18" charset="0"/>
              </a:rPr>
              <a:t>System</a:t>
            </a:r>
            <a:r>
              <a:rPr lang="zh-CN" altLang="en-US" b="0" dirty="0">
                <a:ea typeface="黑体" panose="02010609060101010101" pitchFamily="49" charset="-122"/>
                <a:cs typeface="Times New Roman" panose="02020603050405020304" pitchFamily="18" charset="0"/>
              </a:rPr>
              <a:t>类的静态成员变量</a:t>
            </a:r>
          </a:p>
          <a:p>
            <a:pPr lvl="2"/>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System.in</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InputStream</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类型的，代表标准输入流，这个流是已经打开了的，默认状态对应于键盘输入。</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a:r>
              <a:rPr lang="en-US" altLang="zh-CN" sz="24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System.out</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：PrintStream</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类型的，代表标准输出流，默认状态对应于屏幕输出</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a:r>
              <a:rPr lang="en-US" altLang="zh-CN" sz="24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System.err</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：PrintStream</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类型的，代表标准错误信息输出流，默认状态对应于屏幕输出</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27B45C0D-2FA5-48BA-BD13-000C4C64E9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1801"/>
            <a:ext cx="8382431" cy="37530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60419" name="内容占位符 2"/>
          <p:cNvSpPr>
            <a:spLocks noGrp="1"/>
          </p:cNvSpPr>
          <p:nvPr>
            <p:ph idx="1"/>
          </p:nvPr>
        </p:nvSpPr>
        <p:spPr>
          <a:xfrm>
            <a:off x="468313" y="981075"/>
            <a:ext cx="8496300" cy="5184775"/>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标准输入输出</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110000"/>
              </a:lnSpc>
            </a:pPr>
            <a:r>
              <a:rPr lang="en-US" altLang="zh-CN" b="0" dirty="0">
                <a:solidFill>
                  <a:srgbClr val="FF0000"/>
                </a:solidFill>
                <a:ea typeface="黑体" panose="02010609060101010101" pitchFamily="49" charset="-122"/>
                <a:cs typeface="Times New Roman" panose="02020603050405020304" pitchFamily="18" charset="0"/>
              </a:rPr>
              <a:t>System.in</a:t>
            </a:r>
          </a:p>
          <a:p>
            <a:pPr lvl="1" eaLnBrk="1" hangingPunct="1">
              <a:lnSpc>
                <a:spcPct val="110000"/>
              </a:lnSpc>
              <a:buFontTx/>
              <a:buNone/>
            </a:pPr>
            <a:r>
              <a:rPr lang="en-US" altLang="zh-CN" b="0" dirty="0">
                <a:ea typeface="黑体" panose="02010609060101010101" pitchFamily="49" charset="-122"/>
                <a:cs typeface="Times New Roman" panose="02020603050405020304" pitchFamily="18" charset="0"/>
              </a:rPr>
              <a:t>    public final static </a:t>
            </a:r>
            <a:r>
              <a:rPr lang="en-US" altLang="zh-CN" b="0" dirty="0" err="1">
                <a:ea typeface="黑体" panose="02010609060101010101" pitchFamily="49" charset="-122"/>
                <a:cs typeface="Times New Roman" panose="02020603050405020304" pitchFamily="18" charset="0"/>
              </a:rPr>
              <a:t>InputStream</a:t>
            </a:r>
            <a:r>
              <a:rPr lang="en-US" altLang="zh-CN" b="0" dirty="0">
                <a:ea typeface="黑体" panose="02010609060101010101" pitchFamily="49" charset="-122"/>
                <a:cs typeface="Times New Roman" panose="02020603050405020304" pitchFamily="18" charset="0"/>
              </a:rPr>
              <a:t> in = new </a:t>
            </a:r>
            <a:r>
              <a:rPr lang="en-US" altLang="zh-CN" b="0" dirty="0" err="1">
                <a:ea typeface="黑体" panose="02010609060101010101" pitchFamily="49" charset="-122"/>
                <a:cs typeface="Times New Roman" panose="02020603050405020304" pitchFamily="18" charset="0"/>
              </a:rPr>
              <a:t>InputStream</a:t>
            </a:r>
            <a:r>
              <a:rPr lang="en-US" altLang="zh-CN" b="0" dirty="0">
                <a:ea typeface="黑体" panose="02010609060101010101" pitchFamily="49" charset="-122"/>
                <a:cs typeface="Times New Roman" panose="02020603050405020304" pitchFamily="18" charset="0"/>
              </a:rPr>
              <a:t>();</a:t>
            </a:r>
          </a:p>
          <a:p>
            <a:pPr lvl="1" eaLnBrk="1" hangingPunct="1">
              <a:lnSpc>
                <a:spcPct val="110000"/>
              </a:lnSpc>
              <a:buFontTx/>
              <a:buNone/>
            </a:pPr>
            <a:r>
              <a:rPr lang="en-US" altLang="zh-CN" b="0" dirty="0">
                <a:ea typeface="黑体" panose="02010609060101010101" pitchFamily="49" charset="-122"/>
                <a:cs typeface="Times New Roman" panose="02020603050405020304" pitchFamily="18" charset="0"/>
              </a:rPr>
              <a:t>	read(), read(byte b[],</a:t>
            </a:r>
            <a:r>
              <a:rPr lang="en-US" altLang="zh-CN" b="0" dirty="0" err="1">
                <a:ea typeface="黑体" panose="02010609060101010101" pitchFamily="49" charset="-122"/>
                <a:cs typeface="Times New Roman" panose="02020603050405020304" pitchFamily="18" charset="0"/>
              </a:rPr>
              <a:t>int</a:t>
            </a:r>
            <a:r>
              <a:rPr lang="en-US" altLang="zh-CN" b="0" dirty="0">
                <a:ea typeface="黑体" panose="02010609060101010101" pitchFamily="49" charset="-122"/>
                <a:cs typeface="Times New Roman" panose="02020603050405020304" pitchFamily="18" charset="0"/>
              </a:rPr>
              <a:t> off, </a:t>
            </a:r>
            <a:r>
              <a:rPr lang="en-US" altLang="zh-CN" b="0" dirty="0" err="1">
                <a:ea typeface="黑体" panose="02010609060101010101" pitchFamily="49" charset="-122"/>
                <a:cs typeface="Times New Roman" panose="02020603050405020304" pitchFamily="18" charset="0"/>
              </a:rPr>
              <a:t>int</a:t>
            </a: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len</a:t>
            </a:r>
            <a:r>
              <a:rPr lang="en-US" altLang="zh-CN" b="0" dirty="0">
                <a:ea typeface="黑体" panose="02010609060101010101" pitchFamily="49" charset="-122"/>
                <a:cs typeface="Times New Roman" panose="02020603050405020304" pitchFamily="18" charset="0"/>
              </a:rPr>
              <a:t>), read(byte b[])</a:t>
            </a:r>
          </a:p>
          <a:p>
            <a:pPr lvl="1" eaLnBrk="1" hangingPunct="1">
              <a:lnSpc>
                <a:spcPct val="110000"/>
              </a:lnSpc>
            </a:pPr>
            <a:r>
              <a:rPr lang="en-US" altLang="zh-CN" b="0" dirty="0" err="1">
                <a:solidFill>
                  <a:srgbClr val="FF0000"/>
                </a:solidFill>
                <a:ea typeface="黑体" panose="02010609060101010101" pitchFamily="49" charset="-122"/>
                <a:cs typeface="Times New Roman" panose="02020603050405020304" pitchFamily="18" charset="0"/>
              </a:rPr>
              <a:t>System.out</a:t>
            </a:r>
            <a:endParaRPr lang="en-US" altLang="zh-CN" b="0" dirty="0">
              <a:solidFill>
                <a:srgbClr val="FF0000"/>
              </a:solidFill>
              <a:ea typeface="黑体" panose="02010609060101010101" pitchFamily="49" charset="-122"/>
              <a:cs typeface="Times New Roman" panose="02020603050405020304" pitchFamily="18" charset="0"/>
            </a:endParaRPr>
          </a:p>
          <a:p>
            <a:pPr lvl="1" eaLnBrk="1" hangingPunct="1">
              <a:lnSpc>
                <a:spcPct val="110000"/>
              </a:lnSpc>
              <a:buFontTx/>
              <a:buNone/>
            </a:pPr>
            <a:r>
              <a:rPr lang="en-US" altLang="zh-CN" b="0" dirty="0">
                <a:ea typeface="黑体" panose="02010609060101010101" pitchFamily="49" charset="-122"/>
                <a:cs typeface="Times New Roman" panose="02020603050405020304" pitchFamily="18" charset="0"/>
              </a:rPr>
              <a:t>      public final static </a:t>
            </a:r>
            <a:r>
              <a:rPr lang="en-US" altLang="zh-CN" b="0" dirty="0" err="1">
                <a:ea typeface="黑体" panose="02010609060101010101" pitchFamily="49" charset="-122"/>
                <a:cs typeface="Times New Roman" panose="02020603050405020304" pitchFamily="18" charset="0"/>
              </a:rPr>
              <a:t>PrintStream</a:t>
            </a:r>
            <a:r>
              <a:rPr lang="en-US" altLang="zh-CN" b="0" dirty="0">
                <a:ea typeface="黑体" panose="02010609060101010101" pitchFamily="49" charset="-122"/>
                <a:cs typeface="Times New Roman" panose="02020603050405020304" pitchFamily="18" charset="0"/>
              </a:rPr>
              <a:t> out = new </a:t>
            </a:r>
            <a:r>
              <a:rPr lang="en-US" altLang="zh-CN" b="0" dirty="0" err="1">
                <a:ea typeface="黑体" panose="02010609060101010101" pitchFamily="49" charset="-122"/>
                <a:cs typeface="Times New Roman" panose="02020603050405020304" pitchFamily="18" charset="0"/>
              </a:rPr>
              <a:t>PrintStream</a:t>
            </a:r>
            <a:r>
              <a:rPr lang="en-US" altLang="zh-CN" b="0" dirty="0">
                <a:ea typeface="黑体" panose="02010609060101010101" pitchFamily="49" charset="-122"/>
                <a:cs typeface="Times New Roman" panose="02020603050405020304" pitchFamily="18" charset="0"/>
              </a:rPr>
              <a:t>(); </a:t>
            </a:r>
          </a:p>
          <a:p>
            <a:pPr lvl="1" eaLnBrk="1" hangingPunct="1">
              <a:lnSpc>
                <a:spcPct val="110000"/>
              </a:lnSpc>
              <a:buFontTx/>
              <a:buNone/>
            </a:pPr>
            <a:r>
              <a:rPr lang="en-US" altLang="zh-CN" b="0" dirty="0">
                <a:ea typeface="黑体" panose="02010609060101010101" pitchFamily="49" charset="-122"/>
                <a:cs typeface="Times New Roman" panose="02020603050405020304" pitchFamily="18" charset="0"/>
              </a:rPr>
              <a:t>      print(), </a:t>
            </a:r>
            <a:r>
              <a:rPr lang="en-US" altLang="zh-CN" b="0" dirty="0" err="1">
                <a:ea typeface="黑体" panose="02010609060101010101" pitchFamily="49" charset="-122"/>
                <a:cs typeface="Times New Roman" panose="02020603050405020304" pitchFamily="18" charset="0"/>
              </a:rPr>
              <a:t>println</a:t>
            </a:r>
            <a:r>
              <a:rPr lang="en-US" altLang="zh-CN" b="0" dirty="0">
                <a:ea typeface="黑体" panose="02010609060101010101" pitchFamily="49" charset="-122"/>
                <a:cs typeface="Times New Roman" panose="02020603050405020304" pitchFamily="18" charset="0"/>
              </a:rPr>
              <a:t>(), write()</a:t>
            </a:r>
          </a:p>
          <a:p>
            <a:pPr lvl="1" eaLnBrk="1" hangingPunct="1">
              <a:lnSpc>
                <a:spcPct val="110000"/>
              </a:lnSpc>
            </a:pPr>
            <a:r>
              <a:rPr lang="en-US" altLang="zh-CN" b="0" dirty="0" err="1">
                <a:solidFill>
                  <a:srgbClr val="FF0000"/>
                </a:solidFill>
                <a:ea typeface="黑体" panose="02010609060101010101" pitchFamily="49" charset="-122"/>
                <a:cs typeface="Times New Roman" panose="02020603050405020304" pitchFamily="18" charset="0"/>
              </a:rPr>
              <a:t>System.err</a:t>
            </a:r>
            <a:endParaRPr lang="en-US" altLang="zh-CN" b="0" dirty="0">
              <a:solidFill>
                <a:srgbClr val="FF0000"/>
              </a:solidFill>
              <a:ea typeface="黑体" panose="02010609060101010101" pitchFamily="49" charset="-122"/>
              <a:cs typeface="Times New Roman" panose="02020603050405020304" pitchFamily="18" charset="0"/>
            </a:endParaRPr>
          </a:p>
          <a:p>
            <a:pPr lvl="1" eaLnBrk="1" hangingPunct="1">
              <a:lnSpc>
                <a:spcPct val="110000"/>
              </a:lnSpc>
              <a:buFontTx/>
              <a:buNone/>
            </a:pPr>
            <a:r>
              <a:rPr lang="en-US" altLang="zh-CN" b="0" dirty="0">
                <a:ea typeface="黑体" panose="02010609060101010101" pitchFamily="49" charset="-122"/>
                <a:cs typeface="Times New Roman" panose="02020603050405020304" pitchFamily="18" charset="0"/>
              </a:rPr>
              <a:t>      public final static </a:t>
            </a:r>
            <a:r>
              <a:rPr lang="en-US" altLang="zh-CN" b="0" dirty="0" err="1">
                <a:ea typeface="黑体" panose="02010609060101010101" pitchFamily="49" charset="-122"/>
                <a:cs typeface="Times New Roman" panose="02020603050405020304" pitchFamily="18" charset="0"/>
              </a:rPr>
              <a:t>PrintStream</a:t>
            </a:r>
            <a:r>
              <a:rPr lang="en-US" altLang="zh-CN" b="0" dirty="0">
                <a:ea typeface="黑体" panose="02010609060101010101" pitchFamily="49" charset="-122"/>
                <a:cs typeface="Times New Roman" panose="02020603050405020304" pitchFamily="18" charset="0"/>
              </a:rPr>
              <a:t> err = new </a:t>
            </a:r>
            <a:r>
              <a:rPr lang="en-US" altLang="zh-CN" b="0" dirty="0" err="1">
                <a:ea typeface="黑体" panose="02010609060101010101" pitchFamily="49" charset="-122"/>
                <a:cs typeface="Times New Roman" panose="02020603050405020304" pitchFamily="18" charset="0"/>
              </a:rPr>
              <a:t>PrintStream</a:t>
            </a:r>
            <a:r>
              <a:rPr lang="en-US" altLang="zh-CN" b="0" dirty="0">
                <a:ea typeface="黑体" panose="02010609060101010101" pitchFamily="49" charset="-122"/>
                <a:cs typeface="Times New Roman" panose="02020603050405020304" pitchFamily="18" charset="0"/>
              </a:rPr>
              <a:t>(); </a:t>
            </a:r>
          </a:p>
          <a:p>
            <a:pPr lvl="1" eaLnBrk="1" hangingPunct="1">
              <a:lnSpc>
                <a:spcPct val="110000"/>
              </a:lnSpc>
              <a:buFontTx/>
              <a:buNone/>
            </a:pPr>
            <a:r>
              <a:rPr lang="en-US" altLang="zh-CN" b="0" dirty="0">
                <a:ea typeface="黑体" panose="02010609060101010101" pitchFamily="49" charset="-122"/>
                <a:cs typeface="Times New Roman" panose="02020603050405020304" pitchFamily="18" charset="0"/>
              </a:rPr>
              <a:t>      print(), </a:t>
            </a:r>
            <a:r>
              <a:rPr lang="en-US" altLang="zh-CN" b="0" dirty="0" err="1">
                <a:ea typeface="黑体" panose="02010609060101010101" pitchFamily="49" charset="-122"/>
                <a:cs typeface="Times New Roman" panose="02020603050405020304" pitchFamily="18" charset="0"/>
              </a:rPr>
              <a:t>println</a:t>
            </a:r>
            <a:r>
              <a:rPr lang="en-US" altLang="zh-CN" b="0" dirty="0">
                <a:ea typeface="黑体" panose="02010609060101010101" pitchFamily="49" charset="-122"/>
                <a:cs typeface="Times New Roman" panose="02020603050405020304" pitchFamily="18" charset="0"/>
              </a:rPr>
              <a:t>(), write()</a:t>
            </a:r>
            <a:endParaRPr lang="en-US" altLang="zh-CN" sz="3200" b="0" dirty="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61443"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从键盘读入信息并在显示器上显示</a:t>
            </a:r>
          </a:p>
        </p:txBody>
      </p:sp>
      <p:sp>
        <p:nvSpPr>
          <p:cNvPr id="61444" name="Rectangle 3"/>
          <p:cNvSpPr txBox="1">
            <a:spLocks noChangeArrowheads="1"/>
          </p:cNvSpPr>
          <p:nvPr/>
        </p:nvSpPr>
        <p:spPr bwMode="auto">
          <a:xfrm>
            <a:off x="282575" y="1700213"/>
            <a:ext cx="8682038" cy="417671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import java.io.*;</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public class Echo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public static void main(String[] </a:t>
            </a:r>
            <a:r>
              <a:rPr lang="en-US" altLang="zh-CN" sz="2400" b="1" dirty="0" err="1">
                <a:latin typeface="Times New Roman" panose="02020603050405020304" pitchFamily="18" charset="0"/>
                <a:cs typeface="Times New Roman" panose="02020603050405020304" pitchFamily="18" charset="0"/>
              </a:rPr>
              <a:t>args</a:t>
            </a:r>
            <a:r>
              <a:rPr lang="en-US" altLang="zh-CN" sz="2400" b="1" dirty="0">
                <a:latin typeface="Times New Roman" panose="02020603050405020304" pitchFamily="18" charset="0"/>
                <a:cs typeface="Times New Roman" panose="02020603050405020304" pitchFamily="18" charset="0"/>
              </a:rPr>
              <a:t>)  throws </a:t>
            </a:r>
            <a:r>
              <a:rPr lang="en-US" altLang="zh-CN" sz="2400" b="1" dirty="0" err="1">
                <a:latin typeface="Times New Roman" panose="02020603050405020304" pitchFamily="18" charset="0"/>
                <a:cs typeface="Times New Roman" panose="02020603050405020304" pitchFamily="18" charset="0"/>
              </a:rPr>
              <a:t>IOException</a:t>
            </a: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BufferedReader</a:t>
            </a:r>
            <a:r>
              <a:rPr lang="en-US" altLang="zh-CN" sz="2400" b="1" dirty="0">
                <a:latin typeface="Times New Roman" panose="02020603050405020304" pitchFamily="18" charset="0"/>
                <a:cs typeface="Times New Roman" panose="02020603050405020304" pitchFamily="18" charset="0"/>
              </a:rPr>
              <a:t> in = new </a:t>
            </a:r>
            <a:r>
              <a:rPr lang="en-US" altLang="zh-CN" sz="2400" b="1" dirty="0" err="1">
                <a:solidFill>
                  <a:srgbClr val="009900"/>
                </a:solidFill>
                <a:latin typeface="Times New Roman" panose="02020603050405020304" pitchFamily="18" charset="0"/>
                <a:cs typeface="Times New Roman" panose="02020603050405020304" pitchFamily="18" charset="0"/>
              </a:rPr>
              <a:t>BufferedReader</a:t>
            </a:r>
            <a:r>
              <a:rPr lang="en-US" altLang="zh-CN" sz="24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new </a:t>
            </a:r>
            <a:r>
              <a:rPr lang="en-US" altLang="zh-CN" sz="2400" b="1" dirty="0" err="1">
                <a:solidFill>
                  <a:srgbClr val="009900"/>
                </a:solidFill>
                <a:latin typeface="Times New Roman" panose="02020603050405020304" pitchFamily="18" charset="0"/>
                <a:cs typeface="Times New Roman" panose="02020603050405020304" pitchFamily="18" charset="0"/>
              </a:rPr>
              <a:t>InputStreamReader</a:t>
            </a:r>
            <a:r>
              <a:rPr lang="en-US" altLang="zh-CN" sz="2400" b="1" dirty="0">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System.in</a:t>
            </a:r>
            <a:r>
              <a:rPr lang="en-US" altLang="zh-CN" sz="24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String s;</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while(</a:t>
            </a:r>
            <a:r>
              <a:rPr lang="en-US" altLang="zh-CN"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s = </a:t>
            </a:r>
            <a:r>
              <a:rPr lang="en-US" altLang="zh-CN" sz="2400" b="1" dirty="0" err="1">
                <a:solidFill>
                  <a:srgbClr val="FF0000"/>
                </a:solidFill>
                <a:latin typeface="Times New Roman" panose="02020603050405020304" pitchFamily="18" charset="0"/>
                <a:cs typeface="Times New Roman" panose="02020603050405020304" pitchFamily="18" charset="0"/>
              </a:rPr>
              <a:t>in.readLine</a:t>
            </a:r>
            <a:r>
              <a:rPr lang="en-US" altLang="zh-CN"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).length() != 0</a:t>
            </a:r>
            <a:r>
              <a:rPr lang="en-US" altLang="zh-CN" sz="24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System.out.println</a:t>
            </a:r>
            <a:r>
              <a:rPr lang="en-US" altLang="zh-CN" sz="2400" b="1" dirty="0">
                <a:latin typeface="Times New Roman" panose="02020603050405020304" pitchFamily="18" charset="0"/>
                <a:cs typeface="Times New Roman" panose="02020603050405020304" pitchFamily="18" charset="0"/>
              </a:rPr>
              <a:t>(s);</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 </a:t>
            </a:r>
          </a:p>
        </p:txBody>
      </p:sp>
      <p:sp>
        <p:nvSpPr>
          <p:cNvPr id="61445" name="Text Box 6"/>
          <p:cNvSpPr txBox="1">
            <a:spLocks noChangeArrowheads="1"/>
          </p:cNvSpPr>
          <p:nvPr/>
        </p:nvSpPr>
        <p:spPr bwMode="auto">
          <a:xfrm>
            <a:off x="6950223" y="4811713"/>
            <a:ext cx="1728788" cy="984250"/>
          </a:xfrm>
          <a:prstGeom prst="rect">
            <a:avLst/>
          </a:prstGeom>
          <a:noFill/>
          <a:ln w="12700" cap="sq">
            <a:solidFill>
              <a:srgbClr val="FFFF66"/>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运行结果</a:t>
            </a:r>
          </a:p>
          <a:p>
            <a:pPr lvl="1" eaLnBrk="1" hangingPunct="1"/>
            <a:r>
              <a:rPr lang="en-US" altLang="zh-CN" sz="2000" b="1">
                <a:solidFill>
                  <a:srgbClr val="0000FF"/>
                </a:solidFill>
              </a:rPr>
              <a:t>Hello!</a:t>
            </a:r>
          </a:p>
          <a:p>
            <a:pPr lvl="1" eaLnBrk="1" hangingPunct="1"/>
            <a:r>
              <a:rPr lang="en-US" altLang="zh-CN" sz="2000" b="1">
                <a:solidFill>
                  <a:srgbClr val="0000FF"/>
                </a:solidFill>
              </a:rPr>
              <a:t>Hello!</a:t>
            </a:r>
            <a:endParaRPr lang="zh-CN" altLang="en-US" sz="2000" b="1">
              <a:solidFill>
                <a:srgbClr val="0000FF"/>
              </a:solidFill>
            </a:endParaRPr>
          </a:p>
        </p:txBody>
      </p:sp>
      <p:cxnSp>
        <p:nvCxnSpPr>
          <p:cNvPr id="6" name="直接连接符 5"/>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62467" name="内容占位符 2"/>
          <p:cNvSpPr>
            <a:spLocks noGrp="1"/>
          </p:cNvSpPr>
          <p:nvPr>
            <p:ph idx="1"/>
          </p:nvPr>
        </p:nvSpPr>
        <p:spPr>
          <a:xfrm>
            <a:off x="468313" y="981075"/>
            <a:ext cx="7992119" cy="5184775"/>
          </a:xfrm>
        </p:spPr>
        <p:txBody>
          <a:bodyPr/>
          <a:lstStyle/>
          <a:p>
            <a:pPr>
              <a:lnSpc>
                <a:spcPct val="120000"/>
              </a:lnSpc>
              <a:spcBef>
                <a:spcPts val="0"/>
              </a:spcBef>
            </a:pPr>
            <a:r>
              <a:rPr lang="en-US" altLang="zh-CN" b="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System.in</a:t>
            </a:r>
          </a:p>
          <a:p>
            <a:pPr lvl="1">
              <a:lnSpc>
                <a:spcPct val="120000"/>
              </a:lnSpc>
              <a:spcBef>
                <a:spcPts val="0"/>
              </a:spcBef>
            </a:pPr>
            <a:r>
              <a:rPr lang="zh-CN" altLang="en-US" b="0" dirty="0">
                <a:ea typeface="黑体" panose="02010609060101010101" pitchFamily="49" charset="-122"/>
                <a:cs typeface="Times New Roman" panose="02020603050405020304" pitchFamily="18" charset="0"/>
              </a:rPr>
              <a:t>程序启动时由</a:t>
            </a:r>
            <a:r>
              <a:rPr lang="en-US" altLang="zh-CN" b="0" dirty="0">
                <a:ea typeface="黑体" panose="02010609060101010101" pitchFamily="49" charset="-122"/>
                <a:cs typeface="Times New Roman" panose="02020603050405020304" pitchFamily="18" charset="0"/>
              </a:rPr>
              <a:t>Java</a:t>
            </a:r>
            <a:r>
              <a:rPr lang="zh-CN" altLang="en-US" b="0" dirty="0">
                <a:ea typeface="黑体" panose="02010609060101010101" pitchFamily="49" charset="-122"/>
                <a:cs typeface="Times New Roman" panose="02020603050405020304" pitchFamily="18" charset="0"/>
              </a:rPr>
              <a:t>系统自动创建的流对象，它是原始的字节流，不能直接从中读取字符，需要对其进行进一步的处理</a:t>
            </a:r>
          </a:p>
          <a:p>
            <a:pPr>
              <a:lnSpc>
                <a:spcPct val="120000"/>
              </a:lnSpc>
              <a:spcBef>
                <a:spcPts val="0"/>
              </a:spcBef>
            </a:pPr>
            <a:r>
              <a:rPr lang="en-US" altLang="zh-CN" b="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InputStreamReader</a:t>
            </a:r>
            <a:r>
              <a:rPr lang="en-US" altLang="zh-CN" b="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(System.in)</a:t>
            </a:r>
            <a:endParaRPr lang="zh-CN" altLang="en-US" b="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spcBef>
                <a:spcPts val="0"/>
              </a:spcBef>
            </a:pPr>
            <a:r>
              <a:rPr lang="zh-CN" altLang="en-US" b="0" dirty="0">
                <a:ea typeface="黑体" panose="02010609060101010101" pitchFamily="49" charset="-122"/>
                <a:cs typeface="Times New Roman" panose="02020603050405020304" pitchFamily="18" charset="0"/>
              </a:rPr>
              <a:t>以</a:t>
            </a:r>
            <a:r>
              <a:rPr lang="en-US" altLang="zh-CN" b="0" dirty="0">
                <a:solidFill>
                  <a:srgbClr val="0000FF"/>
                </a:solidFill>
                <a:ea typeface="黑体" panose="02010609060101010101" pitchFamily="49" charset="-122"/>
                <a:cs typeface="Times New Roman" panose="02020603050405020304" pitchFamily="18" charset="0"/>
              </a:rPr>
              <a:t>System.in</a:t>
            </a:r>
            <a:r>
              <a:rPr lang="zh-CN" altLang="en-US" b="0" dirty="0">
                <a:ea typeface="黑体" panose="02010609060101010101" pitchFamily="49" charset="-122"/>
                <a:cs typeface="Times New Roman" panose="02020603050405020304" pitchFamily="18" charset="0"/>
              </a:rPr>
              <a:t>为参数创建一个</a:t>
            </a:r>
            <a:r>
              <a:rPr lang="en-US" altLang="zh-CN" b="0" dirty="0" err="1">
                <a:solidFill>
                  <a:schemeClr val="tx2"/>
                </a:solidFill>
                <a:ea typeface="黑体" panose="02010609060101010101" pitchFamily="49" charset="-122"/>
                <a:cs typeface="Times New Roman" panose="02020603050405020304" pitchFamily="18" charset="0"/>
              </a:rPr>
              <a:t>InputStreamReader</a:t>
            </a:r>
            <a:r>
              <a:rPr lang="zh-CN" altLang="en-US" b="0" dirty="0">
                <a:ea typeface="黑体" panose="02010609060101010101" pitchFamily="49" charset="-122"/>
                <a:cs typeface="Times New Roman" panose="02020603050405020304" pitchFamily="18" charset="0"/>
              </a:rPr>
              <a:t>流对象，相当于字节流和字符流之间的一座桥梁，读取字节并将其转换为字符</a:t>
            </a:r>
          </a:p>
          <a:p>
            <a:pPr>
              <a:lnSpc>
                <a:spcPct val="120000"/>
              </a:lnSpc>
              <a:spcBef>
                <a:spcPts val="0"/>
              </a:spcBef>
            </a:pPr>
            <a:r>
              <a:rPr lang="en-US" altLang="zh-CN" b="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BufferedReader</a:t>
            </a:r>
            <a:r>
              <a:rPr lang="en-US" altLang="zh-CN" b="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in</a:t>
            </a:r>
          </a:p>
          <a:p>
            <a:pPr lvl="1">
              <a:lnSpc>
                <a:spcPct val="120000"/>
              </a:lnSpc>
              <a:spcBef>
                <a:spcPts val="0"/>
              </a:spcBef>
            </a:pPr>
            <a:r>
              <a:rPr lang="zh-CN" altLang="en-US" b="0" dirty="0">
                <a:ea typeface="黑体" panose="02010609060101010101" pitchFamily="49" charset="-122"/>
                <a:cs typeface="Times New Roman" panose="02020603050405020304" pitchFamily="18" charset="0"/>
              </a:rPr>
              <a:t>对</a:t>
            </a:r>
            <a:r>
              <a:rPr lang="en-US" altLang="zh-CN" b="0" dirty="0" err="1">
                <a:solidFill>
                  <a:srgbClr val="0000FF"/>
                </a:solidFill>
                <a:ea typeface="黑体" panose="02010609060101010101" pitchFamily="49" charset="-122"/>
                <a:cs typeface="Times New Roman" panose="02020603050405020304" pitchFamily="18" charset="0"/>
              </a:rPr>
              <a:t>InputStreamReader</a:t>
            </a:r>
            <a:r>
              <a:rPr lang="zh-CN" altLang="en-US" b="0" dirty="0">
                <a:ea typeface="黑体" panose="02010609060101010101" pitchFamily="49" charset="-122"/>
                <a:cs typeface="Times New Roman" panose="02020603050405020304" pitchFamily="18" charset="0"/>
              </a:rPr>
              <a:t>处理后的信息进行缓冲，以提高效率</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63491" name="内容占位符 2"/>
          <p:cNvSpPr>
            <a:spLocks noGrp="1"/>
          </p:cNvSpPr>
          <p:nvPr>
            <p:ph idx="1"/>
          </p:nvPr>
        </p:nvSpPr>
        <p:spPr/>
        <p:txBody>
          <a:bodyPr/>
          <a:lstStyle/>
          <a:p>
            <a:pPr>
              <a:lnSpc>
                <a:spcPct val="9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一个方便的扫描</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API: </a:t>
            </a:r>
          </a:p>
          <a:p>
            <a:pPr lvl="1">
              <a:lnSpc>
                <a:spcPct val="90000"/>
              </a:lnSpc>
            </a:pPr>
            <a:r>
              <a:rPr lang="zh-CN" altLang="en-US" b="0" dirty="0">
                <a:ea typeface="黑体" panose="02010609060101010101" pitchFamily="49" charset="-122"/>
                <a:cs typeface="Times New Roman" panose="02020603050405020304" pitchFamily="18" charset="0"/>
              </a:rPr>
              <a:t>把文本转化成基本类型或者</a:t>
            </a:r>
            <a:r>
              <a:rPr lang="en-US" altLang="zh-CN" b="0" dirty="0">
                <a:ea typeface="黑体" panose="02010609060101010101" pitchFamily="49" charset="-122"/>
                <a:cs typeface="Times New Roman" panose="02020603050405020304" pitchFamily="18" charset="0"/>
              </a:rPr>
              <a:t>String</a:t>
            </a:r>
          </a:p>
          <a:p>
            <a:pPr lvl="1">
              <a:lnSpc>
                <a:spcPct val="90000"/>
              </a:lnSpc>
              <a:buFontTx/>
              <a:buNone/>
            </a:pPr>
            <a:r>
              <a:rPr lang="en-US" altLang="zh-CN" b="0" dirty="0">
                <a:solidFill>
                  <a:srgbClr val="0000FF"/>
                </a:solidFill>
                <a:ea typeface="黑体" panose="02010609060101010101" pitchFamily="49" charset="-122"/>
                <a:cs typeface="Times New Roman" panose="02020603050405020304" pitchFamily="18" charset="0"/>
              </a:rPr>
              <a:t>     Scanner s = new Scanner(System.in);</a:t>
            </a:r>
          </a:p>
          <a:p>
            <a:pPr lvl="1">
              <a:lnSpc>
                <a:spcPct val="90000"/>
              </a:lnSpc>
              <a:buFontTx/>
              <a:buNone/>
            </a:pPr>
            <a:r>
              <a:rPr lang="en-US" altLang="zh-CN" b="0" dirty="0">
                <a:solidFill>
                  <a:srgbClr val="0000FF"/>
                </a:solidFill>
                <a:ea typeface="黑体" panose="02010609060101010101" pitchFamily="49" charset="-122"/>
                <a:cs typeface="Times New Roman" panose="02020603050405020304" pitchFamily="18" charset="0"/>
              </a:rPr>
              <a:t>     </a:t>
            </a:r>
            <a:r>
              <a:rPr lang="en-US" altLang="zh-CN" b="0" dirty="0" err="1">
                <a:solidFill>
                  <a:srgbClr val="0000FF"/>
                </a:solidFill>
                <a:ea typeface="黑体" panose="02010609060101010101" pitchFamily="49" charset="-122"/>
                <a:cs typeface="Times New Roman" panose="02020603050405020304" pitchFamily="18" charset="0"/>
              </a:rPr>
              <a:t>int</a:t>
            </a:r>
            <a:r>
              <a:rPr lang="en-US" altLang="zh-CN" b="0" dirty="0">
                <a:solidFill>
                  <a:srgbClr val="0000FF"/>
                </a:solidFill>
                <a:ea typeface="黑体" panose="02010609060101010101" pitchFamily="49" charset="-122"/>
                <a:cs typeface="Times New Roman" panose="02020603050405020304" pitchFamily="18" charset="0"/>
              </a:rPr>
              <a:t> n = </a:t>
            </a:r>
            <a:r>
              <a:rPr lang="en-US" altLang="zh-CN" b="0" dirty="0" err="1">
                <a:solidFill>
                  <a:srgbClr val="0000FF"/>
                </a:solidFill>
                <a:ea typeface="黑体" panose="02010609060101010101" pitchFamily="49" charset="-122"/>
                <a:cs typeface="Times New Roman" panose="02020603050405020304" pitchFamily="18" charset="0"/>
              </a:rPr>
              <a:t>s.nextInt</a:t>
            </a:r>
            <a:r>
              <a:rPr lang="en-US" altLang="zh-CN" b="0" dirty="0">
                <a:solidFill>
                  <a:srgbClr val="0000FF"/>
                </a:solidFill>
                <a:ea typeface="黑体" panose="02010609060101010101" pitchFamily="49" charset="-122"/>
                <a:cs typeface="Times New Roman" panose="02020603050405020304" pitchFamily="18" charset="0"/>
              </a:rPr>
              <a:t>();</a:t>
            </a:r>
          </a:p>
          <a:p>
            <a:pPr lvl="1">
              <a:lnSpc>
                <a:spcPct val="90000"/>
              </a:lnSpc>
            </a:pPr>
            <a:r>
              <a:rPr lang="zh-CN" altLang="en-US" b="0" dirty="0">
                <a:ea typeface="黑体" panose="02010609060101010101" pitchFamily="49" charset="-122"/>
                <a:cs typeface="Times New Roman" panose="02020603050405020304" pitchFamily="18" charset="0"/>
              </a:rPr>
              <a:t>还有下列方法：</a:t>
            </a:r>
            <a:br>
              <a:rPr lang="en-US" altLang="zh-CN" b="0" dirty="0">
                <a:ea typeface="黑体" panose="02010609060101010101" pitchFamily="49" charset="-122"/>
                <a:cs typeface="Times New Roman" panose="02020603050405020304" pitchFamily="18" charset="0"/>
              </a:rPr>
            </a:br>
            <a:r>
              <a:rPr lang="en-US" altLang="zh-CN" b="0" dirty="0" err="1">
                <a:ea typeface="黑体" panose="02010609060101010101" pitchFamily="49" charset="-122"/>
                <a:cs typeface="Times New Roman" panose="02020603050405020304" pitchFamily="18" charset="0"/>
              </a:rPr>
              <a:t>nextByte</a:t>
            </a:r>
            <a:r>
              <a:rPr lang="en-US" altLang="zh-CN" b="0" dirty="0">
                <a:ea typeface="黑体" panose="02010609060101010101" pitchFamily="49" charset="-122"/>
                <a:cs typeface="Times New Roman" panose="02020603050405020304" pitchFamily="18" charset="0"/>
              </a:rPr>
              <a:t>(), </a:t>
            </a:r>
          </a:p>
          <a:p>
            <a:pPr lvl="1">
              <a:lnSpc>
                <a:spcPct val="90000"/>
              </a:lnSpc>
              <a:buFont typeface="Wingdings" panose="05000000000000000000" pitchFamily="2" charset="2"/>
              <a:buNone/>
            </a:pP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nextDouble</a:t>
            </a:r>
            <a:r>
              <a:rPr lang="en-US" altLang="zh-CN" b="0" dirty="0">
                <a:ea typeface="黑体" panose="02010609060101010101" pitchFamily="49" charset="-122"/>
                <a:cs typeface="Times New Roman" panose="02020603050405020304" pitchFamily="18" charset="0"/>
              </a:rPr>
              <a:t>(),</a:t>
            </a:r>
          </a:p>
          <a:p>
            <a:pPr lvl="1">
              <a:lnSpc>
                <a:spcPct val="90000"/>
              </a:lnSpc>
              <a:buFont typeface="Wingdings" panose="05000000000000000000" pitchFamily="2" charset="2"/>
              <a:buNone/>
            </a:pP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nextFloat</a:t>
            </a:r>
            <a:r>
              <a:rPr lang="en-US" altLang="zh-CN" b="0" dirty="0">
                <a:ea typeface="黑体" panose="02010609060101010101" pitchFamily="49" charset="-122"/>
                <a:cs typeface="Times New Roman" panose="02020603050405020304" pitchFamily="18" charset="0"/>
              </a:rPr>
              <a:t>,</a:t>
            </a:r>
          </a:p>
          <a:p>
            <a:pPr lvl="1">
              <a:lnSpc>
                <a:spcPct val="90000"/>
              </a:lnSpc>
              <a:buFont typeface="Wingdings" panose="05000000000000000000" pitchFamily="2" charset="2"/>
              <a:buNone/>
            </a:pP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nextInt</a:t>
            </a:r>
            <a:r>
              <a:rPr lang="en-US" altLang="zh-CN" b="0" dirty="0">
                <a:ea typeface="黑体" panose="02010609060101010101" pitchFamily="49" charset="-122"/>
                <a:cs typeface="Times New Roman" panose="02020603050405020304" pitchFamily="18" charset="0"/>
              </a:rPr>
              <a:t>(),</a:t>
            </a:r>
          </a:p>
          <a:p>
            <a:pPr lvl="1">
              <a:lnSpc>
                <a:spcPct val="90000"/>
              </a:lnSpc>
              <a:buFont typeface="Wingdings" panose="05000000000000000000" pitchFamily="2" charset="2"/>
              <a:buNone/>
            </a:pP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nextLine</a:t>
            </a:r>
            <a:r>
              <a:rPr lang="en-US" altLang="zh-CN" b="0" dirty="0">
                <a:ea typeface="黑体" panose="02010609060101010101" pitchFamily="49" charset="-122"/>
                <a:cs typeface="Times New Roman" panose="02020603050405020304" pitchFamily="18" charset="0"/>
              </a:rPr>
              <a:t>(),</a:t>
            </a:r>
          </a:p>
          <a:p>
            <a:pPr lvl="1">
              <a:lnSpc>
                <a:spcPct val="90000"/>
              </a:lnSpc>
              <a:buFont typeface="Wingdings" panose="05000000000000000000" pitchFamily="2" charset="2"/>
              <a:buNone/>
            </a:pP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nextLong</a:t>
            </a:r>
            <a:r>
              <a:rPr lang="en-US" altLang="zh-CN" b="0" dirty="0">
                <a:ea typeface="黑体" panose="02010609060101010101" pitchFamily="49" charset="-122"/>
                <a:cs typeface="Times New Roman" panose="02020603050405020304" pitchFamily="18" charset="0"/>
              </a:rPr>
              <a:t>(),</a:t>
            </a:r>
          </a:p>
          <a:p>
            <a:pPr lvl="1">
              <a:lnSpc>
                <a:spcPct val="90000"/>
              </a:lnSpc>
              <a:buFont typeface="Wingdings" panose="05000000000000000000" pitchFamily="2" charset="2"/>
              <a:buNone/>
            </a:pP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nextShort</a:t>
            </a:r>
            <a:r>
              <a:rPr lang="en-US" altLang="zh-CN" b="0" dirty="0">
                <a:ea typeface="黑体" panose="02010609060101010101" pitchFamily="49" charset="-122"/>
                <a:cs typeface="Times New Roman" panose="02020603050405020304" pitchFamily="18" charset="0"/>
              </a:rPr>
              <a:t>()</a:t>
            </a:r>
            <a:endParaRPr lang="zh-CN" altLang="en-US" b="0" dirty="0">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5008BAD6-370B-41A6-BB8A-ECB7558CC876}"/>
              </a:ext>
            </a:extLst>
          </p:cNvPr>
          <p:cNvSpPr txBox="1">
            <a:spLocks noChangeArrowheads="1"/>
          </p:cNvSpPr>
          <p:nvPr/>
        </p:nvSpPr>
        <p:spPr bwMode="auto">
          <a:xfrm>
            <a:off x="32412" y="188913"/>
            <a:ext cx="8682038" cy="6553046"/>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public class Example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public static void main(String[] </a:t>
            </a:r>
            <a:r>
              <a:rPr lang="en-US" altLang="zh-CN" sz="2400" b="1" dirty="0" err="1">
                <a:latin typeface="Times New Roman" panose="02020603050405020304" pitchFamily="18" charset="0"/>
                <a:cs typeface="Times New Roman" panose="02020603050405020304" pitchFamily="18" charset="0"/>
              </a:rPr>
              <a:t>args</a:t>
            </a: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try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 </a:t>
            </a:r>
            <a:r>
              <a:rPr lang="zh-CN" altLang="en-US" sz="2400" b="1" dirty="0">
                <a:latin typeface="Times New Roman" panose="02020603050405020304" pitchFamily="18" charset="0"/>
                <a:cs typeface="Times New Roman" panose="02020603050405020304" pitchFamily="18" charset="0"/>
              </a:rPr>
              <a:t>创建 </a:t>
            </a:r>
            <a:r>
              <a:rPr lang="en-US" altLang="zh-CN" sz="2400" b="1" dirty="0">
                <a:latin typeface="Times New Roman" panose="02020603050405020304" pitchFamily="18" charset="0"/>
                <a:cs typeface="Times New Roman" panose="02020603050405020304" pitchFamily="18" charset="0"/>
              </a:rPr>
              <a:t>Scanner </a:t>
            </a:r>
            <a:r>
              <a:rPr lang="zh-CN" altLang="en-US" sz="2400" b="1" dirty="0">
                <a:latin typeface="Times New Roman" panose="02020603050405020304" pitchFamily="18" charset="0"/>
                <a:cs typeface="Times New Roman" panose="02020603050405020304" pitchFamily="18" charset="0"/>
              </a:rPr>
              <a:t>对象，使用文件作为输入源</a:t>
            </a:r>
          </a:p>
          <a:p>
            <a:pPr marL="0" lvl="1">
              <a:buClr>
                <a:schemeClr val="accent2"/>
              </a:buClr>
              <a:buSzPct val="70000"/>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Scanner </a:t>
            </a:r>
            <a:r>
              <a:rPr lang="en-US" altLang="zh-CN" sz="2400" b="1" dirty="0" err="1">
                <a:latin typeface="Times New Roman" panose="02020603050405020304" pitchFamily="18" charset="0"/>
                <a:cs typeface="Times New Roman" panose="02020603050405020304" pitchFamily="18" charset="0"/>
              </a:rPr>
              <a:t>scanner</a:t>
            </a:r>
            <a:r>
              <a:rPr lang="en-US" altLang="zh-CN" sz="2400" b="1" dirty="0">
                <a:latin typeface="Times New Roman" panose="02020603050405020304" pitchFamily="18" charset="0"/>
                <a:cs typeface="Times New Roman" panose="02020603050405020304" pitchFamily="18" charset="0"/>
              </a:rPr>
              <a:t> = new Scanner(</a:t>
            </a:r>
            <a:r>
              <a:rPr lang="en-US" altLang="zh-CN" sz="2400" b="1" dirty="0">
                <a:solidFill>
                  <a:srgbClr val="00B0F0"/>
                </a:solidFill>
                <a:latin typeface="Times New Roman" panose="02020603050405020304" pitchFamily="18" charset="0"/>
                <a:cs typeface="Times New Roman" panose="02020603050405020304" pitchFamily="18" charset="0"/>
              </a:rPr>
              <a:t>new File("input.txt"</a:t>
            </a:r>
            <a:r>
              <a:rPr lang="en-US" altLang="zh-CN" sz="2400" b="1" dirty="0">
                <a:latin typeface="Times New Roman" panose="02020603050405020304" pitchFamily="18" charset="0"/>
                <a:cs typeface="Times New Roman" panose="02020603050405020304" pitchFamily="18" charset="0"/>
              </a:rPr>
              <a:t>));</a:t>
            </a:r>
          </a:p>
          <a:p>
            <a:pPr marL="0" lvl="1">
              <a:buClr>
                <a:schemeClr val="accent2"/>
              </a:buClr>
              <a:buSzPct val="70000"/>
            </a:pPr>
            <a:endParaRPr lang="en-US" altLang="zh-CN" sz="24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while (</a:t>
            </a:r>
            <a:r>
              <a:rPr lang="en-US" altLang="zh-CN" sz="2400" b="1" dirty="0" err="1">
                <a:latin typeface="Times New Roman" panose="02020603050405020304" pitchFamily="18" charset="0"/>
                <a:cs typeface="Times New Roman" panose="02020603050405020304" pitchFamily="18" charset="0"/>
              </a:rPr>
              <a:t>scanner.hasNextLine</a:t>
            </a: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String line = </a:t>
            </a:r>
            <a:r>
              <a:rPr lang="en-US" altLang="zh-CN" sz="2400" b="1" dirty="0" err="1">
                <a:latin typeface="Times New Roman" panose="02020603050405020304" pitchFamily="18" charset="0"/>
                <a:cs typeface="Times New Roman" panose="02020603050405020304" pitchFamily="18" charset="0"/>
              </a:rPr>
              <a:t>scanner.nextLine</a:t>
            </a:r>
            <a:r>
              <a:rPr lang="en-US" altLang="zh-CN" sz="2400" b="1" dirty="0">
                <a:latin typeface="Times New Roman" panose="02020603050405020304" pitchFamily="18" charset="0"/>
                <a:cs typeface="Times New Roman" panose="02020603050405020304" pitchFamily="18" charset="0"/>
              </a:rPr>
              <a:t>(); // </a:t>
            </a:r>
            <a:r>
              <a:rPr lang="zh-CN" altLang="en-US" sz="2400" b="1" dirty="0">
                <a:latin typeface="Times New Roman" panose="02020603050405020304" pitchFamily="18" charset="0"/>
                <a:cs typeface="Times New Roman" panose="02020603050405020304" pitchFamily="18" charset="0"/>
              </a:rPr>
              <a:t>从文件读取一行数据</a:t>
            </a:r>
          </a:p>
          <a:p>
            <a:pPr marL="0" lvl="1">
              <a:buClr>
                <a:schemeClr val="accent2"/>
              </a:buClr>
              <a:buSzPct val="70000"/>
            </a:pPr>
            <a:r>
              <a:rPr lang="zh-CN" altLang="en-US"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System.out.println</a:t>
            </a:r>
            <a:r>
              <a:rPr lang="en-US" altLang="zh-CN" sz="2400" b="1" dirty="0">
                <a:latin typeface="Times New Roman" panose="02020603050405020304" pitchFamily="18" charset="0"/>
                <a:cs typeface="Times New Roman" panose="02020603050405020304" pitchFamily="18" charset="0"/>
              </a:rPr>
              <a:t>(line);</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scanner.close</a:t>
            </a:r>
            <a:r>
              <a:rPr lang="en-US" altLang="zh-CN" sz="2400" b="1" dirty="0">
                <a:latin typeface="Times New Roman" panose="02020603050405020304" pitchFamily="18" charset="0"/>
                <a:cs typeface="Times New Roman" panose="02020603050405020304" pitchFamily="18" charset="0"/>
              </a:rPr>
              <a:t>();</a:t>
            </a:r>
          </a:p>
          <a:p>
            <a:pPr marL="0" lvl="1">
              <a:buClr>
                <a:schemeClr val="accent2"/>
              </a:buClr>
              <a:buSzPct val="70000"/>
            </a:pPr>
            <a:endParaRPr lang="en-US" altLang="zh-CN" sz="24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 catch (</a:t>
            </a:r>
            <a:r>
              <a:rPr lang="en-US" altLang="zh-CN" sz="2400" b="1" dirty="0" err="1">
                <a:latin typeface="Times New Roman" panose="02020603050405020304" pitchFamily="18" charset="0"/>
                <a:cs typeface="Times New Roman" panose="02020603050405020304" pitchFamily="18" charset="0"/>
              </a:rPr>
              <a:t>FileNotFoundException</a:t>
            </a:r>
            <a:r>
              <a:rPr lang="en-US" altLang="zh-CN" sz="2400" b="1" dirty="0">
                <a:latin typeface="Times New Roman" panose="02020603050405020304" pitchFamily="18" charset="0"/>
                <a:cs typeface="Times New Roman" panose="02020603050405020304" pitchFamily="18" charset="0"/>
              </a:rPr>
              <a:t> e)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e.printStackTrace</a:t>
            </a:r>
            <a:r>
              <a:rPr lang="en-US" altLang="zh-CN" sz="24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3054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5008BAD6-370B-41A6-BB8A-ECB7558CC876}"/>
              </a:ext>
            </a:extLst>
          </p:cNvPr>
          <p:cNvSpPr txBox="1">
            <a:spLocks noChangeArrowheads="1"/>
          </p:cNvSpPr>
          <p:nvPr/>
        </p:nvSpPr>
        <p:spPr bwMode="auto">
          <a:xfrm>
            <a:off x="32412" y="332656"/>
            <a:ext cx="8682038" cy="640930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public class Example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public static void main(String[] </a:t>
            </a:r>
            <a:r>
              <a:rPr lang="en-US" altLang="zh-CN" sz="2400" b="1" dirty="0" err="1">
                <a:latin typeface="Times New Roman" panose="02020603050405020304" pitchFamily="18" charset="0"/>
                <a:cs typeface="Times New Roman" panose="02020603050405020304" pitchFamily="18" charset="0"/>
              </a:rPr>
              <a:t>args</a:t>
            </a: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r>
              <a:rPr lang="en-US" altLang="zh-CN" sz="2400" b="1" dirty="0">
                <a:solidFill>
                  <a:srgbClr val="00B0F0"/>
                </a:solidFill>
                <a:latin typeface="Times New Roman" panose="02020603050405020304" pitchFamily="18" charset="0"/>
                <a:cs typeface="Times New Roman" panose="02020603050405020304" pitchFamily="18" charset="0"/>
              </a:rPr>
              <a:t>String input = "Hello World 123"</a:t>
            </a:r>
            <a:r>
              <a:rPr lang="en-US" altLang="zh-CN" sz="24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 </a:t>
            </a:r>
            <a:r>
              <a:rPr lang="zh-CN" altLang="en-US" sz="2400" b="1" dirty="0">
                <a:latin typeface="Times New Roman" panose="02020603050405020304" pitchFamily="18" charset="0"/>
                <a:cs typeface="Times New Roman" panose="02020603050405020304" pitchFamily="18" charset="0"/>
              </a:rPr>
              <a:t>创建 </a:t>
            </a:r>
            <a:r>
              <a:rPr lang="en-US" altLang="zh-CN" sz="2400" b="1" dirty="0">
                <a:latin typeface="Times New Roman" panose="02020603050405020304" pitchFamily="18" charset="0"/>
                <a:cs typeface="Times New Roman" panose="02020603050405020304" pitchFamily="18" charset="0"/>
              </a:rPr>
              <a:t>Scanner </a:t>
            </a:r>
            <a:r>
              <a:rPr lang="zh-CN" altLang="en-US" sz="2400" b="1" dirty="0">
                <a:latin typeface="Times New Roman" panose="02020603050405020304" pitchFamily="18" charset="0"/>
                <a:cs typeface="Times New Roman" panose="02020603050405020304" pitchFamily="18" charset="0"/>
              </a:rPr>
              <a:t>对象，使用字符串作为输入源</a:t>
            </a:r>
          </a:p>
          <a:p>
            <a:pPr marL="0" lvl="1">
              <a:buClr>
                <a:schemeClr val="accent2"/>
              </a:buClr>
              <a:buSzPct val="70000"/>
            </a:pPr>
            <a:r>
              <a:rPr lang="zh-CN" altLang="en-US"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Scanner </a:t>
            </a:r>
            <a:r>
              <a:rPr lang="en-US" altLang="zh-CN" sz="2400" b="1" dirty="0" err="1">
                <a:latin typeface="Times New Roman" panose="02020603050405020304" pitchFamily="18" charset="0"/>
                <a:cs typeface="Times New Roman" panose="02020603050405020304" pitchFamily="18" charset="0"/>
              </a:rPr>
              <a:t>scanner</a:t>
            </a:r>
            <a:r>
              <a:rPr lang="en-US" altLang="zh-CN" sz="2400" b="1" dirty="0">
                <a:latin typeface="Times New Roman" panose="02020603050405020304" pitchFamily="18" charset="0"/>
                <a:cs typeface="Times New Roman" panose="02020603050405020304" pitchFamily="18" charset="0"/>
              </a:rPr>
              <a:t> = new Scanner(input);</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while (</a:t>
            </a:r>
            <a:r>
              <a:rPr lang="en-US" altLang="zh-CN" sz="2400" b="1" dirty="0" err="1">
                <a:latin typeface="Times New Roman" panose="02020603050405020304" pitchFamily="18" charset="0"/>
                <a:cs typeface="Times New Roman" panose="02020603050405020304" pitchFamily="18" charset="0"/>
              </a:rPr>
              <a:t>scanner.hasNext</a:t>
            </a: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if (</a:t>
            </a:r>
            <a:r>
              <a:rPr lang="en-US" altLang="zh-CN" sz="2400" b="1" dirty="0" err="1">
                <a:latin typeface="Times New Roman" panose="02020603050405020304" pitchFamily="18" charset="0"/>
                <a:cs typeface="Times New Roman" panose="02020603050405020304" pitchFamily="18" charset="0"/>
              </a:rPr>
              <a:t>scanner.hasNextInt</a:t>
            </a: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int number = </a:t>
            </a:r>
            <a:r>
              <a:rPr lang="en-US" altLang="zh-CN" sz="2400" b="1" dirty="0" err="1">
                <a:latin typeface="Times New Roman" panose="02020603050405020304" pitchFamily="18" charset="0"/>
                <a:cs typeface="Times New Roman" panose="02020603050405020304" pitchFamily="18" charset="0"/>
              </a:rPr>
              <a:t>scanner.nextInt</a:t>
            </a:r>
            <a:r>
              <a:rPr lang="en-US" altLang="zh-CN" sz="2400" b="1" dirty="0">
                <a:latin typeface="Times New Roman" panose="02020603050405020304" pitchFamily="18" charset="0"/>
                <a:cs typeface="Times New Roman" panose="02020603050405020304" pitchFamily="18" charset="0"/>
              </a:rPr>
              <a:t>(); // </a:t>
            </a:r>
            <a:r>
              <a:rPr lang="zh-CN" altLang="en-US" sz="2400" b="1" dirty="0">
                <a:latin typeface="Times New Roman" panose="02020603050405020304" pitchFamily="18" charset="0"/>
                <a:cs typeface="Times New Roman" panose="02020603050405020304" pitchFamily="18" charset="0"/>
              </a:rPr>
              <a:t>从字符串读取整数</a:t>
            </a:r>
          </a:p>
          <a:p>
            <a:pPr marL="0" lvl="1">
              <a:buClr>
                <a:schemeClr val="accent2"/>
              </a:buClr>
              <a:buSzPct val="70000"/>
            </a:pPr>
            <a:r>
              <a:rPr lang="zh-CN" altLang="en-US"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System.out.println</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整数：</a:t>
            </a:r>
            <a:r>
              <a:rPr lang="en-US" altLang="zh-CN" sz="2400" b="1" dirty="0">
                <a:latin typeface="Times New Roman" panose="02020603050405020304" pitchFamily="18" charset="0"/>
                <a:cs typeface="Times New Roman" panose="02020603050405020304" pitchFamily="18" charset="0"/>
              </a:rPr>
              <a:t>" + number);</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 else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String word = </a:t>
            </a:r>
            <a:r>
              <a:rPr lang="en-US" altLang="zh-CN" sz="2400" b="1" dirty="0" err="1">
                <a:latin typeface="Times New Roman" panose="02020603050405020304" pitchFamily="18" charset="0"/>
                <a:cs typeface="Times New Roman" panose="02020603050405020304" pitchFamily="18" charset="0"/>
              </a:rPr>
              <a:t>scanner.next</a:t>
            </a:r>
            <a:r>
              <a:rPr lang="en-US" altLang="zh-CN" sz="2400" b="1" dirty="0">
                <a:latin typeface="Times New Roman" panose="02020603050405020304" pitchFamily="18" charset="0"/>
                <a:cs typeface="Times New Roman" panose="02020603050405020304" pitchFamily="18" charset="0"/>
              </a:rPr>
              <a:t>(); // </a:t>
            </a:r>
            <a:r>
              <a:rPr lang="zh-CN" altLang="en-US" sz="2400" b="1" dirty="0">
                <a:latin typeface="Times New Roman" panose="02020603050405020304" pitchFamily="18" charset="0"/>
                <a:cs typeface="Times New Roman" panose="02020603050405020304" pitchFamily="18" charset="0"/>
              </a:rPr>
              <a:t>从字符串读取单词</a:t>
            </a:r>
          </a:p>
          <a:p>
            <a:pPr marL="0" lvl="1">
              <a:buClr>
                <a:schemeClr val="accent2"/>
              </a:buClr>
              <a:buSzPct val="70000"/>
            </a:pPr>
            <a:r>
              <a:rPr lang="zh-CN" altLang="en-US"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System.out.println</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单词：</a:t>
            </a:r>
            <a:r>
              <a:rPr lang="en-US" altLang="zh-CN" sz="2400" b="1" dirty="0">
                <a:latin typeface="Times New Roman" panose="02020603050405020304" pitchFamily="18" charset="0"/>
                <a:cs typeface="Times New Roman" panose="02020603050405020304" pitchFamily="18" charset="0"/>
              </a:rPr>
              <a:t>" + word);</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scanner.close</a:t>
            </a:r>
            <a:r>
              <a:rPr lang="en-US" altLang="zh-CN" sz="24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400" b="1" dirty="0">
                <a:latin typeface="Times New Roman" panose="02020603050405020304" pitchFamily="18" charset="0"/>
                <a:cs typeface="Times New Roman" panose="02020603050405020304" pitchFamily="18" charset="0"/>
              </a:rPr>
              <a:t>}</a:t>
            </a:r>
          </a:p>
        </p:txBody>
      </p:sp>
      <p:pic>
        <p:nvPicPr>
          <p:cNvPr id="3" name="图片 2">
            <a:extLst>
              <a:ext uri="{FF2B5EF4-FFF2-40B4-BE49-F238E27FC236}">
                <a16:creationId xmlns:a16="http://schemas.microsoft.com/office/drawing/2014/main" id="{749D4990-3AB4-4003-A656-15BD9EB27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2120" y="5267215"/>
            <a:ext cx="2925712" cy="1412776"/>
          </a:xfrm>
          <a:prstGeom prst="rect">
            <a:avLst/>
          </a:prstGeom>
        </p:spPr>
      </p:pic>
    </p:spTree>
    <p:extLst>
      <p:ext uri="{BB962C8B-B14F-4D97-AF65-F5344CB8AC3E}">
        <p14:creationId xmlns:p14="http://schemas.microsoft.com/office/powerpoint/2010/main" val="3621742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64515"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处理流</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50000"/>
              </a:lnSpc>
            </a:pPr>
            <a:r>
              <a:rPr lang="zh-CN" altLang="en-US" b="0" dirty="0">
                <a:ea typeface="黑体" panose="02010609060101010101" pitchFamily="49" charset="-122"/>
                <a:cs typeface="Times New Roman" panose="02020603050405020304" pitchFamily="18" charset="0"/>
              </a:rPr>
              <a:t>不直接与数据源或目标相连，而是基于另一个流来构造</a:t>
            </a:r>
          </a:p>
          <a:p>
            <a:pPr lvl="1">
              <a:lnSpc>
                <a:spcPct val="150000"/>
              </a:lnSpc>
            </a:pPr>
            <a:r>
              <a:rPr lang="zh-CN" altLang="en-US" b="0" dirty="0">
                <a:solidFill>
                  <a:srgbClr val="0000FF"/>
                </a:solidFill>
                <a:ea typeface="黑体" panose="02010609060101010101" pitchFamily="49" charset="-122"/>
                <a:cs typeface="Times New Roman" panose="02020603050405020304" pitchFamily="18" charset="0"/>
              </a:rPr>
              <a:t>从流读写数据的同时对数据进行处理</a:t>
            </a:r>
          </a:p>
          <a:p>
            <a:pPr lvl="1">
              <a:lnSpc>
                <a:spcPct val="150000"/>
              </a:lnSpc>
            </a:pPr>
            <a:r>
              <a:rPr lang="en-US" altLang="zh-CN" b="0" dirty="0" err="1">
                <a:ea typeface="黑体" panose="02010609060101010101" pitchFamily="49" charset="-122"/>
                <a:cs typeface="Times New Roman" panose="02020603050405020304" pitchFamily="18" charset="0"/>
              </a:rPr>
              <a:t>InputStreamReader</a:t>
            </a:r>
            <a:r>
              <a:rPr lang="zh-CN" altLang="en-US" b="0" dirty="0">
                <a:ea typeface="黑体" panose="02010609060101010101" pitchFamily="49" charset="-122"/>
                <a:cs typeface="Times New Roman" panose="02020603050405020304" pitchFamily="18" charset="0"/>
              </a:rPr>
              <a:t>和</a:t>
            </a:r>
            <a:r>
              <a:rPr lang="en-US" altLang="zh-CN" b="0" dirty="0" err="1">
                <a:ea typeface="黑体" panose="02010609060101010101" pitchFamily="49" charset="-122"/>
                <a:cs typeface="Times New Roman" panose="02020603050405020304" pitchFamily="18" charset="0"/>
              </a:rPr>
              <a:t>BufferedReader</a:t>
            </a:r>
            <a:r>
              <a:rPr lang="zh-CN" altLang="en-US" b="0" dirty="0">
                <a:ea typeface="黑体" panose="02010609060101010101" pitchFamily="49" charset="-122"/>
                <a:cs typeface="Times New Roman" panose="02020603050405020304" pitchFamily="18" charset="0"/>
              </a:rPr>
              <a:t>都属于处理流</a:t>
            </a:r>
            <a:endParaRPr lang="en-US" altLang="zh-CN" b="0" dirty="0">
              <a:ea typeface="黑体" panose="02010609060101010101" pitchFamily="49" charset="-122"/>
              <a:cs typeface="Times New Roman" panose="02020603050405020304" pitchFamily="18" charset="0"/>
            </a:endParaRPr>
          </a:p>
          <a:p>
            <a:pPr lvl="2">
              <a:lnSpc>
                <a:spcPct val="150000"/>
              </a:lnSpc>
            </a:pP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InputStreamReader</a:t>
            </a:r>
            <a:r>
              <a:rPr lang="zh-CN" altLang="en-US" dirty="0">
                <a:latin typeface="Times New Roman" panose="02020603050405020304" pitchFamily="18" charset="0"/>
                <a:ea typeface="黑体" panose="02010609060101010101" pitchFamily="49" charset="-122"/>
                <a:cs typeface="Times New Roman" panose="02020603050405020304" pitchFamily="18" charset="0"/>
              </a:rPr>
              <a:t>读取字节并转换为字符</a:t>
            </a:r>
          </a:p>
          <a:p>
            <a:pPr lvl="2">
              <a:lnSpc>
                <a:spcPct val="150000"/>
              </a:lnSpc>
            </a:pP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BufferedReader</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对另一个流产生的数据进行缓冲</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2"/>
            <a:r>
              <a:rPr lang="zh-CN" altLang="en-GB" dirty="0">
                <a:latin typeface="Arial Unicode MS" panose="020B0604020202020204" pitchFamily="34" charset="-122"/>
                <a:ea typeface="楷体_GB2312" pitchFamily="49" charset="-122"/>
              </a:rPr>
              <a:t>用一行表达式实现：</a:t>
            </a:r>
            <a:endParaRPr lang="en-GB" altLang="zh-CN" dirty="0">
              <a:latin typeface="Arial Unicode MS" panose="020B0604020202020204" pitchFamily="34" charset="-122"/>
              <a:ea typeface="楷体_GB2312" pitchFamily="49" charset="-122"/>
            </a:endParaRPr>
          </a:p>
          <a:p>
            <a:pPr>
              <a:buFont typeface="Wingdings" panose="05000000000000000000" pitchFamily="2" charset="2"/>
              <a:buNone/>
            </a:pPr>
            <a:r>
              <a:rPr lang="en-GB" altLang="zh-CN" sz="200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GB" altLang="zh-CN" sz="2000" dirty="0" err="1">
                <a:solidFill>
                  <a:schemeClr val="tx2"/>
                </a:solidFill>
                <a:latin typeface="Times New Roman" panose="02020603050405020304" pitchFamily="18" charset="0"/>
                <a:ea typeface="宋体" panose="02010600030101010101" pitchFamily="2" charset="-122"/>
                <a:cs typeface="Times New Roman" panose="02020603050405020304" pitchFamily="18" charset="0"/>
              </a:rPr>
              <a:t>BufferedReader</a:t>
            </a:r>
            <a:r>
              <a:rPr lang="en-GB"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GB" altLang="zh-CN" sz="2000" dirty="0" err="1">
                <a:latin typeface="Times New Roman" panose="02020603050405020304" pitchFamily="18" charset="0"/>
                <a:ea typeface="宋体" panose="02010600030101010101" pitchFamily="2" charset="-122"/>
                <a:cs typeface="Times New Roman" panose="02020603050405020304" pitchFamily="18" charset="0"/>
              </a:rPr>
              <a:t>stdin</a:t>
            </a:r>
            <a:r>
              <a:rPr lang="en-GB" altLang="zh-CN" sz="2000" dirty="0">
                <a:latin typeface="Times New Roman" panose="02020603050405020304" pitchFamily="18" charset="0"/>
                <a:ea typeface="宋体" panose="02010600030101010101" pitchFamily="2" charset="-122"/>
                <a:cs typeface="Times New Roman" panose="02020603050405020304" pitchFamily="18" charset="0"/>
              </a:rPr>
              <a:t> = new </a:t>
            </a:r>
            <a:r>
              <a:rPr lang="en-GB" altLang="zh-CN" sz="2000" dirty="0" err="1">
                <a:solidFill>
                  <a:schemeClr val="tx2"/>
                </a:solidFill>
                <a:latin typeface="Times New Roman" panose="02020603050405020304" pitchFamily="18" charset="0"/>
                <a:ea typeface="宋体" panose="02010600030101010101" pitchFamily="2" charset="-122"/>
                <a:cs typeface="Times New Roman" panose="02020603050405020304" pitchFamily="18" charset="0"/>
              </a:rPr>
              <a:t>BufferedReader</a:t>
            </a:r>
            <a:endParaRPr lang="en-GB" altLang="zh-CN" sz="2000"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anose="05000000000000000000" pitchFamily="2" charset="2"/>
              <a:buNone/>
            </a:pPr>
            <a:r>
              <a:rPr lang="en-GB" altLang="zh-CN" sz="200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GB" altLang="zh-CN" sz="2000" dirty="0">
                <a:latin typeface="Times New Roman" panose="02020603050405020304" pitchFamily="18" charset="0"/>
                <a:ea typeface="宋体" panose="02010600030101010101" pitchFamily="2" charset="-122"/>
                <a:cs typeface="Times New Roman" panose="02020603050405020304" pitchFamily="18" charset="0"/>
              </a:rPr>
              <a:t> (new </a:t>
            </a:r>
            <a:r>
              <a:rPr lang="en-GB" altLang="zh-CN" sz="2000" dirty="0" err="1">
                <a:solidFill>
                  <a:schemeClr val="tx2"/>
                </a:solidFill>
                <a:latin typeface="Times New Roman" panose="02020603050405020304" pitchFamily="18" charset="0"/>
                <a:ea typeface="宋体" panose="02010600030101010101" pitchFamily="2" charset="-122"/>
                <a:cs typeface="Times New Roman" panose="02020603050405020304" pitchFamily="18" charset="0"/>
              </a:rPr>
              <a:t>nputStreamReader</a:t>
            </a:r>
            <a:r>
              <a:rPr lang="en-GB"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GB"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System.in</a:t>
            </a:r>
            <a:r>
              <a:rPr lang="en-GB" altLang="zh-CN" sz="2000" dirty="0">
                <a:latin typeface="Times New Roman" panose="02020603050405020304" pitchFamily="18" charset="0"/>
                <a:ea typeface="宋体" panose="02010600030101010101" pitchFamily="2" charset="-122"/>
                <a:cs typeface="Times New Roman" panose="02020603050405020304" pitchFamily="18" charset="0"/>
              </a:rPr>
              <a:t>) ); </a:t>
            </a:r>
          </a:p>
          <a:p>
            <a:pPr lvl="2">
              <a:lnSpc>
                <a:spcPct val="150000"/>
              </a:lnSpc>
            </a:pPr>
            <a:endParaRPr lang="zh-CN" altLang="en-US" sz="1800" b="1" dirty="0">
              <a:ea typeface="楷体_GB2312" pitchFamily="49" charset="-122"/>
            </a:endParaRPr>
          </a:p>
        </p:txBody>
      </p:sp>
      <p:grpSp>
        <p:nvGrpSpPr>
          <p:cNvPr id="4" name="Group 4"/>
          <p:cNvGrpSpPr>
            <a:grpSpLocks/>
          </p:cNvGrpSpPr>
          <p:nvPr/>
        </p:nvGrpSpPr>
        <p:grpSpPr bwMode="auto">
          <a:xfrm>
            <a:off x="449263" y="4437063"/>
            <a:ext cx="8245475" cy="2063750"/>
            <a:chOff x="384" y="1584"/>
            <a:chExt cx="4992" cy="1152"/>
          </a:xfrm>
        </p:grpSpPr>
        <p:grpSp>
          <p:nvGrpSpPr>
            <p:cNvPr id="64517" name="Group 5"/>
            <p:cNvGrpSpPr>
              <a:grpSpLocks/>
            </p:cNvGrpSpPr>
            <p:nvPr/>
          </p:nvGrpSpPr>
          <p:grpSpPr bwMode="auto">
            <a:xfrm>
              <a:off x="384" y="1584"/>
              <a:ext cx="4992" cy="1152"/>
              <a:chOff x="-2" y="-2"/>
              <a:chExt cx="5764" cy="686"/>
            </a:xfrm>
          </p:grpSpPr>
          <p:grpSp>
            <p:nvGrpSpPr>
              <p:cNvPr id="64519" name="Group 6"/>
              <p:cNvGrpSpPr>
                <a:grpSpLocks/>
              </p:cNvGrpSpPr>
              <p:nvPr/>
            </p:nvGrpSpPr>
            <p:grpSpPr bwMode="auto">
              <a:xfrm>
                <a:off x="0" y="0"/>
                <a:ext cx="5760" cy="682"/>
                <a:chOff x="0" y="0"/>
                <a:chExt cx="5760" cy="682"/>
              </a:xfrm>
            </p:grpSpPr>
            <p:sp>
              <p:nvSpPr>
                <p:cNvPr id="64521" name="Rectangle 7"/>
                <p:cNvSpPr>
                  <a:spLocks noChangeArrowheads="1"/>
                </p:cNvSpPr>
                <p:nvPr/>
              </p:nvSpPr>
              <p:spPr bwMode="auto">
                <a:xfrm>
                  <a:off x="0" y="0"/>
                  <a:ext cx="5760" cy="682"/>
                </a:xfrm>
                <a:prstGeom prst="rect">
                  <a:avLst/>
                </a:prstGeom>
                <a:solidFill>
                  <a:srgbClr val="F8FFF4"/>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64522" name="Group 8"/>
                <p:cNvGrpSpPr>
                  <a:grpSpLocks/>
                </p:cNvGrpSpPr>
                <p:nvPr/>
              </p:nvGrpSpPr>
              <p:grpSpPr bwMode="auto">
                <a:xfrm>
                  <a:off x="0" y="0"/>
                  <a:ext cx="5760" cy="682"/>
                  <a:chOff x="0" y="0"/>
                  <a:chExt cx="5760" cy="682"/>
                </a:xfrm>
              </p:grpSpPr>
              <p:sp>
                <p:nvSpPr>
                  <p:cNvPr id="64523" name="Rectangle 9"/>
                  <p:cNvSpPr>
                    <a:spLocks noChangeArrowheads="1"/>
                  </p:cNvSpPr>
                  <p:nvPr/>
                </p:nvSpPr>
                <p:spPr bwMode="auto">
                  <a:xfrm>
                    <a:off x="0" y="0"/>
                    <a:ext cx="5760" cy="682"/>
                  </a:xfrm>
                  <a:prstGeom prst="rect">
                    <a:avLst/>
                  </a:prstGeom>
                  <a:solidFill>
                    <a:srgbClr val="F8FFF4"/>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GB"/>
                      <a:t>  </a:t>
                    </a:r>
                    <a:r>
                      <a:rPr lang="zh-CN" altLang="en-GB" sz="6500"/>
                      <a:t> </a:t>
                    </a:r>
                    <a:r>
                      <a:rPr lang="zh-CN" altLang="en-GB"/>
                      <a:t>                                                                                         </a:t>
                    </a:r>
                  </a:p>
                </p:txBody>
              </p:sp>
              <p:sp>
                <p:nvSpPr>
                  <p:cNvPr id="64524" name="Rectangle 10"/>
                  <p:cNvSpPr>
                    <a:spLocks noChangeArrowheads="1"/>
                  </p:cNvSpPr>
                  <p:nvPr/>
                </p:nvSpPr>
                <p:spPr bwMode="auto">
                  <a:xfrm>
                    <a:off x="0" y="0"/>
                    <a:ext cx="5760" cy="682"/>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64520" name="Rectangle 11"/>
              <p:cNvSpPr>
                <a:spLocks noChangeArrowheads="1"/>
              </p:cNvSpPr>
              <p:nvPr/>
            </p:nvSpPr>
            <p:spPr bwMode="auto">
              <a:xfrm>
                <a:off x="-2" y="-2"/>
                <a:ext cx="5764" cy="686"/>
              </a:xfrm>
              <a:prstGeom prst="rect">
                <a:avLst/>
              </a:prstGeom>
              <a:noFill/>
              <a:ln w="6350"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pic>
          <p:nvPicPr>
            <p:cNvPr id="64518" name="Picture 12" descr="connectedStrea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1848"/>
              <a:ext cx="4298" cy="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3" name="直接连接符 12"/>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6.1.2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预定义的</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流类概述</a:t>
            </a:r>
            <a:endParaRPr lang="zh-CN" altLang="en-US" sz="3200" dirty="0">
              <a:ea typeface="宋体" panose="02010600030101010101" pitchFamily="2" charset="-122"/>
              <a:cs typeface="Times New Roman" panose="02020603050405020304" pitchFamily="18" charset="0"/>
            </a:endParaRPr>
          </a:p>
        </p:txBody>
      </p:sp>
      <p:sp>
        <p:nvSpPr>
          <p:cNvPr id="65539" name="内容占位符 2"/>
          <p:cNvSpPr>
            <a:spLocks noGrp="1"/>
          </p:cNvSpPr>
          <p:nvPr>
            <p:ph idx="1"/>
          </p:nvPr>
        </p:nvSpPr>
        <p:spPr>
          <a:xfrm>
            <a:off x="468313" y="981075"/>
            <a:ext cx="7543800" cy="2447925"/>
          </a:xfrm>
        </p:spPr>
        <p:txBody>
          <a:bodyPr/>
          <a:lstStyle/>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异常</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b="0" dirty="0">
                <a:ea typeface="黑体" panose="02010609060101010101" pitchFamily="49" charset="-122"/>
                <a:cs typeface="Times New Roman" panose="02020603050405020304" pitchFamily="18" charset="0"/>
              </a:rPr>
              <a:t>多数</a:t>
            </a:r>
            <a:r>
              <a:rPr lang="en-US" altLang="zh-CN" b="0" dirty="0">
                <a:ea typeface="黑体" panose="02010609060101010101" pitchFamily="49" charset="-122"/>
                <a:cs typeface="Times New Roman" panose="02020603050405020304" pitchFamily="18" charset="0"/>
              </a:rPr>
              <a:t>IO</a:t>
            </a:r>
            <a:r>
              <a:rPr lang="zh-CN" altLang="en-US" b="0" dirty="0">
                <a:ea typeface="黑体" panose="02010609060101010101" pitchFamily="49" charset="-122"/>
                <a:cs typeface="Times New Roman" panose="02020603050405020304" pitchFamily="18" charset="0"/>
              </a:rPr>
              <a:t>方法在遇到错误时会抛出异常，因此调用这些方法时必须</a:t>
            </a:r>
          </a:p>
          <a:p>
            <a:pPr lvl="2">
              <a:lnSpc>
                <a:spcPct val="120000"/>
              </a:lnSpc>
            </a:pP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在方法头声明抛出</a:t>
            </a:r>
            <a:r>
              <a:rPr lang="en-US" altLang="zh-CN"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IOException</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异常</a:t>
            </a:r>
          </a:p>
          <a:p>
            <a:pPr lvl="2">
              <a:lnSpc>
                <a:spcPct val="120000"/>
              </a:lnSpc>
            </a:pP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或者在</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try</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块中执行</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IO，</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然后捕获</a:t>
            </a:r>
            <a:r>
              <a:rPr lang="en-US" altLang="zh-CN"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IOException</a:t>
            </a: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260648"/>
            <a:ext cx="6858000" cy="648419"/>
          </a:xfrm>
        </p:spPr>
        <p:txBody>
          <a:bodyPr/>
          <a:lstStyle/>
          <a:p>
            <a:pPr marL="838200" indent="-838200" eaLnBrk="1" hangingPunct="1"/>
            <a:r>
              <a:rPr lang="zh-CN" altLang="en-US" b="0" dirty="0">
                <a:latin typeface="Times New Roman" panose="02020603050405020304" pitchFamily="18" charset="0"/>
                <a:ea typeface="黑体" panose="02010609060101010101" pitchFamily="49" charset="-122"/>
                <a:cs typeface="Times New Roman" panose="02020603050405020304" pitchFamily="18" charset="0"/>
              </a:rPr>
              <a:t>第六章 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输出流和文件</a:t>
            </a:r>
          </a:p>
        </p:txBody>
      </p:sp>
      <p:sp>
        <p:nvSpPr>
          <p:cNvPr id="66563" name="Rectangle 3"/>
          <p:cNvSpPr>
            <a:spLocks noGrp="1" noChangeArrowheads="1"/>
          </p:cNvSpPr>
          <p:nvPr>
            <p:ph idx="1"/>
          </p:nvPr>
        </p:nvSpPr>
        <p:spPr>
          <a:xfrm>
            <a:off x="609600" y="1295400"/>
            <a:ext cx="7467600" cy="5257800"/>
          </a:xfrm>
        </p:spPr>
        <p:txBody>
          <a:bodyPr/>
          <a:lstStyle/>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a:t>
            </a:r>
          </a:p>
          <a:p>
            <a:pPr marL="609600" indent="-609600" eaLnBrk="1" hangingPunct="1">
              <a:buFontTx/>
              <a:buNone/>
            </a:pPr>
            <a:r>
              <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6.2 </a:t>
            </a:r>
            <a:r>
              <a:rPr lang="zh-CN" altLang="en-US"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文件读写</a:t>
            </a:r>
            <a:endPar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b="0" dirty="0">
                <a:solidFill>
                  <a:srgbClr val="C00000"/>
                </a:solidFill>
                <a:ea typeface="黑体" panose="02010609060101010101" pitchFamily="49" charset="-122"/>
                <a:cs typeface="Times New Roman" panose="02020603050405020304" pitchFamily="18" charset="0"/>
              </a:rPr>
              <a:t>File</a:t>
            </a:r>
            <a:r>
              <a:rPr lang="zh-CN" altLang="en-US" b="0" dirty="0">
                <a:solidFill>
                  <a:srgbClr val="C00000"/>
                </a:solidFill>
                <a:ea typeface="黑体" panose="02010609060101010101" pitchFamily="49" charset="-122"/>
                <a:cs typeface="Times New Roman" panose="02020603050405020304" pitchFamily="18" charset="0"/>
              </a:rPr>
              <a:t>类</a:t>
            </a:r>
            <a:endParaRPr lang="en-US" altLang="zh-CN" b="0" dirty="0">
              <a:solidFill>
                <a:srgbClr val="C00000"/>
              </a:solidFill>
              <a:ea typeface="黑体" panose="02010609060101010101" pitchFamily="49" charset="-122"/>
              <a:cs typeface="Times New Roman" panose="02020603050405020304" pitchFamily="18" charset="0"/>
            </a:endParaRPr>
          </a:p>
          <a:p>
            <a:pPr lvl="1" eaLnBrk="1" hangingPunct="1"/>
            <a:r>
              <a:rPr lang="zh-CN" altLang="en-US" b="0" dirty="0">
                <a:ea typeface="黑体" panose="02010609060101010101" pitchFamily="49" charset="-122"/>
                <a:cs typeface="Times New Roman" panose="02020603050405020304" pitchFamily="18" charset="0"/>
              </a:rPr>
              <a:t>写二进制文件</a:t>
            </a:r>
          </a:p>
          <a:p>
            <a:pPr lvl="1" eaLnBrk="1" hangingPunct="1"/>
            <a:r>
              <a:rPr lang="zh-CN" altLang="en-US" b="0" dirty="0">
                <a:ea typeface="黑体" panose="02010609060101010101" pitchFamily="49" charset="-122"/>
                <a:cs typeface="Times New Roman" panose="02020603050405020304" pitchFamily="18" charset="0"/>
              </a:rPr>
              <a:t>读二进制文件</a:t>
            </a:r>
          </a:p>
          <a:p>
            <a:pPr lvl="1" eaLnBrk="1" hangingPunct="1"/>
            <a:r>
              <a:rPr lang="zh-CN" altLang="en-US" b="0" dirty="0">
                <a:ea typeface="黑体" panose="02010609060101010101" pitchFamily="49" charset="-122"/>
                <a:cs typeface="Times New Roman" panose="02020603050405020304" pitchFamily="18" charset="0"/>
              </a:rPr>
              <a:t>读文本文件</a:t>
            </a:r>
          </a:p>
          <a:p>
            <a:pPr lvl="1" eaLnBrk="1" hangingPunct="1"/>
            <a:r>
              <a:rPr lang="zh-CN" altLang="en-US" b="0" dirty="0">
                <a:ea typeface="黑体" panose="02010609060101010101" pitchFamily="49" charset="-122"/>
                <a:cs typeface="Times New Roman" panose="02020603050405020304" pitchFamily="18" charset="0"/>
              </a:rPr>
              <a:t>写文本文件</a:t>
            </a:r>
          </a:p>
          <a:p>
            <a:pPr lvl="1" eaLnBrk="1" hangingPunct="1"/>
            <a:r>
              <a:rPr lang="zh-CN" altLang="en-US" b="0" dirty="0">
                <a:ea typeface="黑体" panose="02010609060101010101" pitchFamily="49" charset="-122"/>
                <a:cs typeface="Times New Roman" panose="02020603050405020304" pitchFamily="18" charset="0"/>
              </a:rPr>
              <a:t>对象序列化</a:t>
            </a:r>
          </a:p>
          <a:p>
            <a:pPr lvl="1" eaLnBrk="1" hangingPunct="1"/>
            <a:r>
              <a:rPr lang="zh-CN" altLang="en-US" b="0" dirty="0">
                <a:ea typeface="黑体" panose="02010609060101010101" pitchFamily="49" charset="-122"/>
                <a:cs typeface="Times New Roman" panose="02020603050405020304" pitchFamily="18" charset="0"/>
              </a:rPr>
              <a:t>随机文件读写</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p:txBody>
          <a:bodyPr/>
          <a:lstStyle/>
          <a:p>
            <a:pPr marL="342900" indent="-342900"/>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sp>
        <p:nvSpPr>
          <p:cNvPr id="113667" name="内容占位符 2"/>
          <p:cNvSpPr>
            <a:spLocks noGrp="1"/>
          </p:cNvSpPr>
          <p:nvPr>
            <p:ph idx="1"/>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表示磁盘文件信息</a:t>
            </a:r>
          </a:p>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定义了一些与平台无关的方法来操纵文件</a:t>
            </a:r>
          </a:p>
          <a:p>
            <a:pPr lvl="1"/>
            <a:r>
              <a:rPr lang="zh-CN" altLang="en-GB" b="0" dirty="0">
                <a:ea typeface="黑体" panose="02010609060101010101" pitchFamily="49" charset="-122"/>
                <a:cs typeface="Times New Roman" panose="02020603050405020304" pitchFamily="18" charset="0"/>
              </a:rPr>
              <a:t>创建、删除文件</a:t>
            </a:r>
          </a:p>
          <a:p>
            <a:pPr lvl="1"/>
            <a:r>
              <a:rPr lang="zh-CN" altLang="en-GB" b="0" dirty="0">
                <a:ea typeface="黑体" panose="02010609060101010101" pitchFamily="49" charset="-122"/>
                <a:cs typeface="Times New Roman" panose="02020603050405020304" pitchFamily="18" charset="0"/>
              </a:rPr>
              <a:t>重命名文件</a:t>
            </a:r>
          </a:p>
          <a:p>
            <a:pPr lvl="1"/>
            <a:r>
              <a:rPr lang="zh-CN" altLang="en-GB" b="0" dirty="0">
                <a:ea typeface="黑体" panose="02010609060101010101" pitchFamily="49" charset="-122"/>
                <a:cs typeface="Times New Roman" panose="02020603050405020304" pitchFamily="18" charset="0"/>
              </a:rPr>
              <a:t>判断文件的读写权限及是否存在</a:t>
            </a:r>
          </a:p>
          <a:p>
            <a:pPr lvl="1"/>
            <a:r>
              <a:rPr lang="zh-CN" altLang="en-GB" b="0" dirty="0">
                <a:ea typeface="黑体" panose="02010609060101010101" pitchFamily="49" charset="-122"/>
                <a:cs typeface="Times New Roman" panose="02020603050405020304" pitchFamily="18" charset="0"/>
              </a:rPr>
              <a:t>设置和查询文件的最近修改时间等</a:t>
            </a:r>
          </a:p>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构造文件流可以使用</a:t>
            </a:r>
            <a:r>
              <a:rPr lang="en-GB" altLang="zh-CN" b="0" dirty="0">
                <a:latin typeface="Times New Roman" panose="02020603050405020304" pitchFamily="18" charset="0"/>
                <a:ea typeface="黑体" panose="02010609060101010101" pitchFamily="49" charset="-122"/>
                <a:cs typeface="Times New Roman" panose="02020603050405020304" pitchFamily="18" charset="0"/>
              </a:rPr>
              <a:t>File</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类的对象作为参数</a:t>
            </a:r>
            <a:endParaRPr lang="en-GB" altLang="zh-CN" b="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1" name="Group 3"/>
          <p:cNvGraphicFramePr>
            <a:graphicFrameLocks noGrp="1"/>
          </p:cNvGraphicFramePr>
          <p:nvPr>
            <p:ph idx="4294967295"/>
          </p:nvPr>
        </p:nvGraphicFramePr>
        <p:xfrm>
          <a:off x="446088" y="260350"/>
          <a:ext cx="8229600" cy="6523082"/>
        </p:xfrm>
        <a:graphic>
          <a:graphicData uri="http://schemas.openxmlformats.org/drawingml/2006/table">
            <a:tbl>
              <a:tblPr/>
              <a:tblGrid>
                <a:gridCol w="3341687">
                  <a:extLst>
                    <a:ext uri="{9D8B030D-6E8A-4147-A177-3AD203B41FA5}">
                      <a16:colId xmlns:a16="http://schemas.microsoft.com/office/drawing/2014/main" val="20000"/>
                    </a:ext>
                  </a:extLst>
                </a:gridCol>
                <a:gridCol w="4887913">
                  <a:extLst>
                    <a:ext uri="{9D8B030D-6E8A-4147-A177-3AD203B41FA5}">
                      <a16:colId xmlns:a16="http://schemas.microsoft.com/office/drawing/2014/main" val="20001"/>
                    </a:ext>
                  </a:extLst>
                </a:gridCol>
              </a:tblGrid>
              <a:tr h="335300">
                <a:tc>
                  <a:txBody>
                    <a:bodyPr/>
                    <a:lstStyle/>
                    <a:p>
                      <a:pPr marL="0" marR="0" lvl="0" indent="0" algn="ctr" defTabSz="914400" rtl="0" eaLnBrk="1" fontAlgn="ctr" latinLnBrk="0" hangingPunct="1">
                        <a:lnSpc>
                          <a:spcPct val="100000"/>
                        </a:lnSpc>
                        <a:spcBef>
                          <a:spcPct val="20000"/>
                        </a:spcBef>
                        <a:spcAft>
                          <a:spcPct val="0"/>
                        </a:spcAft>
                        <a:buClr>
                          <a:schemeClr val="tx2"/>
                        </a:buClr>
                        <a:buSzPct val="70000"/>
                        <a:buFont typeface="Wingdings" pitchFamily="2" charset="2"/>
                        <a:buNone/>
                        <a:tabLst/>
                      </a:pPr>
                      <a:r>
                        <a:rPr kumimoji="0" lang="en-US" sz="1600" b="1" i="0" u="none" strike="noStrike" cap="none" normalizeH="0" baseline="0" dirty="0" err="1">
                          <a:ln>
                            <a:noFill/>
                          </a:ln>
                          <a:solidFill>
                            <a:srgbClr val="CC0000"/>
                          </a:solidFill>
                          <a:effectLst/>
                          <a:latin typeface="Courier New" pitchFamily="49" charset="0"/>
                          <a:ea typeface="宋体" pitchFamily="2" charset="-122"/>
                        </a:rPr>
                        <a:t>java.io.File</a:t>
                      </a:r>
                      <a:endParaRPr kumimoji="0" lang="en-US" sz="1600" b="1" i="0" u="none" strike="noStrike" cap="none" normalizeH="0" baseline="0" dirty="0">
                        <a:ln>
                          <a:noFill/>
                        </a:ln>
                        <a:solidFill>
                          <a:srgbClr val="CC0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tx2"/>
                        </a:buClr>
                        <a:buSzPct val="70000"/>
                        <a:buFont typeface="Wingdings" pitchFamily="2" charset="2"/>
                        <a:buNone/>
                        <a:tabLst/>
                      </a:pPr>
                      <a:endParaRPr kumimoji="0" lang="en-US" sz="1400" b="0" i="0" u="none" strike="noStrike" cap="none" normalizeH="0" baseline="0" dirty="0">
                        <a:ln>
                          <a:noFill/>
                        </a:ln>
                        <a:solidFill>
                          <a:srgbClr val="CC0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0"/>
                  </a:ext>
                </a:extLst>
              </a:tr>
              <a:tr h="57908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+File(</a:t>
                      </a:r>
                      <a:r>
                        <a:rPr kumimoji="0" lang="en-US" sz="1400" b="1" i="0" u="none" strike="noStrike" cap="none" normalizeH="0" baseline="0" dirty="0" err="1">
                          <a:ln>
                            <a:noFill/>
                          </a:ln>
                          <a:solidFill>
                            <a:schemeClr val="tx1"/>
                          </a:solidFill>
                          <a:effectLst/>
                          <a:latin typeface="Courier New" pitchFamily="49" charset="0"/>
                          <a:ea typeface="宋体" pitchFamily="2" charset="-122"/>
                        </a:rPr>
                        <a:t>pathname:String</a:t>
                      </a:r>
                      <a:r>
                        <a:rPr kumimoji="0" lang="en-US" sz="1400" b="1" i="0" u="none" strike="noStrike" cap="none" normalizeH="0" baseline="0" dirty="0">
                          <a:ln>
                            <a:noFill/>
                          </a:ln>
                          <a:solidFill>
                            <a:schemeClr val="tx1"/>
                          </a:solidFill>
                          <a:effectLst/>
                          <a:latin typeface="Courier New" pitchFamily="49" charset="0"/>
                          <a:ea typeface="宋体" pitchFamily="2" charset="-122"/>
                        </a:rPr>
                        <a:t>)</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1" i="0" u="none" strike="noStrike" cap="none" normalizeH="0" baseline="0" dirty="0">
                          <a:ln>
                            <a:noFill/>
                          </a:ln>
                          <a:solidFill>
                            <a:srgbClr val="008000"/>
                          </a:solidFill>
                          <a:effectLst/>
                          <a:latin typeface="Courier New" pitchFamily="49" charset="0"/>
                          <a:ea typeface="宋体" pitchFamily="2" charset="-122"/>
                        </a:rPr>
                        <a:t>根据</a:t>
                      </a:r>
                      <a:r>
                        <a:rPr kumimoji="0" lang="en-US" sz="1600" b="1" i="0" u="none" strike="noStrike" cap="none" normalizeH="0" baseline="0" dirty="0">
                          <a:ln>
                            <a:noFill/>
                          </a:ln>
                          <a:solidFill>
                            <a:srgbClr val="008000"/>
                          </a:solidFill>
                          <a:effectLst/>
                          <a:latin typeface="Courier New" pitchFamily="49" charset="0"/>
                          <a:ea typeface="宋体" pitchFamily="2" charset="-122"/>
                        </a:rPr>
                        <a:t>pathname</a:t>
                      </a:r>
                      <a:r>
                        <a:rPr kumimoji="0" lang="zh-CN" altLang="en-US" sz="1600" b="1" i="0" u="none" strike="noStrike" cap="none" normalizeH="0" baseline="0" dirty="0">
                          <a:ln>
                            <a:noFill/>
                          </a:ln>
                          <a:solidFill>
                            <a:srgbClr val="008000"/>
                          </a:solidFill>
                          <a:effectLst/>
                          <a:latin typeface="Courier New" pitchFamily="49" charset="0"/>
                          <a:ea typeface="宋体" pitchFamily="2" charset="-122"/>
                        </a:rPr>
                        <a:t>创建</a:t>
                      </a:r>
                      <a:r>
                        <a:rPr kumimoji="0" lang="en-US" sz="1600" b="1" i="0" u="none" strike="noStrike" cap="none" normalizeH="0" baseline="0" dirty="0">
                          <a:ln>
                            <a:noFill/>
                          </a:ln>
                          <a:solidFill>
                            <a:srgbClr val="008000"/>
                          </a:solidFill>
                          <a:effectLst/>
                          <a:latin typeface="Courier New" pitchFamily="49" charset="0"/>
                          <a:ea typeface="宋体" pitchFamily="2" charset="-122"/>
                        </a:rPr>
                        <a:t>File</a:t>
                      </a:r>
                      <a:r>
                        <a:rPr kumimoji="0" lang="zh-CN" altLang="en-US" sz="1600" b="1" i="0" u="none" strike="noStrike" cap="none" normalizeH="0" baseline="0" dirty="0">
                          <a:ln>
                            <a:noFill/>
                          </a:ln>
                          <a:solidFill>
                            <a:srgbClr val="008000"/>
                          </a:solidFill>
                          <a:effectLst/>
                          <a:latin typeface="Courier New" pitchFamily="49" charset="0"/>
                          <a:ea typeface="宋体" pitchFamily="2" charset="-122"/>
                        </a:rPr>
                        <a:t>对象。</a:t>
                      </a:r>
                      <a:r>
                        <a:rPr kumimoji="0" lang="en-US" sz="1600" b="1" i="0" u="none" strike="noStrike" cap="none" normalizeH="0" baseline="0" dirty="0">
                          <a:ln>
                            <a:noFill/>
                          </a:ln>
                          <a:solidFill>
                            <a:srgbClr val="008000"/>
                          </a:solidFill>
                          <a:effectLst/>
                          <a:latin typeface="Courier New" pitchFamily="49" charset="0"/>
                          <a:ea typeface="宋体" pitchFamily="2" charset="-122"/>
                        </a:rPr>
                        <a:t>pathname</a:t>
                      </a:r>
                      <a:r>
                        <a:rPr kumimoji="0" lang="zh-CN" altLang="en-US" sz="1600" b="1" i="0" u="none" strike="noStrike" cap="none" normalizeH="0" baseline="0" dirty="0">
                          <a:ln>
                            <a:noFill/>
                          </a:ln>
                          <a:solidFill>
                            <a:srgbClr val="008000"/>
                          </a:solidFill>
                          <a:effectLst/>
                          <a:latin typeface="Courier New" pitchFamily="49" charset="0"/>
                          <a:ea typeface="宋体" pitchFamily="2" charset="-122"/>
                        </a:rPr>
                        <a:t>可以是文件或目录</a:t>
                      </a:r>
                      <a:endParaRPr kumimoji="0" lang="zh-CN" altLang="en-US" sz="1600" b="1" i="0" u="none" strike="noStrike" cap="none" normalizeH="0" baseline="0" dirty="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51819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+File(</a:t>
                      </a:r>
                      <a:r>
                        <a:rPr kumimoji="0" lang="en-US" sz="1400" b="1" i="0" u="none" strike="noStrike" cap="none" normalizeH="0" baseline="0" dirty="0" err="1">
                          <a:ln>
                            <a:noFill/>
                          </a:ln>
                          <a:solidFill>
                            <a:schemeClr val="tx1"/>
                          </a:solidFill>
                          <a:effectLst/>
                          <a:latin typeface="Courier New" pitchFamily="49" charset="0"/>
                          <a:ea typeface="宋体" pitchFamily="2" charset="-122"/>
                        </a:rPr>
                        <a:t>parent:String</a:t>
                      </a:r>
                      <a:r>
                        <a:rPr kumimoji="0" lang="en-US" sz="1400" b="1" i="0" u="none" strike="noStrike" cap="none" normalizeH="0" baseline="0" dirty="0">
                          <a:ln>
                            <a:noFill/>
                          </a:ln>
                          <a:solidFill>
                            <a:schemeClr val="tx1"/>
                          </a:solidFill>
                          <a:effectLst/>
                          <a:latin typeface="Courier New" pitchFamily="49" charset="0"/>
                          <a:ea typeface="宋体" pitchFamily="2" charset="-122"/>
                        </a:rPr>
                        <a:t>, </a:t>
                      </a:r>
                      <a:r>
                        <a:rPr kumimoji="0" lang="en-US" sz="1400" b="1" i="0" u="none" strike="noStrike" cap="none" normalizeH="0" baseline="0" dirty="0" err="1">
                          <a:ln>
                            <a:noFill/>
                          </a:ln>
                          <a:solidFill>
                            <a:schemeClr val="tx1"/>
                          </a:solidFill>
                          <a:effectLst/>
                          <a:latin typeface="Courier New" pitchFamily="49" charset="0"/>
                          <a:ea typeface="宋体" pitchFamily="2" charset="-122"/>
                        </a:rPr>
                        <a:t>child:String</a:t>
                      </a:r>
                      <a:r>
                        <a:rPr kumimoji="0" lang="en-US" sz="1400" b="1" i="0" u="none" strike="noStrike" cap="none" normalizeH="0" baseline="0" dirty="0">
                          <a:ln>
                            <a:noFill/>
                          </a:ln>
                          <a:solidFill>
                            <a:schemeClr val="tx1"/>
                          </a:solidFill>
                          <a:effectLst/>
                          <a:latin typeface="Courier New" pitchFamily="49" charset="0"/>
                          <a:ea typeface="宋体" pitchFamily="2" charset="-122"/>
                        </a:rPr>
                        <a:t>)</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dirty="0">
                          <a:ln>
                            <a:noFill/>
                          </a:ln>
                          <a:solidFill>
                            <a:srgbClr val="008000"/>
                          </a:solidFill>
                          <a:effectLst/>
                          <a:latin typeface="Courier New" pitchFamily="49" charset="0"/>
                          <a:ea typeface="宋体" pitchFamily="2" charset="-122"/>
                        </a:rPr>
                        <a:t>在</a:t>
                      </a:r>
                      <a:r>
                        <a:rPr kumimoji="0" lang="en-US" sz="1400" b="1" i="0" u="none" strike="noStrike" cap="none" normalizeH="0" baseline="0" dirty="0">
                          <a:ln>
                            <a:noFill/>
                          </a:ln>
                          <a:solidFill>
                            <a:srgbClr val="008000"/>
                          </a:solidFill>
                          <a:effectLst/>
                          <a:latin typeface="Courier New" pitchFamily="49" charset="0"/>
                          <a:ea typeface="宋体" pitchFamily="2" charset="-122"/>
                        </a:rPr>
                        <a:t>parent</a:t>
                      </a:r>
                      <a:r>
                        <a:rPr kumimoji="0" lang="zh-CN" altLang="en-US" sz="1400" b="1" i="0" u="none" strike="noStrike" cap="none" normalizeH="0" baseline="0" dirty="0">
                          <a:ln>
                            <a:noFill/>
                          </a:ln>
                          <a:solidFill>
                            <a:srgbClr val="008000"/>
                          </a:solidFill>
                          <a:effectLst/>
                          <a:latin typeface="Courier New" pitchFamily="49" charset="0"/>
                          <a:ea typeface="宋体" pitchFamily="2" charset="-122"/>
                        </a:rPr>
                        <a:t>这个目录下，创建</a:t>
                      </a:r>
                      <a:r>
                        <a:rPr kumimoji="0" lang="en-US" sz="1400" b="1" i="0" u="none" strike="noStrike" cap="none" normalizeH="0" baseline="0" dirty="0">
                          <a:ln>
                            <a:noFill/>
                          </a:ln>
                          <a:solidFill>
                            <a:srgbClr val="008000"/>
                          </a:solidFill>
                          <a:effectLst/>
                          <a:latin typeface="Courier New" pitchFamily="49" charset="0"/>
                          <a:ea typeface="宋体" pitchFamily="2" charset="-122"/>
                        </a:rPr>
                        <a:t>File</a:t>
                      </a:r>
                      <a:r>
                        <a:rPr kumimoji="0" lang="zh-CN" altLang="en-US" sz="1400" b="1" i="0" u="none" strike="noStrike" cap="none" normalizeH="0" baseline="0" dirty="0">
                          <a:ln>
                            <a:noFill/>
                          </a:ln>
                          <a:solidFill>
                            <a:srgbClr val="008000"/>
                          </a:solidFill>
                          <a:effectLst/>
                          <a:latin typeface="Courier New" pitchFamily="49" charset="0"/>
                          <a:ea typeface="宋体" pitchFamily="2" charset="-122"/>
                        </a:rPr>
                        <a:t>对象，</a:t>
                      </a:r>
                      <a:r>
                        <a:rPr kumimoji="0" lang="en-US" sz="1400" b="1" i="0" u="none" strike="noStrike" cap="none" normalizeH="0" baseline="0" dirty="0">
                          <a:ln>
                            <a:noFill/>
                          </a:ln>
                          <a:solidFill>
                            <a:srgbClr val="008000"/>
                          </a:solidFill>
                          <a:effectLst/>
                          <a:latin typeface="Courier New" pitchFamily="49" charset="0"/>
                          <a:ea typeface="宋体" pitchFamily="2" charset="-122"/>
                        </a:rPr>
                        <a:t>child</a:t>
                      </a:r>
                      <a:r>
                        <a:rPr kumimoji="0" lang="zh-CN" altLang="en-US" sz="1400" b="1" i="0" u="none" strike="noStrike" cap="none" normalizeH="0" baseline="0" dirty="0">
                          <a:ln>
                            <a:noFill/>
                          </a:ln>
                          <a:solidFill>
                            <a:srgbClr val="008000"/>
                          </a:solidFill>
                          <a:effectLst/>
                          <a:latin typeface="Courier New" pitchFamily="49" charset="0"/>
                          <a:ea typeface="宋体" pitchFamily="2" charset="-122"/>
                        </a:rPr>
                        <a:t>可以使文件或目录</a:t>
                      </a:r>
                      <a:endParaRPr kumimoji="0" lang="zh-CN" altLang="en-US" sz="1400" b="1" i="0" u="none" strike="noStrike" cap="none" normalizeH="0" baseline="0" dirty="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51819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+File(</a:t>
                      </a:r>
                      <a:r>
                        <a:rPr kumimoji="0" lang="en-US" sz="1400" b="1" i="0" u="none" strike="noStrike" cap="none" normalizeH="0" baseline="0" dirty="0" err="1">
                          <a:ln>
                            <a:noFill/>
                          </a:ln>
                          <a:solidFill>
                            <a:schemeClr val="tx1"/>
                          </a:solidFill>
                          <a:effectLst/>
                          <a:latin typeface="Courier New" pitchFamily="49" charset="0"/>
                          <a:ea typeface="宋体" pitchFamily="2" charset="-122"/>
                        </a:rPr>
                        <a:t>parent:File</a:t>
                      </a:r>
                      <a:r>
                        <a:rPr kumimoji="0" lang="en-US" sz="1400" b="1" i="0" u="none" strike="noStrike" cap="none" normalizeH="0" baseline="0" dirty="0">
                          <a:ln>
                            <a:noFill/>
                          </a:ln>
                          <a:solidFill>
                            <a:schemeClr val="tx1"/>
                          </a:solidFill>
                          <a:effectLst/>
                          <a:latin typeface="Courier New" pitchFamily="49" charset="0"/>
                          <a:ea typeface="宋体" pitchFamily="2" charset="-122"/>
                        </a:rPr>
                        <a:t>, </a:t>
                      </a:r>
                      <a:r>
                        <a:rPr kumimoji="0" lang="en-US" sz="1400" b="1" i="0" u="none" strike="noStrike" cap="none" normalizeH="0" baseline="0" dirty="0" err="1">
                          <a:ln>
                            <a:noFill/>
                          </a:ln>
                          <a:solidFill>
                            <a:schemeClr val="tx1"/>
                          </a:solidFill>
                          <a:effectLst/>
                          <a:latin typeface="Courier New" pitchFamily="49" charset="0"/>
                          <a:ea typeface="宋体" pitchFamily="2" charset="-122"/>
                        </a:rPr>
                        <a:t>child:String</a:t>
                      </a:r>
                      <a:r>
                        <a:rPr kumimoji="0" lang="en-US" sz="1400" b="1" i="0" u="none" strike="noStrike" cap="none" normalizeH="0" baseline="0" dirty="0">
                          <a:ln>
                            <a:noFill/>
                          </a:ln>
                          <a:solidFill>
                            <a:schemeClr val="tx1"/>
                          </a:solidFill>
                          <a:effectLst/>
                          <a:latin typeface="Courier New" pitchFamily="49" charset="0"/>
                          <a:ea typeface="宋体" pitchFamily="2" charset="-122"/>
                        </a:rPr>
                        <a:t>)</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同上，只是</a:t>
                      </a:r>
                      <a:r>
                        <a:rPr kumimoji="0" lang="en-US" sz="1400" b="1" i="0" u="none" strike="noStrike" cap="none" normalizeH="0" baseline="0">
                          <a:ln>
                            <a:noFill/>
                          </a:ln>
                          <a:solidFill>
                            <a:srgbClr val="008000"/>
                          </a:solidFill>
                          <a:effectLst/>
                          <a:latin typeface="Courier New" pitchFamily="49" charset="0"/>
                          <a:ea typeface="宋体" pitchFamily="2" charset="-122"/>
                        </a:rPr>
                        <a:t>parent</a:t>
                      </a:r>
                      <a:r>
                        <a:rPr kumimoji="0" lang="zh-CN" altLang="en-US" sz="1400" b="1" i="0" u="none" strike="noStrike" cap="none" normalizeH="0" baseline="0">
                          <a:ln>
                            <a:noFill/>
                          </a:ln>
                          <a:solidFill>
                            <a:srgbClr val="008000"/>
                          </a:solidFill>
                          <a:effectLst/>
                          <a:latin typeface="Courier New" pitchFamily="49" charset="0"/>
                          <a:ea typeface="宋体" pitchFamily="2" charset="-122"/>
                        </a:rPr>
                        <a:t>是一个</a:t>
                      </a:r>
                      <a:r>
                        <a:rPr kumimoji="0" lang="en-US" sz="1400" b="1" i="0" u="none" strike="noStrike" cap="none" normalizeH="0" baseline="0">
                          <a:ln>
                            <a:noFill/>
                          </a:ln>
                          <a:solidFill>
                            <a:srgbClr val="008000"/>
                          </a:solidFill>
                          <a:effectLst/>
                          <a:latin typeface="Courier New" pitchFamily="49" charset="0"/>
                          <a:ea typeface="宋体" pitchFamily="2" charset="-122"/>
                        </a:rPr>
                        <a:t>File</a:t>
                      </a:r>
                      <a:r>
                        <a:rPr kumimoji="0" lang="zh-CN" altLang="en-US" sz="1400" b="1" i="0" u="none" strike="noStrike" cap="none" normalizeH="0" baseline="0">
                          <a:ln>
                            <a:noFill/>
                          </a:ln>
                          <a:solidFill>
                            <a:srgbClr val="008000"/>
                          </a:solidFill>
                          <a:effectLst/>
                          <a:latin typeface="Courier New" pitchFamily="49" charset="0"/>
                          <a:ea typeface="宋体" pitchFamily="2" charset="-122"/>
                        </a:rPr>
                        <a:t>对象</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+exists():</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文件或目录是否存在</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canRead</a:t>
                      </a: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是否可读</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canWrite</a:t>
                      </a: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是否可写</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isDirectory</a:t>
                      </a: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是否为目录</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isFile</a:t>
                      </a: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是否为文件</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isAbsolute</a:t>
                      </a: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本</a:t>
                      </a:r>
                      <a:r>
                        <a:rPr kumimoji="0" lang="en-US" sz="1400" b="1" i="0" u="none" strike="noStrike" cap="none" normalizeH="0" baseline="0">
                          <a:ln>
                            <a:noFill/>
                          </a:ln>
                          <a:solidFill>
                            <a:srgbClr val="008000"/>
                          </a:solidFill>
                          <a:effectLst/>
                          <a:latin typeface="Courier New" pitchFamily="49" charset="0"/>
                          <a:ea typeface="宋体" pitchFamily="2" charset="-122"/>
                        </a:rPr>
                        <a:t>File</a:t>
                      </a:r>
                      <a:r>
                        <a:rPr kumimoji="0" lang="zh-CN" altLang="en-US" sz="1400" b="1" i="0" u="none" strike="noStrike" cap="none" normalizeH="0" baseline="0">
                          <a:ln>
                            <a:noFill/>
                          </a:ln>
                          <a:solidFill>
                            <a:srgbClr val="008000"/>
                          </a:solidFill>
                          <a:effectLst/>
                          <a:latin typeface="Courier New" pitchFamily="49" charset="0"/>
                          <a:ea typeface="宋体" pitchFamily="2" charset="-122"/>
                        </a:rPr>
                        <a:t>对象是否采用绝对路径来创建的</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isHidden</a:t>
                      </a: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是否为隐藏文件</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0"/>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getAbsolutePath</a:t>
                      </a:r>
                      <a:r>
                        <a:rPr kumimoji="0" lang="en-US" sz="1400" b="1" i="0" u="none" strike="noStrike" cap="none" normalizeH="0" baseline="0" dirty="0">
                          <a:ln>
                            <a:noFill/>
                          </a:ln>
                          <a:solidFill>
                            <a:schemeClr val="tx1"/>
                          </a:solidFill>
                          <a:effectLst/>
                          <a:latin typeface="Courier New" pitchFamily="49" charset="0"/>
                          <a:ea typeface="宋体" pitchFamily="2" charset="-122"/>
                        </a:rPr>
                        <a:t>():String</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得到绝对路径</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1"/>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getCanonicalPath</a:t>
                      </a:r>
                      <a:r>
                        <a:rPr kumimoji="0" lang="en-US" sz="1400" b="1" i="0" u="none" strike="noStrike" cap="none" normalizeH="0" baseline="0" dirty="0">
                          <a:ln>
                            <a:noFill/>
                          </a:ln>
                          <a:solidFill>
                            <a:schemeClr val="tx1"/>
                          </a:solidFill>
                          <a:effectLst/>
                          <a:latin typeface="Courier New" pitchFamily="49" charset="0"/>
                          <a:ea typeface="宋体" pitchFamily="2" charset="-122"/>
                        </a:rPr>
                        <a:t>():String</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得到规范的绝对路径</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2"/>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getName</a:t>
                      </a:r>
                      <a:r>
                        <a:rPr kumimoji="0" lang="en-US" sz="1400" b="1" i="0" u="none" strike="noStrike" cap="none" normalizeH="0" baseline="0" dirty="0">
                          <a:ln>
                            <a:noFill/>
                          </a:ln>
                          <a:solidFill>
                            <a:schemeClr val="tx1"/>
                          </a:solidFill>
                          <a:effectLst/>
                          <a:latin typeface="Courier New" pitchFamily="49" charset="0"/>
                          <a:ea typeface="宋体" pitchFamily="2" charset="-122"/>
                        </a:rPr>
                        <a:t>():String</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dirty="0">
                          <a:ln>
                            <a:noFill/>
                          </a:ln>
                          <a:solidFill>
                            <a:srgbClr val="008000"/>
                          </a:solidFill>
                          <a:effectLst/>
                          <a:latin typeface="Courier New" pitchFamily="49" charset="0"/>
                          <a:ea typeface="宋体" pitchFamily="2" charset="-122"/>
                        </a:rPr>
                        <a:t>得到文件</a:t>
                      </a:r>
                      <a:r>
                        <a:rPr kumimoji="0" lang="en-US" sz="1400" b="1" i="0" u="none" strike="noStrike" cap="none" normalizeH="0" baseline="0" dirty="0">
                          <a:ln>
                            <a:noFill/>
                          </a:ln>
                          <a:solidFill>
                            <a:srgbClr val="008000"/>
                          </a:solidFill>
                          <a:effectLst/>
                          <a:latin typeface="Courier New" pitchFamily="49" charset="0"/>
                          <a:ea typeface="宋体" pitchFamily="2" charset="-122"/>
                        </a:rPr>
                        <a:t>/</a:t>
                      </a:r>
                      <a:r>
                        <a:rPr kumimoji="0" lang="zh-CN" altLang="en-US" sz="1400" b="1" i="0" u="none" strike="noStrike" cap="none" normalizeH="0" baseline="0" dirty="0">
                          <a:ln>
                            <a:noFill/>
                          </a:ln>
                          <a:solidFill>
                            <a:srgbClr val="008000"/>
                          </a:solidFill>
                          <a:effectLst/>
                          <a:latin typeface="Courier New" pitchFamily="49" charset="0"/>
                          <a:ea typeface="宋体" pitchFamily="2" charset="-122"/>
                        </a:rPr>
                        <a:t>目录名</a:t>
                      </a:r>
                      <a:endParaRPr kumimoji="0" lang="zh-CN" altLang="en-US" sz="1400" b="1" i="0" u="none" strike="noStrike" cap="none" normalizeH="0" baseline="0" dirty="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getPath</a:t>
                      </a:r>
                      <a:r>
                        <a:rPr kumimoji="0" lang="en-US" sz="1400" b="1" i="0" u="none" strike="noStrike" cap="none" normalizeH="0" baseline="0" dirty="0">
                          <a:ln>
                            <a:noFill/>
                          </a:ln>
                          <a:solidFill>
                            <a:schemeClr val="tx1"/>
                          </a:solidFill>
                          <a:effectLst/>
                          <a:latin typeface="Courier New" pitchFamily="49" charset="0"/>
                          <a:ea typeface="宋体" pitchFamily="2" charset="-122"/>
                        </a:rPr>
                        <a:t>():String</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得到路径</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getParent</a:t>
                      </a:r>
                      <a:r>
                        <a:rPr kumimoji="0" lang="en-US" sz="1400" b="1" i="0" u="none" strike="noStrike" cap="none" normalizeH="0" baseline="0" dirty="0">
                          <a:ln>
                            <a:noFill/>
                          </a:ln>
                          <a:solidFill>
                            <a:schemeClr val="tx1"/>
                          </a:solidFill>
                          <a:effectLst/>
                          <a:latin typeface="Courier New" pitchFamily="49" charset="0"/>
                          <a:ea typeface="宋体" pitchFamily="2" charset="-122"/>
                        </a:rPr>
                        <a:t>():String</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dirty="0">
                          <a:ln>
                            <a:noFill/>
                          </a:ln>
                          <a:solidFill>
                            <a:srgbClr val="008000"/>
                          </a:solidFill>
                          <a:effectLst/>
                          <a:latin typeface="Courier New" pitchFamily="49" charset="0"/>
                          <a:ea typeface="宋体" pitchFamily="2" charset="-122"/>
                        </a:rPr>
                        <a:t>得到父目录的路径名</a:t>
                      </a:r>
                      <a:endParaRPr kumimoji="0" lang="zh-CN" altLang="en-US" sz="1400" b="1" i="0" u="none" strike="noStrike" cap="none" normalizeH="0" baseline="0" dirty="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5"/>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lastModified</a:t>
                      </a:r>
                      <a:r>
                        <a:rPr kumimoji="0" lang="en-US" sz="1400" b="1" i="0" u="none" strike="noStrike" cap="none" normalizeH="0" baseline="0" dirty="0">
                          <a:ln>
                            <a:noFill/>
                          </a:ln>
                          <a:solidFill>
                            <a:schemeClr val="tx1"/>
                          </a:solidFill>
                          <a:effectLst/>
                          <a:latin typeface="Courier New" pitchFamily="49" charset="0"/>
                          <a:ea typeface="宋体" pitchFamily="2" charset="-122"/>
                        </a:rPr>
                        <a:t>():long</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最后修改时间</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6"/>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+delete():</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a:ln>
                            <a:noFill/>
                          </a:ln>
                          <a:solidFill>
                            <a:srgbClr val="008000"/>
                          </a:solidFill>
                          <a:effectLst/>
                          <a:latin typeface="Courier New" pitchFamily="49" charset="0"/>
                          <a:ea typeface="宋体" pitchFamily="2" charset="-122"/>
                        </a:rPr>
                        <a:t>删除</a:t>
                      </a:r>
                      <a:endParaRPr kumimoji="0" lang="zh-CN" altLang="en-US" sz="1400" b="1" i="0" u="none" strike="noStrike" cap="none" normalizeH="0" baseline="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7"/>
                  </a:ext>
                </a:extLst>
              </a:tr>
              <a:tr h="30481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renameTo</a:t>
                      </a: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dest:File</a:t>
                      </a:r>
                      <a:r>
                        <a:rPr kumimoji="0" lang="en-US" sz="1400" b="1" i="0" u="none" strike="noStrike" cap="none" normalizeH="0" baseline="0" dirty="0">
                          <a:ln>
                            <a:noFill/>
                          </a:ln>
                          <a:solidFill>
                            <a:schemeClr val="tx1"/>
                          </a:solidFill>
                          <a:effectLst/>
                          <a:latin typeface="Courier New" pitchFamily="49" charset="0"/>
                          <a:ea typeface="宋体" pitchFamily="2" charset="-122"/>
                        </a:rPr>
                        <a:t>):</a:t>
                      </a:r>
                      <a:r>
                        <a:rPr kumimoji="0" lang="en-US" sz="1400" b="1" i="0" u="none" strike="noStrike" cap="none" normalizeH="0" baseline="0" dirty="0" err="1">
                          <a:ln>
                            <a:noFill/>
                          </a:ln>
                          <a:solidFill>
                            <a:schemeClr val="tx1"/>
                          </a:solidFill>
                          <a:effectLst/>
                          <a:latin typeface="Courier New" pitchFamily="49" charset="0"/>
                          <a:ea typeface="宋体" pitchFamily="2" charset="-122"/>
                        </a:rPr>
                        <a:t>boolean</a:t>
                      </a:r>
                      <a:endParaRPr kumimoji="0" lang="en-US" sz="1400" b="1" i="0" u="none" strike="noStrike" cap="none" normalizeH="0" baseline="0" dirty="0">
                        <a:ln>
                          <a:noFill/>
                        </a:ln>
                        <a:solidFill>
                          <a:schemeClr val="tx1"/>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400" b="1" i="0" u="none" strike="noStrike" cap="none" normalizeH="0" baseline="0" dirty="0">
                          <a:ln>
                            <a:noFill/>
                          </a:ln>
                          <a:solidFill>
                            <a:srgbClr val="008000"/>
                          </a:solidFill>
                          <a:effectLst/>
                          <a:latin typeface="Courier New" pitchFamily="49" charset="0"/>
                          <a:ea typeface="宋体" pitchFamily="2" charset="-122"/>
                        </a:rPr>
                        <a:t>重命名</a:t>
                      </a:r>
                      <a:endParaRPr kumimoji="0" lang="zh-CN" altLang="en-US" sz="1400" b="1" i="0" u="none" strike="noStrike" cap="none" normalizeH="0" baseline="0" dirty="0">
                        <a:ln>
                          <a:noFill/>
                        </a:ln>
                        <a:solidFill>
                          <a:srgbClr val="008000"/>
                        </a:solidFill>
                        <a:effectLst/>
                        <a:latin typeface="Arial" pitchFamily="34" charset="0"/>
                        <a:ea typeface="宋体" pitchFamily="2" charset="-122"/>
                      </a:endParaRPr>
                    </a:p>
                  </a:txBody>
                  <a:tcPr marT="45721" marB="45721"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456613" y="914994"/>
            <a:ext cx="3414435" cy="724237"/>
          </a:xfrm>
          <a:prstGeom prst="rect">
            <a:avLst/>
          </a:prstGeom>
          <a:noFill/>
        </p:spPr>
        <p:txBody>
          <a:bodyPr wrap="square">
            <a:spAutoFit/>
          </a:bodyPr>
          <a:lstStyle/>
          <a:p>
            <a:pPr eaLnBrk="0" hangingPunct="0">
              <a:lnSpc>
                <a:spcPct val="200000"/>
              </a:lnSpc>
              <a:defRPr/>
            </a:pPr>
            <a:r>
              <a:rPr lang="en-US" altLang="zh-CN" sz="24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 </a:t>
            </a:r>
            <a:r>
              <a:rPr lang="zh-CN" altLang="en-US" sz="24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类创建对象</a:t>
            </a:r>
          </a:p>
        </p:txBody>
      </p:sp>
      <p:graphicFrame>
        <p:nvGraphicFramePr>
          <p:cNvPr id="3" name="表格 2">
            <a:extLst>
              <a:ext uri="{FF2B5EF4-FFF2-40B4-BE49-F238E27FC236}">
                <a16:creationId xmlns:a16="http://schemas.microsoft.com/office/drawing/2014/main" id="{363B2A64-3BD6-B3C1-C55F-DD07294907B3}"/>
              </a:ext>
            </a:extLst>
          </p:cNvPr>
          <p:cNvGraphicFramePr>
            <a:graphicFrameLocks noGrp="1"/>
          </p:cNvGraphicFramePr>
          <p:nvPr>
            <p:extLst>
              <p:ext uri="{D42A27DB-BD31-4B8C-83A1-F6EECF244321}">
                <p14:modId xmlns:p14="http://schemas.microsoft.com/office/powerpoint/2010/main" val="4057980242"/>
              </p:ext>
            </p:extLst>
          </p:nvPr>
        </p:nvGraphicFramePr>
        <p:xfrm>
          <a:off x="468313" y="1844824"/>
          <a:ext cx="7543800" cy="1506204"/>
        </p:xfrm>
        <a:graphic>
          <a:graphicData uri="http://schemas.openxmlformats.org/drawingml/2006/table">
            <a:tbl>
              <a:tblPr/>
              <a:tblGrid>
                <a:gridCol w="3549136">
                  <a:extLst>
                    <a:ext uri="{9D8B030D-6E8A-4147-A177-3AD203B41FA5}">
                      <a16:colId xmlns:a16="http://schemas.microsoft.com/office/drawing/2014/main" val="1138920238"/>
                    </a:ext>
                  </a:extLst>
                </a:gridCol>
                <a:gridCol w="3994664">
                  <a:extLst>
                    <a:ext uri="{9D8B030D-6E8A-4147-A177-3AD203B41FA5}">
                      <a16:colId xmlns:a16="http://schemas.microsoft.com/office/drawing/2014/main" val="432614512"/>
                    </a:ext>
                  </a:extLst>
                </a:gridCol>
              </a:tblGrid>
              <a:tr h="381974">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方法名称</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39457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400" b="0" dirty="0">
                          <a:solidFill>
                            <a:schemeClr val="tx1">
                              <a:lumMod val="95000"/>
                              <a:lumOff val="5000"/>
                            </a:schemeClr>
                          </a:solidFill>
                          <a:latin typeface="Times New Roman" panose="02020603050405020304" pitchFamily="18" charset="0"/>
                          <a:ea typeface="Alibaba PuHuiTi R"/>
                          <a:cs typeface="Times New Roman" panose="02020603050405020304" pitchFamily="18" charset="0"/>
                        </a:rPr>
                        <a:t>public </a:t>
                      </a:r>
                      <a:r>
                        <a:rPr lang="en-US" altLang="zh-CN" sz="14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File​(String pathname)</a:t>
                      </a:r>
                      <a:endParaRPr kumimoji="0" lang="zh-CN" altLang="en-US" sz="1400" b="0" i="0" u="none" strike="noStrike" cap="none" normalizeH="0" baseline="0" dirty="0">
                        <a:ln>
                          <a:noFill/>
                        </a:ln>
                        <a:solidFill>
                          <a:schemeClr val="tx1">
                            <a:lumMod val="95000"/>
                            <a:lumOff val="5000"/>
                          </a:schemeClr>
                        </a:solidFill>
                        <a:effectLst/>
                        <a:latin typeface="Times New Roman" panose="02020603050405020304" pitchFamily="18" charset="0"/>
                        <a:ea typeface="黑体" pitchFamily="49"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fontAlgn="auto">
                        <a:lnSpc>
                          <a:spcPct val="150000"/>
                        </a:lnSpc>
                        <a:spcBef>
                          <a:spcPts val="0"/>
                        </a:spcBef>
                        <a:spcAft>
                          <a:spcPts val="0"/>
                        </a:spcAft>
                        <a:buFont typeface="Wingdings" pitchFamily="2" charset="2"/>
                        <a:buNone/>
                        <a:defRPr/>
                      </a:pPr>
                      <a:r>
                        <a:rPr lang="zh-CN" altLang="en-US" sz="1200" b="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根据文件路径创建文件对象</a:t>
                      </a:r>
                      <a:endParaRPr lang="en-US" altLang="zh-CN" sz="1200" b="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r h="350043">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400" b="0" dirty="0">
                          <a:solidFill>
                            <a:schemeClr val="tx1">
                              <a:lumMod val="95000"/>
                              <a:lumOff val="5000"/>
                            </a:schemeClr>
                          </a:solidFill>
                          <a:latin typeface="Times New Roman" panose="02020603050405020304" pitchFamily="18" charset="0"/>
                          <a:ea typeface="Alibaba PuHuiTi R"/>
                          <a:cs typeface="Times New Roman" panose="02020603050405020304" pitchFamily="18" charset="0"/>
                        </a:rPr>
                        <a:t>public </a:t>
                      </a:r>
                      <a:r>
                        <a:rPr lang="en-US" altLang="zh-CN" sz="14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File​(String parent, String child)</a:t>
                      </a:r>
                      <a:endParaRPr kumimoji="0" lang="zh-CN" altLang="en-US" sz="14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200" b="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根据父路径名字符串和子路径名字符串创建文件对象</a:t>
                      </a:r>
                      <a:endParaRPr kumimoji="0" lang="zh-CN" altLang="en-US" sz="1200" b="0" i="0" u="none" strike="noStrike" cap="none" normalizeH="0" baseline="0" dirty="0">
                        <a:ln>
                          <a:noFill/>
                        </a:ln>
                        <a:solidFill>
                          <a:schemeClr val="tx1">
                            <a:lumMod val="95000"/>
                            <a:lumOff val="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17659233"/>
                  </a:ext>
                </a:extLst>
              </a:tr>
              <a:tr h="379617">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400" b="0" dirty="0">
                          <a:solidFill>
                            <a:schemeClr val="tx1">
                              <a:lumMod val="95000"/>
                              <a:lumOff val="5000"/>
                            </a:schemeClr>
                          </a:solidFill>
                          <a:latin typeface="Times New Roman" panose="02020603050405020304" pitchFamily="18" charset="0"/>
                          <a:ea typeface="Alibaba PuHuiTi R"/>
                          <a:cs typeface="Times New Roman" panose="02020603050405020304" pitchFamily="18" charset="0"/>
                        </a:rPr>
                        <a:t>public </a:t>
                      </a:r>
                      <a:r>
                        <a:rPr lang="en-US" altLang="zh-CN" sz="14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File​(File  parent, String child)</a:t>
                      </a:r>
                      <a:endParaRPr kumimoji="0" lang="zh-CN" altLang="en-US" sz="14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en-US" sz="1200" b="0" i="0" u="none" strike="noStrike" cap="none" normalizeH="0" baseline="0" dirty="0">
                          <a:ln>
                            <a:noFill/>
                          </a:ln>
                          <a:solidFill>
                            <a:schemeClr val="tx1">
                              <a:lumMod val="95000"/>
                              <a:lumOff val="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根据父路径对应文件对象和子路径名字符串创建文件对象</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20532218"/>
                  </a:ext>
                </a:extLst>
              </a:tr>
            </a:tbl>
          </a:graphicData>
        </a:graphic>
      </p:graphicFrame>
      <p:sp>
        <p:nvSpPr>
          <p:cNvPr id="5" name="文本框 4">
            <a:extLst>
              <a:ext uri="{FF2B5EF4-FFF2-40B4-BE49-F238E27FC236}">
                <a16:creationId xmlns:a16="http://schemas.microsoft.com/office/drawing/2014/main" id="{0CFD5824-8A4A-9D4C-7B65-A172A56C0C4F}"/>
              </a:ext>
            </a:extLst>
          </p:cNvPr>
          <p:cNvSpPr txBox="1"/>
          <p:nvPr/>
        </p:nvSpPr>
        <p:spPr>
          <a:xfrm>
            <a:off x="556651" y="3429000"/>
            <a:ext cx="7367124" cy="889090"/>
          </a:xfrm>
          <a:prstGeom prst="rect">
            <a:avLst/>
          </a:prstGeom>
          <a:noFill/>
        </p:spPr>
        <p:txBody>
          <a:bodyPr wrap="square">
            <a:spAutoFit/>
          </a:bodyPr>
          <a:lstStyle/>
          <a:p>
            <a:pPr marL="268274" indent="-268274">
              <a:lnSpc>
                <a:spcPct val="200000"/>
              </a:lnSpc>
              <a:buFont typeface="Wingdings" pitchFamily="2" charset="2"/>
              <a:buChar char="l"/>
              <a:defRPr/>
            </a:pP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File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对象可以定位文件和文件夹</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68274" indent="-268274">
              <a:lnSpc>
                <a:spcPct val="200000"/>
              </a:lnSpc>
              <a:buFont typeface="Wingdings" pitchFamily="2" charset="2"/>
              <a:buChar char="l"/>
              <a:defRPr/>
            </a:pP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File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封装的对象仅仅是一个路径名</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标题 1">
            <a:extLst>
              <a:ext uri="{FF2B5EF4-FFF2-40B4-BE49-F238E27FC236}">
                <a16:creationId xmlns:a16="http://schemas.microsoft.com/office/drawing/2014/main" id="{97890819-5691-4FC3-BCD8-27027D874403}"/>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7" name="直接连接符 6">
            <a:extLst>
              <a:ext uri="{FF2B5EF4-FFF2-40B4-BE49-F238E27FC236}">
                <a16:creationId xmlns:a16="http://schemas.microsoft.com/office/drawing/2014/main" id="{B98C754C-0BAC-4C14-B73C-C8ACC061DB77}"/>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220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a:xfrm>
            <a:off x="395288" y="44624"/>
            <a:ext cx="7543800" cy="576262"/>
          </a:xfrm>
        </p:spPr>
        <p:txBody>
          <a:bodyPr/>
          <a:lstStyle/>
          <a:p>
            <a:r>
              <a:rPr lang="zh-CN" altLang="en-GB" sz="280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sz="28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r>
              <a:rPr lang="en-US" altLang="zh-CN"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改进的文件复制程序</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787" name="Rectangle 3"/>
          <p:cNvSpPr txBox="1">
            <a:spLocks noChangeArrowheads="1"/>
          </p:cNvSpPr>
          <p:nvPr/>
        </p:nvSpPr>
        <p:spPr bwMode="auto">
          <a:xfrm>
            <a:off x="0" y="142899"/>
            <a:ext cx="9144000" cy="667047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b="1" dirty="0">
                <a:latin typeface="Courier New" panose="02070309020205020404" pitchFamily="49" charset="0"/>
                <a:cs typeface="Courier New" panose="02070309020205020404" pitchFamily="49" charset="0"/>
              </a:rPr>
              <a:t>public class FileDemo1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public static void main(String[] </a:t>
            </a:r>
            <a:r>
              <a:rPr lang="en-US" altLang="zh-CN" b="1" dirty="0" err="1">
                <a:latin typeface="Courier New" panose="02070309020205020404" pitchFamily="49" charset="0"/>
                <a:cs typeface="Courier New" panose="02070309020205020404" pitchFamily="49" charset="0"/>
              </a:rPr>
              <a:t>args</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//1.</a:t>
            </a:r>
            <a:r>
              <a:rPr lang="zh-CN" altLang="en-US" b="1" dirty="0">
                <a:latin typeface="Courier New" panose="02070309020205020404" pitchFamily="49" charset="0"/>
                <a:cs typeface="Courier New" panose="02070309020205020404" pitchFamily="49" charset="0"/>
              </a:rPr>
              <a:t>根据字符串表示的路径，变成</a:t>
            </a:r>
            <a:r>
              <a:rPr lang="en-US" altLang="zh-CN" b="1" dirty="0">
                <a:latin typeface="Courier New" panose="02070309020205020404" pitchFamily="49" charset="0"/>
                <a:cs typeface="Courier New" panose="02070309020205020404" pitchFamily="49" charset="0"/>
              </a:rPr>
              <a:t>File</a:t>
            </a:r>
            <a:r>
              <a:rPr lang="zh-CN" altLang="en-US" b="1" dirty="0">
                <a:latin typeface="Courier New" panose="02070309020205020404" pitchFamily="49" charset="0"/>
                <a:cs typeface="Courier New" panose="02070309020205020404" pitchFamily="49" charset="0"/>
              </a:rPr>
              <a:t>对象</a:t>
            </a:r>
          </a:p>
          <a:p>
            <a:pPr marL="0" lvl="1">
              <a:buClr>
                <a:schemeClr val="accent2"/>
              </a:buClr>
              <a:buSzPct val="70000"/>
            </a:pP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String str = "C:\\Users\\alienware\\Desktop\\a.txt";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a:solidFill>
                  <a:srgbClr val="00B0F0"/>
                </a:solidFill>
                <a:latin typeface="Courier New" panose="02070309020205020404" pitchFamily="49" charset="0"/>
                <a:cs typeface="Courier New" panose="02070309020205020404" pitchFamily="49" charset="0"/>
              </a:rPr>
              <a:t>File f1 = new File(str);</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(f1); //C:\Users\alienware\Desktop\a.txt</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//2.</a:t>
            </a:r>
            <a:r>
              <a:rPr lang="zh-CN" altLang="en-US" b="1" dirty="0">
                <a:latin typeface="Courier New" panose="02070309020205020404" pitchFamily="49" charset="0"/>
                <a:cs typeface="Courier New" panose="02070309020205020404" pitchFamily="49" charset="0"/>
              </a:rPr>
              <a:t>父级路径：</a:t>
            </a:r>
            <a:r>
              <a:rPr lang="en-US" altLang="zh-CN" b="1" dirty="0">
                <a:latin typeface="Courier New" panose="02070309020205020404" pitchFamily="49" charset="0"/>
                <a:cs typeface="Courier New" panose="02070309020205020404" pitchFamily="49" charset="0"/>
              </a:rPr>
              <a:t>C:\Users\alienware\Desktop</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子级路径：</a:t>
            </a:r>
            <a:r>
              <a:rPr lang="en-US" altLang="zh-CN" b="1" dirty="0">
                <a:latin typeface="Courier New" panose="02070309020205020404" pitchFamily="49" charset="0"/>
                <a:cs typeface="Courier New" panose="02070309020205020404" pitchFamily="49" charset="0"/>
              </a:rPr>
              <a:t>a.txt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a:solidFill>
                  <a:srgbClr val="00B0F0"/>
                </a:solidFill>
                <a:latin typeface="Courier New" panose="02070309020205020404" pitchFamily="49" charset="0"/>
                <a:cs typeface="Courier New" panose="02070309020205020404" pitchFamily="49" charset="0"/>
              </a:rPr>
              <a:t>String parent </a:t>
            </a:r>
            <a:r>
              <a:rPr lang="en-US" altLang="zh-CN" b="1" dirty="0">
                <a:latin typeface="Courier New" panose="02070309020205020404" pitchFamily="49" charset="0"/>
                <a:cs typeface="Courier New" panose="02070309020205020404" pitchFamily="49" charset="0"/>
              </a:rPr>
              <a:t>= "C:\\Users\\alienware\\Desktop";</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a:solidFill>
                  <a:srgbClr val="00B0F0"/>
                </a:solidFill>
                <a:latin typeface="Courier New" panose="02070309020205020404" pitchFamily="49" charset="0"/>
                <a:cs typeface="Courier New" panose="02070309020205020404" pitchFamily="49" charset="0"/>
              </a:rPr>
              <a:t>String child </a:t>
            </a:r>
            <a:r>
              <a:rPr lang="en-US" altLang="zh-CN" b="1" dirty="0">
                <a:latin typeface="Courier New" panose="02070309020205020404" pitchFamily="49" charset="0"/>
                <a:cs typeface="Courier New" panose="02070309020205020404" pitchFamily="49" charset="0"/>
              </a:rPr>
              <a:t>= "a.txt";</a:t>
            </a:r>
          </a:p>
          <a:p>
            <a:pPr marL="0" lvl="1">
              <a:buClr>
                <a:schemeClr val="accent2"/>
              </a:buClr>
              <a:buSzPct val="70000"/>
            </a:pPr>
            <a:r>
              <a:rPr lang="en-US" altLang="zh-CN" b="1" dirty="0">
                <a:solidFill>
                  <a:srgbClr val="00B0F0"/>
                </a:solidFill>
                <a:latin typeface="Courier New" panose="02070309020205020404" pitchFamily="49" charset="0"/>
                <a:cs typeface="Courier New" panose="02070309020205020404" pitchFamily="49" charset="0"/>
              </a:rPr>
              <a:t>        File f2 = new File(</a:t>
            </a:r>
            <a:r>
              <a:rPr lang="en-US" altLang="zh-CN" b="1" dirty="0" err="1">
                <a:solidFill>
                  <a:srgbClr val="00B0F0"/>
                </a:solidFill>
                <a:latin typeface="Courier New" panose="02070309020205020404" pitchFamily="49" charset="0"/>
                <a:cs typeface="Courier New" panose="02070309020205020404" pitchFamily="49" charset="0"/>
              </a:rPr>
              <a:t>parent,child</a:t>
            </a:r>
            <a:r>
              <a:rPr lang="en-US" altLang="zh-CN" b="1" dirty="0">
                <a:solidFill>
                  <a:srgbClr val="00B0F0"/>
                </a:solidFill>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(f2);//C:\Users\alienware\Desktop\a.txt</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File f3 = new File(parent + "\\" + child);</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(f3);//C:\Users\alienware\Desktop\a.txt</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//3.</a:t>
            </a:r>
            <a:r>
              <a:rPr lang="zh-CN" altLang="en-US" b="1" dirty="0">
                <a:latin typeface="Courier New" panose="02070309020205020404" pitchFamily="49" charset="0"/>
                <a:cs typeface="Courier New" panose="02070309020205020404" pitchFamily="49" charset="0"/>
              </a:rPr>
              <a:t>把一个</a:t>
            </a:r>
            <a:r>
              <a:rPr lang="en-US" altLang="zh-CN" b="1" dirty="0">
                <a:latin typeface="Courier New" panose="02070309020205020404" pitchFamily="49" charset="0"/>
                <a:cs typeface="Courier New" panose="02070309020205020404" pitchFamily="49" charset="0"/>
              </a:rPr>
              <a:t>File</a:t>
            </a:r>
            <a:r>
              <a:rPr lang="zh-CN" altLang="en-US" b="1" dirty="0">
                <a:latin typeface="Courier New" panose="02070309020205020404" pitchFamily="49" charset="0"/>
                <a:cs typeface="Courier New" panose="02070309020205020404" pitchFamily="49" charset="0"/>
              </a:rPr>
              <a:t>表示的路径和</a:t>
            </a:r>
            <a:r>
              <a:rPr lang="en-US" altLang="zh-CN" b="1" dirty="0">
                <a:latin typeface="Courier New" panose="02070309020205020404" pitchFamily="49" charset="0"/>
                <a:cs typeface="Courier New" panose="02070309020205020404" pitchFamily="49" charset="0"/>
              </a:rPr>
              <a:t>String</a:t>
            </a:r>
            <a:r>
              <a:rPr lang="zh-CN" altLang="en-US" b="1" dirty="0">
                <a:latin typeface="Courier New" panose="02070309020205020404" pitchFamily="49" charset="0"/>
                <a:cs typeface="Courier New" panose="02070309020205020404" pitchFamily="49" charset="0"/>
              </a:rPr>
              <a:t>表示路径进行拼接</a:t>
            </a:r>
          </a:p>
          <a:p>
            <a:pPr marL="0" lvl="1">
              <a:buClr>
                <a:schemeClr val="accent2"/>
              </a:buClr>
              <a:buSzPct val="70000"/>
            </a:pPr>
            <a:r>
              <a:rPr lang="zh-CN" altLang="en-US" b="1" dirty="0">
                <a:latin typeface="Courier New" panose="02070309020205020404" pitchFamily="49" charset="0"/>
                <a:cs typeface="Courier New" panose="02070309020205020404" pitchFamily="49" charset="0"/>
              </a:rPr>
              <a:t>        </a:t>
            </a:r>
            <a:r>
              <a:rPr lang="en-US" altLang="zh-CN" b="1" dirty="0">
                <a:solidFill>
                  <a:srgbClr val="00B0F0"/>
                </a:solidFill>
                <a:latin typeface="Courier New" panose="02070309020205020404" pitchFamily="49" charset="0"/>
                <a:cs typeface="Courier New" panose="02070309020205020404" pitchFamily="49" charset="0"/>
              </a:rPr>
              <a:t>File parent2 </a:t>
            </a:r>
            <a:r>
              <a:rPr lang="en-US" altLang="zh-CN" b="1" dirty="0">
                <a:latin typeface="Courier New" panose="02070309020205020404" pitchFamily="49" charset="0"/>
                <a:cs typeface="Courier New" panose="02070309020205020404" pitchFamily="49" charset="0"/>
              </a:rPr>
              <a:t>= new File("C:\\Users\\alienware\\Desktop");</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a:solidFill>
                  <a:srgbClr val="00B0F0"/>
                </a:solidFill>
                <a:latin typeface="Courier New" panose="02070309020205020404" pitchFamily="49" charset="0"/>
                <a:cs typeface="Courier New" panose="02070309020205020404" pitchFamily="49" charset="0"/>
              </a:rPr>
              <a:t>String child2 </a:t>
            </a:r>
            <a:r>
              <a:rPr lang="en-US" altLang="zh-CN" b="1" dirty="0">
                <a:latin typeface="Courier New" panose="02070309020205020404" pitchFamily="49" charset="0"/>
                <a:cs typeface="Courier New" panose="02070309020205020404" pitchFamily="49" charset="0"/>
              </a:rPr>
              <a:t>= "a.txt";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a:solidFill>
                  <a:srgbClr val="00B0F0"/>
                </a:solidFill>
                <a:latin typeface="Courier New" panose="02070309020205020404" pitchFamily="49" charset="0"/>
                <a:cs typeface="Courier New" panose="02070309020205020404" pitchFamily="49" charset="0"/>
              </a:rPr>
              <a:t>File f4 = new File(parent2,child2);</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(f4);//C:\Users\alienware\Desktop\a.txt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19193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58314" y="1403811"/>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相对路径和绝对路径</a:t>
            </a:r>
          </a:p>
        </p:txBody>
      </p:sp>
      <p:sp>
        <p:nvSpPr>
          <p:cNvPr id="7" name="TextBox 6">
            <a:extLst>
              <a:ext uri="{FF2B5EF4-FFF2-40B4-BE49-F238E27FC236}">
                <a16:creationId xmlns:a16="http://schemas.microsoft.com/office/drawing/2014/main" id="{A3FB5EBF-CA6B-F3E3-4F9C-DD2393F1E560}"/>
              </a:ext>
            </a:extLst>
          </p:cNvPr>
          <p:cNvSpPr txBox="1"/>
          <p:nvPr/>
        </p:nvSpPr>
        <p:spPr>
          <a:xfrm>
            <a:off x="658314" y="2233452"/>
            <a:ext cx="6184778"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绝对路径</a:t>
            </a: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从盘符根目录开始，一直到某个具体的文件或文件夹</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11" name="图片 10">
            <a:extLst>
              <a:ext uri="{FF2B5EF4-FFF2-40B4-BE49-F238E27FC236}">
                <a16:creationId xmlns:a16="http://schemas.microsoft.com/office/drawing/2014/main" id="{BABD3D4F-EB15-AD35-27DD-FD185CDB6E6B}"/>
              </a:ext>
            </a:extLst>
          </p:cNvPr>
          <p:cNvPicPr>
            <a:picLocks noChangeAspect="1"/>
          </p:cNvPicPr>
          <p:nvPr/>
        </p:nvPicPr>
        <p:blipFill>
          <a:blip r:embed="rId3"/>
          <a:stretch>
            <a:fillRect/>
          </a:stretch>
        </p:blipFill>
        <p:spPr>
          <a:xfrm>
            <a:off x="1796921" y="3076100"/>
            <a:ext cx="4241100" cy="122898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标题 1">
            <a:extLst>
              <a:ext uri="{FF2B5EF4-FFF2-40B4-BE49-F238E27FC236}">
                <a16:creationId xmlns:a16="http://schemas.microsoft.com/office/drawing/2014/main" id="{E15EDAA6-7EE4-494D-AF20-42E09459366E}"/>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6" name="直接连接符 5">
            <a:extLst>
              <a:ext uri="{FF2B5EF4-FFF2-40B4-BE49-F238E27FC236}">
                <a16:creationId xmlns:a16="http://schemas.microsoft.com/office/drawing/2014/main" id="{2336F11B-B1CD-46B3-BC6C-F1AD7D772D7C}"/>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4410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0A9F8F0-63EA-3625-1A00-36529D27497D}"/>
              </a:ext>
            </a:extLst>
          </p:cNvPr>
          <p:cNvPicPr>
            <a:picLocks noChangeAspect="1"/>
          </p:cNvPicPr>
          <p:nvPr/>
        </p:nvPicPr>
        <p:blipFill>
          <a:blip r:embed="rId3"/>
          <a:stretch>
            <a:fillRect/>
          </a:stretch>
        </p:blipFill>
        <p:spPr>
          <a:xfrm>
            <a:off x="1065819" y="2463314"/>
            <a:ext cx="5802120" cy="302991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7" name="TextBox 6">
            <a:extLst>
              <a:ext uri="{FF2B5EF4-FFF2-40B4-BE49-F238E27FC236}">
                <a16:creationId xmlns:a16="http://schemas.microsoft.com/office/drawing/2014/main" id="{A3FB5EBF-CA6B-F3E3-4F9C-DD2393F1E560}"/>
              </a:ext>
            </a:extLst>
          </p:cNvPr>
          <p:cNvSpPr txBox="1"/>
          <p:nvPr/>
        </p:nvSpPr>
        <p:spPr>
          <a:xfrm>
            <a:off x="658314" y="2233452"/>
            <a:ext cx="6184778"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相对路径</a:t>
            </a: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相对于当前项目</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5" name="标题 1">
            <a:extLst>
              <a:ext uri="{FF2B5EF4-FFF2-40B4-BE49-F238E27FC236}">
                <a16:creationId xmlns:a16="http://schemas.microsoft.com/office/drawing/2014/main" id="{76FD205C-8ABE-407F-8787-DC59D768B91D}"/>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8" name="直接连接符 7">
            <a:extLst>
              <a:ext uri="{FF2B5EF4-FFF2-40B4-BE49-F238E27FC236}">
                <a16:creationId xmlns:a16="http://schemas.microsoft.com/office/drawing/2014/main" id="{23EE3916-CCC1-4B8A-80AA-6D99D06A38B1}"/>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2">
            <a:extLst>
              <a:ext uri="{FF2B5EF4-FFF2-40B4-BE49-F238E27FC236}">
                <a16:creationId xmlns:a16="http://schemas.microsoft.com/office/drawing/2014/main" id="{B6B32313-3B51-49F7-A082-6CD2FD264FEB}"/>
              </a:ext>
            </a:extLst>
          </p:cNvPr>
          <p:cNvSpPr txBox="1"/>
          <p:nvPr/>
        </p:nvSpPr>
        <p:spPr>
          <a:xfrm>
            <a:off x="658314" y="1403811"/>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相对路径和绝对路径</a:t>
            </a:r>
          </a:p>
        </p:txBody>
      </p:sp>
    </p:spTree>
    <p:extLst>
      <p:ext uri="{BB962C8B-B14F-4D97-AF65-F5344CB8AC3E}">
        <p14:creationId xmlns:p14="http://schemas.microsoft.com/office/powerpoint/2010/main" val="103962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3FB5EBF-CA6B-F3E3-4F9C-DD2393F1E560}"/>
              </a:ext>
            </a:extLst>
          </p:cNvPr>
          <p:cNvSpPr txBox="1"/>
          <p:nvPr/>
        </p:nvSpPr>
        <p:spPr>
          <a:xfrm>
            <a:off x="658314" y="2233452"/>
            <a:ext cx="6184778"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相对路径</a:t>
            </a:r>
            <a:r>
              <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相对于当前项目</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9" name="图片 8">
            <a:extLst>
              <a:ext uri="{FF2B5EF4-FFF2-40B4-BE49-F238E27FC236}">
                <a16:creationId xmlns:a16="http://schemas.microsoft.com/office/drawing/2014/main" id="{986CF106-83FF-AFE1-1DD0-099185503D08}"/>
              </a:ext>
            </a:extLst>
          </p:cNvPr>
          <p:cNvPicPr>
            <a:picLocks noChangeAspect="1"/>
          </p:cNvPicPr>
          <p:nvPr/>
        </p:nvPicPr>
        <p:blipFill>
          <a:blip r:embed="rId3"/>
          <a:stretch>
            <a:fillRect/>
          </a:stretch>
        </p:blipFill>
        <p:spPr>
          <a:xfrm>
            <a:off x="688478" y="2924944"/>
            <a:ext cx="7877580" cy="2914800"/>
          </a:xfrm>
          <a:prstGeom prst="rect">
            <a:avLst/>
          </a:prstGeom>
        </p:spPr>
      </p:pic>
      <p:sp>
        <p:nvSpPr>
          <p:cNvPr id="5" name="标题 1">
            <a:extLst>
              <a:ext uri="{FF2B5EF4-FFF2-40B4-BE49-F238E27FC236}">
                <a16:creationId xmlns:a16="http://schemas.microsoft.com/office/drawing/2014/main" id="{349AF89F-FE07-4832-80A0-7D856EB1B7C2}"/>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6" name="直接连接符 5">
            <a:extLst>
              <a:ext uri="{FF2B5EF4-FFF2-40B4-BE49-F238E27FC236}">
                <a16:creationId xmlns:a16="http://schemas.microsoft.com/office/drawing/2014/main" id="{F1137BE4-D7E7-4964-9A32-61B7AF9DF28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2">
            <a:extLst>
              <a:ext uri="{FF2B5EF4-FFF2-40B4-BE49-F238E27FC236}">
                <a16:creationId xmlns:a16="http://schemas.microsoft.com/office/drawing/2014/main" id="{65F108AE-9923-4C36-B6A4-41D8ACAACA2B}"/>
              </a:ext>
            </a:extLst>
          </p:cNvPr>
          <p:cNvSpPr txBox="1"/>
          <p:nvPr/>
        </p:nvSpPr>
        <p:spPr>
          <a:xfrm>
            <a:off x="658314" y="1403811"/>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相对路径和绝对路径</a:t>
            </a:r>
          </a:p>
        </p:txBody>
      </p:sp>
    </p:spTree>
    <p:extLst>
      <p:ext uri="{BB962C8B-B14F-4D97-AF65-F5344CB8AC3E}">
        <p14:creationId xmlns:p14="http://schemas.microsoft.com/office/powerpoint/2010/main" val="205011773"/>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11560" y="1325797"/>
            <a:ext cx="3514725" cy="618952"/>
          </a:xfrm>
          <a:prstGeom prst="rect">
            <a:avLst/>
          </a:prstGeom>
          <a:noFill/>
        </p:spPr>
        <p:txBody>
          <a:bodyPr>
            <a:spAutoFit/>
          </a:bodyPr>
          <a:lstStyle/>
          <a:p>
            <a:pPr eaLnBrk="0" hangingPunct="0">
              <a:lnSpc>
                <a:spcPct val="200000"/>
              </a:lnSpc>
              <a:defRPr/>
            </a:pP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类的常用方法</a:t>
            </a:r>
          </a:p>
        </p:txBody>
      </p:sp>
      <p:graphicFrame>
        <p:nvGraphicFramePr>
          <p:cNvPr id="3" name="表格 2">
            <a:extLst>
              <a:ext uri="{FF2B5EF4-FFF2-40B4-BE49-F238E27FC236}">
                <a16:creationId xmlns:a16="http://schemas.microsoft.com/office/drawing/2014/main" id="{5C4A95A8-8696-F0DD-E246-BE6EDB23F68A}"/>
              </a:ext>
            </a:extLst>
          </p:cNvPr>
          <p:cNvGraphicFramePr>
            <a:graphicFrameLocks noGrp="1"/>
          </p:cNvGraphicFramePr>
          <p:nvPr>
            <p:extLst>
              <p:ext uri="{D42A27DB-BD31-4B8C-83A1-F6EECF244321}">
                <p14:modId xmlns:p14="http://schemas.microsoft.com/office/powerpoint/2010/main" val="3472777582"/>
              </p:ext>
            </p:extLst>
          </p:nvPr>
        </p:nvGraphicFramePr>
        <p:xfrm>
          <a:off x="573117" y="2276873"/>
          <a:ext cx="7416824" cy="3448323"/>
        </p:xfrm>
        <a:graphic>
          <a:graphicData uri="http://schemas.openxmlformats.org/drawingml/2006/table">
            <a:tbl>
              <a:tblPr/>
              <a:tblGrid>
                <a:gridCol w="3527057">
                  <a:extLst>
                    <a:ext uri="{9D8B030D-6E8A-4147-A177-3AD203B41FA5}">
                      <a16:colId xmlns:a16="http://schemas.microsoft.com/office/drawing/2014/main" val="1138920238"/>
                    </a:ext>
                  </a:extLst>
                </a:gridCol>
                <a:gridCol w="3889767">
                  <a:extLst>
                    <a:ext uri="{9D8B030D-6E8A-4147-A177-3AD203B41FA5}">
                      <a16:colId xmlns:a16="http://schemas.microsoft.com/office/drawing/2014/main" val="432614512"/>
                    </a:ext>
                  </a:extLst>
                </a:gridCol>
              </a:tblGrid>
              <a:tr h="32386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en-US" sz="1200" b="0" i="0" u="none" strike="noStrike" cap="none" normalizeH="0" baseline="0" dirty="0">
                          <a:ln>
                            <a:noFill/>
                          </a:ln>
                          <a:solidFill>
                            <a:srgbClr val="FFFFFF"/>
                          </a:solidFill>
                          <a:effectLst/>
                          <a:latin typeface="Consolas" panose="020B0609020204030204" pitchFamily="49" charset="0"/>
                          <a:ea typeface="Alibaba PuHuiTi R" pitchFamily="18" charset="-122"/>
                          <a:cs typeface="Alibaba PuHuiTi R" pitchFamily="18" charset="-122"/>
                        </a:rPr>
                        <a:t>方法名称</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en-US" sz="1200" b="0" i="0" u="none" strike="noStrike" cap="none" normalizeH="0" baseline="0" dirty="0">
                          <a:ln>
                            <a:noFill/>
                          </a:ln>
                          <a:solidFill>
                            <a:srgbClr val="FFFFFF"/>
                          </a:solidFill>
                          <a:effectLst/>
                          <a:latin typeface="Consolas" panose="020B0609020204030204" pitchFamily="49" charset="0"/>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366749">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public </a:t>
                      </a:r>
                      <a:r>
                        <a:rPr lang="en-US" altLang="zh-CN" sz="1600" b="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boolean</a:t>
                      </a: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 </a:t>
                      </a:r>
                      <a:r>
                        <a:rPr lang="en-US" altLang="zh-CN" sz="1600" b="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isDirectory</a:t>
                      </a: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a:t>
                      </a:r>
                      <a:endParaRPr kumimoji="0" lang="zh-CN" altLang="en-US"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lang="zh-CN" altLang="en-US" sz="1400" b="0" dirty="0">
                          <a:solidFill>
                            <a:schemeClr val="tx1">
                              <a:lumMod val="95000"/>
                              <a:lumOff val="5000"/>
                            </a:schemeClr>
                          </a:solidFill>
                          <a:latin typeface="Consolas" panose="020B0609020204030204" pitchFamily="49" charset="0"/>
                          <a:ea typeface="阿里巴巴普惠体" panose="00020600040101010101"/>
                        </a:rPr>
                        <a:t>判断此路径名表示的</a:t>
                      </a:r>
                      <a:r>
                        <a:rPr lang="en-US" altLang="zh-CN" sz="1400" b="0" dirty="0">
                          <a:solidFill>
                            <a:schemeClr val="tx1">
                              <a:lumMod val="95000"/>
                              <a:lumOff val="5000"/>
                            </a:schemeClr>
                          </a:solidFill>
                          <a:latin typeface="Consolas" panose="020B0609020204030204" pitchFamily="49" charset="0"/>
                          <a:ea typeface="阿里巴巴普惠体" panose="00020600040101010101"/>
                        </a:rPr>
                        <a:t>File</a:t>
                      </a:r>
                      <a:r>
                        <a:rPr lang="zh-CN" altLang="en-US" sz="1400" b="0" dirty="0">
                          <a:solidFill>
                            <a:schemeClr val="tx1">
                              <a:lumMod val="95000"/>
                              <a:lumOff val="5000"/>
                            </a:schemeClr>
                          </a:solidFill>
                          <a:latin typeface="Consolas" panose="020B0609020204030204" pitchFamily="49" charset="0"/>
                          <a:ea typeface="阿里巴巴普惠体" panose="00020600040101010101"/>
                        </a:rPr>
                        <a:t>是否为文件夹</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r h="366749">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public </a:t>
                      </a:r>
                      <a:r>
                        <a:rPr lang="en-US" altLang="zh-CN" sz="1600" b="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boolean</a:t>
                      </a: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 </a:t>
                      </a:r>
                      <a:r>
                        <a:rPr lang="en-US" altLang="zh-CN" sz="1600" b="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isFile</a:t>
                      </a: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a:t>
                      </a:r>
                      <a:endParaRPr kumimoji="0" lang="zh-CN" altLang="en-US"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a:rPr>
                        <a:t>判断此路径名表示的</a:t>
                      </a: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a:rPr>
                        <a:t>File</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a:rPr>
                        <a:t>是否为文件</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17659233"/>
                  </a:ext>
                </a:extLst>
              </a:tr>
              <a:tr h="366749">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public </a:t>
                      </a:r>
                      <a:r>
                        <a:rPr lang="en-US" altLang="zh-CN" sz="1600" b="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boolean</a:t>
                      </a: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 exists()</a:t>
                      </a:r>
                      <a:endParaRPr kumimoji="0" lang="zh-CN" altLang="en-US"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a:rPr>
                        <a:t>判断此路径名表示的</a:t>
                      </a: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a:rPr>
                        <a:t>File</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a:rPr>
                        <a:t>是否存在</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20532218"/>
                  </a:ext>
                </a:extLst>
              </a:tr>
              <a:tr h="377651">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rPr>
                        <a:t>public long length()</a:t>
                      </a:r>
                      <a:endParaRPr kumimoji="0" lang="zh-CN" altLang="en-US"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阿里巴巴普惠体" panose="00020600040101010101"/>
                        </a:rPr>
                        <a:t>返回文件的大小（字节数量）</a:t>
                      </a:r>
                      <a:endParaRPr lang="en-US" altLang="zh-CN" sz="1400" b="0" dirty="0">
                        <a:solidFill>
                          <a:schemeClr val="tx1">
                            <a:lumMod val="95000"/>
                            <a:lumOff val="5000"/>
                          </a:schemeClr>
                        </a:solidFill>
                        <a:latin typeface="Consolas" panose="020B0609020204030204" pitchFamily="49" charset="0"/>
                        <a:ea typeface="阿里巴巴普惠体" panose="00020600040101010101"/>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99048127"/>
                  </a:ext>
                </a:extLst>
              </a:tr>
              <a:tr h="377651">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rPr>
                        <a:t>public String </a:t>
                      </a:r>
                      <a:r>
                        <a:rPr kumimoji="0" lang="en-US" altLang="zh-CN" sz="1600" b="0" i="0" u="none" strike="noStrike" cap="none" normalizeH="0" baseline="0" dirty="0" err="1">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rPr>
                        <a:t>getAbsolutePath</a:t>
                      </a:r>
                      <a:r>
                        <a:rPr kumimoji="0" lang="en-US" altLang="zh-CN"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rPr>
                        <a:t>()</a:t>
                      </a:r>
                      <a:endParaRPr kumimoji="0" lang="zh-CN" altLang="en-US"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阿里巴巴普惠体" panose="00020600040101010101"/>
                        </a:rPr>
                        <a:t>返回文件的绝对路径</a:t>
                      </a:r>
                      <a:endParaRPr lang="en-US" altLang="zh-CN" sz="1400" b="0" dirty="0">
                        <a:solidFill>
                          <a:schemeClr val="tx1">
                            <a:lumMod val="95000"/>
                            <a:lumOff val="5000"/>
                          </a:schemeClr>
                        </a:solidFill>
                        <a:latin typeface="Consolas" panose="020B0609020204030204" pitchFamily="49" charset="0"/>
                        <a:ea typeface="阿里巴巴普惠体" panose="00020600040101010101"/>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592178387"/>
                  </a:ext>
                </a:extLst>
              </a:tr>
              <a:tr h="377651">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public String </a:t>
                      </a:r>
                      <a:r>
                        <a:rPr lang="en-US" altLang="zh-CN" sz="1600" b="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getPath</a:t>
                      </a:r>
                      <a:r>
                        <a:rPr lang="en-US" altLang="zh-CN" sz="1600" b="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a:t>
                      </a:r>
                      <a:endParaRPr kumimoji="0" lang="zh-CN" altLang="en-US"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阿里巴巴普惠体" panose="00020600040101010101"/>
                        </a:rPr>
                        <a:t>返回定义文件时使用的路径</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69443818"/>
                  </a:ext>
                </a:extLst>
              </a:tr>
              <a:tr h="377651">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rPr>
                        <a:t>public String </a:t>
                      </a:r>
                      <a:r>
                        <a:rPr kumimoji="0" lang="en-US" altLang="zh-CN" sz="1600" b="0" i="0" u="none" strike="noStrike" cap="none" normalizeH="0" baseline="0" dirty="0" err="1">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rPr>
                        <a:t>getName</a:t>
                      </a:r>
                      <a:r>
                        <a:rPr kumimoji="0" lang="en-US" altLang="zh-CN"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rPr>
                        <a:t>()</a:t>
                      </a:r>
                      <a:endParaRPr kumimoji="0" lang="zh-CN" altLang="en-US"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阿里巴巴普惠体" panose="00020600040101010101"/>
                        </a:rPr>
                        <a:t>返回文件的名称，带后缀</a:t>
                      </a:r>
                      <a:endParaRPr lang="en-US" altLang="zh-CN" sz="1400" b="0" dirty="0">
                        <a:solidFill>
                          <a:schemeClr val="tx1">
                            <a:lumMod val="95000"/>
                            <a:lumOff val="5000"/>
                          </a:schemeClr>
                        </a:solidFill>
                        <a:latin typeface="Consolas" panose="020B0609020204030204" pitchFamily="49" charset="0"/>
                        <a:ea typeface="阿里巴巴普惠体" panose="00020600040101010101"/>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547850725"/>
                  </a:ext>
                </a:extLst>
              </a:tr>
              <a:tr h="377651">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en-US" altLang="zh-CN" sz="1600" kern="1200" dirty="0">
                          <a:solidFill>
                            <a:schemeClr val="tx1">
                              <a:lumMod val="95000"/>
                              <a:lumOff val="5000"/>
                            </a:schemeClr>
                          </a:solidFill>
                          <a:effectLst/>
                          <a:latin typeface="Times New Roman" panose="02020603050405020304" pitchFamily="18" charset="0"/>
                          <a:ea typeface="+mn-ea"/>
                          <a:cs typeface="Times New Roman" panose="02020603050405020304" pitchFamily="18" charset="0"/>
                        </a:rPr>
                        <a:t>public long </a:t>
                      </a:r>
                      <a:r>
                        <a:rPr lang="en-US" altLang="zh-CN" sz="1600" kern="1200" dirty="0" err="1">
                          <a:solidFill>
                            <a:schemeClr val="tx1">
                              <a:lumMod val="95000"/>
                              <a:lumOff val="5000"/>
                            </a:schemeClr>
                          </a:solidFill>
                          <a:effectLst/>
                          <a:latin typeface="Times New Roman" panose="02020603050405020304" pitchFamily="18" charset="0"/>
                          <a:ea typeface="+mn-ea"/>
                          <a:cs typeface="Times New Roman" panose="02020603050405020304" pitchFamily="18" charset="0"/>
                        </a:rPr>
                        <a:t>lastModified</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a:t>
                      </a:r>
                      <a:endParaRPr kumimoji="0" lang="zh-CN" altLang="en-US" sz="1600" b="0" i="0" u="none" strike="noStrike" cap="none" normalizeH="0" baseline="0" dirty="0">
                        <a:ln>
                          <a:noFill/>
                        </a:ln>
                        <a:solidFill>
                          <a:schemeClr val="tx1">
                            <a:lumMod val="95000"/>
                            <a:lumOff val="5000"/>
                          </a:schemeClr>
                        </a:solidFill>
                        <a:effectLst/>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阿里巴巴普惠体" panose="00020600040101010101"/>
                        </a:rPr>
                        <a:t>返回文件的最后修改时间（时间毫秒值）</a:t>
                      </a:r>
                      <a:endParaRPr lang="en-US" altLang="zh-CN" sz="1400" b="0" dirty="0">
                        <a:solidFill>
                          <a:schemeClr val="tx1">
                            <a:lumMod val="95000"/>
                            <a:lumOff val="5000"/>
                          </a:schemeClr>
                        </a:solidFill>
                        <a:latin typeface="Consolas" panose="020B0609020204030204" pitchFamily="49" charset="0"/>
                        <a:ea typeface="阿里巴巴普惠体" panose="00020600040101010101"/>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602201616"/>
                  </a:ext>
                </a:extLst>
              </a:tr>
            </a:tbl>
          </a:graphicData>
        </a:graphic>
      </p:graphicFrame>
      <p:sp>
        <p:nvSpPr>
          <p:cNvPr id="4" name="标题 1">
            <a:extLst>
              <a:ext uri="{FF2B5EF4-FFF2-40B4-BE49-F238E27FC236}">
                <a16:creationId xmlns:a16="http://schemas.microsoft.com/office/drawing/2014/main" id="{EA563B6D-08D7-4B35-8DBA-4225511A2705}"/>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5" name="直接连接符 4">
            <a:extLst>
              <a:ext uri="{FF2B5EF4-FFF2-40B4-BE49-F238E27FC236}">
                <a16:creationId xmlns:a16="http://schemas.microsoft.com/office/drawing/2014/main" id="{B6CDD55B-A1CE-4A5B-B37C-22F4E2B55DC0}"/>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3886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50447" y="1357925"/>
            <a:ext cx="3514725" cy="618952"/>
          </a:xfrm>
          <a:prstGeom prst="rect">
            <a:avLst/>
          </a:prstGeom>
          <a:noFill/>
        </p:spPr>
        <p:txBody>
          <a:bodyPr>
            <a:spAutoFit/>
          </a:bodyPr>
          <a:lstStyle/>
          <a:p>
            <a:pPr eaLnBrk="0" hangingPunct="0">
              <a:lnSpc>
                <a:spcPct val="200000"/>
              </a:lnSpc>
              <a:defRPr/>
            </a:pP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类的创建和删除方法</a:t>
            </a:r>
          </a:p>
        </p:txBody>
      </p:sp>
      <p:graphicFrame>
        <p:nvGraphicFramePr>
          <p:cNvPr id="4" name="表格 3">
            <a:extLst>
              <a:ext uri="{FF2B5EF4-FFF2-40B4-BE49-F238E27FC236}">
                <a16:creationId xmlns:a16="http://schemas.microsoft.com/office/drawing/2014/main" id="{89615413-5B8A-EE43-E235-EC9CCAAAE505}"/>
              </a:ext>
            </a:extLst>
          </p:cNvPr>
          <p:cNvGraphicFramePr>
            <a:graphicFrameLocks noGrp="1"/>
          </p:cNvGraphicFramePr>
          <p:nvPr>
            <p:extLst>
              <p:ext uri="{D42A27DB-BD31-4B8C-83A1-F6EECF244321}">
                <p14:modId xmlns:p14="http://schemas.microsoft.com/office/powerpoint/2010/main" val="2266149319"/>
              </p:ext>
            </p:extLst>
          </p:nvPr>
        </p:nvGraphicFramePr>
        <p:xfrm>
          <a:off x="717429" y="2230911"/>
          <a:ext cx="6806899" cy="1511174"/>
        </p:xfrm>
        <a:graphic>
          <a:graphicData uri="http://schemas.openxmlformats.org/drawingml/2006/table">
            <a:tbl>
              <a:tblPr/>
              <a:tblGrid>
                <a:gridCol w="3237011">
                  <a:extLst>
                    <a:ext uri="{9D8B030D-6E8A-4147-A177-3AD203B41FA5}">
                      <a16:colId xmlns:a16="http://schemas.microsoft.com/office/drawing/2014/main" val="1138920238"/>
                    </a:ext>
                  </a:extLst>
                </a:gridCol>
                <a:gridCol w="3569888">
                  <a:extLst>
                    <a:ext uri="{9D8B030D-6E8A-4147-A177-3AD203B41FA5}">
                      <a16:colId xmlns:a16="http://schemas.microsoft.com/office/drawing/2014/main" val="432614512"/>
                    </a:ext>
                  </a:extLst>
                </a:gridCol>
              </a:tblGrid>
              <a:tr h="33688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方法名称</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37707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50000"/>
                        </a:lnSpc>
                        <a:spcBef>
                          <a:spcPct val="0"/>
                        </a:spcBef>
                        <a:spcAft>
                          <a:spcPct val="0"/>
                        </a:spcAft>
                        <a:buClrTx/>
                        <a:buSzTx/>
                        <a:buFontTx/>
                        <a:buNone/>
                        <a:tabLst/>
                      </a:pP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public </a:t>
                      </a:r>
                      <a:r>
                        <a:rPr lang="en-US" altLang="zh-CN" sz="1600" b="0" kern="120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boolean</a:t>
                      </a: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 </a:t>
                      </a:r>
                      <a:r>
                        <a:rPr lang="en-US" altLang="zh-CN" sz="1600" b="0" kern="120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createNewFile</a:t>
                      </a: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a:t>
                      </a:r>
                      <a:endParaRPr lang="zh-CN" altLang="en-US"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fontAlgn="auto">
                        <a:lnSpc>
                          <a:spcPct val="150000"/>
                        </a:lnSpc>
                        <a:spcBef>
                          <a:spcPts val="0"/>
                        </a:spcBef>
                        <a:spcAft>
                          <a:spcPts val="0"/>
                        </a:spcAft>
                        <a:buFont typeface="Wingdings" pitchFamily="2" charset="2"/>
                        <a:buNone/>
                        <a:defRPr/>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创建一个新的空的文件</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r h="282924">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public </a:t>
                      </a:r>
                      <a:r>
                        <a:rPr lang="en-US" altLang="zh-CN" sz="1600" b="0" kern="120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boolean</a:t>
                      </a: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 </a:t>
                      </a:r>
                      <a:r>
                        <a:rPr lang="en-US" altLang="zh-CN" sz="1600" b="0" kern="120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mkdir</a:t>
                      </a: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a:t>
                      </a:r>
                      <a:endParaRPr lang="zh-CN" altLang="en-US"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只能创建一级文件夹</a:t>
                      </a:r>
                      <a:endParaRPr kumimoji="0" lang="zh-CN" altLang="en-US" sz="1400" b="0" i="0" u="none" strike="noStrike" cap="none" normalizeH="0" baseline="0" dirty="0">
                        <a:ln>
                          <a:noFill/>
                        </a:ln>
                        <a:solidFill>
                          <a:schemeClr val="tx1">
                            <a:lumMod val="85000"/>
                            <a:lumOff val="15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17659233"/>
                  </a:ext>
                </a:extLst>
              </a:tr>
              <a:tr h="336887">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public </a:t>
                      </a:r>
                      <a:r>
                        <a:rPr lang="en-US" altLang="zh-CN" sz="1600" b="0" kern="120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boolean</a:t>
                      </a: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 </a:t>
                      </a:r>
                      <a:r>
                        <a:rPr lang="en-US" altLang="zh-CN" sz="1600" b="0" kern="1200" dirty="0" err="1">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mkdirs</a:t>
                      </a:r>
                      <a:r>
                        <a:rPr lang="en-US" altLang="zh-CN"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rPr>
                        <a:t>()</a:t>
                      </a:r>
                      <a:endParaRPr lang="zh-CN" altLang="en-US" sz="1600" b="0" kern="1200" dirty="0">
                        <a:solidFill>
                          <a:schemeClr val="tx1">
                            <a:lumMod val="95000"/>
                            <a:lumOff val="5000"/>
                          </a:schemeClr>
                        </a:solidFill>
                        <a:latin typeface="Times New Roman" panose="02020603050405020304" pitchFamily="18" charset="0"/>
                        <a:ea typeface="微软雅黑" pitchFamily="34" charset="-122"/>
                        <a:cs typeface="Times New Roman" panose="02020603050405020304" pitchFamily="18"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可以创建多级文件夹</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20532218"/>
                  </a:ext>
                </a:extLst>
              </a:tr>
            </a:tbl>
          </a:graphicData>
        </a:graphic>
      </p:graphicFrame>
      <p:graphicFrame>
        <p:nvGraphicFramePr>
          <p:cNvPr id="5" name="表格 4">
            <a:extLst>
              <a:ext uri="{FF2B5EF4-FFF2-40B4-BE49-F238E27FC236}">
                <a16:creationId xmlns:a16="http://schemas.microsoft.com/office/drawing/2014/main" id="{60635B73-3D1A-D1B3-3739-D443A2E779E7}"/>
              </a:ext>
            </a:extLst>
          </p:cNvPr>
          <p:cNvGraphicFramePr>
            <a:graphicFrameLocks noGrp="1"/>
          </p:cNvGraphicFramePr>
          <p:nvPr>
            <p:extLst>
              <p:ext uri="{D42A27DB-BD31-4B8C-83A1-F6EECF244321}">
                <p14:modId xmlns:p14="http://schemas.microsoft.com/office/powerpoint/2010/main" val="4254780785"/>
              </p:ext>
            </p:extLst>
          </p:nvPr>
        </p:nvGraphicFramePr>
        <p:xfrm>
          <a:off x="717428" y="4063083"/>
          <a:ext cx="6806900" cy="752916"/>
        </p:xfrm>
        <a:graphic>
          <a:graphicData uri="http://schemas.openxmlformats.org/drawingml/2006/table">
            <a:tbl>
              <a:tblPr/>
              <a:tblGrid>
                <a:gridCol w="3196253">
                  <a:extLst>
                    <a:ext uri="{9D8B030D-6E8A-4147-A177-3AD203B41FA5}">
                      <a16:colId xmlns:a16="http://schemas.microsoft.com/office/drawing/2014/main" val="1138920238"/>
                    </a:ext>
                  </a:extLst>
                </a:gridCol>
                <a:gridCol w="3610647">
                  <a:extLst>
                    <a:ext uri="{9D8B030D-6E8A-4147-A177-3AD203B41FA5}">
                      <a16:colId xmlns:a16="http://schemas.microsoft.com/office/drawing/2014/main" val="432614512"/>
                    </a:ext>
                  </a:extLst>
                </a:gridCol>
              </a:tblGrid>
              <a:tr h="31603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方法名称</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阿里巴巴普惠体" panose="00020600040101010101"/>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410549">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lang="en-US" altLang="zh-CN" sz="1600" dirty="0">
                          <a:solidFill>
                            <a:schemeClr val="tx1">
                              <a:lumMod val="85000"/>
                              <a:lumOff val="15000"/>
                            </a:schemeClr>
                          </a:solidFill>
                          <a:latin typeface="Times New Roman" panose="02020603050405020304" pitchFamily="18" charset="0"/>
                          <a:ea typeface="微软雅黑" pitchFamily="34" charset="-122"/>
                          <a:cs typeface="Times New Roman" panose="02020603050405020304" pitchFamily="18" charset="0"/>
                        </a:rPr>
                        <a:t>public boolean delete​()</a:t>
                      </a:r>
                      <a:endParaRPr kumimoji="0" lang="zh-CN" altLang="en-US" sz="1600" b="1" i="0" u="none" strike="noStrike" cap="none" normalizeH="0" baseline="0" dirty="0">
                        <a:ln>
                          <a:noFill/>
                        </a:ln>
                        <a:solidFill>
                          <a:schemeClr val="tx1">
                            <a:lumMod val="85000"/>
                            <a:lumOff val="15000"/>
                          </a:schemeClr>
                        </a:solidFill>
                        <a:effectLst/>
                        <a:latin typeface="Times New Roman" panose="02020603050405020304" pitchFamily="18" charset="0"/>
                        <a:ea typeface="黑体" pitchFamily="49" charset="-122"/>
                        <a:cs typeface="Times New Roman" panose="02020603050405020304" pitchFamily="18" charset="0"/>
                      </a:endParaRPr>
                    </a:p>
                  </a:txBody>
                  <a:tcPr marL="91418" marR="91418" marT="45734" marB="4573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indent="0" fontAlgn="auto">
                        <a:lnSpc>
                          <a:spcPct val="150000"/>
                        </a:lnSpc>
                        <a:spcBef>
                          <a:spcPts val="0"/>
                        </a:spcBef>
                        <a:spcAft>
                          <a:spcPts val="0"/>
                        </a:spcAft>
                        <a:buFont typeface="Wingdings" pitchFamily="2" charset="2"/>
                        <a:buNone/>
                        <a:defRPr/>
                      </a:pPr>
                      <a:r>
                        <a:rPr lang="zh-CN" altLang="en-US" sz="1400" dirty="0">
                          <a:solidFill>
                            <a:schemeClr val="tx1">
                              <a:lumMod val="85000"/>
                              <a:lumOff val="15000"/>
                            </a:schemeClr>
                          </a:solidFill>
                          <a:latin typeface="微软雅黑" pitchFamily="34" charset="-122"/>
                          <a:ea typeface="阿里巴巴普惠体" panose="00020600040101010101"/>
                        </a:rPr>
                        <a:t>删除由此抽象路径名表示的文件或空文件夹</a:t>
                      </a:r>
                      <a:endParaRPr lang="en-US" altLang="zh-CN" sz="1400" dirty="0">
                        <a:solidFill>
                          <a:schemeClr val="tx1">
                            <a:lumMod val="85000"/>
                            <a:lumOff val="15000"/>
                          </a:schemeClr>
                        </a:solidFill>
                        <a:latin typeface="微软雅黑" pitchFamily="34" charset="-122"/>
                        <a:ea typeface="阿里巴巴普惠体" panose="00020600040101010101"/>
                      </a:endParaRPr>
                    </a:p>
                  </a:txBody>
                  <a:tcPr marL="91418" marR="91418" marT="45734" marB="4573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bl>
          </a:graphicData>
        </a:graphic>
      </p:graphicFrame>
      <p:sp>
        <p:nvSpPr>
          <p:cNvPr id="6" name="TextBox 6">
            <a:extLst>
              <a:ext uri="{FF2B5EF4-FFF2-40B4-BE49-F238E27FC236}">
                <a16:creationId xmlns:a16="http://schemas.microsoft.com/office/drawing/2014/main" id="{46591D52-549B-7F64-33BB-78DE09DCAABE}"/>
              </a:ext>
            </a:extLst>
          </p:cNvPr>
          <p:cNvSpPr txBox="1"/>
          <p:nvPr/>
        </p:nvSpPr>
        <p:spPr>
          <a:xfrm>
            <a:off x="916616" y="5379187"/>
            <a:ext cx="4519479" cy="3801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 delete() </a:t>
            </a:r>
            <a:r>
              <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rPr>
              <a:t>方法只能删除空文件夹，且不走回收站 </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7" name="矩形 6">
            <a:extLst>
              <a:ext uri="{FF2B5EF4-FFF2-40B4-BE49-F238E27FC236}">
                <a16:creationId xmlns:a16="http://schemas.microsoft.com/office/drawing/2014/main" id="{58DFDB7F-5AE4-1E0D-12A2-8B83C45A0785}"/>
              </a:ext>
            </a:extLst>
          </p:cNvPr>
          <p:cNvSpPr/>
          <p:nvPr/>
        </p:nvSpPr>
        <p:spPr>
          <a:xfrm>
            <a:off x="836707" y="5144141"/>
            <a:ext cx="4311357" cy="772358"/>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A4AB2A95-62A2-E414-7F3D-99193E1E45DD}"/>
              </a:ext>
            </a:extLst>
          </p:cNvPr>
          <p:cNvSpPr/>
          <p:nvPr/>
        </p:nvSpPr>
        <p:spPr>
          <a:xfrm>
            <a:off x="717428" y="5144141"/>
            <a:ext cx="789972" cy="22570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50" dirty="0">
                <a:latin typeface="Alibaba PuHuiTi R" pitchFamily="18" charset="-122"/>
                <a:ea typeface="Alibaba PuHuiTi R" pitchFamily="18" charset="-122"/>
                <a:cs typeface="Alibaba PuHuiTi R" pitchFamily="18" charset="-122"/>
              </a:rPr>
              <a:t>注意事项</a:t>
            </a:r>
          </a:p>
        </p:txBody>
      </p:sp>
      <p:sp>
        <p:nvSpPr>
          <p:cNvPr id="9" name="标题 1">
            <a:extLst>
              <a:ext uri="{FF2B5EF4-FFF2-40B4-BE49-F238E27FC236}">
                <a16:creationId xmlns:a16="http://schemas.microsoft.com/office/drawing/2014/main" id="{CF9EB0B4-FD7E-4C5C-B834-6FD12D705E87}"/>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endPar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0" name="直接连接符 9">
            <a:extLst>
              <a:ext uri="{FF2B5EF4-FFF2-40B4-BE49-F238E27FC236}">
                <a16:creationId xmlns:a16="http://schemas.microsoft.com/office/drawing/2014/main" id="{B78281F8-1B23-4522-B1E9-72D375B56025}"/>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8346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86382" y="1486030"/>
            <a:ext cx="3514725" cy="618952"/>
          </a:xfrm>
          <a:prstGeom prst="rect">
            <a:avLst/>
          </a:prstGeom>
          <a:noFill/>
        </p:spPr>
        <p:txBody>
          <a:bodyPr>
            <a:spAutoFit/>
          </a:bodyPr>
          <a:lstStyle/>
          <a:p>
            <a:pPr eaLnBrk="0" hangingPunct="0">
              <a:lnSpc>
                <a:spcPct val="200000"/>
              </a:lnSpc>
              <a:defRPr/>
            </a:pP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类的遍历方法</a:t>
            </a:r>
          </a:p>
        </p:txBody>
      </p:sp>
      <p:graphicFrame>
        <p:nvGraphicFramePr>
          <p:cNvPr id="3" name="表格 2">
            <a:extLst>
              <a:ext uri="{FF2B5EF4-FFF2-40B4-BE49-F238E27FC236}">
                <a16:creationId xmlns:a16="http://schemas.microsoft.com/office/drawing/2014/main" id="{15A072F9-4723-C217-7755-19B90A4AF368}"/>
              </a:ext>
            </a:extLst>
          </p:cNvPr>
          <p:cNvGraphicFramePr>
            <a:graphicFrameLocks noGrp="1"/>
          </p:cNvGraphicFramePr>
          <p:nvPr/>
        </p:nvGraphicFramePr>
        <p:xfrm>
          <a:off x="703195" y="2287167"/>
          <a:ext cx="8058150" cy="1141834"/>
        </p:xfrm>
        <a:graphic>
          <a:graphicData uri="http://schemas.openxmlformats.org/drawingml/2006/table">
            <a:tbl>
              <a:tblPr/>
              <a:tblGrid>
                <a:gridCol w="2768002">
                  <a:extLst>
                    <a:ext uri="{9D8B030D-6E8A-4147-A177-3AD203B41FA5}">
                      <a16:colId xmlns:a16="http://schemas.microsoft.com/office/drawing/2014/main" val="1138920238"/>
                    </a:ext>
                  </a:extLst>
                </a:gridCol>
                <a:gridCol w="5290148">
                  <a:extLst>
                    <a:ext uri="{9D8B030D-6E8A-4147-A177-3AD203B41FA5}">
                      <a16:colId xmlns:a16="http://schemas.microsoft.com/office/drawing/2014/main" val="432614512"/>
                    </a:ext>
                  </a:extLst>
                </a:gridCol>
              </a:tblGrid>
              <a:tr h="43535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方法名称</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706476">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en-US" altLang="zh-CN" sz="1200" i="0" kern="1200" dirty="0">
                          <a:solidFill>
                            <a:schemeClr val="tx1"/>
                          </a:solidFill>
                          <a:effectLst/>
                          <a:latin typeface="Consolas" panose="020B0609020204030204" pitchFamily="49" charset="0"/>
                          <a:ea typeface="Alibaba PuHuiTi R"/>
                          <a:cs typeface="+mn-cs"/>
                        </a:rPr>
                        <a:t>public File[] </a:t>
                      </a:r>
                      <a:r>
                        <a:rPr lang="en-US" altLang="zh-CN" sz="1200" i="0" kern="1200" dirty="0" err="1">
                          <a:solidFill>
                            <a:schemeClr val="tx1"/>
                          </a:solidFill>
                          <a:effectLst/>
                          <a:latin typeface="Consolas" panose="020B0609020204030204" pitchFamily="49" charset="0"/>
                          <a:ea typeface="Alibaba PuHuiTi R"/>
                          <a:cs typeface="+mn-cs"/>
                        </a:rPr>
                        <a:t>listFiles</a:t>
                      </a:r>
                      <a:r>
                        <a:rPr lang="en-US" altLang="zh-CN" sz="1200" i="0" kern="1200" dirty="0">
                          <a:solidFill>
                            <a:schemeClr val="tx1"/>
                          </a:solidFill>
                          <a:effectLst/>
                          <a:latin typeface="Consolas" panose="020B0609020204030204" pitchFamily="49" charset="0"/>
                          <a:ea typeface="Alibaba PuHuiTi R"/>
                          <a:cs typeface="+mn-cs"/>
                        </a:rPr>
                        <a:t>()</a:t>
                      </a:r>
                      <a:endParaRPr kumimoji="0" lang="zh-CN" altLang="en-US" sz="1200" b="0" i="0" u="none" strike="noStrike" cap="none" normalizeH="0" baseline="0" dirty="0">
                        <a:ln>
                          <a:noFill/>
                        </a:ln>
                        <a:solidFill>
                          <a:schemeClr val="tx1">
                            <a:lumMod val="85000"/>
                            <a:lumOff val="15000"/>
                          </a:schemeClr>
                        </a:solidFill>
                        <a:effectLst/>
                        <a:latin typeface="Consolas" panose="020B0609020204030204" pitchFamily="49" charset="0"/>
                        <a:ea typeface="Alibaba PuHuiTi R"/>
                      </a:endParaRPr>
                    </a:p>
                  </a:txBody>
                  <a:tcPr marL="91418" marR="91418" marT="45734" marB="4573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200" i="0" kern="1200" dirty="0">
                          <a:solidFill>
                            <a:schemeClr val="tx1"/>
                          </a:solidFill>
                          <a:effectLst/>
                          <a:latin typeface="+mn-lt"/>
                          <a:ea typeface="Alibaba PuHuiTi R"/>
                          <a:cs typeface="+mn-cs"/>
                        </a:rPr>
                        <a:t>获取当前目录下所有的  </a:t>
                      </a:r>
                      <a:r>
                        <a:rPr lang="en-US" altLang="zh-CN" sz="1200" i="0" kern="1200" dirty="0">
                          <a:solidFill>
                            <a:schemeClr val="tx1"/>
                          </a:solidFill>
                          <a:effectLst/>
                          <a:latin typeface="+mn-lt"/>
                          <a:ea typeface="Alibaba PuHuiTi R"/>
                          <a:cs typeface="+mn-cs"/>
                        </a:rPr>
                        <a:t>“</a:t>
                      </a:r>
                      <a:r>
                        <a:rPr lang="zh-CN" altLang="en-US" sz="1200" i="0" kern="1200" dirty="0">
                          <a:solidFill>
                            <a:schemeClr val="tx1"/>
                          </a:solidFill>
                          <a:effectLst/>
                          <a:latin typeface="+mn-lt"/>
                          <a:ea typeface="Alibaba PuHuiTi R"/>
                          <a:cs typeface="+mn-cs"/>
                        </a:rPr>
                        <a:t>一级文件对象</a:t>
                      </a:r>
                      <a:r>
                        <a:rPr lang="en-US" altLang="zh-CN" sz="1200" i="0" kern="1200" dirty="0">
                          <a:solidFill>
                            <a:schemeClr val="tx1"/>
                          </a:solidFill>
                          <a:effectLst/>
                          <a:latin typeface="+mn-lt"/>
                          <a:ea typeface="Alibaba PuHuiTi R"/>
                          <a:cs typeface="+mn-cs"/>
                        </a:rPr>
                        <a:t>” </a:t>
                      </a:r>
                    </a:p>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200" i="0" kern="1200" dirty="0">
                          <a:solidFill>
                            <a:schemeClr val="tx1"/>
                          </a:solidFill>
                          <a:effectLst/>
                          <a:latin typeface="+mn-lt"/>
                          <a:ea typeface="Alibaba PuHuiTi R"/>
                          <a:cs typeface="+mn-cs"/>
                        </a:rPr>
                        <a:t>返回 </a:t>
                      </a:r>
                      <a:r>
                        <a:rPr lang="en-US" altLang="zh-CN" sz="1200" i="0" kern="1200" dirty="0">
                          <a:solidFill>
                            <a:schemeClr val="tx1"/>
                          </a:solidFill>
                          <a:effectLst/>
                          <a:latin typeface="+mn-lt"/>
                          <a:ea typeface="Alibaba PuHuiTi R"/>
                          <a:cs typeface="+mn-cs"/>
                        </a:rPr>
                        <a:t>File </a:t>
                      </a:r>
                      <a:r>
                        <a:rPr lang="zh-CN" altLang="en-US" sz="1200" i="0" kern="1200" dirty="0">
                          <a:solidFill>
                            <a:schemeClr val="tx1"/>
                          </a:solidFill>
                          <a:effectLst/>
                          <a:latin typeface="+mn-lt"/>
                          <a:ea typeface="Alibaba PuHuiTi R"/>
                          <a:cs typeface="+mn-cs"/>
                        </a:rPr>
                        <a:t>数组</a:t>
                      </a:r>
                      <a:endParaRPr lang="en-US" altLang="zh-CN" sz="1200" i="0" kern="1200" dirty="0">
                        <a:solidFill>
                          <a:schemeClr val="tx1"/>
                        </a:solidFill>
                        <a:effectLst/>
                        <a:latin typeface="+mn-lt"/>
                        <a:ea typeface="Alibaba PuHuiTi R"/>
                        <a:cs typeface="+mn-cs"/>
                      </a:endParaRPr>
                    </a:p>
                  </a:txBody>
                  <a:tcPr marL="91418" marR="91418" marT="45734" marB="4573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304122172"/>
                  </a:ext>
                </a:extLst>
              </a:tr>
            </a:tbl>
          </a:graphicData>
        </a:graphic>
      </p:graphicFrame>
      <p:pic>
        <p:nvPicPr>
          <p:cNvPr id="12" name="图片 11">
            <a:extLst>
              <a:ext uri="{FF2B5EF4-FFF2-40B4-BE49-F238E27FC236}">
                <a16:creationId xmlns:a16="http://schemas.microsoft.com/office/drawing/2014/main" id="{522DA7AD-4371-68EC-67FD-F4450D16D1D9}"/>
              </a:ext>
            </a:extLst>
          </p:cNvPr>
          <p:cNvPicPr>
            <a:picLocks noChangeAspect="1"/>
          </p:cNvPicPr>
          <p:nvPr/>
        </p:nvPicPr>
        <p:blipFill>
          <a:blip r:embed="rId3"/>
          <a:stretch>
            <a:fillRect/>
          </a:stretch>
        </p:blipFill>
        <p:spPr>
          <a:xfrm>
            <a:off x="742951" y="3696081"/>
            <a:ext cx="5181866" cy="131451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4" name="图片 13">
            <a:extLst>
              <a:ext uri="{FF2B5EF4-FFF2-40B4-BE49-F238E27FC236}">
                <a16:creationId xmlns:a16="http://schemas.microsoft.com/office/drawing/2014/main" id="{98A994DD-4450-5F66-658B-1DC6F058E35C}"/>
              </a:ext>
            </a:extLst>
          </p:cNvPr>
          <p:cNvPicPr>
            <a:picLocks noChangeAspect="1"/>
          </p:cNvPicPr>
          <p:nvPr/>
        </p:nvPicPr>
        <p:blipFill>
          <a:blip r:embed="rId4"/>
          <a:stretch>
            <a:fillRect/>
          </a:stretch>
        </p:blipFill>
        <p:spPr>
          <a:xfrm>
            <a:off x="6234752" y="3920662"/>
            <a:ext cx="2166297" cy="74327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6" name="标题 1">
            <a:extLst>
              <a:ext uri="{FF2B5EF4-FFF2-40B4-BE49-F238E27FC236}">
                <a16:creationId xmlns:a16="http://schemas.microsoft.com/office/drawing/2014/main" id="{15EA2951-CC4D-4485-89EC-9D90B92EA0BD}"/>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7" name="直接连接符 6">
            <a:extLst>
              <a:ext uri="{FF2B5EF4-FFF2-40B4-BE49-F238E27FC236}">
                <a16:creationId xmlns:a16="http://schemas.microsoft.com/office/drawing/2014/main" id="{E334EE96-4388-4433-85FC-C8B60EE4674E}"/>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08512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86382" y="1486030"/>
            <a:ext cx="3514725" cy="618952"/>
          </a:xfrm>
          <a:prstGeom prst="rect">
            <a:avLst/>
          </a:prstGeom>
          <a:noFill/>
        </p:spPr>
        <p:txBody>
          <a:bodyPr>
            <a:spAutoFit/>
          </a:bodyPr>
          <a:lstStyle/>
          <a:p>
            <a:pPr eaLnBrk="0" hangingPunct="0">
              <a:lnSpc>
                <a:spcPct val="200000"/>
              </a:lnSpc>
              <a:defRPr/>
            </a:pP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类的遍历方法</a:t>
            </a:r>
          </a:p>
        </p:txBody>
      </p:sp>
      <p:graphicFrame>
        <p:nvGraphicFramePr>
          <p:cNvPr id="3" name="表格 2">
            <a:extLst>
              <a:ext uri="{FF2B5EF4-FFF2-40B4-BE49-F238E27FC236}">
                <a16:creationId xmlns:a16="http://schemas.microsoft.com/office/drawing/2014/main" id="{15A072F9-4723-C217-7755-19B90A4AF368}"/>
              </a:ext>
            </a:extLst>
          </p:cNvPr>
          <p:cNvGraphicFramePr>
            <a:graphicFrameLocks noGrp="1"/>
          </p:cNvGraphicFramePr>
          <p:nvPr/>
        </p:nvGraphicFramePr>
        <p:xfrm>
          <a:off x="703195" y="2287167"/>
          <a:ext cx="8058150" cy="1141834"/>
        </p:xfrm>
        <a:graphic>
          <a:graphicData uri="http://schemas.openxmlformats.org/drawingml/2006/table">
            <a:tbl>
              <a:tblPr/>
              <a:tblGrid>
                <a:gridCol w="2768002">
                  <a:extLst>
                    <a:ext uri="{9D8B030D-6E8A-4147-A177-3AD203B41FA5}">
                      <a16:colId xmlns:a16="http://schemas.microsoft.com/office/drawing/2014/main" val="1138920238"/>
                    </a:ext>
                  </a:extLst>
                </a:gridCol>
                <a:gridCol w="5290148">
                  <a:extLst>
                    <a:ext uri="{9D8B030D-6E8A-4147-A177-3AD203B41FA5}">
                      <a16:colId xmlns:a16="http://schemas.microsoft.com/office/drawing/2014/main" val="432614512"/>
                    </a:ext>
                  </a:extLst>
                </a:gridCol>
              </a:tblGrid>
              <a:tr h="43535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方法名称</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706476">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en-US" altLang="zh-CN" sz="1200" i="0" kern="1200" dirty="0">
                          <a:solidFill>
                            <a:schemeClr val="tx1"/>
                          </a:solidFill>
                          <a:effectLst/>
                          <a:latin typeface="Consolas" panose="020B0609020204030204" pitchFamily="49" charset="0"/>
                          <a:ea typeface="Alibaba PuHuiTi R"/>
                          <a:cs typeface="+mn-cs"/>
                        </a:rPr>
                        <a:t>public File[] </a:t>
                      </a:r>
                      <a:r>
                        <a:rPr lang="en-US" altLang="zh-CN" sz="1200" i="0" kern="1200" dirty="0" err="1">
                          <a:solidFill>
                            <a:schemeClr val="tx1"/>
                          </a:solidFill>
                          <a:effectLst/>
                          <a:latin typeface="Consolas" panose="020B0609020204030204" pitchFamily="49" charset="0"/>
                          <a:ea typeface="Alibaba PuHuiTi R"/>
                          <a:cs typeface="+mn-cs"/>
                        </a:rPr>
                        <a:t>listFiles</a:t>
                      </a:r>
                      <a:r>
                        <a:rPr lang="en-US" altLang="zh-CN" sz="1200" i="0" kern="1200" dirty="0">
                          <a:solidFill>
                            <a:schemeClr val="tx1"/>
                          </a:solidFill>
                          <a:effectLst/>
                          <a:latin typeface="Consolas" panose="020B0609020204030204" pitchFamily="49" charset="0"/>
                          <a:ea typeface="Alibaba PuHuiTi R"/>
                          <a:cs typeface="+mn-cs"/>
                        </a:rPr>
                        <a:t>()</a:t>
                      </a:r>
                      <a:endParaRPr kumimoji="0" lang="zh-CN" altLang="en-US" sz="1200" b="0" i="0" u="none" strike="noStrike" cap="none" normalizeH="0" baseline="0" dirty="0">
                        <a:ln>
                          <a:noFill/>
                        </a:ln>
                        <a:solidFill>
                          <a:schemeClr val="tx1">
                            <a:lumMod val="85000"/>
                            <a:lumOff val="15000"/>
                          </a:schemeClr>
                        </a:solidFill>
                        <a:effectLst/>
                        <a:latin typeface="Consolas" panose="020B0609020204030204" pitchFamily="49" charset="0"/>
                        <a:ea typeface="Alibaba PuHuiTi R"/>
                      </a:endParaRPr>
                    </a:p>
                  </a:txBody>
                  <a:tcPr marL="91418" marR="91418" marT="45734" marB="4573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200" i="0" kern="1200" dirty="0">
                          <a:solidFill>
                            <a:schemeClr val="tx1"/>
                          </a:solidFill>
                          <a:effectLst/>
                          <a:latin typeface="+mn-lt"/>
                          <a:ea typeface="Alibaba PuHuiTi R"/>
                          <a:cs typeface="+mn-cs"/>
                        </a:rPr>
                        <a:t>获取当前目录下所有的  </a:t>
                      </a:r>
                      <a:r>
                        <a:rPr lang="en-US" altLang="zh-CN" sz="1200" i="0" kern="1200" dirty="0">
                          <a:solidFill>
                            <a:schemeClr val="tx1"/>
                          </a:solidFill>
                          <a:effectLst/>
                          <a:latin typeface="+mn-lt"/>
                          <a:ea typeface="Alibaba PuHuiTi R"/>
                          <a:cs typeface="+mn-cs"/>
                        </a:rPr>
                        <a:t>“</a:t>
                      </a:r>
                      <a:r>
                        <a:rPr lang="zh-CN" altLang="en-US" sz="1200" i="0" kern="1200" dirty="0">
                          <a:solidFill>
                            <a:schemeClr val="tx1"/>
                          </a:solidFill>
                          <a:effectLst/>
                          <a:latin typeface="+mn-lt"/>
                          <a:ea typeface="Alibaba PuHuiTi R"/>
                          <a:cs typeface="+mn-cs"/>
                        </a:rPr>
                        <a:t>一级文件对象</a:t>
                      </a:r>
                      <a:r>
                        <a:rPr lang="en-US" altLang="zh-CN" sz="1200" i="0" kern="1200" dirty="0">
                          <a:solidFill>
                            <a:schemeClr val="tx1"/>
                          </a:solidFill>
                          <a:effectLst/>
                          <a:latin typeface="+mn-lt"/>
                          <a:ea typeface="Alibaba PuHuiTi R"/>
                          <a:cs typeface="+mn-cs"/>
                        </a:rPr>
                        <a:t>” </a:t>
                      </a:r>
                    </a:p>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200" i="0" kern="1200" dirty="0">
                          <a:solidFill>
                            <a:schemeClr val="tx1"/>
                          </a:solidFill>
                          <a:effectLst/>
                          <a:latin typeface="+mn-lt"/>
                          <a:ea typeface="Alibaba PuHuiTi R"/>
                          <a:cs typeface="+mn-cs"/>
                        </a:rPr>
                        <a:t>返回 </a:t>
                      </a:r>
                      <a:r>
                        <a:rPr lang="en-US" altLang="zh-CN" sz="1200" i="0" kern="1200" dirty="0">
                          <a:solidFill>
                            <a:schemeClr val="tx1"/>
                          </a:solidFill>
                          <a:effectLst/>
                          <a:latin typeface="+mn-lt"/>
                          <a:ea typeface="Alibaba PuHuiTi R"/>
                          <a:cs typeface="+mn-cs"/>
                        </a:rPr>
                        <a:t>File </a:t>
                      </a:r>
                      <a:r>
                        <a:rPr lang="zh-CN" altLang="en-US" sz="1200" i="0" kern="1200" dirty="0">
                          <a:solidFill>
                            <a:schemeClr val="tx1"/>
                          </a:solidFill>
                          <a:effectLst/>
                          <a:latin typeface="+mn-lt"/>
                          <a:ea typeface="Alibaba PuHuiTi R"/>
                          <a:cs typeface="+mn-cs"/>
                        </a:rPr>
                        <a:t>数组</a:t>
                      </a:r>
                      <a:endParaRPr lang="en-US" altLang="zh-CN" sz="1200" i="0" kern="1200" dirty="0">
                        <a:solidFill>
                          <a:schemeClr val="tx1"/>
                        </a:solidFill>
                        <a:effectLst/>
                        <a:latin typeface="+mn-lt"/>
                        <a:ea typeface="Alibaba PuHuiTi R"/>
                        <a:cs typeface="+mn-cs"/>
                      </a:endParaRPr>
                    </a:p>
                  </a:txBody>
                  <a:tcPr marL="91418" marR="91418" marT="45734" marB="4573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304122172"/>
                  </a:ext>
                </a:extLst>
              </a:tr>
            </a:tbl>
          </a:graphicData>
        </a:graphic>
      </p:graphicFrame>
      <p:pic>
        <p:nvPicPr>
          <p:cNvPr id="12" name="图片 11">
            <a:extLst>
              <a:ext uri="{FF2B5EF4-FFF2-40B4-BE49-F238E27FC236}">
                <a16:creationId xmlns:a16="http://schemas.microsoft.com/office/drawing/2014/main" id="{522DA7AD-4371-68EC-67FD-F4450D16D1D9}"/>
              </a:ext>
            </a:extLst>
          </p:cNvPr>
          <p:cNvPicPr>
            <a:picLocks noChangeAspect="1"/>
          </p:cNvPicPr>
          <p:nvPr/>
        </p:nvPicPr>
        <p:blipFill>
          <a:blip r:embed="rId3"/>
          <a:stretch>
            <a:fillRect/>
          </a:stretch>
        </p:blipFill>
        <p:spPr>
          <a:xfrm>
            <a:off x="742951" y="3696081"/>
            <a:ext cx="5181866" cy="131451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4" name="图片 13">
            <a:extLst>
              <a:ext uri="{FF2B5EF4-FFF2-40B4-BE49-F238E27FC236}">
                <a16:creationId xmlns:a16="http://schemas.microsoft.com/office/drawing/2014/main" id="{98A994DD-4450-5F66-658B-1DC6F058E35C}"/>
              </a:ext>
            </a:extLst>
          </p:cNvPr>
          <p:cNvPicPr>
            <a:picLocks noChangeAspect="1"/>
          </p:cNvPicPr>
          <p:nvPr/>
        </p:nvPicPr>
        <p:blipFill>
          <a:blip r:embed="rId4"/>
          <a:stretch>
            <a:fillRect/>
          </a:stretch>
        </p:blipFill>
        <p:spPr>
          <a:xfrm>
            <a:off x="6234752" y="3920662"/>
            <a:ext cx="2166297" cy="74327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6" name="标题 1">
            <a:extLst>
              <a:ext uri="{FF2B5EF4-FFF2-40B4-BE49-F238E27FC236}">
                <a16:creationId xmlns:a16="http://schemas.microsoft.com/office/drawing/2014/main" id="{15EA2951-CC4D-4485-89EC-9D90B92EA0BD}"/>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7" name="直接连接符 6">
            <a:extLst>
              <a:ext uri="{FF2B5EF4-FFF2-40B4-BE49-F238E27FC236}">
                <a16:creationId xmlns:a16="http://schemas.microsoft.com/office/drawing/2014/main" id="{E334EE96-4388-4433-85FC-C8B60EE4674E}"/>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44072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endParaRPr lang="zh-CN" altLang="en-US" dirty="0">
              <a:ea typeface="宋体" panose="02010600030101010101" pitchFamily="2" charset="-122"/>
              <a:cs typeface="Times New Roman" panose="02020603050405020304" pitchFamily="18" charset="0"/>
            </a:endParaRP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6E17E8F8-4DDC-4919-9B0A-3FA2FA6BF0A6}"/>
              </a:ext>
            </a:extLst>
          </p:cNvPr>
          <p:cNvSpPr txBox="1">
            <a:spLocks noChangeArrowheads="1"/>
          </p:cNvSpPr>
          <p:nvPr/>
        </p:nvSpPr>
        <p:spPr bwMode="auto">
          <a:xfrm>
            <a:off x="0" y="142899"/>
            <a:ext cx="9144000" cy="667047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b="1" dirty="0">
                <a:latin typeface="Courier New" panose="02070309020205020404" pitchFamily="49" charset="0"/>
                <a:cs typeface="Courier New" panose="02070309020205020404" pitchFamily="49" charset="0"/>
              </a:rPr>
              <a:t>public class FileDemo6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public static void main(String[] </a:t>
            </a:r>
            <a:r>
              <a:rPr lang="en-US" altLang="zh-CN" b="1" dirty="0" err="1">
                <a:latin typeface="Courier New" panose="02070309020205020404" pitchFamily="49" charset="0"/>
                <a:cs typeface="Courier New" panose="02070309020205020404" pitchFamily="49" charset="0"/>
              </a:rPr>
              <a:t>args</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//public File[] </a:t>
            </a:r>
            <a:r>
              <a:rPr lang="en-US" altLang="zh-CN" b="1" dirty="0" err="1">
                <a:latin typeface="Courier New" panose="02070309020205020404" pitchFamily="49" charset="0"/>
                <a:cs typeface="Courier New" panose="02070309020205020404" pitchFamily="49" charset="0"/>
              </a:rPr>
              <a:t>listFiles</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获取当前该路径下所有内容</a:t>
            </a:r>
          </a:p>
          <a:p>
            <a:pPr marL="0" lvl="1">
              <a:buClr>
                <a:schemeClr val="accent2"/>
              </a:buClr>
              <a:buSzPct val="70000"/>
            </a:pPr>
            <a:endParaRPr lang="zh-CN" altLang="en-US" b="1" dirty="0">
              <a:latin typeface="Courier New" panose="02070309020205020404" pitchFamily="49" charset="0"/>
              <a:cs typeface="Courier New" panose="02070309020205020404" pitchFamily="49" charset="0"/>
            </a:endParaRPr>
          </a:p>
          <a:p>
            <a:pPr marL="0" lvl="1">
              <a:buClr>
                <a:schemeClr val="accent2"/>
              </a:buClr>
              <a:buSzPct val="70000"/>
            </a:pPr>
            <a:endParaRPr lang="zh-CN" altLang="en-US" b="1" dirty="0">
              <a:latin typeface="Courier New" panose="02070309020205020404" pitchFamily="49" charset="0"/>
              <a:cs typeface="Courier New" panose="02070309020205020404" pitchFamily="49" charset="0"/>
            </a:endParaRPr>
          </a:p>
          <a:p>
            <a:pPr marL="0" lvl="1">
              <a:buClr>
                <a:schemeClr val="accent2"/>
              </a:buClr>
              <a:buSzPct val="70000"/>
            </a:pP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//1.</a:t>
            </a:r>
            <a:r>
              <a:rPr lang="zh-CN" altLang="en-US" b="1" dirty="0">
                <a:latin typeface="Courier New" panose="02070309020205020404" pitchFamily="49" charset="0"/>
                <a:cs typeface="Courier New" panose="02070309020205020404" pitchFamily="49" charset="0"/>
              </a:rPr>
              <a:t>创建</a:t>
            </a:r>
            <a:r>
              <a:rPr lang="en-US" altLang="zh-CN" b="1" dirty="0">
                <a:latin typeface="Courier New" panose="02070309020205020404" pitchFamily="49" charset="0"/>
                <a:cs typeface="Courier New" panose="02070309020205020404" pitchFamily="49" charset="0"/>
              </a:rPr>
              <a:t>File</a:t>
            </a:r>
            <a:r>
              <a:rPr lang="zh-CN" altLang="en-US" b="1" dirty="0">
                <a:latin typeface="Courier New" panose="02070309020205020404" pitchFamily="49" charset="0"/>
                <a:cs typeface="Courier New" panose="02070309020205020404" pitchFamily="49" charset="0"/>
              </a:rPr>
              <a:t>对象</a:t>
            </a:r>
          </a:p>
          <a:p>
            <a:pPr marL="0" lvl="1">
              <a:buClr>
                <a:schemeClr val="accent2"/>
              </a:buClr>
              <a:buSzPct val="70000"/>
            </a:pPr>
            <a:r>
              <a:rPr lang="zh-CN" altLang="en-US" b="1" dirty="0">
                <a:latin typeface="Courier New" panose="02070309020205020404" pitchFamily="49" charset="0"/>
                <a:cs typeface="Courier New" panose="02070309020205020404" pitchFamily="49" charset="0"/>
              </a:rPr>
              <a:t>        </a:t>
            </a:r>
            <a:r>
              <a:rPr lang="en-US" altLang="zh-CN" b="1" dirty="0">
                <a:solidFill>
                  <a:srgbClr val="00B0F0"/>
                </a:solidFill>
                <a:latin typeface="Courier New" panose="02070309020205020404" pitchFamily="49" charset="0"/>
                <a:cs typeface="Courier New" panose="02070309020205020404" pitchFamily="49" charset="0"/>
              </a:rPr>
              <a:t>File f = new File("D:\\aaa");</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//2.listFiles</a:t>
            </a:r>
            <a:r>
              <a:rPr lang="zh-CN" altLang="en-US" b="1" dirty="0">
                <a:latin typeface="Courier New" panose="02070309020205020404" pitchFamily="49" charset="0"/>
                <a:cs typeface="Courier New" panose="02070309020205020404" pitchFamily="49" charset="0"/>
              </a:rPr>
              <a:t>方法</a:t>
            </a:r>
          </a:p>
          <a:p>
            <a:pPr marL="0" lvl="1">
              <a:buClr>
                <a:schemeClr val="accent2"/>
              </a:buClr>
              <a:buSzPct val="70000"/>
            </a:pP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作用：获取</a:t>
            </a:r>
            <a:r>
              <a:rPr lang="en-US" altLang="zh-CN" b="1" dirty="0" err="1">
                <a:latin typeface="Courier New" panose="02070309020205020404" pitchFamily="49" charset="0"/>
                <a:cs typeface="Courier New" panose="02070309020205020404" pitchFamily="49" charset="0"/>
              </a:rPr>
              <a:t>aaa</a:t>
            </a:r>
            <a:r>
              <a:rPr lang="zh-CN" altLang="en-US" b="1" dirty="0">
                <a:latin typeface="Courier New" panose="02070309020205020404" pitchFamily="49" charset="0"/>
                <a:cs typeface="Courier New" panose="02070309020205020404" pitchFamily="49" charset="0"/>
              </a:rPr>
              <a:t>文件夹里面的所有内容，把所有的内容放到数组中返回</a:t>
            </a: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endParaRPr lang="zh-CN" altLang="en-US" b="1" dirty="0">
              <a:latin typeface="Courier New" panose="02070309020205020404" pitchFamily="49" charset="0"/>
              <a:cs typeface="Courier New" panose="02070309020205020404" pitchFamily="49" charset="0"/>
            </a:endParaRPr>
          </a:p>
          <a:p>
            <a:pPr marL="0" lvl="1">
              <a:buClr>
                <a:schemeClr val="accent2"/>
              </a:buClr>
              <a:buSzPct val="70000"/>
            </a:pPr>
            <a:r>
              <a:rPr lang="zh-CN" altLang="en-US" b="1" dirty="0">
                <a:solidFill>
                  <a:srgbClr val="00B0F0"/>
                </a:solidFill>
                <a:latin typeface="Courier New" panose="02070309020205020404" pitchFamily="49" charset="0"/>
                <a:cs typeface="Courier New" panose="02070309020205020404" pitchFamily="49" charset="0"/>
              </a:rPr>
              <a:t>        </a:t>
            </a:r>
            <a:r>
              <a:rPr lang="en-US" altLang="zh-CN" b="1" dirty="0">
                <a:solidFill>
                  <a:srgbClr val="00B0F0"/>
                </a:solidFill>
                <a:latin typeface="Courier New" panose="02070309020205020404" pitchFamily="49" charset="0"/>
                <a:cs typeface="Courier New" panose="02070309020205020404" pitchFamily="49" charset="0"/>
              </a:rPr>
              <a:t>File[] files = </a:t>
            </a:r>
            <a:r>
              <a:rPr lang="en-US" altLang="zh-CN" b="1" dirty="0" err="1">
                <a:solidFill>
                  <a:srgbClr val="00B0F0"/>
                </a:solidFill>
                <a:latin typeface="Courier New" panose="02070309020205020404" pitchFamily="49" charset="0"/>
                <a:cs typeface="Courier New" panose="02070309020205020404" pitchFamily="49" charset="0"/>
              </a:rPr>
              <a:t>f.listFiles</a:t>
            </a:r>
            <a:r>
              <a:rPr lang="en-US" altLang="zh-CN" b="1" dirty="0">
                <a:solidFill>
                  <a:srgbClr val="00B0F0"/>
                </a:solidFill>
                <a:latin typeface="Courier New" panose="02070309020205020404" pitchFamily="49" charset="0"/>
                <a:cs typeface="Courier New" panose="02070309020205020404" pitchFamily="49" charset="0"/>
              </a:rPr>
              <a:t>();</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for (File </a:t>
            </a:r>
            <a:r>
              <a:rPr lang="en-US" altLang="zh-CN" b="1" dirty="0" err="1">
                <a:latin typeface="Courier New" panose="02070309020205020404" pitchFamily="49" charset="0"/>
                <a:cs typeface="Courier New" panose="02070309020205020404" pitchFamily="49" charset="0"/>
              </a:rPr>
              <a:t>file</a:t>
            </a:r>
            <a:r>
              <a:rPr lang="en-US" altLang="zh-CN" b="1" dirty="0">
                <a:latin typeface="Courier New" panose="02070309020205020404" pitchFamily="49" charset="0"/>
                <a:cs typeface="Courier New" panose="02070309020205020404" pitchFamily="49" charset="0"/>
              </a:rPr>
              <a:t> : files)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//file</a:t>
            </a:r>
            <a:r>
              <a:rPr lang="zh-CN" altLang="en-US" b="1" dirty="0">
                <a:latin typeface="Courier New" panose="02070309020205020404" pitchFamily="49" charset="0"/>
                <a:cs typeface="Courier New" panose="02070309020205020404" pitchFamily="49" charset="0"/>
              </a:rPr>
              <a:t>依次表示</a:t>
            </a:r>
            <a:r>
              <a:rPr lang="en-US" altLang="zh-CN" b="1" dirty="0" err="1">
                <a:latin typeface="Courier New" panose="02070309020205020404" pitchFamily="49" charset="0"/>
                <a:cs typeface="Courier New" panose="02070309020205020404" pitchFamily="49" charset="0"/>
              </a:rPr>
              <a:t>aaa</a:t>
            </a:r>
            <a:r>
              <a:rPr lang="zh-CN" altLang="en-US" b="1" dirty="0">
                <a:latin typeface="Courier New" panose="02070309020205020404" pitchFamily="49" charset="0"/>
                <a:cs typeface="Courier New" panose="02070309020205020404" pitchFamily="49" charset="0"/>
              </a:rPr>
              <a:t>文件夹里面的每一个文件或者文件夹</a:t>
            </a:r>
          </a:p>
          <a:p>
            <a:pPr marL="0" lvl="1">
              <a:buClr>
                <a:schemeClr val="accent2"/>
              </a:buClr>
              <a:buSzPct val="70000"/>
            </a:pPr>
            <a:r>
              <a:rPr lang="zh-CN" altLang="en-US"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(file);</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820141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11560" y="1251212"/>
            <a:ext cx="3514725" cy="618952"/>
          </a:xfrm>
          <a:prstGeom prst="rect">
            <a:avLst/>
          </a:prstGeom>
          <a:noFill/>
        </p:spPr>
        <p:txBody>
          <a:bodyPr>
            <a:spAutoFit/>
          </a:bodyPr>
          <a:lstStyle/>
          <a:p>
            <a:pPr eaLnBrk="0" hangingPunct="0">
              <a:lnSpc>
                <a:spcPct val="200000"/>
              </a:lnSpc>
              <a:defRPr/>
            </a:pP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类的遍历方法</a:t>
            </a:r>
          </a:p>
        </p:txBody>
      </p:sp>
      <p:graphicFrame>
        <p:nvGraphicFramePr>
          <p:cNvPr id="3" name="表格 2">
            <a:extLst>
              <a:ext uri="{FF2B5EF4-FFF2-40B4-BE49-F238E27FC236}">
                <a16:creationId xmlns:a16="http://schemas.microsoft.com/office/drawing/2014/main" id="{15A072F9-4723-C217-7755-19B90A4AF368}"/>
              </a:ext>
            </a:extLst>
          </p:cNvPr>
          <p:cNvGraphicFramePr>
            <a:graphicFrameLocks noGrp="1"/>
          </p:cNvGraphicFramePr>
          <p:nvPr>
            <p:extLst>
              <p:ext uri="{D42A27DB-BD31-4B8C-83A1-F6EECF244321}">
                <p14:modId xmlns:p14="http://schemas.microsoft.com/office/powerpoint/2010/main" val="683718809"/>
              </p:ext>
            </p:extLst>
          </p:nvPr>
        </p:nvGraphicFramePr>
        <p:xfrm>
          <a:off x="628966" y="2112009"/>
          <a:ext cx="8058150" cy="1141834"/>
        </p:xfrm>
        <a:graphic>
          <a:graphicData uri="http://schemas.openxmlformats.org/drawingml/2006/table">
            <a:tbl>
              <a:tblPr/>
              <a:tblGrid>
                <a:gridCol w="2768002">
                  <a:extLst>
                    <a:ext uri="{9D8B030D-6E8A-4147-A177-3AD203B41FA5}">
                      <a16:colId xmlns:a16="http://schemas.microsoft.com/office/drawing/2014/main" val="1138920238"/>
                    </a:ext>
                  </a:extLst>
                </a:gridCol>
                <a:gridCol w="5290148">
                  <a:extLst>
                    <a:ext uri="{9D8B030D-6E8A-4147-A177-3AD203B41FA5}">
                      <a16:colId xmlns:a16="http://schemas.microsoft.com/office/drawing/2014/main" val="432614512"/>
                    </a:ext>
                  </a:extLst>
                </a:gridCol>
              </a:tblGrid>
              <a:tr h="43535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方法名称</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706476">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en-US" altLang="zh-CN" sz="1400" i="0" kern="1200" dirty="0">
                          <a:solidFill>
                            <a:schemeClr val="tx1"/>
                          </a:solidFill>
                          <a:effectLst/>
                          <a:latin typeface="Consolas" panose="020B0609020204030204" pitchFamily="49" charset="0"/>
                          <a:ea typeface="Alibaba PuHuiTi R"/>
                          <a:cs typeface="+mn-cs"/>
                        </a:rPr>
                        <a:t>public File[] </a:t>
                      </a:r>
                      <a:r>
                        <a:rPr lang="en-US" altLang="zh-CN" sz="1400" i="0" kern="1200" dirty="0" err="1">
                          <a:solidFill>
                            <a:schemeClr val="tx1"/>
                          </a:solidFill>
                          <a:effectLst/>
                          <a:latin typeface="Consolas" panose="020B0609020204030204" pitchFamily="49" charset="0"/>
                          <a:ea typeface="Alibaba PuHuiTi R"/>
                          <a:cs typeface="+mn-cs"/>
                        </a:rPr>
                        <a:t>listFiles</a:t>
                      </a:r>
                      <a:r>
                        <a:rPr lang="en-US" altLang="zh-CN" sz="1400" i="0" kern="1200" dirty="0">
                          <a:solidFill>
                            <a:schemeClr val="tx1"/>
                          </a:solidFill>
                          <a:effectLst/>
                          <a:latin typeface="Consolas" panose="020B0609020204030204" pitchFamily="49" charset="0"/>
                          <a:ea typeface="Alibaba PuHuiTi R"/>
                          <a:cs typeface="+mn-cs"/>
                        </a:rPr>
                        <a:t>()</a:t>
                      </a:r>
                      <a:endParaRPr kumimoji="0" lang="zh-CN" altLang="en-US" sz="1400" b="0" i="0" u="none" strike="noStrike" cap="none" normalizeH="0" baseline="0" dirty="0">
                        <a:ln>
                          <a:noFill/>
                        </a:ln>
                        <a:solidFill>
                          <a:schemeClr val="tx1">
                            <a:lumMod val="85000"/>
                            <a:lumOff val="15000"/>
                          </a:schemeClr>
                        </a:solidFill>
                        <a:effectLst/>
                        <a:latin typeface="Consolas" panose="020B0609020204030204" pitchFamily="49" charset="0"/>
                        <a:ea typeface="Alibaba PuHuiTi R"/>
                      </a:endParaRPr>
                    </a:p>
                  </a:txBody>
                  <a:tcPr marL="91418" marR="91418" marT="45734" marB="4573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400" i="0" kern="1200" dirty="0">
                          <a:solidFill>
                            <a:schemeClr val="tx1"/>
                          </a:solidFill>
                          <a:effectLst/>
                          <a:latin typeface="+mn-lt"/>
                          <a:ea typeface="Alibaba PuHuiTi R"/>
                          <a:cs typeface="+mn-cs"/>
                        </a:rPr>
                        <a:t>获取当前目录下所有的  </a:t>
                      </a:r>
                      <a:r>
                        <a:rPr lang="en-US" altLang="zh-CN" sz="1400" i="0" kern="1200" dirty="0">
                          <a:solidFill>
                            <a:schemeClr val="tx1"/>
                          </a:solidFill>
                          <a:effectLst/>
                          <a:latin typeface="+mn-lt"/>
                          <a:ea typeface="Alibaba PuHuiTi R"/>
                          <a:cs typeface="+mn-cs"/>
                        </a:rPr>
                        <a:t>“</a:t>
                      </a:r>
                      <a:r>
                        <a:rPr lang="zh-CN" altLang="en-US" sz="1400" i="0" kern="1200" dirty="0">
                          <a:solidFill>
                            <a:schemeClr val="tx1"/>
                          </a:solidFill>
                          <a:effectLst/>
                          <a:latin typeface="+mn-lt"/>
                          <a:ea typeface="Alibaba PuHuiTi R"/>
                          <a:cs typeface="+mn-cs"/>
                        </a:rPr>
                        <a:t>一级文件对象</a:t>
                      </a:r>
                      <a:r>
                        <a:rPr lang="en-US" altLang="zh-CN" sz="1400" i="0" kern="1200" dirty="0">
                          <a:solidFill>
                            <a:schemeClr val="tx1"/>
                          </a:solidFill>
                          <a:effectLst/>
                          <a:latin typeface="+mn-lt"/>
                          <a:ea typeface="Alibaba PuHuiTi R"/>
                          <a:cs typeface="+mn-cs"/>
                        </a:rPr>
                        <a:t>” </a:t>
                      </a:r>
                    </a:p>
                    <a:p>
                      <a:pPr marL="0" marR="0" lvl="0" indent="0" algn="l" defTabSz="914400" rtl="0" eaLnBrk="1" fontAlgn="base" latinLnBrk="0" hangingPunct="1">
                        <a:lnSpc>
                          <a:spcPct val="150000"/>
                        </a:lnSpc>
                        <a:spcBef>
                          <a:spcPct val="0"/>
                        </a:spcBef>
                        <a:spcAft>
                          <a:spcPct val="0"/>
                        </a:spcAft>
                        <a:buClrTx/>
                        <a:buSzTx/>
                        <a:buFontTx/>
                        <a:buNone/>
                        <a:tabLst/>
                        <a:defRPr/>
                      </a:pPr>
                      <a:r>
                        <a:rPr lang="zh-CN" altLang="en-US" sz="1400" i="0" kern="1200" dirty="0">
                          <a:solidFill>
                            <a:schemeClr val="tx1"/>
                          </a:solidFill>
                          <a:effectLst/>
                          <a:latin typeface="+mn-lt"/>
                          <a:ea typeface="Alibaba PuHuiTi R"/>
                          <a:cs typeface="+mn-cs"/>
                        </a:rPr>
                        <a:t>返回 </a:t>
                      </a:r>
                      <a:r>
                        <a:rPr lang="en-US" altLang="zh-CN" sz="1400" i="0" kern="1200" dirty="0">
                          <a:solidFill>
                            <a:schemeClr val="tx1"/>
                          </a:solidFill>
                          <a:effectLst/>
                          <a:latin typeface="+mn-lt"/>
                          <a:ea typeface="Alibaba PuHuiTi R"/>
                          <a:cs typeface="+mn-cs"/>
                        </a:rPr>
                        <a:t>File </a:t>
                      </a:r>
                      <a:r>
                        <a:rPr lang="zh-CN" altLang="en-US" sz="1400" i="0" kern="1200" dirty="0">
                          <a:solidFill>
                            <a:schemeClr val="tx1"/>
                          </a:solidFill>
                          <a:effectLst/>
                          <a:latin typeface="+mn-lt"/>
                          <a:ea typeface="Alibaba PuHuiTi R"/>
                          <a:cs typeface="+mn-cs"/>
                        </a:rPr>
                        <a:t>数组</a:t>
                      </a:r>
                      <a:endParaRPr lang="en-US" altLang="zh-CN" sz="1400" i="0" kern="1200" dirty="0">
                        <a:solidFill>
                          <a:schemeClr val="tx1"/>
                        </a:solidFill>
                        <a:effectLst/>
                        <a:latin typeface="+mn-lt"/>
                        <a:ea typeface="Alibaba PuHuiTi R"/>
                        <a:cs typeface="+mn-cs"/>
                      </a:endParaRPr>
                    </a:p>
                  </a:txBody>
                  <a:tcPr marL="91418" marR="91418" marT="45734" marB="4573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304122172"/>
                  </a:ext>
                </a:extLst>
              </a:tr>
            </a:tbl>
          </a:graphicData>
        </a:graphic>
      </p:graphicFrame>
      <p:sp>
        <p:nvSpPr>
          <p:cNvPr id="4" name="TextBox 6">
            <a:extLst>
              <a:ext uri="{FF2B5EF4-FFF2-40B4-BE49-F238E27FC236}">
                <a16:creationId xmlns:a16="http://schemas.microsoft.com/office/drawing/2014/main" id="{8B0A0982-8683-497A-ACDE-2B021CB668FB}"/>
              </a:ext>
            </a:extLst>
          </p:cNvPr>
          <p:cNvSpPr txBox="1"/>
          <p:nvPr/>
        </p:nvSpPr>
        <p:spPr>
          <a:xfrm>
            <a:off x="437420" y="3589774"/>
            <a:ext cx="8367444" cy="2181751"/>
          </a:xfrm>
          <a:prstGeom prst="rect">
            <a:avLst/>
          </a:prstGeom>
          <a:noFill/>
        </p:spPr>
        <p:txBody>
          <a:bodyPr wrap="square">
            <a:spAutoFit/>
          </a:bodyPr>
          <a:lstStyle/>
          <a:p>
            <a:pPr marL="214313" indent="-214313">
              <a:lnSpc>
                <a:spcPct val="200000"/>
              </a:lnSpc>
              <a:buFont typeface="Wingdings" panose="05000000000000000000" pitchFamily="2" charset="2"/>
              <a:buChar char="l"/>
              <a:defRPr/>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当调用者</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File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表示的</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路径不存在</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时，返回</a:t>
            </a:r>
            <a:r>
              <a:rPr lang="en-US" altLang="zh-CN"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p>
          <a:p>
            <a:pPr marL="214313" indent="-214313">
              <a:lnSpc>
                <a:spcPct val="200000"/>
              </a:lnSpc>
              <a:buFont typeface="Wingdings" panose="05000000000000000000" pitchFamily="2" charset="2"/>
              <a:buChar char="l"/>
              <a:defRPr/>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当调用者</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File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表示的</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路径是文件</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时，返回</a:t>
            </a:r>
            <a:r>
              <a:rPr lang="en-US" altLang="zh-CN"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p>
          <a:p>
            <a:pPr marL="214313" indent="-214313">
              <a:lnSpc>
                <a:spcPct val="200000"/>
              </a:lnSpc>
              <a:buFont typeface="Wingdings" panose="05000000000000000000" pitchFamily="2" charset="2"/>
              <a:buChar char="l"/>
              <a:defRPr/>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当调用者</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File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表示的路径是一个</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空文件夹</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时，返回一个</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长度为</a:t>
            </a:r>
            <a:r>
              <a:rPr lang="en-US" altLang="zh-CN"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0</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的数组</a:t>
            </a:r>
            <a:endParaRPr lang="en-US" altLang="zh-CN"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214313" indent="-214313">
              <a:lnSpc>
                <a:spcPct val="200000"/>
              </a:lnSpc>
              <a:buFont typeface="Wingdings" panose="05000000000000000000" pitchFamily="2" charset="2"/>
              <a:buChar char="l"/>
              <a:defRPr/>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当调用者</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File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表示的路径是</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需要权限才能访问</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的文件夹时，返回</a:t>
            </a:r>
            <a:r>
              <a:rPr lang="en-US" altLang="zh-CN"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null</a:t>
            </a:r>
          </a:p>
          <a:p>
            <a:pPr marL="214313" indent="-214313">
              <a:lnSpc>
                <a:spcPct val="200000"/>
              </a:lnSpc>
              <a:buFont typeface="Wingdings" panose="05000000000000000000" pitchFamily="2" charset="2"/>
              <a:buChar char="l"/>
              <a:defRPr/>
            </a:pP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当调用者</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File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表示的路径是一个有内容的文件夹时，将里面所有文件和文件夹的路径放在</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File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数组返回</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标题 1">
            <a:extLst>
              <a:ext uri="{FF2B5EF4-FFF2-40B4-BE49-F238E27FC236}">
                <a16:creationId xmlns:a16="http://schemas.microsoft.com/office/drawing/2014/main" id="{A4F27E3C-A833-44E7-B0EC-DEF1C96017D7}"/>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6" name="直接连接符 5">
            <a:extLst>
              <a:ext uri="{FF2B5EF4-FFF2-40B4-BE49-F238E27FC236}">
                <a16:creationId xmlns:a16="http://schemas.microsoft.com/office/drawing/2014/main" id="{6BE6901B-A3CB-4CE6-A1D3-0ADB8D03F498}"/>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79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idx="4294967295"/>
          </p:nvPr>
        </p:nvSpPr>
        <p:spPr/>
        <p:txBody>
          <a:bodyPr/>
          <a:lstStyle/>
          <a:p>
            <a:pPr eaLnBrk="1" hangingPunct="1"/>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endParaRPr lang="zh-CN" altLang="en-US" dirty="0">
              <a:ea typeface="宋体" panose="02010600030101010101" pitchFamily="2" charset="-122"/>
            </a:endParaRPr>
          </a:p>
        </p:txBody>
      </p:sp>
      <p:sp>
        <p:nvSpPr>
          <p:cNvPr id="115715" name="Rectangle 4"/>
          <p:cNvSpPr>
            <a:spLocks noChangeArrowheads="1"/>
          </p:cNvSpPr>
          <p:nvPr/>
        </p:nvSpPr>
        <p:spPr bwMode="auto">
          <a:xfrm>
            <a:off x="452438" y="977900"/>
            <a:ext cx="8237537" cy="3535363"/>
          </a:xfrm>
          <a:prstGeom prst="rect">
            <a:avLst/>
          </a:prstGeom>
          <a:solidFill>
            <a:srgbClr val="FFFFCC"/>
          </a:solidFill>
          <a:ln w="9525">
            <a:solidFill>
              <a:schemeClr val="tx1"/>
            </a:solidFill>
            <a:miter lim="800000"/>
            <a:headEnd/>
            <a:tailEnd/>
          </a:ln>
        </p:spPr>
        <p:txBody>
          <a:bodyPr wrap="none"/>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dirty="0">
                <a:solidFill>
                  <a:srgbClr val="0000FF"/>
                </a:solidFill>
                <a:latin typeface="Courier New" panose="02070309020205020404" pitchFamily="49" charset="0"/>
              </a:rPr>
              <a:t>public class</a:t>
            </a:r>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FileTest</a:t>
            </a:r>
            <a:r>
              <a:rPr lang="en-US" altLang="zh-CN" sz="1400" b="1" dirty="0">
                <a:solidFill>
                  <a:srgbClr val="000000"/>
                </a:solidFill>
                <a:latin typeface="Courier New" panose="02070309020205020404" pitchFamily="49" charset="0"/>
              </a:rPr>
              <a:t> {</a:t>
            </a:r>
          </a:p>
          <a:p>
            <a:pPr eaLnBrk="1" hangingPunct="1"/>
            <a:r>
              <a:rPr lang="en-US" altLang="zh-CN" sz="1400" b="1" dirty="0">
                <a:solidFill>
                  <a:srgbClr val="000000"/>
                </a:solidFill>
                <a:latin typeface="Courier New" panose="02070309020205020404" pitchFamily="49" charset="0"/>
              </a:rPr>
              <a:t>    </a:t>
            </a:r>
            <a:r>
              <a:rPr lang="en-US" altLang="zh-CN" sz="1400" b="1" dirty="0">
                <a:solidFill>
                  <a:srgbClr val="0000FF"/>
                </a:solidFill>
                <a:latin typeface="Courier New" panose="02070309020205020404" pitchFamily="49" charset="0"/>
              </a:rPr>
              <a:t>public static </a:t>
            </a:r>
            <a:r>
              <a:rPr lang="en-US" altLang="zh-CN" sz="1400" b="1" dirty="0" err="1">
                <a:solidFill>
                  <a:srgbClr val="0000FF"/>
                </a:solidFill>
                <a:latin typeface="Courier New" panose="02070309020205020404" pitchFamily="49" charset="0"/>
              </a:rPr>
              <a:t>viod</a:t>
            </a:r>
            <a:r>
              <a:rPr lang="en-US" altLang="zh-CN" sz="1400" b="1" dirty="0">
                <a:solidFill>
                  <a:srgbClr val="000000"/>
                </a:solidFill>
                <a:latin typeface="Courier New" panose="02070309020205020404" pitchFamily="49" charset="0"/>
              </a:rPr>
              <a:t> main(String[] </a:t>
            </a:r>
            <a:r>
              <a:rPr lang="en-US" altLang="zh-CN" sz="1400" b="1" dirty="0" err="1">
                <a:solidFill>
                  <a:srgbClr val="000000"/>
                </a:solidFill>
                <a:latin typeface="Courier New" panose="02070309020205020404" pitchFamily="49" charset="0"/>
              </a:rPr>
              <a:t>args</a:t>
            </a:r>
            <a:r>
              <a:rPr lang="en-US" altLang="zh-CN" sz="1400" b="1" dirty="0">
                <a:solidFill>
                  <a:srgbClr val="000000"/>
                </a:solidFill>
                <a:latin typeface="Courier New" panose="02070309020205020404" pitchFamily="49" charset="0"/>
              </a:rPr>
              <a:t>) </a:t>
            </a:r>
          </a:p>
          <a:p>
            <a:pPr eaLnBrk="1" hangingPunct="1"/>
            <a:r>
              <a:rPr lang="en-US" altLang="zh-CN" sz="1400" b="1" dirty="0">
                <a:solidFill>
                  <a:srgbClr val="000000"/>
                </a:solidFill>
                <a:latin typeface="Courier New" panose="02070309020205020404" pitchFamily="49" charset="0"/>
              </a:rPr>
              <a:t>    {</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java.io.File</a:t>
            </a:r>
            <a:r>
              <a:rPr lang="en-US" altLang="zh-CN" sz="1400" b="1" dirty="0">
                <a:solidFill>
                  <a:srgbClr val="000000"/>
                </a:solidFill>
                <a:latin typeface="Courier New" panose="02070309020205020404" pitchFamily="49" charset="0"/>
              </a:rPr>
              <a:t> file = </a:t>
            </a:r>
            <a:r>
              <a:rPr lang="en-US" altLang="zh-CN" sz="1400" b="1" dirty="0">
                <a:solidFill>
                  <a:srgbClr val="0000FF"/>
                </a:solidFill>
                <a:latin typeface="Courier New" panose="02070309020205020404" pitchFamily="49" charset="0"/>
              </a:rPr>
              <a:t>new</a:t>
            </a:r>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java.io.File</a:t>
            </a:r>
            <a:r>
              <a:rPr lang="en-US" altLang="zh-CN" sz="1400" b="1" dirty="0">
                <a:solidFill>
                  <a:srgbClr val="000000"/>
                </a:solidFill>
                <a:latin typeface="Courier New" panose="02070309020205020404" pitchFamily="49" charset="0"/>
              </a:rPr>
              <a:t>(“image\up.gif");</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("Does it exist? " + </a:t>
            </a:r>
            <a:r>
              <a:rPr lang="en-US" altLang="zh-CN" sz="1400" b="1" dirty="0" err="1">
                <a:solidFill>
                  <a:srgbClr val="000000"/>
                </a:solidFill>
                <a:latin typeface="Courier New" panose="02070309020205020404" pitchFamily="49" charset="0"/>
              </a:rPr>
              <a:t>file.exists</a:t>
            </a:r>
            <a:r>
              <a:rPr lang="en-US" altLang="zh-CN" sz="1400" b="1" dirty="0">
                <a:solidFill>
                  <a:srgbClr val="000000"/>
                </a:solidFill>
                <a:latin typeface="Courier New" panose="02070309020205020404" pitchFamily="49" charset="0"/>
              </a:rPr>
              <a:t>());</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("Can it be read? " + </a:t>
            </a:r>
            <a:r>
              <a:rPr lang="en-US" altLang="zh-CN" sz="1400" b="1" dirty="0" err="1">
                <a:solidFill>
                  <a:srgbClr val="000000"/>
                </a:solidFill>
                <a:latin typeface="Courier New" panose="02070309020205020404" pitchFamily="49" charset="0"/>
              </a:rPr>
              <a:t>file.canRead</a:t>
            </a:r>
            <a:r>
              <a:rPr lang="en-US" altLang="zh-CN" sz="1400" b="1" dirty="0">
                <a:solidFill>
                  <a:srgbClr val="000000"/>
                </a:solidFill>
                <a:latin typeface="Courier New" panose="02070309020205020404" pitchFamily="49" charset="0"/>
              </a:rPr>
              <a:t>());</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("Can it be written? " + </a:t>
            </a:r>
            <a:r>
              <a:rPr lang="en-US" altLang="zh-CN" sz="1400" b="1" dirty="0" err="1">
                <a:solidFill>
                  <a:srgbClr val="000000"/>
                </a:solidFill>
                <a:latin typeface="Courier New" panose="02070309020205020404" pitchFamily="49" charset="0"/>
              </a:rPr>
              <a:t>file.canWrite</a:t>
            </a:r>
            <a:r>
              <a:rPr lang="en-US" altLang="zh-CN" sz="1400" b="1" dirty="0">
                <a:solidFill>
                  <a:srgbClr val="000000"/>
                </a:solidFill>
                <a:latin typeface="Courier New" panose="02070309020205020404" pitchFamily="49" charset="0"/>
              </a:rPr>
              <a:t>());</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("Is it a directory? " + </a:t>
            </a:r>
            <a:r>
              <a:rPr lang="en-US" altLang="zh-CN" sz="1400" b="1" dirty="0" err="1">
                <a:solidFill>
                  <a:srgbClr val="000000"/>
                </a:solidFill>
                <a:latin typeface="Courier New" panose="02070309020205020404" pitchFamily="49" charset="0"/>
              </a:rPr>
              <a:t>file.isDirectory</a:t>
            </a:r>
            <a:r>
              <a:rPr lang="en-US" altLang="zh-CN" sz="1400" b="1" dirty="0">
                <a:solidFill>
                  <a:srgbClr val="000000"/>
                </a:solidFill>
                <a:latin typeface="Courier New" panose="02070309020205020404" pitchFamily="49" charset="0"/>
              </a:rPr>
              <a:t>());</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("Is it a file? " + </a:t>
            </a:r>
            <a:r>
              <a:rPr lang="en-US" altLang="zh-CN" sz="1400" b="1" dirty="0" err="1">
                <a:solidFill>
                  <a:srgbClr val="000000"/>
                </a:solidFill>
                <a:latin typeface="Courier New" panose="02070309020205020404" pitchFamily="49" charset="0"/>
              </a:rPr>
              <a:t>file.isFile</a:t>
            </a:r>
            <a:r>
              <a:rPr lang="en-US" altLang="zh-CN" sz="1400" b="1" dirty="0">
                <a:solidFill>
                  <a:srgbClr val="000000"/>
                </a:solidFill>
                <a:latin typeface="Courier New" panose="02070309020205020404" pitchFamily="49" charset="0"/>
              </a:rPr>
              <a:t>());</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("Is it absolute? " + </a:t>
            </a:r>
            <a:r>
              <a:rPr lang="en-US" altLang="zh-CN" sz="1400" b="1" dirty="0" err="1">
                <a:solidFill>
                  <a:srgbClr val="000000"/>
                </a:solidFill>
                <a:latin typeface="Courier New" panose="02070309020205020404" pitchFamily="49" charset="0"/>
              </a:rPr>
              <a:t>file.isAbsolute</a:t>
            </a:r>
            <a:r>
              <a:rPr lang="en-US" altLang="zh-CN" sz="1400" b="1" dirty="0">
                <a:solidFill>
                  <a:srgbClr val="000000"/>
                </a:solidFill>
                <a:latin typeface="Courier New" panose="02070309020205020404" pitchFamily="49" charset="0"/>
              </a:rPr>
              <a:t>());</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("Is it hidden? " + </a:t>
            </a:r>
            <a:r>
              <a:rPr lang="en-US" altLang="zh-CN" sz="1400" b="1" dirty="0" err="1">
                <a:solidFill>
                  <a:srgbClr val="000000"/>
                </a:solidFill>
                <a:latin typeface="Courier New" panose="02070309020205020404" pitchFamily="49" charset="0"/>
              </a:rPr>
              <a:t>file.isHidden</a:t>
            </a:r>
            <a:r>
              <a:rPr lang="en-US" altLang="zh-CN" sz="1400" b="1" dirty="0">
                <a:solidFill>
                  <a:srgbClr val="000000"/>
                </a:solidFill>
                <a:latin typeface="Courier New" panose="02070309020205020404" pitchFamily="49" charset="0"/>
              </a:rPr>
              <a:t>());</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("Absolute path is " + </a:t>
            </a:r>
            <a:r>
              <a:rPr lang="en-US" altLang="zh-CN" sz="1400" b="1" dirty="0" err="1">
                <a:solidFill>
                  <a:srgbClr val="000000"/>
                </a:solidFill>
                <a:latin typeface="Courier New" panose="02070309020205020404" pitchFamily="49" charset="0"/>
              </a:rPr>
              <a:t>file.getAbsolutePath</a:t>
            </a:r>
            <a:r>
              <a:rPr lang="en-US" altLang="zh-CN" sz="1400" b="1" dirty="0">
                <a:solidFill>
                  <a:srgbClr val="000000"/>
                </a:solidFill>
                <a:latin typeface="Courier New" panose="02070309020205020404" pitchFamily="49" charset="0"/>
              </a:rPr>
              <a:t>());</a:t>
            </a:r>
          </a:p>
          <a:p>
            <a:pPr eaLnBrk="1" hangingPunct="1"/>
            <a:r>
              <a:rPr lang="en-US" altLang="zh-CN" sz="1400" b="1" dirty="0">
                <a:solidFill>
                  <a:srgbClr val="000000"/>
                </a:solidFill>
                <a:latin typeface="Courier New" panose="02070309020205020404" pitchFamily="49" charset="0"/>
              </a:rPr>
              <a:t>        </a:t>
            </a:r>
            <a:r>
              <a:rPr lang="en-US" altLang="zh-CN" sz="1400" b="1" dirty="0" err="1">
                <a:solidFill>
                  <a:srgbClr val="000000"/>
                </a:solidFill>
                <a:latin typeface="Courier New" panose="02070309020205020404" pitchFamily="49" charset="0"/>
              </a:rPr>
              <a:t>System.out.println</a:t>
            </a:r>
            <a:r>
              <a:rPr lang="en-US" altLang="zh-CN" sz="1400" b="1" dirty="0">
                <a:solidFill>
                  <a:srgbClr val="000000"/>
                </a:solidFill>
                <a:latin typeface="Courier New" panose="02070309020205020404" pitchFamily="49" charset="0"/>
              </a:rPr>
              <a:t>("Last modified on " </a:t>
            </a:r>
          </a:p>
          <a:p>
            <a:pPr eaLnBrk="1" hangingPunct="1"/>
            <a:r>
              <a:rPr lang="en-US" altLang="zh-CN" sz="1400" b="1" dirty="0">
                <a:solidFill>
                  <a:srgbClr val="000000"/>
                </a:solidFill>
                <a:latin typeface="Courier New" panose="02070309020205020404" pitchFamily="49" charset="0"/>
              </a:rPr>
              <a:t>                      + new </a:t>
            </a:r>
            <a:r>
              <a:rPr lang="en-US" altLang="zh-CN" sz="1400" b="1" dirty="0" err="1">
                <a:solidFill>
                  <a:srgbClr val="000000"/>
                </a:solidFill>
                <a:latin typeface="Courier New" panose="02070309020205020404" pitchFamily="49" charset="0"/>
              </a:rPr>
              <a:t>java.util.Date</a:t>
            </a:r>
            <a:r>
              <a:rPr lang="en-US" altLang="zh-CN" sz="1400" b="1" dirty="0">
                <a:solidFill>
                  <a:srgbClr val="000000"/>
                </a:solidFill>
                <a:latin typeface="Courier New" panose="02070309020205020404" pitchFamily="49" charset="0"/>
              </a:rPr>
              <a:t>(</a:t>
            </a:r>
            <a:r>
              <a:rPr lang="en-US" altLang="zh-CN" sz="1400" b="1" dirty="0" err="1">
                <a:solidFill>
                  <a:srgbClr val="000000"/>
                </a:solidFill>
                <a:latin typeface="Courier New" panose="02070309020205020404" pitchFamily="49" charset="0"/>
              </a:rPr>
              <a:t>file.lastModified</a:t>
            </a:r>
            <a:r>
              <a:rPr lang="en-US" altLang="zh-CN" sz="1400" b="1" dirty="0">
                <a:solidFill>
                  <a:srgbClr val="000000"/>
                </a:solidFill>
                <a:latin typeface="Courier New" panose="02070309020205020404" pitchFamily="49" charset="0"/>
              </a:rPr>
              <a:t>()));    </a:t>
            </a:r>
          </a:p>
          <a:p>
            <a:pPr eaLnBrk="1" hangingPunct="1"/>
            <a:r>
              <a:rPr lang="en-US" altLang="zh-CN" sz="1400" b="1" dirty="0">
                <a:solidFill>
                  <a:srgbClr val="000000"/>
                </a:solidFill>
                <a:latin typeface="Courier New" panose="02070309020205020404" pitchFamily="49" charset="0"/>
              </a:rPr>
              <a:t>    }</a:t>
            </a:r>
          </a:p>
          <a:p>
            <a:pPr eaLnBrk="1" hangingPunct="1"/>
            <a:r>
              <a:rPr lang="en-US" altLang="zh-CN" sz="1400" b="1" dirty="0">
                <a:solidFill>
                  <a:srgbClr val="000000"/>
                </a:solidFill>
                <a:latin typeface="Courier New" panose="02070309020205020404" pitchFamily="49" charset="0"/>
              </a:rPr>
              <a:t>}</a:t>
            </a:r>
          </a:p>
        </p:txBody>
      </p:sp>
      <p:sp>
        <p:nvSpPr>
          <p:cNvPr id="115716" name="Text Box 5"/>
          <p:cNvSpPr txBox="1">
            <a:spLocks noChangeArrowheads="1"/>
          </p:cNvSpPr>
          <p:nvPr/>
        </p:nvSpPr>
        <p:spPr bwMode="auto">
          <a:xfrm>
            <a:off x="250825" y="4508500"/>
            <a:ext cx="82089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000000"/>
                </a:solidFill>
                <a:latin typeface="Courier New" panose="02070309020205020404" pitchFamily="49" charset="0"/>
              </a:rPr>
              <a:t>Does it exist? true</a:t>
            </a:r>
          </a:p>
          <a:p>
            <a:pPr eaLnBrk="1" hangingPunct="1"/>
            <a:r>
              <a:rPr lang="en-US" altLang="zh-CN" sz="1600" b="1">
                <a:solidFill>
                  <a:srgbClr val="000000"/>
                </a:solidFill>
                <a:latin typeface="Courier New" panose="02070309020205020404" pitchFamily="49" charset="0"/>
              </a:rPr>
              <a:t>Can it be read? true</a:t>
            </a:r>
          </a:p>
          <a:p>
            <a:pPr eaLnBrk="1" hangingPunct="1"/>
            <a:r>
              <a:rPr lang="en-US" altLang="zh-CN" sz="1600" b="1">
                <a:solidFill>
                  <a:srgbClr val="000000"/>
                </a:solidFill>
                <a:latin typeface="Courier New" panose="02070309020205020404" pitchFamily="49" charset="0"/>
              </a:rPr>
              <a:t>Can it be written? true</a:t>
            </a:r>
          </a:p>
          <a:p>
            <a:pPr eaLnBrk="1" hangingPunct="1"/>
            <a:r>
              <a:rPr lang="en-US" altLang="zh-CN" sz="1600" b="1">
                <a:solidFill>
                  <a:srgbClr val="000000"/>
                </a:solidFill>
                <a:latin typeface="Courier New" panose="02070309020205020404" pitchFamily="49" charset="0"/>
              </a:rPr>
              <a:t>Is it a directory? false</a:t>
            </a:r>
          </a:p>
          <a:p>
            <a:pPr eaLnBrk="1" hangingPunct="1"/>
            <a:r>
              <a:rPr lang="en-US" altLang="zh-CN" sz="1600" b="1">
                <a:solidFill>
                  <a:srgbClr val="000000"/>
                </a:solidFill>
                <a:latin typeface="Courier New" panose="02070309020205020404" pitchFamily="49" charset="0"/>
              </a:rPr>
              <a:t>Is it a file? true</a:t>
            </a:r>
          </a:p>
          <a:p>
            <a:pPr eaLnBrk="1" hangingPunct="1"/>
            <a:r>
              <a:rPr lang="en-US" altLang="zh-CN" sz="1600" b="1">
                <a:solidFill>
                  <a:srgbClr val="000000"/>
                </a:solidFill>
                <a:latin typeface="Courier New" panose="02070309020205020404" pitchFamily="49" charset="0"/>
              </a:rPr>
              <a:t>Is it absolute? false</a:t>
            </a:r>
          </a:p>
          <a:p>
            <a:pPr eaLnBrk="1" hangingPunct="1"/>
            <a:r>
              <a:rPr lang="en-US" altLang="zh-CN" sz="1600" b="1">
                <a:solidFill>
                  <a:srgbClr val="000000"/>
                </a:solidFill>
                <a:latin typeface="Courier New" panose="02070309020205020404" pitchFamily="49" charset="0"/>
              </a:rPr>
              <a:t>Is it hidden? false</a:t>
            </a:r>
          </a:p>
          <a:p>
            <a:pPr eaLnBrk="1" hangingPunct="1"/>
            <a:r>
              <a:rPr lang="en-US" altLang="zh-CN" sz="1600" b="1">
                <a:solidFill>
                  <a:srgbClr val="000000"/>
                </a:solidFill>
                <a:latin typeface="Courier New" panose="02070309020205020404" pitchFamily="49" charset="0"/>
              </a:rPr>
              <a:t>Absolute path is E:\FreePP\Android\project\java-test\image\up.gif</a:t>
            </a:r>
          </a:p>
          <a:p>
            <a:pPr eaLnBrk="1" hangingPunct="1"/>
            <a:r>
              <a:rPr lang="en-US" altLang="zh-CN" sz="1600" b="1">
                <a:solidFill>
                  <a:srgbClr val="000000"/>
                </a:solidFill>
                <a:latin typeface="Courier New" panose="02070309020205020404" pitchFamily="49" charset="0"/>
              </a:rPr>
              <a:t>Last modified on Thu Aug 06 16:41:51 CST 2012</a:t>
            </a:r>
            <a:endParaRPr lang="zh-CN" altLang="en-US" sz="1600" b="1">
              <a:solidFill>
                <a:srgbClr val="000000"/>
              </a:solidFill>
              <a:latin typeface="Courier New" panose="02070309020205020404" pitchFamily="49" charset="0"/>
            </a:endParaRP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936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1 </a:t>
            </a:r>
            <a:r>
              <a:rPr lang="en-US" altLang="zh-CN"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endParaRPr lang="zh-CN" altLang="en-US" dirty="0">
              <a:ea typeface="宋体" panose="02010600030101010101" pitchFamily="2" charset="-122"/>
              <a:cs typeface="Times New Roman" panose="02020603050405020304" pitchFamily="18" charset="0"/>
            </a:endParaRPr>
          </a:p>
        </p:txBody>
      </p:sp>
      <p:sp>
        <p:nvSpPr>
          <p:cNvPr id="116739" name="内容占位符 2"/>
          <p:cNvSpPr>
            <a:spLocks noGrp="1"/>
          </p:cNvSpPr>
          <p:nvPr>
            <p:ph idx="1"/>
          </p:nvPr>
        </p:nvSpPr>
        <p:spPr>
          <a:xfrm>
            <a:off x="468312" y="981076"/>
            <a:ext cx="7704087" cy="935036"/>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盘创建文件</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Hello.txt，</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如果存在，则删除旧文件，不存在则直接创建新的</a:t>
            </a:r>
          </a:p>
          <a:p>
            <a:endParaRPr lang="zh-CN" altLang="en-US" dirty="0">
              <a:ea typeface="宋体" panose="02010600030101010101" pitchFamily="2" charset="-122"/>
            </a:endParaRPr>
          </a:p>
        </p:txBody>
      </p:sp>
      <p:sp>
        <p:nvSpPr>
          <p:cNvPr id="116740" name="Rectangle 3"/>
          <p:cNvSpPr txBox="1">
            <a:spLocks noChangeArrowheads="1"/>
          </p:cNvSpPr>
          <p:nvPr/>
        </p:nvSpPr>
        <p:spPr bwMode="auto">
          <a:xfrm>
            <a:off x="539429" y="1844824"/>
            <a:ext cx="7993011" cy="468153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public class </a:t>
            </a:r>
            <a:r>
              <a:rPr lang="en-US" altLang="zh-CN" sz="2000" b="1" dirty="0" err="1">
                <a:latin typeface="Times New Roman" panose="02020603050405020304" pitchFamily="18" charset="0"/>
                <a:cs typeface="Times New Roman" panose="02020603050405020304" pitchFamily="18" charset="0"/>
              </a:rPr>
              <a:t>FileEx</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File f=new File(“c:"+</a:t>
            </a:r>
            <a:r>
              <a:rPr lang="en-US" altLang="zh-CN" sz="2000" b="1" dirty="0" err="1">
                <a:latin typeface="Times New Roman" panose="02020603050405020304" pitchFamily="18" charset="0"/>
                <a:cs typeface="Times New Roman" panose="02020603050405020304" pitchFamily="18" charset="0"/>
              </a:rPr>
              <a:t>File.separator+"Hello.txt</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if (</a:t>
            </a:r>
            <a:r>
              <a:rPr lang="en-US" altLang="zh-CN" sz="2000" b="1" dirty="0" err="1">
                <a:latin typeface="Times New Roman" panose="02020603050405020304" pitchFamily="18" charset="0"/>
                <a:cs typeface="Times New Roman" panose="02020603050405020304" pitchFamily="18" charset="0"/>
              </a:rPr>
              <a:t>f.exists</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f.delete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else</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try{</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f.createNewFile</a:t>
            </a:r>
            <a:r>
              <a:rPr lang="en-US" altLang="zh-CN" sz="2000" b="1"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catch(Exception e){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System.out.println</a:t>
            </a:r>
            <a:r>
              <a:rPr lang="en-US" altLang="zh-CN" sz="2000" b="1" dirty="0">
                <a:solidFill>
                  <a:srgbClr val="0000FF"/>
                </a:solidFill>
                <a:latin typeface="Times New Roman" panose="02020603050405020304" pitchFamily="18" charset="0"/>
                <a:cs typeface="Times New Roman" panose="02020603050405020304" pitchFamily="18" charset="0"/>
              </a:rPr>
              <a:t>(</a:t>
            </a:r>
            <a:r>
              <a:rPr lang="en-US" altLang="zh-CN" sz="2000" b="1" dirty="0" err="1">
                <a:solidFill>
                  <a:srgbClr val="0000FF"/>
                </a:solidFill>
                <a:latin typeface="Times New Roman" panose="02020603050405020304" pitchFamily="18" charset="0"/>
                <a:cs typeface="Times New Roman" panose="02020603050405020304" pitchFamily="18" charset="0"/>
              </a:rPr>
              <a:t>e.getMessage</a:t>
            </a:r>
            <a:r>
              <a:rPr lang="en-US" altLang="zh-CN" sz="2000" b="1"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28086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endParaRPr lang="zh-CN" altLang="en-US" dirty="0">
              <a:ea typeface="宋体" panose="02010600030101010101" pitchFamily="2" charset="-122"/>
            </a:endParaRPr>
          </a:p>
        </p:txBody>
      </p:sp>
      <p:sp>
        <p:nvSpPr>
          <p:cNvPr id="117763"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运行结果</a:t>
            </a:r>
          </a:p>
          <a:p>
            <a:pPr lvl="1"/>
            <a:r>
              <a:rPr lang="zh-CN" altLang="en-US" b="0" dirty="0">
                <a:ea typeface="黑体" panose="02010609060101010101" pitchFamily="49" charset="-122"/>
                <a:cs typeface="Times New Roman" panose="02020603050405020304" pitchFamily="18" charset="0"/>
              </a:rPr>
              <a:t>因为在前例中已经创建了</a:t>
            </a:r>
            <a:r>
              <a:rPr lang="en-US" altLang="zh-CN" b="0" dirty="0">
                <a:ea typeface="黑体" panose="02010609060101010101" pitchFamily="49" charset="-122"/>
                <a:cs typeface="Times New Roman" panose="02020603050405020304" pitchFamily="18" charset="0"/>
              </a:rPr>
              <a:t>c:\Hello.txt，</a:t>
            </a:r>
            <a:r>
              <a:rPr lang="zh-CN" altLang="en-US" b="0" dirty="0">
                <a:ea typeface="黑体" panose="02010609060101010101" pitchFamily="49" charset="-122"/>
                <a:cs typeface="Times New Roman" panose="02020603050405020304" pitchFamily="18" charset="0"/>
              </a:rPr>
              <a:t>所以第一次运行将删除这个文件</a:t>
            </a:r>
          </a:p>
          <a:p>
            <a:pPr lvl="1"/>
            <a:r>
              <a:rPr lang="zh-CN" altLang="en-US" b="0" dirty="0">
                <a:ea typeface="黑体" panose="02010609060101010101" pitchFamily="49" charset="-122"/>
                <a:cs typeface="Times New Roman" panose="02020603050405020304" pitchFamily="18" charset="0"/>
              </a:rPr>
              <a:t>第二次运行则又创建了一个此名的空文件</a:t>
            </a:r>
          </a:p>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分析</a:t>
            </a:r>
          </a:p>
          <a:p>
            <a:pPr lvl="1"/>
            <a:r>
              <a:rPr lang="zh-CN" altLang="en-US" b="0" dirty="0">
                <a:ea typeface="黑体" panose="02010609060101010101" pitchFamily="49" charset="-122"/>
                <a:cs typeface="Times New Roman" panose="02020603050405020304" pitchFamily="18" charset="0"/>
              </a:rPr>
              <a:t>在试图打开文件之前，可以使用</a:t>
            </a:r>
            <a:r>
              <a:rPr lang="en-US" altLang="zh-CN" b="0" dirty="0">
                <a:ea typeface="黑体" panose="02010609060101010101" pitchFamily="49" charset="-122"/>
                <a:cs typeface="Times New Roman" panose="02020603050405020304" pitchFamily="18" charset="0"/>
              </a:rPr>
              <a:t>File</a:t>
            </a:r>
            <a:r>
              <a:rPr lang="zh-CN" altLang="en-US" b="0" dirty="0">
                <a:ea typeface="黑体" panose="02010609060101010101" pitchFamily="49" charset="-122"/>
                <a:cs typeface="Times New Roman" panose="02020603050405020304" pitchFamily="18" charset="0"/>
              </a:rPr>
              <a:t>类的</a:t>
            </a:r>
            <a:r>
              <a:rPr lang="en-US" altLang="zh-CN" b="0" dirty="0" err="1">
                <a:solidFill>
                  <a:srgbClr val="0000FF"/>
                </a:solidFill>
                <a:ea typeface="黑体" panose="02010609060101010101" pitchFamily="49" charset="-122"/>
                <a:cs typeface="Times New Roman" panose="02020603050405020304" pitchFamily="18" charset="0"/>
              </a:rPr>
              <a:t>isFile</a:t>
            </a:r>
            <a:r>
              <a:rPr lang="zh-CN" altLang="en-US" b="0" dirty="0">
                <a:ea typeface="黑体" panose="02010609060101010101" pitchFamily="49" charset="-122"/>
                <a:cs typeface="Times New Roman" panose="02020603050405020304" pitchFamily="18" charset="0"/>
              </a:rPr>
              <a:t>方法来确定</a:t>
            </a:r>
            <a:r>
              <a:rPr lang="en-US" altLang="zh-CN" b="0" dirty="0">
                <a:ea typeface="黑体" panose="02010609060101010101" pitchFamily="49" charset="-122"/>
                <a:cs typeface="Times New Roman" panose="02020603050405020304" pitchFamily="18" charset="0"/>
              </a:rPr>
              <a:t>File</a:t>
            </a:r>
            <a:r>
              <a:rPr lang="zh-CN" altLang="en-US" b="0" dirty="0">
                <a:ea typeface="黑体" panose="02010609060101010101" pitchFamily="49" charset="-122"/>
                <a:cs typeface="Times New Roman" panose="02020603050405020304" pitchFamily="18" charset="0"/>
              </a:rPr>
              <a:t>对象是否代表一个文件而非目录）</a:t>
            </a:r>
          </a:p>
          <a:p>
            <a:pPr lvl="1"/>
            <a:r>
              <a:rPr lang="zh-CN" altLang="en-US" b="0" dirty="0">
                <a:ea typeface="黑体" panose="02010609060101010101" pitchFamily="49" charset="-122"/>
                <a:cs typeface="Times New Roman" panose="02020603050405020304" pitchFamily="18" charset="0"/>
              </a:rPr>
              <a:t>还可通过</a:t>
            </a:r>
            <a:r>
              <a:rPr lang="en-US" altLang="zh-CN" b="0" dirty="0">
                <a:solidFill>
                  <a:srgbClr val="FF0000"/>
                </a:solidFill>
                <a:ea typeface="黑体" panose="02010609060101010101" pitchFamily="49" charset="-122"/>
                <a:cs typeface="Times New Roman" panose="02020603050405020304" pitchFamily="18" charset="0"/>
              </a:rPr>
              <a:t>exists</a:t>
            </a:r>
            <a:r>
              <a:rPr lang="zh-CN" altLang="en-US" b="0" dirty="0">
                <a:ea typeface="黑体" panose="02010609060101010101" pitchFamily="49" charset="-122"/>
                <a:cs typeface="Times New Roman" panose="02020603050405020304" pitchFamily="18" charset="0"/>
              </a:rPr>
              <a:t>方法判断同名文件或路径是否存在，进而采取正确的方法，以免造成误操作</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88207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63E9553-A74A-FC47-BFFD-0FCAD127FEF0}"/>
              </a:ext>
            </a:extLst>
          </p:cNvPr>
          <p:cNvSpPr>
            <a:spLocks noGrp="1"/>
          </p:cNvSpPr>
          <p:nvPr>
            <p:ph type="body" sz="quarter" idx="10"/>
          </p:nvPr>
        </p:nvSpPr>
        <p:spPr/>
        <p:txBody>
          <a:bodyPr/>
          <a:lstStyle/>
          <a:p>
            <a:r>
              <a:rPr lang="en-US" altLang="zh-CN" dirty="0"/>
              <a:t> </a:t>
            </a:r>
            <a:endParaRPr lang="zh-CN" altLang="en-US" dirty="0"/>
          </a:p>
        </p:txBody>
      </p:sp>
      <p:sp>
        <p:nvSpPr>
          <p:cNvPr id="5" name="文本占位符 4">
            <a:extLst>
              <a:ext uri="{FF2B5EF4-FFF2-40B4-BE49-F238E27FC236}">
                <a16:creationId xmlns:a16="http://schemas.microsoft.com/office/drawing/2014/main" id="{9B001A89-9061-DEF4-BE04-48DAEFFB622C}"/>
              </a:ext>
            </a:extLst>
          </p:cNvPr>
          <p:cNvSpPr>
            <a:spLocks noGrp="1"/>
          </p:cNvSpPr>
          <p:nvPr>
            <p:ph type="body" sz="quarter" idx="11"/>
          </p:nvPr>
        </p:nvSpPr>
        <p:spPr>
          <a:xfrm>
            <a:off x="743694" y="1606098"/>
            <a:ext cx="6753719" cy="4647683"/>
          </a:xfrm>
        </p:spPr>
        <p:txBody>
          <a:bodyPr/>
          <a:lstStyle/>
          <a:p>
            <a:r>
              <a:rPr lang="zh-CN" altLang="en-US" sz="1800" dirty="0">
                <a:latin typeface="楷体" panose="02010609060101010101" pitchFamily="49" charset="-122"/>
                <a:ea typeface="楷体" panose="02010609060101010101" pitchFamily="49" charset="-122"/>
              </a:rPr>
              <a:t>需求 </a:t>
            </a:r>
            <a:r>
              <a:rPr lang="en-US" altLang="zh-CN" sz="1800" dirty="0">
                <a:latin typeface="楷体" panose="02010609060101010101" pitchFamily="49" charset="-122"/>
                <a:ea typeface="楷体" panose="02010609060101010101" pitchFamily="49" charset="-122"/>
              </a:rPr>
              <a:t>: </a:t>
            </a:r>
            <a:r>
              <a:rPr lang="zh-CN" altLang="en-US" sz="1800" dirty="0">
                <a:latin typeface="楷体" panose="02010609060101010101" pitchFamily="49" charset="-122"/>
                <a:ea typeface="楷体" panose="02010609060101010101" pitchFamily="49" charset="-122"/>
              </a:rPr>
              <a:t> 键盘录入一个文件夹路径，如果输入错误就给出提示，并继续录入，直到正确为止</a:t>
            </a:r>
            <a:endParaRPr lang="en-US" altLang="zh-CN" sz="1800" dirty="0">
              <a:latin typeface="楷体" panose="02010609060101010101" pitchFamily="49" charset="-122"/>
              <a:ea typeface="楷体" panose="02010609060101010101" pitchFamily="49" charset="-122"/>
            </a:endParaRPr>
          </a:p>
          <a:p>
            <a:endParaRPr lang="en-US" altLang="zh-CN" sz="1600" dirty="0">
              <a:latin typeface="楷体" panose="02010609060101010101" pitchFamily="49" charset="-122"/>
              <a:ea typeface="楷体" panose="02010609060101010101" pitchFamily="49" charset="-122"/>
            </a:endParaRPr>
          </a:p>
          <a:p>
            <a:r>
              <a:rPr lang="zh-CN" altLang="en-US" sz="1600" b="0" dirty="0">
                <a:latin typeface="楷体" panose="02010609060101010101" pitchFamily="49" charset="-122"/>
                <a:ea typeface="楷体" panose="02010609060101010101" pitchFamily="49" charset="-122"/>
              </a:rPr>
              <a:t>分析：</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	1. </a:t>
            </a:r>
            <a:r>
              <a:rPr lang="zh-CN" altLang="en-US" sz="1600" b="0" dirty="0">
                <a:latin typeface="楷体" panose="02010609060101010101" pitchFamily="49" charset="-122"/>
                <a:ea typeface="楷体" panose="02010609060101010101" pitchFamily="49" charset="-122"/>
              </a:rPr>
              <a:t>输入的路径有可能不存在</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	2. </a:t>
            </a:r>
            <a:r>
              <a:rPr lang="zh-CN" altLang="en-US" sz="1600" b="0" dirty="0">
                <a:latin typeface="楷体" panose="02010609060101010101" pitchFamily="49" charset="-122"/>
                <a:ea typeface="楷体" panose="02010609060101010101" pitchFamily="49" charset="-122"/>
              </a:rPr>
              <a:t>输入的路径有可能是文件路径</a:t>
            </a:r>
            <a:endParaRPr lang="en-US" altLang="zh-CN" sz="1600" b="0" dirty="0">
              <a:latin typeface="楷体" panose="02010609060101010101" pitchFamily="49" charset="-122"/>
              <a:ea typeface="楷体" panose="02010609060101010101" pitchFamily="49" charset="-122"/>
            </a:endParaRPr>
          </a:p>
          <a:p>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	</a:t>
            </a:r>
            <a:r>
              <a:rPr lang="zh-CN" altLang="en-US" sz="1600" b="0" dirty="0">
                <a:latin typeface="楷体" panose="02010609060101010101" pitchFamily="49" charset="-122"/>
                <a:ea typeface="楷体" panose="02010609060101010101" pitchFamily="49" charset="-122"/>
              </a:rPr>
              <a:t>封装为</a:t>
            </a:r>
            <a:r>
              <a:rPr lang="en-US" altLang="zh-CN" sz="1600" b="0" dirty="0">
                <a:latin typeface="楷体" panose="02010609060101010101" pitchFamily="49" charset="-122"/>
                <a:ea typeface="楷体" panose="02010609060101010101" pitchFamily="49" charset="-122"/>
              </a:rPr>
              <a:t>File</a:t>
            </a:r>
            <a:r>
              <a:rPr lang="zh-CN" altLang="en-US" sz="1600" b="0" dirty="0">
                <a:latin typeface="楷体" panose="02010609060101010101" pitchFamily="49" charset="-122"/>
                <a:ea typeface="楷体" panose="02010609060101010101" pitchFamily="49" charset="-122"/>
              </a:rPr>
              <a:t>对象</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		</a:t>
            </a:r>
            <a:r>
              <a:rPr lang="zh-CN" altLang="en-US" sz="1600" b="0" dirty="0">
                <a:latin typeface="楷体" panose="02010609060101010101" pitchFamily="49" charset="-122"/>
                <a:ea typeface="楷体" panose="02010609060101010101" pitchFamily="49" charset="-122"/>
              </a:rPr>
              <a:t>调用 </a:t>
            </a:r>
            <a:r>
              <a:rPr lang="en-US" altLang="zh-CN" sz="1600" b="0" dirty="0">
                <a:latin typeface="楷体" panose="02010609060101010101" pitchFamily="49" charset="-122"/>
                <a:ea typeface="楷体" panose="02010609060101010101" pitchFamily="49" charset="-122"/>
              </a:rPr>
              <a:t>exists() </a:t>
            </a:r>
            <a:r>
              <a:rPr lang="zh-CN" altLang="en-US" sz="1600" b="0" dirty="0">
                <a:latin typeface="楷体" panose="02010609060101010101" pitchFamily="49" charset="-122"/>
                <a:ea typeface="楷体" panose="02010609060101010101" pitchFamily="49" charset="-122"/>
              </a:rPr>
              <a:t>判断是否存在</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		</a:t>
            </a:r>
            <a:r>
              <a:rPr lang="zh-CN" altLang="en-US" sz="1600" b="0" dirty="0">
                <a:latin typeface="楷体" panose="02010609060101010101" pitchFamily="49" charset="-122"/>
                <a:ea typeface="楷体" panose="02010609060101010101" pitchFamily="49" charset="-122"/>
              </a:rPr>
              <a:t>调用 </a:t>
            </a:r>
            <a:r>
              <a:rPr lang="en-US" altLang="zh-CN" sz="1600" b="0" dirty="0" err="1">
                <a:latin typeface="楷体" panose="02010609060101010101" pitchFamily="49" charset="-122"/>
                <a:ea typeface="楷体" panose="02010609060101010101" pitchFamily="49" charset="-122"/>
              </a:rPr>
              <a:t>isFile</a:t>
            </a:r>
            <a:r>
              <a:rPr lang="en-US" altLang="zh-CN" sz="1600" b="0" dirty="0">
                <a:latin typeface="楷体" panose="02010609060101010101" pitchFamily="49" charset="-122"/>
                <a:ea typeface="楷体" panose="02010609060101010101" pitchFamily="49" charset="-122"/>
              </a:rPr>
              <a:t>() </a:t>
            </a:r>
            <a:r>
              <a:rPr lang="zh-CN" altLang="en-US" sz="1600" b="0" dirty="0">
                <a:latin typeface="楷体" panose="02010609060101010101" pitchFamily="49" charset="-122"/>
                <a:ea typeface="楷体" panose="02010609060101010101" pitchFamily="49" charset="-122"/>
              </a:rPr>
              <a:t>判断是否是文件</a:t>
            </a:r>
          </a:p>
        </p:txBody>
      </p:sp>
      <p:sp>
        <p:nvSpPr>
          <p:cNvPr id="6" name="标题 1">
            <a:extLst>
              <a:ext uri="{FF2B5EF4-FFF2-40B4-BE49-F238E27FC236}">
                <a16:creationId xmlns:a16="http://schemas.microsoft.com/office/drawing/2014/main" id="{A58CF858-EE5B-409E-B1BE-D7D4ABF7F30D}"/>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7" name="直接连接符 6">
            <a:extLst>
              <a:ext uri="{FF2B5EF4-FFF2-40B4-BE49-F238E27FC236}">
                <a16:creationId xmlns:a16="http://schemas.microsoft.com/office/drawing/2014/main" id="{9474F63E-1AEF-4070-A2F0-BC9BD6D72A6B}"/>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378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fade">
                                      <p:cBhvr>
                                        <p:cTn id="10" dur="500"/>
                                        <p:tgtEl>
                                          <p:spTgt spid="5">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fade">
                                      <p:cBhvr>
                                        <p:cTn id="13" dur="500"/>
                                        <p:tgtEl>
                                          <p:spTgt spid="5">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6" end="6"/>
                                            </p:txEl>
                                          </p:spTgt>
                                        </p:tgtEl>
                                        <p:attrNameLst>
                                          <p:attrName>style.visibility</p:attrName>
                                        </p:attrNameLst>
                                      </p:cBhvr>
                                      <p:to>
                                        <p:strVal val="visible"/>
                                      </p:to>
                                    </p:set>
                                    <p:animEffect transition="in" filter="fade">
                                      <p:cBhvr>
                                        <p:cTn id="18" dur="500"/>
                                        <p:tgtEl>
                                          <p:spTgt spid="5">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animEffect transition="in" filter="fade">
                                      <p:cBhvr>
                                        <p:cTn id="21" dur="500"/>
                                        <p:tgtEl>
                                          <p:spTgt spid="5">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8" end="8"/>
                                            </p:txEl>
                                          </p:spTgt>
                                        </p:tgtEl>
                                        <p:attrNameLst>
                                          <p:attrName>style.visibility</p:attrName>
                                        </p:attrNameLst>
                                      </p:cBhvr>
                                      <p:to>
                                        <p:strVal val="visible"/>
                                      </p:to>
                                    </p:set>
                                    <p:animEffect transition="in" filter="fade">
                                      <p:cBhvr>
                                        <p:cTn id="24"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a:xfrm>
            <a:off x="395288" y="44624"/>
            <a:ext cx="7543800" cy="576262"/>
          </a:xfrm>
        </p:spPr>
        <p:txBody>
          <a:bodyPr/>
          <a:lstStyle/>
          <a:p>
            <a:r>
              <a:rPr lang="zh-CN" altLang="en-GB" sz="280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sz="28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r>
              <a:rPr lang="en-US" altLang="zh-CN"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改进的文件复制程序</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787" name="Rectangle 3"/>
          <p:cNvSpPr txBox="1">
            <a:spLocks noChangeArrowheads="1"/>
          </p:cNvSpPr>
          <p:nvPr/>
        </p:nvSpPr>
        <p:spPr bwMode="auto">
          <a:xfrm>
            <a:off x="12311" y="-9164"/>
            <a:ext cx="9024185" cy="70170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b="1" dirty="0">
                <a:latin typeface="Courier New" panose="02070309020205020404" pitchFamily="49" charset="0"/>
                <a:cs typeface="Courier New" panose="02070309020205020404" pitchFamily="49" charset="0"/>
              </a:rPr>
              <a:t>public class FileTest1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public static void main(String[] </a:t>
            </a:r>
            <a:r>
              <a:rPr lang="en-US" altLang="zh-CN" b="1" dirty="0" err="1">
                <a:latin typeface="Courier New" panose="02070309020205020404" pitchFamily="49" charset="0"/>
                <a:cs typeface="Courier New" panose="02070309020205020404" pitchFamily="49" charset="0"/>
              </a:rPr>
              <a:t>args</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File </a:t>
            </a:r>
            <a:r>
              <a:rPr lang="en-US" altLang="zh-CN" b="1" dirty="0" err="1">
                <a:latin typeface="Courier New" panose="02070309020205020404" pitchFamily="49" charset="0"/>
                <a:cs typeface="Courier New" panose="02070309020205020404" pitchFamily="49" charset="0"/>
              </a:rPr>
              <a:t>dir</a:t>
            </a:r>
            <a:r>
              <a:rPr lang="en-US" altLang="zh-CN" b="1" dirty="0">
                <a:latin typeface="Courier New" panose="02070309020205020404" pitchFamily="49" charset="0"/>
                <a:cs typeface="Courier New" panose="02070309020205020404" pitchFamily="49" charset="0"/>
              </a:rPr>
              <a:t> = </a:t>
            </a:r>
            <a:r>
              <a:rPr lang="en-US" altLang="zh-CN" b="1" dirty="0" err="1">
                <a:latin typeface="Courier New" panose="02070309020205020404" pitchFamily="49" charset="0"/>
                <a:cs typeface="Courier New" panose="02070309020205020404" pitchFamily="49" charset="0"/>
              </a:rPr>
              <a:t>getDir</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dir</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public static File </a:t>
            </a:r>
            <a:r>
              <a:rPr lang="en-US" altLang="zh-CN" b="1" dirty="0" err="1">
                <a:latin typeface="Courier New" panose="02070309020205020404" pitchFamily="49" charset="0"/>
                <a:cs typeface="Courier New" panose="02070309020205020404" pitchFamily="49" charset="0"/>
              </a:rPr>
              <a:t>getDir</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Scanner </a:t>
            </a:r>
            <a:r>
              <a:rPr lang="en-US" altLang="zh-CN" b="1" dirty="0" err="1">
                <a:latin typeface="Courier New" panose="02070309020205020404" pitchFamily="49" charset="0"/>
                <a:cs typeface="Courier New" panose="02070309020205020404" pitchFamily="49" charset="0"/>
              </a:rPr>
              <a:t>sc</a:t>
            </a:r>
            <a:r>
              <a:rPr lang="en-US" altLang="zh-CN" b="1" dirty="0">
                <a:latin typeface="Courier New" panose="02070309020205020404" pitchFamily="49" charset="0"/>
                <a:cs typeface="Courier New" panose="02070309020205020404" pitchFamily="49" charset="0"/>
              </a:rPr>
              <a:t> = new Scanner(System.in);</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请输入文件夹路径</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while (true)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String path = </a:t>
            </a:r>
            <a:r>
              <a:rPr lang="en-US" altLang="zh-CN" b="1" dirty="0" err="1">
                <a:latin typeface="Courier New" panose="02070309020205020404" pitchFamily="49" charset="0"/>
                <a:cs typeface="Courier New" panose="02070309020205020404" pitchFamily="49" charset="0"/>
              </a:rPr>
              <a:t>sc.nextLine</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File </a:t>
            </a:r>
            <a:r>
              <a:rPr lang="en-US" altLang="zh-CN" b="1" dirty="0" err="1">
                <a:latin typeface="Courier New" panose="02070309020205020404" pitchFamily="49" charset="0"/>
                <a:cs typeface="Courier New" panose="02070309020205020404" pitchFamily="49" charset="0"/>
              </a:rPr>
              <a:t>dir</a:t>
            </a:r>
            <a:r>
              <a:rPr lang="en-US" altLang="zh-CN" b="1" dirty="0">
                <a:latin typeface="Courier New" panose="02070309020205020404" pitchFamily="49" charset="0"/>
                <a:cs typeface="Courier New" panose="02070309020205020404" pitchFamily="49" charset="0"/>
              </a:rPr>
              <a:t> = new File(path);</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if (!</a:t>
            </a:r>
            <a:r>
              <a:rPr lang="en-US" altLang="zh-CN" b="1" dirty="0" err="1">
                <a:latin typeface="Courier New" panose="02070309020205020404" pitchFamily="49" charset="0"/>
                <a:cs typeface="Courier New" panose="02070309020205020404" pitchFamily="49" charset="0"/>
              </a:rPr>
              <a:t>dir.exists</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a:t>
            </a:r>
            <a:r>
              <a:rPr lang="zh-CN" altLang="en-US" sz="1200" b="1" dirty="0">
                <a:latin typeface="Courier New" panose="02070309020205020404" pitchFamily="49" charset="0"/>
                <a:cs typeface="Courier New" panose="02070309020205020404" pitchFamily="49" charset="0"/>
              </a:rPr>
              <a:t>您输入的文件夹路径不存在</a:t>
            </a:r>
            <a:r>
              <a:rPr lang="en-US" altLang="zh-CN" sz="1200" b="1" dirty="0">
                <a:latin typeface="Courier New" panose="02070309020205020404" pitchFamily="49" charset="0"/>
                <a:cs typeface="Courier New" panose="02070309020205020404" pitchFamily="49" charset="0"/>
              </a:rPr>
              <a:t>, </a:t>
            </a:r>
            <a:r>
              <a:rPr lang="zh-CN" altLang="en-US" sz="1200" b="1" dirty="0">
                <a:latin typeface="Courier New" panose="02070309020205020404" pitchFamily="49" charset="0"/>
                <a:cs typeface="Courier New" panose="02070309020205020404" pitchFamily="49" charset="0"/>
              </a:rPr>
              <a:t>请重新输入</a:t>
            </a:r>
            <a:r>
              <a:rPr lang="en-US" altLang="zh-CN" sz="12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 else if (</a:t>
            </a:r>
            <a:r>
              <a:rPr lang="en-US" altLang="zh-CN" b="1" dirty="0" err="1">
                <a:latin typeface="Courier New" panose="02070309020205020404" pitchFamily="49" charset="0"/>
                <a:cs typeface="Courier New" panose="02070309020205020404" pitchFamily="49" charset="0"/>
              </a:rPr>
              <a:t>dir.isFile</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System.out.println</a:t>
            </a:r>
            <a:r>
              <a:rPr lang="en-US" altLang="zh-CN" b="1" dirty="0">
                <a:latin typeface="Courier New" panose="02070309020205020404" pitchFamily="49" charset="0"/>
                <a:cs typeface="Courier New" panose="02070309020205020404" pitchFamily="49" charset="0"/>
              </a:rPr>
              <a:t>("</a:t>
            </a:r>
            <a:r>
              <a:rPr lang="zh-CN" altLang="en-US" sz="1200" b="1" dirty="0">
                <a:latin typeface="Courier New" panose="02070309020205020404" pitchFamily="49" charset="0"/>
                <a:cs typeface="Courier New" panose="02070309020205020404" pitchFamily="49" charset="0"/>
              </a:rPr>
              <a:t>您输入的是一个文件路径</a:t>
            </a:r>
            <a:r>
              <a:rPr lang="en-US" altLang="zh-CN" sz="1200" b="1" dirty="0">
                <a:latin typeface="Courier New" panose="02070309020205020404" pitchFamily="49" charset="0"/>
                <a:cs typeface="Courier New" panose="02070309020205020404" pitchFamily="49" charset="0"/>
              </a:rPr>
              <a:t>, </a:t>
            </a:r>
            <a:r>
              <a:rPr lang="zh-CN" altLang="en-US" sz="1200" b="1" dirty="0">
                <a:latin typeface="Courier New" panose="02070309020205020404" pitchFamily="49" charset="0"/>
                <a:cs typeface="Courier New" panose="02070309020205020404" pitchFamily="49" charset="0"/>
              </a:rPr>
              <a:t>请重新输入一个文件夹路径</a:t>
            </a:r>
            <a:r>
              <a:rPr lang="en-US" altLang="zh-CN" sz="12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 else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return </a:t>
            </a:r>
            <a:r>
              <a:rPr lang="en-US" altLang="zh-CN" b="1" dirty="0" err="1">
                <a:latin typeface="Courier New" panose="02070309020205020404" pitchFamily="49" charset="0"/>
                <a:cs typeface="Courier New" panose="02070309020205020404" pitchFamily="49" charset="0"/>
              </a:rPr>
              <a:t>dir</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9351745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63E9553-A74A-FC47-BFFD-0FCAD127FEF0}"/>
              </a:ext>
            </a:extLst>
          </p:cNvPr>
          <p:cNvSpPr>
            <a:spLocks noGrp="1"/>
          </p:cNvSpPr>
          <p:nvPr>
            <p:ph type="body" sz="quarter" idx="10"/>
          </p:nvPr>
        </p:nvSpPr>
        <p:spPr/>
        <p:txBody>
          <a:bodyPr/>
          <a:lstStyle/>
          <a:p>
            <a:r>
              <a:rPr lang="en-US" altLang="zh-CN" dirty="0"/>
              <a:t> </a:t>
            </a:r>
            <a:endParaRPr lang="zh-CN" altLang="en-US" dirty="0"/>
          </a:p>
        </p:txBody>
      </p:sp>
      <p:sp>
        <p:nvSpPr>
          <p:cNvPr id="5" name="文本占位符 4">
            <a:extLst>
              <a:ext uri="{FF2B5EF4-FFF2-40B4-BE49-F238E27FC236}">
                <a16:creationId xmlns:a16="http://schemas.microsoft.com/office/drawing/2014/main" id="{9B001A89-9061-DEF4-BE04-48DAEFFB622C}"/>
              </a:ext>
            </a:extLst>
          </p:cNvPr>
          <p:cNvSpPr>
            <a:spLocks noGrp="1"/>
          </p:cNvSpPr>
          <p:nvPr>
            <p:ph type="body" sz="quarter" idx="11"/>
          </p:nvPr>
        </p:nvSpPr>
        <p:spPr>
          <a:xfrm>
            <a:off x="743694" y="1606098"/>
            <a:ext cx="6753719" cy="4647683"/>
          </a:xfrm>
        </p:spPr>
        <p:txBody>
          <a:bodyPr/>
          <a:lstStyle/>
          <a:p>
            <a:r>
              <a:rPr lang="zh-CN" altLang="en-US" sz="1800" dirty="0">
                <a:latin typeface="楷体" panose="02010609060101010101" pitchFamily="49" charset="-122"/>
                <a:ea typeface="楷体" panose="02010609060101010101" pitchFamily="49" charset="-122"/>
              </a:rPr>
              <a:t>需求 </a:t>
            </a:r>
            <a:r>
              <a:rPr lang="en-US" altLang="zh-CN" sz="1800" dirty="0">
                <a:latin typeface="楷体" panose="02010609060101010101" pitchFamily="49" charset="-122"/>
                <a:ea typeface="楷体" panose="02010609060101010101" pitchFamily="49" charset="-122"/>
              </a:rPr>
              <a:t>:</a:t>
            </a:r>
            <a:r>
              <a:rPr lang="zh-CN" altLang="en-US" sz="1800" dirty="0">
                <a:latin typeface="楷体" panose="02010609060101010101" pitchFamily="49" charset="-122"/>
                <a:ea typeface="楷体" panose="02010609060101010101" pitchFamily="49" charset="-122"/>
              </a:rPr>
              <a:t>设计一个方法</a:t>
            </a:r>
            <a:r>
              <a:rPr lang="en-US" altLang="zh-CN" sz="1800" dirty="0">
                <a:latin typeface="楷体" panose="02010609060101010101" pitchFamily="49" charset="-122"/>
                <a:ea typeface="楷体" panose="02010609060101010101" pitchFamily="49" charset="-122"/>
              </a:rPr>
              <a:t>, </a:t>
            </a:r>
            <a:r>
              <a:rPr lang="zh-CN" altLang="en-US" sz="1800" dirty="0">
                <a:latin typeface="楷体" panose="02010609060101010101" pitchFamily="49" charset="-122"/>
                <a:ea typeface="楷体" panose="02010609060101010101" pitchFamily="49" charset="-122"/>
              </a:rPr>
              <a:t>删除文件夹 </a:t>
            </a:r>
            <a:endParaRPr lang="en-US" altLang="zh-CN" sz="1800" dirty="0">
              <a:latin typeface="楷体" panose="02010609060101010101" pitchFamily="49" charset="-122"/>
              <a:ea typeface="楷体" panose="02010609060101010101" pitchFamily="49" charset="-122"/>
            </a:endParaRPr>
          </a:p>
          <a:p>
            <a:r>
              <a:rPr lang="zh-CN" altLang="en-US" sz="1600" b="0" dirty="0">
                <a:latin typeface="楷体" panose="02010609060101010101" pitchFamily="49" charset="-122"/>
                <a:ea typeface="楷体" panose="02010609060101010101" pitchFamily="49" charset="-122"/>
              </a:rPr>
              <a:t>分析：</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	1. (delete() </a:t>
            </a:r>
            <a:r>
              <a:rPr lang="zh-CN" altLang="en-US" sz="1600" b="0" dirty="0">
                <a:latin typeface="楷体" panose="02010609060101010101" pitchFamily="49" charset="-122"/>
                <a:ea typeface="楷体" panose="02010609060101010101" pitchFamily="49" charset="-122"/>
              </a:rPr>
              <a:t>只能删除空文件夹</a:t>
            </a:r>
            <a:r>
              <a:rPr lang="en-US" altLang="zh-CN" sz="1600" b="0" dirty="0">
                <a:latin typeface="楷体" panose="02010609060101010101" pitchFamily="49" charset="-122"/>
                <a:ea typeface="楷体" panose="02010609060101010101" pitchFamily="49" charset="-122"/>
              </a:rPr>
              <a:t>)</a:t>
            </a:r>
          </a:p>
          <a:p>
            <a:r>
              <a:rPr lang="en-US" altLang="zh-CN" sz="1600" b="0" dirty="0">
                <a:latin typeface="楷体" panose="02010609060101010101" pitchFamily="49" charset="-122"/>
                <a:ea typeface="楷体" panose="02010609060101010101" pitchFamily="49" charset="-122"/>
              </a:rPr>
              <a:t>	</a:t>
            </a:r>
            <a:endParaRPr lang="zh-CN" altLang="en-US" sz="1600" b="0" dirty="0">
              <a:latin typeface="楷体" panose="02010609060101010101" pitchFamily="49" charset="-122"/>
              <a:ea typeface="楷体" panose="02010609060101010101" pitchFamily="49" charset="-122"/>
            </a:endParaRPr>
          </a:p>
        </p:txBody>
      </p:sp>
      <p:sp>
        <p:nvSpPr>
          <p:cNvPr id="6" name="标题 1">
            <a:extLst>
              <a:ext uri="{FF2B5EF4-FFF2-40B4-BE49-F238E27FC236}">
                <a16:creationId xmlns:a16="http://schemas.microsoft.com/office/drawing/2014/main" id="{A58CF858-EE5B-409E-B1BE-D7D4ABF7F30D}"/>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p>
        </p:txBody>
      </p:sp>
      <p:cxnSp>
        <p:nvCxnSpPr>
          <p:cNvPr id="7" name="直接连接符 6">
            <a:extLst>
              <a:ext uri="{FF2B5EF4-FFF2-40B4-BE49-F238E27FC236}">
                <a16:creationId xmlns:a16="http://schemas.microsoft.com/office/drawing/2014/main" id="{9474F63E-1AEF-4070-A2F0-BC9BD6D72A6B}"/>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807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63E9553-A74A-FC47-BFFD-0FCAD127FEF0}"/>
              </a:ext>
            </a:extLst>
          </p:cNvPr>
          <p:cNvSpPr>
            <a:spLocks noGrp="1"/>
          </p:cNvSpPr>
          <p:nvPr>
            <p:ph type="body" sz="quarter" idx="10"/>
          </p:nvPr>
        </p:nvSpPr>
        <p:spPr/>
        <p:txBody>
          <a:bodyPr/>
          <a:lstStyle/>
          <a:p>
            <a:r>
              <a:rPr lang="en-US" altLang="zh-CN" dirty="0"/>
              <a:t> </a:t>
            </a:r>
            <a:endParaRPr lang="zh-CN" altLang="en-US" dirty="0"/>
          </a:p>
        </p:txBody>
      </p:sp>
      <p:sp>
        <p:nvSpPr>
          <p:cNvPr id="6" name="标题 1">
            <a:extLst>
              <a:ext uri="{FF2B5EF4-FFF2-40B4-BE49-F238E27FC236}">
                <a16:creationId xmlns:a16="http://schemas.microsoft.com/office/drawing/2014/main" id="{A58CF858-EE5B-409E-B1BE-D7D4ABF7F30D}"/>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pPr marL="342900" indent="-342900"/>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a:t>
            </a:r>
            <a:r>
              <a:rPr lang="en-US" altLang="zh-CN" b="0" ker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File</a:t>
            </a:r>
            <a:r>
              <a:rPr lang="zh-CN" altLang="en-US" b="0" ker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类</a:t>
            </a:r>
            <a:endPar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7" name="直接连接符 6">
            <a:extLst>
              <a:ext uri="{FF2B5EF4-FFF2-40B4-BE49-F238E27FC236}">
                <a16:creationId xmlns:a16="http://schemas.microsoft.com/office/drawing/2014/main" id="{9474F63E-1AEF-4070-A2F0-BC9BD6D72A6B}"/>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79D21DD4-AF18-4EE5-8F44-1A17B3E9D438}"/>
              </a:ext>
            </a:extLst>
          </p:cNvPr>
          <p:cNvSpPr txBox="1">
            <a:spLocks noChangeArrowheads="1"/>
          </p:cNvSpPr>
          <p:nvPr/>
        </p:nvSpPr>
        <p:spPr bwMode="auto">
          <a:xfrm>
            <a:off x="12311" y="-9164"/>
            <a:ext cx="9024185" cy="70170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b="1" dirty="0">
                <a:latin typeface="Courier New" panose="02070309020205020404" pitchFamily="49" charset="0"/>
                <a:cs typeface="Courier New" panose="02070309020205020404" pitchFamily="49" charset="0"/>
              </a:rPr>
              <a:t>import </a:t>
            </a:r>
            <a:r>
              <a:rPr lang="en-US" altLang="zh-CN" b="1" dirty="0" err="1">
                <a:latin typeface="Courier New" panose="02070309020205020404" pitchFamily="49" charset="0"/>
                <a:cs typeface="Courier New" panose="02070309020205020404" pitchFamily="49" charset="0"/>
              </a:rPr>
              <a:t>java.io.File</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public class FileTest3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public static void main(String[] </a:t>
            </a:r>
            <a:r>
              <a:rPr lang="en-US" altLang="zh-CN" b="1" dirty="0" err="1">
                <a:latin typeface="Courier New" panose="02070309020205020404" pitchFamily="49" charset="0"/>
                <a:cs typeface="Courier New" panose="02070309020205020404" pitchFamily="49" charset="0"/>
              </a:rPr>
              <a:t>args</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deleteDir</a:t>
            </a:r>
            <a:r>
              <a:rPr lang="en-US" altLang="zh-CN" b="1" dirty="0">
                <a:latin typeface="Courier New" panose="02070309020205020404" pitchFamily="49" charset="0"/>
                <a:cs typeface="Courier New" panose="02070309020205020404" pitchFamily="49" charset="0"/>
              </a:rPr>
              <a:t>(new File("D:\\test2"));</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endParaRPr lang="en-US" altLang="zh-CN"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public static void </a:t>
            </a:r>
            <a:r>
              <a:rPr lang="en-US" altLang="zh-CN" b="1" dirty="0" err="1">
                <a:latin typeface="Courier New" panose="02070309020205020404" pitchFamily="49" charset="0"/>
                <a:cs typeface="Courier New" panose="02070309020205020404" pitchFamily="49" charset="0"/>
              </a:rPr>
              <a:t>deleteDir</a:t>
            </a:r>
            <a:r>
              <a:rPr lang="en-US" altLang="zh-CN" b="1" dirty="0">
                <a:latin typeface="Courier New" panose="02070309020205020404" pitchFamily="49" charset="0"/>
                <a:cs typeface="Courier New" panose="02070309020205020404" pitchFamily="49" charset="0"/>
              </a:rPr>
              <a:t>(File </a:t>
            </a:r>
            <a:r>
              <a:rPr lang="en-US" altLang="zh-CN" b="1" dirty="0" err="1">
                <a:latin typeface="Courier New" panose="02070309020205020404" pitchFamily="49" charset="0"/>
                <a:cs typeface="Courier New" panose="02070309020205020404" pitchFamily="49" charset="0"/>
              </a:rPr>
              <a:t>dir</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File[] files = </a:t>
            </a:r>
            <a:r>
              <a:rPr lang="en-US" altLang="zh-CN" b="1" dirty="0" err="1">
                <a:latin typeface="Courier New" panose="02070309020205020404" pitchFamily="49" charset="0"/>
                <a:cs typeface="Courier New" panose="02070309020205020404" pitchFamily="49" charset="0"/>
              </a:rPr>
              <a:t>dir.listFiles</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for (File </a:t>
            </a:r>
            <a:r>
              <a:rPr lang="en-US" altLang="zh-CN" b="1" dirty="0" err="1">
                <a:latin typeface="Courier New" panose="02070309020205020404" pitchFamily="49" charset="0"/>
                <a:cs typeface="Courier New" panose="02070309020205020404" pitchFamily="49" charset="0"/>
              </a:rPr>
              <a:t>file</a:t>
            </a:r>
            <a:r>
              <a:rPr lang="en-US" altLang="zh-CN" b="1" dirty="0">
                <a:latin typeface="Courier New" panose="02070309020205020404" pitchFamily="49" charset="0"/>
                <a:cs typeface="Courier New" panose="02070309020205020404" pitchFamily="49" charset="0"/>
              </a:rPr>
              <a:t> : files)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if (</a:t>
            </a:r>
            <a:r>
              <a:rPr lang="en-US" altLang="zh-CN" b="1" dirty="0" err="1">
                <a:latin typeface="Courier New" panose="02070309020205020404" pitchFamily="49" charset="0"/>
                <a:cs typeface="Courier New" panose="02070309020205020404" pitchFamily="49" charset="0"/>
              </a:rPr>
              <a:t>file.isFile</a:t>
            </a: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 </a:t>
            </a:r>
            <a:r>
              <a:rPr lang="zh-CN" altLang="en-US" b="1" dirty="0">
                <a:latin typeface="Courier New" panose="02070309020205020404" pitchFamily="49" charset="0"/>
                <a:cs typeface="Courier New" panose="02070309020205020404" pitchFamily="49" charset="0"/>
              </a:rPr>
              <a:t>文件直接删</a:t>
            </a:r>
          </a:p>
          <a:p>
            <a:pPr marL="0" lvl="1">
              <a:buClr>
                <a:schemeClr val="accent2"/>
              </a:buClr>
              <a:buSzPct val="70000"/>
            </a:pPr>
            <a:r>
              <a:rPr lang="zh-CN" altLang="en-US"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file.delete</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 else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 </a:t>
            </a:r>
            <a:r>
              <a:rPr lang="zh-CN" altLang="en-US" b="1" dirty="0">
                <a:latin typeface="Courier New" panose="02070309020205020404" pitchFamily="49" charset="0"/>
                <a:cs typeface="Courier New" panose="02070309020205020404" pitchFamily="49" charset="0"/>
              </a:rPr>
              <a:t>文件夹的话</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需要进入文件夹继续删除</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if (</a:t>
            </a:r>
            <a:r>
              <a:rPr lang="en-US" altLang="zh-CN" b="1" dirty="0" err="1">
                <a:latin typeface="Courier New" panose="02070309020205020404" pitchFamily="49" charset="0"/>
                <a:cs typeface="Courier New" panose="02070309020205020404" pitchFamily="49" charset="0"/>
              </a:rPr>
              <a:t>file.listFiles</a:t>
            </a:r>
            <a:r>
              <a:rPr lang="en-US" altLang="zh-CN" b="1" dirty="0">
                <a:latin typeface="Courier New" panose="02070309020205020404" pitchFamily="49" charset="0"/>
                <a:cs typeface="Courier New" panose="02070309020205020404" pitchFamily="49" charset="0"/>
              </a:rPr>
              <a:t>() != null)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deleteDir</a:t>
            </a:r>
            <a:r>
              <a:rPr lang="en-US" altLang="zh-CN" b="1" dirty="0">
                <a:latin typeface="Courier New" panose="02070309020205020404" pitchFamily="49" charset="0"/>
                <a:cs typeface="Courier New" panose="02070309020205020404" pitchFamily="49" charset="0"/>
              </a:rPr>
              <a:t>(file);</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 </a:t>
            </a:r>
            <a:r>
              <a:rPr lang="zh-CN" altLang="en-US" b="1" dirty="0">
                <a:latin typeface="Courier New" panose="02070309020205020404" pitchFamily="49" charset="0"/>
                <a:cs typeface="Courier New" panose="02070309020205020404" pitchFamily="49" charset="0"/>
              </a:rPr>
              <a:t>循环结束后</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删除空文件夹</a:t>
            </a:r>
          </a:p>
          <a:p>
            <a:pPr marL="0" lvl="1">
              <a:buClr>
                <a:schemeClr val="accent2"/>
              </a:buClr>
              <a:buSzPct val="70000"/>
            </a:pPr>
            <a:r>
              <a:rPr lang="zh-CN" altLang="en-US"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dir.delete</a:t>
            </a:r>
            <a:r>
              <a:rPr lang="en-US" altLang="zh-CN"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9793912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260648"/>
            <a:ext cx="6858000" cy="648419"/>
          </a:xfrm>
        </p:spPr>
        <p:txBody>
          <a:bodyPr/>
          <a:lstStyle/>
          <a:p>
            <a:pPr marL="838200" indent="-838200" eaLnBrk="1" hangingPunct="1"/>
            <a:r>
              <a:rPr lang="zh-CN" altLang="en-US" b="0" dirty="0">
                <a:latin typeface="Times New Roman" panose="02020603050405020304" pitchFamily="18" charset="0"/>
                <a:ea typeface="黑体" panose="02010609060101010101" pitchFamily="49" charset="-122"/>
                <a:cs typeface="Times New Roman" panose="02020603050405020304" pitchFamily="18" charset="0"/>
              </a:rPr>
              <a:t>第六章 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输出流和文件</a:t>
            </a:r>
          </a:p>
        </p:txBody>
      </p:sp>
      <p:sp>
        <p:nvSpPr>
          <p:cNvPr id="66563" name="Rectangle 3"/>
          <p:cNvSpPr>
            <a:spLocks noGrp="1" noChangeArrowheads="1"/>
          </p:cNvSpPr>
          <p:nvPr>
            <p:ph idx="1"/>
          </p:nvPr>
        </p:nvSpPr>
        <p:spPr>
          <a:xfrm>
            <a:off x="609600" y="1295400"/>
            <a:ext cx="7467600" cy="5257800"/>
          </a:xfrm>
        </p:spPr>
        <p:txBody>
          <a:bodyPr/>
          <a:lstStyle/>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a:t>
            </a:r>
          </a:p>
          <a:p>
            <a:pPr marL="609600" indent="-609600" eaLnBrk="1" hangingPunct="1">
              <a:buFontTx/>
              <a:buNone/>
            </a:pPr>
            <a:r>
              <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6.2 </a:t>
            </a:r>
            <a:r>
              <a:rPr lang="zh-CN" altLang="en-US"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文件读写</a:t>
            </a:r>
            <a:endPar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b="0" dirty="0">
                <a:ea typeface="黑体" panose="02010609060101010101" pitchFamily="49" charset="-122"/>
                <a:cs typeface="Times New Roman" panose="02020603050405020304" pitchFamily="18" charset="0"/>
              </a:rPr>
              <a:t>File</a:t>
            </a:r>
            <a:r>
              <a:rPr lang="zh-CN" altLang="en-US" b="0" dirty="0">
                <a:ea typeface="黑体" panose="02010609060101010101" pitchFamily="49" charset="-122"/>
                <a:cs typeface="Times New Roman" panose="02020603050405020304" pitchFamily="18" charset="0"/>
              </a:rPr>
              <a:t>类</a:t>
            </a:r>
            <a:endParaRPr lang="en-US" altLang="zh-CN" b="0" dirty="0">
              <a:ea typeface="黑体" panose="02010609060101010101" pitchFamily="49" charset="-122"/>
              <a:cs typeface="Times New Roman" panose="02020603050405020304" pitchFamily="18" charset="0"/>
            </a:endParaRPr>
          </a:p>
          <a:p>
            <a:pPr lvl="1" eaLnBrk="1" hangingPunct="1"/>
            <a:r>
              <a:rPr lang="zh-CN" altLang="en-US" b="0" dirty="0">
                <a:solidFill>
                  <a:srgbClr val="C00000"/>
                </a:solidFill>
                <a:ea typeface="黑体" panose="02010609060101010101" pitchFamily="49" charset="-122"/>
                <a:cs typeface="Times New Roman" panose="02020603050405020304" pitchFamily="18" charset="0"/>
              </a:rPr>
              <a:t>写二进制文件</a:t>
            </a:r>
          </a:p>
          <a:p>
            <a:pPr lvl="1" eaLnBrk="1" hangingPunct="1"/>
            <a:r>
              <a:rPr lang="zh-CN" altLang="en-US" b="0" dirty="0">
                <a:ea typeface="黑体" panose="02010609060101010101" pitchFamily="49" charset="-122"/>
                <a:cs typeface="Times New Roman" panose="02020603050405020304" pitchFamily="18" charset="0"/>
              </a:rPr>
              <a:t>读二进制文件</a:t>
            </a:r>
          </a:p>
          <a:p>
            <a:pPr lvl="1" eaLnBrk="1" hangingPunct="1"/>
            <a:r>
              <a:rPr lang="zh-CN" altLang="en-US" b="0" dirty="0">
                <a:ea typeface="黑体" panose="02010609060101010101" pitchFamily="49" charset="-122"/>
                <a:cs typeface="Times New Roman" panose="02020603050405020304" pitchFamily="18" charset="0"/>
              </a:rPr>
              <a:t>读文本文件</a:t>
            </a:r>
          </a:p>
          <a:p>
            <a:pPr lvl="1" eaLnBrk="1" hangingPunct="1"/>
            <a:r>
              <a:rPr lang="zh-CN" altLang="en-US" b="0" dirty="0">
                <a:ea typeface="黑体" panose="02010609060101010101" pitchFamily="49" charset="-122"/>
                <a:cs typeface="Times New Roman" panose="02020603050405020304" pitchFamily="18" charset="0"/>
              </a:rPr>
              <a:t>写文本文件</a:t>
            </a:r>
          </a:p>
          <a:p>
            <a:pPr lvl="1" eaLnBrk="1" hangingPunct="1"/>
            <a:r>
              <a:rPr lang="zh-CN" altLang="en-US" b="0" dirty="0">
                <a:ea typeface="黑体" panose="02010609060101010101" pitchFamily="49" charset="-122"/>
                <a:cs typeface="Times New Roman" panose="02020603050405020304" pitchFamily="18" charset="0"/>
              </a:rPr>
              <a:t>对象序列化</a:t>
            </a:r>
          </a:p>
          <a:p>
            <a:pPr lvl="1" eaLnBrk="1" hangingPunct="1"/>
            <a:r>
              <a:rPr lang="zh-CN" altLang="en-US" b="0" dirty="0">
                <a:ea typeface="黑体" panose="02010609060101010101" pitchFamily="49" charset="-122"/>
                <a:cs typeface="Times New Roman" panose="02020603050405020304" pitchFamily="18" charset="0"/>
              </a:rPr>
              <a:t>随机文件读写</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85413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C781A99-8857-C025-423B-A98EEBE33161}"/>
              </a:ext>
            </a:extLst>
          </p:cNvPr>
          <p:cNvSpPr txBox="1"/>
          <p:nvPr/>
        </p:nvSpPr>
        <p:spPr>
          <a:xfrm>
            <a:off x="6323206" y="2095813"/>
            <a:ext cx="1593311" cy="507831"/>
          </a:xfrm>
          <a:prstGeom prst="rect">
            <a:avLst/>
          </a:prstGeom>
          <a:noFill/>
          <a:ln>
            <a:noFill/>
          </a:ln>
        </p:spPr>
        <p:txBody>
          <a:bodyPr wrap="square" rtlCol="0">
            <a:spAutoFit/>
          </a:bodyPr>
          <a:lstStyle/>
          <a:p>
            <a:pPr algn="l"/>
            <a:r>
              <a:rPr lang="zh-CN" altLang="en-US" sz="2700" dirty="0">
                <a:solidFill>
                  <a:schemeClr val="tx1">
                    <a:lumMod val="95000"/>
                    <a:lumOff val="5000"/>
                  </a:schemeClr>
                </a:solidFill>
                <a:latin typeface="杨任东竹石体-Bold" panose="02000000000000000000" pitchFamily="2" charset="-122"/>
                <a:ea typeface="杨任东竹石体-Bold" panose="02000000000000000000" pitchFamily="2" charset="-122"/>
              </a:rPr>
              <a:t>数据传输</a:t>
            </a:r>
          </a:p>
        </p:txBody>
      </p:sp>
      <p:sp>
        <p:nvSpPr>
          <p:cNvPr id="3" name="矩形: 圆角 2">
            <a:extLst>
              <a:ext uri="{FF2B5EF4-FFF2-40B4-BE49-F238E27FC236}">
                <a16:creationId xmlns:a16="http://schemas.microsoft.com/office/drawing/2014/main" id="{9BFC4E10-019C-25BE-2116-C5DE27A0B8D8}"/>
              </a:ext>
            </a:extLst>
          </p:cNvPr>
          <p:cNvSpPr/>
          <p:nvPr/>
        </p:nvSpPr>
        <p:spPr>
          <a:xfrm>
            <a:off x="5739848" y="2817722"/>
            <a:ext cx="3224640" cy="484748"/>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600" dirty="0">
                <a:latin typeface="Consolas" panose="020B0609020204030204" pitchFamily="49" charset="0"/>
              </a:rPr>
              <a:t>场景</a:t>
            </a:r>
            <a:r>
              <a:rPr lang="en-US" altLang="zh-CN" sz="1600" dirty="0">
                <a:latin typeface="Consolas" panose="020B0609020204030204" pitchFamily="49" charset="0"/>
              </a:rPr>
              <a:t>1: </a:t>
            </a:r>
            <a:r>
              <a:rPr lang="zh-CN" altLang="en-US" sz="1600" dirty="0">
                <a:latin typeface="Consolas" panose="020B0609020204030204" pitchFamily="49" charset="0"/>
              </a:rPr>
              <a:t>读写配置文件、日志文件</a:t>
            </a:r>
          </a:p>
        </p:txBody>
      </p:sp>
      <p:sp>
        <p:nvSpPr>
          <p:cNvPr id="4" name="矩形: 圆角 3">
            <a:extLst>
              <a:ext uri="{FF2B5EF4-FFF2-40B4-BE49-F238E27FC236}">
                <a16:creationId xmlns:a16="http://schemas.microsoft.com/office/drawing/2014/main" id="{3C014BDC-7B33-6C4C-4161-CB72AB86A5F0}"/>
              </a:ext>
            </a:extLst>
          </p:cNvPr>
          <p:cNvSpPr/>
          <p:nvPr/>
        </p:nvSpPr>
        <p:spPr>
          <a:xfrm>
            <a:off x="5739848" y="3502318"/>
            <a:ext cx="3224640" cy="484748"/>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600" dirty="0">
                <a:latin typeface="Consolas" panose="020B0609020204030204" pitchFamily="49" charset="0"/>
              </a:rPr>
              <a:t>场景</a:t>
            </a:r>
            <a:r>
              <a:rPr lang="en-US" altLang="zh-CN" sz="1600" dirty="0">
                <a:latin typeface="Consolas" panose="020B0609020204030204" pitchFamily="49" charset="0"/>
              </a:rPr>
              <a:t>2: </a:t>
            </a:r>
            <a:r>
              <a:rPr lang="zh-CN" altLang="en-US" sz="1600" dirty="0">
                <a:latin typeface="Consolas" panose="020B0609020204030204" pitchFamily="49" charset="0"/>
              </a:rPr>
              <a:t>客户端与服务端的通讯</a:t>
            </a:r>
          </a:p>
        </p:txBody>
      </p:sp>
      <p:sp>
        <p:nvSpPr>
          <p:cNvPr id="5" name="矩形: 圆角 4">
            <a:extLst>
              <a:ext uri="{FF2B5EF4-FFF2-40B4-BE49-F238E27FC236}">
                <a16:creationId xmlns:a16="http://schemas.microsoft.com/office/drawing/2014/main" id="{BC5F9FCC-EF8F-FB6C-7340-A33A59D414FC}"/>
              </a:ext>
            </a:extLst>
          </p:cNvPr>
          <p:cNvSpPr/>
          <p:nvPr/>
        </p:nvSpPr>
        <p:spPr>
          <a:xfrm>
            <a:off x="5739848" y="4132253"/>
            <a:ext cx="3224640" cy="484748"/>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600" dirty="0">
                <a:latin typeface="Consolas" panose="020B0609020204030204" pitchFamily="49" charset="0"/>
              </a:rPr>
              <a:t>场景</a:t>
            </a:r>
            <a:r>
              <a:rPr lang="en-US" altLang="zh-CN" sz="1600" dirty="0">
                <a:latin typeface="Consolas" panose="020B0609020204030204" pitchFamily="49" charset="0"/>
              </a:rPr>
              <a:t>3: </a:t>
            </a:r>
            <a:r>
              <a:rPr lang="zh-CN" altLang="en-US" sz="1600" dirty="0">
                <a:latin typeface="Consolas" panose="020B0609020204030204" pitchFamily="49" charset="0"/>
              </a:rPr>
              <a:t>文件上传下载</a:t>
            </a:r>
          </a:p>
        </p:txBody>
      </p:sp>
      <p:sp>
        <p:nvSpPr>
          <p:cNvPr id="9" name="矩形: 圆角 8">
            <a:extLst>
              <a:ext uri="{FF2B5EF4-FFF2-40B4-BE49-F238E27FC236}">
                <a16:creationId xmlns:a16="http://schemas.microsoft.com/office/drawing/2014/main" id="{8D9A3E93-3971-44D1-79A0-4758D2D14A48}"/>
              </a:ext>
            </a:extLst>
          </p:cNvPr>
          <p:cNvSpPr/>
          <p:nvPr/>
        </p:nvSpPr>
        <p:spPr>
          <a:xfrm>
            <a:off x="5739848" y="4762189"/>
            <a:ext cx="3224640" cy="484748"/>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latin typeface="Consolas" panose="020B0609020204030204" pitchFamily="49" charset="0"/>
              </a:rPr>
              <a:t>...</a:t>
            </a:r>
            <a:endParaRPr lang="zh-CN" altLang="en-US" dirty="0">
              <a:latin typeface="Consolas" panose="020B0609020204030204" pitchFamily="49" charset="0"/>
            </a:endParaRPr>
          </a:p>
        </p:txBody>
      </p:sp>
      <p:cxnSp>
        <p:nvCxnSpPr>
          <p:cNvPr id="21" name="直接连接符 20">
            <a:extLst>
              <a:ext uri="{FF2B5EF4-FFF2-40B4-BE49-F238E27FC236}">
                <a16:creationId xmlns:a16="http://schemas.microsoft.com/office/drawing/2014/main" id="{67655029-2CD3-4DF9-A4AE-DE7CC0B4EA7F}"/>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F3087F65-B7F7-42C8-BA01-A81E0937E19F}"/>
              </a:ext>
            </a:extLst>
          </p:cNvPr>
          <p:cNvSpPr txBox="1"/>
          <p:nvPr/>
        </p:nvSpPr>
        <p:spPr>
          <a:xfrm>
            <a:off x="447382" y="222039"/>
            <a:ext cx="5702370" cy="58477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0" dirty="0">
                <a:ln>
                  <a:noFill/>
                </a:ln>
                <a:solidFill>
                  <a:srgbClr val="330066"/>
                </a:solidFill>
                <a:effectLst/>
                <a:uLnTx/>
                <a:uFillTx/>
                <a:latin typeface="Times New Roman" panose="02020603050405020304" pitchFamily="18" charset="0"/>
                <a:ea typeface="黑体" panose="02010609060101010101" pitchFamily="49" charset="-122"/>
                <a:cs typeface="Times New Roman" panose="02020603050405020304" pitchFamily="18" charset="0"/>
              </a:rPr>
              <a:t>6. 2 </a:t>
            </a:r>
            <a:r>
              <a:rPr kumimoji="0" lang="zh-CN" altLang="en-US" sz="3200" b="0" i="0" u="none" strike="noStrike" kern="0" cap="none" spc="0" normalizeH="0" baseline="0" noProof="0" dirty="0">
                <a:ln>
                  <a:noFill/>
                </a:ln>
                <a:solidFill>
                  <a:srgbClr val="330066"/>
                </a:solidFill>
                <a:effectLst/>
                <a:uLnTx/>
                <a:uFillTx/>
                <a:latin typeface="Times New Roman" panose="02020603050405020304" pitchFamily="18" charset="0"/>
                <a:ea typeface="黑体" panose="02010609060101010101" pitchFamily="49" charset="-122"/>
                <a:cs typeface="Times New Roman" panose="02020603050405020304" pitchFamily="18" charset="0"/>
              </a:rPr>
              <a:t>文件读写</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5" name="矩形 34">
            <a:extLst>
              <a:ext uri="{FF2B5EF4-FFF2-40B4-BE49-F238E27FC236}">
                <a16:creationId xmlns:a16="http://schemas.microsoft.com/office/drawing/2014/main" id="{1BA05831-DDE1-45EA-A4E2-9CC9A26D306D}"/>
              </a:ext>
            </a:extLst>
          </p:cNvPr>
          <p:cNvSpPr/>
          <p:nvPr/>
        </p:nvSpPr>
        <p:spPr>
          <a:xfrm>
            <a:off x="103584" y="1518893"/>
            <a:ext cx="1944216" cy="584775"/>
          </a:xfrm>
          <a:prstGeom prst="rect">
            <a:avLst/>
          </a:prstGeom>
          <a:noFill/>
        </p:spPr>
        <p:txBody>
          <a:bodyPr wrap="square" lIns="91440" tIns="45720" rIns="91440" bIns="45720">
            <a:spAutoFit/>
          </a:bodyPr>
          <a:lstStyle/>
          <a:p>
            <a:r>
              <a:rPr lang="en-US" altLang="zh-CN" sz="3200" b="1" dirty="0">
                <a:ln w="22225">
                  <a:solidFill>
                    <a:srgbClr val="C0504D"/>
                  </a:solidFill>
                  <a:prstDash val="solid"/>
                </a:ln>
                <a:solidFill>
                  <a:srgbClr val="C0504D">
                    <a:lumMod val="40000"/>
                    <a:lumOff val="60000"/>
                  </a:srgbClr>
                </a:solidFill>
                <a:ea typeface="杨任东竹石体-Bold" panose="02000000000000000000" pitchFamily="2" charset="-122"/>
              </a:rPr>
              <a:t>I : input </a:t>
            </a:r>
          </a:p>
        </p:txBody>
      </p:sp>
      <p:sp>
        <p:nvSpPr>
          <p:cNvPr id="36" name="矩形 35">
            <a:extLst>
              <a:ext uri="{FF2B5EF4-FFF2-40B4-BE49-F238E27FC236}">
                <a16:creationId xmlns:a16="http://schemas.microsoft.com/office/drawing/2014/main" id="{99EC3822-263E-4430-83B7-B907C6129EEE}"/>
              </a:ext>
            </a:extLst>
          </p:cNvPr>
          <p:cNvSpPr/>
          <p:nvPr/>
        </p:nvSpPr>
        <p:spPr>
          <a:xfrm>
            <a:off x="2407839" y="1518892"/>
            <a:ext cx="1099082" cy="584775"/>
          </a:xfrm>
          <a:prstGeom prst="rect">
            <a:avLst/>
          </a:prstGeom>
          <a:noFill/>
        </p:spPr>
        <p:txBody>
          <a:bodyPr wrap="square" lIns="91440" tIns="45720" rIns="91440" bIns="45720">
            <a:spAutoFit/>
          </a:bodyPr>
          <a:lstStyle/>
          <a:p>
            <a:r>
              <a:rPr lang="zh-CN" altLang="en-US" sz="3200" b="1" dirty="0">
                <a:ln w="22225">
                  <a:solidFill>
                    <a:srgbClr val="C0504D"/>
                  </a:solidFill>
                  <a:prstDash val="solid"/>
                </a:ln>
                <a:solidFill>
                  <a:srgbClr val="C0504D">
                    <a:lumMod val="40000"/>
                    <a:lumOff val="60000"/>
                  </a:srgbClr>
                </a:solidFill>
                <a:ea typeface="杨任东竹石体-Bold" panose="02000000000000000000" pitchFamily="2" charset="-122"/>
              </a:rPr>
              <a:t>输入</a:t>
            </a:r>
            <a:endParaRPr lang="en-US" altLang="zh-CN" sz="3200" b="1" dirty="0">
              <a:ln w="22225">
                <a:solidFill>
                  <a:srgbClr val="C0504D"/>
                </a:solidFill>
                <a:prstDash val="solid"/>
              </a:ln>
              <a:solidFill>
                <a:srgbClr val="C0504D">
                  <a:lumMod val="40000"/>
                  <a:lumOff val="60000"/>
                </a:srgbClr>
              </a:solidFill>
              <a:ea typeface="杨任东竹石体-Bold" panose="02000000000000000000" pitchFamily="2" charset="-122"/>
            </a:endParaRPr>
          </a:p>
        </p:txBody>
      </p:sp>
      <p:sp>
        <p:nvSpPr>
          <p:cNvPr id="37" name="矩形 36">
            <a:extLst>
              <a:ext uri="{FF2B5EF4-FFF2-40B4-BE49-F238E27FC236}">
                <a16:creationId xmlns:a16="http://schemas.microsoft.com/office/drawing/2014/main" id="{CBBC1822-0438-4B00-B6C6-6368A0C730F4}"/>
              </a:ext>
            </a:extLst>
          </p:cNvPr>
          <p:cNvSpPr/>
          <p:nvPr/>
        </p:nvSpPr>
        <p:spPr>
          <a:xfrm>
            <a:off x="3779912" y="1534132"/>
            <a:ext cx="1364231" cy="584775"/>
          </a:xfrm>
          <a:prstGeom prst="rect">
            <a:avLst/>
          </a:prstGeom>
          <a:noFill/>
        </p:spPr>
        <p:txBody>
          <a:bodyPr wrap="square" lIns="91440" tIns="45720" rIns="91440" bIns="45720">
            <a:spAutoFit/>
          </a:bodyPr>
          <a:lstStyle/>
          <a:p>
            <a:r>
              <a:rPr lang="en-US" altLang="zh-CN" sz="3200" b="1" dirty="0">
                <a:ln w="22225">
                  <a:solidFill>
                    <a:srgbClr val="C0504D"/>
                  </a:solidFill>
                  <a:prstDash val="solid"/>
                </a:ln>
                <a:solidFill>
                  <a:srgbClr val="C0504D">
                    <a:lumMod val="40000"/>
                    <a:lumOff val="60000"/>
                  </a:srgbClr>
                </a:solidFill>
                <a:ea typeface="杨任东竹石体-Bold" panose="02000000000000000000" pitchFamily="2" charset="-122"/>
              </a:rPr>
              <a:t>(</a:t>
            </a:r>
            <a:r>
              <a:rPr lang="zh-CN" altLang="en-US" sz="3200" b="1" dirty="0">
                <a:ln w="22225">
                  <a:solidFill>
                    <a:srgbClr val="C0504D"/>
                  </a:solidFill>
                  <a:prstDash val="solid"/>
                </a:ln>
                <a:solidFill>
                  <a:srgbClr val="C0504D">
                    <a:lumMod val="40000"/>
                    <a:lumOff val="60000"/>
                  </a:srgbClr>
                </a:solidFill>
                <a:ea typeface="杨任东竹石体-Bold" panose="02000000000000000000" pitchFamily="2" charset="-122"/>
              </a:rPr>
              <a:t>读取</a:t>
            </a:r>
            <a:r>
              <a:rPr lang="en-US" altLang="zh-CN" sz="3200" b="1" dirty="0">
                <a:ln w="22225">
                  <a:solidFill>
                    <a:srgbClr val="C0504D"/>
                  </a:solidFill>
                  <a:prstDash val="solid"/>
                </a:ln>
                <a:solidFill>
                  <a:srgbClr val="C0504D">
                    <a:lumMod val="40000"/>
                    <a:lumOff val="60000"/>
                  </a:srgbClr>
                </a:solidFill>
                <a:ea typeface="杨任东竹石体-Bold" panose="02000000000000000000" pitchFamily="2" charset="-122"/>
              </a:rPr>
              <a:t>)</a:t>
            </a:r>
          </a:p>
        </p:txBody>
      </p:sp>
      <p:sp>
        <p:nvSpPr>
          <p:cNvPr id="40" name="矩形 39">
            <a:extLst>
              <a:ext uri="{FF2B5EF4-FFF2-40B4-BE49-F238E27FC236}">
                <a16:creationId xmlns:a16="http://schemas.microsoft.com/office/drawing/2014/main" id="{A36C0790-AE45-4A14-9737-FD842C343283}"/>
              </a:ext>
            </a:extLst>
          </p:cNvPr>
          <p:cNvSpPr/>
          <p:nvPr/>
        </p:nvSpPr>
        <p:spPr>
          <a:xfrm>
            <a:off x="2450827" y="2304959"/>
            <a:ext cx="1576073" cy="584775"/>
          </a:xfrm>
          <a:prstGeom prst="rect">
            <a:avLst/>
          </a:prstGeom>
          <a:noFill/>
        </p:spPr>
        <p:txBody>
          <a:bodyPr wrap="square" lIns="91440" tIns="45720" rIns="91440" bIns="45720">
            <a:spAutoFit/>
          </a:bodyPr>
          <a:lstStyle/>
          <a:p>
            <a:pPr fontAlgn="auto">
              <a:spcBef>
                <a:spcPts val="0"/>
              </a:spcBef>
              <a:spcAft>
                <a:spcPts val="0"/>
              </a:spcAft>
            </a:pPr>
            <a:r>
              <a:rPr lang="zh-CN" altLang="en-US" sz="3200" b="1" dirty="0">
                <a:ln w="22225">
                  <a:solidFill>
                    <a:schemeClr val="accent2"/>
                  </a:solidFill>
                  <a:prstDash val="solid"/>
                </a:ln>
                <a:solidFill>
                  <a:schemeClr val="accent2">
                    <a:lumMod val="40000"/>
                    <a:lumOff val="60000"/>
                  </a:schemeClr>
                </a:solidFill>
                <a:ea typeface="杨任东竹石体-Bold" panose="02000000000000000000" pitchFamily="2" charset="-122"/>
              </a:rPr>
              <a:t>输出</a:t>
            </a:r>
            <a:endParaRPr lang="en-US" altLang="zh-CN" sz="3200" b="1" dirty="0">
              <a:ln w="22225">
                <a:solidFill>
                  <a:schemeClr val="accent2"/>
                </a:solidFill>
                <a:prstDash val="solid"/>
              </a:ln>
              <a:solidFill>
                <a:schemeClr val="accent2">
                  <a:lumMod val="40000"/>
                  <a:lumOff val="60000"/>
                </a:schemeClr>
              </a:solidFill>
              <a:ea typeface="杨任东竹石体-Bold" panose="02000000000000000000" pitchFamily="2" charset="-122"/>
            </a:endParaRPr>
          </a:p>
        </p:txBody>
      </p:sp>
      <p:sp>
        <p:nvSpPr>
          <p:cNvPr id="41" name="矩形 40">
            <a:extLst>
              <a:ext uri="{FF2B5EF4-FFF2-40B4-BE49-F238E27FC236}">
                <a16:creationId xmlns:a16="http://schemas.microsoft.com/office/drawing/2014/main" id="{A5C20E1E-91A2-49E9-B49D-1E59504AD8B3}"/>
              </a:ext>
            </a:extLst>
          </p:cNvPr>
          <p:cNvSpPr/>
          <p:nvPr/>
        </p:nvSpPr>
        <p:spPr>
          <a:xfrm>
            <a:off x="0" y="2311256"/>
            <a:ext cx="2254143" cy="584775"/>
          </a:xfrm>
          <a:prstGeom prst="rect">
            <a:avLst/>
          </a:prstGeom>
          <a:noFill/>
        </p:spPr>
        <p:txBody>
          <a:bodyPr wrap="square" lIns="91440" tIns="45720" rIns="91440" bIns="45720">
            <a:spAutoFit/>
          </a:bodyPr>
          <a:lstStyle/>
          <a:p>
            <a:pPr fontAlgn="auto">
              <a:spcBef>
                <a:spcPts val="0"/>
              </a:spcBef>
              <a:spcAft>
                <a:spcPts val="0"/>
              </a:spcAft>
            </a:pPr>
            <a:r>
              <a:rPr lang="en-US" altLang="zh-CN" sz="3200" b="1" dirty="0">
                <a:ln w="22225">
                  <a:solidFill>
                    <a:schemeClr val="accent2"/>
                  </a:solidFill>
                  <a:prstDash val="solid"/>
                </a:ln>
                <a:solidFill>
                  <a:schemeClr val="accent2">
                    <a:lumMod val="40000"/>
                    <a:lumOff val="60000"/>
                  </a:schemeClr>
                </a:solidFill>
                <a:ea typeface="杨任东竹石体-Bold" panose="02000000000000000000" pitchFamily="2" charset="-122"/>
              </a:rPr>
              <a:t>O : output </a:t>
            </a:r>
            <a:endParaRPr lang="zh-CN" altLang="en-US" sz="3200" b="1" dirty="0">
              <a:ln w="22225">
                <a:solidFill>
                  <a:schemeClr val="accent2"/>
                </a:solidFill>
                <a:prstDash val="solid"/>
              </a:ln>
              <a:solidFill>
                <a:schemeClr val="accent2">
                  <a:lumMod val="40000"/>
                  <a:lumOff val="60000"/>
                </a:schemeClr>
              </a:solidFill>
              <a:ea typeface="杨任东竹石体-Bold" panose="02000000000000000000" pitchFamily="2" charset="-122"/>
            </a:endParaRPr>
          </a:p>
        </p:txBody>
      </p:sp>
      <p:sp>
        <p:nvSpPr>
          <p:cNvPr id="42" name="矩形 41">
            <a:extLst>
              <a:ext uri="{FF2B5EF4-FFF2-40B4-BE49-F238E27FC236}">
                <a16:creationId xmlns:a16="http://schemas.microsoft.com/office/drawing/2014/main" id="{F2F53DBF-C0B2-4C40-ADE2-937048A234DE}"/>
              </a:ext>
            </a:extLst>
          </p:cNvPr>
          <p:cNvSpPr/>
          <p:nvPr/>
        </p:nvSpPr>
        <p:spPr>
          <a:xfrm>
            <a:off x="3779912" y="2320199"/>
            <a:ext cx="1364231" cy="584775"/>
          </a:xfrm>
          <a:prstGeom prst="rect">
            <a:avLst/>
          </a:prstGeom>
          <a:noFill/>
        </p:spPr>
        <p:txBody>
          <a:bodyPr wrap="square" lIns="91440" tIns="45720" rIns="91440" bIns="45720">
            <a:spAutoFit/>
          </a:bodyPr>
          <a:lstStyle/>
          <a:p>
            <a:r>
              <a:rPr lang="en-US" altLang="zh-CN" sz="3200" b="1" dirty="0">
                <a:ln w="22225">
                  <a:solidFill>
                    <a:schemeClr val="accent2"/>
                  </a:solidFill>
                  <a:prstDash val="solid"/>
                </a:ln>
                <a:solidFill>
                  <a:schemeClr val="accent2">
                    <a:lumMod val="40000"/>
                    <a:lumOff val="60000"/>
                  </a:schemeClr>
                </a:solidFill>
                <a:ea typeface="杨任东竹石体-Bold" panose="02000000000000000000" pitchFamily="2" charset="-122"/>
              </a:rPr>
              <a:t>(</a:t>
            </a:r>
            <a:r>
              <a:rPr lang="zh-CN" altLang="en-US" sz="3200" b="1" dirty="0">
                <a:ln w="22225">
                  <a:solidFill>
                    <a:schemeClr val="accent2"/>
                  </a:solidFill>
                  <a:prstDash val="solid"/>
                </a:ln>
                <a:solidFill>
                  <a:schemeClr val="accent2">
                    <a:lumMod val="40000"/>
                    <a:lumOff val="60000"/>
                  </a:schemeClr>
                </a:solidFill>
                <a:ea typeface="杨任东竹石体-Bold" panose="02000000000000000000" pitchFamily="2" charset="-122"/>
              </a:rPr>
              <a:t>写出</a:t>
            </a:r>
            <a:r>
              <a:rPr lang="en-US" altLang="zh-CN" sz="3200" b="1" dirty="0">
                <a:ln w="22225">
                  <a:solidFill>
                    <a:schemeClr val="accent2"/>
                  </a:solidFill>
                  <a:prstDash val="solid"/>
                </a:ln>
                <a:solidFill>
                  <a:schemeClr val="accent2">
                    <a:lumMod val="40000"/>
                    <a:lumOff val="60000"/>
                  </a:schemeClr>
                </a:solidFill>
                <a:ea typeface="杨任东竹石体-Bold" panose="02000000000000000000" pitchFamily="2" charset="-122"/>
              </a:rPr>
              <a:t>)</a:t>
            </a:r>
          </a:p>
        </p:txBody>
      </p:sp>
      <p:sp>
        <p:nvSpPr>
          <p:cNvPr id="43" name="流程图: 磁盘 42">
            <a:extLst>
              <a:ext uri="{FF2B5EF4-FFF2-40B4-BE49-F238E27FC236}">
                <a16:creationId xmlns:a16="http://schemas.microsoft.com/office/drawing/2014/main" id="{3A4E2CA2-C199-4DF6-85D7-5C12E71CA7DB}"/>
              </a:ext>
            </a:extLst>
          </p:cNvPr>
          <p:cNvSpPr/>
          <p:nvPr/>
        </p:nvSpPr>
        <p:spPr>
          <a:xfrm>
            <a:off x="3938807" y="4260570"/>
            <a:ext cx="1512627" cy="61841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
        <p:nvSpPr>
          <p:cNvPr id="44" name="矩形: 折角 43">
            <a:extLst>
              <a:ext uri="{FF2B5EF4-FFF2-40B4-BE49-F238E27FC236}">
                <a16:creationId xmlns:a16="http://schemas.microsoft.com/office/drawing/2014/main" id="{ABB10214-8FDE-4F08-B7CF-388D048AC9A2}"/>
              </a:ext>
            </a:extLst>
          </p:cNvPr>
          <p:cNvSpPr/>
          <p:nvPr/>
        </p:nvSpPr>
        <p:spPr>
          <a:xfrm>
            <a:off x="78585" y="4303831"/>
            <a:ext cx="1694193" cy="58333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D:\user.txt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Ashen_666  </a:t>
            </a:r>
            <a:r>
              <a:rPr kumimoji="0" lang="zh-CN" altLang="en-US" sz="105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  </a:t>
            </a:r>
            <a:r>
              <a:rPr kumimoji="0" lang="en-US" altLang="zh-CN" sz="105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123456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Ajie_888     111111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rgbClr val="00B0F0"/>
                </a:solidFill>
                <a:effectLst/>
                <a:uLnTx/>
                <a:uFillTx/>
                <a:latin typeface="Consolas" panose="020B0609020204030204" pitchFamily="49" charset="0"/>
                <a:ea typeface="阿里巴巴普惠体" panose="00020600040101010101" pitchFamily="18" charset="-122"/>
                <a:cs typeface="阿里巴巴普惠体" panose="00020600040101010101" pitchFamily="18" charset="-122"/>
              </a:rPr>
              <a:t>SanLian666   888888</a:t>
            </a:r>
            <a:endParaRPr kumimoji="0" lang="en-US" altLang="zh-CN" sz="1050" b="0" i="0" u="none" strike="noStrike" kern="0" cap="none" spc="0" normalizeH="0" baseline="0" noProof="0" dirty="0">
              <a:ln>
                <a:noFill/>
              </a:ln>
              <a:solidFill>
                <a:srgbClr val="00B0F0"/>
              </a:solidFill>
              <a:effectLst/>
              <a:uLnTx/>
              <a:uFillTx/>
              <a:latin typeface="Consolas" panose="020B0609020204030204" pitchFamily="49" charset="0"/>
              <a:ea typeface="黑体"/>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45" name="箭头: 手杖形 44">
            <a:extLst>
              <a:ext uri="{FF2B5EF4-FFF2-40B4-BE49-F238E27FC236}">
                <a16:creationId xmlns:a16="http://schemas.microsoft.com/office/drawing/2014/main" id="{D60191C7-9826-4761-8917-8DC49CFFD1E6}"/>
              </a:ext>
            </a:extLst>
          </p:cNvPr>
          <p:cNvSpPr/>
          <p:nvPr/>
        </p:nvSpPr>
        <p:spPr>
          <a:xfrm flipH="1">
            <a:off x="323527" y="3536862"/>
            <a:ext cx="4421210" cy="739933"/>
          </a:xfrm>
          <a:prstGeom prst="uturnArrow">
            <a:avLst>
              <a:gd name="adj1" fmla="val 25000"/>
              <a:gd name="adj2" fmla="val 25000"/>
              <a:gd name="adj3" fmla="val 25000"/>
              <a:gd name="adj4" fmla="val 35475"/>
              <a:gd name="adj5" fmla="val 60475"/>
            </a:avLst>
          </a:prstGeom>
          <a:solidFill>
            <a:srgbClr val="C0504D">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6" name="箭头: 手杖形 45">
            <a:extLst>
              <a:ext uri="{FF2B5EF4-FFF2-40B4-BE49-F238E27FC236}">
                <a16:creationId xmlns:a16="http://schemas.microsoft.com/office/drawing/2014/main" id="{0F6F6550-3606-4756-BF7E-BAF08126DD57}"/>
              </a:ext>
            </a:extLst>
          </p:cNvPr>
          <p:cNvSpPr/>
          <p:nvPr/>
        </p:nvSpPr>
        <p:spPr>
          <a:xfrm flipH="1" flipV="1">
            <a:off x="369984" y="4911085"/>
            <a:ext cx="4374754" cy="572029"/>
          </a:xfrm>
          <a:prstGeom prst="uturnArrow">
            <a:avLst>
              <a:gd name="adj1" fmla="val 31841"/>
              <a:gd name="adj2" fmla="val 25000"/>
              <a:gd name="adj3" fmla="val 21786"/>
              <a:gd name="adj4" fmla="val 43750"/>
              <a:gd name="adj5" fmla="val 98045"/>
            </a:avLst>
          </a:prstGeom>
          <a:solidFill>
            <a:srgbClr val="4BACC6">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47" name="文本框 46">
            <a:extLst>
              <a:ext uri="{FF2B5EF4-FFF2-40B4-BE49-F238E27FC236}">
                <a16:creationId xmlns:a16="http://schemas.microsoft.com/office/drawing/2014/main" id="{4179032C-1C3B-4236-857B-4EEC167463C3}"/>
              </a:ext>
            </a:extLst>
          </p:cNvPr>
          <p:cNvSpPr txBox="1"/>
          <p:nvPr/>
        </p:nvSpPr>
        <p:spPr>
          <a:xfrm>
            <a:off x="1924611" y="3490211"/>
            <a:ext cx="1479542" cy="276999"/>
          </a:xfrm>
          <a:prstGeom prst="rect">
            <a:avLst/>
          </a:prstGeom>
          <a:noFill/>
          <a:ln>
            <a:noFill/>
          </a:ln>
        </p:spPr>
        <p:txBody>
          <a:bodyPr wrap="square" rtlCol="0">
            <a:spAutoFit/>
          </a:bodyPr>
          <a:lstStyle/>
          <a:p>
            <a:pPr fontAlgn="auto">
              <a:spcBef>
                <a:spcPts val="0"/>
              </a:spcBef>
              <a:spcAft>
                <a:spcPts val="0"/>
              </a:spcAft>
            </a:pPr>
            <a:r>
              <a:rPr lang="zh-CN" altLang="en-US" sz="1200" b="1" dirty="0">
                <a:solidFill>
                  <a:prstClr val="white"/>
                </a:solidFill>
                <a:latin typeface="杨任东竹石体-Bold" panose="02000000000000000000" pitchFamily="2" charset="-122"/>
                <a:ea typeface="杨任东竹石体-Bold" panose="02000000000000000000" pitchFamily="2" charset="-122"/>
              </a:rPr>
              <a:t>输入流管道</a:t>
            </a:r>
          </a:p>
        </p:txBody>
      </p:sp>
      <p:sp>
        <p:nvSpPr>
          <p:cNvPr id="48" name="文本框 47">
            <a:extLst>
              <a:ext uri="{FF2B5EF4-FFF2-40B4-BE49-F238E27FC236}">
                <a16:creationId xmlns:a16="http://schemas.microsoft.com/office/drawing/2014/main" id="{FFAE2740-D3A7-4C98-B560-9A9D9F595E13}"/>
              </a:ext>
            </a:extLst>
          </p:cNvPr>
          <p:cNvSpPr txBox="1"/>
          <p:nvPr/>
        </p:nvSpPr>
        <p:spPr>
          <a:xfrm>
            <a:off x="3052920" y="4205625"/>
            <a:ext cx="885887" cy="523220"/>
          </a:xfrm>
          <a:prstGeom prst="rect">
            <a:avLst/>
          </a:prstGeom>
          <a:noFill/>
          <a:ln>
            <a:noFill/>
          </a:ln>
        </p:spPr>
        <p:txBody>
          <a:bodyPr wrap="square" rtlCol="0">
            <a:spAutoFit/>
          </a:bodyPr>
          <a:lstStyle/>
          <a:p>
            <a:pPr fontAlgn="auto">
              <a:spcBef>
                <a:spcPts val="0"/>
              </a:spcBef>
              <a:spcAft>
                <a:spcPts val="0"/>
              </a:spcAft>
            </a:pPr>
            <a:r>
              <a:rPr lang="zh-CN" altLang="en-US" sz="1400" dirty="0">
                <a:solidFill>
                  <a:prstClr val="white"/>
                </a:solidFill>
                <a:latin typeface="杨任东竹石体-Bold" panose="02000000000000000000" pitchFamily="2" charset="-122"/>
                <a:ea typeface="杨任东竹石体-Bold" panose="02000000000000000000" pitchFamily="2" charset="-122"/>
              </a:rPr>
              <a:t>输出流管道</a:t>
            </a:r>
          </a:p>
        </p:txBody>
      </p:sp>
      <p:sp>
        <p:nvSpPr>
          <p:cNvPr id="49" name="文本框 48">
            <a:extLst>
              <a:ext uri="{FF2B5EF4-FFF2-40B4-BE49-F238E27FC236}">
                <a16:creationId xmlns:a16="http://schemas.microsoft.com/office/drawing/2014/main" id="{65BA7AD9-1FB7-4AEC-B2DF-1D4D86320F16}"/>
              </a:ext>
            </a:extLst>
          </p:cNvPr>
          <p:cNvSpPr txBox="1"/>
          <p:nvPr/>
        </p:nvSpPr>
        <p:spPr>
          <a:xfrm>
            <a:off x="2123728" y="5246937"/>
            <a:ext cx="1479542" cy="276999"/>
          </a:xfrm>
          <a:prstGeom prst="rect">
            <a:avLst/>
          </a:prstGeom>
          <a:noFill/>
          <a:ln>
            <a:noFill/>
          </a:ln>
        </p:spPr>
        <p:txBody>
          <a:bodyPr wrap="square" rtlCol="0">
            <a:spAutoFit/>
          </a:bodyPr>
          <a:lstStyle/>
          <a:p>
            <a:pPr fontAlgn="auto">
              <a:spcBef>
                <a:spcPts val="0"/>
              </a:spcBef>
              <a:spcAft>
                <a:spcPts val="0"/>
              </a:spcAft>
            </a:pPr>
            <a:r>
              <a:rPr lang="zh-CN" altLang="en-US" sz="1200" b="1" dirty="0">
                <a:solidFill>
                  <a:prstClr val="white"/>
                </a:solidFill>
                <a:latin typeface="杨任东竹石体-Bold" panose="02000000000000000000" pitchFamily="2" charset="-122"/>
                <a:ea typeface="杨任东竹石体-Bold" panose="02000000000000000000" pitchFamily="2" charset="-122"/>
              </a:rPr>
              <a:t>输出流管道</a:t>
            </a:r>
          </a:p>
        </p:txBody>
      </p:sp>
    </p:spTree>
    <p:extLst>
      <p:ext uri="{BB962C8B-B14F-4D97-AF65-F5344CB8AC3E}">
        <p14:creationId xmlns:p14="http://schemas.microsoft.com/office/powerpoint/2010/main" val="1301154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fill="hold"/>
                                        <p:tgtEl>
                                          <p:spTgt spid="4"/>
                                        </p:tgtEl>
                                        <p:attrNameLst>
                                          <p:attrName>ppt_x</p:attrName>
                                        </p:attrNameLst>
                                      </p:cBhvr>
                                      <p:tavLst>
                                        <p:tav tm="0">
                                          <p:val>
                                            <p:strVal val="#ppt_x"/>
                                          </p:val>
                                        </p:tav>
                                        <p:tav tm="100000">
                                          <p:val>
                                            <p:strVal val="#ppt_x"/>
                                          </p:val>
                                        </p:tav>
                                      </p:tavLst>
                                    </p:anim>
                                    <p:anim calcmode="lin" valueType="num">
                                      <p:cBhvr>
                                        <p:cTn id="1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fill="hold"/>
                                        <p:tgtEl>
                                          <p:spTgt spid="5"/>
                                        </p:tgtEl>
                                        <p:attrNameLst>
                                          <p:attrName>ppt_x</p:attrName>
                                        </p:attrNameLst>
                                      </p:cBhvr>
                                      <p:tavLst>
                                        <p:tav tm="0">
                                          <p:val>
                                            <p:strVal val="#ppt_x"/>
                                          </p:val>
                                        </p:tav>
                                        <p:tav tm="100000">
                                          <p:val>
                                            <p:strVal val="#ppt_x"/>
                                          </p:val>
                                        </p:tav>
                                      </p:tavLst>
                                    </p:anim>
                                    <p:anim calcmode="lin" valueType="num">
                                      <p:cBhvr>
                                        <p:cTn id="2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anim calcmode="lin" valueType="num">
                                      <p:cBhvr>
                                        <p:cTn id="29" dur="500" fill="hold"/>
                                        <p:tgtEl>
                                          <p:spTgt spid="9"/>
                                        </p:tgtEl>
                                        <p:attrNameLst>
                                          <p:attrName>ppt_x</p:attrName>
                                        </p:attrNameLst>
                                      </p:cBhvr>
                                      <p:tavLst>
                                        <p:tav tm="0">
                                          <p:val>
                                            <p:strVal val="#ppt_x"/>
                                          </p:val>
                                        </p:tav>
                                        <p:tav tm="100000">
                                          <p:val>
                                            <p:strVal val="#ppt_x"/>
                                          </p:val>
                                        </p:tav>
                                      </p:tavLst>
                                    </p:anim>
                                    <p:anim calcmode="lin" valueType="num">
                                      <p:cBhvr>
                                        <p:cTn id="30"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82EEC4B-B124-80E3-963C-4A0EFA3D6E98}"/>
              </a:ext>
            </a:extLst>
          </p:cNvPr>
          <p:cNvSpPr>
            <a:spLocks noGrp="1"/>
          </p:cNvSpPr>
          <p:nvPr>
            <p:ph type="title"/>
          </p:nvPr>
        </p:nvSpPr>
        <p:spPr>
          <a:xfrm>
            <a:off x="533160" y="1002232"/>
            <a:ext cx="2310648" cy="517190"/>
          </a:xfrm>
        </p:spPr>
        <p:txBody>
          <a:bodyPr/>
          <a:lstStyle/>
          <a:p>
            <a:r>
              <a:rPr lang="en-US" altLang="zh-CN" sz="2400" dirty="0">
                <a:latin typeface="Consolas" panose="020B0609020204030204" pitchFamily="49" charset="0"/>
              </a:rPr>
              <a:t>IO</a:t>
            </a:r>
            <a:r>
              <a:rPr lang="en-US" altLang="zh-CN" sz="2400" dirty="0"/>
              <a:t> </a:t>
            </a:r>
            <a:r>
              <a:rPr lang="zh-CN" altLang="en-US" sz="2400" dirty="0"/>
              <a:t>流体系结构</a:t>
            </a:r>
          </a:p>
        </p:txBody>
      </p:sp>
      <p:sp>
        <p:nvSpPr>
          <p:cNvPr id="7" name="矩形: 圆角 6">
            <a:extLst>
              <a:ext uri="{FF2B5EF4-FFF2-40B4-BE49-F238E27FC236}">
                <a16:creationId xmlns:a16="http://schemas.microsoft.com/office/drawing/2014/main" id="{830350FD-1272-2401-09F4-123CC473CE80}"/>
              </a:ext>
            </a:extLst>
          </p:cNvPr>
          <p:cNvSpPr/>
          <p:nvPr/>
        </p:nvSpPr>
        <p:spPr>
          <a:xfrm>
            <a:off x="437727" y="2671149"/>
            <a:ext cx="1444619" cy="433874"/>
          </a:xfrm>
          <a:prstGeom prst="roundRect">
            <a:avLst/>
          </a:prstGeom>
          <a:solidFill>
            <a:schemeClr val="accent6">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100" dirty="0">
                <a:latin typeface="杨任东竹石体-Bold" panose="02000000000000000000" pitchFamily="2" charset="-122"/>
                <a:ea typeface="杨任东竹石体-Bold" panose="02000000000000000000" pitchFamily="2" charset="-122"/>
              </a:rPr>
              <a:t>字节流</a:t>
            </a:r>
          </a:p>
        </p:txBody>
      </p:sp>
      <p:sp>
        <p:nvSpPr>
          <p:cNvPr id="11" name="矩形: 圆角 10">
            <a:extLst>
              <a:ext uri="{FF2B5EF4-FFF2-40B4-BE49-F238E27FC236}">
                <a16:creationId xmlns:a16="http://schemas.microsoft.com/office/drawing/2014/main" id="{6FC624BE-003F-4E1E-C10B-3DEEAE18AC8C}"/>
              </a:ext>
            </a:extLst>
          </p:cNvPr>
          <p:cNvSpPr/>
          <p:nvPr/>
        </p:nvSpPr>
        <p:spPr>
          <a:xfrm>
            <a:off x="385160" y="4656356"/>
            <a:ext cx="1444619" cy="433874"/>
          </a:xfrm>
          <a:prstGeom prst="roundRect">
            <a:avLst/>
          </a:prstGeom>
          <a:solidFill>
            <a:schemeClr val="accent5">
              <a:lumMod val="60000"/>
              <a:lumOff val="40000"/>
            </a:schemeClr>
          </a:solidFill>
          <a:ln>
            <a:noFill/>
          </a:ln>
          <a:effectLst>
            <a:outerShdw blurRad="152400" dist="317500" dir="5400000" sx="90000" sy="-19000" rotWithShape="0">
              <a:prstClr val="black">
                <a:alpha val="15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100" dirty="0">
                <a:solidFill>
                  <a:schemeClr val="tx1"/>
                </a:solidFill>
                <a:latin typeface="杨任东竹石体-Bold" panose="02000000000000000000" pitchFamily="2" charset="-122"/>
                <a:ea typeface="杨任东竹石体-Bold" panose="02000000000000000000" pitchFamily="2" charset="-122"/>
              </a:rPr>
              <a:t>字符流</a:t>
            </a:r>
          </a:p>
        </p:txBody>
      </p:sp>
      <p:sp>
        <p:nvSpPr>
          <p:cNvPr id="12" name="矩形: 圆角 11">
            <a:extLst>
              <a:ext uri="{FF2B5EF4-FFF2-40B4-BE49-F238E27FC236}">
                <a16:creationId xmlns:a16="http://schemas.microsoft.com/office/drawing/2014/main" id="{27C1B344-8493-FF60-D6E4-6645D799280C}"/>
              </a:ext>
            </a:extLst>
          </p:cNvPr>
          <p:cNvSpPr/>
          <p:nvPr/>
        </p:nvSpPr>
        <p:spPr>
          <a:xfrm>
            <a:off x="2183055" y="2245179"/>
            <a:ext cx="1605001" cy="331540"/>
          </a:xfrm>
          <a:prstGeom prst="roundRect">
            <a:avLst/>
          </a:prstGeom>
          <a:solidFill>
            <a:schemeClr val="accent6">
              <a:lumMod val="60000"/>
              <a:lumOff val="4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Consolas" panose="020B0609020204030204" pitchFamily="49" charset="0"/>
                <a:ea typeface="杨任东竹石体-Bold" panose="02000000000000000000" pitchFamily="2" charset="-122"/>
              </a:rPr>
              <a:t>InputStream</a:t>
            </a:r>
            <a:endParaRPr lang="zh-CN" altLang="en-US" sz="1600" dirty="0">
              <a:latin typeface="Consolas" panose="020B0609020204030204" pitchFamily="49" charset="0"/>
              <a:ea typeface="杨任东竹石体-Bold" panose="02000000000000000000" pitchFamily="2" charset="-122"/>
            </a:endParaRPr>
          </a:p>
        </p:txBody>
      </p:sp>
      <p:sp>
        <p:nvSpPr>
          <p:cNvPr id="13" name="矩形: 圆角 12">
            <a:extLst>
              <a:ext uri="{FF2B5EF4-FFF2-40B4-BE49-F238E27FC236}">
                <a16:creationId xmlns:a16="http://schemas.microsoft.com/office/drawing/2014/main" id="{13FF2949-4FD0-B817-0991-9B0B459B5296}"/>
              </a:ext>
            </a:extLst>
          </p:cNvPr>
          <p:cNvSpPr/>
          <p:nvPr/>
        </p:nvSpPr>
        <p:spPr>
          <a:xfrm>
            <a:off x="2183055" y="3152126"/>
            <a:ext cx="1554459" cy="331540"/>
          </a:xfrm>
          <a:prstGeom prst="roundRect">
            <a:avLst/>
          </a:prstGeom>
          <a:solidFill>
            <a:schemeClr val="accent6">
              <a:lumMod val="60000"/>
              <a:lumOff val="4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Consolas" panose="020B0609020204030204" pitchFamily="49" charset="0"/>
                <a:ea typeface="杨任东竹石体-Bold" panose="02000000000000000000" pitchFamily="2" charset="-122"/>
              </a:rPr>
              <a:t>OutputStream</a:t>
            </a:r>
            <a:endParaRPr lang="zh-CN" altLang="en-US" sz="1600" dirty="0">
              <a:latin typeface="Consolas" panose="020B0609020204030204" pitchFamily="49" charset="0"/>
              <a:ea typeface="杨任东竹石体-Bold" panose="02000000000000000000" pitchFamily="2" charset="-122"/>
            </a:endParaRPr>
          </a:p>
        </p:txBody>
      </p:sp>
      <p:sp>
        <p:nvSpPr>
          <p:cNvPr id="16" name="矩形: 圆角 15">
            <a:extLst>
              <a:ext uri="{FF2B5EF4-FFF2-40B4-BE49-F238E27FC236}">
                <a16:creationId xmlns:a16="http://schemas.microsoft.com/office/drawing/2014/main" id="{9792FE01-6499-5BC3-6CA5-F0BF03E47265}"/>
              </a:ext>
            </a:extLst>
          </p:cNvPr>
          <p:cNvSpPr/>
          <p:nvPr/>
        </p:nvSpPr>
        <p:spPr>
          <a:xfrm>
            <a:off x="1967948" y="1996817"/>
            <a:ext cx="3388420" cy="1782538"/>
          </a:xfrm>
          <a:custGeom>
            <a:avLst/>
            <a:gdLst>
              <a:gd name="connsiteX0" fmla="*/ 0 w 3388420"/>
              <a:gd name="connsiteY0" fmla="*/ 297096 h 1782538"/>
              <a:gd name="connsiteX1" fmla="*/ 297096 w 3388420"/>
              <a:gd name="connsiteY1" fmla="*/ 0 h 1782538"/>
              <a:gd name="connsiteX2" fmla="*/ 1023595 w 3388420"/>
              <a:gd name="connsiteY2" fmla="*/ 0 h 1782538"/>
              <a:gd name="connsiteX3" fmla="*/ 1694210 w 3388420"/>
              <a:gd name="connsiteY3" fmla="*/ 0 h 1782538"/>
              <a:gd name="connsiteX4" fmla="*/ 2420709 w 3388420"/>
              <a:gd name="connsiteY4" fmla="*/ 0 h 1782538"/>
              <a:gd name="connsiteX5" fmla="*/ 3091324 w 3388420"/>
              <a:gd name="connsiteY5" fmla="*/ 0 h 1782538"/>
              <a:gd name="connsiteX6" fmla="*/ 3388420 w 3388420"/>
              <a:gd name="connsiteY6" fmla="*/ 297096 h 1782538"/>
              <a:gd name="connsiteX7" fmla="*/ 3388420 w 3388420"/>
              <a:gd name="connsiteY7" fmla="*/ 855619 h 1782538"/>
              <a:gd name="connsiteX8" fmla="*/ 3388420 w 3388420"/>
              <a:gd name="connsiteY8" fmla="*/ 1485442 h 1782538"/>
              <a:gd name="connsiteX9" fmla="*/ 3091324 w 3388420"/>
              <a:gd name="connsiteY9" fmla="*/ 1782538 h 1782538"/>
              <a:gd name="connsiteX10" fmla="*/ 2420709 w 3388420"/>
              <a:gd name="connsiteY10" fmla="*/ 1782538 h 1782538"/>
              <a:gd name="connsiteX11" fmla="*/ 1805979 w 3388420"/>
              <a:gd name="connsiteY11" fmla="*/ 1782538 h 1782538"/>
              <a:gd name="connsiteX12" fmla="*/ 1079480 w 3388420"/>
              <a:gd name="connsiteY12" fmla="*/ 1782538 h 1782538"/>
              <a:gd name="connsiteX13" fmla="*/ 297096 w 3388420"/>
              <a:gd name="connsiteY13" fmla="*/ 1782538 h 1782538"/>
              <a:gd name="connsiteX14" fmla="*/ 0 w 3388420"/>
              <a:gd name="connsiteY14" fmla="*/ 1485442 h 1782538"/>
              <a:gd name="connsiteX15" fmla="*/ 0 w 3388420"/>
              <a:gd name="connsiteY15" fmla="*/ 926919 h 1782538"/>
              <a:gd name="connsiteX16" fmla="*/ 0 w 3388420"/>
              <a:gd name="connsiteY16" fmla="*/ 297096 h 178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88420" h="1782538" extrusionOk="0">
                <a:moveTo>
                  <a:pt x="0" y="297096"/>
                </a:moveTo>
                <a:cubicBezTo>
                  <a:pt x="28715" y="133850"/>
                  <a:pt x="106463" y="8417"/>
                  <a:pt x="297096" y="0"/>
                </a:cubicBezTo>
                <a:cubicBezTo>
                  <a:pt x="615229" y="-21055"/>
                  <a:pt x="766499" y="101"/>
                  <a:pt x="1023595" y="0"/>
                </a:cubicBezTo>
                <a:cubicBezTo>
                  <a:pt x="1280691" y="-101"/>
                  <a:pt x="1542941" y="15369"/>
                  <a:pt x="1694210" y="0"/>
                </a:cubicBezTo>
                <a:cubicBezTo>
                  <a:pt x="1845480" y="-15369"/>
                  <a:pt x="2167937" y="32234"/>
                  <a:pt x="2420709" y="0"/>
                </a:cubicBezTo>
                <a:cubicBezTo>
                  <a:pt x="2673481" y="-32234"/>
                  <a:pt x="2954297" y="-3133"/>
                  <a:pt x="3091324" y="0"/>
                </a:cubicBezTo>
                <a:cubicBezTo>
                  <a:pt x="3220070" y="-144"/>
                  <a:pt x="3385097" y="166637"/>
                  <a:pt x="3388420" y="297096"/>
                </a:cubicBezTo>
                <a:cubicBezTo>
                  <a:pt x="3389950" y="456246"/>
                  <a:pt x="3376794" y="612276"/>
                  <a:pt x="3388420" y="855619"/>
                </a:cubicBezTo>
                <a:cubicBezTo>
                  <a:pt x="3400046" y="1098962"/>
                  <a:pt x="3413220" y="1299862"/>
                  <a:pt x="3388420" y="1485442"/>
                </a:cubicBezTo>
                <a:cubicBezTo>
                  <a:pt x="3391955" y="1636943"/>
                  <a:pt x="3254855" y="1773304"/>
                  <a:pt x="3091324" y="1782538"/>
                </a:cubicBezTo>
                <a:cubicBezTo>
                  <a:pt x="2810575" y="1805405"/>
                  <a:pt x="2690804" y="1787232"/>
                  <a:pt x="2420709" y="1782538"/>
                </a:cubicBezTo>
                <a:cubicBezTo>
                  <a:pt x="2150614" y="1777844"/>
                  <a:pt x="1978578" y="1811014"/>
                  <a:pt x="1805979" y="1782538"/>
                </a:cubicBezTo>
                <a:cubicBezTo>
                  <a:pt x="1633380" y="1754063"/>
                  <a:pt x="1268785" y="1807339"/>
                  <a:pt x="1079480" y="1782538"/>
                </a:cubicBezTo>
                <a:cubicBezTo>
                  <a:pt x="890175" y="1757737"/>
                  <a:pt x="528186" y="1755924"/>
                  <a:pt x="297096" y="1782538"/>
                </a:cubicBezTo>
                <a:cubicBezTo>
                  <a:pt x="116289" y="1795503"/>
                  <a:pt x="9090" y="1649510"/>
                  <a:pt x="0" y="1485442"/>
                </a:cubicBezTo>
                <a:cubicBezTo>
                  <a:pt x="-8753" y="1350250"/>
                  <a:pt x="569" y="1109050"/>
                  <a:pt x="0" y="926919"/>
                </a:cubicBezTo>
                <a:cubicBezTo>
                  <a:pt x="-569" y="744788"/>
                  <a:pt x="-8012" y="439681"/>
                  <a:pt x="0" y="297096"/>
                </a:cubicBezTo>
                <a:close/>
              </a:path>
            </a:pathLst>
          </a:custGeom>
          <a:noFill/>
          <a:ln>
            <a:solidFill>
              <a:schemeClr val="tx1"/>
            </a:solidFill>
            <a:extLst>
              <a:ext uri="{C807C97D-BFC1-408E-A445-0C87EB9F89A2}">
                <ask:lineSketchStyleProps xmlns:ask="http://schemas.microsoft.com/office/drawing/2018/sketchyshapes" sd="3301937790">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F4BC219E-B02F-A2C4-3888-C9BEC6692E0B}"/>
              </a:ext>
            </a:extLst>
          </p:cNvPr>
          <p:cNvSpPr txBox="1"/>
          <p:nvPr/>
        </p:nvSpPr>
        <p:spPr>
          <a:xfrm>
            <a:off x="3813073" y="2272449"/>
            <a:ext cx="1462328" cy="369332"/>
          </a:xfrm>
          <a:prstGeom prst="rect">
            <a:avLst/>
          </a:prstGeom>
          <a:noFill/>
          <a:ln>
            <a:noFill/>
          </a:ln>
        </p:spPr>
        <p:txBody>
          <a:bodyPr wrap="square" rtlCol="0">
            <a:spAutoFit/>
          </a:bodyPr>
          <a:lstStyle/>
          <a:p>
            <a:pPr algn="l"/>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字节输入流</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19" name="文本框 18">
            <a:extLst>
              <a:ext uri="{FF2B5EF4-FFF2-40B4-BE49-F238E27FC236}">
                <a16:creationId xmlns:a16="http://schemas.microsoft.com/office/drawing/2014/main" id="{F4B3E4E5-A595-AE12-8AA8-CDE47AEDA5B7}"/>
              </a:ext>
            </a:extLst>
          </p:cNvPr>
          <p:cNvSpPr txBox="1"/>
          <p:nvPr/>
        </p:nvSpPr>
        <p:spPr>
          <a:xfrm>
            <a:off x="3813073" y="3179396"/>
            <a:ext cx="1462328" cy="369332"/>
          </a:xfrm>
          <a:prstGeom prst="rect">
            <a:avLst/>
          </a:prstGeom>
          <a:noFill/>
          <a:ln>
            <a:noFill/>
          </a:ln>
        </p:spPr>
        <p:txBody>
          <a:bodyPr wrap="square" rtlCol="0">
            <a:spAutoFit/>
          </a:bodyPr>
          <a:lstStyle/>
          <a:p>
            <a:pPr algn="l"/>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字节输出流</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21" name="文本框 20">
            <a:extLst>
              <a:ext uri="{FF2B5EF4-FFF2-40B4-BE49-F238E27FC236}">
                <a16:creationId xmlns:a16="http://schemas.microsoft.com/office/drawing/2014/main" id="{06DDEF7D-4673-BB93-9F8B-09AF7C4C9E1C}"/>
              </a:ext>
            </a:extLst>
          </p:cNvPr>
          <p:cNvSpPr txBox="1"/>
          <p:nvPr/>
        </p:nvSpPr>
        <p:spPr>
          <a:xfrm>
            <a:off x="2526105" y="2742024"/>
            <a:ext cx="958077" cy="369332"/>
          </a:xfrm>
          <a:prstGeom prst="rect">
            <a:avLst/>
          </a:prstGeom>
          <a:noFill/>
          <a:ln>
            <a:noFill/>
          </a:ln>
        </p:spPr>
        <p:txBody>
          <a:bodyPr wrap="square" rtlCol="0">
            <a:spAutoFit/>
          </a:bodyPr>
          <a:lstStyle/>
          <a:p>
            <a:pPr algn="l"/>
            <a:r>
              <a:rPr kumimoji="0" lang="zh-CN" altLang="en-US" b="0" i="0" u="none" strike="noStrike" cap="none" normalizeH="0" baseline="0" dirty="0">
                <a:ln>
                  <a:noFill/>
                </a:ln>
                <a:solidFill>
                  <a:srgbClr val="C00000"/>
                </a:solidFill>
                <a:effectLst/>
                <a:latin typeface="杨任东竹石体-Bold" panose="02000000000000000000" pitchFamily="2" charset="-122"/>
                <a:ea typeface="杨任东竹石体-Bold" panose="02000000000000000000" pitchFamily="2" charset="-122"/>
              </a:rPr>
              <a:t>抽象类</a:t>
            </a:r>
          </a:p>
        </p:txBody>
      </p:sp>
      <p:sp>
        <p:nvSpPr>
          <p:cNvPr id="22" name="矩形: 圆角 21">
            <a:extLst>
              <a:ext uri="{FF2B5EF4-FFF2-40B4-BE49-F238E27FC236}">
                <a16:creationId xmlns:a16="http://schemas.microsoft.com/office/drawing/2014/main" id="{E90B8326-A094-9890-9F12-8B3808B881C6}"/>
              </a:ext>
            </a:extLst>
          </p:cNvPr>
          <p:cNvSpPr/>
          <p:nvPr/>
        </p:nvSpPr>
        <p:spPr>
          <a:xfrm>
            <a:off x="5527572" y="2069824"/>
            <a:ext cx="2356795" cy="1595231"/>
          </a:xfrm>
          <a:custGeom>
            <a:avLst/>
            <a:gdLst>
              <a:gd name="connsiteX0" fmla="*/ 0 w 2356795"/>
              <a:gd name="connsiteY0" fmla="*/ 265877 h 1595231"/>
              <a:gd name="connsiteX1" fmla="*/ 265877 w 2356795"/>
              <a:gd name="connsiteY1" fmla="*/ 0 h 1595231"/>
              <a:gd name="connsiteX2" fmla="*/ 892474 w 2356795"/>
              <a:gd name="connsiteY2" fmla="*/ 0 h 1595231"/>
              <a:gd name="connsiteX3" fmla="*/ 1482571 w 2356795"/>
              <a:gd name="connsiteY3" fmla="*/ 0 h 1595231"/>
              <a:gd name="connsiteX4" fmla="*/ 2090918 w 2356795"/>
              <a:gd name="connsiteY4" fmla="*/ 0 h 1595231"/>
              <a:gd name="connsiteX5" fmla="*/ 2356795 w 2356795"/>
              <a:gd name="connsiteY5" fmla="*/ 265877 h 1595231"/>
              <a:gd name="connsiteX6" fmla="*/ 2356795 w 2356795"/>
              <a:gd name="connsiteY6" fmla="*/ 808250 h 1595231"/>
              <a:gd name="connsiteX7" fmla="*/ 2356795 w 2356795"/>
              <a:gd name="connsiteY7" fmla="*/ 1329354 h 1595231"/>
              <a:gd name="connsiteX8" fmla="*/ 2090918 w 2356795"/>
              <a:gd name="connsiteY8" fmla="*/ 1595231 h 1595231"/>
              <a:gd name="connsiteX9" fmla="*/ 1464321 w 2356795"/>
              <a:gd name="connsiteY9" fmla="*/ 1595231 h 1595231"/>
              <a:gd name="connsiteX10" fmla="*/ 874224 w 2356795"/>
              <a:gd name="connsiteY10" fmla="*/ 1595231 h 1595231"/>
              <a:gd name="connsiteX11" fmla="*/ 265877 w 2356795"/>
              <a:gd name="connsiteY11" fmla="*/ 1595231 h 1595231"/>
              <a:gd name="connsiteX12" fmla="*/ 0 w 2356795"/>
              <a:gd name="connsiteY12" fmla="*/ 1329354 h 1595231"/>
              <a:gd name="connsiteX13" fmla="*/ 0 w 2356795"/>
              <a:gd name="connsiteY13" fmla="*/ 808250 h 1595231"/>
              <a:gd name="connsiteX14" fmla="*/ 0 w 2356795"/>
              <a:gd name="connsiteY14" fmla="*/ 265877 h 159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6795" h="1595231" extrusionOk="0">
                <a:moveTo>
                  <a:pt x="0" y="265877"/>
                </a:moveTo>
                <a:cubicBezTo>
                  <a:pt x="24373" y="119747"/>
                  <a:pt x="115555" y="1104"/>
                  <a:pt x="265877" y="0"/>
                </a:cubicBezTo>
                <a:cubicBezTo>
                  <a:pt x="396204" y="3449"/>
                  <a:pt x="634792" y="-14041"/>
                  <a:pt x="892474" y="0"/>
                </a:cubicBezTo>
                <a:cubicBezTo>
                  <a:pt x="1150156" y="14041"/>
                  <a:pt x="1336590" y="3067"/>
                  <a:pt x="1482571" y="0"/>
                </a:cubicBezTo>
                <a:cubicBezTo>
                  <a:pt x="1628552" y="-3067"/>
                  <a:pt x="1815084" y="19222"/>
                  <a:pt x="2090918" y="0"/>
                </a:cubicBezTo>
                <a:cubicBezTo>
                  <a:pt x="2255446" y="-1115"/>
                  <a:pt x="2371554" y="92480"/>
                  <a:pt x="2356795" y="265877"/>
                </a:cubicBezTo>
                <a:cubicBezTo>
                  <a:pt x="2353918" y="529888"/>
                  <a:pt x="2334557" y="628080"/>
                  <a:pt x="2356795" y="808250"/>
                </a:cubicBezTo>
                <a:cubicBezTo>
                  <a:pt x="2379033" y="988420"/>
                  <a:pt x="2362116" y="1203351"/>
                  <a:pt x="2356795" y="1329354"/>
                </a:cubicBezTo>
                <a:cubicBezTo>
                  <a:pt x="2389700" y="1465420"/>
                  <a:pt x="2228962" y="1619869"/>
                  <a:pt x="2090918" y="1595231"/>
                </a:cubicBezTo>
                <a:cubicBezTo>
                  <a:pt x="1854780" y="1589586"/>
                  <a:pt x="1718052" y="1576262"/>
                  <a:pt x="1464321" y="1595231"/>
                </a:cubicBezTo>
                <a:cubicBezTo>
                  <a:pt x="1210590" y="1614200"/>
                  <a:pt x="1107372" y="1621255"/>
                  <a:pt x="874224" y="1595231"/>
                </a:cubicBezTo>
                <a:cubicBezTo>
                  <a:pt x="641076" y="1569207"/>
                  <a:pt x="492048" y="1568972"/>
                  <a:pt x="265877" y="1595231"/>
                </a:cubicBezTo>
                <a:cubicBezTo>
                  <a:pt x="99809" y="1578576"/>
                  <a:pt x="-14107" y="1501739"/>
                  <a:pt x="0" y="1329354"/>
                </a:cubicBezTo>
                <a:cubicBezTo>
                  <a:pt x="17072" y="1193616"/>
                  <a:pt x="-1198" y="924225"/>
                  <a:pt x="0" y="808250"/>
                </a:cubicBezTo>
                <a:cubicBezTo>
                  <a:pt x="1198" y="692275"/>
                  <a:pt x="-15355" y="534842"/>
                  <a:pt x="0" y="265877"/>
                </a:cubicBezTo>
                <a:close/>
              </a:path>
            </a:pathLst>
          </a:custGeom>
          <a:noFill/>
          <a:ln>
            <a:solidFill>
              <a:schemeClr val="tx1"/>
            </a:solidFill>
            <a:extLst>
              <a:ext uri="{C807C97D-BFC1-408E-A445-0C87EB9F89A2}">
                <ask:lineSketchStyleProps xmlns:ask="http://schemas.microsoft.com/office/drawing/2018/sketchyshapes" sd="3301937790">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174FD025-0022-334D-DA15-EA52F823A997}"/>
              </a:ext>
            </a:extLst>
          </p:cNvPr>
          <p:cNvSpPr/>
          <p:nvPr/>
        </p:nvSpPr>
        <p:spPr>
          <a:xfrm>
            <a:off x="5696538" y="2247667"/>
            <a:ext cx="2043812" cy="331540"/>
          </a:xfrm>
          <a:prstGeom prst="roundRect">
            <a:avLst/>
          </a:prstGeom>
          <a:solidFill>
            <a:schemeClr val="accent6">
              <a:lumMod val="60000"/>
              <a:lumOff val="4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Consolas" panose="020B0609020204030204" pitchFamily="49" charset="0"/>
                <a:ea typeface="杨任东竹石体-Bold" panose="02000000000000000000" pitchFamily="2" charset="-122"/>
              </a:rPr>
              <a:t>FileInputStream</a:t>
            </a:r>
            <a:endParaRPr lang="zh-CN" altLang="en-US" sz="1600" dirty="0">
              <a:latin typeface="Consolas" panose="020B0609020204030204" pitchFamily="49" charset="0"/>
              <a:ea typeface="杨任东竹石体-Bold" panose="02000000000000000000" pitchFamily="2" charset="-122"/>
            </a:endParaRPr>
          </a:p>
        </p:txBody>
      </p:sp>
      <p:sp>
        <p:nvSpPr>
          <p:cNvPr id="24" name="矩形: 圆角 23">
            <a:extLst>
              <a:ext uri="{FF2B5EF4-FFF2-40B4-BE49-F238E27FC236}">
                <a16:creationId xmlns:a16="http://schemas.microsoft.com/office/drawing/2014/main" id="{80F8E55C-F88C-A7FE-AF43-12F76846906A}"/>
              </a:ext>
            </a:extLst>
          </p:cNvPr>
          <p:cNvSpPr/>
          <p:nvPr/>
        </p:nvSpPr>
        <p:spPr>
          <a:xfrm>
            <a:off x="5696537" y="3154548"/>
            <a:ext cx="2043813" cy="331540"/>
          </a:xfrm>
          <a:prstGeom prst="roundRect">
            <a:avLst/>
          </a:prstGeom>
          <a:solidFill>
            <a:schemeClr val="accent6">
              <a:lumMod val="60000"/>
              <a:lumOff val="4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err="1">
                <a:latin typeface="Consolas" panose="020B0609020204030204" pitchFamily="49" charset="0"/>
                <a:ea typeface="杨任东竹石体-Bold" panose="02000000000000000000" pitchFamily="2" charset="-122"/>
              </a:rPr>
              <a:t>FileOutputStream</a:t>
            </a:r>
            <a:endParaRPr lang="zh-CN" altLang="en-US" sz="1600" dirty="0">
              <a:latin typeface="Consolas" panose="020B0609020204030204" pitchFamily="49" charset="0"/>
              <a:ea typeface="杨任东竹石体-Bold" panose="02000000000000000000" pitchFamily="2" charset="-122"/>
            </a:endParaRPr>
          </a:p>
        </p:txBody>
      </p:sp>
      <p:sp>
        <p:nvSpPr>
          <p:cNvPr id="25" name="文本框 24">
            <a:extLst>
              <a:ext uri="{FF2B5EF4-FFF2-40B4-BE49-F238E27FC236}">
                <a16:creationId xmlns:a16="http://schemas.microsoft.com/office/drawing/2014/main" id="{B866C80C-C645-68EE-C001-0D863AF039E2}"/>
              </a:ext>
            </a:extLst>
          </p:cNvPr>
          <p:cNvSpPr txBox="1"/>
          <p:nvPr/>
        </p:nvSpPr>
        <p:spPr>
          <a:xfrm>
            <a:off x="6025898" y="2724737"/>
            <a:ext cx="1714453" cy="369332"/>
          </a:xfrm>
          <a:prstGeom prst="rect">
            <a:avLst/>
          </a:prstGeom>
          <a:noFill/>
          <a:ln>
            <a:noFill/>
          </a:ln>
        </p:spPr>
        <p:txBody>
          <a:bodyPr wrap="square" rtlCol="0">
            <a:spAutoFit/>
          </a:bodyPr>
          <a:lstStyle/>
          <a:p>
            <a:pPr algn="l"/>
            <a:r>
              <a:rPr lang="zh-CN" altLang="en-US" dirty="0">
                <a:solidFill>
                  <a:srgbClr val="C00000"/>
                </a:solidFill>
                <a:latin typeface="杨任东竹石体-Bold" panose="02000000000000000000" pitchFamily="2" charset="-122"/>
                <a:ea typeface="杨任东竹石体-Bold" panose="02000000000000000000" pitchFamily="2" charset="-122"/>
              </a:rPr>
              <a:t>抽象类的子类</a:t>
            </a:r>
            <a:endParaRPr kumimoji="0" lang="zh-CN" altLang="en-US" b="0" i="0" u="none" strike="noStrike" cap="none" normalizeH="0" baseline="0" dirty="0">
              <a:ln>
                <a:noFill/>
              </a:ln>
              <a:solidFill>
                <a:srgbClr val="C00000"/>
              </a:solidFill>
              <a:effectLst/>
              <a:latin typeface="杨任东竹石体-Bold" panose="02000000000000000000" pitchFamily="2" charset="-122"/>
              <a:ea typeface="杨任东竹石体-Bold" panose="02000000000000000000" pitchFamily="2" charset="-122"/>
            </a:endParaRPr>
          </a:p>
        </p:txBody>
      </p:sp>
      <p:sp>
        <p:nvSpPr>
          <p:cNvPr id="26" name="矩形: 圆角 25">
            <a:extLst>
              <a:ext uri="{FF2B5EF4-FFF2-40B4-BE49-F238E27FC236}">
                <a16:creationId xmlns:a16="http://schemas.microsoft.com/office/drawing/2014/main" id="{281B10D4-EB55-B7EA-146E-7E366FDC10FF}"/>
              </a:ext>
            </a:extLst>
          </p:cNvPr>
          <p:cNvSpPr/>
          <p:nvPr/>
        </p:nvSpPr>
        <p:spPr>
          <a:xfrm>
            <a:off x="1967948" y="4073741"/>
            <a:ext cx="3446658" cy="1653684"/>
          </a:xfrm>
          <a:custGeom>
            <a:avLst/>
            <a:gdLst>
              <a:gd name="connsiteX0" fmla="*/ 0 w 3446658"/>
              <a:gd name="connsiteY0" fmla="*/ 275620 h 1653684"/>
              <a:gd name="connsiteX1" fmla="*/ 275620 w 3446658"/>
              <a:gd name="connsiteY1" fmla="*/ 0 h 1653684"/>
              <a:gd name="connsiteX2" fmla="*/ 883658 w 3446658"/>
              <a:gd name="connsiteY2" fmla="*/ 0 h 1653684"/>
              <a:gd name="connsiteX3" fmla="*/ 1433787 w 3446658"/>
              <a:gd name="connsiteY3" fmla="*/ 0 h 1653684"/>
              <a:gd name="connsiteX4" fmla="*/ 2041825 w 3446658"/>
              <a:gd name="connsiteY4" fmla="*/ 0 h 1653684"/>
              <a:gd name="connsiteX5" fmla="*/ 2591954 w 3446658"/>
              <a:gd name="connsiteY5" fmla="*/ 0 h 1653684"/>
              <a:gd name="connsiteX6" fmla="*/ 3171038 w 3446658"/>
              <a:gd name="connsiteY6" fmla="*/ 0 h 1653684"/>
              <a:gd name="connsiteX7" fmla="*/ 3446658 w 3446658"/>
              <a:gd name="connsiteY7" fmla="*/ 275620 h 1653684"/>
              <a:gd name="connsiteX8" fmla="*/ 3446658 w 3446658"/>
              <a:gd name="connsiteY8" fmla="*/ 837866 h 1653684"/>
              <a:gd name="connsiteX9" fmla="*/ 3446658 w 3446658"/>
              <a:gd name="connsiteY9" fmla="*/ 1378064 h 1653684"/>
              <a:gd name="connsiteX10" fmla="*/ 3171038 w 3446658"/>
              <a:gd name="connsiteY10" fmla="*/ 1653684 h 1653684"/>
              <a:gd name="connsiteX11" fmla="*/ 2620909 w 3446658"/>
              <a:gd name="connsiteY11" fmla="*/ 1653684 h 1653684"/>
              <a:gd name="connsiteX12" fmla="*/ 2012871 w 3446658"/>
              <a:gd name="connsiteY12" fmla="*/ 1653684 h 1653684"/>
              <a:gd name="connsiteX13" fmla="*/ 1433787 w 3446658"/>
              <a:gd name="connsiteY13" fmla="*/ 1653684 h 1653684"/>
              <a:gd name="connsiteX14" fmla="*/ 796795 w 3446658"/>
              <a:gd name="connsiteY14" fmla="*/ 1653684 h 1653684"/>
              <a:gd name="connsiteX15" fmla="*/ 275620 w 3446658"/>
              <a:gd name="connsiteY15" fmla="*/ 1653684 h 1653684"/>
              <a:gd name="connsiteX16" fmla="*/ 0 w 3446658"/>
              <a:gd name="connsiteY16" fmla="*/ 1378064 h 1653684"/>
              <a:gd name="connsiteX17" fmla="*/ 0 w 3446658"/>
              <a:gd name="connsiteY17" fmla="*/ 859915 h 1653684"/>
              <a:gd name="connsiteX18" fmla="*/ 0 w 3446658"/>
              <a:gd name="connsiteY18" fmla="*/ 275620 h 1653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46658" h="1653684" extrusionOk="0">
                <a:moveTo>
                  <a:pt x="0" y="275620"/>
                </a:moveTo>
                <a:cubicBezTo>
                  <a:pt x="21096" y="124014"/>
                  <a:pt x="107950" y="4898"/>
                  <a:pt x="275620" y="0"/>
                </a:cubicBezTo>
                <a:cubicBezTo>
                  <a:pt x="533793" y="-5154"/>
                  <a:pt x="675695" y="1777"/>
                  <a:pt x="883658" y="0"/>
                </a:cubicBezTo>
                <a:cubicBezTo>
                  <a:pt x="1091621" y="-1777"/>
                  <a:pt x="1211868" y="23061"/>
                  <a:pt x="1433787" y="0"/>
                </a:cubicBezTo>
                <a:cubicBezTo>
                  <a:pt x="1655706" y="-23061"/>
                  <a:pt x="1776676" y="6621"/>
                  <a:pt x="2041825" y="0"/>
                </a:cubicBezTo>
                <a:cubicBezTo>
                  <a:pt x="2306974" y="-6621"/>
                  <a:pt x="2402176" y="-8844"/>
                  <a:pt x="2591954" y="0"/>
                </a:cubicBezTo>
                <a:cubicBezTo>
                  <a:pt x="2781732" y="8844"/>
                  <a:pt x="3015797" y="10408"/>
                  <a:pt x="3171038" y="0"/>
                </a:cubicBezTo>
                <a:cubicBezTo>
                  <a:pt x="3338410" y="-26624"/>
                  <a:pt x="3415264" y="124477"/>
                  <a:pt x="3446658" y="275620"/>
                </a:cubicBezTo>
                <a:cubicBezTo>
                  <a:pt x="3421646" y="497008"/>
                  <a:pt x="3469722" y="572834"/>
                  <a:pt x="3446658" y="837866"/>
                </a:cubicBezTo>
                <a:cubicBezTo>
                  <a:pt x="3423594" y="1102898"/>
                  <a:pt x="3446363" y="1207848"/>
                  <a:pt x="3446658" y="1378064"/>
                </a:cubicBezTo>
                <a:cubicBezTo>
                  <a:pt x="3457096" y="1537894"/>
                  <a:pt x="3305993" y="1675458"/>
                  <a:pt x="3171038" y="1653684"/>
                </a:cubicBezTo>
                <a:cubicBezTo>
                  <a:pt x="2930450" y="1648343"/>
                  <a:pt x="2787580" y="1639726"/>
                  <a:pt x="2620909" y="1653684"/>
                </a:cubicBezTo>
                <a:cubicBezTo>
                  <a:pt x="2454238" y="1667642"/>
                  <a:pt x="2247193" y="1629287"/>
                  <a:pt x="2012871" y="1653684"/>
                </a:cubicBezTo>
                <a:cubicBezTo>
                  <a:pt x="1778549" y="1678081"/>
                  <a:pt x="1632398" y="1663214"/>
                  <a:pt x="1433787" y="1653684"/>
                </a:cubicBezTo>
                <a:cubicBezTo>
                  <a:pt x="1235176" y="1644154"/>
                  <a:pt x="997989" y="1649349"/>
                  <a:pt x="796795" y="1653684"/>
                </a:cubicBezTo>
                <a:cubicBezTo>
                  <a:pt x="595601" y="1658019"/>
                  <a:pt x="439887" y="1642904"/>
                  <a:pt x="275620" y="1653684"/>
                </a:cubicBezTo>
                <a:cubicBezTo>
                  <a:pt x="103340" y="1633435"/>
                  <a:pt x="8655" y="1556454"/>
                  <a:pt x="0" y="1378064"/>
                </a:cubicBezTo>
                <a:cubicBezTo>
                  <a:pt x="6163" y="1149163"/>
                  <a:pt x="15483" y="1098011"/>
                  <a:pt x="0" y="859915"/>
                </a:cubicBezTo>
                <a:cubicBezTo>
                  <a:pt x="-15483" y="621819"/>
                  <a:pt x="22008" y="551377"/>
                  <a:pt x="0" y="275620"/>
                </a:cubicBezTo>
                <a:close/>
              </a:path>
            </a:pathLst>
          </a:custGeom>
          <a:noFill/>
          <a:ln>
            <a:solidFill>
              <a:schemeClr val="tx1"/>
            </a:solidFill>
            <a:extLst>
              <a:ext uri="{C807C97D-BFC1-408E-A445-0C87EB9F89A2}">
                <ask:lineSketchStyleProps xmlns:ask="http://schemas.microsoft.com/office/drawing/2018/sketchyshapes" sd="3301937790">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19862313-FDD7-24E2-2ACB-6379F0525457}"/>
              </a:ext>
            </a:extLst>
          </p:cNvPr>
          <p:cNvSpPr/>
          <p:nvPr/>
        </p:nvSpPr>
        <p:spPr>
          <a:xfrm>
            <a:off x="2200807" y="4324182"/>
            <a:ext cx="1390340" cy="424238"/>
          </a:xfrm>
          <a:prstGeom prst="roundRect">
            <a:avLst/>
          </a:prstGeom>
          <a:solidFill>
            <a:schemeClr val="accent5">
              <a:lumMod val="60000"/>
              <a:lumOff val="4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a:solidFill>
                  <a:schemeClr val="tx1"/>
                </a:solidFill>
                <a:latin typeface="Consolas" panose="020B0609020204030204" pitchFamily="49" charset="0"/>
                <a:ea typeface="杨任东竹石体-Bold" panose="02000000000000000000" pitchFamily="2" charset="-122"/>
              </a:rPr>
              <a:t>Reader</a:t>
            </a:r>
            <a:endParaRPr lang="zh-CN" altLang="en-US" dirty="0">
              <a:solidFill>
                <a:schemeClr val="tx1"/>
              </a:solidFill>
              <a:latin typeface="Consolas" panose="020B0609020204030204" pitchFamily="49" charset="0"/>
              <a:ea typeface="杨任东竹石体-Bold" panose="02000000000000000000" pitchFamily="2" charset="-122"/>
            </a:endParaRPr>
          </a:p>
        </p:txBody>
      </p:sp>
      <p:sp>
        <p:nvSpPr>
          <p:cNvPr id="28" name="矩形: 圆角 27">
            <a:extLst>
              <a:ext uri="{FF2B5EF4-FFF2-40B4-BE49-F238E27FC236}">
                <a16:creationId xmlns:a16="http://schemas.microsoft.com/office/drawing/2014/main" id="{8A6EE7E6-D9B1-1284-D630-17897FD8FD0D}"/>
              </a:ext>
            </a:extLst>
          </p:cNvPr>
          <p:cNvSpPr/>
          <p:nvPr/>
        </p:nvSpPr>
        <p:spPr>
          <a:xfrm>
            <a:off x="2200807" y="5090230"/>
            <a:ext cx="1390340" cy="424238"/>
          </a:xfrm>
          <a:prstGeom prst="roundRect">
            <a:avLst/>
          </a:prstGeom>
          <a:solidFill>
            <a:schemeClr val="accent5">
              <a:lumMod val="60000"/>
              <a:lumOff val="40000"/>
            </a:schemeClr>
          </a:solidFill>
          <a:ln>
            <a:noFill/>
          </a:ln>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a:solidFill>
                  <a:schemeClr val="tx1"/>
                </a:solidFill>
                <a:latin typeface="Consolas" panose="020B0609020204030204" pitchFamily="49" charset="0"/>
                <a:ea typeface="杨任东竹石体-Bold" panose="02000000000000000000" pitchFamily="2" charset="-122"/>
              </a:rPr>
              <a:t>Writer</a:t>
            </a:r>
            <a:endParaRPr lang="zh-CN" altLang="en-US" dirty="0">
              <a:solidFill>
                <a:schemeClr val="tx1"/>
              </a:solidFill>
              <a:latin typeface="Consolas" panose="020B0609020204030204" pitchFamily="49" charset="0"/>
              <a:ea typeface="杨任东竹石体-Bold" panose="02000000000000000000" pitchFamily="2" charset="-122"/>
            </a:endParaRPr>
          </a:p>
        </p:txBody>
      </p:sp>
      <p:sp>
        <p:nvSpPr>
          <p:cNvPr id="29" name="文本框 28">
            <a:extLst>
              <a:ext uri="{FF2B5EF4-FFF2-40B4-BE49-F238E27FC236}">
                <a16:creationId xmlns:a16="http://schemas.microsoft.com/office/drawing/2014/main" id="{8EDC3C58-E237-EF2A-B8AB-7015604707BA}"/>
              </a:ext>
            </a:extLst>
          </p:cNvPr>
          <p:cNvSpPr txBox="1"/>
          <p:nvPr/>
        </p:nvSpPr>
        <p:spPr>
          <a:xfrm>
            <a:off x="3894040" y="4330510"/>
            <a:ext cx="1462328" cy="369332"/>
          </a:xfrm>
          <a:prstGeom prst="rect">
            <a:avLst/>
          </a:prstGeom>
          <a:noFill/>
          <a:ln>
            <a:noFill/>
          </a:ln>
        </p:spPr>
        <p:txBody>
          <a:bodyPr wrap="square" rtlCol="0">
            <a:spAutoFit/>
          </a:bodyPr>
          <a:lstStyle/>
          <a:p>
            <a:pPr algn="l"/>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字符输入流</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30" name="文本框 29">
            <a:extLst>
              <a:ext uri="{FF2B5EF4-FFF2-40B4-BE49-F238E27FC236}">
                <a16:creationId xmlns:a16="http://schemas.microsoft.com/office/drawing/2014/main" id="{2D5B3CBB-9177-2013-B6E0-04B7A070C337}"/>
              </a:ext>
            </a:extLst>
          </p:cNvPr>
          <p:cNvSpPr txBox="1"/>
          <p:nvPr/>
        </p:nvSpPr>
        <p:spPr>
          <a:xfrm>
            <a:off x="3894040" y="5237456"/>
            <a:ext cx="1462328" cy="369332"/>
          </a:xfrm>
          <a:prstGeom prst="rect">
            <a:avLst/>
          </a:prstGeom>
          <a:noFill/>
          <a:ln>
            <a:noFill/>
          </a:ln>
        </p:spPr>
        <p:txBody>
          <a:bodyPr wrap="square" rtlCol="0">
            <a:spAutoFit/>
          </a:bodyPr>
          <a:lstStyle/>
          <a:p>
            <a:pPr algn="l"/>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字符输出流</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31" name="文本框 30">
            <a:extLst>
              <a:ext uri="{FF2B5EF4-FFF2-40B4-BE49-F238E27FC236}">
                <a16:creationId xmlns:a16="http://schemas.microsoft.com/office/drawing/2014/main" id="{FA3797C2-DB8F-5BE0-5EE6-BD2E6AA23057}"/>
              </a:ext>
            </a:extLst>
          </p:cNvPr>
          <p:cNvSpPr txBox="1"/>
          <p:nvPr/>
        </p:nvSpPr>
        <p:spPr>
          <a:xfrm>
            <a:off x="2510134" y="4780825"/>
            <a:ext cx="958077" cy="369332"/>
          </a:xfrm>
          <a:prstGeom prst="rect">
            <a:avLst/>
          </a:prstGeom>
          <a:noFill/>
          <a:ln>
            <a:noFill/>
          </a:ln>
        </p:spPr>
        <p:txBody>
          <a:bodyPr wrap="square" rtlCol="0">
            <a:spAutoFit/>
          </a:bodyPr>
          <a:lstStyle/>
          <a:p>
            <a:pPr algn="l"/>
            <a:r>
              <a:rPr kumimoji="0" lang="zh-CN" altLang="en-US" b="0" i="0" u="none" strike="noStrike" cap="none" normalizeH="0" baseline="0" dirty="0">
                <a:ln>
                  <a:noFill/>
                </a:ln>
                <a:solidFill>
                  <a:srgbClr val="C00000"/>
                </a:solidFill>
                <a:effectLst/>
                <a:latin typeface="杨任东竹石体-Bold" panose="02000000000000000000" pitchFamily="2" charset="-122"/>
                <a:ea typeface="杨任东竹石体-Bold" panose="02000000000000000000" pitchFamily="2" charset="-122"/>
              </a:rPr>
              <a:t>抽象类</a:t>
            </a:r>
          </a:p>
        </p:txBody>
      </p:sp>
      <p:sp>
        <p:nvSpPr>
          <p:cNvPr id="37" name="矩形: 圆角 36">
            <a:extLst>
              <a:ext uri="{FF2B5EF4-FFF2-40B4-BE49-F238E27FC236}">
                <a16:creationId xmlns:a16="http://schemas.microsoft.com/office/drawing/2014/main" id="{CFFF555F-6D6D-E582-641C-94837AE65BF2}"/>
              </a:ext>
            </a:extLst>
          </p:cNvPr>
          <p:cNvSpPr/>
          <p:nvPr/>
        </p:nvSpPr>
        <p:spPr>
          <a:xfrm>
            <a:off x="5587208" y="4132194"/>
            <a:ext cx="2245638" cy="1595231"/>
          </a:xfrm>
          <a:custGeom>
            <a:avLst/>
            <a:gdLst>
              <a:gd name="connsiteX0" fmla="*/ 0 w 2245638"/>
              <a:gd name="connsiteY0" fmla="*/ 265877 h 1595231"/>
              <a:gd name="connsiteX1" fmla="*/ 265877 w 2245638"/>
              <a:gd name="connsiteY1" fmla="*/ 0 h 1595231"/>
              <a:gd name="connsiteX2" fmla="*/ 854311 w 2245638"/>
              <a:gd name="connsiteY2" fmla="*/ 0 h 1595231"/>
              <a:gd name="connsiteX3" fmla="*/ 1408466 w 2245638"/>
              <a:gd name="connsiteY3" fmla="*/ 0 h 1595231"/>
              <a:gd name="connsiteX4" fmla="*/ 1979761 w 2245638"/>
              <a:gd name="connsiteY4" fmla="*/ 0 h 1595231"/>
              <a:gd name="connsiteX5" fmla="*/ 2245638 w 2245638"/>
              <a:gd name="connsiteY5" fmla="*/ 265877 h 1595231"/>
              <a:gd name="connsiteX6" fmla="*/ 2245638 w 2245638"/>
              <a:gd name="connsiteY6" fmla="*/ 808250 h 1595231"/>
              <a:gd name="connsiteX7" fmla="*/ 2245638 w 2245638"/>
              <a:gd name="connsiteY7" fmla="*/ 1329354 h 1595231"/>
              <a:gd name="connsiteX8" fmla="*/ 1979761 w 2245638"/>
              <a:gd name="connsiteY8" fmla="*/ 1595231 h 1595231"/>
              <a:gd name="connsiteX9" fmla="*/ 1391327 w 2245638"/>
              <a:gd name="connsiteY9" fmla="*/ 1595231 h 1595231"/>
              <a:gd name="connsiteX10" fmla="*/ 837172 w 2245638"/>
              <a:gd name="connsiteY10" fmla="*/ 1595231 h 1595231"/>
              <a:gd name="connsiteX11" fmla="*/ 265877 w 2245638"/>
              <a:gd name="connsiteY11" fmla="*/ 1595231 h 1595231"/>
              <a:gd name="connsiteX12" fmla="*/ 0 w 2245638"/>
              <a:gd name="connsiteY12" fmla="*/ 1329354 h 1595231"/>
              <a:gd name="connsiteX13" fmla="*/ 0 w 2245638"/>
              <a:gd name="connsiteY13" fmla="*/ 808250 h 1595231"/>
              <a:gd name="connsiteX14" fmla="*/ 0 w 2245638"/>
              <a:gd name="connsiteY14" fmla="*/ 265877 h 159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45638" h="1595231" extrusionOk="0">
                <a:moveTo>
                  <a:pt x="0" y="265877"/>
                </a:moveTo>
                <a:cubicBezTo>
                  <a:pt x="24373" y="119747"/>
                  <a:pt x="115555" y="1104"/>
                  <a:pt x="265877" y="0"/>
                </a:cubicBezTo>
                <a:cubicBezTo>
                  <a:pt x="388109" y="-14183"/>
                  <a:pt x="574215" y="-1751"/>
                  <a:pt x="854311" y="0"/>
                </a:cubicBezTo>
                <a:cubicBezTo>
                  <a:pt x="1134407" y="1751"/>
                  <a:pt x="1231735" y="-2695"/>
                  <a:pt x="1408466" y="0"/>
                </a:cubicBezTo>
                <a:cubicBezTo>
                  <a:pt x="1585197" y="2695"/>
                  <a:pt x="1845356" y="13502"/>
                  <a:pt x="1979761" y="0"/>
                </a:cubicBezTo>
                <a:cubicBezTo>
                  <a:pt x="2144289" y="-1115"/>
                  <a:pt x="2260397" y="92480"/>
                  <a:pt x="2245638" y="265877"/>
                </a:cubicBezTo>
                <a:cubicBezTo>
                  <a:pt x="2242761" y="529888"/>
                  <a:pt x="2223400" y="628080"/>
                  <a:pt x="2245638" y="808250"/>
                </a:cubicBezTo>
                <a:cubicBezTo>
                  <a:pt x="2267876" y="988420"/>
                  <a:pt x="2250959" y="1203351"/>
                  <a:pt x="2245638" y="1329354"/>
                </a:cubicBezTo>
                <a:cubicBezTo>
                  <a:pt x="2278543" y="1465420"/>
                  <a:pt x="2117805" y="1619869"/>
                  <a:pt x="1979761" y="1595231"/>
                </a:cubicBezTo>
                <a:cubicBezTo>
                  <a:pt x="1741715" y="1616565"/>
                  <a:pt x="1524638" y="1573583"/>
                  <a:pt x="1391327" y="1595231"/>
                </a:cubicBezTo>
                <a:cubicBezTo>
                  <a:pt x="1258016" y="1616879"/>
                  <a:pt x="1009868" y="1604375"/>
                  <a:pt x="837172" y="1595231"/>
                </a:cubicBezTo>
                <a:cubicBezTo>
                  <a:pt x="664476" y="1586087"/>
                  <a:pt x="547926" y="1593244"/>
                  <a:pt x="265877" y="1595231"/>
                </a:cubicBezTo>
                <a:cubicBezTo>
                  <a:pt x="99809" y="1578576"/>
                  <a:pt x="-14107" y="1501739"/>
                  <a:pt x="0" y="1329354"/>
                </a:cubicBezTo>
                <a:cubicBezTo>
                  <a:pt x="17072" y="1193616"/>
                  <a:pt x="-1198" y="924225"/>
                  <a:pt x="0" y="808250"/>
                </a:cubicBezTo>
                <a:cubicBezTo>
                  <a:pt x="1198" y="692275"/>
                  <a:pt x="-15355" y="534842"/>
                  <a:pt x="0" y="265877"/>
                </a:cubicBezTo>
                <a:close/>
              </a:path>
            </a:pathLst>
          </a:custGeom>
          <a:noFill/>
          <a:ln>
            <a:solidFill>
              <a:schemeClr val="tx1"/>
            </a:solidFill>
            <a:extLst>
              <a:ext uri="{C807C97D-BFC1-408E-A445-0C87EB9F89A2}">
                <ask:lineSketchStyleProps xmlns:ask="http://schemas.microsoft.com/office/drawing/2018/sketchyshapes" sd="3301937790">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37">
            <a:extLst>
              <a:ext uri="{FF2B5EF4-FFF2-40B4-BE49-F238E27FC236}">
                <a16:creationId xmlns:a16="http://schemas.microsoft.com/office/drawing/2014/main" id="{0D075BB3-A653-CF02-0689-85830D7BC5F7}"/>
              </a:ext>
            </a:extLst>
          </p:cNvPr>
          <p:cNvSpPr/>
          <p:nvPr/>
        </p:nvSpPr>
        <p:spPr>
          <a:xfrm>
            <a:off x="5756173" y="4310037"/>
            <a:ext cx="1860250" cy="331540"/>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dirty="0" err="1">
                <a:solidFill>
                  <a:schemeClr val="tx1"/>
                </a:solidFill>
                <a:latin typeface="Consolas" panose="020B0609020204030204" pitchFamily="49" charset="0"/>
                <a:ea typeface="杨任东竹石体-Bold" panose="02000000000000000000" pitchFamily="2" charset="-122"/>
              </a:rPr>
              <a:t>FileReader</a:t>
            </a:r>
            <a:endParaRPr lang="zh-CN" altLang="en-US" dirty="0">
              <a:solidFill>
                <a:schemeClr val="tx1"/>
              </a:solidFill>
              <a:latin typeface="Consolas" panose="020B0609020204030204" pitchFamily="49" charset="0"/>
              <a:ea typeface="杨任东竹石体-Bold" panose="02000000000000000000" pitchFamily="2" charset="-122"/>
            </a:endParaRPr>
          </a:p>
        </p:txBody>
      </p:sp>
      <p:sp>
        <p:nvSpPr>
          <p:cNvPr id="39" name="矩形: 圆角 38">
            <a:extLst>
              <a:ext uri="{FF2B5EF4-FFF2-40B4-BE49-F238E27FC236}">
                <a16:creationId xmlns:a16="http://schemas.microsoft.com/office/drawing/2014/main" id="{0F718672-9F49-4704-7623-73F2CC6A10C1}"/>
              </a:ext>
            </a:extLst>
          </p:cNvPr>
          <p:cNvSpPr/>
          <p:nvPr/>
        </p:nvSpPr>
        <p:spPr>
          <a:xfrm>
            <a:off x="5756173" y="5216917"/>
            <a:ext cx="1860250" cy="331540"/>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dirty="0" err="1">
                <a:solidFill>
                  <a:schemeClr val="tx1"/>
                </a:solidFill>
                <a:latin typeface="Consolas" panose="020B0609020204030204" pitchFamily="49" charset="0"/>
                <a:ea typeface="杨任东竹石体-Bold" panose="02000000000000000000" pitchFamily="2" charset="-122"/>
              </a:rPr>
              <a:t>FileWriter</a:t>
            </a:r>
            <a:endParaRPr lang="zh-CN" altLang="en-US" dirty="0">
              <a:solidFill>
                <a:schemeClr val="tx1"/>
              </a:solidFill>
              <a:latin typeface="Consolas" panose="020B0609020204030204" pitchFamily="49" charset="0"/>
              <a:ea typeface="杨任东竹石体-Bold" panose="02000000000000000000" pitchFamily="2" charset="-122"/>
            </a:endParaRPr>
          </a:p>
        </p:txBody>
      </p:sp>
      <p:sp>
        <p:nvSpPr>
          <p:cNvPr id="40" name="文本框 39">
            <a:extLst>
              <a:ext uri="{FF2B5EF4-FFF2-40B4-BE49-F238E27FC236}">
                <a16:creationId xmlns:a16="http://schemas.microsoft.com/office/drawing/2014/main" id="{59EFFDBD-DAB9-F7EA-6F67-952EE02420C7}"/>
              </a:ext>
            </a:extLst>
          </p:cNvPr>
          <p:cNvSpPr txBox="1"/>
          <p:nvPr/>
        </p:nvSpPr>
        <p:spPr>
          <a:xfrm>
            <a:off x="6085533" y="4787107"/>
            <a:ext cx="1714453" cy="369332"/>
          </a:xfrm>
          <a:prstGeom prst="rect">
            <a:avLst/>
          </a:prstGeom>
          <a:noFill/>
          <a:ln>
            <a:noFill/>
          </a:ln>
        </p:spPr>
        <p:txBody>
          <a:bodyPr wrap="square" rtlCol="0">
            <a:spAutoFit/>
          </a:bodyPr>
          <a:lstStyle/>
          <a:p>
            <a:pPr algn="l"/>
            <a:r>
              <a:rPr lang="zh-CN" altLang="en-US" dirty="0">
                <a:solidFill>
                  <a:srgbClr val="C00000"/>
                </a:solidFill>
                <a:latin typeface="杨任东竹石体-Bold" panose="02000000000000000000" pitchFamily="2" charset="-122"/>
                <a:ea typeface="杨任东竹石体-Bold" panose="02000000000000000000" pitchFamily="2" charset="-122"/>
              </a:rPr>
              <a:t>抽象类的子类</a:t>
            </a:r>
            <a:endParaRPr kumimoji="0" lang="zh-CN" altLang="en-US" b="0" i="0" u="none" strike="noStrike" cap="none" normalizeH="0" baseline="0" dirty="0">
              <a:ln>
                <a:noFill/>
              </a:ln>
              <a:solidFill>
                <a:srgbClr val="C00000"/>
              </a:solidFill>
              <a:effectLst/>
              <a:latin typeface="杨任东竹石体-Bold" panose="02000000000000000000" pitchFamily="2" charset="-122"/>
              <a:ea typeface="杨任东竹石体-Bold" panose="02000000000000000000" pitchFamily="2" charset="-122"/>
            </a:endParaRPr>
          </a:p>
        </p:txBody>
      </p:sp>
      <p:sp>
        <p:nvSpPr>
          <p:cNvPr id="42" name="文本框 41">
            <a:extLst>
              <a:ext uri="{FF2B5EF4-FFF2-40B4-BE49-F238E27FC236}">
                <a16:creationId xmlns:a16="http://schemas.microsoft.com/office/drawing/2014/main" id="{922AF77A-3FEC-0EE8-D6AC-11A34E5DF302}"/>
              </a:ext>
            </a:extLst>
          </p:cNvPr>
          <p:cNvSpPr txBox="1"/>
          <p:nvPr/>
        </p:nvSpPr>
        <p:spPr>
          <a:xfrm>
            <a:off x="705092" y="2279118"/>
            <a:ext cx="958077" cy="369332"/>
          </a:xfrm>
          <a:prstGeom prst="rect">
            <a:avLst/>
          </a:prstGeom>
          <a:noFill/>
          <a:ln>
            <a:noFill/>
          </a:ln>
        </p:spPr>
        <p:txBody>
          <a:bodyPr wrap="square" rtlCol="0">
            <a:spAutoFit/>
          </a:bodyPr>
          <a:lstStyle/>
          <a:p>
            <a:pPr algn="l"/>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万能流</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43" name="文本框 42">
            <a:extLst>
              <a:ext uri="{FF2B5EF4-FFF2-40B4-BE49-F238E27FC236}">
                <a16:creationId xmlns:a16="http://schemas.microsoft.com/office/drawing/2014/main" id="{00CBC81D-25D7-74F3-5A0E-D77948C693C2}"/>
              </a:ext>
            </a:extLst>
          </p:cNvPr>
          <p:cNvSpPr txBox="1"/>
          <p:nvPr/>
        </p:nvSpPr>
        <p:spPr>
          <a:xfrm>
            <a:off x="447382" y="4241626"/>
            <a:ext cx="1462328" cy="369332"/>
          </a:xfrm>
          <a:prstGeom prst="rect">
            <a:avLst/>
          </a:prstGeom>
          <a:noFill/>
          <a:ln>
            <a:noFill/>
          </a:ln>
        </p:spPr>
        <p:txBody>
          <a:bodyPr wrap="square" rtlCol="0">
            <a:spAutoFit/>
          </a:bodyPr>
          <a:lstStyle/>
          <a:p>
            <a:pPr algn="l"/>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纯文本文件</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cxnSp>
        <p:nvCxnSpPr>
          <p:cNvPr id="46" name="直接连接符 45">
            <a:extLst>
              <a:ext uri="{FF2B5EF4-FFF2-40B4-BE49-F238E27FC236}">
                <a16:creationId xmlns:a16="http://schemas.microsoft.com/office/drawing/2014/main" id="{17085BC9-4E9A-4C43-BE04-7561B68A4A6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7CB51105-680D-4642-9A45-8EECD27F415B}"/>
              </a:ext>
            </a:extLst>
          </p:cNvPr>
          <p:cNvSpPr txBox="1"/>
          <p:nvPr/>
        </p:nvSpPr>
        <p:spPr>
          <a:xfrm>
            <a:off x="447382" y="222039"/>
            <a:ext cx="5702370" cy="58477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0" dirty="0">
                <a:ln>
                  <a:noFill/>
                </a:ln>
                <a:solidFill>
                  <a:srgbClr val="330066"/>
                </a:solidFill>
                <a:effectLst/>
                <a:uLnTx/>
                <a:uFillTx/>
                <a:latin typeface="Times New Roman" panose="02020603050405020304" pitchFamily="18" charset="0"/>
                <a:ea typeface="黑体" panose="02010609060101010101" pitchFamily="49" charset="-122"/>
                <a:cs typeface="Times New Roman" panose="02020603050405020304" pitchFamily="18" charset="0"/>
              </a:rPr>
              <a:t>6. 2 </a:t>
            </a:r>
            <a:r>
              <a:rPr kumimoji="0" lang="zh-CN" altLang="en-US" sz="3200" b="0" i="0" u="none" strike="noStrike" kern="0" cap="none" spc="0" normalizeH="0" baseline="0" noProof="0" dirty="0">
                <a:ln>
                  <a:noFill/>
                </a:ln>
                <a:solidFill>
                  <a:srgbClr val="330066"/>
                </a:solidFill>
                <a:effectLst/>
                <a:uLnTx/>
                <a:uFillTx/>
                <a:latin typeface="Times New Roman" panose="02020603050405020304" pitchFamily="18" charset="0"/>
                <a:ea typeface="黑体" panose="02010609060101010101" pitchFamily="49" charset="-122"/>
                <a:cs typeface="Times New Roman" panose="02020603050405020304" pitchFamily="18" charset="0"/>
              </a:rPr>
              <a:t>文件读写</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3"/>
                                        </p:tgtEl>
                                        <p:attrNameLst>
                                          <p:attrName>style.visibility</p:attrName>
                                        </p:attrNameLst>
                                      </p:cBhvr>
                                      <p:to>
                                        <p:strVal val="visible"/>
                                      </p:to>
                                    </p:set>
                                    <p:anim calcmode="lin" valueType="num">
                                      <p:cBhvr>
                                        <p:cTn id="14" dur="500" fill="hold"/>
                                        <p:tgtEl>
                                          <p:spTgt spid="43"/>
                                        </p:tgtEl>
                                        <p:attrNameLst>
                                          <p:attrName>ppt_w</p:attrName>
                                        </p:attrNameLst>
                                      </p:cBhvr>
                                      <p:tavLst>
                                        <p:tav tm="0">
                                          <p:val>
                                            <p:fltVal val="0"/>
                                          </p:val>
                                        </p:tav>
                                        <p:tav tm="100000">
                                          <p:val>
                                            <p:strVal val="#ppt_w"/>
                                          </p:val>
                                        </p:tav>
                                      </p:tavLst>
                                    </p:anim>
                                    <p:anim calcmode="lin" valueType="num">
                                      <p:cBhvr>
                                        <p:cTn id="15" dur="500" fill="hold"/>
                                        <p:tgtEl>
                                          <p:spTgt spid="43"/>
                                        </p:tgtEl>
                                        <p:attrNameLst>
                                          <p:attrName>ppt_h</p:attrName>
                                        </p:attrNameLst>
                                      </p:cBhvr>
                                      <p:tavLst>
                                        <p:tav tm="0">
                                          <p:val>
                                            <p:fltVal val="0"/>
                                          </p:val>
                                        </p:tav>
                                        <p:tav tm="100000">
                                          <p:val>
                                            <p:strVal val="#ppt_h"/>
                                          </p:val>
                                        </p:tav>
                                      </p:tavLst>
                                    </p:anim>
                                    <p:animEffect transition="in" filter="fade">
                                      <p:cBhvr>
                                        <p:cTn id="16" dur="5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randombar(horizontal)">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randombar(horizontal)">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heel(1)">
                                      <p:cBhvr>
                                        <p:cTn id="39" dur="1000"/>
                                        <p:tgtEl>
                                          <p:spTgt spid="16"/>
                                        </p:tgtEl>
                                      </p:cBhvr>
                                    </p:animEffect>
                                  </p:childTnLst>
                                </p:cTn>
                              </p:par>
                            </p:childTnLst>
                          </p:cTn>
                        </p:par>
                        <p:par>
                          <p:cTn id="40" fill="hold">
                            <p:stCondLst>
                              <p:cond delay="1000"/>
                            </p:stCondLst>
                            <p:childTnLst>
                              <p:par>
                                <p:cTn id="41" presetID="10" presetClass="entr" presetSubtype="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additive="base">
                                        <p:cTn id="48" dur="500"/>
                                        <p:tgtEl>
                                          <p:spTgt spid="22"/>
                                        </p:tgtEl>
                                        <p:attrNameLst>
                                          <p:attrName>ppt_x</p:attrName>
                                        </p:attrNameLst>
                                      </p:cBhvr>
                                      <p:tavLst>
                                        <p:tav tm="0">
                                          <p:val>
                                            <p:strVal val="#ppt_x-#ppt_w*1.125000"/>
                                          </p:val>
                                        </p:tav>
                                        <p:tav tm="100000">
                                          <p:val>
                                            <p:strVal val="#ppt_x"/>
                                          </p:val>
                                        </p:tav>
                                      </p:tavLst>
                                    </p:anim>
                                    <p:animEffect transition="in" filter="wipe(right)">
                                      <p:cBhvr>
                                        <p:cTn id="49" dur="500"/>
                                        <p:tgtEl>
                                          <p:spTgt spid="22"/>
                                        </p:tgtEl>
                                      </p:cBhvr>
                                    </p:animEffect>
                                  </p:childTnLst>
                                </p:cTn>
                              </p:par>
                              <p:par>
                                <p:cTn id="50" presetID="12" presetClass="entr" presetSubtype="8"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500"/>
                                        <p:tgtEl>
                                          <p:spTgt spid="23"/>
                                        </p:tgtEl>
                                        <p:attrNameLst>
                                          <p:attrName>ppt_x</p:attrName>
                                        </p:attrNameLst>
                                      </p:cBhvr>
                                      <p:tavLst>
                                        <p:tav tm="0">
                                          <p:val>
                                            <p:strVal val="#ppt_x-#ppt_w*1.125000"/>
                                          </p:val>
                                        </p:tav>
                                        <p:tav tm="100000">
                                          <p:val>
                                            <p:strVal val="#ppt_x"/>
                                          </p:val>
                                        </p:tav>
                                      </p:tavLst>
                                    </p:anim>
                                    <p:animEffect transition="in" filter="wipe(right)">
                                      <p:cBhvr>
                                        <p:cTn id="53" dur="500"/>
                                        <p:tgtEl>
                                          <p:spTgt spid="23"/>
                                        </p:tgtEl>
                                      </p:cBhvr>
                                    </p:animEffect>
                                  </p:childTnLst>
                                </p:cTn>
                              </p:par>
                              <p:par>
                                <p:cTn id="54" presetID="12" presetClass="entr" presetSubtype="8"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 calcmode="lin" valueType="num">
                                      <p:cBhvr additive="base">
                                        <p:cTn id="56" dur="500"/>
                                        <p:tgtEl>
                                          <p:spTgt spid="24"/>
                                        </p:tgtEl>
                                        <p:attrNameLst>
                                          <p:attrName>ppt_x</p:attrName>
                                        </p:attrNameLst>
                                      </p:cBhvr>
                                      <p:tavLst>
                                        <p:tav tm="0">
                                          <p:val>
                                            <p:strVal val="#ppt_x-#ppt_w*1.125000"/>
                                          </p:val>
                                        </p:tav>
                                        <p:tav tm="100000">
                                          <p:val>
                                            <p:strVal val="#ppt_x"/>
                                          </p:val>
                                        </p:tav>
                                      </p:tavLst>
                                    </p:anim>
                                    <p:animEffect transition="in" filter="wipe(right)">
                                      <p:cBhvr>
                                        <p:cTn id="57" dur="500"/>
                                        <p:tgtEl>
                                          <p:spTgt spid="24"/>
                                        </p:tgtEl>
                                      </p:cBhvr>
                                    </p:animEffect>
                                  </p:childTnLst>
                                </p:cTn>
                              </p:par>
                              <p:par>
                                <p:cTn id="58" presetID="12" presetClass="entr" presetSubtype="8"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 calcmode="lin" valueType="num">
                                      <p:cBhvr additive="base">
                                        <p:cTn id="60" dur="500"/>
                                        <p:tgtEl>
                                          <p:spTgt spid="25"/>
                                        </p:tgtEl>
                                        <p:attrNameLst>
                                          <p:attrName>ppt_x</p:attrName>
                                        </p:attrNameLst>
                                      </p:cBhvr>
                                      <p:tavLst>
                                        <p:tav tm="0">
                                          <p:val>
                                            <p:strVal val="#ppt_x-#ppt_w*1.125000"/>
                                          </p:val>
                                        </p:tav>
                                        <p:tav tm="100000">
                                          <p:val>
                                            <p:strVal val="#ppt_x"/>
                                          </p:val>
                                        </p:tav>
                                      </p:tavLst>
                                    </p:anim>
                                    <p:animEffect transition="in" filter="wipe(right)">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childTnLst>
                          </p:cTn>
                        </p:par>
                      </p:childTnLst>
                    </p:cTn>
                  </p:par>
                  <p:par>
                    <p:cTn id="70" fill="hold">
                      <p:stCondLst>
                        <p:cond delay="indefinite"/>
                      </p:stCondLst>
                      <p:childTnLst>
                        <p:par>
                          <p:cTn id="71" fill="hold">
                            <p:stCondLst>
                              <p:cond delay="0"/>
                            </p:stCondLst>
                            <p:childTnLst>
                              <p:par>
                                <p:cTn id="72" presetID="14" presetClass="entr" presetSubtype="10" fill="hold" grpId="0" nodeType="click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randombar(horizontal)">
                                      <p:cBhvr>
                                        <p:cTn id="74" dur="500"/>
                                        <p:tgtEl>
                                          <p:spTgt spid="29"/>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ntr" presetSubtype="1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randombar(horizontal)">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1" presetClass="entr" presetSubtype="1" fill="hold" grpId="0"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wheel(1)">
                                      <p:cBhvr>
                                        <p:cTn id="84" dur="1000"/>
                                        <p:tgtEl>
                                          <p:spTgt spid="26"/>
                                        </p:tgtEl>
                                      </p:cBhvr>
                                    </p:animEffect>
                                  </p:childTnLst>
                                </p:cTn>
                              </p:par>
                            </p:childTnLst>
                          </p:cTn>
                        </p:par>
                        <p:par>
                          <p:cTn id="85" fill="hold">
                            <p:stCondLst>
                              <p:cond delay="1000"/>
                            </p:stCondLst>
                            <p:childTnLst>
                              <p:par>
                                <p:cTn id="86" presetID="10" presetClass="entr" presetSubtype="0" fill="hold" grpId="0" nodeType="after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500"/>
                                        <p:tgtEl>
                                          <p:spTgt spid="31"/>
                                        </p:tgtEl>
                                      </p:cBhvr>
                                    </p:animEffect>
                                  </p:childTnLst>
                                </p:cTn>
                              </p:par>
                            </p:childTnLst>
                          </p:cTn>
                        </p:par>
                      </p:childTnLst>
                    </p:cTn>
                  </p:par>
                  <p:par>
                    <p:cTn id="89" fill="hold">
                      <p:stCondLst>
                        <p:cond delay="indefinite"/>
                      </p:stCondLst>
                      <p:childTnLst>
                        <p:par>
                          <p:cTn id="90" fill="hold">
                            <p:stCondLst>
                              <p:cond delay="0"/>
                            </p:stCondLst>
                            <p:childTnLst>
                              <p:par>
                                <p:cTn id="91" presetID="12" presetClass="entr" presetSubtype="8" fill="hold" grpId="0" nodeType="clickEffect">
                                  <p:stCondLst>
                                    <p:cond delay="0"/>
                                  </p:stCondLst>
                                  <p:childTnLst>
                                    <p:set>
                                      <p:cBhvr>
                                        <p:cTn id="92" dur="1" fill="hold">
                                          <p:stCondLst>
                                            <p:cond delay="0"/>
                                          </p:stCondLst>
                                        </p:cTn>
                                        <p:tgtEl>
                                          <p:spTgt spid="37"/>
                                        </p:tgtEl>
                                        <p:attrNameLst>
                                          <p:attrName>style.visibility</p:attrName>
                                        </p:attrNameLst>
                                      </p:cBhvr>
                                      <p:to>
                                        <p:strVal val="visible"/>
                                      </p:to>
                                    </p:set>
                                    <p:anim calcmode="lin" valueType="num">
                                      <p:cBhvr additive="base">
                                        <p:cTn id="93" dur="500"/>
                                        <p:tgtEl>
                                          <p:spTgt spid="37"/>
                                        </p:tgtEl>
                                        <p:attrNameLst>
                                          <p:attrName>ppt_x</p:attrName>
                                        </p:attrNameLst>
                                      </p:cBhvr>
                                      <p:tavLst>
                                        <p:tav tm="0">
                                          <p:val>
                                            <p:strVal val="#ppt_x-#ppt_w*1.125000"/>
                                          </p:val>
                                        </p:tav>
                                        <p:tav tm="100000">
                                          <p:val>
                                            <p:strVal val="#ppt_x"/>
                                          </p:val>
                                        </p:tav>
                                      </p:tavLst>
                                    </p:anim>
                                    <p:animEffect transition="in" filter="wipe(right)">
                                      <p:cBhvr>
                                        <p:cTn id="94" dur="500"/>
                                        <p:tgtEl>
                                          <p:spTgt spid="37"/>
                                        </p:tgtEl>
                                      </p:cBhvr>
                                    </p:animEffect>
                                  </p:childTnLst>
                                </p:cTn>
                              </p:par>
                              <p:par>
                                <p:cTn id="95" presetID="12" presetClass="entr" presetSubtype="8"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 calcmode="lin" valueType="num">
                                      <p:cBhvr additive="base">
                                        <p:cTn id="97" dur="500"/>
                                        <p:tgtEl>
                                          <p:spTgt spid="38"/>
                                        </p:tgtEl>
                                        <p:attrNameLst>
                                          <p:attrName>ppt_x</p:attrName>
                                        </p:attrNameLst>
                                      </p:cBhvr>
                                      <p:tavLst>
                                        <p:tav tm="0">
                                          <p:val>
                                            <p:strVal val="#ppt_x-#ppt_w*1.125000"/>
                                          </p:val>
                                        </p:tav>
                                        <p:tav tm="100000">
                                          <p:val>
                                            <p:strVal val="#ppt_x"/>
                                          </p:val>
                                        </p:tav>
                                      </p:tavLst>
                                    </p:anim>
                                    <p:animEffect transition="in" filter="wipe(right)">
                                      <p:cBhvr>
                                        <p:cTn id="98" dur="500"/>
                                        <p:tgtEl>
                                          <p:spTgt spid="38"/>
                                        </p:tgtEl>
                                      </p:cBhvr>
                                    </p:animEffect>
                                  </p:childTnLst>
                                </p:cTn>
                              </p:par>
                              <p:par>
                                <p:cTn id="99" presetID="12" presetClass="entr" presetSubtype="8" fill="hold" grpId="0" nodeType="withEffect">
                                  <p:stCondLst>
                                    <p:cond delay="0"/>
                                  </p:stCondLst>
                                  <p:childTnLst>
                                    <p:set>
                                      <p:cBhvr>
                                        <p:cTn id="100" dur="1" fill="hold">
                                          <p:stCondLst>
                                            <p:cond delay="0"/>
                                          </p:stCondLst>
                                        </p:cTn>
                                        <p:tgtEl>
                                          <p:spTgt spid="39"/>
                                        </p:tgtEl>
                                        <p:attrNameLst>
                                          <p:attrName>style.visibility</p:attrName>
                                        </p:attrNameLst>
                                      </p:cBhvr>
                                      <p:to>
                                        <p:strVal val="visible"/>
                                      </p:to>
                                    </p:set>
                                    <p:anim calcmode="lin" valueType="num">
                                      <p:cBhvr additive="base">
                                        <p:cTn id="101" dur="500"/>
                                        <p:tgtEl>
                                          <p:spTgt spid="39"/>
                                        </p:tgtEl>
                                        <p:attrNameLst>
                                          <p:attrName>ppt_x</p:attrName>
                                        </p:attrNameLst>
                                      </p:cBhvr>
                                      <p:tavLst>
                                        <p:tav tm="0">
                                          <p:val>
                                            <p:strVal val="#ppt_x-#ppt_w*1.125000"/>
                                          </p:val>
                                        </p:tav>
                                        <p:tav tm="100000">
                                          <p:val>
                                            <p:strVal val="#ppt_x"/>
                                          </p:val>
                                        </p:tav>
                                      </p:tavLst>
                                    </p:anim>
                                    <p:animEffect transition="in" filter="wipe(right)">
                                      <p:cBhvr>
                                        <p:cTn id="102" dur="500"/>
                                        <p:tgtEl>
                                          <p:spTgt spid="39"/>
                                        </p:tgtEl>
                                      </p:cBhvr>
                                    </p:animEffect>
                                  </p:childTnLst>
                                </p:cTn>
                              </p:par>
                              <p:par>
                                <p:cTn id="103" presetID="12" presetClass="entr" presetSubtype="8"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 calcmode="lin" valueType="num">
                                      <p:cBhvr additive="base">
                                        <p:cTn id="105" dur="500"/>
                                        <p:tgtEl>
                                          <p:spTgt spid="40"/>
                                        </p:tgtEl>
                                        <p:attrNameLst>
                                          <p:attrName>ppt_x</p:attrName>
                                        </p:attrNameLst>
                                      </p:cBhvr>
                                      <p:tavLst>
                                        <p:tav tm="0">
                                          <p:val>
                                            <p:strVal val="#ppt_x-#ppt_w*1.125000"/>
                                          </p:val>
                                        </p:tav>
                                        <p:tav tm="100000">
                                          <p:val>
                                            <p:strVal val="#ppt_x"/>
                                          </p:val>
                                        </p:tav>
                                      </p:tavLst>
                                    </p:anim>
                                    <p:animEffect transition="in" filter="wipe(right)">
                                      <p:cBhvr>
                                        <p:cTn id="10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6" grpId="0" animBg="1"/>
      <p:bldP spid="17" grpId="0"/>
      <p:bldP spid="19" grpId="0"/>
      <p:bldP spid="21" grpId="0"/>
      <p:bldP spid="22" grpId="0" animBg="1"/>
      <p:bldP spid="23" grpId="0" animBg="1"/>
      <p:bldP spid="24" grpId="0" animBg="1"/>
      <p:bldP spid="25" grpId="0"/>
      <p:bldP spid="26" grpId="0" animBg="1"/>
      <p:bldP spid="27" grpId="0" animBg="1"/>
      <p:bldP spid="28" grpId="0" animBg="1"/>
      <p:bldP spid="29" grpId="0"/>
      <p:bldP spid="30" grpId="0"/>
      <p:bldP spid="31" grpId="0"/>
      <p:bldP spid="37" grpId="0" animBg="1"/>
      <p:bldP spid="38" grpId="0" animBg="1"/>
      <p:bldP spid="39" grpId="0" animBg="1"/>
      <p:bldP spid="40" grpId="0"/>
      <p:bldP spid="42" grpId="0"/>
      <p:bldP spid="4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p>
        </p:txBody>
      </p:sp>
      <p:sp>
        <p:nvSpPr>
          <p:cNvPr id="90115" name="内容占位符 2"/>
          <p:cNvSpPr>
            <a:spLocks noGrp="1"/>
          </p:cNvSpPr>
          <p:nvPr>
            <p:ph idx="1"/>
          </p:nvPr>
        </p:nvSpPr>
        <p:spPr/>
        <p:txBody>
          <a:bodyPr/>
          <a:lstStyle/>
          <a:p>
            <a:pPr>
              <a:lnSpc>
                <a:spcPct val="90000"/>
              </a:lnSpc>
            </a:pPr>
            <a:r>
              <a:rPr lang="zh-CN" altLang="en-GB" b="0" dirty="0">
                <a:latin typeface="Times New Roman" panose="02020603050405020304" pitchFamily="18" charset="0"/>
                <a:ea typeface="黑体" panose="02010609060101010101" pitchFamily="49" charset="-122"/>
                <a:cs typeface="Times New Roman" panose="02020603050405020304" pitchFamily="18" charset="0"/>
              </a:rPr>
              <a:t>本节知识点</a:t>
            </a:r>
          </a:p>
          <a:p>
            <a:pPr lvl="1">
              <a:lnSpc>
                <a:spcPct val="90000"/>
              </a:lnSpc>
            </a:pPr>
            <a:r>
              <a:rPr lang="zh-CN" altLang="en-GB" b="0" dirty="0">
                <a:ea typeface="黑体" panose="02010609060101010101" pitchFamily="49" charset="-122"/>
                <a:cs typeface="Times New Roman" panose="02020603050405020304" pitchFamily="18" charset="0"/>
              </a:rPr>
              <a:t>二进制文件 </a:t>
            </a:r>
          </a:p>
          <a:p>
            <a:pPr lvl="1">
              <a:lnSpc>
                <a:spcPct val="90000"/>
              </a:lnSpc>
            </a:pPr>
            <a:r>
              <a:rPr lang="en-GB" altLang="zh-CN" b="0" dirty="0" err="1">
                <a:ea typeface="黑体" panose="02010609060101010101" pitchFamily="49" charset="-122"/>
                <a:cs typeface="Times New Roman" panose="02020603050405020304" pitchFamily="18" charset="0"/>
              </a:rPr>
              <a:t>OutputStream</a:t>
            </a:r>
            <a:r>
              <a:rPr lang="en-GB" altLang="zh-CN" b="0" dirty="0">
                <a:ea typeface="黑体" panose="02010609060101010101" pitchFamily="49" charset="-122"/>
                <a:cs typeface="Times New Roman" panose="02020603050405020304" pitchFamily="18" charset="0"/>
              </a:rPr>
              <a:t> </a:t>
            </a:r>
          </a:p>
          <a:p>
            <a:pPr lvl="1">
              <a:lnSpc>
                <a:spcPct val="90000"/>
              </a:lnSpc>
            </a:pPr>
            <a:r>
              <a:rPr lang="en-GB" altLang="zh-CN" b="0" dirty="0" err="1">
                <a:ea typeface="黑体" panose="02010609060101010101" pitchFamily="49" charset="-122"/>
                <a:cs typeface="Times New Roman" panose="02020603050405020304" pitchFamily="18" charset="0"/>
              </a:rPr>
              <a:t>FileOutputStream</a:t>
            </a:r>
            <a:r>
              <a:rPr lang="en-GB" altLang="zh-CN" b="0" dirty="0">
                <a:ea typeface="黑体" panose="02010609060101010101" pitchFamily="49" charset="-122"/>
                <a:cs typeface="Times New Roman" panose="02020603050405020304" pitchFamily="18" charset="0"/>
              </a:rPr>
              <a:t> </a:t>
            </a:r>
          </a:p>
          <a:p>
            <a:pPr lvl="1">
              <a:lnSpc>
                <a:spcPct val="90000"/>
              </a:lnSpc>
            </a:pPr>
            <a:r>
              <a:rPr lang="en-GB" altLang="zh-CN" b="0" dirty="0" err="1">
                <a:ea typeface="黑体" panose="02010609060101010101" pitchFamily="49" charset="-122"/>
                <a:cs typeface="Times New Roman" panose="02020603050405020304" pitchFamily="18" charset="0"/>
              </a:rPr>
              <a:t>BufferedOutputStream</a:t>
            </a:r>
            <a:r>
              <a:rPr lang="en-GB" altLang="zh-CN" b="0" dirty="0">
                <a:ea typeface="黑体" panose="02010609060101010101" pitchFamily="49" charset="-122"/>
                <a:cs typeface="Times New Roman" panose="02020603050405020304" pitchFamily="18" charset="0"/>
              </a:rPr>
              <a:t> </a:t>
            </a:r>
          </a:p>
          <a:p>
            <a:pPr lvl="1">
              <a:lnSpc>
                <a:spcPct val="90000"/>
              </a:lnSpc>
            </a:pPr>
            <a:r>
              <a:rPr lang="en-GB" altLang="zh-CN" b="0" dirty="0" err="1">
                <a:ea typeface="黑体" panose="02010609060101010101" pitchFamily="49" charset="-122"/>
                <a:cs typeface="Times New Roman" panose="02020603050405020304" pitchFamily="18" charset="0"/>
              </a:rPr>
              <a:t>DataOutputStream</a:t>
            </a:r>
            <a:r>
              <a:rPr lang="en-GB" altLang="zh-CN" b="0" dirty="0">
                <a:ea typeface="黑体" panose="02010609060101010101" pitchFamily="49" charset="-122"/>
                <a:cs typeface="Times New Roman" panose="02020603050405020304" pitchFamily="18" charset="0"/>
              </a:rPr>
              <a:t> </a:t>
            </a:r>
          </a:p>
          <a:p>
            <a:pPr lvl="2">
              <a:lnSpc>
                <a:spcPct val="90000"/>
              </a:lnSpc>
            </a:pPr>
            <a:r>
              <a:rPr lang="en-GB" altLang="zh-CN" sz="2400" dirty="0" err="1">
                <a:latin typeface="Times New Roman" panose="02020603050405020304" pitchFamily="18" charset="0"/>
                <a:ea typeface="黑体" panose="02010609060101010101" pitchFamily="49" charset="-122"/>
                <a:cs typeface="Times New Roman" panose="02020603050405020304" pitchFamily="18" charset="0"/>
              </a:rPr>
              <a:t>writeInt</a:t>
            </a: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a:t>
            </a:r>
          </a:p>
          <a:p>
            <a:pPr lvl="2">
              <a:lnSpc>
                <a:spcPct val="90000"/>
              </a:lnSpc>
            </a:pPr>
            <a:r>
              <a:rPr lang="en-GB" altLang="zh-CN" sz="2400" dirty="0" err="1">
                <a:latin typeface="Times New Roman" panose="02020603050405020304" pitchFamily="18" charset="0"/>
                <a:ea typeface="黑体" panose="02010609060101010101" pitchFamily="49" charset="-122"/>
                <a:cs typeface="Times New Roman" panose="02020603050405020304" pitchFamily="18" charset="0"/>
              </a:rPr>
              <a:t>writeDouble</a:t>
            </a: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a:t>
            </a:r>
          </a:p>
          <a:p>
            <a:pPr lvl="2">
              <a:lnSpc>
                <a:spcPct val="90000"/>
              </a:lnSpc>
            </a:pPr>
            <a:r>
              <a:rPr lang="en-GB" altLang="zh-CN" sz="2400" dirty="0" err="1">
                <a:latin typeface="Times New Roman" panose="02020603050405020304" pitchFamily="18" charset="0"/>
                <a:ea typeface="黑体" panose="02010609060101010101" pitchFamily="49" charset="-122"/>
                <a:cs typeface="Times New Roman" panose="02020603050405020304" pitchFamily="18" charset="0"/>
              </a:rPr>
              <a:t>writeBytes</a:t>
            </a: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B2D6BBAC-0AB5-4EE4-BC88-37884A376F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346270"/>
            <a:ext cx="8617393" cy="35117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72E4512C-68C9-4D48-977F-262352E3124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362"/>
          <a:stretch/>
        </p:blipFill>
        <p:spPr bwMode="auto">
          <a:xfrm>
            <a:off x="0" y="1654747"/>
            <a:ext cx="8604448" cy="3405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1280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cs typeface="Times New Roman" panose="02020603050405020304" pitchFamily="18" charset="0"/>
            </a:endParaRPr>
          </a:p>
        </p:txBody>
      </p:sp>
      <p:sp>
        <p:nvSpPr>
          <p:cNvPr id="91139"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二进制文件</a:t>
            </a:r>
          </a:p>
          <a:p>
            <a:pPr lvl="1"/>
            <a:r>
              <a:rPr lang="zh-CN" altLang="en-US" b="0" dirty="0">
                <a:ea typeface="黑体" panose="02010609060101010101" pitchFamily="49" charset="-122"/>
                <a:cs typeface="Times New Roman" panose="02020603050405020304" pitchFamily="18" charset="0"/>
              </a:rPr>
              <a:t>原则上讲，所有文件都是由8位的字节组成的</a:t>
            </a:r>
          </a:p>
          <a:p>
            <a:pPr lvl="1"/>
            <a:r>
              <a:rPr lang="zh-CN" altLang="en-US" b="0" dirty="0">
                <a:ea typeface="黑体" panose="02010609060101010101" pitchFamily="49" charset="-122"/>
                <a:cs typeface="Times New Roman" panose="02020603050405020304" pitchFamily="18" charset="0"/>
              </a:rPr>
              <a:t>如果文件字节中的内容应被解释为字符，则文件被称为文本文件；</a:t>
            </a:r>
            <a:endParaRPr lang="en-US" altLang="zh-CN" b="0" dirty="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如果被解释为其它含义，则文件被称为二进制文件</a:t>
            </a:r>
          </a:p>
          <a:p>
            <a:pPr lvl="1"/>
            <a:r>
              <a:rPr lang="zh-CN" altLang="en-US" b="0" dirty="0">
                <a:ea typeface="黑体" panose="02010609060101010101" pitchFamily="49" charset="-122"/>
                <a:cs typeface="Times New Roman" panose="02020603050405020304" pitchFamily="18" charset="0"/>
              </a:rPr>
              <a:t>例如文字处理程序，例如字处理软件</a:t>
            </a:r>
            <a:r>
              <a:rPr lang="en-US" altLang="zh-CN" b="0" dirty="0">
                <a:ea typeface="黑体" panose="02010609060101010101" pitchFamily="49" charset="-122"/>
                <a:cs typeface="Times New Roman" panose="02020603050405020304" pitchFamily="18" charset="0"/>
              </a:rPr>
              <a:t>Word</a:t>
            </a:r>
            <a:r>
              <a:rPr lang="zh-CN" altLang="en-US" b="0" dirty="0">
                <a:ea typeface="黑体" panose="02010609060101010101" pitchFamily="49" charset="-122"/>
                <a:cs typeface="Times New Roman" panose="02020603050405020304" pitchFamily="18" charset="0"/>
              </a:rPr>
              <a:t>产生的</a:t>
            </a:r>
            <a:r>
              <a:rPr lang="en-US" altLang="zh-CN" b="0" dirty="0">
                <a:ea typeface="黑体" panose="02010609060101010101" pitchFamily="49" charset="-122"/>
                <a:cs typeface="Times New Roman" panose="02020603050405020304" pitchFamily="18" charset="0"/>
              </a:rPr>
              <a:t>doc</a:t>
            </a:r>
            <a:r>
              <a:rPr lang="zh-CN" altLang="en-US" b="0" dirty="0">
                <a:ea typeface="黑体" panose="02010609060101010101" pitchFamily="49" charset="-122"/>
                <a:cs typeface="Times New Roman" panose="02020603050405020304" pitchFamily="18" charset="0"/>
              </a:rPr>
              <a:t>文件中，数据要被解释为字体、格式、图形和其他非字符信息。因此，这样的文件是二进制文件，不能用</a:t>
            </a:r>
            <a:r>
              <a:rPr lang="en-US" altLang="zh-CN" b="0" dirty="0">
                <a:ea typeface="黑体" panose="02010609060101010101" pitchFamily="49" charset="-122"/>
                <a:cs typeface="Times New Roman" panose="02020603050405020304" pitchFamily="18" charset="0"/>
              </a:rPr>
              <a:t>Reader</a:t>
            </a:r>
            <a:r>
              <a:rPr lang="zh-CN" altLang="en-US" b="0" dirty="0">
                <a:ea typeface="黑体" panose="02010609060101010101" pitchFamily="49" charset="-122"/>
                <a:cs typeface="Times New Roman" panose="02020603050405020304" pitchFamily="18" charset="0"/>
              </a:rPr>
              <a:t>流正确读取。</a:t>
            </a:r>
          </a:p>
          <a:p>
            <a:pPr>
              <a:lnSpc>
                <a:spcPct val="12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为什么需要二进制文件</a:t>
            </a:r>
          </a:p>
          <a:p>
            <a:pPr lvl="1"/>
            <a:r>
              <a:rPr lang="zh-CN" altLang="en-US" b="0" dirty="0">
                <a:ea typeface="黑体" panose="02010609060101010101" pitchFamily="49" charset="-122"/>
                <a:cs typeface="Times New Roman" panose="02020603050405020304" pitchFamily="18" charset="0"/>
              </a:rPr>
              <a:t>输入输出更快</a:t>
            </a:r>
          </a:p>
          <a:p>
            <a:pPr lvl="1"/>
            <a:r>
              <a:rPr lang="zh-CN" altLang="en-US" b="0" dirty="0">
                <a:ea typeface="黑体" panose="02010609060101010101" pitchFamily="49" charset="-122"/>
                <a:cs typeface="Times New Roman" panose="02020603050405020304" pitchFamily="18" charset="0"/>
              </a:rPr>
              <a:t>比文本文件小很多</a:t>
            </a:r>
          </a:p>
          <a:p>
            <a:pPr lvl="1"/>
            <a:r>
              <a:rPr lang="zh-CN" altLang="en-US" b="0" dirty="0">
                <a:ea typeface="黑体" panose="02010609060101010101" pitchFamily="49" charset="-122"/>
                <a:cs typeface="Times New Roman" panose="02020603050405020304" pitchFamily="18" charset="0"/>
              </a:rPr>
              <a:t>有些数据不容易被表示为字符</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cs typeface="Times New Roman" panose="02020603050405020304" pitchFamily="18" charset="0"/>
            </a:endParaRPr>
          </a:p>
        </p:txBody>
      </p:sp>
      <p:sp>
        <p:nvSpPr>
          <p:cNvPr id="92163" name="内容占位符 2"/>
          <p:cNvSpPr>
            <a:spLocks noGrp="1"/>
          </p:cNvSpPr>
          <p:nvPr>
            <p:ph idx="1"/>
          </p:nvPr>
        </p:nvSpPr>
        <p:spPr/>
        <p:txBody>
          <a:bodyPr/>
          <a:lstStyle/>
          <a:p>
            <a:pPr>
              <a:lnSpc>
                <a:spcPct val="9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抽象类</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OutputStream</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90000"/>
              </a:lnSpc>
            </a:pPr>
            <a:r>
              <a:rPr lang="zh-CN" altLang="en-US" b="0" dirty="0">
                <a:solidFill>
                  <a:srgbClr val="0000FF"/>
                </a:solidFill>
                <a:ea typeface="黑体" panose="02010609060101010101" pitchFamily="49" charset="-122"/>
                <a:cs typeface="Times New Roman" panose="02020603050405020304" pitchFamily="18" charset="0"/>
              </a:rPr>
              <a:t>派生类</a:t>
            </a:r>
            <a:r>
              <a:rPr lang="en-US" altLang="zh-CN" b="0" dirty="0" err="1">
                <a:solidFill>
                  <a:srgbClr val="0000FF"/>
                </a:solidFill>
                <a:ea typeface="黑体" panose="02010609060101010101" pitchFamily="49" charset="-122"/>
                <a:cs typeface="Times New Roman" panose="02020603050405020304" pitchFamily="18" charset="0"/>
              </a:rPr>
              <a:t>FileOutputStream</a:t>
            </a:r>
            <a:endParaRPr lang="zh-CN" altLang="en-US" b="0" dirty="0">
              <a:solidFill>
                <a:srgbClr val="0000FF"/>
              </a:solidFill>
              <a:ea typeface="黑体" panose="02010609060101010101" pitchFamily="49" charset="-122"/>
              <a:cs typeface="Times New Roman" panose="02020603050405020304" pitchFamily="18" charset="0"/>
            </a:endParaRPr>
          </a:p>
          <a:p>
            <a:pPr lvl="2">
              <a:lnSpc>
                <a:spcPct val="9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用于一般目的输出（非字符输出）</a:t>
            </a:r>
          </a:p>
          <a:p>
            <a:pPr lvl="2">
              <a:lnSpc>
                <a:spcPct val="9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用于成组字节输出</a:t>
            </a:r>
          </a:p>
          <a:p>
            <a:pPr lvl="1">
              <a:lnSpc>
                <a:spcPct val="90000"/>
              </a:lnSpc>
            </a:pPr>
            <a:r>
              <a:rPr lang="zh-CN" altLang="en-US" b="0" dirty="0">
                <a:solidFill>
                  <a:srgbClr val="0000FF"/>
                </a:solidFill>
                <a:ea typeface="黑体" panose="02010609060101010101" pitchFamily="49" charset="-122"/>
                <a:cs typeface="Times New Roman" panose="02020603050405020304" pitchFamily="18" charset="0"/>
              </a:rPr>
              <a:t>派生类</a:t>
            </a:r>
            <a:r>
              <a:rPr lang="en-US" altLang="zh-CN" b="0" dirty="0" err="1">
                <a:solidFill>
                  <a:srgbClr val="0000FF"/>
                </a:solidFill>
                <a:ea typeface="黑体" panose="02010609060101010101" pitchFamily="49" charset="-122"/>
                <a:cs typeface="Times New Roman" panose="02020603050405020304" pitchFamily="18" charset="0"/>
              </a:rPr>
              <a:t>DataOutputStream</a:t>
            </a:r>
            <a:endParaRPr lang="zh-CN" altLang="en-US" b="0" dirty="0">
              <a:solidFill>
                <a:srgbClr val="0000FF"/>
              </a:solidFill>
              <a:ea typeface="黑体" panose="02010609060101010101" pitchFamily="49" charset="-122"/>
              <a:cs typeface="Times New Roman" panose="02020603050405020304" pitchFamily="18" charset="0"/>
            </a:endParaRPr>
          </a:p>
          <a:p>
            <a:pPr lvl="2">
              <a:lnSpc>
                <a:spcPct val="9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具有写各种基本数据类型的方法</a:t>
            </a:r>
          </a:p>
          <a:p>
            <a:pPr lvl="2">
              <a:lnSpc>
                <a:spcPct val="9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将数据写到另一个输出流</a:t>
            </a:r>
          </a:p>
          <a:p>
            <a:pPr lvl="2">
              <a:lnSpc>
                <a:spcPct val="9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它在所有的计算机平台上使用同样的数据格式</a:t>
            </a:r>
          </a:p>
          <a:p>
            <a:pPr lvl="2">
              <a:lnSpc>
                <a:spcPct val="9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size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方法，可作为计数器，统计写入的字节数</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cs typeface="Times New Roman" panose="02020603050405020304" pitchFamily="18" charset="0"/>
            </a:endParaRPr>
          </a:p>
        </p:txBody>
      </p:sp>
      <p:sp>
        <p:nvSpPr>
          <p:cNvPr id="95235" name="内容占位符 2"/>
          <p:cNvSpPr>
            <a:spLocks noGrp="1"/>
          </p:cNvSpPr>
          <p:nvPr>
            <p:ph idx="1"/>
          </p:nvPr>
        </p:nvSpPr>
        <p:spPr/>
        <p:txBody>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将三个</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int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型数字255/0/－1写入数据文件</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data1.dat</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5236" name="Rectangle 3"/>
          <p:cNvSpPr txBox="1">
            <a:spLocks noChangeArrowheads="1"/>
          </p:cNvSpPr>
          <p:nvPr/>
        </p:nvSpPr>
        <p:spPr bwMode="auto">
          <a:xfrm>
            <a:off x="395288" y="1484313"/>
            <a:ext cx="8353425" cy="525780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a:t>
            </a:r>
            <a:r>
              <a:rPr lang="en-US" altLang="zh-CN" sz="2000" b="1" dirty="0" err="1">
                <a:latin typeface="Times New Roman" panose="02020603050405020304" pitchFamily="18" charset="0"/>
                <a:cs typeface="Times New Roman" panose="02020603050405020304" pitchFamily="18" charset="0"/>
              </a:rPr>
              <a:t>WriteByteFileEx</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 ( 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“f://test//data1.dat"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int value0  = 255, value1  = 0, value2 = -1;</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try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DataOutputStream</a:t>
            </a:r>
            <a:r>
              <a:rPr lang="en-US" altLang="zh-CN" sz="2000" b="1" dirty="0">
                <a:solidFill>
                  <a:srgbClr val="0000FF"/>
                </a:solidFill>
                <a:latin typeface="Times New Roman" panose="02020603050405020304" pitchFamily="18" charset="0"/>
                <a:cs typeface="Times New Roman" panose="02020603050405020304" pitchFamily="18" charset="0"/>
              </a:rPr>
              <a:t> out = new </a:t>
            </a:r>
            <a:r>
              <a:rPr lang="en-US" altLang="zh-CN" sz="2000" b="1" dirty="0" err="1">
                <a:solidFill>
                  <a:srgbClr val="0000FF"/>
                </a:solidFill>
                <a:latin typeface="Times New Roman" panose="02020603050405020304" pitchFamily="18" charset="0"/>
                <a:cs typeface="Times New Roman" panose="02020603050405020304" pitchFamily="18" charset="0"/>
              </a:rPr>
              <a:t>DataOutputStream</a:t>
            </a:r>
            <a:r>
              <a:rPr lang="en-US" altLang="zh-CN" sz="2000" b="1"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new </a:t>
            </a:r>
            <a:r>
              <a:rPr lang="en-US" altLang="zh-CN" sz="2000" b="1" dirty="0" err="1">
                <a:solidFill>
                  <a:srgbClr val="0000FF"/>
                </a:solidFill>
                <a:latin typeface="Times New Roman" panose="02020603050405020304" pitchFamily="18" charset="0"/>
                <a:cs typeface="Times New Roman" panose="02020603050405020304" pitchFamily="18" charset="0"/>
              </a:rPr>
              <a:t>FileOutputStream</a:t>
            </a: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fileName</a:t>
            </a:r>
            <a:r>
              <a:rPr lang="en-US" altLang="zh-CN" sz="2000" b="1" dirty="0">
                <a:solidFill>
                  <a:srgbClr val="0000FF"/>
                </a:solidFill>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a:t>
            </a:r>
            <a:r>
              <a:rPr lang="en-US" altLang="zh-CN" sz="2000" b="1" dirty="0" err="1">
                <a:solidFill>
                  <a:srgbClr val="FF0000"/>
                </a:solidFill>
                <a:latin typeface="Times New Roman" panose="02020603050405020304" pitchFamily="18" charset="0"/>
                <a:cs typeface="Times New Roman" panose="02020603050405020304" pitchFamily="18" charset="0"/>
              </a:rPr>
              <a:t>writeInt</a:t>
            </a:r>
            <a:r>
              <a:rPr lang="en-US" altLang="zh-CN" sz="2000" b="1" dirty="0">
                <a:latin typeface="Times New Roman" panose="02020603050405020304" pitchFamily="18" charset="0"/>
                <a:cs typeface="Times New Roman" panose="02020603050405020304" pitchFamily="18" charset="0"/>
              </a:rPr>
              <a:t>( value0 );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a:t>
            </a:r>
            <a:r>
              <a:rPr lang="en-US" altLang="zh-CN" sz="2000" b="1" dirty="0" err="1">
                <a:solidFill>
                  <a:srgbClr val="FF0000"/>
                </a:solidFill>
                <a:latin typeface="Times New Roman" panose="02020603050405020304" pitchFamily="18" charset="0"/>
                <a:cs typeface="Times New Roman" panose="02020603050405020304" pitchFamily="18" charset="0"/>
              </a:rPr>
              <a:t>writeInt</a:t>
            </a:r>
            <a:r>
              <a:rPr lang="en-US" altLang="zh-CN" sz="2000" b="1" dirty="0">
                <a:latin typeface="Times New Roman" panose="02020603050405020304" pitchFamily="18" charset="0"/>
                <a:cs typeface="Times New Roman" panose="02020603050405020304" pitchFamily="18" charset="0"/>
              </a:rPr>
              <a:t>( value1 );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a:t>
            </a:r>
            <a:r>
              <a:rPr lang="en-US" altLang="zh-CN" sz="2000" b="1" dirty="0" err="1">
                <a:solidFill>
                  <a:srgbClr val="FF0000"/>
                </a:solidFill>
                <a:latin typeface="Times New Roman" panose="02020603050405020304" pitchFamily="18" charset="0"/>
                <a:cs typeface="Times New Roman" panose="02020603050405020304" pitchFamily="18" charset="0"/>
              </a:rPr>
              <a:t>writeInt</a:t>
            </a:r>
            <a:r>
              <a:rPr lang="en-US" altLang="zh-CN" sz="2000" b="1" dirty="0">
                <a:latin typeface="Times New Roman" panose="02020603050405020304" pitchFamily="18" charset="0"/>
                <a:cs typeface="Times New Roman" panose="02020603050405020304" pitchFamily="18" charset="0"/>
              </a:rPr>
              <a:t>( value2 );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out.close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catch (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iox</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("Problem writing " +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cs typeface="Times New Roman" panose="02020603050405020304" pitchFamily="18" charset="0"/>
            </a:endParaRPr>
          </a:p>
        </p:txBody>
      </p:sp>
      <p:sp>
        <p:nvSpPr>
          <p:cNvPr id="95235" name="内容占位符 2"/>
          <p:cNvSpPr>
            <a:spLocks noGrp="1"/>
          </p:cNvSpPr>
          <p:nvPr>
            <p:ph idx="1"/>
          </p:nvPr>
        </p:nvSpPr>
        <p:spPr/>
        <p:txBody>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将三个</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int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型数字255/0/－1写入数据文件</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data1.dat</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5236" name="Rectangle 3"/>
          <p:cNvSpPr txBox="1">
            <a:spLocks noChangeArrowheads="1"/>
          </p:cNvSpPr>
          <p:nvPr/>
        </p:nvSpPr>
        <p:spPr bwMode="auto">
          <a:xfrm>
            <a:off x="33552" y="88503"/>
            <a:ext cx="9145264" cy="676949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class </a:t>
            </a:r>
            <a:r>
              <a:rPr lang="en-US" altLang="zh-CN" sz="1500" b="1" dirty="0" err="1">
                <a:latin typeface="Courier New" panose="02070309020205020404" pitchFamily="49" charset="0"/>
                <a:cs typeface="Courier New" panose="02070309020205020404" pitchFamily="49" charset="0"/>
              </a:rPr>
              <a:t>WriteByteFileEx</a:t>
            </a:r>
            <a:r>
              <a:rPr lang="en-US" altLang="zh-CN" sz="1500"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public static void main ( String[] </a:t>
            </a:r>
            <a:r>
              <a:rPr lang="en-US" altLang="zh-CN" sz="1500" b="1" dirty="0" err="1">
                <a:latin typeface="Courier New" panose="02070309020205020404" pitchFamily="49" charset="0"/>
                <a:cs typeface="Courier New" panose="02070309020205020404" pitchFamily="49" charset="0"/>
              </a:rPr>
              <a:t>args</a:t>
            </a:r>
            <a:r>
              <a:rPr lang="en-US" altLang="zh-CN" sz="1500" b="1" dirty="0">
                <a:latin typeface="Courier New" panose="02070309020205020404" pitchFamily="49" charset="0"/>
                <a:cs typeface="Courier New" panose="02070309020205020404" pitchFamily="49" charset="0"/>
              </a:rPr>
              <a:t> )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a:solidFill>
                  <a:srgbClr val="00B0F0"/>
                </a:solidFill>
                <a:latin typeface="Courier New" panose="02070309020205020404" pitchFamily="49" charset="0"/>
                <a:cs typeface="Courier New" panose="02070309020205020404" pitchFamily="49" charset="0"/>
              </a:rPr>
              <a:t>String </a:t>
            </a:r>
            <a:r>
              <a:rPr lang="en-US" altLang="zh-CN" sz="1500" b="1" dirty="0" err="1">
                <a:solidFill>
                  <a:srgbClr val="00B0F0"/>
                </a:solidFill>
                <a:latin typeface="Courier New" panose="02070309020205020404" pitchFamily="49" charset="0"/>
                <a:cs typeface="Courier New" panose="02070309020205020404" pitchFamily="49" charset="0"/>
              </a:rPr>
              <a:t>fileName</a:t>
            </a:r>
            <a:r>
              <a:rPr lang="en-US" altLang="zh-CN" sz="1500" b="1" dirty="0">
                <a:solidFill>
                  <a:srgbClr val="00B0F0"/>
                </a:solidFill>
                <a:latin typeface="Courier New" panose="02070309020205020404" pitchFamily="49" charset="0"/>
                <a:cs typeface="Courier New" panose="02070309020205020404" pitchFamily="49" charset="0"/>
              </a:rPr>
              <a:t> = "f://test//data1.dat" ;</a:t>
            </a:r>
          </a:p>
          <a:p>
            <a:pPr marL="0" lvl="1">
              <a:buClr>
                <a:schemeClr val="accent2"/>
              </a:buClr>
              <a:buSzPct val="70000"/>
            </a:pPr>
            <a:r>
              <a:rPr lang="en-US" altLang="zh-CN" sz="1500" b="1" dirty="0">
                <a:solidFill>
                  <a:srgbClr val="00B0F0"/>
                </a:solidFill>
                <a:latin typeface="Courier New" panose="02070309020205020404" pitchFamily="49" charset="0"/>
                <a:cs typeface="Courier New" panose="02070309020205020404" pitchFamily="49" charset="0"/>
              </a:rPr>
              <a:t>        File </a:t>
            </a:r>
            <a:r>
              <a:rPr lang="en-US" altLang="zh-CN" sz="1500" b="1" dirty="0" err="1">
                <a:solidFill>
                  <a:srgbClr val="00B0F0"/>
                </a:solidFill>
                <a:latin typeface="Courier New" panose="02070309020205020404" pitchFamily="49" charset="0"/>
                <a:cs typeface="Courier New" panose="02070309020205020404" pitchFamily="49" charset="0"/>
              </a:rPr>
              <a:t>file</a:t>
            </a:r>
            <a:r>
              <a:rPr lang="en-US" altLang="zh-CN" sz="1500" b="1" dirty="0">
                <a:solidFill>
                  <a:srgbClr val="00B0F0"/>
                </a:solidFill>
                <a:latin typeface="Courier New" panose="02070309020205020404" pitchFamily="49" charset="0"/>
                <a:cs typeface="Courier New" panose="02070309020205020404" pitchFamily="49" charset="0"/>
              </a:rPr>
              <a:t> = new File(</a:t>
            </a:r>
            <a:r>
              <a:rPr lang="en-US" altLang="zh-CN" sz="1500" b="1" dirty="0" err="1">
                <a:solidFill>
                  <a:srgbClr val="00B0F0"/>
                </a:solidFill>
                <a:latin typeface="Courier New" panose="02070309020205020404" pitchFamily="49" charset="0"/>
                <a:cs typeface="Courier New" panose="02070309020205020404" pitchFamily="49" charset="0"/>
              </a:rPr>
              <a:t>fileName</a:t>
            </a:r>
            <a:r>
              <a:rPr lang="en-US" altLang="zh-CN" sz="1500" b="1" dirty="0">
                <a:solidFill>
                  <a:srgbClr val="00B0F0"/>
                </a:solidFill>
                <a:latin typeface="Courier New" panose="02070309020205020404" pitchFamily="49" charset="0"/>
                <a:cs typeface="Courier New" panose="02070309020205020404" pitchFamily="49" charset="0"/>
              </a:rPr>
              <a:t>);</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a:solidFill>
                  <a:srgbClr val="00B0F0"/>
                </a:solidFill>
                <a:latin typeface="Courier New" panose="02070309020205020404" pitchFamily="49" charset="0"/>
                <a:cs typeface="Courier New" panose="02070309020205020404" pitchFamily="49" charset="0"/>
              </a:rPr>
              <a:t>if (!</a:t>
            </a:r>
            <a:r>
              <a:rPr lang="en-US" altLang="zh-CN" sz="1500" b="1" dirty="0" err="1">
                <a:solidFill>
                  <a:srgbClr val="00B0F0"/>
                </a:solidFill>
                <a:latin typeface="Courier New" panose="02070309020205020404" pitchFamily="49" charset="0"/>
                <a:cs typeface="Courier New" panose="02070309020205020404" pitchFamily="49" charset="0"/>
              </a:rPr>
              <a:t>file.exists</a:t>
            </a:r>
            <a:r>
              <a:rPr lang="en-US" altLang="zh-CN" sz="1500" b="1" dirty="0">
                <a:solidFill>
                  <a:srgbClr val="00B0F0"/>
                </a:solidFill>
                <a:latin typeface="Courier New" panose="02070309020205020404" pitchFamily="49" charset="0"/>
                <a:cs typeface="Courier New" panose="02070309020205020404" pitchFamily="49" charset="0"/>
              </a:rPr>
              <a:t>()) {</a:t>
            </a:r>
          </a:p>
          <a:p>
            <a:pPr marL="0" lvl="1">
              <a:buClr>
                <a:schemeClr val="accent2"/>
              </a:buClr>
              <a:buSzPct val="70000"/>
            </a:pPr>
            <a:r>
              <a:rPr lang="en-US" altLang="zh-CN" sz="1500" b="1" dirty="0">
                <a:solidFill>
                  <a:srgbClr val="00B0F0"/>
                </a:solidFill>
                <a:latin typeface="Courier New" panose="02070309020205020404" pitchFamily="49" charset="0"/>
                <a:cs typeface="Courier New" panose="02070309020205020404" pitchFamily="49" charset="0"/>
              </a:rPr>
              <a:t>            </a:t>
            </a:r>
            <a:r>
              <a:rPr lang="en-US" altLang="zh-CN" sz="1500" b="1" dirty="0" err="1">
                <a:solidFill>
                  <a:srgbClr val="00B0F0"/>
                </a:solidFill>
                <a:latin typeface="Courier New" panose="02070309020205020404" pitchFamily="49" charset="0"/>
                <a:cs typeface="Courier New" panose="02070309020205020404" pitchFamily="49" charset="0"/>
              </a:rPr>
              <a:t>file.mkdirs</a:t>
            </a:r>
            <a:r>
              <a:rPr lang="en-US" altLang="zh-CN" sz="1500" b="1" dirty="0">
                <a:solidFill>
                  <a:srgbClr val="00B0F0"/>
                </a:solidFill>
                <a:latin typeface="Courier New" panose="02070309020205020404" pitchFamily="49" charset="0"/>
                <a:cs typeface="Courier New" panose="02070309020205020404" pitchFamily="49" charset="0"/>
              </a:rPr>
              <a:t>();</a:t>
            </a:r>
          </a:p>
          <a:p>
            <a:pPr marL="0" lvl="1">
              <a:buClr>
                <a:schemeClr val="accent2"/>
              </a:buClr>
              <a:buSzPct val="70000"/>
            </a:pPr>
            <a:r>
              <a:rPr lang="en-US" altLang="zh-CN" sz="1500" b="1" dirty="0">
                <a:solidFill>
                  <a:srgbClr val="00B0F0"/>
                </a:solidFill>
                <a:latin typeface="Courier New" panose="02070309020205020404" pitchFamily="49" charset="0"/>
                <a:cs typeface="Courier New" panose="02070309020205020404" pitchFamily="49" charset="0"/>
              </a:rPr>
              <a:t>        }</a:t>
            </a:r>
          </a:p>
          <a:p>
            <a:pPr marL="0" lvl="1">
              <a:buClr>
                <a:schemeClr val="accent2"/>
              </a:buClr>
              <a:buSzPct val="70000"/>
            </a:pPr>
            <a:r>
              <a:rPr lang="en-US" altLang="zh-CN" sz="1500" b="1" dirty="0">
                <a:solidFill>
                  <a:srgbClr val="00B0F0"/>
                </a:solidFill>
                <a:latin typeface="Courier New" panose="02070309020205020404" pitchFamily="49" charset="0"/>
                <a:cs typeface="Courier New" panose="02070309020205020404" pitchFamily="49" charset="0"/>
              </a:rPr>
              <a:t>        </a:t>
            </a:r>
            <a:r>
              <a:rPr lang="en-US" altLang="zh-CN" sz="1500" b="1" dirty="0" err="1">
                <a:solidFill>
                  <a:srgbClr val="00B0F0"/>
                </a:solidFill>
                <a:latin typeface="Courier New" panose="02070309020205020404" pitchFamily="49" charset="0"/>
                <a:cs typeface="Courier New" panose="02070309020205020404" pitchFamily="49" charset="0"/>
              </a:rPr>
              <a:t>System.out.println</a:t>
            </a:r>
            <a:r>
              <a:rPr lang="en-US" altLang="zh-CN" sz="1500" b="1" dirty="0">
                <a:solidFill>
                  <a:srgbClr val="00B0F0"/>
                </a:solidFill>
                <a:latin typeface="Courier New" panose="02070309020205020404" pitchFamily="49" charset="0"/>
                <a:cs typeface="Courier New" panose="02070309020205020404" pitchFamily="49" charset="0"/>
              </a:rPr>
              <a:t>(</a:t>
            </a:r>
            <a:r>
              <a:rPr lang="en-US" altLang="zh-CN" sz="1500" b="1" dirty="0" err="1">
                <a:solidFill>
                  <a:srgbClr val="00B0F0"/>
                </a:solidFill>
                <a:latin typeface="Courier New" panose="02070309020205020404" pitchFamily="49" charset="0"/>
                <a:cs typeface="Courier New" panose="02070309020205020404" pitchFamily="49" charset="0"/>
              </a:rPr>
              <a:t>file.getAbsolutePath</a:t>
            </a:r>
            <a:r>
              <a:rPr lang="en-US" altLang="zh-CN" sz="1500" b="1" dirty="0">
                <a:solidFill>
                  <a:srgbClr val="00B0F0"/>
                </a:solidFill>
                <a:latin typeface="Courier New" panose="02070309020205020404" pitchFamily="49" charset="0"/>
                <a:cs typeface="Courier New" panose="02070309020205020404" pitchFamily="49" charset="0"/>
              </a:rPr>
              <a:t>());</a:t>
            </a:r>
          </a:p>
          <a:p>
            <a:pPr marL="0" lvl="1">
              <a:buClr>
                <a:schemeClr val="accent2"/>
              </a:buClr>
              <a:buSzPct val="70000"/>
            </a:pPr>
            <a:r>
              <a:rPr lang="en-US" altLang="zh-CN" sz="1500" b="1" dirty="0">
                <a:solidFill>
                  <a:srgbClr val="00B0F0"/>
                </a:solidFill>
                <a:latin typeface="Courier New" panose="02070309020205020404" pitchFamily="49" charset="0"/>
                <a:cs typeface="Courier New" panose="02070309020205020404" pitchFamily="49" charset="0"/>
              </a:rPr>
              <a:t>        File file1 = new File(file, "data2.txt");</a:t>
            </a:r>
            <a:endParaRPr lang="en-US" altLang="zh-CN" sz="1500"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int value0  = 255, value1  = 0, value2 = -1;</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try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DataOutputStream</a:t>
            </a:r>
            <a:r>
              <a:rPr lang="en-US" altLang="zh-CN" sz="1500" b="1" dirty="0">
                <a:latin typeface="Courier New" panose="02070309020205020404" pitchFamily="49" charset="0"/>
                <a:cs typeface="Courier New" panose="02070309020205020404" pitchFamily="49" charset="0"/>
              </a:rPr>
              <a:t> out = new </a:t>
            </a:r>
            <a:r>
              <a:rPr lang="en-US" altLang="zh-CN" sz="1500" b="1" dirty="0" err="1">
                <a:latin typeface="Courier New" panose="02070309020205020404" pitchFamily="49" charset="0"/>
                <a:cs typeface="Courier New" panose="02070309020205020404" pitchFamily="49" charset="0"/>
              </a:rPr>
              <a:t>DataOutputStream</a:t>
            </a:r>
            <a:r>
              <a:rPr lang="en-US" altLang="zh-CN" sz="1500"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new </a:t>
            </a:r>
            <a:r>
              <a:rPr lang="en-US" altLang="zh-CN" sz="1500" b="1" dirty="0" err="1">
                <a:latin typeface="Courier New" panose="02070309020205020404" pitchFamily="49" charset="0"/>
                <a:cs typeface="Courier New" panose="02070309020205020404" pitchFamily="49" charset="0"/>
              </a:rPr>
              <a:t>FileOutputStream</a:t>
            </a:r>
            <a:r>
              <a:rPr lang="en-US" altLang="zh-CN" sz="1500" b="1" dirty="0">
                <a:latin typeface="Courier New" panose="02070309020205020404" pitchFamily="49" charset="0"/>
                <a:cs typeface="Courier New" panose="02070309020205020404" pitchFamily="49" charset="0"/>
              </a:rPr>
              <a:t>(</a:t>
            </a:r>
            <a:r>
              <a:rPr lang="en-US" altLang="zh-CN" sz="1500" b="1" dirty="0">
                <a:solidFill>
                  <a:srgbClr val="00B0F0"/>
                </a:solidFill>
                <a:latin typeface="Courier New" panose="02070309020205020404" pitchFamily="49" charset="0"/>
                <a:cs typeface="Courier New" panose="02070309020205020404" pitchFamily="49" charset="0"/>
              </a:rPr>
              <a:t> file1 </a:t>
            </a:r>
            <a:r>
              <a:rPr lang="en-US" altLang="zh-CN" sz="1500"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out.writeInt</a:t>
            </a:r>
            <a:r>
              <a:rPr lang="en-US" altLang="zh-CN" sz="1500" b="1" dirty="0">
                <a:latin typeface="Courier New" panose="02070309020205020404" pitchFamily="49" charset="0"/>
                <a:cs typeface="Courier New" panose="02070309020205020404" pitchFamily="49" charset="0"/>
              </a:rPr>
              <a:t>( value0 );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out.writeInt</a:t>
            </a:r>
            <a:r>
              <a:rPr lang="en-US" altLang="zh-CN" sz="1500" b="1" dirty="0">
                <a:latin typeface="Courier New" panose="02070309020205020404" pitchFamily="49" charset="0"/>
                <a:cs typeface="Courier New" panose="02070309020205020404" pitchFamily="49" charset="0"/>
              </a:rPr>
              <a:t>( value1 );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out.writeInt</a:t>
            </a:r>
            <a:r>
              <a:rPr lang="en-US" altLang="zh-CN" sz="1500" b="1" dirty="0">
                <a:latin typeface="Courier New" panose="02070309020205020404" pitchFamily="49" charset="0"/>
                <a:cs typeface="Courier New" panose="02070309020205020404" pitchFamily="49" charset="0"/>
              </a:rPr>
              <a:t>( value2 );</a:t>
            </a:r>
          </a:p>
          <a:p>
            <a:pPr marL="0" lvl="1">
              <a:buClr>
                <a:schemeClr val="accent2"/>
              </a:buClr>
              <a:buSzPct val="70000"/>
            </a:pPr>
            <a:endParaRPr lang="en-US" altLang="zh-CN" sz="1500"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DataInputStream</a:t>
            </a:r>
            <a:r>
              <a:rPr lang="en-US" altLang="zh-CN" sz="1500" b="1" dirty="0">
                <a:latin typeface="Courier New" panose="02070309020205020404" pitchFamily="49" charset="0"/>
                <a:cs typeface="Courier New" panose="02070309020205020404" pitchFamily="49" charset="0"/>
              </a:rPr>
              <a:t> dis = new </a:t>
            </a:r>
            <a:r>
              <a:rPr lang="en-US" altLang="zh-CN" sz="1500" b="1" dirty="0" err="1">
                <a:latin typeface="Courier New" panose="02070309020205020404" pitchFamily="49" charset="0"/>
                <a:cs typeface="Courier New" panose="02070309020205020404" pitchFamily="49" charset="0"/>
              </a:rPr>
              <a:t>DataInputStream</a:t>
            </a:r>
            <a:r>
              <a:rPr lang="en-US" altLang="zh-CN" sz="1500" b="1" dirty="0">
                <a:latin typeface="Courier New" panose="02070309020205020404" pitchFamily="49" charset="0"/>
                <a:cs typeface="Courier New" panose="02070309020205020404" pitchFamily="49" charset="0"/>
              </a:rPr>
              <a:t>(new </a:t>
            </a:r>
            <a:r>
              <a:rPr lang="en-US" altLang="zh-CN" sz="1500" b="1" dirty="0" err="1">
                <a:latin typeface="Courier New" panose="02070309020205020404" pitchFamily="49" charset="0"/>
                <a:cs typeface="Courier New" panose="02070309020205020404" pitchFamily="49" charset="0"/>
              </a:rPr>
              <a:t>FileInputStream</a:t>
            </a:r>
            <a:r>
              <a:rPr lang="en-US" altLang="zh-CN" sz="1500" b="1" dirty="0">
                <a:latin typeface="Courier New" panose="02070309020205020404" pitchFamily="49" charset="0"/>
                <a:cs typeface="Courier New" panose="02070309020205020404" pitchFamily="49" charset="0"/>
              </a:rPr>
              <a:t>(file1));</a:t>
            </a:r>
          </a:p>
          <a:p>
            <a:pPr marL="0" lvl="1">
              <a:buClr>
                <a:schemeClr val="accent2"/>
              </a:buClr>
              <a:buSzPct val="70000"/>
            </a:pPr>
            <a:endParaRPr lang="en-US" altLang="zh-CN" sz="1500"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for (int </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 = 0; </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 &lt; 3; </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System.out.println</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dis.readInt</a:t>
            </a:r>
            <a:r>
              <a:rPr lang="en-US" altLang="zh-CN" sz="1500"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p>
          <a:p>
            <a:pPr marL="0" lvl="1">
              <a:buClr>
                <a:schemeClr val="accent2"/>
              </a:buClr>
              <a:buSzPct val="70000"/>
            </a:pPr>
            <a:endParaRPr lang="en-US" altLang="zh-CN" sz="1500" b="1" dirty="0">
              <a:latin typeface="Courier New" panose="02070309020205020404" pitchFamily="49" charset="0"/>
              <a:cs typeface="Courier New" panose="02070309020205020404" pitchFamily="49" charset="0"/>
            </a:endParaRP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dis.close</a:t>
            </a:r>
            <a:r>
              <a:rPr lang="en-US" altLang="zh-CN" sz="1500"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out.close</a:t>
            </a:r>
            <a:r>
              <a:rPr lang="en-US" altLang="zh-CN" sz="1500" b="1" dirty="0">
                <a:latin typeface="Courier New" panose="02070309020205020404" pitchFamily="49" charset="0"/>
                <a:cs typeface="Courier New" panose="02070309020205020404" pitchFamily="49" charset="0"/>
              </a:rPr>
              <a:t>();</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catch ( </a:t>
            </a:r>
            <a:r>
              <a:rPr lang="en-US" altLang="zh-CN" sz="1500" b="1" dirty="0" err="1">
                <a:latin typeface="Courier New" panose="02070309020205020404" pitchFamily="49" charset="0"/>
                <a:cs typeface="Courier New" panose="02070309020205020404" pitchFamily="49" charset="0"/>
              </a:rPr>
              <a:t>IOException</a:t>
            </a: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iox</a:t>
            </a:r>
            <a:r>
              <a:rPr lang="en-US" altLang="zh-CN" sz="1500"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System.out.println</a:t>
            </a:r>
            <a:r>
              <a:rPr lang="en-US" altLang="zh-CN" sz="1500" b="1" dirty="0">
                <a:latin typeface="Courier New" panose="02070309020205020404" pitchFamily="49" charset="0"/>
                <a:cs typeface="Courier New" panose="02070309020205020404" pitchFamily="49" charset="0"/>
              </a:rPr>
              <a:t>("Problem writing " + file1);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    }</a:t>
            </a:r>
          </a:p>
          <a:p>
            <a:pPr marL="0" lvl="1">
              <a:buClr>
                <a:schemeClr val="accent2"/>
              </a:buClr>
              <a:buSzPct val="70000"/>
            </a:pPr>
            <a:r>
              <a:rPr lang="en-US" altLang="zh-CN" sz="15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474421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cs typeface="Times New Roman" panose="02020603050405020304" pitchFamily="18" charset="0"/>
            </a:endParaRPr>
          </a:p>
        </p:txBody>
      </p:sp>
      <p:sp>
        <p:nvSpPr>
          <p:cNvPr id="96259" name="内容占位符 2"/>
          <p:cNvSpPr>
            <a:spLocks noGrp="1"/>
          </p:cNvSpPr>
          <p:nvPr>
            <p:ph idx="1"/>
          </p:nvPr>
        </p:nvSpPr>
        <p:spPr/>
        <p:txBody>
          <a:bodyPr/>
          <a:lstStyle/>
          <a:p>
            <a:pPr>
              <a:lnSpc>
                <a:spcPct val="90000"/>
              </a:lnSpc>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运行结果</a:t>
            </a:r>
          </a:p>
          <a:p>
            <a:pPr lvl="1">
              <a:lnSpc>
                <a:spcPct val="90000"/>
              </a:lnSpc>
              <a:defRPr/>
            </a:pPr>
            <a:r>
              <a:rPr lang="zh-CN" altLang="en-US" b="0" dirty="0">
                <a:ea typeface="黑体" panose="02010609060101010101" pitchFamily="49" charset="-122"/>
                <a:cs typeface="Times New Roman" panose="02020603050405020304" pitchFamily="18" charset="0"/>
              </a:rPr>
              <a:t>运行程序后，在</a:t>
            </a:r>
            <a:r>
              <a:rPr lang="en-US" altLang="zh-CN" b="0" dirty="0">
                <a:ea typeface="黑体" panose="02010609060101010101" pitchFamily="49" charset="-122"/>
                <a:cs typeface="Times New Roman" panose="02020603050405020304" pitchFamily="18" charset="0"/>
              </a:rPr>
              <a:t>C</a:t>
            </a:r>
            <a:r>
              <a:rPr lang="zh-CN" altLang="en-US" b="0" dirty="0">
                <a:ea typeface="黑体" panose="02010609060101010101" pitchFamily="49" charset="-122"/>
                <a:cs typeface="Times New Roman" panose="02020603050405020304" pitchFamily="18" charset="0"/>
              </a:rPr>
              <a:t>盘生成数据文件</a:t>
            </a:r>
            <a:r>
              <a:rPr lang="en-US" altLang="zh-CN" b="0" dirty="0">
                <a:ea typeface="黑体" panose="02010609060101010101" pitchFamily="49" charset="-122"/>
                <a:cs typeface="Times New Roman" panose="02020603050405020304" pitchFamily="18" charset="0"/>
              </a:rPr>
              <a:t>data1.dat</a:t>
            </a:r>
          </a:p>
          <a:p>
            <a:pPr lvl="1">
              <a:lnSpc>
                <a:spcPct val="90000"/>
              </a:lnSpc>
              <a:defRPr/>
            </a:pPr>
            <a:r>
              <a:rPr lang="zh-CN" altLang="en-US" b="0" dirty="0">
                <a:ea typeface="黑体" panose="02010609060101010101" pitchFamily="49" charset="-122"/>
                <a:cs typeface="Times New Roman" panose="02020603050405020304" pitchFamily="18" charset="0"/>
              </a:rPr>
              <a:t>用写字板打开没有任何显示</a:t>
            </a:r>
          </a:p>
          <a:p>
            <a:pPr lvl="1">
              <a:lnSpc>
                <a:spcPct val="90000"/>
              </a:lnSpc>
              <a:defRPr/>
            </a:pPr>
            <a:r>
              <a:rPr lang="zh-CN" altLang="en-US" b="0" dirty="0">
                <a:ea typeface="黑体" panose="02010609060101010101" pitchFamily="49" charset="-122"/>
                <a:cs typeface="Times New Roman" panose="02020603050405020304" pitchFamily="18" charset="0"/>
              </a:rPr>
              <a:t>用</a:t>
            </a:r>
            <a:r>
              <a:rPr lang="en-US" altLang="zh-CN" b="0" dirty="0" err="1">
                <a:ea typeface="黑体" panose="02010609060101010101" pitchFamily="49" charset="-122"/>
                <a:cs typeface="Times New Roman" panose="02020603050405020304" pitchFamily="18" charset="0"/>
              </a:rPr>
              <a:t>UltraEdit</a:t>
            </a:r>
            <a:r>
              <a:rPr lang="zh-CN" altLang="en-US" b="0" dirty="0">
                <a:ea typeface="黑体" panose="02010609060101010101" pitchFamily="49" charset="-122"/>
                <a:cs typeface="Times New Roman" panose="02020603050405020304" pitchFamily="18" charset="0"/>
              </a:rPr>
              <a:t>打开查看其二进制信息</a:t>
            </a:r>
            <a:r>
              <a:rPr lang="en-US" altLang="zh-CN" b="0" dirty="0">
                <a:ea typeface="黑体" panose="02010609060101010101" pitchFamily="49" charset="-122"/>
                <a:cs typeface="Times New Roman" panose="02020603050405020304" pitchFamily="18" charset="0"/>
              </a:rPr>
              <a:t>，</a:t>
            </a:r>
          </a:p>
          <a:p>
            <a:pPr marL="344487" lvl="1" indent="0">
              <a:lnSpc>
                <a:spcPct val="90000"/>
              </a:lnSpc>
              <a:buFont typeface="Wingdings" panose="05000000000000000000" pitchFamily="2" charset="2"/>
              <a:buNone/>
              <a:defRPr/>
            </a:pPr>
            <a:r>
              <a:rPr lang="en-US" altLang="zh-CN" b="0" dirty="0">
                <a:ea typeface="黑体" panose="02010609060101010101" pitchFamily="49" charset="-122"/>
                <a:cs typeface="Times New Roman" panose="02020603050405020304" pitchFamily="18" charset="0"/>
              </a:rPr>
              <a:t>    </a:t>
            </a:r>
            <a:r>
              <a:rPr lang="zh-CN" altLang="en-US" b="0" dirty="0">
                <a:ea typeface="黑体" panose="02010609060101010101" pitchFamily="49" charset="-122"/>
                <a:cs typeface="Times New Roman" panose="02020603050405020304" pitchFamily="18" charset="0"/>
              </a:rPr>
              <a:t>内容为00 00 00 </a:t>
            </a:r>
            <a:r>
              <a:rPr lang="en-US" altLang="zh-CN" b="0" dirty="0">
                <a:ea typeface="黑体" panose="02010609060101010101" pitchFamily="49" charset="-122"/>
                <a:cs typeface="Times New Roman" panose="02020603050405020304" pitchFamily="18" charset="0"/>
              </a:rPr>
              <a:t>FF 00 00 00 00 FF </a:t>
            </a:r>
            <a:r>
              <a:rPr lang="en-US" altLang="zh-CN" b="0" dirty="0" err="1">
                <a:ea typeface="黑体" panose="02010609060101010101" pitchFamily="49" charset="-122"/>
                <a:cs typeface="Times New Roman" panose="02020603050405020304" pitchFamily="18" charset="0"/>
              </a:rPr>
              <a:t>FF</a:t>
            </a: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FF</a:t>
            </a:r>
            <a:r>
              <a:rPr lang="en-US" altLang="zh-CN" b="0" dirty="0">
                <a:ea typeface="黑体" panose="02010609060101010101" pitchFamily="49" charset="-122"/>
                <a:cs typeface="Times New Roman" panose="02020603050405020304" pitchFamily="18" charset="0"/>
              </a:rPr>
              <a:t> </a:t>
            </a:r>
            <a:r>
              <a:rPr lang="en-US" altLang="zh-CN" b="0" dirty="0" err="1">
                <a:ea typeface="黑体" panose="02010609060101010101" pitchFamily="49" charset="-122"/>
                <a:cs typeface="Times New Roman" panose="02020603050405020304" pitchFamily="18" charset="0"/>
              </a:rPr>
              <a:t>FF</a:t>
            </a:r>
            <a:r>
              <a:rPr lang="en-US" altLang="zh-CN" b="0" dirty="0">
                <a:ea typeface="黑体" panose="02010609060101010101" pitchFamily="49" charset="-122"/>
                <a:cs typeface="Times New Roman" panose="02020603050405020304" pitchFamily="18" charset="0"/>
              </a:rPr>
              <a:t>，</a:t>
            </a:r>
          </a:p>
          <a:p>
            <a:pPr marL="344487" lvl="1" indent="0">
              <a:lnSpc>
                <a:spcPct val="90000"/>
              </a:lnSpc>
              <a:buFont typeface="Wingdings" panose="05000000000000000000" pitchFamily="2" charset="2"/>
              <a:buNone/>
              <a:defRPr/>
            </a:pPr>
            <a:r>
              <a:rPr lang="en-US" altLang="zh-CN" b="0" dirty="0">
                <a:ea typeface="黑体" panose="02010609060101010101" pitchFamily="49" charset="-122"/>
                <a:cs typeface="Times New Roman" panose="02020603050405020304" pitchFamily="18" charset="0"/>
              </a:rPr>
              <a:t>    </a:t>
            </a:r>
            <a:r>
              <a:rPr lang="zh-CN" altLang="en-US" b="0" dirty="0">
                <a:ea typeface="黑体" panose="02010609060101010101" pitchFamily="49" charset="-122"/>
                <a:cs typeface="Times New Roman" panose="02020603050405020304" pitchFamily="18" charset="0"/>
              </a:rPr>
              <a:t>每个</a:t>
            </a:r>
            <a:r>
              <a:rPr lang="en-US" altLang="zh-CN" b="0" dirty="0" err="1">
                <a:ea typeface="黑体" panose="02010609060101010101" pitchFamily="49" charset="-122"/>
                <a:cs typeface="Times New Roman" panose="02020603050405020304" pitchFamily="18" charset="0"/>
              </a:rPr>
              <a:t>int</a:t>
            </a:r>
            <a:r>
              <a:rPr lang="zh-CN" altLang="en-US" b="0" dirty="0">
                <a:ea typeface="黑体" panose="02010609060101010101" pitchFamily="49" charset="-122"/>
                <a:cs typeface="Times New Roman" panose="02020603050405020304" pitchFamily="18" charset="0"/>
              </a:rPr>
              <a:t>数字都是32个</a:t>
            </a:r>
            <a:r>
              <a:rPr lang="en-US" altLang="zh-CN" b="0" dirty="0">
                <a:ea typeface="黑体" panose="02010609060101010101" pitchFamily="49" charset="-122"/>
                <a:cs typeface="Times New Roman" panose="02020603050405020304" pitchFamily="18" charset="0"/>
              </a:rPr>
              <a:t>bit</a:t>
            </a:r>
            <a:r>
              <a:rPr lang="zh-CN" altLang="en-US" b="0" dirty="0">
                <a:ea typeface="黑体" panose="02010609060101010101" pitchFamily="49" charset="-122"/>
                <a:cs typeface="Times New Roman" panose="02020603050405020304" pitchFamily="18" charset="0"/>
              </a:rPr>
              <a:t>的</a:t>
            </a:r>
          </a:p>
          <a:p>
            <a:pPr>
              <a:lnSpc>
                <a:spcPct val="90000"/>
              </a:lnSpc>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说明</a:t>
            </a:r>
          </a:p>
          <a:p>
            <a:pPr lvl="1">
              <a:lnSpc>
                <a:spcPct val="90000"/>
              </a:lnSpc>
              <a:defRPr/>
            </a:pPr>
            <a:r>
              <a:rPr lang="en-US" altLang="zh-CN" sz="2000" b="0" dirty="0" err="1">
                <a:solidFill>
                  <a:srgbClr val="0000FF"/>
                </a:solidFill>
                <a:ea typeface="黑体" panose="02010609060101010101" pitchFamily="49" charset="-122"/>
                <a:cs typeface="Times New Roman" panose="02020603050405020304" pitchFamily="18" charset="0"/>
              </a:rPr>
              <a:t>FileOutputStream</a:t>
            </a:r>
            <a:r>
              <a:rPr lang="zh-CN" altLang="en-US" b="0" dirty="0">
                <a:ea typeface="黑体" panose="02010609060101010101" pitchFamily="49" charset="-122"/>
                <a:cs typeface="Times New Roman" panose="02020603050405020304" pitchFamily="18" charset="0"/>
              </a:rPr>
              <a:t>类的构造方法负责打开文件“</a:t>
            </a:r>
            <a:r>
              <a:rPr lang="en-US" altLang="zh-CN" b="0" dirty="0">
                <a:ea typeface="黑体" panose="02010609060101010101" pitchFamily="49" charset="-122"/>
                <a:cs typeface="Times New Roman" panose="02020603050405020304" pitchFamily="18" charset="0"/>
              </a:rPr>
              <a:t>data1.dat”</a:t>
            </a:r>
            <a:r>
              <a:rPr lang="zh-CN" altLang="en-US" b="0" dirty="0">
                <a:ea typeface="黑体" panose="02010609060101010101" pitchFamily="49" charset="-122"/>
                <a:cs typeface="Times New Roman" panose="02020603050405020304" pitchFamily="18" charset="0"/>
              </a:rPr>
              <a:t>用于写数据</a:t>
            </a:r>
          </a:p>
          <a:p>
            <a:pPr lvl="1">
              <a:lnSpc>
                <a:spcPct val="90000"/>
              </a:lnSpc>
              <a:defRPr/>
            </a:pPr>
            <a:r>
              <a:rPr lang="en-US" altLang="zh-CN" sz="2000" b="0" dirty="0" err="1">
                <a:solidFill>
                  <a:srgbClr val="0000FF"/>
                </a:solidFill>
                <a:ea typeface="黑体" panose="02010609060101010101" pitchFamily="49" charset="-122"/>
                <a:cs typeface="Times New Roman" panose="02020603050405020304" pitchFamily="18" charset="0"/>
              </a:rPr>
              <a:t>FileOutputStream</a:t>
            </a:r>
            <a:r>
              <a:rPr lang="zh-CN" altLang="en-US" b="0" dirty="0">
                <a:ea typeface="黑体" panose="02010609060101010101" pitchFamily="49" charset="-122"/>
                <a:cs typeface="Times New Roman" panose="02020603050405020304" pitchFamily="18" charset="0"/>
              </a:rPr>
              <a:t>类的对象与</a:t>
            </a:r>
            <a:r>
              <a:rPr lang="en-US" altLang="zh-CN" sz="2000" b="0" dirty="0" err="1">
                <a:solidFill>
                  <a:srgbClr val="0000FF"/>
                </a:solidFill>
                <a:ea typeface="黑体" panose="02010609060101010101" pitchFamily="49" charset="-122"/>
                <a:cs typeface="Times New Roman" panose="02020603050405020304" pitchFamily="18" charset="0"/>
              </a:rPr>
              <a:t>DataOutputStream</a:t>
            </a:r>
            <a:r>
              <a:rPr lang="zh-CN" altLang="en-US" b="0" dirty="0">
                <a:ea typeface="黑体" panose="02010609060101010101" pitchFamily="49" charset="-122"/>
                <a:cs typeface="Times New Roman" panose="02020603050405020304" pitchFamily="18" charset="0"/>
              </a:rPr>
              <a:t>对象连接，写基本类型的数据</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cs typeface="Times New Roman" panose="02020603050405020304" pitchFamily="18" charset="0"/>
            </a:endParaRPr>
          </a:p>
        </p:txBody>
      </p:sp>
      <p:sp>
        <p:nvSpPr>
          <p:cNvPr id="95235" name="内容占位符 2"/>
          <p:cNvSpPr>
            <a:spLocks noGrp="1"/>
          </p:cNvSpPr>
          <p:nvPr>
            <p:ph idx="1"/>
          </p:nvPr>
        </p:nvSpPr>
        <p:spPr/>
        <p:txBody>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将三个</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int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型数字255/0/－1写入数据文件</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data1.dat</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5236" name="Rectangle 3"/>
          <p:cNvSpPr txBox="1">
            <a:spLocks noChangeArrowheads="1"/>
          </p:cNvSpPr>
          <p:nvPr/>
        </p:nvSpPr>
        <p:spPr bwMode="auto">
          <a:xfrm>
            <a:off x="63500" y="-18195"/>
            <a:ext cx="10053116" cy="7993359"/>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a:t>
            </a:r>
            <a:r>
              <a:rPr lang="en-US" altLang="zh-CN" sz="2000" b="1" dirty="0" err="1">
                <a:latin typeface="Times New Roman" panose="02020603050405020304" pitchFamily="18" charset="0"/>
                <a:cs typeface="Times New Roman" panose="02020603050405020304" pitchFamily="18" charset="0"/>
              </a:rPr>
              <a:t>WriteByteFileEx</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 ( 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"f:/data1.dat"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int value0  = 255, value1  = 0, value2 = -1;</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try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DataOutputStream</a:t>
            </a:r>
            <a:r>
              <a:rPr lang="en-US" altLang="zh-CN" sz="2000" b="1" dirty="0">
                <a:latin typeface="Times New Roman" panose="02020603050405020304" pitchFamily="18" charset="0"/>
                <a:cs typeface="Times New Roman" panose="02020603050405020304" pitchFamily="18" charset="0"/>
              </a:rPr>
              <a:t> out = new </a:t>
            </a:r>
            <a:r>
              <a:rPr lang="en-US" altLang="zh-CN" sz="2000" b="1" dirty="0" err="1">
                <a:latin typeface="Times New Roman" panose="02020603050405020304" pitchFamily="18" charset="0"/>
                <a:cs typeface="Times New Roman" panose="02020603050405020304" pitchFamily="18" charset="0"/>
              </a:rPr>
              <a:t>DataOutputStream</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new </a:t>
            </a:r>
            <a:r>
              <a:rPr lang="en-US" altLang="zh-CN" sz="2000" b="1" dirty="0" err="1">
                <a:latin typeface="Times New Roman" panose="02020603050405020304" pitchFamily="18" charset="0"/>
                <a:cs typeface="Times New Roman" panose="02020603050405020304" pitchFamily="18" charset="0"/>
              </a:rPr>
              <a:t>FileOutputStream</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out.writeInt</a:t>
            </a:r>
            <a:r>
              <a:rPr lang="en-US" altLang="zh-CN" sz="2000" b="1" dirty="0">
                <a:latin typeface="Times New Roman" panose="02020603050405020304" pitchFamily="18" charset="0"/>
                <a:cs typeface="Times New Roman" panose="02020603050405020304" pitchFamily="18" charset="0"/>
              </a:rPr>
              <a:t>( value0 );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out.writeInt</a:t>
            </a:r>
            <a:r>
              <a:rPr lang="en-US" altLang="zh-CN" sz="2000" b="1" dirty="0">
                <a:latin typeface="Times New Roman" panose="02020603050405020304" pitchFamily="18" charset="0"/>
                <a:cs typeface="Times New Roman" panose="02020603050405020304" pitchFamily="18" charset="0"/>
              </a:rPr>
              <a:t>( value1 );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out.writeInt</a:t>
            </a:r>
            <a:r>
              <a:rPr lang="en-US" altLang="zh-CN" sz="2000" b="1" dirty="0">
                <a:latin typeface="Times New Roman" panose="02020603050405020304" pitchFamily="18" charset="0"/>
                <a:cs typeface="Times New Roman" panose="02020603050405020304" pitchFamily="18" charset="0"/>
              </a:rPr>
              <a:t>( value2 );</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solidFill>
                  <a:srgbClr val="00B0F0"/>
                </a:solidFill>
                <a:latin typeface="Times New Roman" panose="02020603050405020304" pitchFamily="18" charset="0"/>
                <a:cs typeface="Times New Roman" panose="02020603050405020304" pitchFamily="18" charset="0"/>
              </a:rPr>
              <a:t>            </a:t>
            </a:r>
            <a:r>
              <a:rPr lang="en-US" altLang="zh-CN" sz="2000" b="1" dirty="0" err="1">
                <a:solidFill>
                  <a:srgbClr val="00B0F0"/>
                </a:solidFill>
                <a:latin typeface="Times New Roman" panose="02020603050405020304" pitchFamily="18" charset="0"/>
                <a:cs typeface="Times New Roman" panose="02020603050405020304" pitchFamily="18" charset="0"/>
              </a:rPr>
              <a:t>DataInputStream</a:t>
            </a:r>
            <a:r>
              <a:rPr lang="en-US" altLang="zh-CN" sz="2000" b="1" dirty="0">
                <a:solidFill>
                  <a:srgbClr val="00B0F0"/>
                </a:solidFill>
                <a:latin typeface="Times New Roman" panose="02020603050405020304" pitchFamily="18" charset="0"/>
                <a:cs typeface="Times New Roman" panose="02020603050405020304" pitchFamily="18" charset="0"/>
              </a:rPr>
              <a:t> dis = new </a:t>
            </a:r>
            <a:r>
              <a:rPr lang="en-US" altLang="zh-CN" sz="2000" b="1" dirty="0" err="1">
                <a:solidFill>
                  <a:srgbClr val="00B0F0"/>
                </a:solidFill>
                <a:latin typeface="Times New Roman" panose="02020603050405020304" pitchFamily="18" charset="0"/>
                <a:cs typeface="Times New Roman" panose="02020603050405020304" pitchFamily="18" charset="0"/>
              </a:rPr>
              <a:t>DataInputStream</a:t>
            </a:r>
            <a:r>
              <a:rPr lang="en-US" altLang="zh-CN" sz="2000" b="1" dirty="0">
                <a:solidFill>
                  <a:srgbClr val="00B0F0"/>
                </a:solidFill>
                <a:latin typeface="Times New Roman" panose="02020603050405020304" pitchFamily="18" charset="0"/>
                <a:cs typeface="Times New Roman" panose="02020603050405020304" pitchFamily="18" charset="0"/>
              </a:rPr>
              <a:t>(new </a:t>
            </a:r>
            <a:r>
              <a:rPr lang="en-US" altLang="zh-CN" sz="2000" b="1" dirty="0" err="1">
                <a:solidFill>
                  <a:srgbClr val="00B0F0"/>
                </a:solidFill>
                <a:latin typeface="Times New Roman" panose="02020603050405020304" pitchFamily="18" charset="0"/>
                <a:cs typeface="Times New Roman" panose="02020603050405020304" pitchFamily="18" charset="0"/>
              </a:rPr>
              <a:t>FileInputStream</a:t>
            </a:r>
            <a:r>
              <a:rPr lang="en-US" altLang="zh-CN" sz="2000" b="1" dirty="0">
                <a:solidFill>
                  <a:srgbClr val="00B0F0"/>
                </a:solidFill>
                <a:latin typeface="Times New Roman" panose="02020603050405020304" pitchFamily="18" charset="0"/>
                <a:cs typeface="Times New Roman" panose="02020603050405020304" pitchFamily="18" charset="0"/>
              </a:rPr>
              <a:t>("f:/data1.dat"));</a:t>
            </a:r>
          </a:p>
          <a:p>
            <a:pPr marL="0" lvl="1">
              <a:buClr>
                <a:schemeClr val="accent2"/>
              </a:buClr>
              <a:buSzPct val="70000"/>
            </a:pPr>
            <a:r>
              <a:rPr lang="en-US" altLang="zh-CN" sz="2000" b="1" dirty="0">
                <a:solidFill>
                  <a:srgbClr val="00B0F0"/>
                </a:solidFill>
                <a:latin typeface="Times New Roman" panose="02020603050405020304" pitchFamily="18" charset="0"/>
                <a:cs typeface="Times New Roman" panose="02020603050405020304" pitchFamily="18" charset="0"/>
              </a:rPr>
              <a:t>            for (int </a:t>
            </a:r>
            <a:r>
              <a:rPr lang="en-US" altLang="zh-CN" sz="2000" b="1" dirty="0" err="1">
                <a:solidFill>
                  <a:srgbClr val="00B0F0"/>
                </a:solidFill>
                <a:latin typeface="Times New Roman" panose="02020603050405020304" pitchFamily="18" charset="0"/>
                <a:cs typeface="Times New Roman" panose="02020603050405020304" pitchFamily="18" charset="0"/>
              </a:rPr>
              <a:t>i</a:t>
            </a:r>
            <a:r>
              <a:rPr lang="en-US" altLang="zh-CN" sz="2000" b="1" dirty="0">
                <a:solidFill>
                  <a:srgbClr val="00B0F0"/>
                </a:solidFill>
                <a:latin typeface="Times New Roman" panose="02020603050405020304" pitchFamily="18" charset="0"/>
                <a:cs typeface="Times New Roman" panose="02020603050405020304" pitchFamily="18" charset="0"/>
              </a:rPr>
              <a:t> = 0; </a:t>
            </a:r>
            <a:r>
              <a:rPr lang="en-US" altLang="zh-CN" sz="2000" b="1" dirty="0" err="1">
                <a:solidFill>
                  <a:srgbClr val="00B0F0"/>
                </a:solidFill>
                <a:latin typeface="Times New Roman" panose="02020603050405020304" pitchFamily="18" charset="0"/>
                <a:cs typeface="Times New Roman" panose="02020603050405020304" pitchFamily="18" charset="0"/>
              </a:rPr>
              <a:t>i</a:t>
            </a:r>
            <a:r>
              <a:rPr lang="en-US" altLang="zh-CN" sz="2000" b="1" dirty="0">
                <a:solidFill>
                  <a:srgbClr val="00B0F0"/>
                </a:solidFill>
                <a:latin typeface="Times New Roman" panose="02020603050405020304" pitchFamily="18" charset="0"/>
                <a:cs typeface="Times New Roman" panose="02020603050405020304" pitchFamily="18" charset="0"/>
              </a:rPr>
              <a:t> &lt; 3; </a:t>
            </a:r>
            <a:r>
              <a:rPr lang="en-US" altLang="zh-CN" sz="2000" b="1" dirty="0" err="1">
                <a:solidFill>
                  <a:srgbClr val="00B0F0"/>
                </a:solidFill>
                <a:latin typeface="Times New Roman" panose="02020603050405020304" pitchFamily="18" charset="0"/>
                <a:cs typeface="Times New Roman" panose="02020603050405020304" pitchFamily="18" charset="0"/>
              </a:rPr>
              <a:t>i</a:t>
            </a:r>
            <a:r>
              <a:rPr lang="en-US" altLang="zh-CN" sz="2000" b="1" dirty="0">
                <a:solidFill>
                  <a:srgbClr val="00B0F0"/>
                </a:solidFill>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solidFill>
                  <a:srgbClr val="00B0F0"/>
                </a:solidFill>
                <a:latin typeface="Times New Roman" panose="02020603050405020304" pitchFamily="18" charset="0"/>
                <a:cs typeface="Times New Roman" panose="02020603050405020304" pitchFamily="18" charset="0"/>
              </a:rPr>
              <a:t>                </a:t>
            </a:r>
            <a:r>
              <a:rPr lang="en-US" altLang="zh-CN" sz="2000" b="1" dirty="0" err="1">
                <a:solidFill>
                  <a:srgbClr val="00B0F0"/>
                </a:solidFill>
                <a:latin typeface="Times New Roman" panose="02020603050405020304" pitchFamily="18" charset="0"/>
                <a:cs typeface="Times New Roman" panose="02020603050405020304" pitchFamily="18" charset="0"/>
              </a:rPr>
              <a:t>System.out.println</a:t>
            </a:r>
            <a:r>
              <a:rPr lang="en-US" altLang="zh-CN" sz="2000" b="1" dirty="0">
                <a:solidFill>
                  <a:srgbClr val="00B0F0"/>
                </a:solidFill>
                <a:latin typeface="Times New Roman" panose="02020603050405020304" pitchFamily="18" charset="0"/>
                <a:cs typeface="Times New Roman" panose="02020603050405020304" pitchFamily="18" charset="0"/>
              </a:rPr>
              <a:t>(</a:t>
            </a:r>
            <a:r>
              <a:rPr lang="en-US" altLang="zh-CN" sz="2000" b="1" dirty="0" err="1">
                <a:solidFill>
                  <a:srgbClr val="00B0F0"/>
                </a:solidFill>
                <a:latin typeface="Times New Roman" panose="02020603050405020304" pitchFamily="18" charset="0"/>
                <a:cs typeface="Times New Roman" panose="02020603050405020304" pitchFamily="18" charset="0"/>
              </a:rPr>
              <a:t>dis.readInt</a:t>
            </a:r>
            <a:r>
              <a:rPr lang="en-US" altLang="zh-CN" sz="2000" b="1" dirty="0">
                <a:solidFill>
                  <a:srgbClr val="00B0F0"/>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B0F0"/>
                </a:solidFill>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dis.close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out.close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catch (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iox</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("Problem writing " +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pic>
        <p:nvPicPr>
          <p:cNvPr id="3" name="图片 2">
            <a:extLst>
              <a:ext uri="{FF2B5EF4-FFF2-40B4-BE49-F238E27FC236}">
                <a16:creationId xmlns:a16="http://schemas.microsoft.com/office/drawing/2014/main" id="{626C8B91-BEBA-42F1-A437-02C11838D6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4328" y="5724496"/>
            <a:ext cx="2095608" cy="1028753"/>
          </a:xfrm>
          <a:prstGeom prst="rect">
            <a:avLst/>
          </a:prstGeom>
        </p:spPr>
      </p:pic>
      <p:pic>
        <p:nvPicPr>
          <p:cNvPr id="4" name="图片 3">
            <a:extLst>
              <a:ext uri="{FF2B5EF4-FFF2-40B4-BE49-F238E27FC236}">
                <a16:creationId xmlns:a16="http://schemas.microsoft.com/office/drawing/2014/main" id="{AAA4BB5B-2786-4AD1-A0ED-C7D89BB7DA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9644" y="4941168"/>
            <a:ext cx="3563888" cy="1992123"/>
          </a:xfrm>
          <a:prstGeom prst="rect">
            <a:avLst/>
          </a:prstGeom>
        </p:spPr>
      </p:pic>
    </p:spTree>
    <p:extLst>
      <p:ext uri="{BB962C8B-B14F-4D97-AF65-F5344CB8AC3E}">
        <p14:creationId xmlns:p14="http://schemas.microsoft.com/office/powerpoint/2010/main" val="1688431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539006" y="1312834"/>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FileOutputStream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字节输出流</a:t>
            </a:r>
          </a:p>
        </p:txBody>
      </p:sp>
      <p:sp>
        <p:nvSpPr>
          <p:cNvPr id="4" name="矩形: 折角 3">
            <a:extLst>
              <a:ext uri="{FF2B5EF4-FFF2-40B4-BE49-F238E27FC236}">
                <a16:creationId xmlns:a16="http://schemas.microsoft.com/office/drawing/2014/main" id="{921E5A0B-F875-4D04-6B72-D65D987DE309}"/>
              </a:ext>
            </a:extLst>
          </p:cNvPr>
          <p:cNvSpPr/>
          <p:nvPr/>
        </p:nvSpPr>
        <p:spPr>
          <a:xfrm>
            <a:off x="5891266" y="2618053"/>
            <a:ext cx="1586038" cy="463808"/>
          </a:xfrm>
          <a:prstGeom prst="foldedCorner">
            <a:avLst/>
          </a:prstGeom>
          <a:ln/>
        </p:spPr>
        <p:style>
          <a:lnRef idx="1">
            <a:schemeClr val="dk1"/>
          </a:lnRef>
          <a:fillRef idx="2">
            <a:schemeClr val="dk1"/>
          </a:fillRef>
          <a:effectRef idx="1">
            <a:schemeClr val="dk1"/>
          </a:effectRef>
          <a:fontRef idx="minor">
            <a:schemeClr val="dk1"/>
          </a:fontRef>
        </p:style>
        <p:txBody>
          <a:bodyPr rtlCol="0" anchor="ctr"/>
          <a:lstStyle/>
          <a:p>
            <a:r>
              <a:rPr lang="en-US" altLang="zh-CN" sz="788" dirty="0">
                <a:latin typeface="Consolas" panose="020B0609020204030204" pitchFamily="49" charset="0"/>
              </a:rPr>
              <a:t>D:\A.txt</a:t>
            </a:r>
          </a:p>
          <a:p>
            <a:endParaRPr lang="en-US" altLang="zh-CN" sz="788" dirty="0">
              <a:latin typeface="Consolas" panose="020B0609020204030204" pitchFamily="49" charset="0"/>
            </a:endParaRPr>
          </a:p>
          <a:p>
            <a:endParaRPr lang="zh-CN" altLang="en-US" sz="788" dirty="0">
              <a:latin typeface="Consolas" panose="020B0609020204030204" pitchFamily="49" charset="0"/>
            </a:endParaRPr>
          </a:p>
        </p:txBody>
      </p:sp>
      <p:sp>
        <p:nvSpPr>
          <p:cNvPr id="5" name="箭头: 右 4">
            <a:extLst>
              <a:ext uri="{FF2B5EF4-FFF2-40B4-BE49-F238E27FC236}">
                <a16:creationId xmlns:a16="http://schemas.microsoft.com/office/drawing/2014/main" id="{4E75459D-30BB-F653-2DAC-C35A7964F175}"/>
              </a:ext>
            </a:extLst>
          </p:cNvPr>
          <p:cNvSpPr/>
          <p:nvPr/>
        </p:nvSpPr>
        <p:spPr>
          <a:xfrm>
            <a:off x="2077278" y="2676810"/>
            <a:ext cx="3813988" cy="346293"/>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7ADC7270-13F1-EDAB-BA8D-EE972B71EAB9}"/>
              </a:ext>
            </a:extLst>
          </p:cNvPr>
          <p:cNvSpPr txBox="1"/>
          <p:nvPr/>
        </p:nvSpPr>
        <p:spPr>
          <a:xfrm>
            <a:off x="5935596" y="2735612"/>
            <a:ext cx="724636" cy="369332"/>
          </a:xfrm>
          <a:prstGeom prst="rect">
            <a:avLst/>
          </a:prstGeom>
          <a:noFill/>
          <a:ln>
            <a:noFill/>
          </a:ln>
        </p:spPr>
        <p:txBody>
          <a:bodyPr wrap="square" rtlCol="0">
            <a:spAutoFit/>
          </a:bodyPr>
          <a:lstStyle/>
          <a:p>
            <a:pPr algn="l"/>
            <a:r>
              <a:rPr lang="en-US" altLang="zh-CN" dirty="0">
                <a:solidFill>
                  <a:schemeClr val="accent1">
                    <a:lumMod val="75000"/>
                  </a:schemeClr>
                </a:solidFill>
                <a:latin typeface="Consolas" panose="020B0609020204030204" pitchFamily="49" charset="0"/>
                <a:ea typeface="JetBrains Mono"/>
              </a:rPr>
              <a:t>97</a:t>
            </a:r>
            <a:endParaRPr lang="zh-CN" altLang="en-US" dirty="0">
              <a:solidFill>
                <a:schemeClr val="accent1">
                  <a:lumMod val="75000"/>
                </a:schemeClr>
              </a:solidFill>
              <a:latin typeface="Consolas" panose="020B0609020204030204" pitchFamily="49" charset="0"/>
              <a:ea typeface="JetBrains Mono"/>
            </a:endParaRPr>
          </a:p>
        </p:txBody>
      </p:sp>
      <p:sp>
        <p:nvSpPr>
          <p:cNvPr id="7" name="文本框 6">
            <a:extLst>
              <a:ext uri="{FF2B5EF4-FFF2-40B4-BE49-F238E27FC236}">
                <a16:creationId xmlns:a16="http://schemas.microsoft.com/office/drawing/2014/main" id="{C5B09791-2B32-07AA-367C-48869AE9FF3A}"/>
              </a:ext>
            </a:extLst>
          </p:cNvPr>
          <p:cNvSpPr txBox="1"/>
          <p:nvPr/>
        </p:nvSpPr>
        <p:spPr>
          <a:xfrm>
            <a:off x="6310014" y="2724071"/>
            <a:ext cx="550506" cy="369332"/>
          </a:xfrm>
          <a:prstGeom prst="rect">
            <a:avLst/>
          </a:prstGeom>
          <a:noFill/>
          <a:ln>
            <a:noFill/>
          </a:ln>
        </p:spPr>
        <p:txBody>
          <a:bodyPr wrap="square" rtlCol="0">
            <a:spAutoFit/>
          </a:bodyPr>
          <a:lstStyle/>
          <a:p>
            <a:pPr algn="l"/>
            <a:r>
              <a:rPr lang="en-US" altLang="zh-CN" dirty="0">
                <a:solidFill>
                  <a:schemeClr val="accent1">
                    <a:lumMod val="75000"/>
                  </a:schemeClr>
                </a:solidFill>
                <a:latin typeface="Consolas" panose="020B0609020204030204" pitchFamily="49" charset="0"/>
                <a:ea typeface="JetBrains Mono"/>
              </a:rPr>
              <a:t>a</a:t>
            </a:r>
            <a:endParaRPr lang="zh-CN" altLang="en-US" dirty="0">
              <a:solidFill>
                <a:schemeClr val="accent1">
                  <a:lumMod val="75000"/>
                </a:schemeClr>
              </a:solidFill>
              <a:latin typeface="Consolas" panose="020B0609020204030204" pitchFamily="49" charset="0"/>
              <a:ea typeface="JetBrains Mono"/>
            </a:endParaRPr>
          </a:p>
        </p:txBody>
      </p:sp>
      <p:graphicFrame>
        <p:nvGraphicFramePr>
          <p:cNvPr id="8" name="表格 7">
            <a:extLst>
              <a:ext uri="{FF2B5EF4-FFF2-40B4-BE49-F238E27FC236}">
                <a16:creationId xmlns:a16="http://schemas.microsoft.com/office/drawing/2014/main" id="{48E7BF78-F73B-7415-FBF1-2CAD94AF333B}"/>
              </a:ext>
            </a:extLst>
          </p:cNvPr>
          <p:cNvGraphicFramePr>
            <a:graphicFrameLocks noGrp="1"/>
          </p:cNvGraphicFramePr>
          <p:nvPr>
            <p:extLst>
              <p:ext uri="{D42A27DB-BD31-4B8C-83A1-F6EECF244321}">
                <p14:modId xmlns:p14="http://schemas.microsoft.com/office/powerpoint/2010/main" val="3636455181"/>
              </p:ext>
            </p:extLst>
          </p:nvPr>
        </p:nvGraphicFramePr>
        <p:xfrm>
          <a:off x="539552" y="3317756"/>
          <a:ext cx="8196100" cy="1521669"/>
        </p:xfrm>
        <a:graphic>
          <a:graphicData uri="http://schemas.openxmlformats.org/drawingml/2006/table">
            <a:tbl>
              <a:tblPr/>
              <a:tblGrid>
                <a:gridCol w="4104456">
                  <a:extLst>
                    <a:ext uri="{9D8B030D-6E8A-4147-A177-3AD203B41FA5}">
                      <a16:colId xmlns:a16="http://schemas.microsoft.com/office/drawing/2014/main" val="4059425573"/>
                    </a:ext>
                  </a:extLst>
                </a:gridCol>
                <a:gridCol w="4091644">
                  <a:extLst>
                    <a:ext uri="{9D8B030D-6E8A-4147-A177-3AD203B41FA5}">
                      <a16:colId xmlns:a16="http://schemas.microsoft.com/office/drawing/2014/main" val="1139361603"/>
                    </a:ext>
                  </a:extLst>
                </a:gridCol>
              </a:tblGrid>
              <a:tr h="434675">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452806">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en-US" altLang="zh-CN" sz="1400" kern="1200" dirty="0" err="1">
                          <a:solidFill>
                            <a:schemeClr val="tx1"/>
                          </a:solidFill>
                          <a:effectLst/>
                          <a:latin typeface="Consolas" panose="020B0609020204030204" pitchFamily="49" charset="0"/>
                          <a:ea typeface="黑体" panose="02010609060101010101" pitchFamily="49" charset="-122"/>
                          <a:cs typeface="+mn-cs"/>
                        </a:rPr>
                        <a:t>FileOutputStream</a:t>
                      </a:r>
                      <a:r>
                        <a:rPr lang="en-US" altLang="zh-CN" sz="1400" kern="1200" dirty="0">
                          <a:solidFill>
                            <a:schemeClr val="tx1"/>
                          </a:solidFill>
                          <a:effectLst/>
                          <a:latin typeface="Consolas" panose="020B0609020204030204" pitchFamily="49" charset="0"/>
                          <a:ea typeface="黑体" panose="02010609060101010101" pitchFamily="49" charset="-122"/>
                          <a:cs typeface="+mn-cs"/>
                        </a:rPr>
                        <a:t>(String name)</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eaLnBrk="0" hangingPunct="0">
                        <a:lnSpc>
                          <a:spcPct val="150000"/>
                        </a:lnSpc>
                        <a:buFont typeface="Wingdings" pitchFamily="2" charset="2"/>
                        <a:buNone/>
                        <a:defRPr/>
                      </a:pPr>
                      <a:r>
                        <a:rPr lang="zh-CN" altLang="en-US" sz="1400" dirty="0">
                          <a:latin typeface="Consolas" panose="020B0609020204030204" pitchFamily="49" charset="0"/>
                          <a:ea typeface="Alibaba PuHuiTi R"/>
                        </a:rPr>
                        <a:t>输出流关联文件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文件路径以字符串形式给出</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r h="634188">
                <a:tc>
                  <a:txBody>
                    <a:bodyPr/>
                    <a:lstStyle/>
                    <a:p>
                      <a:r>
                        <a:rPr lang="en-US" altLang="zh-CN" sz="1400" dirty="0" err="1">
                          <a:latin typeface="Consolas" panose="020B0609020204030204" pitchFamily="49" charset="0"/>
                          <a:ea typeface="微软雅黑" pitchFamily="34" charset="-122"/>
                        </a:rPr>
                        <a:t>FileOutputStream</a:t>
                      </a:r>
                      <a:r>
                        <a:rPr lang="en-US" altLang="zh-CN" sz="1400" dirty="0">
                          <a:latin typeface="Consolas" panose="020B0609020204030204" pitchFamily="49" charset="0"/>
                          <a:ea typeface="微软雅黑" pitchFamily="34" charset="-122"/>
                        </a:rPr>
                        <a:t>(File file)</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输出流关联文件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文件路径以</a:t>
                      </a:r>
                      <a:r>
                        <a:rPr lang="en-US" altLang="zh-CN" sz="1400" dirty="0">
                          <a:latin typeface="Consolas" panose="020B0609020204030204" pitchFamily="49" charset="0"/>
                          <a:ea typeface="Alibaba PuHuiTi R"/>
                        </a:rPr>
                        <a:t>File</a:t>
                      </a:r>
                      <a:r>
                        <a:rPr lang="zh-CN" altLang="en-US" sz="1400" dirty="0">
                          <a:latin typeface="Consolas" panose="020B0609020204030204" pitchFamily="49" charset="0"/>
                          <a:ea typeface="Alibaba PuHuiTi R"/>
                        </a:rPr>
                        <a:t>对象形式给出</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53507733"/>
                  </a:ext>
                </a:extLst>
              </a:tr>
            </a:tbl>
          </a:graphicData>
        </a:graphic>
      </p:graphicFrame>
      <p:sp>
        <p:nvSpPr>
          <p:cNvPr id="9" name="三角形 9">
            <a:extLst>
              <a:ext uri="{FF2B5EF4-FFF2-40B4-BE49-F238E27FC236}">
                <a16:creationId xmlns:a16="http://schemas.microsoft.com/office/drawing/2014/main" id="{C12C4974-59EA-800C-0B9F-203831AF6809}"/>
              </a:ext>
            </a:extLst>
          </p:cNvPr>
          <p:cNvSpPr/>
          <p:nvPr/>
        </p:nvSpPr>
        <p:spPr>
          <a:xfrm rot="2651319">
            <a:off x="663275" y="5234517"/>
            <a:ext cx="109236" cy="58579"/>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DA7AB0C8-DD11-C07F-29A7-4BD7B24557DE}"/>
              </a:ext>
            </a:extLst>
          </p:cNvPr>
          <p:cNvSpPr/>
          <p:nvPr/>
        </p:nvSpPr>
        <p:spPr>
          <a:xfrm>
            <a:off x="733261" y="4967080"/>
            <a:ext cx="5278899" cy="1126216"/>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41CB88A5-BD68-41FA-640A-386609915595}"/>
              </a:ext>
            </a:extLst>
          </p:cNvPr>
          <p:cNvSpPr/>
          <p:nvPr/>
        </p:nvSpPr>
        <p:spPr>
          <a:xfrm>
            <a:off x="658312" y="4967081"/>
            <a:ext cx="1033367" cy="285350"/>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Alibaba PuHuiTi R" pitchFamily="18" charset="-122"/>
                <a:ea typeface="Alibaba PuHuiTi R" pitchFamily="18" charset="-122"/>
                <a:cs typeface="Alibaba PuHuiTi R" pitchFamily="18" charset="-122"/>
              </a:rPr>
              <a:t>注意事项</a:t>
            </a:r>
          </a:p>
        </p:txBody>
      </p:sp>
      <p:sp>
        <p:nvSpPr>
          <p:cNvPr id="12" name="TextBox 6">
            <a:extLst>
              <a:ext uri="{FF2B5EF4-FFF2-40B4-BE49-F238E27FC236}">
                <a16:creationId xmlns:a16="http://schemas.microsoft.com/office/drawing/2014/main" id="{7D1D8EB8-E4E4-87BE-4324-2601605951F1}"/>
              </a:ext>
            </a:extLst>
          </p:cNvPr>
          <p:cNvSpPr txBox="1"/>
          <p:nvPr/>
        </p:nvSpPr>
        <p:spPr>
          <a:xfrm>
            <a:off x="1880335" y="5159348"/>
            <a:ext cx="4131825" cy="790601"/>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关联的文件如果不存在 </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自动创建</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fontAlgn="auto">
              <a:lnSpc>
                <a:spcPct val="150000"/>
              </a:lnSpc>
              <a:spcBef>
                <a:spcPts val="0"/>
              </a:spcBef>
              <a:spcAft>
                <a:spcPts val="0"/>
              </a:spcAft>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存在 </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会清空现有的</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再开始写入</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3" name="标题 1">
            <a:extLst>
              <a:ext uri="{FF2B5EF4-FFF2-40B4-BE49-F238E27FC236}">
                <a16:creationId xmlns:a16="http://schemas.microsoft.com/office/drawing/2014/main" id="{04E5D50D-5773-4675-A34B-09F0E9CCF92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kern="0" dirty="0">
              <a:ea typeface="宋体" panose="02010600030101010101" pitchFamily="2" charset="-122"/>
              <a:cs typeface="Times New Roman" panose="02020603050405020304" pitchFamily="18" charset="0"/>
            </a:endParaRPr>
          </a:p>
        </p:txBody>
      </p:sp>
      <p:cxnSp>
        <p:nvCxnSpPr>
          <p:cNvPr id="14" name="直接连接符 13">
            <a:extLst>
              <a:ext uri="{FF2B5EF4-FFF2-40B4-BE49-F238E27FC236}">
                <a16:creationId xmlns:a16="http://schemas.microsoft.com/office/drawing/2014/main" id="{16BD345C-54BF-45CA-B3F1-5AE7E6BEFAC7}"/>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5" name="流程图: 磁盘 14">
            <a:extLst>
              <a:ext uri="{FF2B5EF4-FFF2-40B4-BE49-F238E27FC236}">
                <a16:creationId xmlns:a16="http://schemas.microsoft.com/office/drawing/2014/main" id="{FA668DBC-FDF4-46FA-8DDF-2D770B0D44F7}"/>
              </a:ext>
            </a:extLst>
          </p:cNvPr>
          <p:cNvSpPr/>
          <p:nvPr/>
        </p:nvSpPr>
        <p:spPr>
          <a:xfrm>
            <a:off x="659892" y="2486533"/>
            <a:ext cx="1832843" cy="61841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Tree>
    <p:extLst>
      <p:ext uri="{BB962C8B-B14F-4D97-AF65-F5344CB8AC3E}">
        <p14:creationId xmlns:p14="http://schemas.microsoft.com/office/powerpoint/2010/main" val="3424046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53" presetClass="entr" presetSubtype="16"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p:cTn id="9" dur="500" fill="hold"/>
                                        <p:tgtEl>
                                          <p:spTgt spid="7"/>
                                        </p:tgtEl>
                                        <p:attrNameLst>
                                          <p:attrName>ppt_w</p:attrName>
                                        </p:attrNameLst>
                                      </p:cBhvr>
                                      <p:tavLst>
                                        <p:tav tm="0">
                                          <p:val>
                                            <p:fltVal val="0"/>
                                          </p:val>
                                        </p:tav>
                                        <p:tav tm="100000">
                                          <p:val>
                                            <p:strVal val="#ppt_w"/>
                                          </p:val>
                                        </p:tav>
                                      </p:tavLst>
                                    </p:anim>
                                    <p:anim calcmode="lin" valueType="num">
                                      <p:cBhvr>
                                        <p:cTn id="10" dur="500" fill="hold"/>
                                        <p:tgtEl>
                                          <p:spTgt spid="7"/>
                                        </p:tgtEl>
                                        <p:attrNameLst>
                                          <p:attrName>ppt_h</p:attrName>
                                        </p:attrNameLst>
                                      </p:cBhvr>
                                      <p:tavLst>
                                        <p:tav tm="0">
                                          <p:val>
                                            <p:fltVal val="0"/>
                                          </p:val>
                                        </p:tav>
                                        <p:tav tm="100000">
                                          <p:val>
                                            <p:strVal val="#ppt_h"/>
                                          </p:val>
                                        </p:tav>
                                      </p:tavLst>
                                    </p:anim>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750"/>
                                        <p:tgtEl>
                                          <p:spTgt spid="8"/>
                                        </p:tgtEl>
                                      </p:cBhvr>
                                    </p:animEffect>
                                    <p:anim calcmode="lin" valueType="num">
                                      <p:cBhvr>
                                        <p:cTn id="17" dur="750" fill="hold"/>
                                        <p:tgtEl>
                                          <p:spTgt spid="8"/>
                                        </p:tgtEl>
                                        <p:attrNameLst>
                                          <p:attrName>ppt_x</p:attrName>
                                        </p:attrNameLst>
                                      </p:cBhvr>
                                      <p:tavLst>
                                        <p:tav tm="0">
                                          <p:val>
                                            <p:strVal val="#ppt_x"/>
                                          </p:val>
                                        </p:tav>
                                        <p:tav tm="100000">
                                          <p:val>
                                            <p:strVal val="#ppt_x"/>
                                          </p:val>
                                        </p:tav>
                                      </p:tavLst>
                                    </p:anim>
                                    <p:anim calcmode="lin" valueType="num">
                                      <p:cBhvr>
                                        <p:cTn id="18"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randombar(horizontal)">
                                      <p:cBhvr>
                                        <p:cTn id="23" dur="500"/>
                                        <p:tgtEl>
                                          <p:spTgt spid="9"/>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randombar(horizontal)">
                                      <p:cBhvr>
                                        <p:cTn id="26" dur="500"/>
                                        <p:tgtEl>
                                          <p:spTgt spid="10"/>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randombar(horizontal)">
                                      <p:cBhvr>
                                        <p:cTn id="29" dur="500"/>
                                        <p:tgtEl>
                                          <p:spTgt spid="11"/>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randombar(horizontal)">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animBg="1"/>
      <p:bldP spid="10" grpId="0" animBg="1"/>
      <p:bldP spid="11" grpId="0" animBg="1"/>
      <p:bldP spid="1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折角 3">
            <a:extLst>
              <a:ext uri="{FF2B5EF4-FFF2-40B4-BE49-F238E27FC236}">
                <a16:creationId xmlns:a16="http://schemas.microsoft.com/office/drawing/2014/main" id="{921E5A0B-F875-4D04-6B72-D65D987DE309}"/>
              </a:ext>
            </a:extLst>
          </p:cNvPr>
          <p:cNvSpPr/>
          <p:nvPr/>
        </p:nvSpPr>
        <p:spPr>
          <a:xfrm>
            <a:off x="5891266" y="2618053"/>
            <a:ext cx="1586038" cy="463808"/>
          </a:xfrm>
          <a:prstGeom prst="foldedCorner">
            <a:avLst/>
          </a:prstGeom>
          <a:ln/>
        </p:spPr>
        <p:style>
          <a:lnRef idx="1">
            <a:schemeClr val="dk1"/>
          </a:lnRef>
          <a:fillRef idx="2">
            <a:schemeClr val="dk1"/>
          </a:fillRef>
          <a:effectRef idx="1">
            <a:schemeClr val="dk1"/>
          </a:effectRef>
          <a:fontRef idx="minor">
            <a:schemeClr val="dk1"/>
          </a:fontRef>
        </p:style>
        <p:txBody>
          <a:bodyPr rtlCol="0" anchor="ctr"/>
          <a:lstStyle/>
          <a:p>
            <a:r>
              <a:rPr lang="en-US" altLang="zh-CN" sz="788" dirty="0">
                <a:latin typeface="Consolas" panose="020B0609020204030204" pitchFamily="49" charset="0"/>
              </a:rPr>
              <a:t>D:\A.txt</a:t>
            </a:r>
          </a:p>
          <a:p>
            <a:endParaRPr lang="en-US" altLang="zh-CN" sz="788" dirty="0">
              <a:latin typeface="Consolas" panose="020B0609020204030204" pitchFamily="49" charset="0"/>
            </a:endParaRPr>
          </a:p>
          <a:p>
            <a:endParaRPr lang="zh-CN" altLang="en-US" sz="788" dirty="0">
              <a:latin typeface="Consolas" panose="020B0609020204030204" pitchFamily="49" charset="0"/>
            </a:endParaRPr>
          </a:p>
        </p:txBody>
      </p:sp>
      <p:sp>
        <p:nvSpPr>
          <p:cNvPr id="5" name="箭头: 右 4">
            <a:extLst>
              <a:ext uri="{FF2B5EF4-FFF2-40B4-BE49-F238E27FC236}">
                <a16:creationId xmlns:a16="http://schemas.microsoft.com/office/drawing/2014/main" id="{4E75459D-30BB-F653-2DAC-C35A7964F175}"/>
              </a:ext>
            </a:extLst>
          </p:cNvPr>
          <p:cNvSpPr/>
          <p:nvPr/>
        </p:nvSpPr>
        <p:spPr>
          <a:xfrm>
            <a:off x="2077278" y="2676810"/>
            <a:ext cx="3813988" cy="346293"/>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5B09791-2B32-07AA-367C-48869AE9FF3A}"/>
              </a:ext>
            </a:extLst>
          </p:cNvPr>
          <p:cNvSpPr txBox="1"/>
          <p:nvPr/>
        </p:nvSpPr>
        <p:spPr>
          <a:xfrm>
            <a:off x="5935596" y="2723189"/>
            <a:ext cx="422020" cy="369332"/>
          </a:xfrm>
          <a:prstGeom prst="rect">
            <a:avLst/>
          </a:prstGeom>
          <a:noFill/>
          <a:ln>
            <a:noFill/>
          </a:ln>
        </p:spPr>
        <p:txBody>
          <a:bodyPr wrap="square" rtlCol="0">
            <a:spAutoFit/>
          </a:bodyPr>
          <a:lstStyle/>
          <a:p>
            <a:pPr algn="l"/>
            <a:r>
              <a:rPr lang="en-US" altLang="zh-CN" dirty="0">
                <a:solidFill>
                  <a:schemeClr val="accent1">
                    <a:lumMod val="75000"/>
                  </a:schemeClr>
                </a:solidFill>
                <a:latin typeface="Consolas" panose="020B0609020204030204" pitchFamily="49" charset="0"/>
                <a:ea typeface="JetBrains Mono"/>
              </a:rPr>
              <a:t>a</a:t>
            </a:r>
            <a:endParaRPr lang="zh-CN" altLang="en-US" dirty="0">
              <a:solidFill>
                <a:schemeClr val="accent1">
                  <a:lumMod val="75000"/>
                </a:schemeClr>
              </a:solidFill>
              <a:latin typeface="Consolas" panose="020B0609020204030204" pitchFamily="49" charset="0"/>
              <a:ea typeface="JetBrains Mono"/>
            </a:endParaRPr>
          </a:p>
        </p:txBody>
      </p:sp>
      <p:graphicFrame>
        <p:nvGraphicFramePr>
          <p:cNvPr id="8" name="表格 7">
            <a:extLst>
              <a:ext uri="{FF2B5EF4-FFF2-40B4-BE49-F238E27FC236}">
                <a16:creationId xmlns:a16="http://schemas.microsoft.com/office/drawing/2014/main" id="{48E7BF78-F73B-7415-FBF1-2CAD94AF333B}"/>
              </a:ext>
            </a:extLst>
          </p:cNvPr>
          <p:cNvGraphicFramePr>
            <a:graphicFrameLocks noGrp="1"/>
          </p:cNvGraphicFramePr>
          <p:nvPr>
            <p:extLst>
              <p:ext uri="{D42A27DB-BD31-4B8C-83A1-F6EECF244321}">
                <p14:modId xmlns:p14="http://schemas.microsoft.com/office/powerpoint/2010/main" val="3780819876"/>
              </p:ext>
            </p:extLst>
          </p:nvPr>
        </p:nvGraphicFramePr>
        <p:xfrm>
          <a:off x="323528" y="3511536"/>
          <a:ext cx="8640960" cy="1982447"/>
        </p:xfrm>
        <a:graphic>
          <a:graphicData uri="http://schemas.openxmlformats.org/drawingml/2006/table">
            <a:tbl>
              <a:tblPr/>
              <a:tblGrid>
                <a:gridCol w="4531843">
                  <a:extLst>
                    <a:ext uri="{9D8B030D-6E8A-4147-A177-3AD203B41FA5}">
                      <a16:colId xmlns:a16="http://schemas.microsoft.com/office/drawing/2014/main" val="4059425573"/>
                    </a:ext>
                  </a:extLst>
                </a:gridCol>
                <a:gridCol w="4109117">
                  <a:extLst>
                    <a:ext uri="{9D8B030D-6E8A-4147-A177-3AD203B41FA5}">
                      <a16:colId xmlns:a16="http://schemas.microsoft.com/office/drawing/2014/main" val="1139361603"/>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3934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err="1">
                          <a:solidFill>
                            <a:schemeClr val="tx1"/>
                          </a:solidFill>
                          <a:effectLst/>
                          <a:latin typeface="Consolas" panose="020B0609020204030204" pitchFamily="49" charset="0"/>
                          <a:ea typeface="黑体" panose="02010609060101010101" pitchFamily="49" charset="-122"/>
                          <a:cs typeface="+mn-cs"/>
                        </a:rPr>
                        <a:t>FileOutputStream</a:t>
                      </a:r>
                      <a:r>
                        <a:rPr lang="en-US" altLang="zh-CN" sz="1400" kern="1200" dirty="0">
                          <a:solidFill>
                            <a:schemeClr val="tx1"/>
                          </a:solidFill>
                          <a:effectLst/>
                          <a:latin typeface="Consolas" panose="020B0609020204030204" pitchFamily="49" charset="0"/>
                          <a:ea typeface="黑体" panose="02010609060101010101" pitchFamily="49" charset="-122"/>
                          <a:cs typeface="+mn-cs"/>
                        </a:rPr>
                        <a:t>(String name)</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输出流关联文件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文件路径以字符串形式给出</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r h="416489">
                <a:tc>
                  <a:txBody>
                    <a:bodyPr/>
                    <a:lstStyle/>
                    <a:p>
                      <a:pPr algn="l"/>
                      <a:r>
                        <a:rPr lang="en-US" altLang="zh-CN" sz="1400" dirty="0" err="1">
                          <a:latin typeface="Consolas" panose="020B0609020204030204" pitchFamily="49" charset="0"/>
                        </a:rPr>
                        <a:t>FileOutputStream</a:t>
                      </a:r>
                      <a:r>
                        <a:rPr lang="en-US" altLang="zh-CN" sz="1400" dirty="0">
                          <a:latin typeface="Consolas" panose="020B0609020204030204" pitchFamily="49" charset="0"/>
                        </a:rPr>
                        <a:t>(String name, </a:t>
                      </a:r>
                      <a:r>
                        <a:rPr lang="en-US" altLang="zh-CN" sz="1400" dirty="0" err="1">
                          <a:latin typeface="Consolas" panose="020B0609020204030204" pitchFamily="49" charset="0"/>
                        </a:rPr>
                        <a:t>boolean</a:t>
                      </a:r>
                      <a:r>
                        <a:rPr lang="en-US" altLang="zh-CN" sz="1400" dirty="0">
                          <a:latin typeface="Consolas" panose="020B0609020204030204" pitchFamily="49" charset="0"/>
                        </a:rPr>
                        <a:t> append)</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rPr>
                        <a:t>第二个参数是追加写入的开关</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53507733"/>
                  </a:ext>
                </a:extLst>
              </a:tr>
              <a:tr h="416489">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400" dirty="0" err="1">
                          <a:latin typeface="Consolas" panose="020B0609020204030204" pitchFamily="49" charset="0"/>
                          <a:ea typeface="微软雅黑" pitchFamily="34" charset="-122"/>
                        </a:rPr>
                        <a:t>FileOutputStream</a:t>
                      </a:r>
                      <a:r>
                        <a:rPr lang="en-US" altLang="zh-CN" sz="1400" dirty="0">
                          <a:latin typeface="Consolas" panose="020B0609020204030204" pitchFamily="49" charset="0"/>
                          <a:ea typeface="微软雅黑" pitchFamily="34" charset="-122"/>
                        </a:rPr>
                        <a:t>(File file)</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输出流关联文件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文件路径以</a:t>
                      </a:r>
                      <a:r>
                        <a:rPr lang="en-US" altLang="zh-CN" sz="1400" dirty="0">
                          <a:latin typeface="Consolas" panose="020B0609020204030204" pitchFamily="49" charset="0"/>
                          <a:ea typeface="Alibaba PuHuiTi R"/>
                        </a:rPr>
                        <a:t>File</a:t>
                      </a:r>
                      <a:r>
                        <a:rPr lang="zh-CN" altLang="en-US" sz="1400" dirty="0">
                          <a:latin typeface="Consolas" panose="020B0609020204030204" pitchFamily="49" charset="0"/>
                          <a:ea typeface="Alibaba PuHuiTi R"/>
                        </a:rPr>
                        <a:t>对象形式给出</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4616911"/>
                  </a:ext>
                </a:extLst>
              </a:tr>
              <a:tr h="416489">
                <a:tc>
                  <a:txBody>
                    <a:bodyPr/>
                    <a:lstStyle/>
                    <a:p>
                      <a:pPr algn="l"/>
                      <a:r>
                        <a:rPr lang="en-US" altLang="zh-CN" sz="1400" dirty="0" err="1">
                          <a:latin typeface="Consolas" panose="020B0609020204030204" pitchFamily="49" charset="0"/>
                        </a:rPr>
                        <a:t>FileOutputStream</a:t>
                      </a:r>
                      <a:r>
                        <a:rPr lang="en-US" altLang="zh-CN" sz="1400" dirty="0">
                          <a:latin typeface="Consolas" panose="020B0609020204030204" pitchFamily="49" charset="0"/>
                        </a:rPr>
                        <a:t>(File </a:t>
                      </a:r>
                      <a:r>
                        <a:rPr lang="en-US" altLang="zh-CN" sz="1400" dirty="0" err="1">
                          <a:latin typeface="Consolas" panose="020B0609020204030204" pitchFamily="49" charset="0"/>
                        </a:rPr>
                        <a:t>file</a:t>
                      </a:r>
                      <a:r>
                        <a:rPr lang="en-US" altLang="zh-CN" sz="1400" dirty="0">
                          <a:latin typeface="Consolas" panose="020B0609020204030204" pitchFamily="49" charset="0"/>
                        </a:rPr>
                        <a:t>, </a:t>
                      </a:r>
                      <a:r>
                        <a:rPr lang="en-US" altLang="zh-CN" sz="1400" dirty="0" err="1">
                          <a:latin typeface="Consolas" panose="020B0609020204030204" pitchFamily="49" charset="0"/>
                        </a:rPr>
                        <a:t>boolean</a:t>
                      </a:r>
                      <a:r>
                        <a:rPr lang="en-US" altLang="zh-CN" sz="1400" dirty="0">
                          <a:latin typeface="Consolas" panose="020B0609020204030204" pitchFamily="49" charset="0"/>
                        </a:rPr>
                        <a:t> append)</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rPr>
                        <a:t>第二个参数是追加写入的开关</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720396799"/>
                  </a:ext>
                </a:extLst>
              </a:tr>
            </a:tbl>
          </a:graphicData>
        </a:graphic>
      </p:graphicFrame>
      <p:sp>
        <p:nvSpPr>
          <p:cNvPr id="9" name="标题 1">
            <a:extLst>
              <a:ext uri="{FF2B5EF4-FFF2-40B4-BE49-F238E27FC236}">
                <a16:creationId xmlns:a16="http://schemas.microsoft.com/office/drawing/2014/main" id="{CEC79356-4EB8-4318-A88A-7C90F91F189A}"/>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kern="0" dirty="0">
              <a:ea typeface="宋体" panose="02010600030101010101" pitchFamily="2" charset="-122"/>
              <a:cs typeface="Times New Roman" panose="02020603050405020304" pitchFamily="18" charset="0"/>
            </a:endParaRPr>
          </a:p>
        </p:txBody>
      </p:sp>
      <p:cxnSp>
        <p:nvCxnSpPr>
          <p:cNvPr id="10" name="直接连接符 9">
            <a:extLst>
              <a:ext uri="{FF2B5EF4-FFF2-40B4-BE49-F238E27FC236}">
                <a16:creationId xmlns:a16="http://schemas.microsoft.com/office/drawing/2014/main" id="{9A339B63-793A-491B-880D-515C18C17E4F}"/>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流程图: 磁盘 10">
            <a:extLst>
              <a:ext uri="{FF2B5EF4-FFF2-40B4-BE49-F238E27FC236}">
                <a16:creationId xmlns:a16="http://schemas.microsoft.com/office/drawing/2014/main" id="{97EE7CBA-9558-4FE7-9B30-450496EB0567}"/>
              </a:ext>
            </a:extLst>
          </p:cNvPr>
          <p:cNvSpPr/>
          <p:nvPr/>
        </p:nvSpPr>
        <p:spPr>
          <a:xfrm>
            <a:off x="659892" y="2486533"/>
            <a:ext cx="1832843" cy="61841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
        <p:nvSpPr>
          <p:cNvPr id="12" name="TextBox 2">
            <a:extLst>
              <a:ext uri="{FF2B5EF4-FFF2-40B4-BE49-F238E27FC236}">
                <a16:creationId xmlns:a16="http://schemas.microsoft.com/office/drawing/2014/main" id="{90DB199D-37A8-4310-8435-6DB6CC8CB775}"/>
              </a:ext>
            </a:extLst>
          </p:cNvPr>
          <p:cNvSpPr txBox="1"/>
          <p:nvPr/>
        </p:nvSpPr>
        <p:spPr>
          <a:xfrm>
            <a:off x="539006" y="1312834"/>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FileOutputStream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字节输出流</a:t>
            </a:r>
          </a:p>
        </p:txBody>
      </p:sp>
    </p:spTree>
    <p:extLst>
      <p:ext uri="{BB962C8B-B14F-4D97-AF65-F5344CB8AC3E}">
        <p14:creationId xmlns:p14="http://schemas.microsoft.com/office/powerpoint/2010/main" val="15724396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折角 3">
            <a:extLst>
              <a:ext uri="{FF2B5EF4-FFF2-40B4-BE49-F238E27FC236}">
                <a16:creationId xmlns:a16="http://schemas.microsoft.com/office/drawing/2014/main" id="{921E5A0B-F875-4D04-6B72-D65D987DE309}"/>
              </a:ext>
            </a:extLst>
          </p:cNvPr>
          <p:cNvSpPr/>
          <p:nvPr/>
        </p:nvSpPr>
        <p:spPr>
          <a:xfrm>
            <a:off x="5891266" y="2618053"/>
            <a:ext cx="1586038" cy="463808"/>
          </a:xfrm>
          <a:prstGeom prst="foldedCorner">
            <a:avLst/>
          </a:prstGeom>
          <a:ln/>
        </p:spPr>
        <p:style>
          <a:lnRef idx="1">
            <a:schemeClr val="dk1"/>
          </a:lnRef>
          <a:fillRef idx="2">
            <a:schemeClr val="dk1"/>
          </a:fillRef>
          <a:effectRef idx="1">
            <a:schemeClr val="dk1"/>
          </a:effectRef>
          <a:fontRef idx="minor">
            <a:schemeClr val="dk1"/>
          </a:fontRef>
        </p:style>
        <p:txBody>
          <a:bodyPr rtlCol="0" anchor="ctr"/>
          <a:lstStyle/>
          <a:p>
            <a:r>
              <a:rPr lang="en-US" altLang="zh-CN" sz="788" dirty="0">
                <a:latin typeface="Consolas" panose="020B0609020204030204" pitchFamily="49" charset="0"/>
              </a:rPr>
              <a:t>D:\A.txt</a:t>
            </a:r>
          </a:p>
          <a:p>
            <a:endParaRPr lang="en-US" altLang="zh-CN" sz="788" dirty="0">
              <a:latin typeface="Consolas" panose="020B0609020204030204" pitchFamily="49" charset="0"/>
            </a:endParaRPr>
          </a:p>
          <a:p>
            <a:endParaRPr lang="zh-CN" altLang="en-US" sz="788" dirty="0">
              <a:latin typeface="Consolas" panose="020B0609020204030204" pitchFamily="49" charset="0"/>
            </a:endParaRPr>
          </a:p>
        </p:txBody>
      </p:sp>
      <p:sp>
        <p:nvSpPr>
          <p:cNvPr id="5" name="箭头: 右 4">
            <a:extLst>
              <a:ext uri="{FF2B5EF4-FFF2-40B4-BE49-F238E27FC236}">
                <a16:creationId xmlns:a16="http://schemas.microsoft.com/office/drawing/2014/main" id="{4E75459D-30BB-F653-2DAC-C35A7964F175}"/>
              </a:ext>
            </a:extLst>
          </p:cNvPr>
          <p:cNvSpPr/>
          <p:nvPr/>
        </p:nvSpPr>
        <p:spPr>
          <a:xfrm>
            <a:off x="2077278" y="2676810"/>
            <a:ext cx="3813988" cy="346293"/>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5B09791-2B32-07AA-367C-48869AE9FF3A}"/>
              </a:ext>
            </a:extLst>
          </p:cNvPr>
          <p:cNvSpPr txBox="1"/>
          <p:nvPr/>
        </p:nvSpPr>
        <p:spPr>
          <a:xfrm>
            <a:off x="5935596" y="2723189"/>
            <a:ext cx="422020" cy="369332"/>
          </a:xfrm>
          <a:prstGeom prst="rect">
            <a:avLst/>
          </a:prstGeom>
          <a:noFill/>
          <a:ln>
            <a:noFill/>
          </a:ln>
        </p:spPr>
        <p:txBody>
          <a:bodyPr wrap="square" rtlCol="0">
            <a:spAutoFit/>
          </a:bodyPr>
          <a:lstStyle/>
          <a:p>
            <a:pPr algn="l"/>
            <a:r>
              <a:rPr lang="en-US" altLang="zh-CN" dirty="0">
                <a:solidFill>
                  <a:schemeClr val="accent1">
                    <a:lumMod val="75000"/>
                  </a:schemeClr>
                </a:solidFill>
                <a:latin typeface="Consolas" panose="020B0609020204030204" pitchFamily="49" charset="0"/>
                <a:ea typeface="JetBrains Mono"/>
              </a:rPr>
              <a:t>a</a:t>
            </a:r>
            <a:endParaRPr lang="zh-CN" altLang="en-US" dirty="0">
              <a:solidFill>
                <a:schemeClr val="accent1">
                  <a:lumMod val="75000"/>
                </a:schemeClr>
              </a:solidFill>
              <a:latin typeface="Consolas" panose="020B0609020204030204" pitchFamily="49" charset="0"/>
              <a:ea typeface="JetBrains Mono"/>
            </a:endParaRPr>
          </a:p>
        </p:txBody>
      </p:sp>
      <p:graphicFrame>
        <p:nvGraphicFramePr>
          <p:cNvPr id="8" name="表格 7">
            <a:extLst>
              <a:ext uri="{FF2B5EF4-FFF2-40B4-BE49-F238E27FC236}">
                <a16:creationId xmlns:a16="http://schemas.microsoft.com/office/drawing/2014/main" id="{48E7BF78-F73B-7415-FBF1-2CAD94AF333B}"/>
              </a:ext>
            </a:extLst>
          </p:cNvPr>
          <p:cNvGraphicFramePr>
            <a:graphicFrameLocks noGrp="1"/>
          </p:cNvGraphicFramePr>
          <p:nvPr>
            <p:extLst>
              <p:ext uri="{D42A27DB-BD31-4B8C-83A1-F6EECF244321}">
                <p14:modId xmlns:p14="http://schemas.microsoft.com/office/powerpoint/2010/main" val="3843267903"/>
              </p:ext>
            </p:extLst>
          </p:nvPr>
        </p:nvGraphicFramePr>
        <p:xfrm>
          <a:off x="658314" y="3511536"/>
          <a:ext cx="8077338" cy="1982447"/>
        </p:xfrm>
        <a:graphic>
          <a:graphicData uri="http://schemas.openxmlformats.org/drawingml/2006/table">
            <a:tbl>
              <a:tblPr/>
              <a:tblGrid>
                <a:gridCol w="4236246">
                  <a:extLst>
                    <a:ext uri="{9D8B030D-6E8A-4147-A177-3AD203B41FA5}">
                      <a16:colId xmlns:a16="http://schemas.microsoft.com/office/drawing/2014/main" val="4059425573"/>
                    </a:ext>
                  </a:extLst>
                </a:gridCol>
                <a:gridCol w="3841092">
                  <a:extLst>
                    <a:ext uri="{9D8B030D-6E8A-4147-A177-3AD203B41FA5}">
                      <a16:colId xmlns:a16="http://schemas.microsoft.com/office/drawing/2014/main" val="1139361603"/>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3934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err="1">
                          <a:solidFill>
                            <a:schemeClr val="tx1"/>
                          </a:solidFill>
                          <a:effectLst/>
                          <a:latin typeface="Consolas" panose="020B0609020204030204" pitchFamily="49" charset="0"/>
                          <a:ea typeface="黑体" panose="02010609060101010101" pitchFamily="49" charset="-122"/>
                          <a:cs typeface="+mn-cs"/>
                        </a:rPr>
                        <a:t>FileOutputStream</a:t>
                      </a:r>
                      <a:r>
                        <a:rPr lang="en-US" altLang="zh-CN" sz="1400" kern="1200" dirty="0">
                          <a:solidFill>
                            <a:schemeClr val="tx1"/>
                          </a:solidFill>
                          <a:effectLst/>
                          <a:latin typeface="Consolas" panose="020B0609020204030204" pitchFamily="49" charset="0"/>
                          <a:ea typeface="黑体" panose="02010609060101010101" pitchFamily="49" charset="-122"/>
                          <a:cs typeface="+mn-cs"/>
                        </a:rPr>
                        <a:t>(String name)</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输出流关联文件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文件路径以字符串形式给出</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r h="416489">
                <a:tc>
                  <a:txBody>
                    <a:bodyPr/>
                    <a:lstStyle/>
                    <a:p>
                      <a:pPr algn="l"/>
                      <a:r>
                        <a:rPr lang="en-US" altLang="zh-CN" sz="1200" dirty="0" err="1">
                          <a:latin typeface="Consolas" panose="020B0609020204030204" pitchFamily="49" charset="0"/>
                        </a:rPr>
                        <a:t>FileOutputStream</a:t>
                      </a:r>
                      <a:r>
                        <a:rPr lang="en-US" altLang="zh-CN" sz="1200" dirty="0">
                          <a:latin typeface="Consolas" panose="020B0609020204030204" pitchFamily="49" charset="0"/>
                        </a:rPr>
                        <a:t>(String name, </a:t>
                      </a:r>
                      <a:r>
                        <a:rPr lang="en-US" altLang="zh-CN" sz="1200" dirty="0" err="1">
                          <a:latin typeface="Consolas" panose="020B0609020204030204" pitchFamily="49" charset="0"/>
                        </a:rPr>
                        <a:t>boolean</a:t>
                      </a:r>
                      <a:r>
                        <a:rPr lang="en-US" altLang="zh-CN" sz="1200" dirty="0">
                          <a:latin typeface="Consolas" panose="020B0609020204030204" pitchFamily="49" charset="0"/>
                        </a:rPr>
                        <a:t> append)</a:t>
                      </a:r>
                      <a:endParaRPr lang="zh-CN" altLang="en-US" sz="12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200" dirty="0">
                          <a:latin typeface="Consolas" panose="020B0609020204030204" pitchFamily="49" charset="0"/>
                        </a:rPr>
                        <a:t>第二个参数是追加写入的开关</a:t>
                      </a:r>
                      <a:endParaRPr lang="en-US" altLang="zh-CN" sz="12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53507733"/>
                  </a:ext>
                </a:extLst>
              </a:tr>
              <a:tr h="416489">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200" dirty="0" err="1">
                          <a:latin typeface="Consolas" panose="020B0609020204030204" pitchFamily="49" charset="0"/>
                          <a:ea typeface="微软雅黑" pitchFamily="34" charset="-122"/>
                        </a:rPr>
                        <a:t>FileOutputStream</a:t>
                      </a:r>
                      <a:r>
                        <a:rPr lang="en-US" altLang="zh-CN" sz="1200" dirty="0">
                          <a:latin typeface="Consolas" panose="020B0609020204030204" pitchFamily="49" charset="0"/>
                          <a:ea typeface="微软雅黑" pitchFamily="34" charset="-122"/>
                        </a:rPr>
                        <a:t>(File file)</a:t>
                      </a:r>
                      <a:endParaRPr lang="zh-CN" altLang="en-US" sz="12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200" dirty="0">
                          <a:latin typeface="Consolas" panose="020B0609020204030204" pitchFamily="49" charset="0"/>
                          <a:ea typeface="Alibaba PuHuiTi R"/>
                        </a:rPr>
                        <a:t>输出流关联文件</a:t>
                      </a:r>
                      <a:r>
                        <a:rPr lang="en-US" altLang="zh-CN" sz="1200" dirty="0">
                          <a:latin typeface="Consolas" panose="020B0609020204030204" pitchFamily="49" charset="0"/>
                          <a:ea typeface="Alibaba PuHuiTi R"/>
                        </a:rPr>
                        <a:t>, </a:t>
                      </a:r>
                      <a:r>
                        <a:rPr lang="zh-CN" altLang="en-US" sz="1200" dirty="0">
                          <a:latin typeface="Consolas" panose="020B0609020204030204" pitchFamily="49" charset="0"/>
                          <a:ea typeface="Alibaba PuHuiTi R"/>
                        </a:rPr>
                        <a:t>文件路径以</a:t>
                      </a:r>
                      <a:r>
                        <a:rPr lang="en-US" altLang="zh-CN" sz="1200" dirty="0">
                          <a:latin typeface="Consolas" panose="020B0609020204030204" pitchFamily="49" charset="0"/>
                          <a:ea typeface="Alibaba PuHuiTi R"/>
                        </a:rPr>
                        <a:t>File</a:t>
                      </a:r>
                      <a:r>
                        <a:rPr lang="zh-CN" altLang="en-US" sz="1200" dirty="0">
                          <a:latin typeface="Consolas" panose="020B0609020204030204" pitchFamily="49" charset="0"/>
                          <a:ea typeface="Alibaba PuHuiTi R"/>
                        </a:rPr>
                        <a:t>对象形式给出</a:t>
                      </a:r>
                      <a:endParaRPr lang="en-US" altLang="zh-CN" sz="12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4616911"/>
                  </a:ext>
                </a:extLst>
              </a:tr>
              <a:tr h="416489">
                <a:tc>
                  <a:txBody>
                    <a:bodyPr/>
                    <a:lstStyle/>
                    <a:p>
                      <a:pPr algn="l"/>
                      <a:r>
                        <a:rPr lang="en-US" altLang="zh-CN" sz="1200" dirty="0" err="1">
                          <a:latin typeface="Consolas" panose="020B0609020204030204" pitchFamily="49" charset="0"/>
                        </a:rPr>
                        <a:t>FileOutputStream</a:t>
                      </a:r>
                      <a:r>
                        <a:rPr lang="en-US" altLang="zh-CN" sz="1200" dirty="0">
                          <a:latin typeface="Consolas" panose="020B0609020204030204" pitchFamily="49" charset="0"/>
                        </a:rPr>
                        <a:t>(File </a:t>
                      </a:r>
                      <a:r>
                        <a:rPr lang="en-US" altLang="zh-CN" sz="1200" dirty="0" err="1">
                          <a:latin typeface="Consolas" panose="020B0609020204030204" pitchFamily="49" charset="0"/>
                        </a:rPr>
                        <a:t>file</a:t>
                      </a:r>
                      <a:r>
                        <a:rPr lang="en-US" altLang="zh-CN" sz="1200" dirty="0">
                          <a:latin typeface="Consolas" panose="020B0609020204030204" pitchFamily="49" charset="0"/>
                        </a:rPr>
                        <a:t>, </a:t>
                      </a:r>
                      <a:r>
                        <a:rPr lang="en-US" altLang="zh-CN" sz="1200" dirty="0" err="1">
                          <a:latin typeface="Consolas" panose="020B0609020204030204" pitchFamily="49" charset="0"/>
                        </a:rPr>
                        <a:t>boolean</a:t>
                      </a:r>
                      <a:r>
                        <a:rPr lang="en-US" altLang="zh-CN" sz="1200" dirty="0">
                          <a:latin typeface="Consolas" panose="020B0609020204030204" pitchFamily="49" charset="0"/>
                        </a:rPr>
                        <a:t> append)</a:t>
                      </a:r>
                      <a:endParaRPr lang="zh-CN" altLang="en-US" sz="12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200" dirty="0">
                          <a:latin typeface="Consolas" panose="020B0609020204030204" pitchFamily="49" charset="0"/>
                        </a:rPr>
                        <a:t>第二个参数是追加写入的开关</a:t>
                      </a:r>
                      <a:endParaRPr lang="en-US" altLang="zh-CN" sz="12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720396799"/>
                  </a:ext>
                </a:extLst>
              </a:tr>
            </a:tbl>
          </a:graphicData>
        </a:graphic>
      </p:graphicFrame>
      <p:graphicFrame>
        <p:nvGraphicFramePr>
          <p:cNvPr id="6" name="表格 5">
            <a:extLst>
              <a:ext uri="{FF2B5EF4-FFF2-40B4-BE49-F238E27FC236}">
                <a16:creationId xmlns:a16="http://schemas.microsoft.com/office/drawing/2014/main" id="{00C0C576-D6D7-75BF-8F78-BE659C876E08}"/>
              </a:ext>
            </a:extLst>
          </p:cNvPr>
          <p:cNvGraphicFramePr>
            <a:graphicFrameLocks noGrp="1"/>
          </p:cNvGraphicFramePr>
          <p:nvPr>
            <p:extLst>
              <p:ext uri="{D42A27DB-BD31-4B8C-83A1-F6EECF244321}">
                <p14:modId xmlns:p14="http://schemas.microsoft.com/office/powerpoint/2010/main" val="4112563469"/>
              </p:ext>
            </p:extLst>
          </p:nvPr>
        </p:nvGraphicFramePr>
        <p:xfrm>
          <a:off x="658314" y="4187906"/>
          <a:ext cx="8077338" cy="1565958"/>
        </p:xfrm>
        <a:graphic>
          <a:graphicData uri="http://schemas.openxmlformats.org/drawingml/2006/table">
            <a:tbl>
              <a:tblPr/>
              <a:tblGrid>
                <a:gridCol w="4236246">
                  <a:extLst>
                    <a:ext uri="{9D8B030D-6E8A-4147-A177-3AD203B41FA5}">
                      <a16:colId xmlns:a16="http://schemas.microsoft.com/office/drawing/2014/main" val="3903616913"/>
                    </a:ext>
                  </a:extLst>
                </a:gridCol>
                <a:gridCol w="3841092">
                  <a:extLst>
                    <a:ext uri="{9D8B030D-6E8A-4147-A177-3AD203B41FA5}">
                      <a16:colId xmlns:a16="http://schemas.microsoft.com/office/drawing/2014/main" val="3501032722"/>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成员方法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3934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void write(int b)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写出单个字节</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r h="416489">
                <a:tc>
                  <a:txBody>
                    <a:bodyPr/>
                    <a:lstStyle/>
                    <a:p>
                      <a:pPr algn="l"/>
                      <a:r>
                        <a:rPr lang="en-US" altLang="zh-CN" sz="1400" dirty="0">
                          <a:latin typeface="Consolas" panose="020B0609020204030204" pitchFamily="49" charset="0"/>
                        </a:rPr>
                        <a:t>void write(byte[] b)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Alibaba PuHuiTi R"/>
                        </a:rPr>
                        <a:t>写出一个字节数组</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400720702"/>
                  </a:ext>
                </a:extLst>
              </a:tr>
              <a:tr h="416489">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400" dirty="0">
                          <a:latin typeface="Consolas" panose="020B0609020204030204" pitchFamily="49" charset="0"/>
                          <a:ea typeface="微软雅黑" pitchFamily="34" charset="-122"/>
                        </a:rPr>
                        <a:t>void write(byte[] b, int off, int </a:t>
                      </a:r>
                      <a:r>
                        <a:rPr lang="en-US" altLang="zh-CN" sz="1400" dirty="0" err="1">
                          <a:latin typeface="Consolas" panose="020B0609020204030204" pitchFamily="49" charset="0"/>
                          <a:ea typeface="微软雅黑" pitchFamily="34" charset="-122"/>
                        </a:rPr>
                        <a:t>len</a:t>
                      </a:r>
                      <a:r>
                        <a:rPr lang="en-US" altLang="zh-CN" sz="1400" dirty="0">
                          <a:latin typeface="Consolas" panose="020B0609020204030204" pitchFamily="49" charset="0"/>
                          <a:ea typeface="微软雅黑" pitchFamily="34" charset="-122"/>
                        </a:rPr>
                        <a:t>)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Alibaba PuHuiTi R"/>
                        </a:rPr>
                        <a:t>写出字节数组的一部分</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087593561"/>
                  </a:ext>
                </a:extLst>
              </a:tr>
            </a:tbl>
          </a:graphicData>
        </a:graphic>
      </p:graphicFrame>
      <p:sp>
        <p:nvSpPr>
          <p:cNvPr id="9" name="标题 1">
            <a:extLst>
              <a:ext uri="{FF2B5EF4-FFF2-40B4-BE49-F238E27FC236}">
                <a16:creationId xmlns:a16="http://schemas.microsoft.com/office/drawing/2014/main" id="{363FCC78-8B37-4E5F-ACA5-7C64163DA686}"/>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kern="0" dirty="0">
              <a:ea typeface="宋体" panose="02010600030101010101" pitchFamily="2" charset="-122"/>
              <a:cs typeface="Times New Roman" panose="02020603050405020304" pitchFamily="18" charset="0"/>
            </a:endParaRPr>
          </a:p>
        </p:txBody>
      </p:sp>
      <p:cxnSp>
        <p:nvCxnSpPr>
          <p:cNvPr id="10" name="直接连接符 9">
            <a:extLst>
              <a:ext uri="{FF2B5EF4-FFF2-40B4-BE49-F238E27FC236}">
                <a16:creationId xmlns:a16="http://schemas.microsoft.com/office/drawing/2014/main" id="{BAC02777-60F5-4F28-B815-9A39DC3D4B0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流程图: 磁盘 10">
            <a:extLst>
              <a:ext uri="{FF2B5EF4-FFF2-40B4-BE49-F238E27FC236}">
                <a16:creationId xmlns:a16="http://schemas.microsoft.com/office/drawing/2014/main" id="{BF2A270E-792C-4A5F-8FB6-3B6A367908B5}"/>
              </a:ext>
            </a:extLst>
          </p:cNvPr>
          <p:cNvSpPr/>
          <p:nvPr/>
        </p:nvSpPr>
        <p:spPr>
          <a:xfrm>
            <a:off x="659892" y="2486533"/>
            <a:ext cx="1832843" cy="61841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
        <p:nvSpPr>
          <p:cNvPr id="12" name="TextBox 2">
            <a:extLst>
              <a:ext uri="{FF2B5EF4-FFF2-40B4-BE49-F238E27FC236}">
                <a16:creationId xmlns:a16="http://schemas.microsoft.com/office/drawing/2014/main" id="{E2504CD8-F361-4DC5-88FE-259C4F3899A4}"/>
              </a:ext>
            </a:extLst>
          </p:cNvPr>
          <p:cNvSpPr txBox="1"/>
          <p:nvPr/>
        </p:nvSpPr>
        <p:spPr>
          <a:xfrm>
            <a:off x="539006" y="1312834"/>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FileOutputStream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字节输出流</a:t>
            </a:r>
          </a:p>
        </p:txBody>
      </p:sp>
    </p:spTree>
    <p:extLst>
      <p:ext uri="{BB962C8B-B14F-4D97-AF65-F5344CB8AC3E}">
        <p14:creationId xmlns:p14="http://schemas.microsoft.com/office/powerpoint/2010/main" val="284683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9" fill="hold" grpId="0" nodeType="withEffect">
                                  <p:stCondLst>
                                    <p:cond delay="0"/>
                                  </p:stCondLst>
                                  <p:childTnLst>
                                    <p:anim calcmode="lin" valueType="num">
                                      <p:cBhvr additive="base">
                                        <p:cTn id="6" dur="750"/>
                                        <p:tgtEl>
                                          <p:spTgt spid="4"/>
                                        </p:tgtEl>
                                        <p:attrNameLst>
                                          <p:attrName>ppt_x</p:attrName>
                                        </p:attrNameLst>
                                      </p:cBhvr>
                                      <p:tavLst>
                                        <p:tav tm="0">
                                          <p:val>
                                            <p:strVal val="ppt_x"/>
                                          </p:val>
                                        </p:tav>
                                        <p:tav tm="100000">
                                          <p:val>
                                            <p:strVal val="0-ppt_w/2"/>
                                          </p:val>
                                        </p:tav>
                                      </p:tavLst>
                                    </p:anim>
                                    <p:anim calcmode="lin" valueType="num">
                                      <p:cBhvr additive="base">
                                        <p:cTn id="7" dur="750"/>
                                        <p:tgtEl>
                                          <p:spTgt spid="4"/>
                                        </p:tgtEl>
                                        <p:attrNameLst>
                                          <p:attrName>ppt_y</p:attrName>
                                        </p:attrNameLst>
                                      </p:cBhvr>
                                      <p:tavLst>
                                        <p:tav tm="0">
                                          <p:val>
                                            <p:strVal val="ppt_y"/>
                                          </p:val>
                                        </p:tav>
                                        <p:tav tm="100000">
                                          <p:val>
                                            <p:strVal val="0-ppt_h/2"/>
                                          </p:val>
                                        </p:tav>
                                      </p:tavLst>
                                    </p:anim>
                                    <p:set>
                                      <p:cBhvr>
                                        <p:cTn id="8" dur="1" fill="hold">
                                          <p:stCondLst>
                                            <p:cond delay="749"/>
                                          </p:stCondLst>
                                        </p:cTn>
                                        <p:tgtEl>
                                          <p:spTgt spid="4"/>
                                        </p:tgtEl>
                                        <p:attrNameLst>
                                          <p:attrName>style.visibility</p:attrName>
                                        </p:attrNameLst>
                                      </p:cBhvr>
                                      <p:to>
                                        <p:strVal val="hidden"/>
                                      </p:to>
                                    </p:set>
                                  </p:childTnLst>
                                </p:cTn>
                              </p:par>
                              <p:par>
                                <p:cTn id="9" presetID="2" presetClass="exit" presetSubtype="9" fill="hold" grpId="0" nodeType="withEffect">
                                  <p:stCondLst>
                                    <p:cond delay="0"/>
                                  </p:stCondLst>
                                  <p:childTnLst>
                                    <p:anim calcmode="lin" valueType="num">
                                      <p:cBhvr additive="base">
                                        <p:cTn id="10" dur="750"/>
                                        <p:tgtEl>
                                          <p:spTgt spid="5"/>
                                        </p:tgtEl>
                                        <p:attrNameLst>
                                          <p:attrName>ppt_x</p:attrName>
                                        </p:attrNameLst>
                                      </p:cBhvr>
                                      <p:tavLst>
                                        <p:tav tm="0">
                                          <p:val>
                                            <p:strVal val="ppt_x"/>
                                          </p:val>
                                        </p:tav>
                                        <p:tav tm="100000">
                                          <p:val>
                                            <p:strVal val="0-ppt_w/2"/>
                                          </p:val>
                                        </p:tav>
                                      </p:tavLst>
                                    </p:anim>
                                    <p:anim calcmode="lin" valueType="num">
                                      <p:cBhvr additive="base">
                                        <p:cTn id="11" dur="750"/>
                                        <p:tgtEl>
                                          <p:spTgt spid="5"/>
                                        </p:tgtEl>
                                        <p:attrNameLst>
                                          <p:attrName>ppt_y</p:attrName>
                                        </p:attrNameLst>
                                      </p:cBhvr>
                                      <p:tavLst>
                                        <p:tav tm="0">
                                          <p:val>
                                            <p:strVal val="ppt_y"/>
                                          </p:val>
                                        </p:tav>
                                        <p:tav tm="100000">
                                          <p:val>
                                            <p:strVal val="0-ppt_h/2"/>
                                          </p:val>
                                        </p:tav>
                                      </p:tavLst>
                                    </p:anim>
                                    <p:set>
                                      <p:cBhvr>
                                        <p:cTn id="12" dur="1" fill="hold">
                                          <p:stCondLst>
                                            <p:cond delay="749"/>
                                          </p:stCondLst>
                                        </p:cTn>
                                        <p:tgtEl>
                                          <p:spTgt spid="5"/>
                                        </p:tgtEl>
                                        <p:attrNameLst>
                                          <p:attrName>style.visibility</p:attrName>
                                        </p:attrNameLst>
                                      </p:cBhvr>
                                      <p:to>
                                        <p:strVal val="hidden"/>
                                      </p:to>
                                    </p:set>
                                  </p:childTnLst>
                                </p:cTn>
                              </p:par>
                              <p:par>
                                <p:cTn id="13" presetID="2" presetClass="exit" presetSubtype="9" fill="hold" grpId="0" nodeType="withEffect">
                                  <p:stCondLst>
                                    <p:cond delay="0"/>
                                  </p:stCondLst>
                                  <p:childTnLst>
                                    <p:anim calcmode="lin" valueType="num">
                                      <p:cBhvr additive="base">
                                        <p:cTn id="14" dur="750"/>
                                        <p:tgtEl>
                                          <p:spTgt spid="7"/>
                                        </p:tgtEl>
                                        <p:attrNameLst>
                                          <p:attrName>ppt_x</p:attrName>
                                        </p:attrNameLst>
                                      </p:cBhvr>
                                      <p:tavLst>
                                        <p:tav tm="0">
                                          <p:val>
                                            <p:strVal val="ppt_x"/>
                                          </p:val>
                                        </p:tav>
                                        <p:tav tm="100000">
                                          <p:val>
                                            <p:strVal val="0-ppt_w/2"/>
                                          </p:val>
                                        </p:tav>
                                      </p:tavLst>
                                    </p:anim>
                                    <p:anim calcmode="lin" valueType="num">
                                      <p:cBhvr additive="base">
                                        <p:cTn id="15" dur="750"/>
                                        <p:tgtEl>
                                          <p:spTgt spid="7"/>
                                        </p:tgtEl>
                                        <p:attrNameLst>
                                          <p:attrName>ppt_y</p:attrName>
                                        </p:attrNameLst>
                                      </p:cBhvr>
                                      <p:tavLst>
                                        <p:tav tm="0">
                                          <p:val>
                                            <p:strVal val="ppt_y"/>
                                          </p:val>
                                        </p:tav>
                                        <p:tav tm="100000">
                                          <p:val>
                                            <p:strVal val="0-ppt_h/2"/>
                                          </p:val>
                                        </p:tav>
                                      </p:tavLst>
                                    </p:anim>
                                    <p:set>
                                      <p:cBhvr>
                                        <p:cTn id="16" dur="1" fill="hold">
                                          <p:stCondLst>
                                            <p:cond delay="749"/>
                                          </p:stCondLst>
                                        </p:cTn>
                                        <p:tgtEl>
                                          <p:spTgt spid="7"/>
                                        </p:tgtEl>
                                        <p:attrNameLst>
                                          <p:attrName>style.visibility</p:attrName>
                                        </p:attrNameLst>
                                      </p:cBhvr>
                                      <p:to>
                                        <p:strVal val="hidden"/>
                                      </p:to>
                                    </p:set>
                                  </p:childTnLst>
                                </p:cTn>
                              </p:par>
                              <p:par>
                                <p:cTn id="17" presetID="64" presetClass="path" presetSubtype="0" fill="hold" nodeType="withEffect">
                                  <p:stCondLst>
                                    <p:cond delay="0"/>
                                  </p:stCondLst>
                                  <p:childTnLst>
                                    <p:animMotion origin="layout" path="M 0 0 L 0 -0.25 E" pathEditMode="relative" ptsTypes="">
                                      <p:cBhvr>
                                        <p:cTn id="18" dur="500" fill="hold"/>
                                        <p:tgtEl>
                                          <p:spTgt spid="8"/>
                                        </p:tgtEl>
                                        <p:attrNameLst>
                                          <p:attrName>ppt_x</p:attrName>
                                          <p:attrName>ppt_y</p:attrName>
                                        </p:attrNameLst>
                                      </p:cBhvr>
                                    </p:animMotion>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58315" y="1484784"/>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关流</a:t>
            </a:r>
          </a:p>
        </p:txBody>
      </p:sp>
      <p:pic>
        <p:nvPicPr>
          <p:cNvPr id="10" name="图片 9">
            <a:extLst>
              <a:ext uri="{FF2B5EF4-FFF2-40B4-BE49-F238E27FC236}">
                <a16:creationId xmlns:a16="http://schemas.microsoft.com/office/drawing/2014/main" id="{3CB879B1-6475-296F-9465-5E082AEF801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613" b="96201" l="7199" r="90141">
                        <a14:foregroundMark x1="9077" y1="36364" x2="9077" y2="36364"/>
                        <a14:foregroundMark x1="24413" y1="31615" x2="32394" y2="28630"/>
                        <a14:foregroundMark x1="44757" y1="25916" x2="32707" y2="28630"/>
                        <a14:foregroundMark x1="46792" y1="23474" x2="55243" y2="23474"/>
                        <a14:foregroundMark x1="33020" y1="11262" x2="33646" y2="19539"/>
                        <a14:foregroundMark x1="38498" y1="10312" x2="42879" y2="10719"/>
                        <a14:foregroundMark x1="34585" y1="6377" x2="32394" y2="10719"/>
                        <a14:foregroundMark x1="37559" y1="6106" x2="39280" y2="5699"/>
                        <a14:foregroundMark x1="42097" y1="12076" x2="38028" y2="10991"/>
                        <a14:foregroundMark x1="23787" y1="5834" x2="29108" y2="8005"/>
                        <a14:foregroundMark x1="25509" y1="11940" x2="26291" y2="11533"/>
                        <a14:foregroundMark x1="22692" y1="6377" x2="21127" y2="6377"/>
                        <a14:foregroundMark x1="8451" y1="30936" x2="11111" y2="34871"/>
                        <a14:foregroundMark x1="14241" y1="30122" x2="28326" y2="30258"/>
                        <a14:foregroundMark x1="31299" y1="19267" x2="29421" y2="23338"/>
                        <a14:foregroundMark x1="34272" y1="20353" x2="36150" y2="25780"/>
                        <a14:foregroundMark x1="44444" y1="88738" x2="43349" y2="96336"/>
                        <a14:foregroundMark x1="78873" y1="76934" x2="82003" y2="79240"/>
                        <a14:foregroundMark x1="85290" y1="86839" x2="90297" y2="86160"/>
                        <a14:foregroundMark x1="7355" y1="32022" x2="9077" y2="27544"/>
                        <a14:foregroundMark x1="7199" y1="36092" x2="17214" y2="43419"/>
                        <a14:foregroundMark x1="12520" y1="27544" x2="17684" y2="27001"/>
                        <a14:foregroundMark x1="10485" y1="27273" x2="15023" y2="25780"/>
                        <a14:foregroundMark x1="27074" y1="24423" x2="34116" y2="36364"/>
                        <a14:foregroundMark x1="30203" y1="37178" x2="26291" y2="35414"/>
                        <a14:foregroundMark x1="38967" y1="6242" x2="38967" y2="4613"/>
                        <a14:foregroundMark x1="27543" y1="14383" x2="27543" y2="14383"/>
                        <a14:foregroundMark x1="68232" y1="41791" x2="71674" y2="45590"/>
                        <a14:foregroundMark x1="73865" y1="45726" x2="71831" y2="42877"/>
                        <a14:foregroundMark x1="75430" y1="45183" x2="76526" y2="47354"/>
                        <a14:foregroundMark x1="71674" y1="43826" x2="76369" y2="47354"/>
                        <a14:foregroundMark x1="73083" y1="44369" x2="78873" y2="46269"/>
                      </a14:backgroundRemoval>
                    </a14:imgEffect>
                  </a14:imgLayer>
                </a14:imgProps>
              </a:ext>
            </a:extLst>
          </a:blip>
          <a:stretch>
            <a:fillRect/>
          </a:stretch>
        </p:blipFill>
        <p:spPr>
          <a:xfrm>
            <a:off x="658315" y="2365702"/>
            <a:ext cx="2048471" cy="2362634"/>
          </a:xfrm>
          <a:prstGeom prst="rect">
            <a:avLst/>
          </a:prstGeom>
        </p:spPr>
      </p:pic>
      <p:sp>
        <p:nvSpPr>
          <p:cNvPr id="11" name="文本框 10">
            <a:extLst>
              <a:ext uri="{FF2B5EF4-FFF2-40B4-BE49-F238E27FC236}">
                <a16:creationId xmlns:a16="http://schemas.microsoft.com/office/drawing/2014/main" id="{CF8925E6-C0DF-5ABF-93BD-A2B3DD9F46F2}"/>
              </a:ext>
            </a:extLst>
          </p:cNvPr>
          <p:cNvSpPr txBox="1"/>
          <p:nvPr/>
        </p:nvSpPr>
        <p:spPr>
          <a:xfrm>
            <a:off x="3036405" y="2282220"/>
            <a:ext cx="5453737" cy="1061829"/>
          </a:xfrm>
          <a:prstGeom prst="rect">
            <a:avLst/>
          </a:prstGeom>
          <a:noFill/>
          <a:ln>
            <a:noFill/>
          </a:ln>
        </p:spPr>
        <p:txBody>
          <a:bodyPr wrap="none" rtlCol="0">
            <a:spAutoFit/>
          </a:bodyPr>
          <a:lstStyle/>
          <a:p>
            <a:pPr algn="l"/>
            <a:r>
              <a:rPr lang="zh-CN" altLang="en-US" sz="2100" dirty="0">
                <a:solidFill>
                  <a:schemeClr val="tx1">
                    <a:lumMod val="95000"/>
                    <a:lumOff val="5000"/>
                  </a:schemeClr>
                </a:solidFill>
                <a:latin typeface="杨任东竹石体-Bold" panose="02000000000000000000" pitchFamily="2" charset="-122"/>
                <a:ea typeface="杨任东竹石体-Bold" panose="02000000000000000000" pitchFamily="2" charset="-122"/>
              </a:rPr>
              <a:t>流对象使用完毕后</a:t>
            </a:r>
            <a:r>
              <a:rPr lang="en-US" altLang="zh-CN" sz="2100" dirty="0">
                <a:solidFill>
                  <a:schemeClr val="tx1">
                    <a:lumMod val="95000"/>
                    <a:lumOff val="5000"/>
                  </a:schemeClr>
                </a:solidFill>
                <a:latin typeface="杨任东竹石体-Bold" panose="02000000000000000000" pitchFamily="2" charset="-122"/>
                <a:ea typeface="杨任东竹石体-Bold" panose="02000000000000000000" pitchFamily="2" charset="-122"/>
              </a:rPr>
              <a:t>, </a:t>
            </a:r>
            <a:r>
              <a:rPr lang="zh-CN" altLang="en-US" sz="2100" dirty="0">
                <a:solidFill>
                  <a:schemeClr val="tx1">
                    <a:lumMod val="95000"/>
                    <a:lumOff val="5000"/>
                  </a:schemeClr>
                </a:solidFill>
                <a:latin typeface="杨任东竹石体-Bold" panose="02000000000000000000" pitchFamily="2" charset="-122"/>
                <a:ea typeface="杨任东竹石体-Bold" panose="02000000000000000000" pitchFamily="2" charset="-122"/>
              </a:rPr>
              <a:t>记得调用 </a:t>
            </a:r>
            <a:r>
              <a:rPr lang="en-US" altLang="zh-CN" sz="2100" dirty="0">
                <a:solidFill>
                  <a:schemeClr val="tx1">
                    <a:lumMod val="95000"/>
                    <a:lumOff val="5000"/>
                  </a:schemeClr>
                </a:solidFill>
                <a:latin typeface="杨任东竹石体-Bold" panose="02000000000000000000" pitchFamily="2" charset="-122"/>
                <a:ea typeface="杨任东竹石体-Bold" panose="02000000000000000000" pitchFamily="2" charset="-122"/>
              </a:rPr>
              <a:t>close </a:t>
            </a:r>
            <a:r>
              <a:rPr lang="zh-CN" altLang="en-US" sz="2100" dirty="0">
                <a:solidFill>
                  <a:schemeClr val="tx1">
                    <a:lumMod val="95000"/>
                    <a:lumOff val="5000"/>
                  </a:schemeClr>
                </a:solidFill>
                <a:latin typeface="杨任东竹石体-Bold" panose="02000000000000000000" pitchFamily="2" charset="-122"/>
                <a:ea typeface="杨任东竹石体-Bold" panose="02000000000000000000" pitchFamily="2" charset="-122"/>
              </a:rPr>
              <a:t>方法关闭</a:t>
            </a:r>
            <a:endParaRPr lang="en-US" altLang="zh-CN" sz="2100" dirty="0">
              <a:solidFill>
                <a:schemeClr val="tx1">
                  <a:lumMod val="95000"/>
                  <a:lumOff val="5000"/>
                </a:schemeClr>
              </a:solidFill>
              <a:latin typeface="杨任东竹石体-Bold" panose="02000000000000000000" pitchFamily="2" charset="-122"/>
              <a:ea typeface="杨任东竹石体-Bold" panose="02000000000000000000" pitchFamily="2" charset="-122"/>
            </a:endParaRPr>
          </a:p>
          <a:p>
            <a:pPr algn="l"/>
            <a:endParaRPr lang="en-US" altLang="zh-CN" sz="2100" dirty="0">
              <a:solidFill>
                <a:schemeClr val="tx1">
                  <a:lumMod val="95000"/>
                  <a:lumOff val="5000"/>
                </a:schemeClr>
              </a:solidFill>
              <a:latin typeface="杨任东竹石体-Bold" panose="02000000000000000000" pitchFamily="2" charset="-122"/>
              <a:ea typeface="杨任东竹石体-Bold" panose="02000000000000000000" pitchFamily="2" charset="-122"/>
            </a:endParaRPr>
          </a:p>
          <a:p>
            <a:pPr algn="l"/>
            <a:r>
              <a:rPr lang="zh-CN" altLang="en-US" sz="2100" dirty="0">
                <a:solidFill>
                  <a:schemeClr val="tx1">
                    <a:lumMod val="95000"/>
                    <a:lumOff val="5000"/>
                  </a:schemeClr>
                </a:solidFill>
                <a:latin typeface="杨任东竹石体-Bold" panose="02000000000000000000" pitchFamily="2" charset="-122"/>
                <a:ea typeface="杨任东竹石体-Bold" panose="02000000000000000000" pitchFamily="2" charset="-122"/>
              </a:rPr>
              <a:t>不然会占用资源</a:t>
            </a:r>
            <a:endParaRPr lang="en-US" altLang="zh-CN" sz="2100" dirty="0">
              <a:solidFill>
                <a:schemeClr val="tx1">
                  <a:lumMod val="95000"/>
                  <a:lumOff val="5000"/>
                </a:schemeClr>
              </a:solidFill>
              <a:latin typeface="杨任东竹石体-Bold" panose="02000000000000000000" pitchFamily="2" charset="-122"/>
              <a:ea typeface="杨任东竹石体-Bold" panose="02000000000000000000" pitchFamily="2" charset="-122"/>
            </a:endParaRPr>
          </a:p>
        </p:txBody>
      </p:sp>
      <p:sp>
        <p:nvSpPr>
          <p:cNvPr id="7" name="标题 1">
            <a:extLst>
              <a:ext uri="{FF2B5EF4-FFF2-40B4-BE49-F238E27FC236}">
                <a16:creationId xmlns:a16="http://schemas.microsoft.com/office/drawing/2014/main" id="{80B0C1BF-70AB-406C-AB85-786799D83BF1}"/>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kern="0" dirty="0">
              <a:ea typeface="宋体" panose="02010600030101010101" pitchFamily="2" charset="-122"/>
              <a:cs typeface="Times New Roman" panose="02020603050405020304" pitchFamily="18" charset="0"/>
            </a:endParaRPr>
          </a:p>
        </p:txBody>
      </p:sp>
      <p:cxnSp>
        <p:nvCxnSpPr>
          <p:cNvPr id="8" name="直接连接符 7">
            <a:extLst>
              <a:ext uri="{FF2B5EF4-FFF2-40B4-BE49-F238E27FC236}">
                <a16:creationId xmlns:a16="http://schemas.microsoft.com/office/drawing/2014/main" id="{8788602B-F890-4692-BA01-67AF8CFB2B86}"/>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71486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58314" y="1678109"/>
            <a:ext cx="3514725" cy="566245"/>
          </a:xfrm>
          <a:prstGeom prst="rect">
            <a:avLst/>
          </a:prstGeom>
          <a:noFill/>
        </p:spPr>
        <p:txBody>
          <a:bodyPr>
            <a:spAutoFit/>
          </a:bodyPr>
          <a:lstStyle/>
          <a:p>
            <a:pPr eaLnBrk="0" hangingPunct="0">
              <a:lnSpc>
                <a:spcPct val="200000"/>
              </a:lnSpc>
              <a:defRPr/>
            </a:pP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标准的关流代码</a:t>
            </a:r>
          </a:p>
        </p:txBody>
      </p:sp>
      <p:sp>
        <p:nvSpPr>
          <p:cNvPr id="6" name="矩形: 圆角 5">
            <a:extLst>
              <a:ext uri="{FF2B5EF4-FFF2-40B4-BE49-F238E27FC236}">
                <a16:creationId xmlns:a16="http://schemas.microsoft.com/office/drawing/2014/main" id="{FD3C4C89-5AB3-A84A-F8EA-C86BBB0803DA}"/>
              </a:ext>
            </a:extLst>
          </p:cNvPr>
          <p:cNvSpPr/>
          <p:nvPr/>
        </p:nvSpPr>
        <p:spPr>
          <a:xfrm>
            <a:off x="658314" y="2378724"/>
            <a:ext cx="1753446" cy="366961"/>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JDK7</a:t>
            </a:r>
            <a:r>
              <a:rPr lang="zh-CN" altLang="en-US" dirty="0"/>
              <a:t>版本之后</a:t>
            </a:r>
          </a:p>
        </p:txBody>
      </p:sp>
      <p:sp>
        <p:nvSpPr>
          <p:cNvPr id="3" name="文本框 2">
            <a:extLst>
              <a:ext uri="{FF2B5EF4-FFF2-40B4-BE49-F238E27FC236}">
                <a16:creationId xmlns:a16="http://schemas.microsoft.com/office/drawing/2014/main" id="{137AA85D-EC20-9B7F-C7A9-488A08BE6A1F}"/>
              </a:ext>
            </a:extLst>
          </p:cNvPr>
          <p:cNvSpPr txBox="1"/>
          <p:nvPr/>
        </p:nvSpPr>
        <p:spPr>
          <a:xfrm>
            <a:off x="658315" y="3148219"/>
            <a:ext cx="3580725" cy="2800767"/>
          </a:xfrm>
          <a:prstGeom prst="rect">
            <a:avLst/>
          </a:prstGeom>
          <a:solidFill>
            <a:srgbClr val="FFFFE4"/>
          </a:solidFill>
          <a:ln>
            <a:solidFill>
              <a:schemeClr val="tx1">
                <a:lumMod val="95000"/>
                <a:lumOff val="5000"/>
              </a:schemeClr>
            </a:solidFill>
          </a:ln>
        </p:spPr>
        <p:txBody>
          <a:bodyPr wrap="square" rtlCol="0">
            <a:spAutoFit/>
          </a:bodyPr>
          <a:lstStyle/>
          <a:p>
            <a:pPr algn="l"/>
            <a:r>
              <a:rPr lang="zh-CN" altLang="en-US" sz="1600" dirty="0">
                <a:solidFill>
                  <a:schemeClr val="tx1">
                    <a:lumMod val="95000"/>
                    <a:lumOff val="5000"/>
                  </a:schemeClr>
                </a:solidFill>
                <a:latin typeface="Consolas" panose="020B0609020204030204" pitchFamily="49" charset="0"/>
                <a:ea typeface="JetBrains Mono"/>
              </a:rPr>
              <a:t>格式 </a:t>
            </a:r>
            <a:r>
              <a:rPr lang="en-US" altLang="zh-CN" sz="1600" dirty="0">
                <a:solidFill>
                  <a:schemeClr val="tx1">
                    <a:lumMod val="95000"/>
                    <a:lumOff val="5000"/>
                  </a:schemeClr>
                </a:solidFill>
                <a:latin typeface="Consolas" panose="020B0609020204030204" pitchFamily="49" charset="0"/>
                <a:ea typeface="JetBrains Mono"/>
              </a:rPr>
              <a:t>:</a:t>
            </a:r>
          </a:p>
          <a:p>
            <a:pPr algn="l"/>
            <a:endParaRPr lang="en-US" altLang="zh-CN" sz="1600" dirty="0">
              <a:solidFill>
                <a:srgbClr val="0033B3"/>
              </a:solidFill>
              <a:latin typeface="Consolas" panose="020B0609020204030204" pitchFamily="49" charset="0"/>
              <a:ea typeface="JetBrains Mono"/>
            </a:endParaRPr>
          </a:p>
          <a:p>
            <a:pPr algn="l"/>
            <a:r>
              <a:rPr lang="en-US" altLang="zh-CN" sz="1600" dirty="0">
                <a:solidFill>
                  <a:srgbClr val="0033B3"/>
                </a:solidFill>
                <a:latin typeface="Consolas" panose="020B0609020204030204" pitchFamily="49" charset="0"/>
                <a:ea typeface="JetBrains Mono"/>
              </a:rPr>
              <a:t>try </a:t>
            </a:r>
            <a:r>
              <a:rPr lang="en-US" altLang="zh-CN" sz="1600" dirty="0">
                <a:solidFill>
                  <a:schemeClr val="tx1">
                    <a:lumMod val="95000"/>
                    <a:lumOff val="5000"/>
                  </a:schemeClr>
                </a:solidFill>
                <a:latin typeface="Consolas" panose="020B0609020204030204" pitchFamily="49" charset="0"/>
                <a:ea typeface="JetBrains Mono"/>
              </a:rPr>
              <a:t>(</a:t>
            </a:r>
            <a:r>
              <a:rPr lang="zh-CN" altLang="en-US" sz="1600" dirty="0">
                <a:solidFill>
                  <a:srgbClr val="C00000"/>
                </a:solidFill>
                <a:latin typeface="Consolas" panose="020B0609020204030204" pitchFamily="49" charset="0"/>
                <a:ea typeface="JetBrains Mono"/>
              </a:rPr>
              <a:t>需要调用</a:t>
            </a:r>
            <a:r>
              <a:rPr lang="en-US" altLang="zh-CN" sz="1600" dirty="0">
                <a:solidFill>
                  <a:srgbClr val="C00000"/>
                </a:solidFill>
                <a:latin typeface="Consolas" panose="020B0609020204030204" pitchFamily="49" charset="0"/>
                <a:ea typeface="JetBrains Mono"/>
              </a:rPr>
              <a:t>close</a:t>
            </a:r>
            <a:r>
              <a:rPr lang="zh-CN" altLang="en-US" sz="1600" dirty="0">
                <a:solidFill>
                  <a:srgbClr val="C00000"/>
                </a:solidFill>
                <a:latin typeface="Consolas" panose="020B0609020204030204" pitchFamily="49" charset="0"/>
                <a:ea typeface="JetBrains Mono"/>
              </a:rPr>
              <a:t>方法的对象</a:t>
            </a:r>
            <a:r>
              <a:rPr lang="en-US" altLang="zh-CN" sz="1600" dirty="0">
                <a:solidFill>
                  <a:schemeClr val="tx1">
                    <a:lumMod val="95000"/>
                    <a:lumOff val="5000"/>
                  </a:schemeClr>
                </a:solidFill>
                <a:latin typeface="Consolas" panose="020B0609020204030204" pitchFamily="49" charset="0"/>
                <a:ea typeface="JetBrains Mono"/>
              </a:rPr>
              <a:t>) {</a:t>
            </a:r>
          </a:p>
          <a:p>
            <a:pPr algn="l"/>
            <a:r>
              <a:rPr lang="en-US" altLang="zh-CN" sz="1600" dirty="0">
                <a:solidFill>
                  <a:srgbClr val="0033B3"/>
                </a:solidFill>
                <a:latin typeface="Consolas" panose="020B0609020204030204" pitchFamily="49" charset="0"/>
                <a:ea typeface="JetBrains Mono"/>
              </a:rPr>
              <a:t>   </a:t>
            </a:r>
          </a:p>
          <a:p>
            <a:pPr algn="l"/>
            <a:r>
              <a:rPr lang="en-US" altLang="zh-CN" sz="1600" dirty="0">
                <a:solidFill>
                  <a:srgbClr val="0033B3"/>
                </a:solidFill>
                <a:latin typeface="Consolas" panose="020B0609020204030204" pitchFamily="49" charset="0"/>
                <a:ea typeface="JetBrains Mono"/>
              </a:rPr>
              <a:t>    </a:t>
            </a:r>
            <a:r>
              <a:rPr lang="zh-CN" altLang="en-US" sz="1600" dirty="0">
                <a:solidFill>
                  <a:schemeClr val="tx1">
                    <a:lumMod val="95000"/>
                    <a:lumOff val="5000"/>
                  </a:schemeClr>
                </a:solidFill>
                <a:latin typeface="Consolas" panose="020B0609020204030204" pitchFamily="49" charset="0"/>
                <a:ea typeface="JetBrains Mono"/>
              </a:rPr>
              <a:t>逻辑代码</a:t>
            </a:r>
            <a:r>
              <a:rPr lang="en-US" altLang="zh-CN" sz="1600" dirty="0">
                <a:solidFill>
                  <a:schemeClr val="tx1">
                    <a:lumMod val="95000"/>
                    <a:lumOff val="5000"/>
                  </a:schemeClr>
                </a:solidFill>
                <a:latin typeface="Consolas" panose="020B0609020204030204" pitchFamily="49" charset="0"/>
                <a:ea typeface="JetBrains Mono"/>
              </a:rPr>
              <a:t>...</a:t>
            </a:r>
          </a:p>
          <a:p>
            <a:pPr algn="l"/>
            <a:endParaRPr lang="en-US" altLang="zh-CN" sz="1600" dirty="0">
              <a:solidFill>
                <a:srgbClr val="0033B3"/>
              </a:solidFill>
              <a:latin typeface="Consolas" panose="020B0609020204030204" pitchFamily="49" charset="0"/>
              <a:ea typeface="JetBrains Mono"/>
            </a:endParaRPr>
          </a:p>
          <a:p>
            <a:pPr algn="l"/>
            <a:r>
              <a:rPr lang="en-US" altLang="zh-CN" sz="1600" dirty="0">
                <a:solidFill>
                  <a:schemeClr val="tx1">
                    <a:lumMod val="95000"/>
                    <a:lumOff val="5000"/>
                  </a:schemeClr>
                </a:solidFill>
                <a:latin typeface="Consolas" panose="020B0609020204030204" pitchFamily="49" charset="0"/>
                <a:ea typeface="JetBrains Mono"/>
              </a:rPr>
              <a:t>} </a:t>
            </a:r>
            <a:r>
              <a:rPr lang="en-US" altLang="zh-CN" sz="1600" dirty="0">
                <a:solidFill>
                  <a:srgbClr val="0033B3"/>
                </a:solidFill>
                <a:latin typeface="Consolas" panose="020B0609020204030204" pitchFamily="49" charset="0"/>
                <a:ea typeface="JetBrains Mono"/>
              </a:rPr>
              <a:t>catch </a:t>
            </a:r>
            <a:r>
              <a:rPr lang="en-US" altLang="zh-CN" sz="1600" dirty="0">
                <a:solidFill>
                  <a:schemeClr val="tx1">
                    <a:lumMod val="95000"/>
                    <a:lumOff val="5000"/>
                  </a:schemeClr>
                </a:solidFill>
                <a:latin typeface="Consolas" panose="020B0609020204030204" pitchFamily="49" charset="0"/>
                <a:ea typeface="JetBrains Mono"/>
              </a:rPr>
              <a:t>(</a:t>
            </a:r>
            <a:r>
              <a:rPr lang="zh-CN" altLang="en-US" sz="1600" dirty="0">
                <a:solidFill>
                  <a:schemeClr val="tx1">
                    <a:lumMod val="95000"/>
                    <a:lumOff val="5000"/>
                  </a:schemeClr>
                </a:solidFill>
                <a:latin typeface="Consolas" panose="020B0609020204030204" pitchFamily="49" charset="0"/>
                <a:ea typeface="JetBrains Mono"/>
              </a:rPr>
              <a:t>异常类名 对象名</a:t>
            </a:r>
            <a:r>
              <a:rPr lang="en-US" altLang="zh-CN" sz="1600" dirty="0">
                <a:solidFill>
                  <a:schemeClr val="tx1">
                    <a:lumMod val="95000"/>
                    <a:lumOff val="5000"/>
                  </a:schemeClr>
                </a:solidFill>
                <a:latin typeface="Consolas" panose="020B0609020204030204" pitchFamily="49" charset="0"/>
                <a:ea typeface="JetBrains Mono"/>
              </a:rPr>
              <a:t>) {</a:t>
            </a:r>
          </a:p>
          <a:p>
            <a:pPr algn="l"/>
            <a:endParaRPr lang="en-US" altLang="zh-CN" sz="1600" dirty="0">
              <a:solidFill>
                <a:srgbClr val="0033B3"/>
              </a:solidFill>
              <a:latin typeface="Consolas" panose="020B0609020204030204" pitchFamily="49" charset="0"/>
              <a:ea typeface="JetBrains Mono"/>
            </a:endParaRPr>
          </a:p>
          <a:p>
            <a:pPr algn="l"/>
            <a:r>
              <a:rPr lang="en-US" altLang="zh-CN" sz="1600" dirty="0">
                <a:solidFill>
                  <a:srgbClr val="0033B3"/>
                </a:solidFill>
                <a:latin typeface="Consolas" panose="020B0609020204030204" pitchFamily="49" charset="0"/>
                <a:ea typeface="JetBrains Mono"/>
              </a:rPr>
              <a:t>    </a:t>
            </a:r>
            <a:r>
              <a:rPr lang="zh-CN" altLang="en-US" sz="1600" dirty="0">
                <a:solidFill>
                  <a:schemeClr val="tx1">
                    <a:lumMod val="95000"/>
                    <a:lumOff val="5000"/>
                  </a:schemeClr>
                </a:solidFill>
                <a:latin typeface="Consolas" panose="020B0609020204030204" pitchFamily="49" charset="0"/>
                <a:ea typeface="JetBrains Mono"/>
              </a:rPr>
              <a:t>异常的处理方式</a:t>
            </a:r>
            <a:endParaRPr lang="en-US" altLang="zh-CN" sz="1600" dirty="0">
              <a:solidFill>
                <a:schemeClr val="tx1">
                  <a:lumMod val="95000"/>
                  <a:lumOff val="5000"/>
                </a:schemeClr>
              </a:solidFill>
              <a:latin typeface="Consolas" panose="020B0609020204030204" pitchFamily="49" charset="0"/>
              <a:ea typeface="JetBrains Mono"/>
            </a:endParaRPr>
          </a:p>
          <a:p>
            <a:pPr algn="l"/>
            <a:endParaRPr lang="en-US" altLang="zh-CN" sz="1600" dirty="0">
              <a:solidFill>
                <a:schemeClr val="tx1">
                  <a:lumMod val="95000"/>
                  <a:lumOff val="5000"/>
                </a:schemeClr>
              </a:solidFill>
              <a:latin typeface="Consolas" panose="020B0609020204030204" pitchFamily="49" charset="0"/>
              <a:ea typeface="JetBrains Mono"/>
            </a:endParaRPr>
          </a:p>
          <a:p>
            <a:pPr algn="l"/>
            <a:r>
              <a:rPr lang="en-US" altLang="zh-CN" sz="1600" dirty="0">
                <a:solidFill>
                  <a:schemeClr val="tx1">
                    <a:lumMod val="95000"/>
                    <a:lumOff val="5000"/>
                  </a:schemeClr>
                </a:solidFill>
                <a:latin typeface="Consolas" panose="020B0609020204030204" pitchFamily="49" charset="0"/>
                <a:ea typeface="JetBrains Mono"/>
              </a:rPr>
              <a:t>}</a:t>
            </a:r>
            <a:endParaRPr lang="zh-CN" altLang="en-US" sz="1600" dirty="0">
              <a:solidFill>
                <a:schemeClr val="tx1">
                  <a:lumMod val="95000"/>
                  <a:lumOff val="5000"/>
                </a:schemeClr>
              </a:solidFill>
              <a:latin typeface="Consolas" panose="020B0609020204030204" pitchFamily="49" charset="0"/>
              <a:ea typeface="JetBrains Mono"/>
            </a:endParaRPr>
          </a:p>
        </p:txBody>
      </p:sp>
      <p:sp>
        <p:nvSpPr>
          <p:cNvPr id="12" name="三角形 9">
            <a:extLst>
              <a:ext uri="{FF2B5EF4-FFF2-40B4-BE49-F238E27FC236}">
                <a16:creationId xmlns:a16="http://schemas.microsoft.com/office/drawing/2014/main" id="{2B657745-6381-D241-00E6-5CEE27EBA4A0}"/>
              </a:ext>
            </a:extLst>
          </p:cNvPr>
          <p:cNvSpPr/>
          <p:nvPr/>
        </p:nvSpPr>
        <p:spPr>
          <a:xfrm rot="2651319">
            <a:off x="4613165" y="3415656"/>
            <a:ext cx="109236" cy="58579"/>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8E4AFC0C-BCD3-7B46-CD6F-B900F54066BE}"/>
              </a:ext>
            </a:extLst>
          </p:cNvPr>
          <p:cNvSpPr/>
          <p:nvPr/>
        </p:nvSpPr>
        <p:spPr>
          <a:xfrm>
            <a:off x="4683151" y="3148218"/>
            <a:ext cx="3993305" cy="1288893"/>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A80FFB6A-7248-DF1A-FEED-1A3E7F47688A}"/>
              </a:ext>
            </a:extLst>
          </p:cNvPr>
          <p:cNvSpPr/>
          <p:nvPr/>
        </p:nvSpPr>
        <p:spPr>
          <a:xfrm>
            <a:off x="4608203" y="3077213"/>
            <a:ext cx="1115924" cy="280059"/>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latin typeface="Alibaba PuHuiTi R" pitchFamily="18" charset="-122"/>
                <a:ea typeface="Alibaba PuHuiTi R" pitchFamily="18" charset="-122"/>
                <a:cs typeface="Alibaba PuHuiTi R" pitchFamily="18" charset="-122"/>
              </a:rPr>
              <a:t>注意事项</a:t>
            </a:r>
          </a:p>
        </p:txBody>
      </p:sp>
      <p:sp>
        <p:nvSpPr>
          <p:cNvPr id="15" name="TextBox 6">
            <a:extLst>
              <a:ext uri="{FF2B5EF4-FFF2-40B4-BE49-F238E27FC236}">
                <a16:creationId xmlns:a16="http://schemas.microsoft.com/office/drawing/2014/main" id="{A9656C6E-EF0B-6A19-5FB6-FC951E802707}"/>
              </a:ext>
            </a:extLst>
          </p:cNvPr>
          <p:cNvSpPr txBox="1"/>
          <p:nvPr/>
        </p:nvSpPr>
        <p:spPr>
          <a:xfrm>
            <a:off x="4807991" y="3517279"/>
            <a:ext cx="3874148" cy="703334"/>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try () </a:t>
            </a:r>
            <a:r>
              <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rPr>
              <a:t>中的对象</a:t>
            </a: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rPr>
              <a:t>需要实现过 </a:t>
            </a:r>
            <a:r>
              <a:rPr lang="en-US" altLang="zh-CN" sz="1400" dirty="0" err="1">
                <a:latin typeface="Consolas" panose="020B0609020204030204" pitchFamily="49" charset="0"/>
                <a:ea typeface="阿里巴巴普惠体" panose="00020600040101010101" pitchFamily="18" charset="-122"/>
                <a:cs typeface="阿里巴巴普惠体" panose="00020600040101010101" pitchFamily="18" charset="-122"/>
              </a:rPr>
              <a:t>AutoCloseable</a:t>
            </a: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rPr>
              <a:t>接口</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标题 1">
            <a:extLst>
              <a:ext uri="{FF2B5EF4-FFF2-40B4-BE49-F238E27FC236}">
                <a16:creationId xmlns:a16="http://schemas.microsoft.com/office/drawing/2014/main" id="{CD769D55-5C14-4EA0-8C6D-B75E46AE5846}"/>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kern="0" dirty="0">
              <a:ea typeface="宋体" panose="02010600030101010101" pitchFamily="2" charset="-122"/>
              <a:cs typeface="Times New Roman" panose="02020603050405020304" pitchFamily="18" charset="0"/>
            </a:endParaRPr>
          </a:p>
        </p:txBody>
      </p:sp>
      <p:cxnSp>
        <p:nvCxnSpPr>
          <p:cNvPr id="10" name="直接连接符 9">
            <a:extLst>
              <a:ext uri="{FF2B5EF4-FFF2-40B4-BE49-F238E27FC236}">
                <a16:creationId xmlns:a16="http://schemas.microsoft.com/office/drawing/2014/main" id="{F97AE329-456E-430F-B2E5-5378B07C800B}"/>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1E7F5499-76FF-4B18-8186-EFFC5F3226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0327" y="4725144"/>
            <a:ext cx="3384376" cy="1456566"/>
          </a:xfrm>
          <a:prstGeom prst="rect">
            <a:avLst/>
          </a:prstGeom>
        </p:spPr>
      </p:pic>
    </p:spTree>
    <p:extLst>
      <p:ext uri="{BB962C8B-B14F-4D97-AF65-F5344CB8AC3E}">
        <p14:creationId xmlns:p14="http://schemas.microsoft.com/office/powerpoint/2010/main" val="926234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randombar(horizontal)">
                                      <p:cBhvr>
                                        <p:cTn id="12" dur="500"/>
                                        <p:tgtEl>
                                          <p:spTgt spid="12"/>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randombar(horizontal)">
                                      <p:cBhvr>
                                        <p:cTn id="15" dur="500"/>
                                        <p:tgtEl>
                                          <p:spTgt spid="13"/>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randombar(horizontal)">
                                      <p:cBhvr>
                                        <p:cTn id="18" dur="500"/>
                                        <p:tgtEl>
                                          <p:spTgt spid="14"/>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randombar(horizontal)">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14" grpId="0" animBg="1"/>
      <p:bldP spid="1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2">
            <a:extLst>
              <a:ext uri="{FF2B5EF4-FFF2-40B4-BE49-F238E27FC236}">
                <a16:creationId xmlns:a16="http://schemas.microsoft.com/office/drawing/2014/main" id="{B42614FF-C8CA-4FBD-BE43-CE0FB42ABB65}"/>
              </a:ext>
            </a:extLst>
          </p:cNvPr>
          <p:cNvSpPr txBox="1">
            <a:spLocks/>
          </p:cNvSpPr>
          <p:nvPr/>
        </p:nvSpPr>
        <p:spPr>
          <a:xfrm>
            <a:off x="3923928" y="1412776"/>
            <a:ext cx="3960440"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mj-lt"/>
              <a:buNone/>
            </a:pPr>
            <a:r>
              <a:rPr lang="en-US" altLang="zh-CN">
                <a:latin typeface="Consolas" panose="020B0609020204030204" pitchFamily="49" charset="0"/>
              </a:rPr>
              <a:t>FileOutputStream </a:t>
            </a:r>
            <a:r>
              <a:rPr lang="zh-CN" altLang="en-US">
                <a:latin typeface="Consolas" panose="020B0609020204030204" pitchFamily="49" charset="0"/>
              </a:rPr>
              <a:t>字节输出流</a:t>
            </a:r>
            <a:endParaRPr lang="en-US" altLang="zh-CN">
              <a:latin typeface="Consolas" panose="020B0609020204030204" pitchFamily="49" charset="0"/>
            </a:endParaRPr>
          </a:p>
          <a:p>
            <a:pPr marL="0" indent="0">
              <a:buFont typeface="+mj-lt"/>
              <a:buNone/>
            </a:pPr>
            <a:r>
              <a:rPr lang="zh-CN" altLang="en-US">
                <a:latin typeface="Consolas" panose="020B0609020204030204" pitchFamily="49" charset="0"/>
              </a:rPr>
              <a:t>创建对象的时候和文件建立关联</a:t>
            </a:r>
            <a:endParaRPr lang="en-US" altLang="zh-CN">
              <a:latin typeface="Consolas" panose="020B0609020204030204" pitchFamily="49" charset="0"/>
            </a:endParaRPr>
          </a:p>
          <a:p>
            <a:pPr marL="0" indent="0">
              <a:buFont typeface="+mj-lt"/>
              <a:buNone/>
            </a:pPr>
            <a:r>
              <a:rPr lang="zh-CN" altLang="en-US">
                <a:latin typeface="Consolas" panose="020B0609020204030204" pitchFamily="49" charset="0"/>
              </a:rPr>
              <a:t>通过</a:t>
            </a:r>
            <a:r>
              <a:rPr lang="en-US" altLang="zh-CN">
                <a:latin typeface="Consolas" panose="020B0609020204030204" pitchFamily="49" charset="0"/>
              </a:rPr>
              <a:t>write</a:t>
            </a:r>
            <a:r>
              <a:rPr lang="zh-CN" altLang="en-US">
                <a:latin typeface="Consolas" panose="020B0609020204030204" pitchFamily="49" charset="0"/>
              </a:rPr>
              <a:t>方法写出数据 </a:t>
            </a:r>
            <a:endParaRPr lang="en-US" altLang="zh-CN">
              <a:latin typeface="Consolas" panose="020B0609020204030204" pitchFamily="49" charset="0"/>
            </a:endParaRPr>
          </a:p>
          <a:p>
            <a:pPr marL="952485" lvl="1" indent="-342900">
              <a:buFont typeface="+mj-ea"/>
              <a:buAutoNum type="circleNumDbPlain"/>
            </a:pPr>
            <a:r>
              <a:rPr lang="zh-CN" altLang="en-US" b="0">
                <a:latin typeface="Consolas" panose="020B0609020204030204" pitchFamily="49" charset="0"/>
                <a:ea typeface="阿里巴巴普惠体" panose="00020600040101010101" pitchFamily="18" charset="-122"/>
                <a:cs typeface="阿里巴巴普惠体" panose="00020600040101010101" pitchFamily="18" charset="-122"/>
              </a:rPr>
              <a:t>写出单个字节</a:t>
            </a:r>
            <a:endParaRPr lang="en-US" altLang="zh-CN" b="0">
              <a:latin typeface="Consolas" panose="020B0609020204030204" pitchFamily="49" charset="0"/>
              <a:ea typeface="阿里巴巴普惠体" panose="00020600040101010101" pitchFamily="18" charset="-122"/>
              <a:cs typeface="阿里巴巴普惠体" panose="00020600040101010101" pitchFamily="18" charset="-122"/>
            </a:endParaRPr>
          </a:p>
          <a:p>
            <a:pPr marL="952485" lvl="1" indent="-342900">
              <a:buFont typeface="+mj-ea"/>
              <a:buAutoNum type="circleNumDbPlain"/>
            </a:pPr>
            <a:r>
              <a:rPr lang="zh-CN" altLang="en-US" b="0">
                <a:latin typeface="Consolas" panose="020B0609020204030204" pitchFamily="49" charset="0"/>
                <a:ea typeface="阿里巴巴普惠体" panose="00020600040101010101" pitchFamily="18" charset="-122"/>
                <a:cs typeface="阿里巴巴普惠体" panose="00020600040101010101" pitchFamily="18" charset="-122"/>
              </a:rPr>
              <a:t>写出一个字节数组</a:t>
            </a:r>
            <a:endParaRPr lang="en-US" altLang="zh-CN" b="0">
              <a:latin typeface="Consolas" panose="020B0609020204030204" pitchFamily="49" charset="0"/>
              <a:ea typeface="阿里巴巴普惠体" panose="00020600040101010101" pitchFamily="18" charset="-122"/>
              <a:cs typeface="阿里巴巴普惠体" panose="00020600040101010101" pitchFamily="18" charset="-122"/>
            </a:endParaRPr>
          </a:p>
          <a:p>
            <a:pPr marL="952485" lvl="1" indent="-342900">
              <a:buFont typeface="+mj-ea"/>
              <a:buAutoNum type="circleNumDbPlain"/>
            </a:pPr>
            <a:r>
              <a:rPr lang="zh-CN" altLang="en-US" b="0">
                <a:latin typeface="Consolas" panose="020B0609020204030204" pitchFamily="49" charset="0"/>
                <a:ea typeface="阿里巴巴普惠体" panose="00020600040101010101" pitchFamily="18" charset="-122"/>
                <a:cs typeface="阿里巴巴普惠体" panose="00020600040101010101" pitchFamily="18" charset="-122"/>
              </a:rPr>
              <a:t>写出字节数组的一部分</a:t>
            </a:r>
            <a:endParaRPr lang="en-US" altLang="zh-CN" b="0">
              <a:latin typeface="Consolas" panose="020B0609020204030204" pitchFamily="49" charset="0"/>
              <a:ea typeface="阿里巴巴普惠体" panose="00020600040101010101" pitchFamily="18" charset="-122"/>
              <a:cs typeface="阿里巴巴普惠体" panose="00020600040101010101" pitchFamily="18" charset="-122"/>
            </a:endParaRPr>
          </a:p>
          <a:p>
            <a:pPr marL="0" indent="0">
              <a:buFont typeface="+mj-lt"/>
              <a:buNone/>
            </a:pPr>
            <a:r>
              <a:rPr lang="zh-CN" altLang="en-US">
                <a:solidFill>
                  <a:srgbClr val="C00000"/>
                </a:solidFill>
                <a:latin typeface="Consolas" panose="020B0609020204030204" pitchFamily="49" charset="0"/>
              </a:rPr>
              <a:t>最后记得关流释放资源</a:t>
            </a:r>
            <a:endParaRPr lang="en-US" altLang="zh-CN" dirty="0">
              <a:solidFill>
                <a:srgbClr val="C00000"/>
              </a:solidFill>
              <a:latin typeface="Consolas" panose="020B0609020204030204" pitchFamily="49" charset="0"/>
            </a:endParaRPr>
          </a:p>
        </p:txBody>
      </p:sp>
      <p:sp>
        <p:nvSpPr>
          <p:cNvPr id="5" name="标题 1">
            <a:extLst>
              <a:ext uri="{FF2B5EF4-FFF2-40B4-BE49-F238E27FC236}">
                <a16:creationId xmlns:a16="http://schemas.microsoft.com/office/drawing/2014/main" id="{2F5CBC84-AB83-4620-8A50-293AD6E56D72}"/>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kern="0" dirty="0">
              <a:ea typeface="宋体" panose="02010600030101010101" pitchFamily="2"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FD0ADFB5-5C6B-4AF8-A1A2-71F287FD1AE8}"/>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66914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endParaRPr>
          </a:p>
        </p:txBody>
      </p:sp>
      <p:sp>
        <p:nvSpPr>
          <p:cNvPr id="97283" name="内容占位符 2"/>
          <p:cNvSpPr>
            <a:spLocks noGrp="1"/>
          </p:cNvSpPr>
          <p:nvPr>
            <p:ph idx="1"/>
          </p:nvPr>
        </p:nvSpPr>
        <p:spPr/>
        <p:txBody>
          <a:bodyPr/>
          <a:lstStyle/>
          <a:p>
            <a:pPr>
              <a:lnSpc>
                <a:spcPct val="110000"/>
              </a:lnSpc>
            </a:pPr>
            <a:r>
              <a:rPr lang="en-GB" altLang="zh-CN" b="0" dirty="0" err="1">
                <a:latin typeface="Times New Roman" panose="02020603050405020304" pitchFamily="18" charset="0"/>
                <a:ea typeface="黑体" panose="02010609060101010101" pitchFamily="49" charset="-122"/>
                <a:cs typeface="Times New Roman" panose="02020603050405020304" pitchFamily="18" charset="0"/>
              </a:rPr>
              <a:t>BufferedOutputStream</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类</a:t>
            </a:r>
            <a:endParaRPr lang="zh-CN" altLang="en-GB"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10000"/>
              </a:lnSpc>
            </a:pPr>
            <a:r>
              <a:rPr lang="zh-CN" altLang="en-GB" b="0" dirty="0">
                <a:ea typeface="黑体" panose="02010609060101010101" pitchFamily="49" charset="-122"/>
                <a:cs typeface="Times New Roman" panose="02020603050405020304" pitchFamily="18" charset="0"/>
              </a:rPr>
              <a:t>写二进制文件的缓冲流类</a:t>
            </a:r>
          </a:p>
          <a:p>
            <a:pPr lvl="1">
              <a:lnSpc>
                <a:spcPct val="110000"/>
              </a:lnSpc>
            </a:pPr>
            <a:r>
              <a:rPr lang="zh-CN" altLang="en-GB" b="0" dirty="0">
                <a:ea typeface="黑体" panose="02010609060101010101" pitchFamily="49" charset="-122"/>
                <a:cs typeface="Times New Roman" panose="02020603050405020304" pitchFamily="18" charset="0"/>
              </a:rPr>
              <a:t>类似于文本文件中的</a:t>
            </a:r>
            <a:r>
              <a:rPr lang="en-GB" altLang="zh-CN" b="0" dirty="0" err="1">
                <a:ea typeface="黑体" panose="02010609060101010101" pitchFamily="49" charset="-122"/>
                <a:cs typeface="Times New Roman" panose="02020603050405020304" pitchFamily="18" charset="0"/>
              </a:rPr>
              <a:t>BufferedWriter</a:t>
            </a:r>
            <a:endParaRPr lang="en-GB" altLang="zh-CN" b="0" dirty="0">
              <a:ea typeface="黑体" panose="02010609060101010101" pitchFamily="49" charset="-122"/>
              <a:cs typeface="Times New Roman" panose="02020603050405020304" pitchFamily="18" charset="0"/>
            </a:endParaRPr>
          </a:p>
          <a:p>
            <a:pPr lvl="1">
              <a:lnSpc>
                <a:spcPct val="110000"/>
              </a:lnSpc>
            </a:pPr>
            <a:r>
              <a:rPr lang="zh-CN" altLang="en-GB" b="0" dirty="0">
                <a:ea typeface="黑体" panose="02010609060101010101" pitchFamily="49" charset="-122"/>
                <a:cs typeface="Times New Roman" panose="02020603050405020304" pitchFamily="18" charset="0"/>
              </a:rPr>
              <a:t>对于大量数据的写入，可提高效率</a:t>
            </a:r>
          </a:p>
          <a:p>
            <a:pPr lvl="1">
              <a:lnSpc>
                <a:spcPct val="110000"/>
              </a:lnSpc>
            </a:pPr>
            <a:r>
              <a:rPr lang="zh-CN" altLang="en-GB" b="0" dirty="0">
                <a:ea typeface="黑体" panose="02010609060101010101" pitchFamily="49" charset="-122"/>
                <a:cs typeface="Times New Roman" panose="02020603050405020304" pitchFamily="18" charset="0"/>
              </a:rPr>
              <a:t>用法示例：</a:t>
            </a:r>
          </a:p>
          <a:p>
            <a:pPr lvl="2">
              <a:lnSpc>
                <a:spcPct val="110000"/>
              </a:lnSpc>
              <a:spcBef>
                <a:spcPct val="50000"/>
              </a:spcBef>
              <a:buFont typeface="Wingdings" panose="05000000000000000000" pitchFamily="2" charset="2"/>
              <a:buNone/>
            </a:pPr>
            <a:r>
              <a:rPr lang="en-GB" altLang="zh-CN" sz="240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DataOutputStream</a:t>
            </a: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out = new</a:t>
            </a:r>
            <a:r>
              <a:rPr lang="en-GB" altLang="zh-CN" sz="24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r>
              <a:rPr lang="en-GB" altLang="zh-CN" sz="240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DataOutputStream</a:t>
            </a: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a:t>
            </a:r>
          </a:p>
          <a:p>
            <a:pPr lvl="2">
              <a:lnSpc>
                <a:spcPct val="110000"/>
              </a:lnSpc>
              <a:buFont typeface="Wingdings" panose="05000000000000000000" pitchFamily="2" charset="2"/>
              <a:buNone/>
            </a:pP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new </a:t>
            </a:r>
            <a:r>
              <a:rPr lang="en-GB" altLang="zh-CN" sz="24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BufferedOutputStream</a:t>
            </a: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a:t>
            </a:r>
          </a:p>
          <a:p>
            <a:pPr lvl="2">
              <a:lnSpc>
                <a:spcPct val="110000"/>
              </a:lnSpc>
              <a:buFont typeface="Wingdings" panose="05000000000000000000" pitchFamily="2" charset="2"/>
              <a:buNone/>
            </a:pP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new </a:t>
            </a:r>
            <a:r>
              <a:rPr lang="en-GB" altLang="zh-CN" sz="2400" dirty="0" err="1">
                <a:solidFill>
                  <a:srgbClr val="009900"/>
                </a:solidFill>
                <a:latin typeface="Times New Roman" panose="02020603050405020304" pitchFamily="18" charset="0"/>
                <a:ea typeface="黑体" panose="02010609060101010101" pitchFamily="49" charset="-122"/>
                <a:cs typeface="Times New Roman" panose="02020603050405020304" pitchFamily="18" charset="0"/>
              </a:rPr>
              <a:t>FileOutputStream</a:t>
            </a: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en-GB" altLang="zh-CN" sz="2400" dirty="0" err="1">
                <a:latin typeface="Times New Roman" panose="02020603050405020304" pitchFamily="18" charset="0"/>
                <a:ea typeface="黑体" panose="02010609060101010101" pitchFamily="49" charset="-122"/>
                <a:cs typeface="Times New Roman" panose="02020603050405020304" pitchFamily="18" charset="0"/>
              </a:rPr>
              <a:t>fileName</a:t>
            </a:r>
            <a:r>
              <a:rPr lang="en-GB" altLang="zh-CN" sz="2400" dirty="0">
                <a:latin typeface="Times New Roman" panose="02020603050405020304" pitchFamily="18" charset="0"/>
                <a:ea typeface="黑体" panose="02010609060101010101" pitchFamily="49" charset="-122"/>
                <a:cs typeface="Times New Roman" panose="02020603050405020304" pitchFamily="18" charset="0"/>
              </a:rPr>
              <a:t> ) ) ); </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58314" y="1385114"/>
            <a:ext cx="4561758" cy="566245"/>
          </a:xfrm>
          <a:prstGeom prst="rect">
            <a:avLst/>
          </a:prstGeom>
          <a:noFill/>
        </p:spPr>
        <p:txBody>
          <a:bodyPr wrap="square">
            <a:spAutoFit/>
          </a:bodyPr>
          <a:lstStyle/>
          <a:p>
            <a:pPr eaLnBrk="0" hangingPunct="0">
              <a:lnSpc>
                <a:spcPct val="200000"/>
              </a:lnSpc>
              <a:defRPr/>
            </a:pP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字节缓冲流介绍 </a:t>
            </a:r>
            <a:r>
              <a:rPr lang="en-US" altLang="zh-CN"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BufferedInputStream</a:t>
            </a:r>
            <a:endPar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 name="TextBox 6">
            <a:extLst>
              <a:ext uri="{FF2B5EF4-FFF2-40B4-BE49-F238E27FC236}">
                <a16:creationId xmlns:a16="http://schemas.microsoft.com/office/drawing/2014/main" id="{F8ADC3EC-E617-7F3F-7870-426EADC66B9B}"/>
              </a:ext>
            </a:extLst>
          </p:cNvPr>
          <p:cNvSpPr txBox="1"/>
          <p:nvPr/>
        </p:nvSpPr>
        <p:spPr>
          <a:xfrm>
            <a:off x="658314" y="2233452"/>
            <a:ext cx="6184778"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字节缓冲流在源代码中内置了字节数组，可以提高读写效率</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graphicFrame>
        <p:nvGraphicFramePr>
          <p:cNvPr id="4" name="表格 3">
            <a:extLst>
              <a:ext uri="{FF2B5EF4-FFF2-40B4-BE49-F238E27FC236}">
                <a16:creationId xmlns:a16="http://schemas.microsoft.com/office/drawing/2014/main" id="{119B6551-536F-F0F7-1BDC-632F4B10B903}"/>
              </a:ext>
            </a:extLst>
          </p:cNvPr>
          <p:cNvGraphicFramePr>
            <a:graphicFrameLocks noGrp="1"/>
          </p:cNvGraphicFramePr>
          <p:nvPr>
            <p:extLst>
              <p:ext uri="{D42A27DB-BD31-4B8C-83A1-F6EECF244321}">
                <p14:modId xmlns:p14="http://schemas.microsoft.com/office/powerpoint/2010/main" val="3654326014"/>
              </p:ext>
            </p:extLst>
          </p:nvPr>
        </p:nvGraphicFramePr>
        <p:xfrm>
          <a:off x="539552" y="2773179"/>
          <a:ext cx="8075138" cy="1116015"/>
        </p:xfrm>
        <a:graphic>
          <a:graphicData uri="http://schemas.openxmlformats.org/drawingml/2006/table">
            <a:tbl>
              <a:tblPr/>
              <a:tblGrid>
                <a:gridCol w="4464496">
                  <a:extLst>
                    <a:ext uri="{9D8B030D-6E8A-4147-A177-3AD203B41FA5}">
                      <a16:colId xmlns:a16="http://schemas.microsoft.com/office/drawing/2014/main" val="4059425573"/>
                    </a:ext>
                  </a:extLst>
                </a:gridCol>
                <a:gridCol w="3610642">
                  <a:extLst>
                    <a:ext uri="{9D8B030D-6E8A-4147-A177-3AD203B41FA5}">
                      <a16:colId xmlns:a16="http://schemas.microsoft.com/office/drawing/2014/main" val="1139361603"/>
                    </a:ext>
                  </a:extLst>
                </a:gridCol>
              </a:tblGrid>
              <a:tr h="358916">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360864">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en-US" altLang="zh-CN" sz="1600" kern="1200" dirty="0" err="1">
                          <a:solidFill>
                            <a:schemeClr val="tx1"/>
                          </a:solidFill>
                          <a:effectLst/>
                          <a:latin typeface="Consolas" panose="020B0609020204030204" pitchFamily="49" charset="0"/>
                          <a:ea typeface="黑体" panose="02010609060101010101" pitchFamily="49" charset="-122"/>
                          <a:cs typeface="+mn-cs"/>
                        </a:rPr>
                        <a:t>BufferedInputStream</a:t>
                      </a:r>
                      <a:r>
                        <a:rPr lang="en-US" altLang="zh-CN" sz="1600" kern="1200" dirty="0">
                          <a:solidFill>
                            <a:schemeClr val="tx1"/>
                          </a:solidFill>
                          <a:effectLst/>
                          <a:latin typeface="Consolas" panose="020B0609020204030204" pitchFamily="49" charset="0"/>
                          <a:ea typeface="黑体" panose="02010609060101010101" pitchFamily="49" charset="-122"/>
                          <a:cs typeface="+mn-cs"/>
                        </a:rPr>
                        <a:t>(</a:t>
                      </a:r>
                      <a:r>
                        <a:rPr lang="en-US" altLang="zh-CN" sz="1600" kern="1200" dirty="0" err="1">
                          <a:solidFill>
                            <a:schemeClr val="tx1"/>
                          </a:solidFill>
                          <a:effectLst/>
                          <a:latin typeface="Consolas" panose="020B0609020204030204" pitchFamily="49" charset="0"/>
                          <a:ea typeface="黑体" panose="02010609060101010101" pitchFamily="49" charset="-122"/>
                          <a:cs typeface="+mn-cs"/>
                        </a:rPr>
                        <a:t>InputStream</a:t>
                      </a:r>
                      <a:r>
                        <a:rPr lang="en-US" altLang="zh-CN" sz="1600" kern="1200" dirty="0">
                          <a:solidFill>
                            <a:schemeClr val="tx1"/>
                          </a:solidFill>
                          <a:effectLst/>
                          <a:latin typeface="Consolas" panose="020B0609020204030204" pitchFamily="49" charset="0"/>
                          <a:ea typeface="黑体" panose="02010609060101010101" pitchFamily="49" charset="-122"/>
                          <a:cs typeface="+mn-cs"/>
                        </a:rPr>
                        <a:t> in)</a:t>
                      </a:r>
                      <a:endParaRPr lang="zh-CN" altLang="en-US" sz="16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eaLnBrk="0" hangingPunct="0">
                        <a:lnSpc>
                          <a:spcPct val="150000"/>
                        </a:lnSpc>
                        <a:buFont typeface="Wingdings" pitchFamily="2" charset="2"/>
                        <a:buNone/>
                        <a:defRPr/>
                      </a:pPr>
                      <a:r>
                        <a:rPr lang="zh-CN" altLang="en-US" sz="1600" dirty="0">
                          <a:latin typeface="Consolas" panose="020B0609020204030204" pitchFamily="49" charset="0"/>
                          <a:ea typeface="Alibaba PuHuiTi R"/>
                        </a:rPr>
                        <a:t>对传入的字节输入流进行包装</a:t>
                      </a:r>
                      <a:endParaRPr lang="en-US" altLang="zh-CN" sz="16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r h="362732">
                <a:tc>
                  <a:txBody>
                    <a:bodyPr/>
                    <a:lstStyle/>
                    <a:p>
                      <a:r>
                        <a:rPr lang="en-US" altLang="zh-CN" sz="1600" dirty="0" err="1">
                          <a:latin typeface="Consolas" panose="020B0609020204030204" pitchFamily="49" charset="0"/>
                          <a:ea typeface="微软雅黑" pitchFamily="34" charset="-122"/>
                        </a:rPr>
                        <a:t>BufferedOutputStream</a:t>
                      </a:r>
                      <a:r>
                        <a:rPr lang="en-US" altLang="zh-CN" sz="1600" dirty="0">
                          <a:latin typeface="Consolas" panose="020B0609020204030204" pitchFamily="49" charset="0"/>
                          <a:ea typeface="微软雅黑" pitchFamily="34" charset="-122"/>
                        </a:rPr>
                        <a:t>(</a:t>
                      </a:r>
                      <a:r>
                        <a:rPr lang="en-US" altLang="zh-CN" sz="1600" dirty="0" err="1">
                          <a:latin typeface="Consolas" panose="020B0609020204030204" pitchFamily="49" charset="0"/>
                          <a:ea typeface="微软雅黑" pitchFamily="34" charset="-122"/>
                        </a:rPr>
                        <a:t>OutputStream</a:t>
                      </a:r>
                      <a:r>
                        <a:rPr lang="en-US" altLang="zh-CN" sz="1600" dirty="0">
                          <a:latin typeface="Consolas" panose="020B0609020204030204" pitchFamily="49" charset="0"/>
                          <a:ea typeface="微软雅黑" pitchFamily="34" charset="-122"/>
                        </a:rPr>
                        <a:t> out)</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600" b="0" dirty="0">
                          <a:solidFill>
                            <a:schemeClr val="tx1">
                              <a:lumMod val="95000"/>
                              <a:lumOff val="5000"/>
                            </a:schemeClr>
                          </a:solidFill>
                          <a:latin typeface="Consolas" panose="020B0609020204030204" pitchFamily="49" charset="0"/>
                          <a:ea typeface="Alibaba PuHuiTi R"/>
                        </a:rPr>
                        <a:t>对传入的字节输出流进行包装</a:t>
                      </a:r>
                      <a:endParaRPr lang="en-US" altLang="zh-CN" sz="16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53507733"/>
                  </a:ext>
                </a:extLst>
              </a:tr>
            </a:tbl>
          </a:graphicData>
        </a:graphic>
      </p:graphicFrame>
      <p:sp>
        <p:nvSpPr>
          <p:cNvPr id="5" name="文本框 4">
            <a:extLst>
              <a:ext uri="{FF2B5EF4-FFF2-40B4-BE49-F238E27FC236}">
                <a16:creationId xmlns:a16="http://schemas.microsoft.com/office/drawing/2014/main" id="{CBA64598-54DB-A08E-7AD4-947FCCFF091E}"/>
              </a:ext>
            </a:extLst>
          </p:cNvPr>
          <p:cNvSpPr txBox="1"/>
          <p:nvPr/>
        </p:nvSpPr>
        <p:spPr>
          <a:xfrm>
            <a:off x="497716" y="4829844"/>
            <a:ext cx="6505973" cy="946028"/>
          </a:xfrm>
          <a:prstGeom prst="rect">
            <a:avLst/>
          </a:prstGeom>
          <a:noFill/>
          <a:ln>
            <a:noFill/>
          </a:ln>
        </p:spPr>
        <p:txBody>
          <a:bodyPr wrap="square" rtlCol="0">
            <a:spAutoFit/>
          </a:bodyPr>
          <a:lstStyle/>
          <a:p>
            <a:pPr algn="l">
              <a:lnSpc>
                <a:spcPct val="200000"/>
              </a:lnSpc>
            </a:pPr>
            <a:r>
              <a:rPr lang="zh-CN" altLang="en-US" sz="1500" dirty="0">
                <a:solidFill>
                  <a:srgbClr val="C00000"/>
                </a:solidFill>
                <a:latin typeface="杨任东竹石体-Bold" panose="02000000000000000000" pitchFamily="2" charset="-122"/>
                <a:ea typeface="杨任东竹石体-Bold" panose="02000000000000000000" pitchFamily="2" charset="-122"/>
              </a:rPr>
              <a:t>注意</a:t>
            </a:r>
            <a:r>
              <a:rPr lang="en-US" altLang="zh-CN" sz="1500" dirty="0">
                <a:solidFill>
                  <a:srgbClr val="C00000"/>
                </a:solidFill>
                <a:latin typeface="杨任东竹石体-Bold" panose="02000000000000000000" pitchFamily="2" charset="-122"/>
                <a:ea typeface="杨任东竹石体-Bold" panose="02000000000000000000" pitchFamily="2" charset="-122"/>
              </a:rPr>
              <a:t>: </a:t>
            </a:r>
            <a:r>
              <a:rPr lang="zh-CN" altLang="en-US" sz="1500" dirty="0">
                <a:solidFill>
                  <a:srgbClr val="C00000"/>
                </a:solidFill>
                <a:latin typeface="杨任东竹石体-Bold" panose="02000000000000000000" pitchFamily="2" charset="-122"/>
                <a:ea typeface="杨任东竹石体-Bold" panose="02000000000000000000" pitchFamily="2" charset="-122"/>
              </a:rPr>
              <a:t>缓冲流不具备读写功能</a:t>
            </a:r>
            <a:r>
              <a:rPr lang="en-US" altLang="zh-CN" sz="1500" dirty="0">
                <a:solidFill>
                  <a:srgbClr val="C00000"/>
                </a:solidFill>
                <a:latin typeface="杨任东竹石体-Bold" panose="02000000000000000000" pitchFamily="2" charset="-122"/>
                <a:ea typeface="杨任东竹石体-Bold" panose="02000000000000000000" pitchFamily="2" charset="-122"/>
              </a:rPr>
              <a:t>, </a:t>
            </a:r>
            <a:r>
              <a:rPr lang="zh-CN" altLang="en-US" sz="1500" dirty="0">
                <a:solidFill>
                  <a:srgbClr val="C00000"/>
                </a:solidFill>
                <a:latin typeface="杨任东竹石体-Bold" panose="02000000000000000000" pitchFamily="2" charset="-122"/>
                <a:ea typeface="杨任东竹石体-Bold" panose="02000000000000000000" pitchFamily="2" charset="-122"/>
              </a:rPr>
              <a:t>它们只是对普通的流对象进行包装</a:t>
            </a:r>
            <a:endParaRPr lang="en-US" altLang="zh-CN" sz="1500" dirty="0">
              <a:solidFill>
                <a:srgbClr val="C00000"/>
              </a:solidFill>
              <a:latin typeface="杨任东竹石体-Bold" panose="02000000000000000000" pitchFamily="2" charset="-122"/>
              <a:ea typeface="杨任东竹石体-Bold" panose="02000000000000000000" pitchFamily="2" charset="-122"/>
            </a:endParaRPr>
          </a:p>
          <a:p>
            <a:pPr algn="l">
              <a:lnSpc>
                <a:spcPct val="200000"/>
              </a:lnSpc>
            </a:pPr>
            <a:r>
              <a:rPr lang="en-US" altLang="zh-CN" sz="1500" dirty="0">
                <a:solidFill>
                  <a:srgbClr val="C00000"/>
                </a:solidFill>
                <a:latin typeface="杨任东竹石体-Bold" panose="02000000000000000000" pitchFamily="2" charset="-122"/>
                <a:ea typeface="杨任东竹石体-Bold" panose="02000000000000000000" pitchFamily="2" charset="-122"/>
              </a:rPr>
              <a:t>	</a:t>
            </a:r>
            <a:r>
              <a:rPr lang="zh-CN" altLang="en-US" sz="1500" dirty="0">
                <a:solidFill>
                  <a:srgbClr val="C00000"/>
                </a:solidFill>
                <a:latin typeface="杨任东竹石体-Bold" panose="02000000000000000000" pitchFamily="2" charset="-122"/>
                <a:ea typeface="杨任东竹石体-Bold" panose="02000000000000000000" pitchFamily="2" charset="-122"/>
              </a:rPr>
              <a:t>真正和文件建立关联的</a:t>
            </a:r>
            <a:r>
              <a:rPr lang="en-US" altLang="zh-CN" sz="1500" dirty="0">
                <a:solidFill>
                  <a:srgbClr val="C00000"/>
                </a:solidFill>
                <a:latin typeface="杨任东竹石体-Bold" panose="02000000000000000000" pitchFamily="2" charset="-122"/>
                <a:ea typeface="杨任东竹石体-Bold" panose="02000000000000000000" pitchFamily="2" charset="-122"/>
              </a:rPr>
              <a:t>, </a:t>
            </a:r>
            <a:r>
              <a:rPr lang="zh-CN" altLang="en-US" sz="1500" dirty="0">
                <a:solidFill>
                  <a:srgbClr val="C00000"/>
                </a:solidFill>
                <a:latin typeface="杨任东竹石体-Bold" panose="02000000000000000000" pitchFamily="2" charset="-122"/>
                <a:ea typeface="杨任东竹石体-Bold" panose="02000000000000000000" pitchFamily="2" charset="-122"/>
              </a:rPr>
              <a:t>还是普通的流对象</a:t>
            </a:r>
          </a:p>
        </p:txBody>
      </p:sp>
      <p:sp>
        <p:nvSpPr>
          <p:cNvPr id="6" name="文本框 5">
            <a:extLst>
              <a:ext uri="{FF2B5EF4-FFF2-40B4-BE49-F238E27FC236}">
                <a16:creationId xmlns:a16="http://schemas.microsoft.com/office/drawing/2014/main" id="{7419CF2A-0F44-460C-0D9E-7E6772BF1BEB}"/>
              </a:ext>
            </a:extLst>
          </p:cNvPr>
          <p:cNvSpPr txBox="1"/>
          <p:nvPr/>
        </p:nvSpPr>
        <p:spPr>
          <a:xfrm>
            <a:off x="3156680" y="2614815"/>
            <a:ext cx="2669320" cy="276999"/>
          </a:xfrm>
          <a:prstGeom prst="rect">
            <a:avLst/>
          </a:prstGeom>
          <a:solidFill>
            <a:srgbClr val="FFFFE4"/>
          </a:solidFill>
          <a:ln>
            <a:solidFill>
              <a:schemeClr val="tx1">
                <a:lumMod val="95000"/>
                <a:lumOff val="5000"/>
              </a:schemeClr>
            </a:solidFill>
          </a:ln>
        </p:spPr>
        <p:txBody>
          <a:bodyPr wrap="none" rtlCol="0">
            <a:spAutoFit/>
          </a:bodyPr>
          <a:lstStyle/>
          <a:p>
            <a:pPr algn="l"/>
            <a:r>
              <a:rPr lang="en-US" altLang="zh-CN" sz="1200" dirty="0">
                <a:solidFill>
                  <a:srgbClr val="0033B3"/>
                </a:solidFill>
                <a:latin typeface="Consolas" panose="020B0609020204030204" pitchFamily="49" charset="0"/>
                <a:ea typeface="JetBrains Mono"/>
              </a:rPr>
              <a:t>new </a:t>
            </a:r>
            <a:r>
              <a:rPr lang="en-US" altLang="zh-CN" sz="1200" dirty="0" err="1">
                <a:solidFill>
                  <a:schemeClr val="tx1">
                    <a:lumMod val="95000"/>
                    <a:lumOff val="5000"/>
                  </a:schemeClr>
                </a:solidFill>
                <a:latin typeface="Consolas" panose="020B0609020204030204" pitchFamily="49" charset="0"/>
                <a:ea typeface="JetBrains Mono"/>
              </a:rPr>
              <a:t>FileInputStream</a:t>
            </a:r>
            <a:r>
              <a:rPr lang="en-US" altLang="zh-CN" sz="1200" dirty="0">
                <a:solidFill>
                  <a:schemeClr val="tx1">
                    <a:lumMod val="95000"/>
                    <a:lumOff val="5000"/>
                  </a:schemeClr>
                </a:solidFill>
                <a:latin typeface="Consolas" panose="020B0609020204030204" pitchFamily="49" charset="0"/>
                <a:ea typeface="JetBrains Mono"/>
              </a:rPr>
              <a:t>(</a:t>
            </a:r>
            <a:r>
              <a:rPr lang="zh-CN" altLang="en-US" sz="1200" dirty="0">
                <a:solidFill>
                  <a:schemeClr val="tx1">
                    <a:lumMod val="95000"/>
                    <a:lumOff val="5000"/>
                  </a:schemeClr>
                </a:solidFill>
                <a:latin typeface="Consolas" panose="020B0609020204030204" pitchFamily="49" charset="0"/>
                <a:ea typeface="JetBrains Mono"/>
              </a:rPr>
              <a:t>文件路径</a:t>
            </a:r>
            <a:r>
              <a:rPr lang="en-US" altLang="zh-CN" sz="1200" dirty="0">
                <a:solidFill>
                  <a:schemeClr val="tx1">
                    <a:lumMod val="95000"/>
                    <a:lumOff val="5000"/>
                  </a:schemeClr>
                </a:solidFill>
                <a:latin typeface="Consolas" panose="020B0609020204030204" pitchFamily="49" charset="0"/>
                <a:ea typeface="JetBrains Mono"/>
              </a:rPr>
              <a:t>);</a:t>
            </a:r>
            <a:endParaRPr lang="zh-CN" altLang="en-US" sz="1200" dirty="0">
              <a:solidFill>
                <a:schemeClr val="tx1">
                  <a:lumMod val="95000"/>
                  <a:lumOff val="5000"/>
                </a:schemeClr>
              </a:solidFill>
              <a:latin typeface="Consolas" panose="020B0609020204030204" pitchFamily="49" charset="0"/>
              <a:ea typeface="JetBrains Mono"/>
            </a:endParaRPr>
          </a:p>
        </p:txBody>
      </p:sp>
      <p:sp>
        <p:nvSpPr>
          <p:cNvPr id="7" name="文本框 6">
            <a:extLst>
              <a:ext uri="{FF2B5EF4-FFF2-40B4-BE49-F238E27FC236}">
                <a16:creationId xmlns:a16="http://schemas.microsoft.com/office/drawing/2014/main" id="{31A55753-6073-2C55-D6C0-4E4E37CBA2B7}"/>
              </a:ext>
            </a:extLst>
          </p:cNvPr>
          <p:cNvSpPr txBox="1"/>
          <p:nvPr/>
        </p:nvSpPr>
        <p:spPr>
          <a:xfrm>
            <a:off x="3138788" y="3832464"/>
            <a:ext cx="2754280" cy="276999"/>
          </a:xfrm>
          <a:prstGeom prst="rect">
            <a:avLst/>
          </a:prstGeom>
          <a:solidFill>
            <a:srgbClr val="FFFFE4"/>
          </a:solidFill>
          <a:ln>
            <a:solidFill>
              <a:schemeClr val="tx1">
                <a:lumMod val="95000"/>
                <a:lumOff val="5000"/>
              </a:schemeClr>
            </a:solidFill>
          </a:ln>
        </p:spPr>
        <p:txBody>
          <a:bodyPr wrap="none" rtlCol="0">
            <a:spAutoFit/>
          </a:bodyPr>
          <a:lstStyle/>
          <a:p>
            <a:pPr algn="l"/>
            <a:r>
              <a:rPr lang="en-US" altLang="zh-CN" sz="1200" dirty="0">
                <a:solidFill>
                  <a:srgbClr val="0033B3"/>
                </a:solidFill>
                <a:latin typeface="Consolas" panose="020B0609020204030204" pitchFamily="49" charset="0"/>
                <a:ea typeface="JetBrains Mono"/>
              </a:rPr>
              <a:t>new </a:t>
            </a:r>
            <a:r>
              <a:rPr lang="en-US" altLang="zh-CN" sz="1200" dirty="0" err="1">
                <a:solidFill>
                  <a:schemeClr val="tx1">
                    <a:lumMod val="95000"/>
                    <a:lumOff val="5000"/>
                  </a:schemeClr>
                </a:solidFill>
                <a:latin typeface="Consolas" panose="020B0609020204030204" pitchFamily="49" charset="0"/>
                <a:ea typeface="JetBrains Mono"/>
              </a:rPr>
              <a:t>FileOutputStream</a:t>
            </a:r>
            <a:r>
              <a:rPr lang="en-US" altLang="zh-CN" sz="1200" dirty="0">
                <a:solidFill>
                  <a:schemeClr val="tx1">
                    <a:lumMod val="95000"/>
                    <a:lumOff val="5000"/>
                  </a:schemeClr>
                </a:solidFill>
                <a:latin typeface="Consolas" panose="020B0609020204030204" pitchFamily="49" charset="0"/>
                <a:ea typeface="JetBrains Mono"/>
              </a:rPr>
              <a:t>(</a:t>
            </a:r>
            <a:r>
              <a:rPr lang="zh-CN" altLang="en-US" sz="1200" dirty="0">
                <a:solidFill>
                  <a:schemeClr val="tx1">
                    <a:lumMod val="95000"/>
                    <a:lumOff val="5000"/>
                  </a:schemeClr>
                </a:solidFill>
                <a:latin typeface="Consolas" panose="020B0609020204030204" pitchFamily="49" charset="0"/>
                <a:ea typeface="JetBrains Mono"/>
              </a:rPr>
              <a:t>文件路径</a:t>
            </a:r>
            <a:r>
              <a:rPr lang="en-US" altLang="zh-CN" sz="1200" dirty="0">
                <a:solidFill>
                  <a:schemeClr val="tx1">
                    <a:lumMod val="95000"/>
                    <a:lumOff val="5000"/>
                  </a:schemeClr>
                </a:solidFill>
                <a:latin typeface="Consolas" panose="020B0609020204030204" pitchFamily="49" charset="0"/>
                <a:ea typeface="JetBrains Mono"/>
              </a:rPr>
              <a:t>);</a:t>
            </a:r>
            <a:endParaRPr lang="zh-CN" altLang="en-US" sz="1200" dirty="0">
              <a:solidFill>
                <a:schemeClr val="tx1">
                  <a:lumMod val="95000"/>
                  <a:lumOff val="5000"/>
                </a:schemeClr>
              </a:solidFill>
              <a:latin typeface="Consolas" panose="020B0609020204030204" pitchFamily="49" charset="0"/>
              <a:ea typeface="JetBrains Mono"/>
            </a:endParaRPr>
          </a:p>
        </p:txBody>
      </p:sp>
      <p:cxnSp>
        <p:nvCxnSpPr>
          <p:cNvPr id="8" name="直接连接符 7">
            <a:extLst>
              <a:ext uri="{FF2B5EF4-FFF2-40B4-BE49-F238E27FC236}">
                <a16:creationId xmlns:a16="http://schemas.microsoft.com/office/drawing/2014/main" id="{A6466213-CE51-4C18-8BAC-68585AA35D7C}"/>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9" name="标题 1">
            <a:extLst>
              <a:ext uri="{FF2B5EF4-FFF2-40B4-BE49-F238E27FC236}">
                <a16:creationId xmlns:a16="http://schemas.microsoft.com/office/drawing/2014/main" id="{1914ECEE-5AC2-4498-B36B-A452694826C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kern="0" dirty="0">
              <a:ea typeface="宋体" panose="02010600030101010101" pitchFamily="2" charset="-122"/>
            </a:endParaRPr>
          </a:p>
        </p:txBody>
      </p:sp>
    </p:spTree>
    <p:extLst>
      <p:ext uri="{BB962C8B-B14F-4D97-AF65-F5344CB8AC3E}">
        <p14:creationId xmlns:p14="http://schemas.microsoft.com/office/powerpoint/2010/main" val="35120917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750"/>
                                        <p:tgtEl>
                                          <p:spTgt spid="5"/>
                                        </p:tgtEl>
                                      </p:cBhvr>
                                    </p:animEffect>
                                    <p:anim calcmode="lin" valueType="num">
                                      <p:cBhvr>
                                        <p:cTn id="23" dur="750" fill="hold"/>
                                        <p:tgtEl>
                                          <p:spTgt spid="5"/>
                                        </p:tgtEl>
                                        <p:attrNameLst>
                                          <p:attrName>ppt_x</p:attrName>
                                        </p:attrNameLst>
                                      </p:cBhvr>
                                      <p:tavLst>
                                        <p:tav tm="0">
                                          <p:val>
                                            <p:strVal val="#ppt_x"/>
                                          </p:val>
                                        </p:tav>
                                        <p:tav tm="100000">
                                          <p:val>
                                            <p:strVal val="#ppt_x"/>
                                          </p:val>
                                        </p:tav>
                                      </p:tavLst>
                                    </p:anim>
                                    <p:anim calcmode="lin" valueType="num">
                                      <p:cBhvr>
                                        <p:cTn id="24" dur="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3989AF87-195C-4D33-BC07-F3ACD10AE62D}"/>
              </a:ext>
            </a:extLst>
          </p:cNvPr>
          <p:cNvGrpSpPr/>
          <p:nvPr/>
        </p:nvGrpSpPr>
        <p:grpSpPr>
          <a:xfrm>
            <a:off x="162146" y="1700808"/>
            <a:ext cx="8819708" cy="4480967"/>
            <a:chOff x="-8065" y="1412776"/>
            <a:chExt cx="10375437" cy="4913015"/>
          </a:xfrm>
        </p:grpSpPr>
        <p:sp>
          <p:nvSpPr>
            <p:cNvPr id="25" name="流程图: 磁盘 24">
              <a:extLst>
                <a:ext uri="{FF2B5EF4-FFF2-40B4-BE49-F238E27FC236}">
                  <a16:creationId xmlns:a16="http://schemas.microsoft.com/office/drawing/2014/main" id="{4CF6A390-9E06-40D3-8552-441A8FE8CD2E}"/>
                </a:ext>
              </a:extLst>
            </p:cNvPr>
            <p:cNvSpPr/>
            <p:nvPr/>
          </p:nvSpPr>
          <p:spPr>
            <a:xfrm>
              <a:off x="8534529" y="2039203"/>
              <a:ext cx="1832843" cy="61841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
          <p:nvSpPr>
            <p:cNvPr id="26" name="矩形: 折角 25">
              <a:extLst>
                <a:ext uri="{FF2B5EF4-FFF2-40B4-BE49-F238E27FC236}">
                  <a16:creationId xmlns:a16="http://schemas.microsoft.com/office/drawing/2014/main" id="{F2CFF14B-185C-4C1C-8C72-5640DBEDB1DE}"/>
                </a:ext>
              </a:extLst>
            </p:cNvPr>
            <p:cNvSpPr/>
            <p:nvPr/>
          </p:nvSpPr>
          <p:spPr>
            <a:xfrm>
              <a:off x="145903" y="1855860"/>
              <a:ext cx="159377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27" name="文本框 26">
              <a:extLst>
                <a:ext uri="{FF2B5EF4-FFF2-40B4-BE49-F238E27FC236}">
                  <a16:creationId xmlns:a16="http://schemas.microsoft.com/office/drawing/2014/main" id="{E17898EE-0C7C-4A8D-8888-E60217826763}"/>
                </a:ext>
              </a:extLst>
            </p:cNvPr>
            <p:cNvSpPr txBox="1"/>
            <p:nvPr/>
          </p:nvSpPr>
          <p:spPr>
            <a:xfrm>
              <a:off x="145903" y="1918950"/>
              <a:ext cx="1220206" cy="738664"/>
            </a:xfrm>
            <a:prstGeom prst="rect">
              <a:avLst/>
            </a:prstGeom>
            <a:noFill/>
            <a:ln>
              <a:noFill/>
            </a:ln>
          </p:spPr>
          <p:txBody>
            <a:bodyPr wrap="none" rtlCol="0">
              <a:spAutoFit/>
            </a:bodyPr>
            <a:lstStyle/>
            <a:p>
              <a:pPr fontAlgn="auto">
                <a:spcBef>
                  <a:spcPts val="0"/>
                </a:spcBef>
                <a:spcAft>
                  <a:spcPts val="0"/>
                </a:spcAft>
              </a:pPr>
              <a:r>
                <a:rPr lang="en-US" altLang="zh-CN" sz="1400" dirty="0">
                  <a:solidFill>
                    <a:prstClr val="black">
                      <a:lumMod val="95000"/>
                      <a:lumOff val="5000"/>
                    </a:prstClr>
                  </a:solidFill>
                  <a:latin typeface="Consolas" panose="020B0609020204030204" pitchFamily="49" charset="0"/>
                  <a:ea typeface="JetBrains Mono"/>
                </a:rPr>
                <a:t>D:\\A.txt</a:t>
              </a:r>
            </a:p>
            <a:p>
              <a:pPr fontAlgn="auto">
                <a:spcBef>
                  <a:spcPts val="0"/>
                </a:spcBef>
                <a:spcAft>
                  <a:spcPts val="0"/>
                </a:spcAft>
              </a:pPr>
              <a:endParaRPr lang="en-US" altLang="zh-CN" sz="1400" dirty="0">
                <a:solidFill>
                  <a:prstClr val="black">
                    <a:lumMod val="95000"/>
                    <a:lumOff val="5000"/>
                  </a:prstClr>
                </a:solidFill>
                <a:latin typeface="Consolas" panose="020B0609020204030204" pitchFamily="49" charset="0"/>
                <a:ea typeface="JetBrains Mono"/>
              </a:endParaRPr>
            </a:p>
            <a:p>
              <a:pPr fontAlgn="auto">
                <a:spcBef>
                  <a:spcPts val="0"/>
                </a:spcBef>
                <a:spcAft>
                  <a:spcPts val="0"/>
                </a:spcAft>
              </a:pPr>
              <a:r>
                <a:rPr lang="en-US" altLang="zh-CN" sz="1400" dirty="0">
                  <a:solidFill>
                    <a:prstClr val="black">
                      <a:lumMod val="95000"/>
                      <a:lumOff val="5000"/>
                    </a:prstClr>
                  </a:solidFill>
                  <a:latin typeface="Consolas" panose="020B0609020204030204" pitchFamily="49" charset="0"/>
                  <a:ea typeface="JetBrains Mono"/>
                </a:rPr>
                <a:t>10000</a:t>
              </a:r>
              <a:r>
                <a:rPr lang="zh-CN" altLang="en-US" sz="1400" dirty="0">
                  <a:solidFill>
                    <a:prstClr val="black">
                      <a:lumMod val="95000"/>
                      <a:lumOff val="5000"/>
                    </a:prstClr>
                  </a:solidFill>
                  <a:latin typeface="Consolas" panose="020B0609020204030204" pitchFamily="49" charset="0"/>
                  <a:ea typeface="JetBrains Mono"/>
                </a:rPr>
                <a:t>个字节</a:t>
              </a:r>
            </a:p>
          </p:txBody>
        </p:sp>
        <p:sp>
          <p:nvSpPr>
            <p:cNvPr id="28" name="矩形 27">
              <a:extLst>
                <a:ext uri="{FF2B5EF4-FFF2-40B4-BE49-F238E27FC236}">
                  <a16:creationId xmlns:a16="http://schemas.microsoft.com/office/drawing/2014/main" id="{98EA34C8-692F-42A3-976C-7A8E850EDA2F}"/>
                </a:ext>
              </a:extLst>
            </p:cNvPr>
            <p:cNvSpPr/>
            <p:nvPr/>
          </p:nvSpPr>
          <p:spPr>
            <a:xfrm>
              <a:off x="1739681" y="2126457"/>
              <a:ext cx="3415543" cy="618411"/>
            </a:xfrm>
            <a:prstGeom prst="rect">
              <a:avLst/>
            </a:prstGeom>
            <a:solidFill>
              <a:srgbClr val="8064A2">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white"/>
                  </a:solidFill>
                  <a:effectLst/>
                  <a:uLnTx/>
                  <a:uFillTx/>
                  <a:latin typeface="Consolas" panose="020B0609020204030204" pitchFamily="49" charset="0"/>
                  <a:ea typeface="黑体"/>
                  <a:cs typeface="+mn-cs"/>
                </a:rPr>
                <a:t>FileInputStream</a:t>
              </a: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普通的流对象</a:t>
              </a:r>
            </a:p>
          </p:txBody>
        </p:sp>
        <p:sp>
          <p:nvSpPr>
            <p:cNvPr id="29" name="矩形 28">
              <a:extLst>
                <a:ext uri="{FF2B5EF4-FFF2-40B4-BE49-F238E27FC236}">
                  <a16:creationId xmlns:a16="http://schemas.microsoft.com/office/drawing/2014/main" id="{882D12D1-B131-492D-8ACB-8620602B2C3F}"/>
                </a:ext>
              </a:extLst>
            </p:cNvPr>
            <p:cNvSpPr/>
            <p:nvPr/>
          </p:nvSpPr>
          <p:spPr>
            <a:xfrm>
              <a:off x="5155224" y="1776366"/>
              <a:ext cx="3379305" cy="1318591"/>
            </a:xfrm>
            <a:prstGeom prst="rect">
              <a:avLst/>
            </a:prstGeom>
            <a:solidFill>
              <a:srgbClr val="9BBB59">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effectLst/>
                  <a:uLnTx/>
                  <a:uFillTx/>
                  <a:latin typeface="Consolas" panose="020B0609020204030204" pitchFamily="49" charset="0"/>
                  <a:ea typeface="黑体"/>
                  <a:cs typeface="+mn-cs"/>
                </a:rPr>
                <a:t>BufferedInputStream</a:t>
              </a:r>
              <a:endParaRPr kumimoji="0" lang="en-US" altLang="zh-CN" sz="1800" b="0" i="0" u="none" strike="noStrike" kern="0" cap="none" spc="0" normalizeH="0" baseline="0" noProof="0" dirty="0">
                <a:ln>
                  <a:noFill/>
                </a:ln>
                <a:effectLst/>
                <a:uLnTx/>
                <a:uFillTx/>
                <a:latin typeface="Consolas" panose="020B0609020204030204" pitchFamily="49" charset="0"/>
                <a:ea typeface="黑体"/>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effectLst/>
                  <a:uLnTx/>
                  <a:uFillTx/>
                  <a:latin typeface="Consolas" panose="020B0609020204030204" pitchFamily="49" charset="0"/>
                  <a:ea typeface="黑体"/>
                  <a:cs typeface="+mn-cs"/>
                </a:rPr>
                <a:t>字节缓冲输入流对象</a:t>
              </a:r>
              <a:endParaRPr kumimoji="0" lang="en-US" altLang="zh-CN" sz="1800" b="0" i="0" u="none" strike="noStrike" kern="0" cap="none" spc="0" normalizeH="0" baseline="0" noProof="0" dirty="0">
                <a:ln>
                  <a:noFill/>
                </a:ln>
                <a:effectLst/>
                <a:uLnTx/>
                <a:uFillTx/>
                <a:latin typeface="Consolas" panose="020B0609020204030204" pitchFamily="49" charset="0"/>
                <a:ea typeface="黑体"/>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effectLst/>
                  <a:uLnTx/>
                  <a:uFillTx/>
                  <a:latin typeface="Consolas" panose="020B0609020204030204" pitchFamily="49" charset="0"/>
                  <a:ea typeface="黑体"/>
                  <a:cs typeface="+mn-cs"/>
                </a:rPr>
                <a:t>new byte[8192]</a:t>
              </a:r>
              <a:endParaRPr kumimoji="0" lang="zh-CN" altLang="en-US" sz="1800" b="0" i="0" u="none" strike="noStrike" kern="0" cap="none" spc="0" normalizeH="0" baseline="0" noProof="0" dirty="0">
                <a:ln>
                  <a:noFill/>
                </a:ln>
                <a:effectLst/>
                <a:uLnTx/>
                <a:uFillTx/>
                <a:latin typeface="Consolas" panose="020B0609020204030204" pitchFamily="49" charset="0"/>
                <a:ea typeface="黑体"/>
                <a:cs typeface="+mn-cs"/>
              </a:endParaRPr>
            </a:p>
          </p:txBody>
        </p:sp>
        <p:sp>
          <p:nvSpPr>
            <p:cNvPr id="30" name="箭头: 手杖形 29">
              <a:extLst>
                <a:ext uri="{FF2B5EF4-FFF2-40B4-BE49-F238E27FC236}">
                  <a16:creationId xmlns:a16="http://schemas.microsoft.com/office/drawing/2014/main" id="{C4B55F7E-9D57-413F-B69C-910A28FD986B}"/>
                </a:ext>
              </a:extLst>
            </p:cNvPr>
            <p:cNvSpPr/>
            <p:nvPr/>
          </p:nvSpPr>
          <p:spPr>
            <a:xfrm>
              <a:off x="838534" y="1412776"/>
              <a:ext cx="6274904" cy="443082"/>
            </a:xfrm>
            <a:prstGeom prst="uturnArrow">
              <a:avLst/>
            </a:prstGeom>
            <a:solidFill>
              <a:sysClr val="windowText" lastClr="000000">
                <a:alpha val="50000"/>
              </a:sys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1" name="文本框 30">
              <a:extLst>
                <a:ext uri="{FF2B5EF4-FFF2-40B4-BE49-F238E27FC236}">
                  <a16:creationId xmlns:a16="http://schemas.microsoft.com/office/drawing/2014/main" id="{599325B9-4C1B-4EA1-AF89-2B536753DEDC}"/>
                </a:ext>
              </a:extLst>
            </p:cNvPr>
            <p:cNvSpPr txBox="1"/>
            <p:nvPr/>
          </p:nvSpPr>
          <p:spPr>
            <a:xfrm>
              <a:off x="1739681" y="1561106"/>
              <a:ext cx="3474028" cy="307777"/>
            </a:xfrm>
            <a:prstGeom prst="rect">
              <a:avLst/>
            </a:prstGeom>
            <a:noFill/>
            <a:ln>
              <a:noFill/>
            </a:ln>
          </p:spPr>
          <p:txBody>
            <a:bodyPr wrap="none" rtlCol="0">
              <a:spAutoFit/>
            </a:bodyPr>
            <a:lstStyle/>
            <a:p>
              <a:pPr fontAlgn="auto">
                <a:spcBef>
                  <a:spcPts val="0"/>
                </a:spcBef>
                <a:spcAft>
                  <a:spcPts val="0"/>
                </a:spcAft>
              </a:pPr>
              <a:r>
                <a:rPr lang="zh-CN" altLang="en-US" sz="1400" dirty="0">
                  <a:solidFill>
                    <a:prstClr val="black">
                      <a:lumMod val="95000"/>
                      <a:lumOff val="5000"/>
                    </a:prstClr>
                  </a:solidFill>
                  <a:latin typeface="Consolas" panose="020B0609020204030204" pitchFamily="49" charset="0"/>
                  <a:ea typeface="JetBrains Mono"/>
                </a:rPr>
                <a:t>一次性读取</a:t>
              </a:r>
              <a:r>
                <a:rPr lang="en-US" altLang="zh-CN" sz="1400" dirty="0">
                  <a:solidFill>
                    <a:prstClr val="black">
                      <a:lumMod val="95000"/>
                      <a:lumOff val="5000"/>
                    </a:prstClr>
                  </a:solidFill>
                  <a:latin typeface="Consolas" panose="020B0609020204030204" pitchFamily="49" charset="0"/>
                  <a:ea typeface="JetBrains Mono"/>
                </a:rPr>
                <a:t>8192</a:t>
              </a:r>
              <a:r>
                <a:rPr lang="zh-CN" altLang="en-US" sz="1400" dirty="0">
                  <a:solidFill>
                    <a:prstClr val="black">
                      <a:lumMod val="95000"/>
                      <a:lumOff val="5000"/>
                    </a:prstClr>
                  </a:solidFill>
                  <a:latin typeface="Consolas" panose="020B0609020204030204" pitchFamily="49" charset="0"/>
                  <a:ea typeface="JetBrains Mono"/>
                </a:rPr>
                <a:t>个字节</a:t>
              </a:r>
              <a:r>
                <a:rPr lang="en-US" altLang="zh-CN" sz="1400" dirty="0">
                  <a:solidFill>
                    <a:prstClr val="black">
                      <a:lumMod val="95000"/>
                      <a:lumOff val="5000"/>
                    </a:prstClr>
                  </a:solidFill>
                  <a:latin typeface="Consolas" panose="020B0609020204030204" pitchFamily="49" charset="0"/>
                  <a:ea typeface="JetBrains Mono"/>
                </a:rPr>
                <a:t>, </a:t>
              </a:r>
              <a:r>
                <a:rPr lang="zh-CN" altLang="en-US" sz="1400" dirty="0">
                  <a:solidFill>
                    <a:prstClr val="black">
                      <a:lumMod val="95000"/>
                      <a:lumOff val="5000"/>
                    </a:prstClr>
                  </a:solidFill>
                  <a:latin typeface="Consolas" panose="020B0609020204030204" pitchFamily="49" charset="0"/>
                  <a:ea typeface="JetBrains Mono"/>
                </a:rPr>
                <a:t>将内置数组装满</a:t>
              </a:r>
            </a:p>
          </p:txBody>
        </p:sp>
        <p:sp>
          <p:nvSpPr>
            <p:cNvPr id="32" name="流程图: 磁盘 31">
              <a:extLst>
                <a:ext uri="{FF2B5EF4-FFF2-40B4-BE49-F238E27FC236}">
                  <a16:creationId xmlns:a16="http://schemas.microsoft.com/office/drawing/2014/main" id="{AA0B729F-990B-49EF-9D38-49EA340DD67D}"/>
                </a:ext>
              </a:extLst>
            </p:cNvPr>
            <p:cNvSpPr/>
            <p:nvPr/>
          </p:nvSpPr>
          <p:spPr>
            <a:xfrm>
              <a:off x="-8065" y="4474314"/>
              <a:ext cx="1832843" cy="61841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
          <p:nvSpPr>
            <p:cNvPr id="33" name="矩形: 折角 32">
              <a:extLst>
                <a:ext uri="{FF2B5EF4-FFF2-40B4-BE49-F238E27FC236}">
                  <a16:creationId xmlns:a16="http://schemas.microsoft.com/office/drawing/2014/main" id="{DE76C565-3A6E-4F34-8707-4066362B1895}"/>
                </a:ext>
              </a:extLst>
            </p:cNvPr>
            <p:cNvSpPr/>
            <p:nvPr/>
          </p:nvSpPr>
          <p:spPr>
            <a:xfrm>
              <a:off x="8607416" y="4188243"/>
              <a:ext cx="159377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34" name="文本框 33">
              <a:extLst>
                <a:ext uri="{FF2B5EF4-FFF2-40B4-BE49-F238E27FC236}">
                  <a16:creationId xmlns:a16="http://schemas.microsoft.com/office/drawing/2014/main" id="{8BADAFAB-A029-4BFC-B9B0-E61949E60B56}"/>
                </a:ext>
              </a:extLst>
            </p:cNvPr>
            <p:cNvSpPr txBox="1"/>
            <p:nvPr/>
          </p:nvSpPr>
          <p:spPr>
            <a:xfrm>
              <a:off x="8680303" y="4291089"/>
              <a:ext cx="1079142" cy="523220"/>
            </a:xfrm>
            <a:prstGeom prst="rect">
              <a:avLst/>
            </a:prstGeom>
            <a:noFill/>
            <a:ln>
              <a:noFill/>
            </a:ln>
          </p:spPr>
          <p:txBody>
            <a:bodyPr wrap="none" rtlCol="0">
              <a:spAutoFit/>
            </a:bodyPr>
            <a:lstStyle/>
            <a:p>
              <a:pPr fontAlgn="auto">
                <a:spcBef>
                  <a:spcPts val="0"/>
                </a:spcBef>
                <a:spcAft>
                  <a:spcPts val="0"/>
                </a:spcAft>
              </a:pPr>
              <a:r>
                <a:rPr lang="en-US" altLang="zh-CN" sz="1400" dirty="0">
                  <a:solidFill>
                    <a:prstClr val="black">
                      <a:lumMod val="95000"/>
                      <a:lumOff val="5000"/>
                    </a:prstClr>
                  </a:solidFill>
                  <a:latin typeface="Consolas" panose="020B0609020204030204" pitchFamily="49" charset="0"/>
                  <a:ea typeface="JetBrains Mono"/>
                </a:rPr>
                <a:t>E:\\A.txt</a:t>
              </a:r>
            </a:p>
            <a:p>
              <a:pPr fontAlgn="auto">
                <a:spcBef>
                  <a:spcPts val="0"/>
                </a:spcBef>
                <a:spcAft>
                  <a:spcPts val="0"/>
                </a:spcAft>
              </a:pPr>
              <a:endParaRPr lang="en-US" altLang="zh-CN" sz="1400" dirty="0">
                <a:solidFill>
                  <a:prstClr val="black">
                    <a:lumMod val="95000"/>
                    <a:lumOff val="5000"/>
                  </a:prstClr>
                </a:solidFill>
                <a:latin typeface="Consolas" panose="020B0609020204030204" pitchFamily="49" charset="0"/>
                <a:ea typeface="JetBrains Mono"/>
              </a:endParaRPr>
            </a:p>
          </p:txBody>
        </p:sp>
        <p:sp>
          <p:nvSpPr>
            <p:cNvPr id="35" name="矩形 34">
              <a:extLst>
                <a:ext uri="{FF2B5EF4-FFF2-40B4-BE49-F238E27FC236}">
                  <a16:creationId xmlns:a16="http://schemas.microsoft.com/office/drawing/2014/main" id="{7254BF0E-1202-4C13-B04C-1FA6F7942B33}"/>
                </a:ext>
              </a:extLst>
            </p:cNvPr>
            <p:cNvSpPr/>
            <p:nvPr/>
          </p:nvSpPr>
          <p:spPr>
            <a:xfrm>
              <a:off x="5209992" y="4474314"/>
              <a:ext cx="3397424" cy="602937"/>
            </a:xfrm>
            <a:prstGeom prst="rect">
              <a:avLst/>
            </a:prstGeom>
            <a:solidFill>
              <a:srgbClr val="C0504D">
                <a:lumMod val="75000"/>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effectLst/>
                  <a:uLnTx/>
                  <a:uFillTx/>
                  <a:latin typeface="Consolas" panose="020B0609020204030204" pitchFamily="49" charset="0"/>
                  <a:ea typeface="黑体"/>
                  <a:cs typeface="+mn-cs"/>
                </a:rPr>
                <a:t>FileOutputStream</a:t>
              </a:r>
              <a:r>
                <a:rPr kumimoji="0" lang="en-US" altLang="zh-CN" sz="1800" b="0" i="0" u="none" strike="noStrike" kern="0" cap="none" spc="0" normalizeH="0" baseline="0" noProof="0" dirty="0">
                  <a:ln>
                    <a:noFill/>
                  </a:ln>
                  <a:effectLst/>
                  <a:uLnTx/>
                  <a:uFillTx/>
                  <a:latin typeface="Consolas" panose="020B0609020204030204" pitchFamily="49" charset="0"/>
                  <a:ea typeface="黑体"/>
                  <a:cs typeface="+mn-cs"/>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effectLst/>
                  <a:uLnTx/>
                  <a:uFillTx/>
                  <a:latin typeface="Consolas" panose="020B0609020204030204" pitchFamily="49" charset="0"/>
                  <a:ea typeface="黑体"/>
                  <a:cs typeface="+mn-cs"/>
                </a:rPr>
                <a:t>普通的流对象</a:t>
              </a:r>
            </a:p>
          </p:txBody>
        </p:sp>
        <p:sp>
          <p:nvSpPr>
            <p:cNvPr id="36" name="矩形 35">
              <a:extLst>
                <a:ext uri="{FF2B5EF4-FFF2-40B4-BE49-F238E27FC236}">
                  <a16:creationId xmlns:a16="http://schemas.microsoft.com/office/drawing/2014/main" id="{D8BF607A-7864-4BA5-97AD-5687AFFDFB75}"/>
                </a:ext>
              </a:extLst>
            </p:cNvPr>
            <p:cNvSpPr/>
            <p:nvPr/>
          </p:nvSpPr>
          <p:spPr>
            <a:xfrm>
              <a:off x="1830687" y="4110888"/>
              <a:ext cx="3379305" cy="1318591"/>
            </a:xfrm>
            <a:prstGeom prst="rect">
              <a:avLst/>
            </a:prstGeom>
            <a:solidFill>
              <a:srgbClr val="4BACC6">
                <a:lumMod val="75000"/>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white"/>
                  </a:solidFill>
                  <a:effectLst/>
                  <a:uLnTx/>
                  <a:uFillTx/>
                  <a:latin typeface="Consolas" panose="020B0609020204030204" pitchFamily="49" charset="0"/>
                  <a:ea typeface="黑体"/>
                  <a:cs typeface="+mn-cs"/>
                </a:rPr>
                <a:t>BufferedOutputStream</a:t>
              </a:r>
              <a:endPar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字节缓冲输出流对象</a:t>
              </a:r>
              <a:endPar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new byte[8192];</a:t>
              </a:r>
              <a:endPar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endParaRPr>
            </a:p>
          </p:txBody>
        </p:sp>
        <p:sp>
          <p:nvSpPr>
            <p:cNvPr id="37" name="箭头: 手杖形 36">
              <a:extLst>
                <a:ext uri="{FF2B5EF4-FFF2-40B4-BE49-F238E27FC236}">
                  <a16:creationId xmlns:a16="http://schemas.microsoft.com/office/drawing/2014/main" id="{FCA97E28-4CBD-4FF1-975F-0CB0F0BB01EC}"/>
                </a:ext>
              </a:extLst>
            </p:cNvPr>
            <p:cNvSpPr/>
            <p:nvPr/>
          </p:nvSpPr>
          <p:spPr>
            <a:xfrm rot="10800000" flipH="1">
              <a:off x="666255" y="5158983"/>
              <a:ext cx="3233531" cy="770761"/>
            </a:xfrm>
            <a:prstGeom prst="uturnArrow">
              <a:avLst>
                <a:gd name="adj1" fmla="val 23929"/>
                <a:gd name="adj2" fmla="val 25000"/>
                <a:gd name="adj3" fmla="val 25000"/>
                <a:gd name="adj4" fmla="val 43750"/>
                <a:gd name="adj5" fmla="val 63824"/>
              </a:avLst>
            </a:prstGeom>
            <a:solidFill>
              <a:sysClr val="windowText" lastClr="000000">
                <a:alpha val="50000"/>
              </a:sys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38" name="文本框 37">
              <a:extLst>
                <a:ext uri="{FF2B5EF4-FFF2-40B4-BE49-F238E27FC236}">
                  <a16:creationId xmlns:a16="http://schemas.microsoft.com/office/drawing/2014/main" id="{183BAA21-2FCC-4013-BC69-13545E19FA8B}"/>
                </a:ext>
              </a:extLst>
            </p:cNvPr>
            <p:cNvSpPr txBox="1"/>
            <p:nvPr/>
          </p:nvSpPr>
          <p:spPr>
            <a:xfrm>
              <a:off x="771701" y="6018014"/>
              <a:ext cx="2656496" cy="307777"/>
            </a:xfrm>
            <a:prstGeom prst="rect">
              <a:avLst/>
            </a:prstGeom>
            <a:noFill/>
            <a:ln>
              <a:noFill/>
            </a:ln>
          </p:spPr>
          <p:txBody>
            <a:bodyPr wrap="none" rtlCol="0">
              <a:spAutoFit/>
            </a:bodyPr>
            <a:lstStyle/>
            <a:p>
              <a:pPr fontAlgn="auto">
                <a:spcBef>
                  <a:spcPts val="0"/>
                </a:spcBef>
                <a:spcAft>
                  <a:spcPts val="0"/>
                </a:spcAft>
              </a:pPr>
              <a:r>
                <a:rPr lang="zh-CN" altLang="en-US" sz="1400" dirty="0">
                  <a:solidFill>
                    <a:prstClr val="black">
                      <a:lumMod val="95000"/>
                      <a:lumOff val="5000"/>
                    </a:prstClr>
                  </a:solidFill>
                  <a:latin typeface="Consolas" panose="020B0609020204030204" pitchFamily="49" charset="0"/>
                  <a:ea typeface="JetBrains Mono"/>
                </a:rPr>
                <a:t>将内置的数组装满 </a:t>
              </a:r>
              <a:r>
                <a:rPr lang="en-US" altLang="zh-CN" sz="1400" dirty="0">
                  <a:solidFill>
                    <a:prstClr val="black">
                      <a:lumMod val="95000"/>
                      <a:lumOff val="5000"/>
                    </a:prstClr>
                  </a:solidFill>
                  <a:latin typeface="Consolas" panose="020B0609020204030204" pitchFamily="49" charset="0"/>
                  <a:ea typeface="JetBrains Mono"/>
                </a:rPr>
                <a:t>8192</a:t>
              </a:r>
              <a:r>
                <a:rPr lang="zh-CN" altLang="en-US" sz="1400" dirty="0">
                  <a:solidFill>
                    <a:prstClr val="black">
                      <a:lumMod val="95000"/>
                      <a:lumOff val="5000"/>
                    </a:prstClr>
                  </a:solidFill>
                  <a:latin typeface="Consolas" panose="020B0609020204030204" pitchFamily="49" charset="0"/>
                  <a:ea typeface="JetBrains Mono"/>
                </a:rPr>
                <a:t>个字节</a:t>
              </a:r>
            </a:p>
          </p:txBody>
        </p:sp>
        <p:sp>
          <p:nvSpPr>
            <p:cNvPr id="39" name="文本框 38">
              <a:extLst>
                <a:ext uri="{FF2B5EF4-FFF2-40B4-BE49-F238E27FC236}">
                  <a16:creationId xmlns:a16="http://schemas.microsoft.com/office/drawing/2014/main" id="{A00AEF4A-A5CD-48EF-A994-183E418C22A8}"/>
                </a:ext>
              </a:extLst>
            </p:cNvPr>
            <p:cNvSpPr txBox="1"/>
            <p:nvPr/>
          </p:nvSpPr>
          <p:spPr>
            <a:xfrm>
              <a:off x="6303702" y="5158983"/>
              <a:ext cx="1082348" cy="307777"/>
            </a:xfrm>
            <a:prstGeom prst="rect">
              <a:avLst/>
            </a:prstGeom>
            <a:noFill/>
            <a:ln>
              <a:noFill/>
            </a:ln>
          </p:spPr>
          <p:txBody>
            <a:bodyPr wrap="none" rtlCol="0">
              <a:spAutoFit/>
            </a:bodyPr>
            <a:lstStyle/>
            <a:p>
              <a:pPr fontAlgn="auto">
                <a:spcBef>
                  <a:spcPts val="0"/>
                </a:spcBef>
                <a:spcAft>
                  <a:spcPts val="0"/>
                </a:spcAft>
              </a:pPr>
              <a:r>
                <a:rPr lang="zh-CN" altLang="en-US" sz="1400" dirty="0">
                  <a:solidFill>
                    <a:prstClr val="black">
                      <a:lumMod val="95000"/>
                      <a:lumOff val="5000"/>
                    </a:prstClr>
                  </a:solidFill>
                  <a:latin typeface="Consolas" panose="020B0609020204030204" pitchFamily="49" charset="0"/>
                  <a:ea typeface="JetBrains Mono"/>
                </a:rPr>
                <a:t>一次性写出</a:t>
              </a:r>
            </a:p>
          </p:txBody>
        </p:sp>
      </p:grpSp>
      <p:sp>
        <p:nvSpPr>
          <p:cNvPr id="40" name="TextBox 2">
            <a:extLst>
              <a:ext uri="{FF2B5EF4-FFF2-40B4-BE49-F238E27FC236}">
                <a16:creationId xmlns:a16="http://schemas.microsoft.com/office/drawing/2014/main" id="{78908180-0315-44A7-A209-1F4516717135}"/>
              </a:ext>
            </a:extLst>
          </p:cNvPr>
          <p:cNvSpPr txBox="1"/>
          <p:nvPr/>
        </p:nvSpPr>
        <p:spPr>
          <a:xfrm>
            <a:off x="268533" y="1039614"/>
            <a:ext cx="4686300" cy="572849"/>
          </a:xfrm>
          <a:prstGeom prst="rect">
            <a:avLst/>
          </a:prstGeom>
          <a:noFill/>
        </p:spPr>
        <p:txBody>
          <a:bodyPr>
            <a:spAutoFit/>
          </a:bodyPr>
          <a:lstStyle/>
          <a:p>
            <a:pPr eaLnBrk="0" hangingPunct="0">
              <a:lnSpc>
                <a:spcPct val="200000"/>
              </a:lnSpc>
              <a:defRPr/>
            </a:pP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字节缓冲流读写过程</a:t>
            </a:r>
          </a:p>
        </p:txBody>
      </p:sp>
      <p:cxnSp>
        <p:nvCxnSpPr>
          <p:cNvPr id="41" name="直接连接符 40">
            <a:extLst>
              <a:ext uri="{FF2B5EF4-FFF2-40B4-BE49-F238E27FC236}">
                <a16:creationId xmlns:a16="http://schemas.microsoft.com/office/drawing/2014/main" id="{E95553EF-2A05-4BDA-A38D-797E7B43C20C}"/>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42" name="标题 1">
            <a:extLst>
              <a:ext uri="{FF2B5EF4-FFF2-40B4-BE49-F238E27FC236}">
                <a16:creationId xmlns:a16="http://schemas.microsoft.com/office/drawing/2014/main" id="{8B9BE697-78E4-4093-AFD4-1405C4B93047}"/>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kern="0" dirty="0">
              <a:ea typeface="宋体" panose="02010600030101010101" pitchFamily="2" charset="-122"/>
            </a:endParaRPr>
          </a:p>
        </p:txBody>
      </p:sp>
    </p:spTree>
    <p:extLst>
      <p:ext uri="{BB962C8B-B14F-4D97-AF65-F5344CB8AC3E}">
        <p14:creationId xmlns:p14="http://schemas.microsoft.com/office/powerpoint/2010/main" val="98657516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内容占位符 2"/>
          <p:cNvSpPr>
            <a:spLocks noGrp="1"/>
          </p:cNvSpPr>
          <p:nvPr>
            <p:ph idx="1"/>
          </p:nvPr>
        </p:nvSpPr>
        <p:spPr>
          <a:xfrm>
            <a:off x="323528" y="1053107"/>
            <a:ext cx="8229600" cy="647701"/>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向文件中写入各种数据类型的数，并统计写入的字节数</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p:nvPr>
        </p:nvSpPr>
        <p:spPr>
          <a:xfrm>
            <a:off x="468313" y="188913"/>
            <a:ext cx="7543800" cy="719137"/>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内容占位符 2"/>
          <p:cNvSpPr>
            <a:spLocks noGrp="1"/>
          </p:cNvSpPr>
          <p:nvPr>
            <p:ph idx="1"/>
          </p:nvPr>
        </p:nvSpPr>
        <p:spPr>
          <a:xfrm>
            <a:off x="323528" y="1053107"/>
            <a:ext cx="8229600" cy="647701"/>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向文件中写入各种数据类型的数，并统计写入的字节数</a:t>
            </a:r>
          </a:p>
          <a:p>
            <a:endParaRPr lang="zh-CN" altLang="en-US" dirty="0">
              <a:ea typeface="宋体" panose="02010600030101010101" pitchFamily="2" charset="-122"/>
            </a:endParaRPr>
          </a:p>
        </p:txBody>
      </p:sp>
      <p:sp>
        <p:nvSpPr>
          <p:cNvPr id="98307" name="Rectangle 3"/>
          <p:cNvSpPr txBox="1">
            <a:spLocks noChangeArrowheads="1"/>
          </p:cNvSpPr>
          <p:nvPr/>
        </p:nvSpPr>
        <p:spPr bwMode="auto">
          <a:xfrm>
            <a:off x="179512" y="1555753"/>
            <a:ext cx="8353425" cy="504031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WriteByteFileEx2{</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 ( 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 throws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"mixedTypes.dat"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DataOutputStream</a:t>
            </a: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dataOut</a:t>
            </a: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0000FF"/>
                </a:solidFill>
                <a:latin typeface="Times New Roman" panose="02020603050405020304" pitchFamily="18" charset="0"/>
                <a:cs typeface="Times New Roman" panose="02020603050405020304" pitchFamily="18" charset="0"/>
              </a:rPr>
              <a:t>= new </a:t>
            </a:r>
            <a:r>
              <a:rPr lang="en-US" altLang="zh-CN" sz="2000" b="1" dirty="0" err="1">
                <a:solidFill>
                  <a:srgbClr val="0000FF"/>
                </a:solidFill>
                <a:latin typeface="Times New Roman" panose="02020603050405020304" pitchFamily="18" charset="0"/>
                <a:cs typeface="Times New Roman" panose="02020603050405020304" pitchFamily="18" charset="0"/>
              </a:rPr>
              <a:t>DataOutputStream</a:t>
            </a:r>
            <a:r>
              <a:rPr lang="en-US" altLang="zh-CN" sz="2000" b="1"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new </a:t>
            </a:r>
            <a:r>
              <a:rPr lang="en-US" altLang="zh-CN" sz="2000" b="1" dirty="0" err="1">
                <a:solidFill>
                  <a:srgbClr val="0000FF"/>
                </a:solidFill>
                <a:latin typeface="Times New Roman" panose="02020603050405020304" pitchFamily="18" charset="0"/>
                <a:cs typeface="Times New Roman" panose="02020603050405020304" pitchFamily="18" charset="0"/>
              </a:rPr>
              <a:t>BufferedOutputStream</a:t>
            </a:r>
            <a:r>
              <a:rPr lang="en-US" altLang="zh-CN" sz="2000" b="1"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new </a:t>
            </a:r>
            <a:r>
              <a:rPr lang="en-US" altLang="zh-CN" sz="2000" b="1" dirty="0" err="1">
                <a:solidFill>
                  <a:srgbClr val="0000FF"/>
                </a:solidFill>
                <a:latin typeface="Times New Roman" panose="02020603050405020304" pitchFamily="18" charset="0"/>
                <a:cs typeface="Times New Roman" panose="02020603050405020304" pitchFamily="18" charset="0"/>
              </a:rPr>
              <a:t>FileOutputStream</a:t>
            </a: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fileName</a:t>
            </a:r>
            <a:r>
              <a:rPr lang="en-US" altLang="zh-CN" sz="2000" b="1" dirty="0">
                <a:solidFill>
                  <a:srgbClr val="0000FF"/>
                </a:solidFill>
                <a:latin typeface="Times New Roman" panose="02020603050405020304" pitchFamily="18" charset="0"/>
                <a:cs typeface="Times New Roman" panose="02020603050405020304" pitchFamily="18" charset="0"/>
              </a:rPr>
              <a:t>  )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dataOut.</a:t>
            </a:r>
            <a:r>
              <a:rPr lang="en-US" altLang="zh-CN" sz="2000" b="1" dirty="0" err="1">
                <a:solidFill>
                  <a:srgbClr val="009900"/>
                </a:solidFill>
                <a:latin typeface="Times New Roman" panose="02020603050405020304" pitchFamily="18" charset="0"/>
                <a:cs typeface="Times New Roman" panose="02020603050405020304" pitchFamily="18" charset="0"/>
              </a:rPr>
              <a:t>writeInt</a:t>
            </a:r>
            <a:r>
              <a:rPr lang="en-US" altLang="zh-CN" sz="2000" b="1" dirty="0">
                <a:solidFill>
                  <a:srgbClr val="009900"/>
                </a:solidFill>
                <a:latin typeface="Times New Roman" panose="02020603050405020304" pitchFamily="18" charset="0"/>
                <a:cs typeface="Times New Roman" panose="02020603050405020304" pitchFamily="18" charset="0"/>
              </a:rPr>
              <a:t>( 0 );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dataOut.size</a:t>
            </a: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 bytes have been written.");</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dataOut.</a:t>
            </a:r>
            <a:r>
              <a:rPr lang="en-US" altLang="zh-CN" sz="2000" b="1" dirty="0" err="1">
                <a:solidFill>
                  <a:srgbClr val="009900"/>
                </a:solidFill>
                <a:latin typeface="Times New Roman" panose="02020603050405020304" pitchFamily="18" charset="0"/>
                <a:cs typeface="Times New Roman" panose="02020603050405020304" pitchFamily="18" charset="0"/>
              </a:rPr>
              <a:t>writeDouble</a:t>
            </a:r>
            <a:r>
              <a:rPr lang="en-US" altLang="zh-CN" sz="2000" b="1" dirty="0">
                <a:solidFill>
                  <a:srgbClr val="009900"/>
                </a:solidFill>
                <a:latin typeface="Times New Roman" panose="02020603050405020304" pitchFamily="18" charset="0"/>
                <a:cs typeface="Times New Roman" panose="02020603050405020304" pitchFamily="18" charset="0"/>
              </a:rPr>
              <a:t>( 31.2 );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dataOut.size</a:t>
            </a:r>
            <a:r>
              <a:rPr lang="en-US" altLang="zh-CN" sz="2000" b="1" dirty="0">
                <a:solidFill>
                  <a:srgbClr val="0000FF"/>
                </a:solidFill>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 " bytes have been written.");</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dataOut.</a:t>
            </a:r>
            <a:r>
              <a:rPr lang="en-US" altLang="zh-CN" sz="2000" b="1" dirty="0" err="1">
                <a:solidFill>
                  <a:srgbClr val="009900"/>
                </a:solidFill>
                <a:latin typeface="Times New Roman" panose="02020603050405020304" pitchFamily="18" charset="0"/>
                <a:cs typeface="Times New Roman" panose="02020603050405020304" pitchFamily="18" charset="0"/>
              </a:rPr>
              <a:t>writeBytes</a:t>
            </a:r>
            <a:r>
              <a:rPr lang="en-US" altLang="zh-CN" sz="2000" b="1" dirty="0">
                <a:solidFill>
                  <a:srgbClr val="009900"/>
                </a:solidFill>
                <a:latin typeface="Times New Roman" panose="02020603050405020304" pitchFamily="18" charset="0"/>
                <a:cs typeface="Times New Roman" panose="02020603050405020304" pitchFamily="18" charset="0"/>
              </a:rPr>
              <a:t>(“Java");</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dataOut.size</a:t>
            </a: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 bytes have been written.");</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dataOut.close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p:nvPr>
        </p:nvSpPr>
        <p:spPr>
          <a:xfrm>
            <a:off x="468313" y="188913"/>
            <a:ext cx="7543800" cy="719137"/>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endParaRPr>
          </a:p>
        </p:txBody>
      </p:sp>
    </p:spTree>
    <p:extLst>
      <p:ext uri="{BB962C8B-B14F-4D97-AF65-F5344CB8AC3E}">
        <p14:creationId xmlns:p14="http://schemas.microsoft.com/office/powerpoint/2010/main" val="10462755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 写二进制文件</a:t>
            </a:r>
            <a:endParaRPr lang="zh-CN" altLang="en-US" dirty="0">
              <a:ea typeface="宋体" panose="02010600030101010101" pitchFamily="2" charset="-122"/>
            </a:endParaRPr>
          </a:p>
        </p:txBody>
      </p:sp>
      <p:sp>
        <p:nvSpPr>
          <p:cNvPr id="99331"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运行结果</a:t>
            </a:r>
          </a:p>
          <a:p>
            <a:pPr lvl="1"/>
            <a:r>
              <a:rPr lang="zh-CN" altLang="en-US" b="0" dirty="0">
                <a:ea typeface="黑体" panose="02010609060101010101" pitchFamily="49" charset="-122"/>
                <a:cs typeface="Times New Roman" panose="02020603050405020304" pitchFamily="18" charset="0"/>
              </a:rPr>
              <a:t>4 </a:t>
            </a:r>
            <a:r>
              <a:rPr lang="en-US" altLang="zh-CN" b="0" dirty="0">
                <a:ea typeface="黑体" panose="02010609060101010101" pitchFamily="49" charset="-122"/>
                <a:cs typeface="Times New Roman" panose="02020603050405020304" pitchFamily="18" charset="0"/>
              </a:rPr>
              <a:t>bytes have been written</a:t>
            </a:r>
          </a:p>
          <a:p>
            <a:pPr lvl="1"/>
            <a:r>
              <a:rPr lang="en-US" altLang="zh-CN" b="0" dirty="0">
                <a:ea typeface="黑体" panose="02010609060101010101" pitchFamily="49" charset="-122"/>
                <a:cs typeface="Times New Roman" panose="02020603050405020304" pitchFamily="18" charset="0"/>
              </a:rPr>
              <a:t>12 bytes have been written</a:t>
            </a:r>
          </a:p>
          <a:p>
            <a:pPr lvl="1"/>
            <a:r>
              <a:rPr lang="en-US" altLang="zh-CN" b="0" dirty="0">
                <a:ea typeface="黑体" panose="02010609060101010101" pitchFamily="49" charset="-122"/>
                <a:cs typeface="Times New Roman" panose="02020603050405020304" pitchFamily="18" charset="0"/>
              </a:rPr>
              <a:t>16 bytes have been written</a:t>
            </a:r>
          </a:p>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说明</a:t>
            </a:r>
          </a:p>
          <a:p>
            <a:pPr lvl="1"/>
            <a:r>
              <a:rPr lang="zh-CN" altLang="en-US" b="0" dirty="0">
                <a:ea typeface="黑体" panose="02010609060101010101" pitchFamily="49" charset="-122"/>
                <a:cs typeface="Times New Roman" panose="02020603050405020304" pitchFamily="18" charset="0"/>
              </a:rPr>
              <a:t>这个程序可作为字节计数器</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260648"/>
            <a:ext cx="6858000" cy="648419"/>
          </a:xfrm>
        </p:spPr>
        <p:txBody>
          <a:bodyPr/>
          <a:lstStyle/>
          <a:p>
            <a:pPr marL="838200" indent="-838200" eaLnBrk="1" hangingPunct="1"/>
            <a:r>
              <a:rPr lang="zh-CN" altLang="en-US" b="0" dirty="0">
                <a:latin typeface="Times New Roman" panose="02020603050405020304" pitchFamily="18" charset="0"/>
                <a:ea typeface="黑体" panose="02010609060101010101" pitchFamily="49" charset="-122"/>
                <a:cs typeface="Times New Roman" panose="02020603050405020304" pitchFamily="18" charset="0"/>
              </a:rPr>
              <a:t>第六章 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输出流和文件</a:t>
            </a:r>
          </a:p>
        </p:txBody>
      </p:sp>
      <p:sp>
        <p:nvSpPr>
          <p:cNvPr id="66563" name="Rectangle 3"/>
          <p:cNvSpPr>
            <a:spLocks noGrp="1" noChangeArrowheads="1"/>
          </p:cNvSpPr>
          <p:nvPr>
            <p:ph idx="1"/>
          </p:nvPr>
        </p:nvSpPr>
        <p:spPr>
          <a:xfrm>
            <a:off x="609600" y="1295400"/>
            <a:ext cx="7467600" cy="5257800"/>
          </a:xfrm>
        </p:spPr>
        <p:txBody>
          <a:bodyPr/>
          <a:lstStyle/>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a:t>
            </a:r>
          </a:p>
          <a:p>
            <a:pPr marL="609600" indent="-609600" eaLnBrk="1" hangingPunct="1">
              <a:buFontTx/>
              <a:buNone/>
            </a:pPr>
            <a:r>
              <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6.2 </a:t>
            </a:r>
            <a:r>
              <a:rPr lang="zh-CN" altLang="en-US"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文件读写</a:t>
            </a:r>
            <a:endPar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b="0" dirty="0">
                <a:ea typeface="黑体" panose="02010609060101010101" pitchFamily="49" charset="-122"/>
                <a:cs typeface="Times New Roman" panose="02020603050405020304" pitchFamily="18" charset="0"/>
              </a:rPr>
              <a:t>File</a:t>
            </a:r>
            <a:r>
              <a:rPr lang="zh-CN" altLang="en-US" b="0" dirty="0">
                <a:ea typeface="黑体" panose="02010609060101010101" pitchFamily="49" charset="-122"/>
                <a:cs typeface="Times New Roman" panose="02020603050405020304" pitchFamily="18" charset="0"/>
              </a:rPr>
              <a:t>类</a:t>
            </a:r>
            <a:endParaRPr lang="en-US" altLang="zh-CN" b="0" dirty="0">
              <a:ea typeface="黑体" panose="02010609060101010101" pitchFamily="49" charset="-122"/>
              <a:cs typeface="Times New Roman" panose="02020603050405020304" pitchFamily="18" charset="0"/>
            </a:endParaRPr>
          </a:p>
          <a:p>
            <a:pPr lvl="1" eaLnBrk="1" hangingPunct="1"/>
            <a:r>
              <a:rPr lang="zh-CN" altLang="en-US" b="0" dirty="0">
                <a:ea typeface="黑体" panose="02010609060101010101" pitchFamily="49" charset="-122"/>
                <a:cs typeface="Times New Roman" panose="02020603050405020304" pitchFamily="18" charset="0"/>
              </a:rPr>
              <a:t>写二进制文件</a:t>
            </a:r>
          </a:p>
          <a:p>
            <a:pPr lvl="1" eaLnBrk="1" hangingPunct="1"/>
            <a:r>
              <a:rPr lang="zh-CN" altLang="en-US" b="0" dirty="0">
                <a:solidFill>
                  <a:srgbClr val="C00000"/>
                </a:solidFill>
                <a:ea typeface="黑体" panose="02010609060101010101" pitchFamily="49" charset="-122"/>
                <a:cs typeface="Times New Roman" panose="02020603050405020304" pitchFamily="18" charset="0"/>
              </a:rPr>
              <a:t>读二进制文件</a:t>
            </a:r>
          </a:p>
          <a:p>
            <a:pPr lvl="1" eaLnBrk="1" hangingPunct="1"/>
            <a:r>
              <a:rPr lang="zh-CN" altLang="en-US" b="0" dirty="0">
                <a:ea typeface="黑体" panose="02010609060101010101" pitchFamily="49" charset="-122"/>
                <a:cs typeface="Times New Roman" panose="02020603050405020304" pitchFamily="18" charset="0"/>
              </a:rPr>
              <a:t>读文本文件</a:t>
            </a:r>
          </a:p>
          <a:p>
            <a:pPr lvl="1" eaLnBrk="1" hangingPunct="1"/>
            <a:r>
              <a:rPr lang="zh-CN" altLang="en-US" b="0" dirty="0">
                <a:ea typeface="黑体" panose="02010609060101010101" pitchFamily="49" charset="-122"/>
                <a:cs typeface="Times New Roman" panose="02020603050405020304" pitchFamily="18" charset="0"/>
              </a:rPr>
              <a:t>写文本文件</a:t>
            </a:r>
          </a:p>
          <a:p>
            <a:pPr lvl="1" eaLnBrk="1" hangingPunct="1"/>
            <a:r>
              <a:rPr lang="zh-CN" altLang="en-US" b="0" dirty="0">
                <a:ea typeface="黑体" panose="02010609060101010101" pitchFamily="49" charset="-122"/>
                <a:cs typeface="Times New Roman" panose="02020603050405020304" pitchFamily="18" charset="0"/>
              </a:rPr>
              <a:t>对象序列化</a:t>
            </a:r>
          </a:p>
          <a:p>
            <a:pPr lvl="1" eaLnBrk="1" hangingPunct="1"/>
            <a:r>
              <a:rPr lang="zh-CN" altLang="en-US" b="0" dirty="0">
                <a:ea typeface="黑体" panose="02010609060101010101" pitchFamily="49" charset="-122"/>
                <a:cs typeface="Times New Roman" panose="02020603050405020304" pitchFamily="18" charset="0"/>
              </a:rPr>
              <a:t>随机文件读写</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56709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1379" name="内容占位符 2"/>
          <p:cNvSpPr>
            <a:spLocks noGrp="1"/>
          </p:cNvSpPr>
          <p:nvPr>
            <p:ph idx="1"/>
          </p:nvPr>
        </p:nvSpPr>
        <p:spPr/>
        <p:txBody>
          <a:bodyPr/>
          <a:lstStyle/>
          <a:p>
            <a:pPr>
              <a:lnSpc>
                <a:spcPct val="120000"/>
              </a:lnSpc>
            </a:pPr>
            <a:r>
              <a:rPr lang="zh-CN" altLang="en-GB" b="0" dirty="0">
                <a:latin typeface="Times New Roman" panose="02020603050405020304" pitchFamily="18" charset="0"/>
                <a:ea typeface="黑体" panose="02010609060101010101" pitchFamily="49" charset="-122"/>
                <a:cs typeface="Times New Roman" panose="02020603050405020304" pitchFamily="18" charset="0"/>
              </a:rPr>
              <a:t>本节知识点</a:t>
            </a:r>
          </a:p>
          <a:p>
            <a:pPr lvl="1">
              <a:lnSpc>
                <a:spcPct val="120000"/>
              </a:lnSpc>
            </a:pPr>
            <a:r>
              <a:rPr lang="en-GB" altLang="zh-CN" b="0" dirty="0" err="1">
                <a:ea typeface="黑体" panose="02010609060101010101" pitchFamily="49" charset="-122"/>
                <a:cs typeface="Times New Roman" panose="02020603050405020304" pitchFamily="18" charset="0"/>
              </a:rPr>
              <a:t>FileInputStream</a:t>
            </a:r>
            <a:endParaRPr lang="en-GB" altLang="zh-CN" b="0" dirty="0">
              <a:ea typeface="黑体" panose="02010609060101010101" pitchFamily="49" charset="-122"/>
              <a:cs typeface="Times New Roman" panose="02020603050405020304" pitchFamily="18" charset="0"/>
            </a:endParaRPr>
          </a:p>
          <a:p>
            <a:pPr lvl="1">
              <a:lnSpc>
                <a:spcPct val="120000"/>
              </a:lnSpc>
            </a:pPr>
            <a:r>
              <a:rPr lang="en-GB" altLang="zh-CN" b="0" dirty="0" err="1">
                <a:ea typeface="黑体" panose="02010609060101010101" pitchFamily="49" charset="-122"/>
                <a:cs typeface="Times New Roman" panose="02020603050405020304" pitchFamily="18" charset="0"/>
              </a:rPr>
              <a:t>DataInputStream</a:t>
            </a:r>
            <a:endParaRPr lang="en-GB" altLang="zh-CN" b="0" dirty="0">
              <a:ea typeface="黑体" panose="02010609060101010101" pitchFamily="49" charset="-122"/>
              <a:cs typeface="Times New Roman" panose="02020603050405020304" pitchFamily="18" charset="0"/>
            </a:endParaRPr>
          </a:p>
          <a:p>
            <a:pPr lvl="1">
              <a:lnSpc>
                <a:spcPct val="120000"/>
              </a:lnSpc>
            </a:pPr>
            <a:r>
              <a:rPr lang="en-GB" altLang="zh-CN" b="0" dirty="0" err="1">
                <a:ea typeface="黑体" panose="02010609060101010101" pitchFamily="49" charset="-122"/>
                <a:cs typeface="Times New Roman" panose="02020603050405020304" pitchFamily="18" charset="0"/>
              </a:rPr>
              <a:t>BufferedInputSteam</a:t>
            </a:r>
            <a:r>
              <a:rPr lang="en-GB" altLang="zh-CN" b="0" dirty="0">
                <a:ea typeface="黑体" panose="02010609060101010101" pitchFamily="49" charset="-122"/>
                <a:cs typeface="Times New Roman" panose="02020603050405020304" pitchFamily="18" charset="0"/>
              </a:rPr>
              <a:t> </a:t>
            </a:r>
          </a:p>
          <a:p>
            <a:pPr lvl="1">
              <a:lnSpc>
                <a:spcPct val="120000"/>
              </a:lnSpc>
            </a:pPr>
            <a:r>
              <a:rPr lang="zh-CN" altLang="en-GB" b="0" dirty="0">
                <a:ea typeface="黑体" panose="02010609060101010101" pitchFamily="49" charset="-122"/>
                <a:cs typeface="Times New Roman" panose="02020603050405020304" pitchFamily="18" charset="0"/>
              </a:rPr>
              <a:t>读写整数 </a:t>
            </a:r>
          </a:p>
          <a:p>
            <a:pPr lvl="1">
              <a:lnSpc>
                <a:spcPct val="120000"/>
              </a:lnSpc>
            </a:pPr>
            <a:r>
              <a:rPr lang="zh-CN" altLang="en-GB" b="0" dirty="0">
                <a:ea typeface="黑体" panose="02010609060101010101" pitchFamily="49" charset="-122"/>
                <a:cs typeface="Times New Roman" panose="02020603050405020304" pitchFamily="18" charset="0"/>
              </a:rPr>
              <a:t>读写单字节 </a:t>
            </a: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折角 4">
            <a:extLst>
              <a:ext uri="{FF2B5EF4-FFF2-40B4-BE49-F238E27FC236}">
                <a16:creationId xmlns:a16="http://schemas.microsoft.com/office/drawing/2014/main" id="{2422EA2A-B23F-A4CD-305A-0DF4D728A197}"/>
              </a:ext>
            </a:extLst>
          </p:cNvPr>
          <p:cNvSpPr/>
          <p:nvPr/>
        </p:nvSpPr>
        <p:spPr>
          <a:xfrm>
            <a:off x="489522" y="2553266"/>
            <a:ext cx="2542086" cy="869705"/>
          </a:xfrm>
          <a:prstGeom prst="foldedCorner">
            <a:avLst/>
          </a:prstGeom>
          <a:ln/>
        </p:spPr>
        <p:style>
          <a:lnRef idx="1">
            <a:schemeClr val="dk1"/>
          </a:lnRef>
          <a:fillRef idx="2">
            <a:schemeClr val="dk1"/>
          </a:fillRef>
          <a:effectRef idx="1">
            <a:schemeClr val="dk1"/>
          </a:effectRef>
          <a:fontRef idx="minor">
            <a:schemeClr val="dk1"/>
          </a:fontRef>
        </p:style>
        <p:txBody>
          <a:bodyPr rtlCol="0" anchor="ctr"/>
          <a:lstStyle/>
          <a:p>
            <a:r>
              <a:rPr lang="en-US" altLang="zh-CN" dirty="0">
                <a:latin typeface="Consolas" panose="020B0609020204030204" pitchFamily="49" charset="0"/>
              </a:rPr>
              <a:t>D:\A.txt</a:t>
            </a:r>
          </a:p>
          <a:p>
            <a:r>
              <a:rPr lang="en-US" altLang="zh-CN" dirty="0" err="1">
                <a:latin typeface="Consolas" panose="020B0609020204030204" pitchFamily="49" charset="0"/>
              </a:rPr>
              <a:t>abc</a:t>
            </a:r>
            <a:endParaRPr lang="en-US" altLang="zh-CN" dirty="0">
              <a:latin typeface="Consolas" panose="020B0609020204030204" pitchFamily="49" charset="0"/>
            </a:endParaRPr>
          </a:p>
        </p:txBody>
      </p:sp>
      <p:sp>
        <p:nvSpPr>
          <p:cNvPr id="7" name="箭头: 右 6">
            <a:extLst>
              <a:ext uri="{FF2B5EF4-FFF2-40B4-BE49-F238E27FC236}">
                <a16:creationId xmlns:a16="http://schemas.microsoft.com/office/drawing/2014/main" id="{7C2F6593-736E-EB5B-6437-274FBB9185E6}"/>
              </a:ext>
            </a:extLst>
          </p:cNvPr>
          <p:cNvSpPr/>
          <p:nvPr/>
        </p:nvSpPr>
        <p:spPr>
          <a:xfrm rot="10800000">
            <a:off x="3090857" y="2780112"/>
            <a:ext cx="3813988" cy="346293"/>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E375B4A3-26F0-5AA7-07CB-B66BB2496AB9}"/>
              </a:ext>
            </a:extLst>
          </p:cNvPr>
          <p:cNvSpPr txBox="1"/>
          <p:nvPr/>
        </p:nvSpPr>
        <p:spPr>
          <a:xfrm>
            <a:off x="489136" y="3183407"/>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97</a:t>
            </a:r>
            <a:endParaRPr lang="zh-CN" altLang="en-US" sz="1050" dirty="0">
              <a:solidFill>
                <a:srgbClr val="0033B3"/>
              </a:solidFill>
              <a:latin typeface="Consolas" panose="020B0609020204030204" pitchFamily="49" charset="0"/>
              <a:ea typeface="JetBrains Mono"/>
            </a:endParaRPr>
          </a:p>
        </p:txBody>
      </p:sp>
      <p:sp>
        <p:nvSpPr>
          <p:cNvPr id="9" name="文本框 8">
            <a:extLst>
              <a:ext uri="{FF2B5EF4-FFF2-40B4-BE49-F238E27FC236}">
                <a16:creationId xmlns:a16="http://schemas.microsoft.com/office/drawing/2014/main" id="{EC4605B2-9139-9610-A399-0CCF0354F747}"/>
              </a:ext>
            </a:extLst>
          </p:cNvPr>
          <p:cNvSpPr txBox="1"/>
          <p:nvPr/>
        </p:nvSpPr>
        <p:spPr>
          <a:xfrm>
            <a:off x="829224" y="3183407"/>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98</a:t>
            </a:r>
            <a:endParaRPr lang="zh-CN" altLang="en-US" sz="1050" dirty="0">
              <a:solidFill>
                <a:srgbClr val="0033B3"/>
              </a:solidFill>
              <a:latin typeface="Consolas" panose="020B0609020204030204" pitchFamily="49" charset="0"/>
              <a:ea typeface="JetBrains Mono"/>
            </a:endParaRPr>
          </a:p>
        </p:txBody>
      </p:sp>
      <p:sp>
        <p:nvSpPr>
          <p:cNvPr id="10" name="文本框 9">
            <a:extLst>
              <a:ext uri="{FF2B5EF4-FFF2-40B4-BE49-F238E27FC236}">
                <a16:creationId xmlns:a16="http://schemas.microsoft.com/office/drawing/2014/main" id="{D1E0622F-D98A-5EBC-6D19-EFE41E55AA12}"/>
              </a:ext>
            </a:extLst>
          </p:cNvPr>
          <p:cNvSpPr txBox="1"/>
          <p:nvPr/>
        </p:nvSpPr>
        <p:spPr>
          <a:xfrm>
            <a:off x="1169310" y="3183407"/>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99</a:t>
            </a:r>
            <a:endParaRPr lang="zh-CN" altLang="en-US" sz="1050" dirty="0">
              <a:solidFill>
                <a:srgbClr val="0033B3"/>
              </a:solidFill>
              <a:latin typeface="Consolas" panose="020B0609020204030204" pitchFamily="49" charset="0"/>
              <a:ea typeface="JetBrains Mono"/>
            </a:endParaRPr>
          </a:p>
        </p:txBody>
      </p:sp>
      <p:sp>
        <p:nvSpPr>
          <p:cNvPr id="11" name="标题 1">
            <a:extLst>
              <a:ext uri="{FF2B5EF4-FFF2-40B4-BE49-F238E27FC236}">
                <a16:creationId xmlns:a16="http://schemas.microsoft.com/office/drawing/2014/main" id="{8FB867BE-D2A3-40D9-90BE-1A4D4DE3F622}"/>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2" name="直接连接符 11">
            <a:extLst>
              <a:ext uri="{FF2B5EF4-FFF2-40B4-BE49-F238E27FC236}">
                <a16:creationId xmlns:a16="http://schemas.microsoft.com/office/drawing/2014/main" id="{B27487C4-72F0-4DF0-B55E-3E0F60CCF907}"/>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2">
            <a:extLst>
              <a:ext uri="{FF2B5EF4-FFF2-40B4-BE49-F238E27FC236}">
                <a16:creationId xmlns:a16="http://schemas.microsoft.com/office/drawing/2014/main" id="{8EF7E907-604E-4B3D-B91E-2514298483BD}"/>
              </a:ext>
            </a:extLst>
          </p:cNvPr>
          <p:cNvSpPr txBox="1"/>
          <p:nvPr/>
        </p:nvSpPr>
        <p:spPr>
          <a:xfrm>
            <a:off x="539006" y="1312834"/>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
        <p:nvSpPr>
          <p:cNvPr id="15" name="流程图: 磁盘 14">
            <a:extLst>
              <a:ext uri="{FF2B5EF4-FFF2-40B4-BE49-F238E27FC236}">
                <a16:creationId xmlns:a16="http://schemas.microsoft.com/office/drawing/2014/main" id="{D9800353-B261-4B15-B178-2440B746775C}"/>
              </a:ext>
            </a:extLst>
          </p:cNvPr>
          <p:cNvSpPr/>
          <p:nvPr/>
        </p:nvSpPr>
        <p:spPr>
          <a:xfrm>
            <a:off x="6993968" y="2644053"/>
            <a:ext cx="1832843" cy="61841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
        <p:nvSpPr>
          <p:cNvPr id="16" name="文本框 15">
            <a:extLst>
              <a:ext uri="{FF2B5EF4-FFF2-40B4-BE49-F238E27FC236}">
                <a16:creationId xmlns:a16="http://schemas.microsoft.com/office/drawing/2014/main" id="{1F8BCFDC-DF2A-41BA-BA71-C8A1A882445C}"/>
              </a:ext>
            </a:extLst>
          </p:cNvPr>
          <p:cNvSpPr txBox="1"/>
          <p:nvPr/>
        </p:nvSpPr>
        <p:spPr>
          <a:xfrm>
            <a:off x="7736323" y="3281464"/>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97</a:t>
            </a:r>
            <a:endParaRPr lang="zh-CN" altLang="en-US" sz="1050" dirty="0">
              <a:solidFill>
                <a:srgbClr val="0033B3"/>
              </a:solidFill>
              <a:latin typeface="Consolas" panose="020B0609020204030204" pitchFamily="49" charset="0"/>
              <a:ea typeface="JetBrains Mono"/>
            </a:endParaRPr>
          </a:p>
        </p:txBody>
      </p:sp>
      <p:sp>
        <p:nvSpPr>
          <p:cNvPr id="17" name="文本框 16">
            <a:extLst>
              <a:ext uri="{FF2B5EF4-FFF2-40B4-BE49-F238E27FC236}">
                <a16:creationId xmlns:a16="http://schemas.microsoft.com/office/drawing/2014/main" id="{A12830C6-0B46-43E9-A3AE-7B398BB63114}"/>
              </a:ext>
            </a:extLst>
          </p:cNvPr>
          <p:cNvSpPr txBox="1"/>
          <p:nvPr/>
        </p:nvSpPr>
        <p:spPr>
          <a:xfrm>
            <a:off x="7736323" y="3602570"/>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98</a:t>
            </a:r>
            <a:endParaRPr lang="zh-CN" altLang="en-US" sz="1050" dirty="0">
              <a:solidFill>
                <a:srgbClr val="0033B3"/>
              </a:solidFill>
              <a:latin typeface="Consolas" panose="020B0609020204030204" pitchFamily="49" charset="0"/>
              <a:ea typeface="JetBrains Mono"/>
            </a:endParaRPr>
          </a:p>
        </p:txBody>
      </p:sp>
      <p:sp>
        <p:nvSpPr>
          <p:cNvPr id="18" name="文本框 17">
            <a:extLst>
              <a:ext uri="{FF2B5EF4-FFF2-40B4-BE49-F238E27FC236}">
                <a16:creationId xmlns:a16="http://schemas.microsoft.com/office/drawing/2014/main" id="{B55B79D7-BE3E-43F2-B84C-474E1D25624D}"/>
              </a:ext>
            </a:extLst>
          </p:cNvPr>
          <p:cNvSpPr txBox="1"/>
          <p:nvPr/>
        </p:nvSpPr>
        <p:spPr>
          <a:xfrm>
            <a:off x="7736323" y="3925135"/>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99</a:t>
            </a:r>
            <a:endParaRPr lang="zh-CN" altLang="en-US" sz="1050" dirty="0">
              <a:solidFill>
                <a:srgbClr val="0033B3"/>
              </a:solidFill>
              <a:latin typeface="Consolas" panose="020B0609020204030204" pitchFamily="49" charset="0"/>
              <a:ea typeface="JetBrains Mono"/>
            </a:endParaRPr>
          </a:p>
        </p:txBody>
      </p:sp>
      <p:graphicFrame>
        <p:nvGraphicFramePr>
          <p:cNvPr id="19" name="表格 18">
            <a:extLst>
              <a:ext uri="{FF2B5EF4-FFF2-40B4-BE49-F238E27FC236}">
                <a16:creationId xmlns:a16="http://schemas.microsoft.com/office/drawing/2014/main" id="{12957821-BD22-4730-956A-5BEBF4F70A75}"/>
              </a:ext>
            </a:extLst>
          </p:cNvPr>
          <p:cNvGraphicFramePr>
            <a:graphicFrameLocks noGrp="1"/>
          </p:cNvGraphicFramePr>
          <p:nvPr>
            <p:extLst>
              <p:ext uri="{D42A27DB-BD31-4B8C-83A1-F6EECF244321}">
                <p14:modId xmlns:p14="http://schemas.microsoft.com/office/powerpoint/2010/main" val="2011975418"/>
              </p:ext>
            </p:extLst>
          </p:nvPr>
        </p:nvGraphicFramePr>
        <p:xfrm>
          <a:off x="251520" y="3801879"/>
          <a:ext cx="7484803" cy="1082512"/>
        </p:xfrm>
        <a:graphic>
          <a:graphicData uri="http://schemas.openxmlformats.org/drawingml/2006/table">
            <a:tbl>
              <a:tblPr/>
              <a:tblGrid>
                <a:gridCol w="3264105">
                  <a:extLst>
                    <a:ext uri="{9D8B030D-6E8A-4147-A177-3AD203B41FA5}">
                      <a16:colId xmlns:a16="http://schemas.microsoft.com/office/drawing/2014/main" val="4059425573"/>
                    </a:ext>
                  </a:extLst>
                </a:gridCol>
                <a:gridCol w="4220698">
                  <a:extLst>
                    <a:ext uri="{9D8B030D-6E8A-4147-A177-3AD203B41FA5}">
                      <a16:colId xmlns:a16="http://schemas.microsoft.com/office/drawing/2014/main" val="1139361603"/>
                    </a:ext>
                  </a:extLst>
                </a:gridCol>
              </a:tblGrid>
              <a:tr h="358916">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360864">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en-US" altLang="zh-CN" sz="1400" kern="1200" dirty="0" err="1">
                          <a:solidFill>
                            <a:schemeClr val="tx1"/>
                          </a:solidFill>
                          <a:effectLst/>
                          <a:latin typeface="Consolas" panose="020B0609020204030204" pitchFamily="49" charset="0"/>
                          <a:ea typeface="黑体" panose="02010609060101010101" pitchFamily="49" charset="-122"/>
                          <a:cs typeface="+mn-cs"/>
                        </a:rPr>
                        <a:t>FileInputStream</a:t>
                      </a:r>
                      <a:r>
                        <a:rPr lang="en-US" altLang="zh-CN" sz="1400" kern="1200" dirty="0">
                          <a:solidFill>
                            <a:schemeClr val="tx1"/>
                          </a:solidFill>
                          <a:effectLst/>
                          <a:latin typeface="Consolas" panose="020B0609020204030204" pitchFamily="49" charset="0"/>
                          <a:ea typeface="黑体" panose="02010609060101010101" pitchFamily="49" charset="-122"/>
                          <a:cs typeface="+mn-cs"/>
                        </a:rPr>
                        <a:t>(String name)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eaLnBrk="0" hangingPunct="0">
                        <a:lnSpc>
                          <a:spcPct val="150000"/>
                        </a:lnSpc>
                        <a:buFont typeface="Wingdings" pitchFamily="2" charset="2"/>
                        <a:buNone/>
                        <a:defRPr/>
                      </a:pPr>
                      <a:r>
                        <a:rPr lang="zh-CN" altLang="en-US" sz="1400" dirty="0">
                          <a:latin typeface="Consolas" panose="020B0609020204030204" pitchFamily="49" charset="0"/>
                          <a:ea typeface="Alibaba PuHuiTi R"/>
                        </a:rPr>
                        <a:t>输入流关联文件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文件路径以字符串形式给出</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r h="362732">
                <a:tc>
                  <a:txBody>
                    <a:bodyPr/>
                    <a:lstStyle/>
                    <a:p>
                      <a:r>
                        <a:rPr lang="en-US" altLang="zh-CN" sz="1400" dirty="0" err="1">
                          <a:latin typeface="Consolas" panose="020B0609020204030204" pitchFamily="49" charset="0"/>
                          <a:ea typeface="微软雅黑" pitchFamily="34" charset="-122"/>
                        </a:rPr>
                        <a:t>FileInputStream</a:t>
                      </a:r>
                      <a:r>
                        <a:rPr lang="en-US" altLang="zh-CN" sz="1400" dirty="0">
                          <a:latin typeface="Consolas" panose="020B0609020204030204" pitchFamily="49" charset="0"/>
                          <a:ea typeface="微软雅黑" pitchFamily="34" charset="-122"/>
                        </a:rPr>
                        <a:t>(File file) </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输入流关联文件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文件路径以</a:t>
                      </a:r>
                      <a:r>
                        <a:rPr lang="en-US" altLang="zh-CN" sz="1400" dirty="0">
                          <a:latin typeface="Consolas" panose="020B0609020204030204" pitchFamily="49" charset="0"/>
                          <a:ea typeface="Alibaba PuHuiTi R"/>
                        </a:rPr>
                        <a:t>File</a:t>
                      </a:r>
                      <a:r>
                        <a:rPr lang="zh-CN" altLang="en-US" sz="1400" dirty="0">
                          <a:latin typeface="Consolas" panose="020B0609020204030204" pitchFamily="49" charset="0"/>
                          <a:ea typeface="Alibaba PuHuiTi R"/>
                        </a:rPr>
                        <a:t>对象形式给出</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53507733"/>
                  </a:ext>
                </a:extLst>
              </a:tr>
            </a:tbl>
          </a:graphicData>
        </a:graphic>
      </p:graphicFrame>
      <p:sp>
        <p:nvSpPr>
          <p:cNvPr id="20" name="三角形 9">
            <a:extLst>
              <a:ext uri="{FF2B5EF4-FFF2-40B4-BE49-F238E27FC236}">
                <a16:creationId xmlns:a16="http://schemas.microsoft.com/office/drawing/2014/main" id="{AA384DEB-41C5-42A6-8E02-E5C233DB973A}"/>
              </a:ext>
            </a:extLst>
          </p:cNvPr>
          <p:cNvSpPr/>
          <p:nvPr/>
        </p:nvSpPr>
        <p:spPr>
          <a:xfrm rot="2651319">
            <a:off x="732463" y="5299122"/>
            <a:ext cx="109236" cy="58579"/>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5BACE573-DBE6-4F94-9AF7-3ACCF7CE383E}"/>
              </a:ext>
            </a:extLst>
          </p:cNvPr>
          <p:cNvSpPr/>
          <p:nvPr/>
        </p:nvSpPr>
        <p:spPr>
          <a:xfrm>
            <a:off x="655207" y="5389140"/>
            <a:ext cx="6754422" cy="1208211"/>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F7EC4DEC-24F1-47F2-90BD-ED54AFC46652}"/>
              </a:ext>
            </a:extLst>
          </p:cNvPr>
          <p:cNvSpPr/>
          <p:nvPr/>
        </p:nvSpPr>
        <p:spPr>
          <a:xfrm>
            <a:off x="539006" y="5233174"/>
            <a:ext cx="1318232" cy="282471"/>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latin typeface="Alibaba PuHuiTi R" pitchFamily="18" charset="-122"/>
                <a:ea typeface="Alibaba PuHuiTi R" pitchFamily="18" charset="-122"/>
                <a:cs typeface="Alibaba PuHuiTi R" pitchFamily="18" charset="-122"/>
              </a:rPr>
              <a:t>注意事项</a:t>
            </a:r>
          </a:p>
        </p:txBody>
      </p:sp>
      <p:sp>
        <p:nvSpPr>
          <p:cNvPr id="23" name="TextBox 6">
            <a:extLst>
              <a:ext uri="{FF2B5EF4-FFF2-40B4-BE49-F238E27FC236}">
                <a16:creationId xmlns:a16="http://schemas.microsoft.com/office/drawing/2014/main" id="{16330178-7DC2-4BEB-800B-58C7EA09FEF0}"/>
              </a:ext>
            </a:extLst>
          </p:cNvPr>
          <p:cNvSpPr txBox="1"/>
          <p:nvPr/>
        </p:nvSpPr>
        <p:spPr>
          <a:xfrm>
            <a:off x="1485138" y="5516474"/>
            <a:ext cx="6170674"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关联的文件不存在会抛出 </a:t>
            </a:r>
            <a:r>
              <a:rPr lang="en-US" altLang="zh-CN" sz="1600" dirty="0" err="1">
                <a:latin typeface="Consolas" panose="020B0609020204030204" pitchFamily="49" charset="0"/>
                <a:ea typeface="阿里巴巴普惠体" panose="00020600040101010101" pitchFamily="18" charset="-122"/>
                <a:cs typeface="阿里巴巴普惠体" panose="00020600040101010101" pitchFamily="18" charset="-122"/>
              </a:rPr>
              <a:t>FileNotFoundException</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异常</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4" name="TextBox 6">
            <a:extLst>
              <a:ext uri="{FF2B5EF4-FFF2-40B4-BE49-F238E27FC236}">
                <a16:creationId xmlns:a16="http://schemas.microsoft.com/office/drawing/2014/main" id="{8137C068-4D2C-49F3-ABDF-D3672DD25D3E}"/>
              </a:ext>
            </a:extLst>
          </p:cNvPr>
          <p:cNvSpPr txBox="1"/>
          <p:nvPr/>
        </p:nvSpPr>
        <p:spPr>
          <a:xfrm>
            <a:off x="1514725" y="6021223"/>
            <a:ext cx="2530968"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文件夹的话会拒绝访问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589005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1+#ppt_w/2"/>
                                          </p:val>
                                        </p:tav>
                                        <p:tav tm="100000">
                                          <p:val>
                                            <p:strVal val="#ppt_x"/>
                                          </p:val>
                                        </p:tav>
                                      </p:tavLst>
                                    </p:anim>
                                    <p:anim calcmode="lin" valueType="num">
                                      <p:cBhvr additive="base">
                                        <p:cTn id="29"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anim calcmode="lin" valueType="num">
                                      <p:cBhvr>
                                        <p:cTn id="35" dur="500" fill="hold"/>
                                        <p:tgtEl>
                                          <p:spTgt spid="19"/>
                                        </p:tgtEl>
                                        <p:attrNameLst>
                                          <p:attrName>ppt_x</p:attrName>
                                        </p:attrNameLst>
                                      </p:cBhvr>
                                      <p:tavLst>
                                        <p:tav tm="0">
                                          <p:val>
                                            <p:strVal val="#ppt_x"/>
                                          </p:val>
                                        </p:tav>
                                        <p:tav tm="100000">
                                          <p:val>
                                            <p:strVal val="#ppt_x"/>
                                          </p:val>
                                        </p:tav>
                                      </p:tavLst>
                                    </p:anim>
                                    <p:anim calcmode="lin" valueType="num">
                                      <p:cBhvr>
                                        <p:cTn id="36"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randombar(horizontal)">
                                      <p:cBhvr>
                                        <p:cTn id="41" dur="500"/>
                                        <p:tgtEl>
                                          <p:spTgt spid="20"/>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randombar(horizontal)">
                                      <p:cBhvr>
                                        <p:cTn id="44" dur="500"/>
                                        <p:tgtEl>
                                          <p:spTgt spid="21"/>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randombar(horizontal)">
                                      <p:cBhvr>
                                        <p:cTn id="47" dur="500"/>
                                        <p:tgtEl>
                                          <p:spTgt spid="22"/>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randombar(horizontal)">
                                      <p:cBhvr>
                                        <p:cTn id="50" dur="500"/>
                                        <p:tgtEl>
                                          <p:spTgt spid="23"/>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randombar(horizontal)">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P spid="10" grpId="0"/>
      <p:bldP spid="15" grpId="0" animBg="1"/>
      <p:bldP spid="20" grpId="0" animBg="1"/>
      <p:bldP spid="21" grpId="0" animBg="1"/>
      <p:bldP spid="22" grpId="0" animBg="1"/>
      <p:bldP spid="23" grpId="0"/>
      <p:bldP spid="2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折角 4">
            <a:extLst>
              <a:ext uri="{FF2B5EF4-FFF2-40B4-BE49-F238E27FC236}">
                <a16:creationId xmlns:a16="http://schemas.microsoft.com/office/drawing/2014/main" id="{2422EA2A-B23F-A4CD-305A-0DF4D728A197}"/>
              </a:ext>
            </a:extLst>
          </p:cNvPr>
          <p:cNvSpPr/>
          <p:nvPr/>
        </p:nvSpPr>
        <p:spPr>
          <a:xfrm>
            <a:off x="489522" y="2553266"/>
            <a:ext cx="2542086" cy="869705"/>
          </a:xfrm>
          <a:prstGeom prst="foldedCorner">
            <a:avLst/>
          </a:prstGeom>
          <a:ln/>
        </p:spPr>
        <p:style>
          <a:lnRef idx="1">
            <a:schemeClr val="dk1"/>
          </a:lnRef>
          <a:fillRef idx="2">
            <a:schemeClr val="dk1"/>
          </a:fillRef>
          <a:effectRef idx="1">
            <a:schemeClr val="dk1"/>
          </a:effectRef>
          <a:fontRef idx="minor">
            <a:schemeClr val="dk1"/>
          </a:fontRef>
        </p:style>
        <p:txBody>
          <a:bodyPr rtlCol="0" anchor="ctr"/>
          <a:lstStyle/>
          <a:p>
            <a:r>
              <a:rPr lang="en-US" altLang="zh-CN" dirty="0">
                <a:latin typeface="Consolas" panose="020B0609020204030204" pitchFamily="49" charset="0"/>
              </a:rPr>
              <a:t>D:\A.txt</a:t>
            </a:r>
          </a:p>
          <a:p>
            <a:r>
              <a:rPr lang="en-US" altLang="zh-CN" dirty="0" err="1">
                <a:latin typeface="Consolas" panose="020B0609020204030204" pitchFamily="49" charset="0"/>
              </a:rPr>
              <a:t>abc</a:t>
            </a:r>
            <a:endParaRPr lang="en-US" altLang="zh-CN" dirty="0">
              <a:latin typeface="Consolas" panose="020B0609020204030204" pitchFamily="49" charset="0"/>
            </a:endParaRPr>
          </a:p>
        </p:txBody>
      </p:sp>
      <p:sp>
        <p:nvSpPr>
          <p:cNvPr id="7" name="箭头: 右 6">
            <a:extLst>
              <a:ext uri="{FF2B5EF4-FFF2-40B4-BE49-F238E27FC236}">
                <a16:creationId xmlns:a16="http://schemas.microsoft.com/office/drawing/2014/main" id="{7C2F6593-736E-EB5B-6437-274FBB9185E6}"/>
              </a:ext>
            </a:extLst>
          </p:cNvPr>
          <p:cNvSpPr/>
          <p:nvPr/>
        </p:nvSpPr>
        <p:spPr>
          <a:xfrm rot="10800000">
            <a:off x="3090857" y="2780112"/>
            <a:ext cx="3813988" cy="346293"/>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E375B4A3-26F0-5AA7-07CB-B66BB2496AB9}"/>
              </a:ext>
            </a:extLst>
          </p:cNvPr>
          <p:cNvSpPr txBox="1"/>
          <p:nvPr/>
        </p:nvSpPr>
        <p:spPr>
          <a:xfrm>
            <a:off x="489136" y="3183407"/>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97</a:t>
            </a:r>
            <a:endParaRPr lang="zh-CN" altLang="en-US" sz="1050" dirty="0">
              <a:solidFill>
                <a:srgbClr val="0033B3"/>
              </a:solidFill>
              <a:latin typeface="Consolas" panose="020B0609020204030204" pitchFamily="49" charset="0"/>
              <a:ea typeface="JetBrains Mono"/>
            </a:endParaRPr>
          </a:p>
        </p:txBody>
      </p:sp>
      <p:sp>
        <p:nvSpPr>
          <p:cNvPr id="9" name="文本框 8">
            <a:extLst>
              <a:ext uri="{FF2B5EF4-FFF2-40B4-BE49-F238E27FC236}">
                <a16:creationId xmlns:a16="http://schemas.microsoft.com/office/drawing/2014/main" id="{EC4605B2-9139-9610-A399-0CCF0354F747}"/>
              </a:ext>
            </a:extLst>
          </p:cNvPr>
          <p:cNvSpPr txBox="1"/>
          <p:nvPr/>
        </p:nvSpPr>
        <p:spPr>
          <a:xfrm>
            <a:off x="829224" y="3183407"/>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98</a:t>
            </a:r>
            <a:endParaRPr lang="zh-CN" altLang="en-US" sz="1050" dirty="0">
              <a:solidFill>
                <a:srgbClr val="0033B3"/>
              </a:solidFill>
              <a:latin typeface="Consolas" panose="020B0609020204030204" pitchFamily="49" charset="0"/>
              <a:ea typeface="JetBrains Mono"/>
            </a:endParaRPr>
          </a:p>
        </p:txBody>
      </p:sp>
      <p:sp>
        <p:nvSpPr>
          <p:cNvPr id="10" name="文本框 9">
            <a:extLst>
              <a:ext uri="{FF2B5EF4-FFF2-40B4-BE49-F238E27FC236}">
                <a16:creationId xmlns:a16="http://schemas.microsoft.com/office/drawing/2014/main" id="{D1E0622F-D98A-5EBC-6D19-EFE41E55AA12}"/>
              </a:ext>
            </a:extLst>
          </p:cNvPr>
          <p:cNvSpPr txBox="1"/>
          <p:nvPr/>
        </p:nvSpPr>
        <p:spPr>
          <a:xfrm>
            <a:off x="1169310" y="3183407"/>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99</a:t>
            </a:r>
            <a:endParaRPr lang="zh-CN" altLang="en-US" sz="1050" dirty="0">
              <a:solidFill>
                <a:srgbClr val="0033B3"/>
              </a:solidFill>
              <a:latin typeface="Consolas" panose="020B0609020204030204" pitchFamily="49" charset="0"/>
              <a:ea typeface="JetBrains Mono"/>
            </a:endParaRPr>
          </a:p>
        </p:txBody>
      </p:sp>
      <p:sp>
        <p:nvSpPr>
          <p:cNvPr id="11" name="标题 1">
            <a:extLst>
              <a:ext uri="{FF2B5EF4-FFF2-40B4-BE49-F238E27FC236}">
                <a16:creationId xmlns:a16="http://schemas.microsoft.com/office/drawing/2014/main" id="{8FB867BE-D2A3-40D9-90BE-1A4D4DE3F622}"/>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2" name="直接连接符 11">
            <a:extLst>
              <a:ext uri="{FF2B5EF4-FFF2-40B4-BE49-F238E27FC236}">
                <a16:creationId xmlns:a16="http://schemas.microsoft.com/office/drawing/2014/main" id="{B27487C4-72F0-4DF0-B55E-3E0F60CCF907}"/>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2">
            <a:extLst>
              <a:ext uri="{FF2B5EF4-FFF2-40B4-BE49-F238E27FC236}">
                <a16:creationId xmlns:a16="http://schemas.microsoft.com/office/drawing/2014/main" id="{8EF7E907-604E-4B3D-B91E-2514298483BD}"/>
              </a:ext>
            </a:extLst>
          </p:cNvPr>
          <p:cNvSpPr txBox="1"/>
          <p:nvPr/>
        </p:nvSpPr>
        <p:spPr>
          <a:xfrm>
            <a:off x="539006" y="1312834"/>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
        <p:nvSpPr>
          <p:cNvPr id="15" name="流程图: 磁盘 14">
            <a:extLst>
              <a:ext uri="{FF2B5EF4-FFF2-40B4-BE49-F238E27FC236}">
                <a16:creationId xmlns:a16="http://schemas.microsoft.com/office/drawing/2014/main" id="{D9800353-B261-4B15-B178-2440B746775C}"/>
              </a:ext>
            </a:extLst>
          </p:cNvPr>
          <p:cNvSpPr/>
          <p:nvPr/>
        </p:nvSpPr>
        <p:spPr>
          <a:xfrm>
            <a:off x="6993968" y="2644053"/>
            <a:ext cx="1832843" cy="61841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
        <p:nvSpPr>
          <p:cNvPr id="16" name="文本框 15">
            <a:extLst>
              <a:ext uri="{FF2B5EF4-FFF2-40B4-BE49-F238E27FC236}">
                <a16:creationId xmlns:a16="http://schemas.microsoft.com/office/drawing/2014/main" id="{1F8BCFDC-DF2A-41BA-BA71-C8A1A882445C}"/>
              </a:ext>
            </a:extLst>
          </p:cNvPr>
          <p:cNvSpPr txBox="1"/>
          <p:nvPr/>
        </p:nvSpPr>
        <p:spPr>
          <a:xfrm>
            <a:off x="7736323" y="3281464"/>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97</a:t>
            </a:r>
            <a:endParaRPr lang="zh-CN" altLang="en-US" sz="1050" dirty="0">
              <a:solidFill>
                <a:srgbClr val="0033B3"/>
              </a:solidFill>
              <a:latin typeface="Consolas" panose="020B0609020204030204" pitchFamily="49" charset="0"/>
              <a:ea typeface="JetBrains Mono"/>
            </a:endParaRPr>
          </a:p>
        </p:txBody>
      </p:sp>
      <p:sp>
        <p:nvSpPr>
          <p:cNvPr id="17" name="文本框 16">
            <a:extLst>
              <a:ext uri="{FF2B5EF4-FFF2-40B4-BE49-F238E27FC236}">
                <a16:creationId xmlns:a16="http://schemas.microsoft.com/office/drawing/2014/main" id="{A12830C6-0B46-43E9-A3AE-7B398BB63114}"/>
              </a:ext>
            </a:extLst>
          </p:cNvPr>
          <p:cNvSpPr txBox="1"/>
          <p:nvPr/>
        </p:nvSpPr>
        <p:spPr>
          <a:xfrm>
            <a:off x="7736323" y="3602570"/>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98</a:t>
            </a:r>
            <a:endParaRPr lang="zh-CN" altLang="en-US" sz="1050" dirty="0">
              <a:solidFill>
                <a:srgbClr val="0033B3"/>
              </a:solidFill>
              <a:latin typeface="Consolas" panose="020B0609020204030204" pitchFamily="49" charset="0"/>
              <a:ea typeface="JetBrains Mono"/>
            </a:endParaRPr>
          </a:p>
        </p:txBody>
      </p:sp>
      <p:sp>
        <p:nvSpPr>
          <p:cNvPr id="18" name="文本框 17">
            <a:extLst>
              <a:ext uri="{FF2B5EF4-FFF2-40B4-BE49-F238E27FC236}">
                <a16:creationId xmlns:a16="http://schemas.microsoft.com/office/drawing/2014/main" id="{B55B79D7-BE3E-43F2-B84C-474E1D25624D}"/>
              </a:ext>
            </a:extLst>
          </p:cNvPr>
          <p:cNvSpPr txBox="1"/>
          <p:nvPr/>
        </p:nvSpPr>
        <p:spPr>
          <a:xfrm>
            <a:off x="7736323" y="3925135"/>
            <a:ext cx="332142" cy="253916"/>
          </a:xfrm>
          <a:prstGeom prst="rect">
            <a:avLst/>
          </a:prstGeom>
          <a:noFill/>
          <a:ln>
            <a:noFill/>
          </a:ln>
        </p:spPr>
        <p:txBody>
          <a:bodyPr wrap="none" rtlCol="0">
            <a:spAutoFit/>
          </a:bodyPr>
          <a:lstStyle/>
          <a:p>
            <a:pPr algn="l"/>
            <a:r>
              <a:rPr lang="en-US" altLang="zh-CN" sz="1050" dirty="0">
                <a:solidFill>
                  <a:srgbClr val="0033B3"/>
                </a:solidFill>
                <a:latin typeface="Consolas" panose="020B0609020204030204" pitchFamily="49" charset="0"/>
                <a:ea typeface="JetBrains Mono"/>
              </a:rPr>
              <a:t>99</a:t>
            </a:r>
            <a:endParaRPr lang="zh-CN" altLang="en-US" sz="1050" dirty="0">
              <a:solidFill>
                <a:srgbClr val="0033B3"/>
              </a:solidFill>
              <a:latin typeface="Consolas" panose="020B0609020204030204" pitchFamily="49" charset="0"/>
              <a:ea typeface="JetBrains Mono"/>
            </a:endParaRPr>
          </a:p>
        </p:txBody>
      </p:sp>
      <p:graphicFrame>
        <p:nvGraphicFramePr>
          <p:cNvPr id="25" name="表格 24">
            <a:extLst>
              <a:ext uri="{FF2B5EF4-FFF2-40B4-BE49-F238E27FC236}">
                <a16:creationId xmlns:a16="http://schemas.microsoft.com/office/drawing/2014/main" id="{AE7FFAFF-F356-4A8D-97B8-A4A642D4AE30}"/>
              </a:ext>
            </a:extLst>
          </p:cNvPr>
          <p:cNvGraphicFramePr>
            <a:graphicFrameLocks noGrp="1"/>
          </p:cNvGraphicFramePr>
          <p:nvPr>
            <p:extLst>
              <p:ext uri="{D42A27DB-BD31-4B8C-83A1-F6EECF244321}">
                <p14:modId xmlns:p14="http://schemas.microsoft.com/office/powerpoint/2010/main" val="1874556485"/>
              </p:ext>
            </p:extLst>
          </p:nvPr>
        </p:nvGraphicFramePr>
        <p:xfrm>
          <a:off x="468314" y="4138728"/>
          <a:ext cx="7268010" cy="1559598"/>
        </p:xfrm>
        <a:graphic>
          <a:graphicData uri="http://schemas.openxmlformats.org/drawingml/2006/table">
            <a:tbl>
              <a:tblPr/>
              <a:tblGrid>
                <a:gridCol w="2015454">
                  <a:extLst>
                    <a:ext uri="{9D8B030D-6E8A-4147-A177-3AD203B41FA5}">
                      <a16:colId xmlns:a16="http://schemas.microsoft.com/office/drawing/2014/main" val="3903616913"/>
                    </a:ext>
                  </a:extLst>
                </a:gridCol>
                <a:gridCol w="5252556">
                  <a:extLst>
                    <a:ext uri="{9D8B030D-6E8A-4147-A177-3AD203B41FA5}">
                      <a16:colId xmlns:a16="http://schemas.microsoft.com/office/drawing/2014/main" val="3501032722"/>
                    </a:ext>
                  </a:extLst>
                </a:gridCol>
              </a:tblGrid>
              <a:tr h="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成员方法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47498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int read()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读取一个字节并返回</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如果到达文件结尾则返回 </a:t>
                      </a:r>
                      <a:r>
                        <a:rPr lang="en-US" altLang="zh-CN" sz="1400" dirty="0">
                          <a:latin typeface="Consolas" panose="020B0609020204030204" pitchFamily="49" charset="0"/>
                          <a:ea typeface="Alibaba PuHuiTi R"/>
                        </a:rPr>
                        <a:t>-1</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r h="745112">
                <a:tc>
                  <a:txBody>
                    <a:bodyPr/>
                    <a:lstStyle/>
                    <a:p>
                      <a:pPr algn="l"/>
                      <a:r>
                        <a:rPr lang="en-US" altLang="zh-CN" sz="1400" dirty="0">
                          <a:latin typeface="Consolas" panose="020B0609020204030204" pitchFamily="49" charset="0"/>
                        </a:rPr>
                        <a:t>int read(byte[] b)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Alibaba PuHuiTi R"/>
                        </a:rPr>
                        <a:t>将读取到字节</a:t>
                      </a:r>
                      <a:r>
                        <a:rPr lang="en-US" altLang="zh-CN" sz="1400" b="0" dirty="0">
                          <a:solidFill>
                            <a:schemeClr val="tx1">
                              <a:lumMod val="95000"/>
                              <a:lumOff val="5000"/>
                            </a:schemeClr>
                          </a:solidFill>
                          <a:latin typeface="Consolas" panose="020B0609020204030204" pitchFamily="49" charset="0"/>
                          <a:ea typeface="Alibaba PuHuiTi R"/>
                        </a:rPr>
                        <a:t>, </a:t>
                      </a:r>
                      <a:r>
                        <a:rPr lang="zh-CN" altLang="en-US" sz="1400" b="0" dirty="0">
                          <a:solidFill>
                            <a:schemeClr val="tx1">
                              <a:lumMod val="95000"/>
                              <a:lumOff val="5000"/>
                            </a:schemeClr>
                          </a:solidFill>
                          <a:latin typeface="Consolas" panose="020B0609020204030204" pitchFamily="49" charset="0"/>
                          <a:ea typeface="Alibaba PuHuiTi R"/>
                        </a:rPr>
                        <a:t>放到传入的数组</a:t>
                      </a:r>
                      <a:r>
                        <a:rPr lang="en-US" altLang="zh-CN" sz="1400" b="0" dirty="0">
                          <a:solidFill>
                            <a:schemeClr val="tx1">
                              <a:lumMod val="95000"/>
                              <a:lumOff val="5000"/>
                            </a:schemeClr>
                          </a:solidFill>
                          <a:latin typeface="Consolas" panose="020B0609020204030204" pitchFamily="49" charset="0"/>
                          <a:ea typeface="Alibaba PuHuiTi R"/>
                        </a:rPr>
                        <a:t> </a:t>
                      </a:r>
                      <a:r>
                        <a:rPr lang="zh-CN" altLang="en-US" sz="1400" b="0" dirty="0">
                          <a:solidFill>
                            <a:schemeClr val="tx1">
                              <a:lumMod val="95000"/>
                              <a:lumOff val="5000"/>
                            </a:schemeClr>
                          </a:solidFill>
                          <a:latin typeface="Consolas" panose="020B0609020204030204" pitchFamily="49" charset="0"/>
                          <a:ea typeface="Alibaba PuHuiTi R"/>
                        </a:rPr>
                        <a:t>返回读取到的有效字节个数</a:t>
                      </a:r>
                      <a:endParaRPr lang="en-US" altLang="zh-CN" sz="1400" b="0" dirty="0">
                        <a:solidFill>
                          <a:schemeClr val="tx1">
                            <a:lumMod val="95000"/>
                            <a:lumOff val="5000"/>
                          </a:schemeClr>
                        </a:solidFill>
                        <a:latin typeface="Consolas" panose="020B0609020204030204" pitchFamily="49" charset="0"/>
                        <a:ea typeface="Alibaba PuHuiTi R"/>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如果到达文件结尾则返回 </a:t>
                      </a:r>
                      <a:r>
                        <a:rPr lang="en-US" altLang="zh-CN" sz="1400" dirty="0">
                          <a:latin typeface="Consolas" panose="020B0609020204030204" pitchFamily="49" charset="0"/>
                          <a:ea typeface="Alibaba PuHuiTi R"/>
                        </a:rPr>
                        <a:t>-1</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400720702"/>
                  </a:ext>
                </a:extLst>
              </a:tr>
            </a:tbl>
          </a:graphicData>
        </a:graphic>
      </p:graphicFrame>
    </p:spTree>
    <p:extLst>
      <p:ext uri="{BB962C8B-B14F-4D97-AF65-F5344CB8AC3E}">
        <p14:creationId xmlns:p14="http://schemas.microsoft.com/office/powerpoint/2010/main" val="2261091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1+#ppt_w/2"/>
                                          </p:val>
                                        </p:tav>
                                        <p:tav tm="100000">
                                          <p:val>
                                            <p:strVal val="#ppt_x"/>
                                          </p:val>
                                        </p:tav>
                                      </p:tavLst>
                                    </p:anim>
                                    <p:anim calcmode="lin" valueType="num">
                                      <p:cBhvr additive="base">
                                        <p:cTn id="29"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randombar(horizontal)">
                                      <p:cBhvr>
                                        <p:cTn id="34" dur="5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up)">
                                      <p:cBhvr>
                                        <p:cTn id="39" dur="500"/>
                                        <p:tgtEl>
                                          <p:spTgt spid="16"/>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up)">
                                      <p:cBhvr>
                                        <p:cTn id="43" dur="500"/>
                                        <p:tgtEl>
                                          <p:spTgt spid="17"/>
                                        </p:tgtEl>
                                      </p:cBhvr>
                                    </p:animEffect>
                                  </p:childTnLst>
                                </p:cTn>
                              </p:par>
                            </p:childTnLst>
                          </p:cTn>
                        </p:par>
                        <p:par>
                          <p:cTn id="44" fill="hold">
                            <p:stCondLst>
                              <p:cond delay="1000"/>
                            </p:stCondLst>
                            <p:childTnLst>
                              <p:par>
                                <p:cTn id="45" presetID="22" presetClass="entr" presetSubtype="1"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P spid="10" grpId="0"/>
      <p:bldP spid="15" grpId="0" animBg="1"/>
      <p:bldP spid="16" grpId="0"/>
      <p:bldP spid="17" grpId="0"/>
      <p:bldP spid="1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a:extLst>
              <a:ext uri="{FF2B5EF4-FFF2-40B4-BE49-F238E27FC236}">
                <a16:creationId xmlns:a16="http://schemas.microsoft.com/office/drawing/2014/main" id="{A9C880A1-D55F-4C22-9003-BDBDA30277B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8" name="直接连接符 17">
            <a:extLst>
              <a:ext uri="{FF2B5EF4-FFF2-40B4-BE49-F238E27FC236}">
                <a16:creationId xmlns:a16="http://schemas.microsoft.com/office/drawing/2014/main" id="{DBDC9AC0-5144-491B-AF7B-D1DEA94A80C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TextBox 2">
            <a:extLst>
              <a:ext uri="{FF2B5EF4-FFF2-40B4-BE49-F238E27FC236}">
                <a16:creationId xmlns:a16="http://schemas.microsoft.com/office/drawing/2014/main" id="{9E3A2035-8888-4B50-A4BC-A690B6C8258F}"/>
              </a:ext>
            </a:extLst>
          </p:cNvPr>
          <p:cNvSpPr txBox="1"/>
          <p:nvPr/>
        </p:nvSpPr>
        <p:spPr>
          <a:xfrm>
            <a:off x="309806" y="1007267"/>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
        <p:nvSpPr>
          <p:cNvPr id="65" name="矩形: 折角 64">
            <a:extLst>
              <a:ext uri="{FF2B5EF4-FFF2-40B4-BE49-F238E27FC236}">
                <a16:creationId xmlns:a16="http://schemas.microsoft.com/office/drawing/2014/main" id="{C43156AA-8A57-43D1-89DA-7F6BE41FBCDA}"/>
              </a:ext>
            </a:extLst>
          </p:cNvPr>
          <p:cNvSpPr/>
          <p:nvPr/>
        </p:nvSpPr>
        <p:spPr>
          <a:xfrm>
            <a:off x="323528" y="2060848"/>
            <a:ext cx="338944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D:\A.txt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Consolas" panose="020B0609020204030204" pitchFamily="49" charset="0"/>
                <a:ea typeface="黑体"/>
                <a:cs typeface="+mn-cs"/>
              </a:rPr>
              <a:t>abcde</a:t>
            </a: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66" name="文本框 65">
            <a:extLst>
              <a:ext uri="{FF2B5EF4-FFF2-40B4-BE49-F238E27FC236}">
                <a16:creationId xmlns:a16="http://schemas.microsoft.com/office/drawing/2014/main" id="{9763660B-1102-48F1-90FA-5A18A007AB5A}"/>
              </a:ext>
            </a:extLst>
          </p:cNvPr>
          <p:cNvSpPr txBox="1"/>
          <p:nvPr/>
        </p:nvSpPr>
        <p:spPr>
          <a:xfrm>
            <a:off x="323528" y="2912678"/>
            <a:ext cx="383438"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67" name="文本框 66">
            <a:extLst>
              <a:ext uri="{FF2B5EF4-FFF2-40B4-BE49-F238E27FC236}">
                <a16:creationId xmlns:a16="http://schemas.microsoft.com/office/drawing/2014/main" id="{DCB171DB-192A-46C5-BE0B-F4797DBAE0CE}"/>
              </a:ext>
            </a:extLst>
          </p:cNvPr>
          <p:cNvSpPr txBox="1"/>
          <p:nvPr/>
        </p:nvSpPr>
        <p:spPr>
          <a:xfrm>
            <a:off x="752131" y="2912678"/>
            <a:ext cx="383438"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68" name="文本框 67">
            <a:extLst>
              <a:ext uri="{FF2B5EF4-FFF2-40B4-BE49-F238E27FC236}">
                <a16:creationId xmlns:a16="http://schemas.microsoft.com/office/drawing/2014/main" id="{A609BC6D-EB14-441C-903A-B9DB80F2BE34}"/>
              </a:ext>
            </a:extLst>
          </p:cNvPr>
          <p:cNvSpPr txBox="1"/>
          <p:nvPr/>
        </p:nvSpPr>
        <p:spPr>
          <a:xfrm>
            <a:off x="1180734" y="2912678"/>
            <a:ext cx="383438"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69" name="文本框 68">
            <a:extLst>
              <a:ext uri="{FF2B5EF4-FFF2-40B4-BE49-F238E27FC236}">
                <a16:creationId xmlns:a16="http://schemas.microsoft.com/office/drawing/2014/main" id="{C7301F47-AC57-4CB4-A5C5-59DB11157325}"/>
              </a:ext>
            </a:extLst>
          </p:cNvPr>
          <p:cNvSpPr txBox="1"/>
          <p:nvPr/>
        </p:nvSpPr>
        <p:spPr>
          <a:xfrm>
            <a:off x="1609337" y="2912678"/>
            <a:ext cx="482824"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70" name="文本框 69">
            <a:extLst>
              <a:ext uri="{FF2B5EF4-FFF2-40B4-BE49-F238E27FC236}">
                <a16:creationId xmlns:a16="http://schemas.microsoft.com/office/drawing/2014/main" id="{B769CD4E-D7F1-4912-BA94-3AE426C798BC}"/>
              </a:ext>
            </a:extLst>
          </p:cNvPr>
          <p:cNvSpPr txBox="1"/>
          <p:nvPr/>
        </p:nvSpPr>
        <p:spPr>
          <a:xfrm>
            <a:off x="2137325" y="2912678"/>
            <a:ext cx="482824"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71" name="矩形 70">
            <a:extLst>
              <a:ext uri="{FF2B5EF4-FFF2-40B4-BE49-F238E27FC236}">
                <a16:creationId xmlns:a16="http://schemas.microsoft.com/office/drawing/2014/main" id="{6F966CAA-EB82-4718-BD72-CBF70FD6DC1C}"/>
              </a:ext>
            </a:extLst>
          </p:cNvPr>
          <p:cNvSpPr/>
          <p:nvPr/>
        </p:nvSpPr>
        <p:spPr>
          <a:xfrm>
            <a:off x="2320320" y="4099922"/>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72" name="矩形 71">
            <a:extLst>
              <a:ext uri="{FF2B5EF4-FFF2-40B4-BE49-F238E27FC236}">
                <a16:creationId xmlns:a16="http://schemas.microsoft.com/office/drawing/2014/main" id="{3D1CB3DE-9677-419F-BA3F-828AD4D28BB6}"/>
              </a:ext>
            </a:extLst>
          </p:cNvPr>
          <p:cNvSpPr/>
          <p:nvPr/>
        </p:nvSpPr>
        <p:spPr>
          <a:xfrm>
            <a:off x="3062442" y="4099922"/>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73" name="文本占位符 6">
            <a:extLst>
              <a:ext uri="{FF2B5EF4-FFF2-40B4-BE49-F238E27FC236}">
                <a16:creationId xmlns:a16="http://schemas.microsoft.com/office/drawing/2014/main" id="{66671FA1-6787-4C0B-87DF-B620CD30B1C1}"/>
              </a:ext>
            </a:extLst>
          </p:cNvPr>
          <p:cNvSpPr txBox="1">
            <a:spLocks/>
          </p:cNvSpPr>
          <p:nvPr/>
        </p:nvSpPr>
        <p:spPr>
          <a:xfrm>
            <a:off x="2262901" y="3680969"/>
            <a:ext cx="1395889" cy="30777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defRPr/>
            </a:pPr>
            <a:r>
              <a:rPr lang="en-US" altLang="zh-CN" sz="1600" dirty="0">
                <a:solidFill>
                  <a:prstClr val="black"/>
                </a:solidFill>
                <a:latin typeface="Consolas" panose="020B0609020204030204" pitchFamily="49" charset="0"/>
                <a:ea typeface="黑体"/>
              </a:rPr>
              <a:t>byte[] </a:t>
            </a:r>
            <a:r>
              <a:rPr lang="en-US" altLang="zh-CN" sz="1600" dirty="0" err="1">
                <a:solidFill>
                  <a:prstClr val="black"/>
                </a:solidFill>
                <a:latin typeface="Consolas" panose="020B0609020204030204" pitchFamily="49" charset="0"/>
                <a:ea typeface="黑体"/>
              </a:rPr>
              <a:t>bys</a:t>
            </a:r>
            <a:endParaRPr lang="en-US" altLang="zh-CN" sz="1600" dirty="0">
              <a:solidFill>
                <a:prstClr val="black"/>
              </a:solidFill>
              <a:latin typeface="Consolas" panose="020B0609020204030204" pitchFamily="49" charset="0"/>
              <a:ea typeface="黑体"/>
            </a:endParaRPr>
          </a:p>
        </p:txBody>
      </p:sp>
      <p:sp>
        <p:nvSpPr>
          <p:cNvPr id="74" name="矩形 73">
            <a:extLst>
              <a:ext uri="{FF2B5EF4-FFF2-40B4-BE49-F238E27FC236}">
                <a16:creationId xmlns:a16="http://schemas.microsoft.com/office/drawing/2014/main" id="{F3CD6A8E-8EC1-4AC6-8BD6-8CC09BE2AF32}"/>
              </a:ext>
            </a:extLst>
          </p:cNvPr>
          <p:cNvSpPr/>
          <p:nvPr/>
        </p:nvSpPr>
        <p:spPr>
          <a:xfrm>
            <a:off x="2290299" y="4765885"/>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0</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75" name="矩形 74">
            <a:extLst>
              <a:ext uri="{FF2B5EF4-FFF2-40B4-BE49-F238E27FC236}">
                <a16:creationId xmlns:a16="http://schemas.microsoft.com/office/drawing/2014/main" id="{D994C5CB-7694-4418-84E8-70601039D08E}"/>
              </a:ext>
            </a:extLst>
          </p:cNvPr>
          <p:cNvSpPr/>
          <p:nvPr/>
        </p:nvSpPr>
        <p:spPr>
          <a:xfrm>
            <a:off x="3032421" y="4765885"/>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1</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pic>
        <p:nvPicPr>
          <p:cNvPr id="76" name="图片 75">
            <a:extLst>
              <a:ext uri="{FF2B5EF4-FFF2-40B4-BE49-F238E27FC236}">
                <a16:creationId xmlns:a16="http://schemas.microsoft.com/office/drawing/2014/main" id="{205B9F4D-6F73-4319-8CAC-1E4971D539A9}"/>
              </a:ext>
            </a:extLst>
          </p:cNvPr>
          <p:cNvPicPr>
            <a:picLocks noChangeAspect="1"/>
          </p:cNvPicPr>
          <p:nvPr/>
        </p:nvPicPr>
        <p:blipFill>
          <a:blip r:embed="rId3"/>
          <a:stretch>
            <a:fillRect/>
          </a:stretch>
        </p:blipFill>
        <p:spPr>
          <a:xfrm>
            <a:off x="356799" y="3570730"/>
            <a:ext cx="1339919" cy="2095608"/>
          </a:xfrm>
          <a:prstGeom prst="rect">
            <a:avLst/>
          </a:prstGeom>
        </p:spPr>
      </p:pic>
      <p:pic>
        <p:nvPicPr>
          <p:cNvPr id="77" name="图片 76">
            <a:extLst>
              <a:ext uri="{FF2B5EF4-FFF2-40B4-BE49-F238E27FC236}">
                <a16:creationId xmlns:a16="http://schemas.microsoft.com/office/drawing/2014/main" id="{C91724DD-3B25-4C71-B6B3-D4E62A71F3FD}"/>
              </a:ext>
            </a:extLst>
          </p:cNvPr>
          <p:cNvPicPr>
            <a:picLocks noChangeAspect="1"/>
          </p:cNvPicPr>
          <p:nvPr/>
        </p:nvPicPr>
        <p:blipFill>
          <a:blip r:embed="rId4"/>
          <a:stretch>
            <a:fillRect/>
          </a:stretch>
        </p:blipFill>
        <p:spPr>
          <a:xfrm>
            <a:off x="4240213" y="2024649"/>
            <a:ext cx="4722870" cy="3925300"/>
          </a:xfrm>
          <a:prstGeom prst="rect">
            <a:avLst/>
          </a:prstGeom>
          <a:ln w="3175"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78" name="矩形: 圆角 77">
            <a:extLst>
              <a:ext uri="{FF2B5EF4-FFF2-40B4-BE49-F238E27FC236}">
                <a16:creationId xmlns:a16="http://schemas.microsoft.com/office/drawing/2014/main" id="{F3898E96-7380-40F9-8859-71CB2EF2422C}"/>
              </a:ext>
            </a:extLst>
          </p:cNvPr>
          <p:cNvSpPr/>
          <p:nvPr/>
        </p:nvSpPr>
        <p:spPr>
          <a:xfrm>
            <a:off x="4215014" y="2640651"/>
            <a:ext cx="3876764" cy="930965"/>
          </a:xfrm>
          <a:custGeom>
            <a:avLst/>
            <a:gdLst>
              <a:gd name="connsiteX0" fmla="*/ 0 w 3876764"/>
              <a:gd name="connsiteY0" fmla="*/ 155164 h 930965"/>
              <a:gd name="connsiteX1" fmla="*/ 155164 w 3876764"/>
              <a:gd name="connsiteY1" fmla="*/ 0 h 930965"/>
              <a:gd name="connsiteX2" fmla="*/ 785234 w 3876764"/>
              <a:gd name="connsiteY2" fmla="*/ 0 h 930965"/>
              <a:gd name="connsiteX3" fmla="*/ 1272647 w 3876764"/>
              <a:gd name="connsiteY3" fmla="*/ 0 h 930965"/>
              <a:gd name="connsiteX4" fmla="*/ 1831389 w 3876764"/>
              <a:gd name="connsiteY4" fmla="*/ 0 h 930965"/>
              <a:gd name="connsiteX5" fmla="*/ 2390131 w 3876764"/>
              <a:gd name="connsiteY5" fmla="*/ 0 h 930965"/>
              <a:gd name="connsiteX6" fmla="*/ 2877543 w 3876764"/>
              <a:gd name="connsiteY6" fmla="*/ 0 h 930965"/>
              <a:gd name="connsiteX7" fmla="*/ 3721600 w 3876764"/>
              <a:gd name="connsiteY7" fmla="*/ 0 h 930965"/>
              <a:gd name="connsiteX8" fmla="*/ 3876764 w 3876764"/>
              <a:gd name="connsiteY8" fmla="*/ 155164 h 930965"/>
              <a:gd name="connsiteX9" fmla="*/ 3876764 w 3876764"/>
              <a:gd name="connsiteY9" fmla="*/ 471689 h 930965"/>
              <a:gd name="connsiteX10" fmla="*/ 3876764 w 3876764"/>
              <a:gd name="connsiteY10" fmla="*/ 775801 h 930965"/>
              <a:gd name="connsiteX11" fmla="*/ 3721600 w 3876764"/>
              <a:gd name="connsiteY11" fmla="*/ 930965 h 930965"/>
              <a:gd name="connsiteX12" fmla="*/ 3091530 w 3876764"/>
              <a:gd name="connsiteY12" fmla="*/ 930965 h 930965"/>
              <a:gd name="connsiteX13" fmla="*/ 2604117 w 3876764"/>
              <a:gd name="connsiteY13" fmla="*/ 930965 h 930965"/>
              <a:gd name="connsiteX14" fmla="*/ 1974046 w 3876764"/>
              <a:gd name="connsiteY14" fmla="*/ 930965 h 930965"/>
              <a:gd name="connsiteX15" fmla="*/ 1486633 w 3876764"/>
              <a:gd name="connsiteY15" fmla="*/ 930965 h 930965"/>
              <a:gd name="connsiteX16" fmla="*/ 892227 w 3876764"/>
              <a:gd name="connsiteY16" fmla="*/ 930965 h 930965"/>
              <a:gd name="connsiteX17" fmla="*/ 155164 w 3876764"/>
              <a:gd name="connsiteY17" fmla="*/ 930965 h 930965"/>
              <a:gd name="connsiteX18" fmla="*/ 0 w 3876764"/>
              <a:gd name="connsiteY18" fmla="*/ 775801 h 930965"/>
              <a:gd name="connsiteX19" fmla="*/ 0 w 3876764"/>
              <a:gd name="connsiteY19" fmla="*/ 465483 h 930965"/>
              <a:gd name="connsiteX20" fmla="*/ 0 w 3876764"/>
              <a:gd name="connsiteY20" fmla="*/ 155164 h 93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6764" h="930965" extrusionOk="0">
                <a:moveTo>
                  <a:pt x="0" y="155164"/>
                </a:moveTo>
                <a:cubicBezTo>
                  <a:pt x="8866" y="84709"/>
                  <a:pt x="88747" y="12080"/>
                  <a:pt x="155164" y="0"/>
                </a:cubicBezTo>
                <a:cubicBezTo>
                  <a:pt x="448100" y="-38276"/>
                  <a:pt x="641645" y="55050"/>
                  <a:pt x="785234" y="0"/>
                </a:cubicBezTo>
                <a:cubicBezTo>
                  <a:pt x="928823" y="-55050"/>
                  <a:pt x="1174152" y="17803"/>
                  <a:pt x="1272647" y="0"/>
                </a:cubicBezTo>
                <a:cubicBezTo>
                  <a:pt x="1371142" y="-17803"/>
                  <a:pt x="1591241" y="35454"/>
                  <a:pt x="1831389" y="0"/>
                </a:cubicBezTo>
                <a:cubicBezTo>
                  <a:pt x="2071537" y="-35454"/>
                  <a:pt x="2131216" y="8373"/>
                  <a:pt x="2390131" y="0"/>
                </a:cubicBezTo>
                <a:cubicBezTo>
                  <a:pt x="2649046" y="-8373"/>
                  <a:pt x="2750196" y="13499"/>
                  <a:pt x="2877543" y="0"/>
                </a:cubicBezTo>
                <a:cubicBezTo>
                  <a:pt x="3004890" y="-13499"/>
                  <a:pt x="3483627" y="59560"/>
                  <a:pt x="3721600" y="0"/>
                </a:cubicBezTo>
                <a:cubicBezTo>
                  <a:pt x="3802843" y="1092"/>
                  <a:pt x="3867317" y="72382"/>
                  <a:pt x="3876764" y="155164"/>
                </a:cubicBezTo>
                <a:cubicBezTo>
                  <a:pt x="3879604" y="293283"/>
                  <a:pt x="3875486" y="397256"/>
                  <a:pt x="3876764" y="471689"/>
                </a:cubicBezTo>
                <a:cubicBezTo>
                  <a:pt x="3878042" y="546122"/>
                  <a:pt x="3863347" y="632184"/>
                  <a:pt x="3876764" y="775801"/>
                </a:cubicBezTo>
                <a:cubicBezTo>
                  <a:pt x="3885167" y="867714"/>
                  <a:pt x="3799305" y="943183"/>
                  <a:pt x="3721600" y="930965"/>
                </a:cubicBezTo>
                <a:cubicBezTo>
                  <a:pt x="3536848" y="1006566"/>
                  <a:pt x="3280570" y="926036"/>
                  <a:pt x="3091530" y="930965"/>
                </a:cubicBezTo>
                <a:cubicBezTo>
                  <a:pt x="2902490" y="935894"/>
                  <a:pt x="2786540" y="896710"/>
                  <a:pt x="2604117" y="930965"/>
                </a:cubicBezTo>
                <a:cubicBezTo>
                  <a:pt x="2421694" y="965220"/>
                  <a:pt x="2196654" y="909704"/>
                  <a:pt x="1974046" y="930965"/>
                </a:cubicBezTo>
                <a:cubicBezTo>
                  <a:pt x="1751438" y="952226"/>
                  <a:pt x="1614178" y="877543"/>
                  <a:pt x="1486633" y="930965"/>
                </a:cubicBezTo>
                <a:cubicBezTo>
                  <a:pt x="1359088" y="984387"/>
                  <a:pt x="1030556" y="885932"/>
                  <a:pt x="892227" y="930965"/>
                </a:cubicBezTo>
                <a:cubicBezTo>
                  <a:pt x="753898" y="975998"/>
                  <a:pt x="367222" y="918855"/>
                  <a:pt x="155164" y="930965"/>
                </a:cubicBezTo>
                <a:cubicBezTo>
                  <a:pt x="78950" y="938240"/>
                  <a:pt x="-2203" y="861895"/>
                  <a:pt x="0" y="775801"/>
                </a:cubicBezTo>
                <a:cubicBezTo>
                  <a:pt x="-8343" y="692134"/>
                  <a:pt x="7335" y="537932"/>
                  <a:pt x="0" y="465483"/>
                </a:cubicBezTo>
                <a:cubicBezTo>
                  <a:pt x="-7335" y="393034"/>
                  <a:pt x="29953" y="240690"/>
                  <a:pt x="0" y="155164"/>
                </a:cubicBezTo>
                <a:close/>
              </a:path>
            </a:pathLst>
          </a:custGeom>
          <a:noFill/>
          <a:ln w="25400" cap="flat" cmpd="sng" algn="ctr">
            <a:solidFill>
              <a:srgbClr val="C0504D"/>
            </a:solidFill>
            <a:prstDash val="solid"/>
            <a:extLst>
              <a:ext uri="{C807C97D-BFC1-408E-A445-0C87EB9F89A2}">
                <ask:lineSketchStyleProps xmlns:ask="http://schemas.microsoft.com/office/drawing/2018/sketchyshapes" sd="3607457914">
                  <a:prstGeom prst="roundRect">
                    <a:avLst/>
                  </a:prstGeom>
                  <ask:type>
                    <ask:lineSketchScribbl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Tree>
    <p:extLst>
      <p:ext uri="{BB962C8B-B14F-4D97-AF65-F5344CB8AC3E}">
        <p14:creationId xmlns:p14="http://schemas.microsoft.com/office/powerpoint/2010/main" val="1719801206"/>
      </p:ext>
    </p:extLst>
  </p:cSld>
  <p:clrMapOvr>
    <a:masterClrMapping/>
  </p:clrMapOvr>
  <mc:AlternateContent xmlns:mc="http://schemas.openxmlformats.org/markup-compatibility/2006" xmlns:p14="http://schemas.microsoft.com/office/powerpoint/2010/main">
    <mc:Choice Requires="p14">
      <p:transition spd="slow" p14:dur="12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500"/>
                                        <p:tgtEl>
                                          <p:spTgt spid="6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500"/>
                                        <p:tgtEl>
                                          <p:spTgt spid="6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fade">
                                      <p:cBhvr>
                                        <p:cTn id="16" dur="500"/>
                                        <p:tgtEl>
                                          <p:spTgt spid="6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500"/>
                                        <p:tgtEl>
                                          <p:spTgt spid="7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77"/>
                                        </p:tgtEl>
                                        <p:attrNameLst>
                                          <p:attrName>style.visibility</p:attrName>
                                        </p:attrNameLst>
                                      </p:cBhvr>
                                      <p:to>
                                        <p:strVal val="visible"/>
                                      </p:to>
                                    </p:set>
                                    <p:anim calcmode="lin" valueType="num">
                                      <p:cBhvr>
                                        <p:cTn id="24" dur="500" fill="hold"/>
                                        <p:tgtEl>
                                          <p:spTgt spid="77"/>
                                        </p:tgtEl>
                                        <p:attrNameLst>
                                          <p:attrName>ppt_w</p:attrName>
                                        </p:attrNameLst>
                                      </p:cBhvr>
                                      <p:tavLst>
                                        <p:tav tm="0">
                                          <p:val>
                                            <p:fltVal val="0"/>
                                          </p:val>
                                        </p:tav>
                                        <p:tav tm="100000">
                                          <p:val>
                                            <p:strVal val="#ppt_w"/>
                                          </p:val>
                                        </p:tav>
                                      </p:tavLst>
                                    </p:anim>
                                    <p:anim calcmode="lin" valueType="num">
                                      <p:cBhvr>
                                        <p:cTn id="25" dur="500" fill="hold"/>
                                        <p:tgtEl>
                                          <p:spTgt spid="77"/>
                                        </p:tgtEl>
                                        <p:attrNameLst>
                                          <p:attrName>ppt_h</p:attrName>
                                        </p:attrNameLst>
                                      </p:cBhvr>
                                      <p:tavLst>
                                        <p:tav tm="0">
                                          <p:val>
                                            <p:fltVal val="0"/>
                                          </p:val>
                                        </p:tav>
                                        <p:tav tm="100000">
                                          <p:val>
                                            <p:strVal val="#ppt_h"/>
                                          </p:val>
                                        </p:tav>
                                      </p:tavLst>
                                    </p:anim>
                                    <p:animEffect transition="in" filter="fade">
                                      <p:cBhvr>
                                        <p:cTn id="26" dur="500"/>
                                        <p:tgtEl>
                                          <p:spTgt spid="7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fade">
                                      <p:cBhvr>
                                        <p:cTn id="31" dur="500"/>
                                        <p:tgtEl>
                                          <p:spTgt spid="7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fade">
                                      <p:cBhvr>
                                        <p:cTn id="36" dur="500"/>
                                        <p:tgtEl>
                                          <p:spTgt spid="7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fade">
                                      <p:cBhvr>
                                        <p:cTn id="39" dur="500"/>
                                        <p:tgtEl>
                                          <p:spTgt spid="7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3"/>
                                        </p:tgtEl>
                                        <p:attrNameLst>
                                          <p:attrName>style.visibility</p:attrName>
                                        </p:attrNameLst>
                                      </p:cBhvr>
                                      <p:to>
                                        <p:strVal val="visible"/>
                                      </p:to>
                                    </p:set>
                                    <p:animEffect transition="in" filter="fade">
                                      <p:cBhvr>
                                        <p:cTn id="42" dur="500"/>
                                        <p:tgtEl>
                                          <p:spTgt spid="7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fade">
                                      <p:cBhvr>
                                        <p:cTn id="45" dur="500"/>
                                        <p:tgtEl>
                                          <p:spTgt spid="7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5"/>
                                        </p:tgtEl>
                                        <p:attrNameLst>
                                          <p:attrName>style.visibility</p:attrName>
                                        </p:attrNameLst>
                                      </p:cBhvr>
                                      <p:to>
                                        <p:strVal val="visible"/>
                                      </p:to>
                                    </p:set>
                                    <p:animEffect transition="in" filter="fade">
                                      <p:cBhvr>
                                        <p:cTn id="48" dur="500"/>
                                        <p:tgtEl>
                                          <p:spTgt spid="75"/>
                                        </p:tgtEl>
                                      </p:cBhvr>
                                    </p:animEffec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78"/>
                                        </p:tgtEl>
                                        <p:attrNameLst>
                                          <p:attrName>style.visibility</p:attrName>
                                        </p:attrNameLst>
                                      </p:cBhvr>
                                      <p:to>
                                        <p:strVal val="visible"/>
                                      </p:to>
                                    </p:set>
                                    <p:animEffect transition="in" filter="wheel(1)">
                                      <p:cBhvr>
                                        <p:cTn id="53" dur="1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P spid="70" grpId="0"/>
      <p:bldP spid="71" grpId="0" animBg="1"/>
      <p:bldP spid="72" grpId="0" animBg="1"/>
      <p:bldP spid="73" grpId="0"/>
      <p:bldP spid="74" grpId="0" animBg="1"/>
      <p:bldP spid="75" grpId="0" animBg="1"/>
      <p:bldP spid="7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a:extLst>
              <a:ext uri="{FF2B5EF4-FFF2-40B4-BE49-F238E27FC236}">
                <a16:creationId xmlns:a16="http://schemas.microsoft.com/office/drawing/2014/main" id="{A9C880A1-D55F-4C22-9003-BDBDA30277B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8" name="直接连接符 17">
            <a:extLst>
              <a:ext uri="{FF2B5EF4-FFF2-40B4-BE49-F238E27FC236}">
                <a16:creationId xmlns:a16="http://schemas.microsoft.com/office/drawing/2014/main" id="{DBDC9AC0-5144-491B-AF7B-D1DEA94A80C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矩形: 折角 21">
            <a:extLst>
              <a:ext uri="{FF2B5EF4-FFF2-40B4-BE49-F238E27FC236}">
                <a16:creationId xmlns:a16="http://schemas.microsoft.com/office/drawing/2014/main" id="{B6900922-2D0C-4A8B-9211-EDBD5DD46855}"/>
              </a:ext>
            </a:extLst>
          </p:cNvPr>
          <p:cNvSpPr/>
          <p:nvPr/>
        </p:nvSpPr>
        <p:spPr>
          <a:xfrm>
            <a:off x="179656" y="2097718"/>
            <a:ext cx="338944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D:\A.txt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Consolas" panose="020B0609020204030204" pitchFamily="49" charset="0"/>
                <a:ea typeface="黑体"/>
                <a:cs typeface="+mn-cs"/>
              </a:rPr>
              <a:t>abcde</a:t>
            </a: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23" name="文本框 22">
            <a:extLst>
              <a:ext uri="{FF2B5EF4-FFF2-40B4-BE49-F238E27FC236}">
                <a16:creationId xmlns:a16="http://schemas.microsoft.com/office/drawing/2014/main" id="{FB954262-B049-4147-926A-3483CF96596B}"/>
              </a:ext>
            </a:extLst>
          </p:cNvPr>
          <p:cNvSpPr txBox="1"/>
          <p:nvPr/>
        </p:nvSpPr>
        <p:spPr>
          <a:xfrm>
            <a:off x="179656" y="2949548"/>
            <a:ext cx="383438"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24" name="文本框 23">
            <a:extLst>
              <a:ext uri="{FF2B5EF4-FFF2-40B4-BE49-F238E27FC236}">
                <a16:creationId xmlns:a16="http://schemas.microsoft.com/office/drawing/2014/main" id="{ECC2C77E-4DC9-4C77-BB5D-6E8044C8086F}"/>
              </a:ext>
            </a:extLst>
          </p:cNvPr>
          <p:cNvSpPr txBox="1"/>
          <p:nvPr/>
        </p:nvSpPr>
        <p:spPr>
          <a:xfrm>
            <a:off x="608259" y="2949548"/>
            <a:ext cx="383438"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26" name="文本框 25">
            <a:extLst>
              <a:ext uri="{FF2B5EF4-FFF2-40B4-BE49-F238E27FC236}">
                <a16:creationId xmlns:a16="http://schemas.microsoft.com/office/drawing/2014/main" id="{0C009F8D-4F68-4E58-AC0F-00EF81C4C5A8}"/>
              </a:ext>
            </a:extLst>
          </p:cNvPr>
          <p:cNvSpPr txBox="1"/>
          <p:nvPr/>
        </p:nvSpPr>
        <p:spPr>
          <a:xfrm>
            <a:off x="1036862" y="2949548"/>
            <a:ext cx="383438"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27" name="文本框 26">
            <a:extLst>
              <a:ext uri="{FF2B5EF4-FFF2-40B4-BE49-F238E27FC236}">
                <a16:creationId xmlns:a16="http://schemas.microsoft.com/office/drawing/2014/main" id="{8BCD301B-0F52-4A41-A75A-8F28B995C7F8}"/>
              </a:ext>
            </a:extLst>
          </p:cNvPr>
          <p:cNvSpPr txBox="1"/>
          <p:nvPr/>
        </p:nvSpPr>
        <p:spPr>
          <a:xfrm>
            <a:off x="1465465" y="2949548"/>
            <a:ext cx="482824"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28" name="文本框 27">
            <a:extLst>
              <a:ext uri="{FF2B5EF4-FFF2-40B4-BE49-F238E27FC236}">
                <a16:creationId xmlns:a16="http://schemas.microsoft.com/office/drawing/2014/main" id="{82DD4A8B-E402-46D6-AC8C-0801E67465B2}"/>
              </a:ext>
            </a:extLst>
          </p:cNvPr>
          <p:cNvSpPr txBox="1"/>
          <p:nvPr/>
        </p:nvSpPr>
        <p:spPr>
          <a:xfrm>
            <a:off x="1993453" y="2949548"/>
            <a:ext cx="482824"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29" name="矩形 28">
            <a:extLst>
              <a:ext uri="{FF2B5EF4-FFF2-40B4-BE49-F238E27FC236}">
                <a16:creationId xmlns:a16="http://schemas.microsoft.com/office/drawing/2014/main" id="{420F73CC-77B9-435F-85EA-792C0EC29D9B}"/>
              </a:ext>
            </a:extLst>
          </p:cNvPr>
          <p:cNvSpPr/>
          <p:nvPr/>
        </p:nvSpPr>
        <p:spPr>
          <a:xfrm>
            <a:off x="2176448" y="4136792"/>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0" name="矩形 29">
            <a:extLst>
              <a:ext uri="{FF2B5EF4-FFF2-40B4-BE49-F238E27FC236}">
                <a16:creationId xmlns:a16="http://schemas.microsoft.com/office/drawing/2014/main" id="{1AFD7655-1D26-4A05-9B9F-820213668312}"/>
              </a:ext>
            </a:extLst>
          </p:cNvPr>
          <p:cNvSpPr/>
          <p:nvPr/>
        </p:nvSpPr>
        <p:spPr>
          <a:xfrm>
            <a:off x="2918570" y="4136792"/>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1" name="文本占位符 6">
            <a:extLst>
              <a:ext uri="{FF2B5EF4-FFF2-40B4-BE49-F238E27FC236}">
                <a16:creationId xmlns:a16="http://schemas.microsoft.com/office/drawing/2014/main" id="{C4C00EB5-C9C7-4C92-851F-345BEAABE2F9}"/>
              </a:ext>
            </a:extLst>
          </p:cNvPr>
          <p:cNvSpPr txBox="1">
            <a:spLocks/>
          </p:cNvSpPr>
          <p:nvPr/>
        </p:nvSpPr>
        <p:spPr>
          <a:xfrm>
            <a:off x="2119029" y="3717839"/>
            <a:ext cx="1395889" cy="30777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defRPr/>
            </a:pPr>
            <a:r>
              <a:rPr lang="en-US" altLang="zh-CN" sz="1600" dirty="0">
                <a:solidFill>
                  <a:prstClr val="black"/>
                </a:solidFill>
                <a:latin typeface="Consolas" panose="020B0609020204030204" pitchFamily="49" charset="0"/>
                <a:ea typeface="黑体"/>
              </a:rPr>
              <a:t>byte[] </a:t>
            </a:r>
            <a:r>
              <a:rPr lang="en-US" altLang="zh-CN" sz="1600" dirty="0" err="1">
                <a:solidFill>
                  <a:prstClr val="black"/>
                </a:solidFill>
                <a:latin typeface="Consolas" panose="020B0609020204030204" pitchFamily="49" charset="0"/>
                <a:ea typeface="黑体"/>
              </a:rPr>
              <a:t>bys</a:t>
            </a:r>
            <a:endParaRPr lang="en-US" altLang="zh-CN" sz="1600" dirty="0">
              <a:solidFill>
                <a:prstClr val="black"/>
              </a:solidFill>
              <a:latin typeface="Consolas" panose="020B0609020204030204" pitchFamily="49" charset="0"/>
              <a:ea typeface="黑体"/>
            </a:endParaRPr>
          </a:p>
        </p:txBody>
      </p:sp>
      <p:sp>
        <p:nvSpPr>
          <p:cNvPr id="32" name="矩形 31">
            <a:extLst>
              <a:ext uri="{FF2B5EF4-FFF2-40B4-BE49-F238E27FC236}">
                <a16:creationId xmlns:a16="http://schemas.microsoft.com/office/drawing/2014/main" id="{8EB095AA-73B7-4D9D-AC92-3723CB116F78}"/>
              </a:ext>
            </a:extLst>
          </p:cNvPr>
          <p:cNvSpPr/>
          <p:nvPr/>
        </p:nvSpPr>
        <p:spPr>
          <a:xfrm>
            <a:off x="2146427" y="4802755"/>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0</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33" name="矩形 32">
            <a:extLst>
              <a:ext uri="{FF2B5EF4-FFF2-40B4-BE49-F238E27FC236}">
                <a16:creationId xmlns:a16="http://schemas.microsoft.com/office/drawing/2014/main" id="{2E3966A7-A189-4F7A-948A-C0092A4C2B4F}"/>
              </a:ext>
            </a:extLst>
          </p:cNvPr>
          <p:cNvSpPr/>
          <p:nvPr/>
        </p:nvSpPr>
        <p:spPr>
          <a:xfrm>
            <a:off x="2888549" y="4802755"/>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1</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pic>
        <p:nvPicPr>
          <p:cNvPr id="34" name="图片 33">
            <a:extLst>
              <a:ext uri="{FF2B5EF4-FFF2-40B4-BE49-F238E27FC236}">
                <a16:creationId xmlns:a16="http://schemas.microsoft.com/office/drawing/2014/main" id="{86803A71-B5EB-45D1-A09E-EAE65CFFE563}"/>
              </a:ext>
            </a:extLst>
          </p:cNvPr>
          <p:cNvPicPr>
            <a:picLocks noChangeAspect="1"/>
          </p:cNvPicPr>
          <p:nvPr/>
        </p:nvPicPr>
        <p:blipFill>
          <a:blip r:embed="rId3"/>
          <a:stretch>
            <a:fillRect/>
          </a:stretch>
        </p:blipFill>
        <p:spPr>
          <a:xfrm>
            <a:off x="212927" y="3607600"/>
            <a:ext cx="1339919" cy="2095608"/>
          </a:xfrm>
          <a:prstGeom prst="rect">
            <a:avLst/>
          </a:prstGeom>
        </p:spPr>
      </p:pic>
      <p:pic>
        <p:nvPicPr>
          <p:cNvPr id="35" name="图片 34">
            <a:extLst>
              <a:ext uri="{FF2B5EF4-FFF2-40B4-BE49-F238E27FC236}">
                <a16:creationId xmlns:a16="http://schemas.microsoft.com/office/drawing/2014/main" id="{BED5D827-C713-4F98-B229-A5308D6053A2}"/>
              </a:ext>
            </a:extLst>
          </p:cNvPr>
          <p:cNvPicPr>
            <a:picLocks noChangeAspect="1"/>
          </p:cNvPicPr>
          <p:nvPr/>
        </p:nvPicPr>
        <p:blipFill>
          <a:blip r:embed="rId4"/>
          <a:stretch>
            <a:fillRect/>
          </a:stretch>
        </p:blipFill>
        <p:spPr>
          <a:xfrm>
            <a:off x="4264026" y="2097718"/>
            <a:ext cx="4765146" cy="3960436"/>
          </a:xfrm>
          <a:prstGeom prst="rect">
            <a:avLst/>
          </a:prstGeom>
          <a:ln w="3175"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36" name="矩形: 圆角 35">
            <a:extLst>
              <a:ext uri="{FF2B5EF4-FFF2-40B4-BE49-F238E27FC236}">
                <a16:creationId xmlns:a16="http://schemas.microsoft.com/office/drawing/2014/main" id="{724DF879-1EC0-41EC-8E71-4D93843B7375}"/>
              </a:ext>
            </a:extLst>
          </p:cNvPr>
          <p:cNvSpPr/>
          <p:nvPr/>
        </p:nvSpPr>
        <p:spPr>
          <a:xfrm>
            <a:off x="4202459" y="2708920"/>
            <a:ext cx="3876764" cy="930965"/>
          </a:xfrm>
          <a:custGeom>
            <a:avLst/>
            <a:gdLst>
              <a:gd name="connsiteX0" fmla="*/ 0 w 3876764"/>
              <a:gd name="connsiteY0" fmla="*/ 155164 h 930965"/>
              <a:gd name="connsiteX1" fmla="*/ 155164 w 3876764"/>
              <a:gd name="connsiteY1" fmla="*/ 0 h 930965"/>
              <a:gd name="connsiteX2" fmla="*/ 785234 w 3876764"/>
              <a:gd name="connsiteY2" fmla="*/ 0 h 930965"/>
              <a:gd name="connsiteX3" fmla="*/ 1272647 w 3876764"/>
              <a:gd name="connsiteY3" fmla="*/ 0 h 930965"/>
              <a:gd name="connsiteX4" fmla="*/ 1831389 w 3876764"/>
              <a:gd name="connsiteY4" fmla="*/ 0 h 930965"/>
              <a:gd name="connsiteX5" fmla="*/ 2390131 w 3876764"/>
              <a:gd name="connsiteY5" fmla="*/ 0 h 930965"/>
              <a:gd name="connsiteX6" fmla="*/ 2877543 w 3876764"/>
              <a:gd name="connsiteY6" fmla="*/ 0 h 930965"/>
              <a:gd name="connsiteX7" fmla="*/ 3721600 w 3876764"/>
              <a:gd name="connsiteY7" fmla="*/ 0 h 930965"/>
              <a:gd name="connsiteX8" fmla="*/ 3876764 w 3876764"/>
              <a:gd name="connsiteY8" fmla="*/ 155164 h 930965"/>
              <a:gd name="connsiteX9" fmla="*/ 3876764 w 3876764"/>
              <a:gd name="connsiteY9" fmla="*/ 471689 h 930965"/>
              <a:gd name="connsiteX10" fmla="*/ 3876764 w 3876764"/>
              <a:gd name="connsiteY10" fmla="*/ 775801 h 930965"/>
              <a:gd name="connsiteX11" fmla="*/ 3721600 w 3876764"/>
              <a:gd name="connsiteY11" fmla="*/ 930965 h 930965"/>
              <a:gd name="connsiteX12" fmla="*/ 3091530 w 3876764"/>
              <a:gd name="connsiteY12" fmla="*/ 930965 h 930965"/>
              <a:gd name="connsiteX13" fmla="*/ 2604117 w 3876764"/>
              <a:gd name="connsiteY13" fmla="*/ 930965 h 930965"/>
              <a:gd name="connsiteX14" fmla="*/ 1974046 w 3876764"/>
              <a:gd name="connsiteY14" fmla="*/ 930965 h 930965"/>
              <a:gd name="connsiteX15" fmla="*/ 1486633 w 3876764"/>
              <a:gd name="connsiteY15" fmla="*/ 930965 h 930965"/>
              <a:gd name="connsiteX16" fmla="*/ 892227 w 3876764"/>
              <a:gd name="connsiteY16" fmla="*/ 930965 h 930965"/>
              <a:gd name="connsiteX17" fmla="*/ 155164 w 3876764"/>
              <a:gd name="connsiteY17" fmla="*/ 930965 h 930965"/>
              <a:gd name="connsiteX18" fmla="*/ 0 w 3876764"/>
              <a:gd name="connsiteY18" fmla="*/ 775801 h 930965"/>
              <a:gd name="connsiteX19" fmla="*/ 0 w 3876764"/>
              <a:gd name="connsiteY19" fmla="*/ 465483 h 930965"/>
              <a:gd name="connsiteX20" fmla="*/ 0 w 3876764"/>
              <a:gd name="connsiteY20" fmla="*/ 155164 h 93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6764" h="930965" extrusionOk="0">
                <a:moveTo>
                  <a:pt x="0" y="155164"/>
                </a:moveTo>
                <a:cubicBezTo>
                  <a:pt x="8866" y="84709"/>
                  <a:pt x="88747" y="12080"/>
                  <a:pt x="155164" y="0"/>
                </a:cubicBezTo>
                <a:cubicBezTo>
                  <a:pt x="448100" y="-38276"/>
                  <a:pt x="641645" y="55050"/>
                  <a:pt x="785234" y="0"/>
                </a:cubicBezTo>
                <a:cubicBezTo>
                  <a:pt x="928823" y="-55050"/>
                  <a:pt x="1174152" y="17803"/>
                  <a:pt x="1272647" y="0"/>
                </a:cubicBezTo>
                <a:cubicBezTo>
                  <a:pt x="1371142" y="-17803"/>
                  <a:pt x="1591241" y="35454"/>
                  <a:pt x="1831389" y="0"/>
                </a:cubicBezTo>
                <a:cubicBezTo>
                  <a:pt x="2071537" y="-35454"/>
                  <a:pt x="2131216" y="8373"/>
                  <a:pt x="2390131" y="0"/>
                </a:cubicBezTo>
                <a:cubicBezTo>
                  <a:pt x="2649046" y="-8373"/>
                  <a:pt x="2750196" y="13499"/>
                  <a:pt x="2877543" y="0"/>
                </a:cubicBezTo>
                <a:cubicBezTo>
                  <a:pt x="3004890" y="-13499"/>
                  <a:pt x="3483627" y="59560"/>
                  <a:pt x="3721600" y="0"/>
                </a:cubicBezTo>
                <a:cubicBezTo>
                  <a:pt x="3802843" y="1092"/>
                  <a:pt x="3867317" y="72382"/>
                  <a:pt x="3876764" y="155164"/>
                </a:cubicBezTo>
                <a:cubicBezTo>
                  <a:pt x="3879604" y="293283"/>
                  <a:pt x="3875486" y="397256"/>
                  <a:pt x="3876764" y="471689"/>
                </a:cubicBezTo>
                <a:cubicBezTo>
                  <a:pt x="3878042" y="546122"/>
                  <a:pt x="3863347" y="632184"/>
                  <a:pt x="3876764" y="775801"/>
                </a:cubicBezTo>
                <a:cubicBezTo>
                  <a:pt x="3885167" y="867714"/>
                  <a:pt x="3799305" y="943183"/>
                  <a:pt x="3721600" y="930965"/>
                </a:cubicBezTo>
                <a:cubicBezTo>
                  <a:pt x="3536848" y="1006566"/>
                  <a:pt x="3280570" y="926036"/>
                  <a:pt x="3091530" y="930965"/>
                </a:cubicBezTo>
                <a:cubicBezTo>
                  <a:pt x="2902490" y="935894"/>
                  <a:pt x="2786540" y="896710"/>
                  <a:pt x="2604117" y="930965"/>
                </a:cubicBezTo>
                <a:cubicBezTo>
                  <a:pt x="2421694" y="965220"/>
                  <a:pt x="2196654" y="909704"/>
                  <a:pt x="1974046" y="930965"/>
                </a:cubicBezTo>
                <a:cubicBezTo>
                  <a:pt x="1751438" y="952226"/>
                  <a:pt x="1614178" y="877543"/>
                  <a:pt x="1486633" y="930965"/>
                </a:cubicBezTo>
                <a:cubicBezTo>
                  <a:pt x="1359088" y="984387"/>
                  <a:pt x="1030556" y="885932"/>
                  <a:pt x="892227" y="930965"/>
                </a:cubicBezTo>
                <a:cubicBezTo>
                  <a:pt x="753898" y="975998"/>
                  <a:pt x="367222" y="918855"/>
                  <a:pt x="155164" y="930965"/>
                </a:cubicBezTo>
                <a:cubicBezTo>
                  <a:pt x="78950" y="938240"/>
                  <a:pt x="-2203" y="861895"/>
                  <a:pt x="0" y="775801"/>
                </a:cubicBezTo>
                <a:cubicBezTo>
                  <a:pt x="-8343" y="692134"/>
                  <a:pt x="7335" y="537932"/>
                  <a:pt x="0" y="465483"/>
                </a:cubicBezTo>
                <a:cubicBezTo>
                  <a:pt x="-7335" y="393034"/>
                  <a:pt x="29953" y="240690"/>
                  <a:pt x="0" y="155164"/>
                </a:cubicBezTo>
                <a:close/>
              </a:path>
            </a:pathLst>
          </a:custGeom>
          <a:noFill/>
          <a:ln w="25400" cap="flat" cmpd="sng" algn="ctr">
            <a:solidFill>
              <a:srgbClr val="C0504D"/>
            </a:solidFill>
            <a:prstDash val="solid"/>
            <a:extLst>
              <a:ext uri="{C807C97D-BFC1-408E-A445-0C87EB9F89A2}">
                <ask:lineSketchStyleProps xmlns:ask="http://schemas.microsoft.com/office/drawing/2018/sketchyshapes" sd="3607457914">
                  <a:prstGeom prst="roundRect">
                    <a:avLst/>
                  </a:prstGeom>
                  <ask:type>
                    <ask:lineSketchScribbl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7" name="文本框 36">
            <a:extLst>
              <a:ext uri="{FF2B5EF4-FFF2-40B4-BE49-F238E27FC236}">
                <a16:creationId xmlns:a16="http://schemas.microsoft.com/office/drawing/2014/main" id="{AF356A87-C4A5-4D6F-9946-79FA7391D6A2}"/>
              </a:ext>
            </a:extLst>
          </p:cNvPr>
          <p:cNvSpPr txBox="1"/>
          <p:nvPr/>
        </p:nvSpPr>
        <p:spPr>
          <a:xfrm>
            <a:off x="2341666" y="4304268"/>
            <a:ext cx="383438"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52" name="文本框 51">
            <a:extLst>
              <a:ext uri="{FF2B5EF4-FFF2-40B4-BE49-F238E27FC236}">
                <a16:creationId xmlns:a16="http://schemas.microsoft.com/office/drawing/2014/main" id="{ED7CDB5B-A23D-40BA-AB71-5A78ED566AA8}"/>
              </a:ext>
            </a:extLst>
          </p:cNvPr>
          <p:cNvSpPr txBox="1"/>
          <p:nvPr/>
        </p:nvSpPr>
        <p:spPr>
          <a:xfrm>
            <a:off x="3083788" y="4304268"/>
            <a:ext cx="383438" cy="307777"/>
          </a:xfrm>
          <a:prstGeom prst="rect">
            <a:avLst/>
          </a:prstGeom>
          <a:noFill/>
          <a:ln>
            <a:noFill/>
          </a:ln>
        </p:spPr>
        <p:txBody>
          <a:bodyPr wrap="squar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53" name="TextBox 2">
            <a:extLst>
              <a:ext uri="{FF2B5EF4-FFF2-40B4-BE49-F238E27FC236}">
                <a16:creationId xmlns:a16="http://schemas.microsoft.com/office/drawing/2014/main" id="{6E88E6D1-801F-4390-B10D-46F97C1EE849}"/>
              </a:ext>
            </a:extLst>
          </p:cNvPr>
          <p:cNvSpPr txBox="1"/>
          <p:nvPr/>
        </p:nvSpPr>
        <p:spPr>
          <a:xfrm>
            <a:off x="107504" y="1081480"/>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Tree>
    <p:extLst>
      <p:ext uri="{BB962C8B-B14F-4D97-AF65-F5344CB8AC3E}">
        <p14:creationId xmlns:p14="http://schemas.microsoft.com/office/powerpoint/2010/main" val="4151271659"/>
      </p:ext>
    </p:extLst>
  </p:cSld>
  <p:clrMapOvr>
    <a:masterClrMapping/>
  </p:clrMapOvr>
  <mc:AlternateContent xmlns:mc="http://schemas.openxmlformats.org/markup-compatibility/2006" xmlns:p14="http://schemas.microsoft.com/office/powerpoint/2010/main">
    <mc:Choice Requires="p14">
      <p:transition spd="slow" p14:dur="1200">
        <p14:reveal/>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a:extLst>
              <a:ext uri="{FF2B5EF4-FFF2-40B4-BE49-F238E27FC236}">
                <a16:creationId xmlns:a16="http://schemas.microsoft.com/office/drawing/2014/main" id="{A9C880A1-D55F-4C22-9003-BDBDA30277B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8" name="直接连接符 17">
            <a:extLst>
              <a:ext uri="{FF2B5EF4-FFF2-40B4-BE49-F238E27FC236}">
                <a16:creationId xmlns:a16="http://schemas.microsoft.com/office/drawing/2014/main" id="{DBDC9AC0-5144-491B-AF7B-D1DEA94A80C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1" name="矩形: 折角 20">
            <a:extLst>
              <a:ext uri="{FF2B5EF4-FFF2-40B4-BE49-F238E27FC236}">
                <a16:creationId xmlns:a16="http://schemas.microsoft.com/office/drawing/2014/main" id="{D44AB0A3-00BC-49CB-AA75-357AE98AD138}"/>
              </a:ext>
            </a:extLst>
          </p:cNvPr>
          <p:cNvSpPr/>
          <p:nvPr/>
        </p:nvSpPr>
        <p:spPr>
          <a:xfrm>
            <a:off x="179656" y="2025710"/>
            <a:ext cx="338944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D:\A.txt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Consolas" panose="020B0609020204030204" pitchFamily="49" charset="0"/>
                <a:ea typeface="黑体"/>
                <a:cs typeface="+mn-cs"/>
              </a:rPr>
              <a:t>abcde</a:t>
            </a: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22" name="文本框 21">
            <a:extLst>
              <a:ext uri="{FF2B5EF4-FFF2-40B4-BE49-F238E27FC236}">
                <a16:creationId xmlns:a16="http://schemas.microsoft.com/office/drawing/2014/main" id="{6330A7D0-DC34-4CD4-94A7-73716051E78E}"/>
              </a:ext>
            </a:extLst>
          </p:cNvPr>
          <p:cNvSpPr txBox="1"/>
          <p:nvPr/>
        </p:nvSpPr>
        <p:spPr>
          <a:xfrm>
            <a:off x="179656" y="2877540"/>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23" name="文本框 22">
            <a:extLst>
              <a:ext uri="{FF2B5EF4-FFF2-40B4-BE49-F238E27FC236}">
                <a16:creationId xmlns:a16="http://schemas.microsoft.com/office/drawing/2014/main" id="{229DF620-C2AB-4AE4-AF6B-FBB8B5C569B2}"/>
              </a:ext>
            </a:extLst>
          </p:cNvPr>
          <p:cNvSpPr txBox="1"/>
          <p:nvPr/>
        </p:nvSpPr>
        <p:spPr>
          <a:xfrm>
            <a:off x="608259" y="2877540"/>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24" name="文本框 23">
            <a:extLst>
              <a:ext uri="{FF2B5EF4-FFF2-40B4-BE49-F238E27FC236}">
                <a16:creationId xmlns:a16="http://schemas.microsoft.com/office/drawing/2014/main" id="{53EFC221-3445-429A-B7E8-DD4264FE8FE0}"/>
              </a:ext>
            </a:extLst>
          </p:cNvPr>
          <p:cNvSpPr txBox="1"/>
          <p:nvPr/>
        </p:nvSpPr>
        <p:spPr>
          <a:xfrm>
            <a:off x="1036862" y="2877540"/>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26" name="文本框 25">
            <a:extLst>
              <a:ext uri="{FF2B5EF4-FFF2-40B4-BE49-F238E27FC236}">
                <a16:creationId xmlns:a16="http://schemas.microsoft.com/office/drawing/2014/main" id="{0F02B457-EE19-442D-9D50-17AE6F0E269F}"/>
              </a:ext>
            </a:extLst>
          </p:cNvPr>
          <p:cNvSpPr txBox="1"/>
          <p:nvPr/>
        </p:nvSpPr>
        <p:spPr>
          <a:xfrm>
            <a:off x="1465465" y="2877540"/>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27" name="文本框 26">
            <a:extLst>
              <a:ext uri="{FF2B5EF4-FFF2-40B4-BE49-F238E27FC236}">
                <a16:creationId xmlns:a16="http://schemas.microsoft.com/office/drawing/2014/main" id="{A6C5FCB5-C67D-4C49-99BC-3F63D133D1E0}"/>
              </a:ext>
            </a:extLst>
          </p:cNvPr>
          <p:cNvSpPr txBox="1"/>
          <p:nvPr/>
        </p:nvSpPr>
        <p:spPr>
          <a:xfrm>
            <a:off x="1993453" y="2877540"/>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28" name="矩形 27">
            <a:extLst>
              <a:ext uri="{FF2B5EF4-FFF2-40B4-BE49-F238E27FC236}">
                <a16:creationId xmlns:a16="http://schemas.microsoft.com/office/drawing/2014/main" id="{89ECA080-4EFF-4952-A377-147B4506D5F4}"/>
              </a:ext>
            </a:extLst>
          </p:cNvPr>
          <p:cNvSpPr/>
          <p:nvPr/>
        </p:nvSpPr>
        <p:spPr>
          <a:xfrm>
            <a:off x="2176448" y="4064784"/>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29" name="矩形 28">
            <a:extLst>
              <a:ext uri="{FF2B5EF4-FFF2-40B4-BE49-F238E27FC236}">
                <a16:creationId xmlns:a16="http://schemas.microsoft.com/office/drawing/2014/main" id="{F0786ADC-90F4-4964-A4BE-B47936151CE4}"/>
              </a:ext>
            </a:extLst>
          </p:cNvPr>
          <p:cNvSpPr/>
          <p:nvPr/>
        </p:nvSpPr>
        <p:spPr>
          <a:xfrm>
            <a:off x="2918570" y="4064784"/>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0" name="文本占位符 6">
            <a:extLst>
              <a:ext uri="{FF2B5EF4-FFF2-40B4-BE49-F238E27FC236}">
                <a16:creationId xmlns:a16="http://schemas.microsoft.com/office/drawing/2014/main" id="{D568F1D6-4301-4BD7-84A2-2B71200F58D3}"/>
              </a:ext>
            </a:extLst>
          </p:cNvPr>
          <p:cNvSpPr txBox="1">
            <a:spLocks/>
          </p:cNvSpPr>
          <p:nvPr/>
        </p:nvSpPr>
        <p:spPr>
          <a:xfrm>
            <a:off x="2119029" y="3645831"/>
            <a:ext cx="1395889" cy="30777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defRPr/>
            </a:pPr>
            <a:r>
              <a:rPr lang="en-US" altLang="zh-CN" sz="1600" dirty="0">
                <a:solidFill>
                  <a:prstClr val="black"/>
                </a:solidFill>
                <a:latin typeface="Consolas" panose="020B0609020204030204" pitchFamily="49" charset="0"/>
                <a:ea typeface="黑体"/>
              </a:rPr>
              <a:t>byte[] </a:t>
            </a:r>
            <a:r>
              <a:rPr lang="en-US" altLang="zh-CN" sz="1600" dirty="0" err="1">
                <a:solidFill>
                  <a:prstClr val="black"/>
                </a:solidFill>
                <a:latin typeface="Consolas" panose="020B0609020204030204" pitchFamily="49" charset="0"/>
                <a:ea typeface="黑体"/>
              </a:rPr>
              <a:t>bys</a:t>
            </a:r>
            <a:endParaRPr lang="en-US" altLang="zh-CN" sz="1600" dirty="0">
              <a:solidFill>
                <a:prstClr val="black"/>
              </a:solidFill>
              <a:latin typeface="Consolas" panose="020B0609020204030204" pitchFamily="49" charset="0"/>
              <a:ea typeface="黑体"/>
            </a:endParaRPr>
          </a:p>
        </p:txBody>
      </p:sp>
      <p:sp>
        <p:nvSpPr>
          <p:cNvPr id="31" name="矩形 30">
            <a:extLst>
              <a:ext uri="{FF2B5EF4-FFF2-40B4-BE49-F238E27FC236}">
                <a16:creationId xmlns:a16="http://schemas.microsoft.com/office/drawing/2014/main" id="{46635CCA-EB2A-44D0-ABC9-444D7842AB3A}"/>
              </a:ext>
            </a:extLst>
          </p:cNvPr>
          <p:cNvSpPr/>
          <p:nvPr/>
        </p:nvSpPr>
        <p:spPr>
          <a:xfrm>
            <a:off x="2146427" y="4730747"/>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0</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32" name="矩形 31">
            <a:extLst>
              <a:ext uri="{FF2B5EF4-FFF2-40B4-BE49-F238E27FC236}">
                <a16:creationId xmlns:a16="http://schemas.microsoft.com/office/drawing/2014/main" id="{C1C50D59-C26F-4D94-A19C-8379AE75D753}"/>
              </a:ext>
            </a:extLst>
          </p:cNvPr>
          <p:cNvSpPr/>
          <p:nvPr/>
        </p:nvSpPr>
        <p:spPr>
          <a:xfrm>
            <a:off x="2888549" y="4730747"/>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1</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pic>
        <p:nvPicPr>
          <p:cNvPr id="33" name="图片 32">
            <a:extLst>
              <a:ext uri="{FF2B5EF4-FFF2-40B4-BE49-F238E27FC236}">
                <a16:creationId xmlns:a16="http://schemas.microsoft.com/office/drawing/2014/main" id="{4B982C43-61DD-4878-9D05-FCD812C7C2E2}"/>
              </a:ext>
            </a:extLst>
          </p:cNvPr>
          <p:cNvPicPr>
            <a:picLocks noChangeAspect="1"/>
          </p:cNvPicPr>
          <p:nvPr/>
        </p:nvPicPr>
        <p:blipFill>
          <a:blip r:embed="rId3"/>
          <a:stretch>
            <a:fillRect/>
          </a:stretch>
        </p:blipFill>
        <p:spPr>
          <a:xfrm>
            <a:off x="212927" y="3535592"/>
            <a:ext cx="1339919" cy="2095608"/>
          </a:xfrm>
          <a:prstGeom prst="rect">
            <a:avLst/>
          </a:prstGeom>
        </p:spPr>
      </p:pic>
      <p:pic>
        <p:nvPicPr>
          <p:cNvPr id="34" name="图片 33">
            <a:extLst>
              <a:ext uri="{FF2B5EF4-FFF2-40B4-BE49-F238E27FC236}">
                <a16:creationId xmlns:a16="http://schemas.microsoft.com/office/drawing/2014/main" id="{A1C64D86-D919-4004-B713-CE804653E8E0}"/>
              </a:ext>
            </a:extLst>
          </p:cNvPr>
          <p:cNvPicPr>
            <a:picLocks noChangeAspect="1"/>
          </p:cNvPicPr>
          <p:nvPr/>
        </p:nvPicPr>
        <p:blipFill>
          <a:blip r:embed="rId4"/>
          <a:stretch>
            <a:fillRect/>
          </a:stretch>
        </p:blipFill>
        <p:spPr>
          <a:xfrm>
            <a:off x="4081100" y="2025709"/>
            <a:ext cx="4955395" cy="4067583"/>
          </a:xfrm>
          <a:prstGeom prst="rect">
            <a:avLst/>
          </a:prstGeom>
          <a:ln w="3175"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35" name="矩形: 圆角 34">
            <a:extLst>
              <a:ext uri="{FF2B5EF4-FFF2-40B4-BE49-F238E27FC236}">
                <a16:creationId xmlns:a16="http://schemas.microsoft.com/office/drawing/2014/main" id="{8075F7BA-7477-48C4-8B3B-94F5377B96CC}"/>
              </a:ext>
            </a:extLst>
          </p:cNvPr>
          <p:cNvSpPr/>
          <p:nvPr/>
        </p:nvSpPr>
        <p:spPr>
          <a:xfrm>
            <a:off x="4081101" y="3599301"/>
            <a:ext cx="3876764" cy="930965"/>
          </a:xfrm>
          <a:custGeom>
            <a:avLst/>
            <a:gdLst>
              <a:gd name="connsiteX0" fmla="*/ 0 w 3876764"/>
              <a:gd name="connsiteY0" fmla="*/ 155164 h 930965"/>
              <a:gd name="connsiteX1" fmla="*/ 155164 w 3876764"/>
              <a:gd name="connsiteY1" fmla="*/ 0 h 930965"/>
              <a:gd name="connsiteX2" fmla="*/ 785234 w 3876764"/>
              <a:gd name="connsiteY2" fmla="*/ 0 h 930965"/>
              <a:gd name="connsiteX3" fmla="*/ 1272647 w 3876764"/>
              <a:gd name="connsiteY3" fmla="*/ 0 h 930965"/>
              <a:gd name="connsiteX4" fmla="*/ 1831389 w 3876764"/>
              <a:gd name="connsiteY4" fmla="*/ 0 h 930965"/>
              <a:gd name="connsiteX5" fmla="*/ 2390131 w 3876764"/>
              <a:gd name="connsiteY5" fmla="*/ 0 h 930965"/>
              <a:gd name="connsiteX6" fmla="*/ 2877543 w 3876764"/>
              <a:gd name="connsiteY6" fmla="*/ 0 h 930965"/>
              <a:gd name="connsiteX7" fmla="*/ 3721600 w 3876764"/>
              <a:gd name="connsiteY7" fmla="*/ 0 h 930965"/>
              <a:gd name="connsiteX8" fmla="*/ 3876764 w 3876764"/>
              <a:gd name="connsiteY8" fmla="*/ 155164 h 930965"/>
              <a:gd name="connsiteX9" fmla="*/ 3876764 w 3876764"/>
              <a:gd name="connsiteY9" fmla="*/ 471689 h 930965"/>
              <a:gd name="connsiteX10" fmla="*/ 3876764 w 3876764"/>
              <a:gd name="connsiteY10" fmla="*/ 775801 h 930965"/>
              <a:gd name="connsiteX11" fmla="*/ 3721600 w 3876764"/>
              <a:gd name="connsiteY11" fmla="*/ 930965 h 930965"/>
              <a:gd name="connsiteX12" fmla="*/ 3091530 w 3876764"/>
              <a:gd name="connsiteY12" fmla="*/ 930965 h 930965"/>
              <a:gd name="connsiteX13" fmla="*/ 2604117 w 3876764"/>
              <a:gd name="connsiteY13" fmla="*/ 930965 h 930965"/>
              <a:gd name="connsiteX14" fmla="*/ 1974046 w 3876764"/>
              <a:gd name="connsiteY14" fmla="*/ 930965 h 930965"/>
              <a:gd name="connsiteX15" fmla="*/ 1486633 w 3876764"/>
              <a:gd name="connsiteY15" fmla="*/ 930965 h 930965"/>
              <a:gd name="connsiteX16" fmla="*/ 892227 w 3876764"/>
              <a:gd name="connsiteY16" fmla="*/ 930965 h 930965"/>
              <a:gd name="connsiteX17" fmla="*/ 155164 w 3876764"/>
              <a:gd name="connsiteY17" fmla="*/ 930965 h 930965"/>
              <a:gd name="connsiteX18" fmla="*/ 0 w 3876764"/>
              <a:gd name="connsiteY18" fmla="*/ 775801 h 930965"/>
              <a:gd name="connsiteX19" fmla="*/ 0 w 3876764"/>
              <a:gd name="connsiteY19" fmla="*/ 465483 h 930965"/>
              <a:gd name="connsiteX20" fmla="*/ 0 w 3876764"/>
              <a:gd name="connsiteY20" fmla="*/ 155164 h 93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6764" h="930965" extrusionOk="0">
                <a:moveTo>
                  <a:pt x="0" y="155164"/>
                </a:moveTo>
                <a:cubicBezTo>
                  <a:pt x="8866" y="84709"/>
                  <a:pt x="88747" y="12080"/>
                  <a:pt x="155164" y="0"/>
                </a:cubicBezTo>
                <a:cubicBezTo>
                  <a:pt x="448100" y="-38276"/>
                  <a:pt x="641645" y="55050"/>
                  <a:pt x="785234" y="0"/>
                </a:cubicBezTo>
                <a:cubicBezTo>
                  <a:pt x="928823" y="-55050"/>
                  <a:pt x="1174152" y="17803"/>
                  <a:pt x="1272647" y="0"/>
                </a:cubicBezTo>
                <a:cubicBezTo>
                  <a:pt x="1371142" y="-17803"/>
                  <a:pt x="1591241" y="35454"/>
                  <a:pt x="1831389" y="0"/>
                </a:cubicBezTo>
                <a:cubicBezTo>
                  <a:pt x="2071537" y="-35454"/>
                  <a:pt x="2131216" y="8373"/>
                  <a:pt x="2390131" y="0"/>
                </a:cubicBezTo>
                <a:cubicBezTo>
                  <a:pt x="2649046" y="-8373"/>
                  <a:pt x="2750196" y="13499"/>
                  <a:pt x="2877543" y="0"/>
                </a:cubicBezTo>
                <a:cubicBezTo>
                  <a:pt x="3004890" y="-13499"/>
                  <a:pt x="3483627" y="59560"/>
                  <a:pt x="3721600" y="0"/>
                </a:cubicBezTo>
                <a:cubicBezTo>
                  <a:pt x="3802843" y="1092"/>
                  <a:pt x="3867317" y="72382"/>
                  <a:pt x="3876764" y="155164"/>
                </a:cubicBezTo>
                <a:cubicBezTo>
                  <a:pt x="3879604" y="293283"/>
                  <a:pt x="3875486" y="397256"/>
                  <a:pt x="3876764" y="471689"/>
                </a:cubicBezTo>
                <a:cubicBezTo>
                  <a:pt x="3878042" y="546122"/>
                  <a:pt x="3863347" y="632184"/>
                  <a:pt x="3876764" y="775801"/>
                </a:cubicBezTo>
                <a:cubicBezTo>
                  <a:pt x="3885167" y="867714"/>
                  <a:pt x="3799305" y="943183"/>
                  <a:pt x="3721600" y="930965"/>
                </a:cubicBezTo>
                <a:cubicBezTo>
                  <a:pt x="3536848" y="1006566"/>
                  <a:pt x="3280570" y="926036"/>
                  <a:pt x="3091530" y="930965"/>
                </a:cubicBezTo>
                <a:cubicBezTo>
                  <a:pt x="2902490" y="935894"/>
                  <a:pt x="2786540" y="896710"/>
                  <a:pt x="2604117" y="930965"/>
                </a:cubicBezTo>
                <a:cubicBezTo>
                  <a:pt x="2421694" y="965220"/>
                  <a:pt x="2196654" y="909704"/>
                  <a:pt x="1974046" y="930965"/>
                </a:cubicBezTo>
                <a:cubicBezTo>
                  <a:pt x="1751438" y="952226"/>
                  <a:pt x="1614178" y="877543"/>
                  <a:pt x="1486633" y="930965"/>
                </a:cubicBezTo>
                <a:cubicBezTo>
                  <a:pt x="1359088" y="984387"/>
                  <a:pt x="1030556" y="885932"/>
                  <a:pt x="892227" y="930965"/>
                </a:cubicBezTo>
                <a:cubicBezTo>
                  <a:pt x="753898" y="975998"/>
                  <a:pt x="367222" y="918855"/>
                  <a:pt x="155164" y="930965"/>
                </a:cubicBezTo>
                <a:cubicBezTo>
                  <a:pt x="78950" y="938240"/>
                  <a:pt x="-2203" y="861895"/>
                  <a:pt x="0" y="775801"/>
                </a:cubicBezTo>
                <a:cubicBezTo>
                  <a:pt x="-8343" y="692134"/>
                  <a:pt x="7335" y="537932"/>
                  <a:pt x="0" y="465483"/>
                </a:cubicBezTo>
                <a:cubicBezTo>
                  <a:pt x="-7335" y="393034"/>
                  <a:pt x="29953" y="240690"/>
                  <a:pt x="0" y="155164"/>
                </a:cubicBezTo>
                <a:close/>
              </a:path>
            </a:pathLst>
          </a:custGeom>
          <a:noFill/>
          <a:ln w="25400" cap="flat" cmpd="sng" algn="ctr">
            <a:solidFill>
              <a:srgbClr val="C0504D"/>
            </a:solidFill>
            <a:prstDash val="solid"/>
            <a:extLst>
              <a:ext uri="{C807C97D-BFC1-408E-A445-0C87EB9F89A2}">
                <ask:lineSketchStyleProps xmlns:ask="http://schemas.microsoft.com/office/drawing/2018/sketchyshapes" sd="3607457914">
                  <a:prstGeom prst="roundRect">
                    <a:avLst/>
                  </a:prstGeom>
                  <ask:type>
                    <ask:lineSketchScribbl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6" name="文本框 35">
            <a:extLst>
              <a:ext uri="{FF2B5EF4-FFF2-40B4-BE49-F238E27FC236}">
                <a16:creationId xmlns:a16="http://schemas.microsoft.com/office/drawing/2014/main" id="{15D38077-674A-4AF3-A33E-46638A790B0A}"/>
              </a:ext>
            </a:extLst>
          </p:cNvPr>
          <p:cNvSpPr txBox="1"/>
          <p:nvPr/>
        </p:nvSpPr>
        <p:spPr>
          <a:xfrm>
            <a:off x="2341666" y="4232260"/>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37" name="文本框 36">
            <a:extLst>
              <a:ext uri="{FF2B5EF4-FFF2-40B4-BE49-F238E27FC236}">
                <a16:creationId xmlns:a16="http://schemas.microsoft.com/office/drawing/2014/main" id="{031386A8-4C3D-4686-AC7A-29AA8D270C28}"/>
              </a:ext>
            </a:extLst>
          </p:cNvPr>
          <p:cNvSpPr txBox="1"/>
          <p:nvPr/>
        </p:nvSpPr>
        <p:spPr>
          <a:xfrm>
            <a:off x="3083788" y="4232260"/>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52" name="文本框 51">
            <a:extLst>
              <a:ext uri="{FF2B5EF4-FFF2-40B4-BE49-F238E27FC236}">
                <a16:creationId xmlns:a16="http://schemas.microsoft.com/office/drawing/2014/main" id="{FA2AEA4F-DCFA-4EC6-8005-A2E9F4B9BBF9}"/>
              </a:ext>
            </a:extLst>
          </p:cNvPr>
          <p:cNvSpPr txBox="1"/>
          <p:nvPr/>
        </p:nvSpPr>
        <p:spPr>
          <a:xfrm>
            <a:off x="1036862" y="2880735"/>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53" name="文本框 52">
            <a:extLst>
              <a:ext uri="{FF2B5EF4-FFF2-40B4-BE49-F238E27FC236}">
                <a16:creationId xmlns:a16="http://schemas.microsoft.com/office/drawing/2014/main" id="{57030E57-4C8C-4E28-8E10-43339612FED4}"/>
              </a:ext>
            </a:extLst>
          </p:cNvPr>
          <p:cNvSpPr txBox="1"/>
          <p:nvPr/>
        </p:nvSpPr>
        <p:spPr>
          <a:xfrm>
            <a:off x="1465465" y="2880735"/>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54" name="TextBox 2">
            <a:extLst>
              <a:ext uri="{FF2B5EF4-FFF2-40B4-BE49-F238E27FC236}">
                <a16:creationId xmlns:a16="http://schemas.microsoft.com/office/drawing/2014/main" id="{19EB6D80-9A6A-4F44-B50C-2F9643FE1057}"/>
              </a:ext>
            </a:extLst>
          </p:cNvPr>
          <p:cNvSpPr txBox="1"/>
          <p:nvPr/>
        </p:nvSpPr>
        <p:spPr>
          <a:xfrm>
            <a:off x="120114" y="987143"/>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Tree>
    <p:extLst>
      <p:ext uri="{BB962C8B-B14F-4D97-AF65-F5344CB8AC3E}">
        <p14:creationId xmlns:p14="http://schemas.microsoft.com/office/powerpoint/2010/main" val="3930389343"/>
      </p:ext>
    </p:extLst>
  </p:cSld>
  <p:clrMapOvr>
    <a:masterClrMapping/>
  </p:clrMapOvr>
  <mc:AlternateContent xmlns:mc="http://schemas.openxmlformats.org/markup-compatibility/2006" xmlns:p14="http://schemas.microsoft.com/office/powerpoint/2010/main">
    <mc:Choice Requires="p14">
      <p:transition spd="slow" p14:dur="1200">
        <p14:reveal/>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a:extLst>
              <a:ext uri="{FF2B5EF4-FFF2-40B4-BE49-F238E27FC236}">
                <a16:creationId xmlns:a16="http://schemas.microsoft.com/office/drawing/2014/main" id="{A9C880A1-D55F-4C22-9003-BDBDA30277B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8" name="直接连接符 17">
            <a:extLst>
              <a:ext uri="{FF2B5EF4-FFF2-40B4-BE49-F238E27FC236}">
                <a16:creationId xmlns:a16="http://schemas.microsoft.com/office/drawing/2014/main" id="{DBDC9AC0-5144-491B-AF7B-D1DEA94A80C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1" name="矩形: 折角 20">
            <a:extLst>
              <a:ext uri="{FF2B5EF4-FFF2-40B4-BE49-F238E27FC236}">
                <a16:creationId xmlns:a16="http://schemas.microsoft.com/office/drawing/2014/main" id="{E9026B39-C039-4E43-9A05-02210336CBB1}"/>
              </a:ext>
            </a:extLst>
          </p:cNvPr>
          <p:cNvSpPr/>
          <p:nvPr/>
        </p:nvSpPr>
        <p:spPr>
          <a:xfrm>
            <a:off x="251520" y="2132856"/>
            <a:ext cx="338944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D:\A.txt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Consolas" panose="020B0609020204030204" pitchFamily="49" charset="0"/>
                <a:ea typeface="黑体"/>
                <a:cs typeface="+mn-cs"/>
              </a:rPr>
              <a:t>abcde</a:t>
            </a: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22" name="文本框 21">
            <a:extLst>
              <a:ext uri="{FF2B5EF4-FFF2-40B4-BE49-F238E27FC236}">
                <a16:creationId xmlns:a16="http://schemas.microsoft.com/office/drawing/2014/main" id="{788D8F57-A1FF-4E7B-82E2-EF053CCCDCE8}"/>
              </a:ext>
            </a:extLst>
          </p:cNvPr>
          <p:cNvSpPr txBox="1"/>
          <p:nvPr/>
        </p:nvSpPr>
        <p:spPr>
          <a:xfrm>
            <a:off x="251520" y="298468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23" name="文本框 22">
            <a:extLst>
              <a:ext uri="{FF2B5EF4-FFF2-40B4-BE49-F238E27FC236}">
                <a16:creationId xmlns:a16="http://schemas.microsoft.com/office/drawing/2014/main" id="{C7A14CD7-92AA-4079-8AB7-11ED8B04F0C7}"/>
              </a:ext>
            </a:extLst>
          </p:cNvPr>
          <p:cNvSpPr txBox="1"/>
          <p:nvPr/>
        </p:nvSpPr>
        <p:spPr>
          <a:xfrm>
            <a:off x="680123" y="298468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24" name="文本框 23">
            <a:extLst>
              <a:ext uri="{FF2B5EF4-FFF2-40B4-BE49-F238E27FC236}">
                <a16:creationId xmlns:a16="http://schemas.microsoft.com/office/drawing/2014/main" id="{C03667EE-E0AA-4F15-BE14-703CE9D0C6D9}"/>
              </a:ext>
            </a:extLst>
          </p:cNvPr>
          <p:cNvSpPr txBox="1"/>
          <p:nvPr/>
        </p:nvSpPr>
        <p:spPr>
          <a:xfrm>
            <a:off x="1108726" y="298468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26" name="文本框 25">
            <a:extLst>
              <a:ext uri="{FF2B5EF4-FFF2-40B4-BE49-F238E27FC236}">
                <a16:creationId xmlns:a16="http://schemas.microsoft.com/office/drawing/2014/main" id="{3C3ED512-1DCD-4F47-A3EC-532AAE4E0C01}"/>
              </a:ext>
            </a:extLst>
          </p:cNvPr>
          <p:cNvSpPr txBox="1"/>
          <p:nvPr/>
        </p:nvSpPr>
        <p:spPr>
          <a:xfrm>
            <a:off x="1537329" y="2984686"/>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27" name="文本框 26">
            <a:extLst>
              <a:ext uri="{FF2B5EF4-FFF2-40B4-BE49-F238E27FC236}">
                <a16:creationId xmlns:a16="http://schemas.microsoft.com/office/drawing/2014/main" id="{B1B3DC62-5CF8-4E4E-8836-52132A381913}"/>
              </a:ext>
            </a:extLst>
          </p:cNvPr>
          <p:cNvSpPr txBox="1"/>
          <p:nvPr/>
        </p:nvSpPr>
        <p:spPr>
          <a:xfrm>
            <a:off x="2065317" y="2984686"/>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28" name="矩形 27">
            <a:extLst>
              <a:ext uri="{FF2B5EF4-FFF2-40B4-BE49-F238E27FC236}">
                <a16:creationId xmlns:a16="http://schemas.microsoft.com/office/drawing/2014/main" id="{7B15B06A-175E-430D-8D90-F21971CCC4E2}"/>
              </a:ext>
            </a:extLst>
          </p:cNvPr>
          <p:cNvSpPr/>
          <p:nvPr/>
        </p:nvSpPr>
        <p:spPr>
          <a:xfrm>
            <a:off x="2248312" y="4171930"/>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29" name="矩形 28">
            <a:extLst>
              <a:ext uri="{FF2B5EF4-FFF2-40B4-BE49-F238E27FC236}">
                <a16:creationId xmlns:a16="http://schemas.microsoft.com/office/drawing/2014/main" id="{93D5BD37-CA1C-4CAF-B50C-D147D2B0E5DB}"/>
              </a:ext>
            </a:extLst>
          </p:cNvPr>
          <p:cNvSpPr/>
          <p:nvPr/>
        </p:nvSpPr>
        <p:spPr>
          <a:xfrm>
            <a:off x="2990434" y="4171930"/>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0" name="文本占位符 6">
            <a:extLst>
              <a:ext uri="{FF2B5EF4-FFF2-40B4-BE49-F238E27FC236}">
                <a16:creationId xmlns:a16="http://schemas.microsoft.com/office/drawing/2014/main" id="{1B5F99D8-BFB1-4587-8B95-9C5E87EDE085}"/>
              </a:ext>
            </a:extLst>
          </p:cNvPr>
          <p:cNvSpPr txBox="1">
            <a:spLocks/>
          </p:cNvSpPr>
          <p:nvPr/>
        </p:nvSpPr>
        <p:spPr>
          <a:xfrm>
            <a:off x="2190893" y="3752977"/>
            <a:ext cx="1395889" cy="30777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defRPr/>
            </a:pPr>
            <a:r>
              <a:rPr lang="en-US" altLang="zh-CN" sz="1600" dirty="0">
                <a:solidFill>
                  <a:prstClr val="black"/>
                </a:solidFill>
                <a:latin typeface="Consolas" panose="020B0609020204030204" pitchFamily="49" charset="0"/>
                <a:ea typeface="黑体"/>
              </a:rPr>
              <a:t>byte[] </a:t>
            </a:r>
            <a:r>
              <a:rPr lang="en-US" altLang="zh-CN" sz="1600" dirty="0" err="1">
                <a:solidFill>
                  <a:prstClr val="black"/>
                </a:solidFill>
                <a:latin typeface="Consolas" panose="020B0609020204030204" pitchFamily="49" charset="0"/>
                <a:ea typeface="黑体"/>
              </a:rPr>
              <a:t>bys</a:t>
            </a:r>
            <a:endParaRPr lang="en-US" altLang="zh-CN" sz="1600" dirty="0">
              <a:solidFill>
                <a:prstClr val="black"/>
              </a:solidFill>
              <a:latin typeface="Consolas" panose="020B0609020204030204" pitchFamily="49" charset="0"/>
              <a:ea typeface="黑体"/>
            </a:endParaRPr>
          </a:p>
        </p:txBody>
      </p:sp>
      <p:sp>
        <p:nvSpPr>
          <p:cNvPr id="31" name="矩形 30">
            <a:extLst>
              <a:ext uri="{FF2B5EF4-FFF2-40B4-BE49-F238E27FC236}">
                <a16:creationId xmlns:a16="http://schemas.microsoft.com/office/drawing/2014/main" id="{F475D8FF-873D-4408-9EC2-B81490C1361B}"/>
              </a:ext>
            </a:extLst>
          </p:cNvPr>
          <p:cNvSpPr/>
          <p:nvPr/>
        </p:nvSpPr>
        <p:spPr>
          <a:xfrm>
            <a:off x="2218291" y="4837893"/>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0</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32" name="矩形 31">
            <a:extLst>
              <a:ext uri="{FF2B5EF4-FFF2-40B4-BE49-F238E27FC236}">
                <a16:creationId xmlns:a16="http://schemas.microsoft.com/office/drawing/2014/main" id="{D5BB05C5-4598-4927-9AF3-BE1F9F70186A}"/>
              </a:ext>
            </a:extLst>
          </p:cNvPr>
          <p:cNvSpPr/>
          <p:nvPr/>
        </p:nvSpPr>
        <p:spPr>
          <a:xfrm>
            <a:off x="2960413" y="4837893"/>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1</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pic>
        <p:nvPicPr>
          <p:cNvPr id="33" name="图片 32">
            <a:extLst>
              <a:ext uri="{FF2B5EF4-FFF2-40B4-BE49-F238E27FC236}">
                <a16:creationId xmlns:a16="http://schemas.microsoft.com/office/drawing/2014/main" id="{D2E829CE-AFD6-4C5D-AC1C-2F1EE38C3769}"/>
              </a:ext>
            </a:extLst>
          </p:cNvPr>
          <p:cNvPicPr>
            <a:picLocks noChangeAspect="1"/>
          </p:cNvPicPr>
          <p:nvPr/>
        </p:nvPicPr>
        <p:blipFill>
          <a:blip r:embed="rId3"/>
          <a:stretch>
            <a:fillRect/>
          </a:stretch>
        </p:blipFill>
        <p:spPr>
          <a:xfrm>
            <a:off x="284791" y="3642738"/>
            <a:ext cx="1339919" cy="2095608"/>
          </a:xfrm>
          <a:prstGeom prst="rect">
            <a:avLst/>
          </a:prstGeom>
        </p:spPr>
      </p:pic>
      <p:pic>
        <p:nvPicPr>
          <p:cNvPr id="34" name="图片 33">
            <a:extLst>
              <a:ext uri="{FF2B5EF4-FFF2-40B4-BE49-F238E27FC236}">
                <a16:creationId xmlns:a16="http://schemas.microsoft.com/office/drawing/2014/main" id="{83183BD5-3782-411D-8FF6-CB50413835C6}"/>
              </a:ext>
            </a:extLst>
          </p:cNvPr>
          <p:cNvPicPr>
            <a:picLocks noChangeAspect="1"/>
          </p:cNvPicPr>
          <p:nvPr/>
        </p:nvPicPr>
        <p:blipFill>
          <a:blip r:embed="rId4"/>
          <a:stretch>
            <a:fillRect/>
          </a:stretch>
        </p:blipFill>
        <p:spPr>
          <a:xfrm>
            <a:off x="4123671" y="2060848"/>
            <a:ext cx="4944380" cy="4109402"/>
          </a:xfrm>
          <a:prstGeom prst="rect">
            <a:avLst/>
          </a:prstGeom>
          <a:ln w="3175"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35" name="文本框 34">
            <a:extLst>
              <a:ext uri="{FF2B5EF4-FFF2-40B4-BE49-F238E27FC236}">
                <a16:creationId xmlns:a16="http://schemas.microsoft.com/office/drawing/2014/main" id="{E86BE98D-945C-47F4-A997-47A65CCE2388}"/>
              </a:ext>
            </a:extLst>
          </p:cNvPr>
          <p:cNvSpPr txBox="1"/>
          <p:nvPr/>
        </p:nvSpPr>
        <p:spPr>
          <a:xfrm>
            <a:off x="2413530" y="433940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36" name="文本框 35">
            <a:extLst>
              <a:ext uri="{FF2B5EF4-FFF2-40B4-BE49-F238E27FC236}">
                <a16:creationId xmlns:a16="http://schemas.microsoft.com/office/drawing/2014/main" id="{1A8FC805-DD91-40C2-BB0D-C63F91A32207}"/>
              </a:ext>
            </a:extLst>
          </p:cNvPr>
          <p:cNvSpPr txBox="1"/>
          <p:nvPr/>
        </p:nvSpPr>
        <p:spPr>
          <a:xfrm>
            <a:off x="3155652" y="433940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37" name="文本框 36">
            <a:extLst>
              <a:ext uri="{FF2B5EF4-FFF2-40B4-BE49-F238E27FC236}">
                <a16:creationId xmlns:a16="http://schemas.microsoft.com/office/drawing/2014/main" id="{B5735B3A-FE21-4894-8B3E-BF63E3CC9473}"/>
              </a:ext>
            </a:extLst>
          </p:cNvPr>
          <p:cNvSpPr txBox="1"/>
          <p:nvPr/>
        </p:nvSpPr>
        <p:spPr>
          <a:xfrm>
            <a:off x="2415027" y="433940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52" name="文本框 51">
            <a:extLst>
              <a:ext uri="{FF2B5EF4-FFF2-40B4-BE49-F238E27FC236}">
                <a16:creationId xmlns:a16="http://schemas.microsoft.com/office/drawing/2014/main" id="{C1154A16-4CFF-40DE-B884-C4EBBEA9662B}"/>
              </a:ext>
            </a:extLst>
          </p:cNvPr>
          <p:cNvSpPr txBox="1"/>
          <p:nvPr/>
        </p:nvSpPr>
        <p:spPr>
          <a:xfrm>
            <a:off x="3087681" y="4339406"/>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53" name="矩形: 圆角 52">
            <a:extLst>
              <a:ext uri="{FF2B5EF4-FFF2-40B4-BE49-F238E27FC236}">
                <a16:creationId xmlns:a16="http://schemas.microsoft.com/office/drawing/2014/main" id="{2AA8A64D-3DC4-48DD-A843-1D60FB51E0E0}"/>
              </a:ext>
            </a:extLst>
          </p:cNvPr>
          <p:cNvSpPr/>
          <p:nvPr/>
        </p:nvSpPr>
        <p:spPr>
          <a:xfrm>
            <a:off x="4112162" y="3642738"/>
            <a:ext cx="3876764" cy="930965"/>
          </a:xfrm>
          <a:custGeom>
            <a:avLst/>
            <a:gdLst>
              <a:gd name="connsiteX0" fmla="*/ 0 w 3876764"/>
              <a:gd name="connsiteY0" fmla="*/ 155164 h 930965"/>
              <a:gd name="connsiteX1" fmla="*/ 155164 w 3876764"/>
              <a:gd name="connsiteY1" fmla="*/ 0 h 930965"/>
              <a:gd name="connsiteX2" fmla="*/ 785234 w 3876764"/>
              <a:gd name="connsiteY2" fmla="*/ 0 h 930965"/>
              <a:gd name="connsiteX3" fmla="*/ 1272647 w 3876764"/>
              <a:gd name="connsiteY3" fmla="*/ 0 h 930965"/>
              <a:gd name="connsiteX4" fmla="*/ 1831389 w 3876764"/>
              <a:gd name="connsiteY4" fmla="*/ 0 h 930965"/>
              <a:gd name="connsiteX5" fmla="*/ 2390131 w 3876764"/>
              <a:gd name="connsiteY5" fmla="*/ 0 h 930965"/>
              <a:gd name="connsiteX6" fmla="*/ 2877543 w 3876764"/>
              <a:gd name="connsiteY6" fmla="*/ 0 h 930965"/>
              <a:gd name="connsiteX7" fmla="*/ 3721600 w 3876764"/>
              <a:gd name="connsiteY7" fmla="*/ 0 h 930965"/>
              <a:gd name="connsiteX8" fmla="*/ 3876764 w 3876764"/>
              <a:gd name="connsiteY8" fmla="*/ 155164 h 930965"/>
              <a:gd name="connsiteX9" fmla="*/ 3876764 w 3876764"/>
              <a:gd name="connsiteY9" fmla="*/ 471689 h 930965"/>
              <a:gd name="connsiteX10" fmla="*/ 3876764 w 3876764"/>
              <a:gd name="connsiteY10" fmla="*/ 775801 h 930965"/>
              <a:gd name="connsiteX11" fmla="*/ 3721600 w 3876764"/>
              <a:gd name="connsiteY11" fmla="*/ 930965 h 930965"/>
              <a:gd name="connsiteX12" fmla="*/ 3091530 w 3876764"/>
              <a:gd name="connsiteY12" fmla="*/ 930965 h 930965"/>
              <a:gd name="connsiteX13" fmla="*/ 2604117 w 3876764"/>
              <a:gd name="connsiteY13" fmla="*/ 930965 h 930965"/>
              <a:gd name="connsiteX14" fmla="*/ 1974046 w 3876764"/>
              <a:gd name="connsiteY14" fmla="*/ 930965 h 930965"/>
              <a:gd name="connsiteX15" fmla="*/ 1486633 w 3876764"/>
              <a:gd name="connsiteY15" fmla="*/ 930965 h 930965"/>
              <a:gd name="connsiteX16" fmla="*/ 892227 w 3876764"/>
              <a:gd name="connsiteY16" fmla="*/ 930965 h 930965"/>
              <a:gd name="connsiteX17" fmla="*/ 155164 w 3876764"/>
              <a:gd name="connsiteY17" fmla="*/ 930965 h 930965"/>
              <a:gd name="connsiteX18" fmla="*/ 0 w 3876764"/>
              <a:gd name="connsiteY18" fmla="*/ 775801 h 930965"/>
              <a:gd name="connsiteX19" fmla="*/ 0 w 3876764"/>
              <a:gd name="connsiteY19" fmla="*/ 465483 h 930965"/>
              <a:gd name="connsiteX20" fmla="*/ 0 w 3876764"/>
              <a:gd name="connsiteY20" fmla="*/ 155164 h 93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6764" h="930965" extrusionOk="0">
                <a:moveTo>
                  <a:pt x="0" y="155164"/>
                </a:moveTo>
                <a:cubicBezTo>
                  <a:pt x="8866" y="84709"/>
                  <a:pt x="88747" y="12080"/>
                  <a:pt x="155164" y="0"/>
                </a:cubicBezTo>
                <a:cubicBezTo>
                  <a:pt x="448100" y="-38276"/>
                  <a:pt x="641645" y="55050"/>
                  <a:pt x="785234" y="0"/>
                </a:cubicBezTo>
                <a:cubicBezTo>
                  <a:pt x="928823" y="-55050"/>
                  <a:pt x="1174152" y="17803"/>
                  <a:pt x="1272647" y="0"/>
                </a:cubicBezTo>
                <a:cubicBezTo>
                  <a:pt x="1371142" y="-17803"/>
                  <a:pt x="1591241" y="35454"/>
                  <a:pt x="1831389" y="0"/>
                </a:cubicBezTo>
                <a:cubicBezTo>
                  <a:pt x="2071537" y="-35454"/>
                  <a:pt x="2131216" y="8373"/>
                  <a:pt x="2390131" y="0"/>
                </a:cubicBezTo>
                <a:cubicBezTo>
                  <a:pt x="2649046" y="-8373"/>
                  <a:pt x="2750196" y="13499"/>
                  <a:pt x="2877543" y="0"/>
                </a:cubicBezTo>
                <a:cubicBezTo>
                  <a:pt x="3004890" y="-13499"/>
                  <a:pt x="3483627" y="59560"/>
                  <a:pt x="3721600" y="0"/>
                </a:cubicBezTo>
                <a:cubicBezTo>
                  <a:pt x="3802843" y="1092"/>
                  <a:pt x="3867317" y="72382"/>
                  <a:pt x="3876764" y="155164"/>
                </a:cubicBezTo>
                <a:cubicBezTo>
                  <a:pt x="3879604" y="293283"/>
                  <a:pt x="3875486" y="397256"/>
                  <a:pt x="3876764" y="471689"/>
                </a:cubicBezTo>
                <a:cubicBezTo>
                  <a:pt x="3878042" y="546122"/>
                  <a:pt x="3863347" y="632184"/>
                  <a:pt x="3876764" y="775801"/>
                </a:cubicBezTo>
                <a:cubicBezTo>
                  <a:pt x="3885167" y="867714"/>
                  <a:pt x="3799305" y="943183"/>
                  <a:pt x="3721600" y="930965"/>
                </a:cubicBezTo>
                <a:cubicBezTo>
                  <a:pt x="3536848" y="1006566"/>
                  <a:pt x="3280570" y="926036"/>
                  <a:pt x="3091530" y="930965"/>
                </a:cubicBezTo>
                <a:cubicBezTo>
                  <a:pt x="2902490" y="935894"/>
                  <a:pt x="2786540" y="896710"/>
                  <a:pt x="2604117" y="930965"/>
                </a:cubicBezTo>
                <a:cubicBezTo>
                  <a:pt x="2421694" y="965220"/>
                  <a:pt x="2196654" y="909704"/>
                  <a:pt x="1974046" y="930965"/>
                </a:cubicBezTo>
                <a:cubicBezTo>
                  <a:pt x="1751438" y="952226"/>
                  <a:pt x="1614178" y="877543"/>
                  <a:pt x="1486633" y="930965"/>
                </a:cubicBezTo>
                <a:cubicBezTo>
                  <a:pt x="1359088" y="984387"/>
                  <a:pt x="1030556" y="885932"/>
                  <a:pt x="892227" y="930965"/>
                </a:cubicBezTo>
                <a:cubicBezTo>
                  <a:pt x="753898" y="975998"/>
                  <a:pt x="367222" y="918855"/>
                  <a:pt x="155164" y="930965"/>
                </a:cubicBezTo>
                <a:cubicBezTo>
                  <a:pt x="78950" y="938240"/>
                  <a:pt x="-2203" y="861895"/>
                  <a:pt x="0" y="775801"/>
                </a:cubicBezTo>
                <a:cubicBezTo>
                  <a:pt x="-8343" y="692134"/>
                  <a:pt x="7335" y="537932"/>
                  <a:pt x="0" y="465483"/>
                </a:cubicBezTo>
                <a:cubicBezTo>
                  <a:pt x="-7335" y="393034"/>
                  <a:pt x="29953" y="240690"/>
                  <a:pt x="0" y="155164"/>
                </a:cubicBezTo>
                <a:close/>
              </a:path>
            </a:pathLst>
          </a:custGeom>
          <a:noFill/>
          <a:ln w="25400" cap="flat" cmpd="sng" algn="ctr">
            <a:solidFill>
              <a:srgbClr val="C0504D"/>
            </a:solidFill>
            <a:prstDash val="solid"/>
            <a:extLst>
              <a:ext uri="{C807C97D-BFC1-408E-A445-0C87EB9F89A2}">
                <ask:lineSketchStyleProps xmlns:ask="http://schemas.microsoft.com/office/drawing/2018/sketchyshapes" sd="3607457914">
                  <a:prstGeom prst="roundRect">
                    <a:avLst/>
                  </a:prstGeom>
                  <ask:type>
                    <ask:lineSketchScribbl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54" name="TextBox 2">
            <a:extLst>
              <a:ext uri="{FF2B5EF4-FFF2-40B4-BE49-F238E27FC236}">
                <a16:creationId xmlns:a16="http://schemas.microsoft.com/office/drawing/2014/main" id="{21A324FE-0CB3-4C7E-ABF2-4D4841FE30A8}"/>
              </a:ext>
            </a:extLst>
          </p:cNvPr>
          <p:cNvSpPr txBox="1"/>
          <p:nvPr/>
        </p:nvSpPr>
        <p:spPr>
          <a:xfrm>
            <a:off x="84824" y="998352"/>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Tree>
    <p:extLst>
      <p:ext uri="{BB962C8B-B14F-4D97-AF65-F5344CB8AC3E}">
        <p14:creationId xmlns:p14="http://schemas.microsoft.com/office/powerpoint/2010/main" val="3506082409"/>
      </p:ext>
    </p:extLst>
  </p:cSld>
  <p:clrMapOvr>
    <a:masterClrMapping/>
  </p:clrMapOvr>
  <mc:AlternateContent xmlns:mc="http://schemas.openxmlformats.org/markup-compatibility/2006" xmlns:p14="http://schemas.microsoft.com/office/powerpoint/2010/main">
    <mc:Choice Requires="p14">
      <p:transition spd="slow" p14:dur="12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a:extLst>
              <a:ext uri="{FF2B5EF4-FFF2-40B4-BE49-F238E27FC236}">
                <a16:creationId xmlns:a16="http://schemas.microsoft.com/office/drawing/2014/main" id="{A9C880A1-D55F-4C22-9003-BDBDA30277B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8" name="直接连接符 17">
            <a:extLst>
              <a:ext uri="{FF2B5EF4-FFF2-40B4-BE49-F238E27FC236}">
                <a16:creationId xmlns:a16="http://schemas.microsoft.com/office/drawing/2014/main" id="{DBDC9AC0-5144-491B-AF7B-D1DEA94A80C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1" name="矩形: 折角 20">
            <a:extLst>
              <a:ext uri="{FF2B5EF4-FFF2-40B4-BE49-F238E27FC236}">
                <a16:creationId xmlns:a16="http://schemas.microsoft.com/office/drawing/2014/main" id="{791671CC-D935-4C4A-9C08-983F9847CF0F}"/>
              </a:ext>
            </a:extLst>
          </p:cNvPr>
          <p:cNvSpPr/>
          <p:nvPr/>
        </p:nvSpPr>
        <p:spPr>
          <a:xfrm>
            <a:off x="179512" y="1772816"/>
            <a:ext cx="338944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D:\A.txt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Consolas" panose="020B0609020204030204" pitchFamily="49" charset="0"/>
                <a:ea typeface="黑体"/>
                <a:cs typeface="+mn-cs"/>
              </a:rPr>
              <a:t>abcde</a:t>
            </a: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22" name="文本框 21">
            <a:extLst>
              <a:ext uri="{FF2B5EF4-FFF2-40B4-BE49-F238E27FC236}">
                <a16:creationId xmlns:a16="http://schemas.microsoft.com/office/drawing/2014/main" id="{CE35CF22-4E0B-493C-9AFF-FB6F91B2755B}"/>
              </a:ext>
            </a:extLst>
          </p:cNvPr>
          <p:cNvSpPr txBox="1"/>
          <p:nvPr/>
        </p:nvSpPr>
        <p:spPr>
          <a:xfrm>
            <a:off x="179512" y="262464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23" name="文本框 22">
            <a:extLst>
              <a:ext uri="{FF2B5EF4-FFF2-40B4-BE49-F238E27FC236}">
                <a16:creationId xmlns:a16="http://schemas.microsoft.com/office/drawing/2014/main" id="{8221348D-28FC-4FC7-A3DE-5495B4C901E3}"/>
              </a:ext>
            </a:extLst>
          </p:cNvPr>
          <p:cNvSpPr txBox="1"/>
          <p:nvPr/>
        </p:nvSpPr>
        <p:spPr>
          <a:xfrm>
            <a:off x="608115" y="262464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24" name="文本框 23">
            <a:extLst>
              <a:ext uri="{FF2B5EF4-FFF2-40B4-BE49-F238E27FC236}">
                <a16:creationId xmlns:a16="http://schemas.microsoft.com/office/drawing/2014/main" id="{124DF440-E6EE-46B9-828F-3A75061AB536}"/>
              </a:ext>
            </a:extLst>
          </p:cNvPr>
          <p:cNvSpPr txBox="1"/>
          <p:nvPr/>
        </p:nvSpPr>
        <p:spPr>
          <a:xfrm>
            <a:off x="1036718" y="2624646"/>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26" name="文本框 25">
            <a:extLst>
              <a:ext uri="{FF2B5EF4-FFF2-40B4-BE49-F238E27FC236}">
                <a16:creationId xmlns:a16="http://schemas.microsoft.com/office/drawing/2014/main" id="{11C043DC-577C-4459-9954-C9956F512DCC}"/>
              </a:ext>
            </a:extLst>
          </p:cNvPr>
          <p:cNvSpPr txBox="1"/>
          <p:nvPr/>
        </p:nvSpPr>
        <p:spPr>
          <a:xfrm>
            <a:off x="1465321" y="2624646"/>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27" name="文本框 26">
            <a:extLst>
              <a:ext uri="{FF2B5EF4-FFF2-40B4-BE49-F238E27FC236}">
                <a16:creationId xmlns:a16="http://schemas.microsoft.com/office/drawing/2014/main" id="{F923CF82-5DBD-4F0E-A1A8-CD3B7CD55630}"/>
              </a:ext>
            </a:extLst>
          </p:cNvPr>
          <p:cNvSpPr txBox="1"/>
          <p:nvPr/>
        </p:nvSpPr>
        <p:spPr>
          <a:xfrm>
            <a:off x="1993309" y="2624646"/>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28" name="矩形 27">
            <a:extLst>
              <a:ext uri="{FF2B5EF4-FFF2-40B4-BE49-F238E27FC236}">
                <a16:creationId xmlns:a16="http://schemas.microsoft.com/office/drawing/2014/main" id="{5432BEDA-EF1A-458D-A887-8C3E9E6C3D1E}"/>
              </a:ext>
            </a:extLst>
          </p:cNvPr>
          <p:cNvSpPr/>
          <p:nvPr/>
        </p:nvSpPr>
        <p:spPr>
          <a:xfrm>
            <a:off x="2176304" y="3811890"/>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29" name="矩形 28">
            <a:extLst>
              <a:ext uri="{FF2B5EF4-FFF2-40B4-BE49-F238E27FC236}">
                <a16:creationId xmlns:a16="http://schemas.microsoft.com/office/drawing/2014/main" id="{E98A943B-8554-45BA-882F-4A9EE474D0DC}"/>
              </a:ext>
            </a:extLst>
          </p:cNvPr>
          <p:cNvSpPr/>
          <p:nvPr/>
        </p:nvSpPr>
        <p:spPr>
          <a:xfrm>
            <a:off x="2918426" y="3811890"/>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30" name="文本占位符 6">
            <a:extLst>
              <a:ext uri="{FF2B5EF4-FFF2-40B4-BE49-F238E27FC236}">
                <a16:creationId xmlns:a16="http://schemas.microsoft.com/office/drawing/2014/main" id="{28C22C31-D037-43C7-B4BC-BA23AB3FE845}"/>
              </a:ext>
            </a:extLst>
          </p:cNvPr>
          <p:cNvSpPr txBox="1">
            <a:spLocks/>
          </p:cNvSpPr>
          <p:nvPr/>
        </p:nvSpPr>
        <p:spPr>
          <a:xfrm>
            <a:off x="2118885" y="3392937"/>
            <a:ext cx="1395889" cy="30777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defRPr/>
            </a:pPr>
            <a:r>
              <a:rPr lang="en-US" altLang="zh-CN" sz="1600" dirty="0">
                <a:solidFill>
                  <a:prstClr val="black"/>
                </a:solidFill>
                <a:latin typeface="Consolas" panose="020B0609020204030204" pitchFamily="49" charset="0"/>
                <a:ea typeface="黑体"/>
              </a:rPr>
              <a:t>byte[] </a:t>
            </a:r>
            <a:r>
              <a:rPr lang="en-US" altLang="zh-CN" sz="1600" dirty="0" err="1">
                <a:solidFill>
                  <a:prstClr val="black"/>
                </a:solidFill>
                <a:latin typeface="Consolas" panose="020B0609020204030204" pitchFamily="49" charset="0"/>
                <a:ea typeface="黑体"/>
              </a:rPr>
              <a:t>bys</a:t>
            </a:r>
            <a:endParaRPr lang="en-US" altLang="zh-CN" sz="1600" dirty="0">
              <a:solidFill>
                <a:prstClr val="black"/>
              </a:solidFill>
              <a:latin typeface="Consolas" panose="020B0609020204030204" pitchFamily="49" charset="0"/>
              <a:ea typeface="黑体"/>
            </a:endParaRPr>
          </a:p>
        </p:txBody>
      </p:sp>
      <p:sp>
        <p:nvSpPr>
          <p:cNvPr id="31" name="矩形 30">
            <a:extLst>
              <a:ext uri="{FF2B5EF4-FFF2-40B4-BE49-F238E27FC236}">
                <a16:creationId xmlns:a16="http://schemas.microsoft.com/office/drawing/2014/main" id="{862BBB93-0554-420D-8DBB-AA8B532A41EE}"/>
              </a:ext>
            </a:extLst>
          </p:cNvPr>
          <p:cNvSpPr/>
          <p:nvPr/>
        </p:nvSpPr>
        <p:spPr>
          <a:xfrm>
            <a:off x="2146283" y="4477853"/>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0</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32" name="矩形 31">
            <a:extLst>
              <a:ext uri="{FF2B5EF4-FFF2-40B4-BE49-F238E27FC236}">
                <a16:creationId xmlns:a16="http://schemas.microsoft.com/office/drawing/2014/main" id="{99F8F222-2410-4351-A111-25257121FD9F}"/>
              </a:ext>
            </a:extLst>
          </p:cNvPr>
          <p:cNvSpPr/>
          <p:nvPr/>
        </p:nvSpPr>
        <p:spPr>
          <a:xfrm>
            <a:off x="2888405" y="4477853"/>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1</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pic>
        <p:nvPicPr>
          <p:cNvPr id="33" name="图片 32">
            <a:extLst>
              <a:ext uri="{FF2B5EF4-FFF2-40B4-BE49-F238E27FC236}">
                <a16:creationId xmlns:a16="http://schemas.microsoft.com/office/drawing/2014/main" id="{BCA32761-A8EB-46B0-98DF-BCF943CA97A5}"/>
              </a:ext>
            </a:extLst>
          </p:cNvPr>
          <p:cNvPicPr>
            <a:picLocks noChangeAspect="1"/>
          </p:cNvPicPr>
          <p:nvPr/>
        </p:nvPicPr>
        <p:blipFill>
          <a:blip r:embed="rId3"/>
          <a:stretch>
            <a:fillRect/>
          </a:stretch>
        </p:blipFill>
        <p:spPr>
          <a:xfrm>
            <a:off x="212783" y="3282698"/>
            <a:ext cx="1339919" cy="2095608"/>
          </a:xfrm>
          <a:prstGeom prst="rect">
            <a:avLst/>
          </a:prstGeom>
        </p:spPr>
      </p:pic>
      <p:pic>
        <p:nvPicPr>
          <p:cNvPr id="34" name="图片 33">
            <a:extLst>
              <a:ext uri="{FF2B5EF4-FFF2-40B4-BE49-F238E27FC236}">
                <a16:creationId xmlns:a16="http://schemas.microsoft.com/office/drawing/2014/main" id="{27F52C33-7965-4584-BB72-DAAD4F70664F}"/>
              </a:ext>
            </a:extLst>
          </p:cNvPr>
          <p:cNvPicPr>
            <a:picLocks noChangeAspect="1"/>
          </p:cNvPicPr>
          <p:nvPr/>
        </p:nvPicPr>
        <p:blipFill>
          <a:blip r:embed="rId4"/>
          <a:stretch>
            <a:fillRect/>
          </a:stretch>
        </p:blipFill>
        <p:spPr>
          <a:xfrm>
            <a:off x="4080957" y="1777706"/>
            <a:ext cx="5031017" cy="4181409"/>
          </a:xfrm>
          <a:prstGeom prst="rect">
            <a:avLst/>
          </a:prstGeom>
          <a:ln w="3175"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35" name="矩形: 圆角 34">
            <a:extLst>
              <a:ext uri="{FF2B5EF4-FFF2-40B4-BE49-F238E27FC236}">
                <a16:creationId xmlns:a16="http://schemas.microsoft.com/office/drawing/2014/main" id="{57433520-C147-43FC-91FD-E77F52E07182}"/>
              </a:ext>
            </a:extLst>
          </p:cNvPr>
          <p:cNvSpPr/>
          <p:nvPr/>
        </p:nvSpPr>
        <p:spPr>
          <a:xfrm>
            <a:off x="4096987" y="4242684"/>
            <a:ext cx="3876764" cy="930965"/>
          </a:xfrm>
          <a:custGeom>
            <a:avLst/>
            <a:gdLst>
              <a:gd name="connsiteX0" fmla="*/ 0 w 3876764"/>
              <a:gd name="connsiteY0" fmla="*/ 155164 h 930965"/>
              <a:gd name="connsiteX1" fmla="*/ 155164 w 3876764"/>
              <a:gd name="connsiteY1" fmla="*/ 0 h 930965"/>
              <a:gd name="connsiteX2" fmla="*/ 785234 w 3876764"/>
              <a:gd name="connsiteY2" fmla="*/ 0 h 930965"/>
              <a:gd name="connsiteX3" fmla="*/ 1272647 w 3876764"/>
              <a:gd name="connsiteY3" fmla="*/ 0 h 930965"/>
              <a:gd name="connsiteX4" fmla="*/ 1831389 w 3876764"/>
              <a:gd name="connsiteY4" fmla="*/ 0 h 930965"/>
              <a:gd name="connsiteX5" fmla="*/ 2390131 w 3876764"/>
              <a:gd name="connsiteY5" fmla="*/ 0 h 930965"/>
              <a:gd name="connsiteX6" fmla="*/ 2877543 w 3876764"/>
              <a:gd name="connsiteY6" fmla="*/ 0 h 930965"/>
              <a:gd name="connsiteX7" fmla="*/ 3721600 w 3876764"/>
              <a:gd name="connsiteY7" fmla="*/ 0 h 930965"/>
              <a:gd name="connsiteX8" fmla="*/ 3876764 w 3876764"/>
              <a:gd name="connsiteY8" fmla="*/ 155164 h 930965"/>
              <a:gd name="connsiteX9" fmla="*/ 3876764 w 3876764"/>
              <a:gd name="connsiteY9" fmla="*/ 471689 h 930965"/>
              <a:gd name="connsiteX10" fmla="*/ 3876764 w 3876764"/>
              <a:gd name="connsiteY10" fmla="*/ 775801 h 930965"/>
              <a:gd name="connsiteX11" fmla="*/ 3721600 w 3876764"/>
              <a:gd name="connsiteY11" fmla="*/ 930965 h 930965"/>
              <a:gd name="connsiteX12" fmla="*/ 3091530 w 3876764"/>
              <a:gd name="connsiteY12" fmla="*/ 930965 h 930965"/>
              <a:gd name="connsiteX13" fmla="*/ 2604117 w 3876764"/>
              <a:gd name="connsiteY13" fmla="*/ 930965 h 930965"/>
              <a:gd name="connsiteX14" fmla="*/ 1974046 w 3876764"/>
              <a:gd name="connsiteY14" fmla="*/ 930965 h 930965"/>
              <a:gd name="connsiteX15" fmla="*/ 1486633 w 3876764"/>
              <a:gd name="connsiteY15" fmla="*/ 930965 h 930965"/>
              <a:gd name="connsiteX16" fmla="*/ 892227 w 3876764"/>
              <a:gd name="connsiteY16" fmla="*/ 930965 h 930965"/>
              <a:gd name="connsiteX17" fmla="*/ 155164 w 3876764"/>
              <a:gd name="connsiteY17" fmla="*/ 930965 h 930965"/>
              <a:gd name="connsiteX18" fmla="*/ 0 w 3876764"/>
              <a:gd name="connsiteY18" fmla="*/ 775801 h 930965"/>
              <a:gd name="connsiteX19" fmla="*/ 0 w 3876764"/>
              <a:gd name="connsiteY19" fmla="*/ 465483 h 930965"/>
              <a:gd name="connsiteX20" fmla="*/ 0 w 3876764"/>
              <a:gd name="connsiteY20" fmla="*/ 155164 h 93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6764" h="930965" extrusionOk="0">
                <a:moveTo>
                  <a:pt x="0" y="155164"/>
                </a:moveTo>
                <a:cubicBezTo>
                  <a:pt x="8866" y="84709"/>
                  <a:pt x="88747" y="12080"/>
                  <a:pt x="155164" y="0"/>
                </a:cubicBezTo>
                <a:cubicBezTo>
                  <a:pt x="448100" y="-38276"/>
                  <a:pt x="641645" y="55050"/>
                  <a:pt x="785234" y="0"/>
                </a:cubicBezTo>
                <a:cubicBezTo>
                  <a:pt x="928823" y="-55050"/>
                  <a:pt x="1174152" y="17803"/>
                  <a:pt x="1272647" y="0"/>
                </a:cubicBezTo>
                <a:cubicBezTo>
                  <a:pt x="1371142" y="-17803"/>
                  <a:pt x="1591241" y="35454"/>
                  <a:pt x="1831389" y="0"/>
                </a:cubicBezTo>
                <a:cubicBezTo>
                  <a:pt x="2071537" y="-35454"/>
                  <a:pt x="2131216" y="8373"/>
                  <a:pt x="2390131" y="0"/>
                </a:cubicBezTo>
                <a:cubicBezTo>
                  <a:pt x="2649046" y="-8373"/>
                  <a:pt x="2750196" y="13499"/>
                  <a:pt x="2877543" y="0"/>
                </a:cubicBezTo>
                <a:cubicBezTo>
                  <a:pt x="3004890" y="-13499"/>
                  <a:pt x="3483627" y="59560"/>
                  <a:pt x="3721600" y="0"/>
                </a:cubicBezTo>
                <a:cubicBezTo>
                  <a:pt x="3802843" y="1092"/>
                  <a:pt x="3867317" y="72382"/>
                  <a:pt x="3876764" y="155164"/>
                </a:cubicBezTo>
                <a:cubicBezTo>
                  <a:pt x="3879604" y="293283"/>
                  <a:pt x="3875486" y="397256"/>
                  <a:pt x="3876764" y="471689"/>
                </a:cubicBezTo>
                <a:cubicBezTo>
                  <a:pt x="3878042" y="546122"/>
                  <a:pt x="3863347" y="632184"/>
                  <a:pt x="3876764" y="775801"/>
                </a:cubicBezTo>
                <a:cubicBezTo>
                  <a:pt x="3885167" y="867714"/>
                  <a:pt x="3799305" y="943183"/>
                  <a:pt x="3721600" y="930965"/>
                </a:cubicBezTo>
                <a:cubicBezTo>
                  <a:pt x="3536848" y="1006566"/>
                  <a:pt x="3280570" y="926036"/>
                  <a:pt x="3091530" y="930965"/>
                </a:cubicBezTo>
                <a:cubicBezTo>
                  <a:pt x="2902490" y="935894"/>
                  <a:pt x="2786540" y="896710"/>
                  <a:pt x="2604117" y="930965"/>
                </a:cubicBezTo>
                <a:cubicBezTo>
                  <a:pt x="2421694" y="965220"/>
                  <a:pt x="2196654" y="909704"/>
                  <a:pt x="1974046" y="930965"/>
                </a:cubicBezTo>
                <a:cubicBezTo>
                  <a:pt x="1751438" y="952226"/>
                  <a:pt x="1614178" y="877543"/>
                  <a:pt x="1486633" y="930965"/>
                </a:cubicBezTo>
                <a:cubicBezTo>
                  <a:pt x="1359088" y="984387"/>
                  <a:pt x="1030556" y="885932"/>
                  <a:pt x="892227" y="930965"/>
                </a:cubicBezTo>
                <a:cubicBezTo>
                  <a:pt x="753898" y="975998"/>
                  <a:pt x="367222" y="918855"/>
                  <a:pt x="155164" y="930965"/>
                </a:cubicBezTo>
                <a:cubicBezTo>
                  <a:pt x="78950" y="938240"/>
                  <a:pt x="-2203" y="861895"/>
                  <a:pt x="0" y="775801"/>
                </a:cubicBezTo>
                <a:cubicBezTo>
                  <a:pt x="-8343" y="692134"/>
                  <a:pt x="7335" y="537932"/>
                  <a:pt x="0" y="465483"/>
                </a:cubicBezTo>
                <a:cubicBezTo>
                  <a:pt x="-7335" y="393034"/>
                  <a:pt x="29953" y="240690"/>
                  <a:pt x="0" y="155164"/>
                </a:cubicBezTo>
                <a:close/>
              </a:path>
            </a:pathLst>
          </a:custGeom>
          <a:noFill/>
          <a:ln w="25400" cap="flat" cmpd="sng" algn="ctr">
            <a:solidFill>
              <a:srgbClr val="C0504D"/>
            </a:solidFill>
            <a:prstDash val="solid"/>
            <a:extLst>
              <a:ext uri="{C807C97D-BFC1-408E-A445-0C87EB9F89A2}">
                <ask:lineSketchStyleProps xmlns:ask="http://schemas.microsoft.com/office/drawing/2018/sketchyshapes" sd="3607457914">
                  <a:prstGeom prst="roundRect">
                    <a:avLst/>
                  </a:prstGeom>
                  <ask:type>
                    <ask:lineSketchScribbl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6" name="文本框 35">
            <a:extLst>
              <a:ext uri="{FF2B5EF4-FFF2-40B4-BE49-F238E27FC236}">
                <a16:creationId xmlns:a16="http://schemas.microsoft.com/office/drawing/2014/main" id="{DCF29B21-2596-450B-B7F4-2B093483DC02}"/>
              </a:ext>
            </a:extLst>
          </p:cNvPr>
          <p:cNvSpPr txBox="1"/>
          <p:nvPr/>
        </p:nvSpPr>
        <p:spPr>
          <a:xfrm>
            <a:off x="1992380" y="2622150"/>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37" name="文本框 36">
            <a:extLst>
              <a:ext uri="{FF2B5EF4-FFF2-40B4-BE49-F238E27FC236}">
                <a16:creationId xmlns:a16="http://schemas.microsoft.com/office/drawing/2014/main" id="{B4617815-8CF5-44E9-A348-1B7EDFEB115E}"/>
              </a:ext>
            </a:extLst>
          </p:cNvPr>
          <p:cNvSpPr txBox="1"/>
          <p:nvPr/>
        </p:nvSpPr>
        <p:spPr>
          <a:xfrm>
            <a:off x="2358979" y="3952823"/>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52" name="文本框 51">
            <a:extLst>
              <a:ext uri="{FF2B5EF4-FFF2-40B4-BE49-F238E27FC236}">
                <a16:creationId xmlns:a16="http://schemas.microsoft.com/office/drawing/2014/main" id="{277A0F6B-459E-4AA4-88A6-BE8BE35D513B}"/>
              </a:ext>
            </a:extLst>
          </p:cNvPr>
          <p:cNvSpPr txBox="1"/>
          <p:nvPr/>
        </p:nvSpPr>
        <p:spPr>
          <a:xfrm>
            <a:off x="3048075" y="3952823"/>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53" name="TextBox 2">
            <a:extLst>
              <a:ext uri="{FF2B5EF4-FFF2-40B4-BE49-F238E27FC236}">
                <a16:creationId xmlns:a16="http://schemas.microsoft.com/office/drawing/2014/main" id="{BA1FC926-0E4A-4F26-9D01-E40A6D27D0A8}"/>
              </a:ext>
            </a:extLst>
          </p:cNvPr>
          <p:cNvSpPr txBox="1"/>
          <p:nvPr/>
        </p:nvSpPr>
        <p:spPr>
          <a:xfrm>
            <a:off x="136001" y="923607"/>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Tree>
    <p:extLst>
      <p:ext uri="{BB962C8B-B14F-4D97-AF65-F5344CB8AC3E}">
        <p14:creationId xmlns:p14="http://schemas.microsoft.com/office/powerpoint/2010/main" val="3664900766"/>
      </p:ext>
    </p:extLst>
  </p:cSld>
  <p:clrMapOvr>
    <a:masterClrMapping/>
  </p:clrMapOvr>
  <mc:AlternateContent xmlns:mc="http://schemas.openxmlformats.org/markup-compatibility/2006" xmlns:p14="http://schemas.microsoft.com/office/powerpoint/2010/main">
    <mc:Choice Requires="p14">
      <p:transition spd="slow" p14:dur="1200">
        <p14:reveal/>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a:extLst>
              <a:ext uri="{FF2B5EF4-FFF2-40B4-BE49-F238E27FC236}">
                <a16:creationId xmlns:a16="http://schemas.microsoft.com/office/drawing/2014/main" id="{A9C880A1-D55F-4C22-9003-BDBDA30277B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8" name="直接连接符 17">
            <a:extLst>
              <a:ext uri="{FF2B5EF4-FFF2-40B4-BE49-F238E27FC236}">
                <a16:creationId xmlns:a16="http://schemas.microsoft.com/office/drawing/2014/main" id="{DBDC9AC0-5144-491B-AF7B-D1DEA94A80C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1" name="矩形: 折角 20">
            <a:extLst>
              <a:ext uri="{FF2B5EF4-FFF2-40B4-BE49-F238E27FC236}">
                <a16:creationId xmlns:a16="http://schemas.microsoft.com/office/drawing/2014/main" id="{F603D25A-05FB-4C41-B6F5-27EEA46CDAEC}"/>
              </a:ext>
            </a:extLst>
          </p:cNvPr>
          <p:cNvSpPr/>
          <p:nvPr/>
        </p:nvSpPr>
        <p:spPr>
          <a:xfrm>
            <a:off x="251664" y="1953702"/>
            <a:ext cx="338944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D:\A.txt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Consolas" panose="020B0609020204030204" pitchFamily="49" charset="0"/>
                <a:ea typeface="黑体"/>
                <a:cs typeface="+mn-cs"/>
              </a:rPr>
              <a:t>abcde</a:t>
            </a: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22" name="文本框 21">
            <a:extLst>
              <a:ext uri="{FF2B5EF4-FFF2-40B4-BE49-F238E27FC236}">
                <a16:creationId xmlns:a16="http://schemas.microsoft.com/office/drawing/2014/main" id="{A99E3955-E7B9-47EB-81BA-7EA50F7A1D0C}"/>
              </a:ext>
            </a:extLst>
          </p:cNvPr>
          <p:cNvSpPr txBox="1"/>
          <p:nvPr/>
        </p:nvSpPr>
        <p:spPr>
          <a:xfrm>
            <a:off x="251664" y="2805532"/>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23" name="文本框 22">
            <a:extLst>
              <a:ext uri="{FF2B5EF4-FFF2-40B4-BE49-F238E27FC236}">
                <a16:creationId xmlns:a16="http://schemas.microsoft.com/office/drawing/2014/main" id="{6651FFF9-F26E-48F4-AFC0-197DFD16013F}"/>
              </a:ext>
            </a:extLst>
          </p:cNvPr>
          <p:cNvSpPr txBox="1"/>
          <p:nvPr/>
        </p:nvSpPr>
        <p:spPr>
          <a:xfrm>
            <a:off x="680267" y="2805532"/>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24" name="文本框 23">
            <a:extLst>
              <a:ext uri="{FF2B5EF4-FFF2-40B4-BE49-F238E27FC236}">
                <a16:creationId xmlns:a16="http://schemas.microsoft.com/office/drawing/2014/main" id="{D7184A42-A49F-4CA5-9FF3-1FB002F346DE}"/>
              </a:ext>
            </a:extLst>
          </p:cNvPr>
          <p:cNvSpPr txBox="1"/>
          <p:nvPr/>
        </p:nvSpPr>
        <p:spPr>
          <a:xfrm>
            <a:off x="1108870" y="2805532"/>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26" name="文本框 25">
            <a:extLst>
              <a:ext uri="{FF2B5EF4-FFF2-40B4-BE49-F238E27FC236}">
                <a16:creationId xmlns:a16="http://schemas.microsoft.com/office/drawing/2014/main" id="{08EF93E3-DBEF-4A92-AC8E-1D5FE8F6A7A9}"/>
              </a:ext>
            </a:extLst>
          </p:cNvPr>
          <p:cNvSpPr txBox="1"/>
          <p:nvPr/>
        </p:nvSpPr>
        <p:spPr>
          <a:xfrm>
            <a:off x="1537473" y="2805532"/>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27" name="文本框 26">
            <a:extLst>
              <a:ext uri="{FF2B5EF4-FFF2-40B4-BE49-F238E27FC236}">
                <a16:creationId xmlns:a16="http://schemas.microsoft.com/office/drawing/2014/main" id="{EB36A43C-F22B-470E-9BE7-AAA1E3CC9540}"/>
              </a:ext>
            </a:extLst>
          </p:cNvPr>
          <p:cNvSpPr txBox="1"/>
          <p:nvPr/>
        </p:nvSpPr>
        <p:spPr>
          <a:xfrm>
            <a:off x="2065461" y="2805532"/>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28" name="矩形 27">
            <a:extLst>
              <a:ext uri="{FF2B5EF4-FFF2-40B4-BE49-F238E27FC236}">
                <a16:creationId xmlns:a16="http://schemas.microsoft.com/office/drawing/2014/main" id="{F54EC576-28D2-40A2-AF02-933F1043F820}"/>
              </a:ext>
            </a:extLst>
          </p:cNvPr>
          <p:cNvSpPr/>
          <p:nvPr/>
        </p:nvSpPr>
        <p:spPr>
          <a:xfrm>
            <a:off x="2248456" y="3992776"/>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29" name="矩形 28">
            <a:extLst>
              <a:ext uri="{FF2B5EF4-FFF2-40B4-BE49-F238E27FC236}">
                <a16:creationId xmlns:a16="http://schemas.microsoft.com/office/drawing/2014/main" id="{CF854112-859C-41E0-BD53-BA3228D335FD}"/>
              </a:ext>
            </a:extLst>
          </p:cNvPr>
          <p:cNvSpPr/>
          <p:nvPr/>
        </p:nvSpPr>
        <p:spPr>
          <a:xfrm>
            <a:off x="2990578" y="3992776"/>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30" name="文本占位符 6">
            <a:extLst>
              <a:ext uri="{FF2B5EF4-FFF2-40B4-BE49-F238E27FC236}">
                <a16:creationId xmlns:a16="http://schemas.microsoft.com/office/drawing/2014/main" id="{CBD6BF34-D511-4827-8389-118353516E7A}"/>
              </a:ext>
            </a:extLst>
          </p:cNvPr>
          <p:cNvSpPr txBox="1">
            <a:spLocks/>
          </p:cNvSpPr>
          <p:nvPr/>
        </p:nvSpPr>
        <p:spPr>
          <a:xfrm>
            <a:off x="2191037" y="3573823"/>
            <a:ext cx="1395889" cy="30777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defRPr/>
            </a:pPr>
            <a:r>
              <a:rPr lang="en-US" altLang="zh-CN" sz="1600" dirty="0">
                <a:solidFill>
                  <a:prstClr val="black"/>
                </a:solidFill>
                <a:latin typeface="Consolas" panose="020B0609020204030204" pitchFamily="49" charset="0"/>
                <a:ea typeface="黑体"/>
              </a:rPr>
              <a:t>byte[] </a:t>
            </a:r>
            <a:r>
              <a:rPr lang="en-US" altLang="zh-CN" sz="1600" dirty="0" err="1">
                <a:solidFill>
                  <a:prstClr val="black"/>
                </a:solidFill>
                <a:latin typeface="Consolas" panose="020B0609020204030204" pitchFamily="49" charset="0"/>
                <a:ea typeface="黑体"/>
              </a:rPr>
              <a:t>bys</a:t>
            </a:r>
            <a:endParaRPr lang="en-US" altLang="zh-CN" sz="1600" dirty="0">
              <a:solidFill>
                <a:prstClr val="black"/>
              </a:solidFill>
              <a:latin typeface="Consolas" panose="020B0609020204030204" pitchFamily="49" charset="0"/>
              <a:ea typeface="黑体"/>
            </a:endParaRPr>
          </a:p>
        </p:txBody>
      </p:sp>
      <p:sp>
        <p:nvSpPr>
          <p:cNvPr id="31" name="矩形 30">
            <a:extLst>
              <a:ext uri="{FF2B5EF4-FFF2-40B4-BE49-F238E27FC236}">
                <a16:creationId xmlns:a16="http://schemas.microsoft.com/office/drawing/2014/main" id="{FBBF8B1C-7F0B-4273-8AFB-46036075553B}"/>
              </a:ext>
            </a:extLst>
          </p:cNvPr>
          <p:cNvSpPr/>
          <p:nvPr/>
        </p:nvSpPr>
        <p:spPr>
          <a:xfrm>
            <a:off x="2218435" y="4658739"/>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0</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32" name="矩形 31">
            <a:extLst>
              <a:ext uri="{FF2B5EF4-FFF2-40B4-BE49-F238E27FC236}">
                <a16:creationId xmlns:a16="http://schemas.microsoft.com/office/drawing/2014/main" id="{9155220E-FFFB-48C9-84B9-D7F3BD95DEDD}"/>
              </a:ext>
            </a:extLst>
          </p:cNvPr>
          <p:cNvSpPr/>
          <p:nvPr/>
        </p:nvSpPr>
        <p:spPr>
          <a:xfrm>
            <a:off x="2960557" y="4658739"/>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1</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pic>
        <p:nvPicPr>
          <p:cNvPr id="33" name="图片 32">
            <a:extLst>
              <a:ext uri="{FF2B5EF4-FFF2-40B4-BE49-F238E27FC236}">
                <a16:creationId xmlns:a16="http://schemas.microsoft.com/office/drawing/2014/main" id="{F2B8E2CF-C973-438E-823F-EF882EEE4CFC}"/>
              </a:ext>
            </a:extLst>
          </p:cNvPr>
          <p:cNvPicPr>
            <a:picLocks noChangeAspect="1"/>
          </p:cNvPicPr>
          <p:nvPr/>
        </p:nvPicPr>
        <p:blipFill>
          <a:blip r:embed="rId3"/>
          <a:stretch>
            <a:fillRect/>
          </a:stretch>
        </p:blipFill>
        <p:spPr>
          <a:xfrm>
            <a:off x="284935" y="3463584"/>
            <a:ext cx="1339919" cy="2095608"/>
          </a:xfrm>
          <a:prstGeom prst="rect">
            <a:avLst/>
          </a:prstGeom>
        </p:spPr>
      </p:pic>
      <p:pic>
        <p:nvPicPr>
          <p:cNvPr id="34" name="图片 33">
            <a:extLst>
              <a:ext uri="{FF2B5EF4-FFF2-40B4-BE49-F238E27FC236}">
                <a16:creationId xmlns:a16="http://schemas.microsoft.com/office/drawing/2014/main" id="{E1400304-AC83-4581-8B85-73FF68AE0CD1}"/>
              </a:ext>
            </a:extLst>
          </p:cNvPr>
          <p:cNvPicPr>
            <a:picLocks noChangeAspect="1"/>
          </p:cNvPicPr>
          <p:nvPr/>
        </p:nvPicPr>
        <p:blipFill>
          <a:blip r:embed="rId4"/>
          <a:stretch>
            <a:fillRect/>
          </a:stretch>
        </p:blipFill>
        <p:spPr>
          <a:xfrm>
            <a:off x="4234693" y="1988840"/>
            <a:ext cx="4902102" cy="4074264"/>
          </a:xfrm>
          <a:prstGeom prst="rect">
            <a:avLst/>
          </a:prstGeom>
          <a:ln w="3175"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35" name="矩形: 圆角 34">
            <a:extLst>
              <a:ext uri="{FF2B5EF4-FFF2-40B4-BE49-F238E27FC236}">
                <a16:creationId xmlns:a16="http://schemas.microsoft.com/office/drawing/2014/main" id="{7EE47570-202E-4E93-987A-BD9BF6C90507}"/>
              </a:ext>
            </a:extLst>
          </p:cNvPr>
          <p:cNvSpPr/>
          <p:nvPr/>
        </p:nvSpPr>
        <p:spPr>
          <a:xfrm>
            <a:off x="4215042" y="4365308"/>
            <a:ext cx="3876764" cy="930965"/>
          </a:xfrm>
          <a:custGeom>
            <a:avLst/>
            <a:gdLst>
              <a:gd name="connsiteX0" fmla="*/ 0 w 3876764"/>
              <a:gd name="connsiteY0" fmla="*/ 155164 h 930965"/>
              <a:gd name="connsiteX1" fmla="*/ 155164 w 3876764"/>
              <a:gd name="connsiteY1" fmla="*/ 0 h 930965"/>
              <a:gd name="connsiteX2" fmla="*/ 785234 w 3876764"/>
              <a:gd name="connsiteY2" fmla="*/ 0 h 930965"/>
              <a:gd name="connsiteX3" fmla="*/ 1272647 w 3876764"/>
              <a:gd name="connsiteY3" fmla="*/ 0 h 930965"/>
              <a:gd name="connsiteX4" fmla="*/ 1831389 w 3876764"/>
              <a:gd name="connsiteY4" fmla="*/ 0 h 930965"/>
              <a:gd name="connsiteX5" fmla="*/ 2390131 w 3876764"/>
              <a:gd name="connsiteY5" fmla="*/ 0 h 930965"/>
              <a:gd name="connsiteX6" fmla="*/ 2877543 w 3876764"/>
              <a:gd name="connsiteY6" fmla="*/ 0 h 930965"/>
              <a:gd name="connsiteX7" fmla="*/ 3721600 w 3876764"/>
              <a:gd name="connsiteY7" fmla="*/ 0 h 930965"/>
              <a:gd name="connsiteX8" fmla="*/ 3876764 w 3876764"/>
              <a:gd name="connsiteY8" fmla="*/ 155164 h 930965"/>
              <a:gd name="connsiteX9" fmla="*/ 3876764 w 3876764"/>
              <a:gd name="connsiteY9" fmla="*/ 471689 h 930965"/>
              <a:gd name="connsiteX10" fmla="*/ 3876764 w 3876764"/>
              <a:gd name="connsiteY10" fmla="*/ 775801 h 930965"/>
              <a:gd name="connsiteX11" fmla="*/ 3721600 w 3876764"/>
              <a:gd name="connsiteY11" fmla="*/ 930965 h 930965"/>
              <a:gd name="connsiteX12" fmla="*/ 3091530 w 3876764"/>
              <a:gd name="connsiteY12" fmla="*/ 930965 h 930965"/>
              <a:gd name="connsiteX13" fmla="*/ 2604117 w 3876764"/>
              <a:gd name="connsiteY13" fmla="*/ 930965 h 930965"/>
              <a:gd name="connsiteX14" fmla="*/ 1974046 w 3876764"/>
              <a:gd name="connsiteY14" fmla="*/ 930965 h 930965"/>
              <a:gd name="connsiteX15" fmla="*/ 1486633 w 3876764"/>
              <a:gd name="connsiteY15" fmla="*/ 930965 h 930965"/>
              <a:gd name="connsiteX16" fmla="*/ 892227 w 3876764"/>
              <a:gd name="connsiteY16" fmla="*/ 930965 h 930965"/>
              <a:gd name="connsiteX17" fmla="*/ 155164 w 3876764"/>
              <a:gd name="connsiteY17" fmla="*/ 930965 h 930965"/>
              <a:gd name="connsiteX18" fmla="*/ 0 w 3876764"/>
              <a:gd name="connsiteY18" fmla="*/ 775801 h 930965"/>
              <a:gd name="connsiteX19" fmla="*/ 0 w 3876764"/>
              <a:gd name="connsiteY19" fmla="*/ 465483 h 930965"/>
              <a:gd name="connsiteX20" fmla="*/ 0 w 3876764"/>
              <a:gd name="connsiteY20" fmla="*/ 155164 h 93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6764" h="930965" extrusionOk="0">
                <a:moveTo>
                  <a:pt x="0" y="155164"/>
                </a:moveTo>
                <a:cubicBezTo>
                  <a:pt x="8866" y="84709"/>
                  <a:pt x="88747" y="12080"/>
                  <a:pt x="155164" y="0"/>
                </a:cubicBezTo>
                <a:cubicBezTo>
                  <a:pt x="448100" y="-38276"/>
                  <a:pt x="641645" y="55050"/>
                  <a:pt x="785234" y="0"/>
                </a:cubicBezTo>
                <a:cubicBezTo>
                  <a:pt x="928823" y="-55050"/>
                  <a:pt x="1174152" y="17803"/>
                  <a:pt x="1272647" y="0"/>
                </a:cubicBezTo>
                <a:cubicBezTo>
                  <a:pt x="1371142" y="-17803"/>
                  <a:pt x="1591241" y="35454"/>
                  <a:pt x="1831389" y="0"/>
                </a:cubicBezTo>
                <a:cubicBezTo>
                  <a:pt x="2071537" y="-35454"/>
                  <a:pt x="2131216" y="8373"/>
                  <a:pt x="2390131" y="0"/>
                </a:cubicBezTo>
                <a:cubicBezTo>
                  <a:pt x="2649046" y="-8373"/>
                  <a:pt x="2750196" y="13499"/>
                  <a:pt x="2877543" y="0"/>
                </a:cubicBezTo>
                <a:cubicBezTo>
                  <a:pt x="3004890" y="-13499"/>
                  <a:pt x="3483627" y="59560"/>
                  <a:pt x="3721600" y="0"/>
                </a:cubicBezTo>
                <a:cubicBezTo>
                  <a:pt x="3802843" y="1092"/>
                  <a:pt x="3867317" y="72382"/>
                  <a:pt x="3876764" y="155164"/>
                </a:cubicBezTo>
                <a:cubicBezTo>
                  <a:pt x="3879604" y="293283"/>
                  <a:pt x="3875486" y="397256"/>
                  <a:pt x="3876764" y="471689"/>
                </a:cubicBezTo>
                <a:cubicBezTo>
                  <a:pt x="3878042" y="546122"/>
                  <a:pt x="3863347" y="632184"/>
                  <a:pt x="3876764" y="775801"/>
                </a:cubicBezTo>
                <a:cubicBezTo>
                  <a:pt x="3885167" y="867714"/>
                  <a:pt x="3799305" y="943183"/>
                  <a:pt x="3721600" y="930965"/>
                </a:cubicBezTo>
                <a:cubicBezTo>
                  <a:pt x="3536848" y="1006566"/>
                  <a:pt x="3280570" y="926036"/>
                  <a:pt x="3091530" y="930965"/>
                </a:cubicBezTo>
                <a:cubicBezTo>
                  <a:pt x="2902490" y="935894"/>
                  <a:pt x="2786540" y="896710"/>
                  <a:pt x="2604117" y="930965"/>
                </a:cubicBezTo>
                <a:cubicBezTo>
                  <a:pt x="2421694" y="965220"/>
                  <a:pt x="2196654" y="909704"/>
                  <a:pt x="1974046" y="930965"/>
                </a:cubicBezTo>
                <a:cubicBezTo>
                  <a:pt x="1751438" y="952226"/>
                  <a:pt x="1614178" y="877543"/>
                  <a:pt x="1486633" y="930965"/>
                </a:cubicBezTo>
                <a:cubicBezTo>
                  <a:pt x="1359088" y="984387"/>
                  <a:pt x="1030556" y="885932"/>
                  <a:pt x="892227" y="930965"/>
                </a:cubicBezTo>
                <a:cubicBezTo>
                  <a:pt x="753898" y="975998"/>
                  <a:pt x="367222" y="918855"/>
                  <a:pt x="155164" y="930965"/>
                </a:cubicBezTo>
                <a:cubicBezTo>
                  <a:pt x="78950" y="938240"/>
                  <a:pt x="-2203" y="861895"/>
                  <a:pt x="0" y="775801"/>
                </a:cubicBezTo>
                <a:cubicBezTo>
                  <a:pt x="-8343" y="692134"/>
                  <a:pt x="7335" y="537932"/>
                  <a:pt x="0" y="465483"/>
                </a:cubicBezTo>
                <a:cubicBezTo>
                  <a:pt x="-7335" y="393034"/>
                  <a:pt x="29953" y="240690"/>
                  <a:pt x="0" y="155164"/>
                </a:cubicBezTo>
                <a:close/>
              </a:path>
            </a:pathLst>
          </a:custGeom>
          <a:noFill/>
          <a:ln w="25400" cap="flat" cmpd="sng" algn="ctr">
            <a:solidFill>
              <a:srgbClr val="C0504D"/>
            </a:solidFill>
            <a:prstDash val="solid"/>
            <a:extLst>
              <a:ext uri="{C807C97D-BFC1-408E-A445-0C87EB9F89A2}">
                <ask:lineSketchStyleProps xmlns:ask="http://schemas.microsoft.com/office/drawing/2018/sketchyshapes" sd="3607457914">
                  <a:prstGeom prst="roundRect">
                    <a:avLst/>
                  </a:prstGeom>
                  <ask:type>
                    <ask:lineSketchScribbl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36" name="文本框 35">
            <a:extLst>
              <a:ext uri="{FF2B5EF4-FFF2-40B4-BE49-F238E27FC236}">
                <a16:creationId xmlns:a16="http://schemas.microsoft.com/office/drawing/2014/main" id="{82C9ABEC-78F8-4833-84C5-C133449B2CC3}"/>
              </a:ext>
            </a:extLst>
          </p:cNvPr>
          <p:cNvSpPr txBox="1"/>
          <p:nvPr/>
        </p:nvSpPr>
        <p:spPr>
          <a:xfrm>
            <a:off x="2376357" y="4133708"/>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37" name="文本框 36">
            <a:extLst>
              <a:ext uri="{FF2B5EF4-FFF2-40B4-BE49-F238E27FC236}">
                <a16:creationId xmlns:a16="http://schemas.microsoft.com/office/drawing/2014/main" id="{0F64AEDE-7BF4-471B-BC6B-4308D1509D4C}"/>
              </a:ext>
            </a:extLst>
          </p:cNvPr>
          <p:cNvSpPr txBox="1"/>
          <p:nvPr/>
        </p:nvSpPr>
        <p:spPr>
          <a:xfrm>
            <a:off x="2431131" y="4133709"/>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52" name="文本框 51">
            <a:extLst>
              <a:ext uri="{FF2B5EF4-FFF2-40B4-BE49-F238E27FC236}">
                <a16:creationId xmlns:a16="http://schemas.microsoft.com/office/drawing/2014/main" id="{90A922E9-4826-4DBF-8395-552D5DA7A390}"/>
              </a:ext>
            </a:extLst>
          </p:cNvPr>
          <p:cNvSpPr txBox="1"/>
          <p:nvPr/>
        </p:nvSpPr>
        <p:spPr>
          <a:xfrm>
            <a:off x="3120227" y="4133709"/>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53" name="TextBox 2">
            <a:extLst>
              <a:ext uri="{FF2B5EF4-FFF2-40B4-BE49-F238E27FC236}">
                <a16:creationId xmlns:a16="http://schemas.microsoft.com/office/drawing/2014/main" id="{CE4D0F93-BBA7-4974-BE29-7A4C21D31AA7}"/>
              </a:ext>
            </a:extLst>
          </p:cNvPr>
          <p:cNvSpPr txBox="1"/>
          <p:nvPr/>
        </p:nvSpPr>
        <p:spPr>
          <a:xfrm>
            <a:off x="210544" y="992794"/>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Tree>
    <p:extLst>
      <p:ext uri="{BB962C8B-B14F-4D97-AF65-F5344CB8AC3E}">
        <p14:creationId xmlns:p14="http://schemas.microsoft.com/office/powerpoint/2010/main" val="1469035938"/>
      </p:ext>
    </p:extLst>
  </p:cSld>
  <p:clrMapOvr>
    <a:masterClrMapping/>
  </p:clrMapOvr>
  <mc:AlternateContent xmlns:mc="http://schemas.openxmlformats.org/markup-compatibility/2006" xmlns:p14="http://schemas.microsoft.com/office/powerpoint/2010/main">
    <mc:Choice Requires="p14">
      <p:transition spd="slow" p14:dur="12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a:extLst>
              <a:ext uri="{FF2B5EF4-FFF2-40B4-BE49-F238E27FC236}">
                <a16:creationId xmlns:a16="http://schemas.microsoft.com/office/drawing/2014/main" id="{A9C880A1-D55F-4C22-9003-BDBDA30277B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8" name="直接连接符 17">
            <a:extLst>
              <a:ext uri="{FF2B5EF4-FFF2-40B4-BE49-F238E27FC236}">
                <a16:creationId xmlns:a16="http://schemas.microsoft.com/office/drawing/2014/main" id="{DBDC9AC0-5144-491B-AF7B-D1DEA94A80C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6B2C961E-307B-4720-B1C4-0FE54CB217FF}"/>
              </a:ext>
            </a:extLst>
          </p:cNvPr>
          <p:cNvSpPr txBox="1"/>
          <p:nvPr/>
        </p:nvSpPr>
        <p:spPr>
          <a:xfrm>
            <a:off x="2431131" y="4205717"/>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38" name="矩形: 折角 37">
            <a:extLst>
              <a:ext uri="{FF2B5EF4-FFF2-40B4-BE49-F238E27FC236}">
                <a16:creationId xmlns:a16="http://schemas.microsoft.com/office/drawing/2014/main" id="{25C83164-8FD3-4D15-AF63-5E293B5DD1D3}"/>
              </a:ext>
            </a:extLst>
          </p:cNvPr>
          <p:cNvSpPr/>
          <p:nvPr/>
        </p:nvSpPr>
        <p:spPr>
          <a:xfrm>
            <a:off x="251664" y="2025710"/>
            <a:ext cx="3389448" cy="1159607"/>
          </a:xfrm>
          <a:prstGeom prst="foldedCorner">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rPr>
              <a:t>D:\A.txt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Consolas" panose="020B0609020204030204" pitchFamily="49" charset="0"/>
                <a:ea typeface="黑体"/>
                <a:cs typeface="+mn-cs"/>
              </a:rPr>
              <a:t>abcde</a:t>
            </a:r>
            <a:endParaRPr kumimoji="0" lang="en-US" altLang="zh-CN" sz="1800" b="0" i="0" u="none" strike="noStrike" kern="0" cap="none" spc="0" normalizeH="0" baseline="0" noProof="0" dirty="0">
              <a:ln>
                <a:noFill/>
              </a:ln>
              <a:solidFill>
                <a:prstClr val="black"/>
              </a:solidFill>
              <a:effectLst/>
              <a:uLnTx/>
              <a:uFillTx/>
              <a:latin typeface="Consolas" panose="020B0609020204030204" pitchFamily="49" charset="0"/>
              <a:ea typeface="黑体"/>
              <a:cs typeface="+mn-cs"/>
            </a:endParaRPr>
          </a:p>
        </p:txBody>
      </p:sp>
      <p:sp>
        <p:nvSpPr>
          <p:cNvPr id="39" name="文本框 38">
            <a:extLst>
              <a:ext uri="{FF2B5EF4-FFF2-40B4-BE49-F238E27FC236}">
                <a16:creationId xmlns:a16="http://schemas.microsoft.com/office/drawing/2014/main" id="{A6C187A2-C187-41B1-8730-857E96B6FEB8}"/>
              </a:ext>
            </a:extLst>
          </p:cNvPr>
          <p:cNvSpPr txBox="1"/>
          <p:nvPr/>
        </p:nvSpPr>
        <p:spPr>
          <a:xfrm>
            <a:off x="251664" y="2877540"/>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97</a:t>
            </a:r>
            <a:endParaRPr lang="zh-CN" altLang="en-US" sz="1400" dirty="0">
              <a:solidFill>
                <a:srgbClr val="0033B3"/>
              </a:solidFill>
              <a:latin typeface="Consolas" panose="020B0609020204030204" pitchFamily="49" charset="0"/>
              <a:ea typeface="JetBrains Mono"/>
            </a:endParaRPr>
          </a:p>
        </p:txBody>
      </p:sp>
      <p:sp>
        <p:nvSpPr>
          <p:cNvPr id="40" name="文本框 39">
            <a:extLst>
              <a:ext uri="{FF2B5EF4-FFF2-40B4-BE49-F238E27FC236}">
                <a16:creationId xmlns:a16="http://schemas.microsoft.com/office/drawing/2014/main" id="{0754387D-50A5-4780-A07F-BF01ED755548}"/>
              </a:ext>
            </a:extLst>
          </p:cNvPr>
          <p:cNvSpPr txBox="1"/>
          <p:nvPr/>
        </p:nvSpPr>
        <p:spPr>
          <a:xfrm>
            <a:off x="680267" y="2877540"/>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98</a:t>
            </a:r>
            <a:endParaRPr lang="zh-CN" altLang="en-US" sz="1400" dirty="0">
              <a:solidFill>
                <a:srgbClr val="0033B3"/>
              </a:solidFill>
              <a:latin typeface="Consolas" panose="020B0609020204030204" pitchFamily="49" charset="0"/>
              <a:ea typeface="JetBrains Mono"/>
            </a:endParaRPr>
          </a:p>
        </p:txBody>
      </p:sp>
      <p:sp>
        <p:nvSpPr>
          <p:cNvPr id="41" name="文本框 40">
            <a:extLst>
              <a:ext uri="{FF2B5EF4-FFF2-40B4-BE49-F238E27FC236}">
                <a16:creationId xmlns:a16="http://schemas.microsoft.com/office/drawing/2014/main" id="{34E87526-A64B-4010-BF19-A4A038F18B19}"/>
              </a:ext>
            </a:extLst>
          </p:cNvPr>
          <p:cNvSpPr txBox="1"/>
          <p:nvPr/>
        </p:nvSpPr>
        <p:spPr>
          <a:xfrm>
            <a:off x="1108870" y="2877540"/>
            <a:ext cx="383438"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99</a:t>
            </a:r>
            <a:endParaRPr lang="zh-CN" altLang="en-US" sz="1400" dirty="0">
              <a:solidFill>
                <a:srgbClr val="0033B3"/>
              </a:solidFill>
              <a:latin typeface="Consolas" panose="020B0609020204030204" pitchFamily="49" charset="0"/>
              <a:ea typeface="JetBrains Mono"/>
            </a:endParaRPr>
          </a:p>
        </p:txBody>
      </p:sp>
      <p:sp>
        <p:nvSpPr>
          <p:cNvPr id="42" name="文本框 41">
            <a:extLst>
              <a:ext uri="{FF2B5EF4-FFF2-40B4-BE49-F238E27FC236}">
                <a16:creationId xmlns:a16="http://schemas.microsoft.com/office/drawing/2014/main" id="{4AA7D78E-59C4-49DB-8EA0-342D0E80AD53}"/>
              </a:ext>
            </a:extLst>
          </p:cNvPr>
          <p:cNvSpPr txBox="1"/>
          <p:nvPr/>
        </p:nvSpPr>
        <p:spPr>
          <a:xfrm>
            <a:off x="1537473" y="2877540"/>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43" name="文本框 42">
            <a:extLst>
              <a:ext uri="{FF2B5EF4-FFF2-40B4-BE49-F238E27FC236}">
                <a16:creationId xmlns:a16="http://schemas.microsoft.com/office/drawing/2014/main" id="{AB55A51F-F3AF-4DB6-9DD5-04F464DD2759}"/>
              </a:ext>
            </a:extLst>
          </p:cNvPr>
          <p:cNvSpPr txBox="1"/>
          <p:nvPr/>
        </p:nvSpPr>
        <p:spPr>
          <a:xfrm>
            <a:off x="2065461" y="2877540"/>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44" name="矩形 43">
            <a:extLst>
              <a:ext uri="{FF2B5EF4-FFF2-40B4-BE49-F238E27FC236}">
                <a16:creationId xmlns:a16="http://schemas.microsoft.com/office/drawing/2014/main" id="{DBF08C22-EB49-41EB-93E8-F6AEB9AA941A}"/>
              </a:ext>
            </a:extLst>
          </p:cNvPr>
          <p:cNvSpPr/>
          <p:nvPr/>
        </p:nvSpPr>
        <p:spPr>
          <a:xfrm>
            <a:off x="2248456" y="4064784"/>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45" name="矩形 44">
            <a:extLst>
              <a:ext uri="{FF2B5EF4-FFF2-40B4-BE49-F238E27FC236}">
                <a16:creationId xmlns:a16="http://schemas.microsoft.com/office/drawing/2014/main" id="{E11943F6-E968-47C6-A7A0-84DE2F6DDCF3}"/>
              </a:ext>
            </a:extLst>
          </p:cNvPr>
          <p:cNvSpPr/>
          <p:nvPr/>
        </p:nvSpPr>
        <p:spPr>
          <a:xfrm>
            <a:off x="2990578" y="4064784"/>
            <a:ext cx="742122" cy="642730"/>
          </a:xfrm>
          <a:prstGeom prst="rect">
            <a:avLst/>
          </a:prstGeom>
          <a:solidFill>
            <a:sysClr val="window" lastClr="FFFFFF"/>
          </a:solidFill>
          <a:ln w="25400" cap="flat" cmpd="sng" algn="ctr">
            <a:solidFill>
              <a:srgbClr val="9BBB59"/>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46" name="文本占位符 6">
            <a:extLst>
              <a:ext uri="{FF2B5EF4-FFF2-40B4-BE49-F238E27FC236}">
                <a16:creationId xmlns:a16="http://schemas.microsoft.com/office/drawing/2014/main" id="{BAE8C56A-DF34-4C5E-9CC5-894F9AC5A20E}"/>
              </a:ext>
            </a:extLst>
          </p:cNvPr>
          <p:cNvSpPr txBox="1">
            <a:spLocks/>
          </p:cNvSpPr>
          <p:nvPr/>
        </p:nvSpPr>
        <p:spPr>
          <a:xfrm>
            <a:off x="2191037" y="3645831"/>
            <a:ext cx="1395889" cy="30777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defRPr/>
            </a:pPr>
            <a:r>
              <a:rPr lang="en-US" altLang="zh-CN" sz="1600" dirty="0">
                <a:solidFill>
                  <a:prstClr val="black"/>
                </a:solidFill>
                <a:latin typeface="Consolas" panose="020B0609020204030204" pitchFamily="49" charset="0"/>
                <a:ea typeface="黑体"/>
              </a:rPr>
              <a:t>byte[] </a:t>
            </a:r>
            <a:r>
              <a:rPr lang="en-US" altLang="zh-CN" sz="1600" dirty="0" err="1">
                <a:solidFill>
                  <a:prstClr val="black"/>
                </a:solidFill>
                <a:latin typeface="Consolas" panose="020B0609020204030204" pitchFamily="49" charset="0"/>
                <a:ea typeface="黑体"/>
              </a:rPr>
              <a:t>bys</a:t>
            </a:r>
            <a:endParaRPr lang="en-US" altLang="zh-CN" sz="1600" dirty="0">
              <a:solidFill>
                <a:prstClr val="black"/>
              </a:solidFill>
              <a:latin typeface="Consolas" panose="020B0609020204030204" pitchFamily="49" charset="0"/>
              <a:ea typeface="黑体"/>
            </a:endParaRPr>
          </a:p>
        </p:txBody>
      </p:sp>
      <p:sp>
        <p:nvSpPr>
          <p:cNvPr id="47" name="矩形 46">
            <a:extLst>
              <a:ext uri="{FF2B5EF4-FFF2-40B4-BE49-F238E27FC236}">
                <a16:creationId xmlns:a16="http://schemas.microsoft.com/office/drawing/2014/main" id="{2A0446B6-5DEC-4484-8ACD-545C15602016}"/>
              </a:ext>
            </a:extLst>
          </p:cNvPr>
          <p:cNvSpPr/>
          <p:nvPr/>
        </p:nvSpPr>
        <p:spPr>
          <a:xfrm>
            <a:off x="2218435" y="4730747"/>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0</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sp>
        <p:nvSpPr>
          <p:cNvPr id="48" name="矩形 47">
            <a:extLst>
              <a:ext uri="{FF2B5EF4-FFF2-40B4-BE49-F238E27FC236}">
                <a16:creationId xmlns:a16="http://schemas.microsoft.com/office/drawing/2014/main" id="{9298EA18-7B6A-4029-905C-EF588D99D0A0}"/>
              </a:ext>
            </a:extLst>
          </p:cNvPr>
          <p:cNvSpPr/>
          <p:nvPr/>
        </p:nvSpPr>
        <p:spPr>
          <a:xfrm>
            <a:off x="2960557" y="4730747"/>
            <a:ext cx="742122" cy="64273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黑体"/>
                <a:cs typeface="+mn-cs"/>
              </a:rPr>
              <a:t>1</a:t>
            </a:r>
            <a:endParaRPr kumimoji="0" lang="zh-CN" altLang="en-US" sz="1800" b="0" i="0" u="none" strike="noStrike" kern="0" cap="none" spc="0" normalizeH="0" baseline="0" noProof="0" dirty="0">
              <a:ln>
                <a:noFill/>
              </a:ln>
              <a:solidFill>
                <a:prstClr val="black"/>
              </a:solidFill>
              <a:effectLst/>
              <a:uLnTx/>
              <a:uFillTx/>
              <a:latin typeface="Calibri"/>
              <a:ea typeface="黑体"/>
              <a:cs typeface="+mn-cs"/>
            </a:endParaRPr>
          </a:p>
        </p:txBody>
      </p:sp>
      <p:pic>
        <p:nvPicPr>
          <p:cNvPr id="49" name="图片 48">
            <a:extLst>
              <a:ext uri="{FF2B5EF4-FFF2-40B4-BE49-F238E27FC236}">
                <a16:creationId xmlns:a16="http://schemas.microsoft.com/office/drawing/2014/main" id="{A2241A9D-DDA5-44DF-BC36-048C0A18422C}"/>
              </a:ext>
            </a:extLst>
          </p:cNvPr>
          <p:cNvPicPr>
            <a:picLocks noChangeAspect="1"/>
          </p:cNvPicPr>
          <p:nvPr/>
        </p:nvPicPr>
        <p:blipFill>
          <a:blip r:embed="rId3"/>
          <a:stretch>
            <a:fillRect/>
          </a:stretch>
        </p:blipFill>
        <p:spPr>
          <a:xfrm>
            <a:off x="284935" y="3535592"/>
            <a:ext cx="1339919" cy="2095608"/>
          </a:xfrm>
          <a:prstGeom prst="rect">
            <a:avLst/>
          </a:prstGeom>
        </p:spPr>
      </p:pic>
      <p:pic>
        <p:nvPicPr>
          <p:cNvPr id="50" name="图片 49">
            <a:extLst>
              <a:ext uri="{FF2B5EF4-FFF2-40B4-BE49-F238E27FC236}">
                <a16:creationId xmlns:a16="http://schemas.microsoft.com/office/drawing/2014/main" id="{7FD83E53-C9EA-4F68-A809-7FB539A71F9F}"/>
              </a:ext>
            </a:extLst>
          </p:cNvPr>
          <p:cNvPicPr>
            <a:picLocks noChangeAspect="1"/>
          </p:cNvPicPr>
          <p:nvPr/>
        </p:nvPicPr>
        <p:blipFill>
          <a:blip r:embed="rId4"/>
          <a:stretch>
            <a:fillRect/>
          </a:stretch>
        </p:blipFill>
        <p:spPr>
          <a:xfrm>
            <a:off x="4084557" y="1977693"/>
            <a:ext cx="5022320" cy="4174181"/>
          </a:xfrm>
          <a:prstGeom prst="rect">
            <a:avLst/>
          </a:prstGeom>
          <a:ln w="3175"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51" name="矩形: 圆角 50">
            <a:extLst>
              <a:ext uri="{FF2B5EF4-FFF2-40B4-BE49-F238E27FC236}">
                <a16:creationId xmlns:a16="http://schemas.microsoft.com/office/drawing/2014/main" id="{49D71183-AC62-4CC7-B278-1DF3CD9D7A6D}"/>
              </a:ext>
            </a:extLst>
          </p:cNvPr>
          <p:cNvSpPr/>
          <p:nvPr/>
        </p:nvSpPr>
        <p:spPr>
          <a:xfrm>
            <a:off x="4043027" y="5301208"/>
            <a:ext cx="3876764" cy="930965"/>
          </a:xfrm>
          <a:custGeom>
            <a:avLst/>
            <a:gdLst>
              <a:gd name="connsiteX0" fmla="*/ 0 w 3876764"/>
              <a:gd name="connsiteY0" fmla="*/ 155164 h 930965"/>
              <a:gd name="connsiteX1" fmla="*/ 155164 w 3876764"/>
              <a:gd name="connsiteY1" fmla="*/ 0 h 930965"/>
              <a:gd name="connsiteX2" fmla="*/ 785234 w 3876764"/>
              <a:gd name="connsiteY2" fmla="*/ 0 h 930965"/>
              <a:gd name="connsiteX3" fmla="*/ 1272647 w 3876764"/>
              <a:gd name="connsiteY3" fmla="*/ 0 h 930965"/>
              <a:gd name="connsiteX4" fmla="*/ 1831389 w 3876764"/>
              <a:gd name="connsiteY4" fmla="*/ 0 h 930965"/>
              <a:gd name="connsiteX5" fmla="*/ 2390131 w 3876764"/>
              <a:gd name="connsiteY5" fmla="*/ 0 h 930965"/>
              <a:gd name="connsiteX6" fmla="*/ 2877543 w 3876764"/>
              <a:gd name="connsiteY6" fmla="*/ 0 h 930965"/>
              <a:gd name="connsiteX7" fmla="*/ 3721600 w 3876764"/>
              <a:gd name="connsiteY7" fmla="*/ 0 h 930965"/>
              <a:gd name="connsiteX8" fmla="*/ 3876764 w 3876764"/>
              <a:gd name="connsiteY8" fmla="*/ 155164 h 930965"/>
              <a:gd name="connsiteX9" fmla="*/ 3876764 w 3876764"/>
              <a:gd name="connsiteY9" fmla="*/ 471689 h 930965"/>
              <a:gd name="connsiteX10" fmla="*/ 3876764 w 3876764"/>
              <a:gd name="connsiteY10" fmla="*/ 775801 h 930965"/>
              <a:gd name="connsiteX11" fmla="*/ 3721600 w 3876764"/>
              <a:gd name="connsiteY11" fmla="*/ 930965 h 930965"/>
              <a:gd name="connsiteX12" fmla="*/ 3091530 w 3876764"/>
              <a:gd name="connsiteY12" fmla="*/ 930965 h 930965"/>
              <a:gd name="connsiteX13" fmla="*/ 2604117 w 3876764"/>
              <a:gd name="connsiteY13" fmla="*/ 930965 h 930965"/>
              <a:gd name="connsiteX14" fmla="*/ 1974046 w 3876764"/>
              <a:gd name="connsiteY14" fmla="*/ 930965 h 930965"/>
              <a:gd name="connsiteX15" fmla="*/ 1486633 w 3876764"/>
              <a:gd name="connsiteY15" fmla="*/ 930965 h 930965"/>
              <a:gd name="connsiteX16" fmla="*/ 892227 w 3876764"/>
              <a:gd name="connsiteY16" fmla="*/ 930965 h 930965"/>
              <a:gd name="connsiteX17" fmla="*/ 155164 w 3876764"/>
              <a:gd name="connsiteY17" fmla="*/ 930965 h 930965"/>
              <a:gd name="connsiteX18" fmla="*/ 0 w 3876764"/>
              <a:gd name="connsiteY18" fmla="*/ 775801 h 930965"/>
              <a:gd name="connsiteX19" fmla="*/ 0 w 3876764"/>
              <a:gd name="connsiteY19" fmla="*/ 465483 h 930965"/>
              <a:gd name="connsiteX20" fmla="*/ 0 w 3876764"/>
              <a:gd name="connsiteY20" fmla="*/ 155164 h 93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6764" h="930965" extrusionOk="0">
                <a:moveTo>
                  <a:pt x="0" y="155164"/>
                </a:moveTo>
                <a:cubicBezTo>
                  <a:pt x="8866" y="84709"/>
                  <a:pt x="88747" y="12080"/>
                  <a:pt x="155164" y="0"/>
                </a:cubicBezTo>
                <a:cubicBezTo>
                  <a:pt x="448100" y="-38276"/>
                  <a:pt x="641645" y="55050"/>
                  <a:pt x="785234" y="0"/>
                </a:cubicBezTo>
                <a:cubicBezTo>
                  <a:pt x="928823" y="-55050"/>
                  <a:pt x="1174152" y="17803"/>
                  <a:pt x="1272647" y="0"/>
                </a:cubicBezTo>
                <a:cubicBezTo>
                  <a:pt x="1371142" y="-17803"/>
                  <a:pt x="1591241" y="35454"/>
                  <a:pt x="1831389" y="0"/>
                </a:cubicBezTo>
                <a:cubicBezTo>
                  <a:pt x="2071537" y="-35454"/>
                  <a:pt x="2131216" y="8373"/>
                  <a:pt x="2390131" y="0"/>
                </a:cubicBezTo>
                <a:cubicBezTo>
                  <a:pt x="2649046" y="-8373"/>
                  <a:pt x="2750196" y="13499"/>
                  <a:pt x="2877543" y="0"/>
                </a:cubicBezTo>
                <a:cubicBezTo>
                  <a:pt x="3004890" y="-13499"/>
                  <a:pt x="3483627" y="59560"/>
                  <a:pt x="3721600" y="0"/>
                </a:cubicBezTo>
                <a:cubicBezTo>
                  <a:pt x="3802843" y="1092"/>
                  <a:pt x="3867317" y="72382"/>
                  <a:pt x="3876764" y="155164"/>
                </a:cubicBezTo>
                <a:cubicBezTo>
                  <a:pt x="3879604" y="293283"/>
                  <a:pt x="3875486" y="397256"/>
                  <a:pt x="3876764" y="471689"/>
                </a:cubicBezTo>
                <a:cubicBezTo>
                  <a:pt x="3878042" y="546122"/>
                  <a:pt x="3863347" y="632184"/>
                  <a:pt x="3876764" y="775801"/>
                </a:cubicBezTo>
                <a:cubicBezTo>
                  <a:pt x="3885167" y="867714"/>
                  <a:pt x="3799305" y="943183"/>
                  <a:pt x="3721600" y="930965"/>
                </a:cubicBezTo>
                <a:cubicBezTo>
                  <a:pt x="3536848" y="1006566"/>
                  <a:pt x="3280570" y="926036"/>
                  <a:pt x="3091530" y="930965"/>
                </a:cubicBezTo>
                <a:cubicBezTo>
                  <a:pt x="2902490" y="935894"/>
                  <a:pt x="2786540" y="896710"/>
                  <a:pt x="2604117" y="930965"/>
                </a:cubicBezTo>
                <a:cubicBezTo>
                  <a:pt x="2421694" y="965220"/>
                  <a:pt x="2196654" y="909704"/>
                  <a:pt x="1974046" y="930965"/>
                </a:cubicBezTo>
                <a:cubicBezTo>
                  <a:pt x="1751438" y="952226"/>
                  <a:pt x="1614178" y="877543"/>
                  <a:pt x="1486633" y="930965"/>
                </a:cubicBezTo>
                <a:cubicBezTo>
                  <a:pt x="1359088" y="984387"/>
                  <a:pt x="1030556" y="885932"/>
                  <a:pt x="892227" y="930965"/>
                </a:cubicBezTo>
                <a:cubicBezTo>
                  <a:pt x="753898" y="975998"/>
                  <a:pt x="367222" y="918855"/>
                  <a:pt x="155164" y="930965"/>
                </a:cubicBezTo>
                <a:cubicBezTo>
                  <a:pt x="78950" y="938240"/>
                  <a:pt x="-2203" y="861895"/>
                  <a:pt x="0" y="775801"/>
                </a:cubicBezTo>
                <a:cubicBezTo>
                  <a:pt x="-8343" y="692134"/>
                  <a:pt x="7335" y="537932"/>
                  <a:pt x="0" y="465483"/>
                </a:cubicBezTo>
                <a:cubicBezTo>
                  <a:pt x="-7335" y="393034"/>
                  <a:pt x="29953" y="240690"/>
                  <a:pt x="0" y="155164"/>
                </a:cubicBezTo>
                <a:close/>
              </a:path>
            </a:pathLst>
          </a:custGeom>
          <a:noFill/>
          <a:ln w="25400" cap="flat" cmpd="sng" algn="ctr">
            <a:solidFill>
              <a:srgbClr val="C0504D"/>
            </a:solidFill>
            <a:prstDash val="solid"/>
            <a:extLst>
              <a:ext uri="{C807C97D-BFC1-408E-A445-0C87EB9F89A2}">
                <ask:lineSketchStyleProps xmlns:ask="http://schemas.microsoft.com/office/drawing/2018/sketchyshapes" sd="3607457914">
                  <a:prstGeom prst="roundRect">
                    <a:avLst/>
                  </a:prstGeom>
                  <ask:type>
                    <ask:lineSketchScribbl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黑体"/>
              <a:cs typeface="+mn-cs"/>
            </a:endParaRPr>
          </a:p>
        </p:txBody>
      </p:sp>
      <p:sp>
        <p:nvSpPr>
          <p:cNvPr id="53" name="文本框 52">
            <a:extLst>
              <a:ext uri="{FF2B5EF4-FFF2-40B4-BE49-F238E27FC236}">
                <a16:creationId xmlns:a16="http://schemas.microsoft.com/office/drawing/2014/main" id="{18979160-92C5-4869-BAA4-1D70A2063206}"/>
              </a:ext>
            </a:extLst>
          </p:cNvPr>
          <p:cNvSpPr txBox="1"/>
          <p:nvPr/>
        </p:nvSpPr>
        <p:spPr>
          <a:xfrm>
            <a:off x="2376357" y="4205716"/>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101</a:t>
            </a:r>
            <a:endParaRPr lang="zh-CN" altLang="en-US" sz="1400" dirty="0">
              <a:solidFill>
                <a:srgbClr val="0033B3"/>
              </a:solidFill>
              <a:latin typeface="Consolas" panose="020B0609020204030204" pitchFamily="49" charset="0"/>
              <a:ea typeface="JetBrains Mono"/>
            </a:endParaRPr>
          </a:p>
        </p:txBody>
      </p:sp>
      <p:sp>
        <p:nvSpPr>
          <p:cNvPr id="54" name="文本框 53">
            <a:extLst>
              <a:ext uri="{FF2B5EF4-FFF2-40B4-BE49-F238E27FC236}">
                <a16:creationId xmlns:a16="http://schemas.microsoft.com/office/drawing/2014/main" id="{281344E4-852C-498F-8BD8-66C37730FDB1}"/>
              </a:ext>
            </a:extLst>
          </p:cNvPr>
          <p:cNvSpPr txBox="1"/>
          <p:nvPr/>
        </p:nvSpPr>
        <p:spPr>
          <a:xfrm>
            <a:off x="3120227" y="4205717"/>
            <a:ext cx="482824" cy="307777"/>
          </a:xfrm>
          <a:prstGeom prst="rect">
            <a:avLst/>
          </a:prstGeom>
          <a:noFill/>
          <a:ln>
            <a:noFill/>
          </a:ln>
        </p:spPr>
        <p:txBody>
          <a:bodyPr wrap="none" rtlCol="0">
            <a:spAutoFit/>
          </a:bodyPr>
          <a:lstStyle/>
          <a:p>
            <a:pPr fontAlgn="auto">
              <a:spcBef>
                <a:spcPts val="0"/>
              </a:spcBef>
              <a:spcAft>
                <a:spcPts val="0"/>
              </a:spcAft>
            </a:pPr>
            <a:r>
              <a:rPr lang="en-US" altLang="zh-CN" sz="1400" dirty="0">
                <a:solidFill>
                  <a:srgbClr val="0033B3"/>
                </a:solidFill>
                <a:latin typeface="Consolas" panose="020B0609020204030204" pitchFamily="49" charset="0"/>
                <a:ea typeface="JetBrains Mono"/>
              </a:rPr>
              <a:t>100</a:t>
            </a:r>
            <a:endParaRPr lang="zh-CN" altLang="en-US" sz="1400" dirty="0">
              <a:solidFill>
                <a:srgbClr val="0033B3"/>
              </a:solidFill>
              <a:latin typeface="Consolas" panose="020B0609020204030204" pitchFamily="49" charset="0"/>
              <a:ea typeface="JetBrains Mono"/>
            </a:endParaRPr>
          </a:p>
        </p:txBody>
      </p:sp>
      <p:sp>
        <p:nvSpPr>
          <p:cNvPr id="55" name="TextBox 2">
            <a:extLst>
              <a:ext uri="{FF2B5EF4-FFF2-40B4-BE49-F238E27FC236}">
                <a16:creationId xmlns:a16="http://schemas.microsoft.com/office/drawing/2014/main" id="{4FA98D00-C254-49E3-8B2A-BA7029C554EE}"/>
              </a:ext>
            </a:extLst>
          </p:cNvPr>
          <p:cNvSpPr txBox="1"/>
          <p:nvPr/>
        </p:nvSpPr>
        <p:spPr>
          <a:xfrm>
            <a:off x="210544" y="1066236"/>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Tree>
    <p:extLst>
      <p:ext uri="{BB962C8B-B14F-4D97-AF65-F5344CB8AC3E}">
        <p14:creationId xmlns:p14="http://schemas.microsoft.com/office/powerpoint/2010/main" val="1493705410"/>
      </p:ext>
    </p:extLst>
  </p:cSld>
  <p:clrMapOvr>
    <a:masterClrMapping/>
  </p:clrMapOvr>
  <mc:AlternateContent xmlns:mc="http://schemas.openxmlformats.org/markup-compatibility/2006" xmlns:p14="http://schemas.microsoft.com/office/powerpoint/2010/main">
    <mc:Choice Requires="p14">
      <p:transition spd="slow" p14:dur="12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a:extLst>
              <a:ext uri="{FF2B5EF4-FFF2-40B4-BE49-F238E27FC236}">
                <a16:creationId xmlns:a16="http://schemas.microsoft.com/office/drawing/2014/main" id="{755BB29B-8C9E-0794-6841-95927B3A88DC}"/>
              </a:ext>
            </a:extLst>
          </p:cNvPr>
          <p:cNvGraphicFramePr>
            <a:graphicFrameLocks noGrp="1"/>
          </p:cNvGraphicFramePr>
          <p:nvPr>
            <p:extLst>
              <p:ext uri="{D42A27DB-BD31-4B8C-83A1-F6EECF244321}">
                <p14:modId xmlns:p14="http://schemas.microsoft.com/office/powerpoint/2010/main" val="3610570710"/>
              </p:ext>
            </p:extLst>
          </p:nvPr>
        </p:nvGraphicFramePr>
        <p:xfrm>
          <a:off x="468314" y="2309855"/>
          <a:ext cx="8301032" cy="1781303"/>
        </p:xfrm>
        <a:graphic>
          <a:graphicData uri="http://schemas.openxmlformats.org/drawingml/2006/table">
            <a:tbl>
              <a:tblPr/>
              <a:tblGrid>
                <a:gridCol w="4353564">
                  <a:extLst>
                    <a:ext uri="{9D8B030D-6E8A-4147-A177-3AD203B41FA5}">
                      <a16:colId xmlns:a16="http://schemas.microsoft.com/office/drawing/2014/main" val="3903616913"/>
                    </a:ext>
                  </a:extLst>
                </a:gridCol>
                <a:gridCol w="3947468">
                  <a:extLst>
                    <a:ext uri="{9D8B030D-6E8A-4147-A177-3AD203B41FA5}">
                      <a16:colId xmlns:a16="http://schemas.microsoft.com/office/drawing/2014/main" val="3501032722"/>
                    </a:ext>
                  </a:extLst>
                </a:gridCol>
              </a:tblGrid>
              <a:tr h="339059">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1245616">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600" kern="1200" dirty="0">
                          <a:solidFill>
                            <a:schemeClr val="tx1"/>
                          </a:solidFill>
                          <a:effectLst/>
                          <a:latin typeface="Consolas" panose="020B0609020204030204" pitchFamily="49" charset="0"/>
                          <a:ea typeface="黑体" panose="02010609060101010101" pitchFamily="49" charset="-122"/>
                          <a:cs typeface="+mn-cs"/>
                        </a:rPr>
                        <a:t>public String</a:t>
                      </a:r>
                    </a:p>
                    <a:p>
                      <a:pPr algn="l"/>
                      <a:r>
                        <a:rPr lang="en-US" altLang="zh-CN" sz="1600" kern="1200" dirty="0">
                          <a:solidFill>
                            <a:schemeClr val="tx1"/>
                          </a:solidFill>
                          <a:effectLst/>
                          <a:latin typeface="Consolas" panose="020B0609020204030204" pitchFamily="49" charset="0"/>
                          <a:ea typeface="黑体" panose="02010609060101010101" pitchFamily="49" charset="-122"/>
                          <a:cs typeface="+mn-cs"/>
                        </a:rPr>
                        <a:t>(byte[] bytes, int offset, int length)</a:t>
                      </a:r>
                      <a:endParaRPr lang="zh-CN" altLang="en-US" sz="16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将字节数组转换为字符串</a:t>
                      </a:r>
                      <a:endParaRPr lang="en-US" altLang="zh-CN" sz="1400" dirty="0">
                        <a:latin typeface="Consolas" panose="020B0609020204030204" pitchFamily="49" charset="0"/>
                        <a:ea typeface="Alibaba PuHuiTi R"/>
                      </a:endParaRPr>
                    </a:p>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参数</a:t>
                      </a:r>
                      <a:r>
                        <a:rPr lang="en-US" altLang="zh-CN" sz="1400" dirty="0">
                          <a:latin typeface="Consolas" panose="020B0609020204030204" pitchFamily="49" charset="0"/>
                          <a:ea typeface="Alibaba PuHuiTi R"/>
                        </a:rPr>
                        <a:t>1 :</a:t>
                      </a:r>
                      <a:r>
                        <a:rPr lang="zh-CN" altLang="en-US" sz="1400" dirty="0">
                          <a:latin typeface="Consolas" panose="020B0609020204030204" pitchFamily="49" charset="0"/>
                          <a:ea typeface="Alibaba PuHuiTi R"/>
                        </a:rPr>
                        <a:t> 字节数组</a:t>
                      </a:r>
                      <a:endParaRPr lang="en-US" altLang="zh-CN" sz="1400" dirty="0">
                        <a:latin typeface="Consolas" panose="020B0609020204030204" pitchFamily="49" charset="0"/>
                        <a:ea typeface="Alibaba PuHuiTi R"/>
                      </a:endParaRPr>
                    </a:p>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参数</a:t>
                      </a:r>
                      <a:r>
                        <a:rPr lang="en-US" altLang="zh-CN" sz="1400" dirty="0">
                          <a:latin typeface="Consolas" panose="020B0609020204030204" pitchFamily="49" charset="0"/>
                          <a:ea typeface="Alibaba PuHuiTi R"/>
                        </a:rPr>
                        <a:t>2 : </a:t>
                      </a:r>
                      <a:r>
                        <a:rPr lang="zh-CN" altLang="en-US" sz="1400" dirty="0">
                          <a:latin typeface="Consolas" panose="020B0609020204030204" pitchFamily="49" charset="0"/>
                          <a:ea typeface="Alibaba PuHuiTi R"/>
                        </a:rPr>
                        <a:t>起始索引</a:t>
                      </a:r>
                      <a:endParaRPr lang="en-US" altLang="zh-CN" sz="1400" dirty="0">
                        <a:latin typeface="Consolas" panose="020B0609020204030204" pitchFamily="49" charset="0"/>
                        <a:ea typeface="Alibaba PuHuiTi R"/>
                      </a:endParaRPr>
                    </a:p>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参数</a:t>
                      </a:r>
                      <a:r>
                        <a:rPr lang="en-US" altLang="zh-CN" sz="1400" dirty="0">
                          <a:latin typeface="Consolas" panose="020B0609020204030204" pitchFamily="49" charset="0"/>
                          <a:ea typeface="Alibaba PuHuiTi R"/>
                        </a:rPr>
                        <a:t>3 : </a:t>
                      </a:r>
                      <a:r>
                        <a:rPr lang="zh-CN" altLang="en-US" sz="1400" dirty="0">
                          <a:latin typeface="Consolas" panose="020B0609020204030204" pitchFamily="49" charset="0"/>
                          <a:ea typeface="Alibaba PuHuiTi R"/>
                        </a:rPr>
                        <a:t>转换的个数</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bl>
          </a:graphicData>
        </a:graphic>
      </p:graphicFrame>
      <p:sp>
        <p:nvSpPr>
          <p:cNvPr id="4" name="标题 1">
            <a:extLst>
              <a:ext uri="{FF2B5EF4-FFF2-40B4-BE49-F238E27FC236}">
                <a16:creationId xmlns:a16="http://schemas.microsoft.com/office/drawing/2014/main" id="{8C514215-44C5-41F4-8198-1944DF6725F9}"/>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5" name="直接连接符 4">
            <a:extLst>
              <a:ext uri="{FF2B5EF4-FFF2-40B4-BE49-F238E27FC236}">
                <a16:creationId xmlns:a16="http://schemas.microsoft.com/office/drawing/2014/main" id="{DF3690D1-9054-4785-B7FA-C8603E47BD06}"/>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2">
            <a:extLst>
              <a:ext uri="{FF2B5EF4-FFF2-40B4-BE49-F238E27FC236}">
                <a16:creationId xmlns:a16="http://schemas.microsoft.com/office/drawing/2014/main" id="{40320B66-03C4-4255-A755-2DC46DB603A8}"/>
              </a:ext>
            </a:extLst>
          </p:cNvPr>
          <p:cNvSpPr txBox="1"/>
          <p:nvPr/>
        </p:nvSpPr>
        <p:spPr>
          <a:xfrm>
            <a:off x="539006" y="1312834"/>
            <a:ext cx="3960986"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FileInputStream</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字节输入流</a:t>
            </a:r>
          </a:p>
        </p:txBody>
      </p:sp>
      <p:sp>
        <p:nvSpPr>
          <p:cNvPr id="7" name="Rectangle 3">
            <a:extLst>
              <a:ext uri="{FF2B5EF4-FFF2-40B4-BE49-F238E27FC236}">
                <a16:creationId xmlns:a16="http://schemas.microsoft.com/office/drawing/2014/main" id="{B0C1D98A-90FF-490F-B01C-FEBCDB76FD1F}"/>
              </a:ext>
            </a:extLst>
          </p:cNvPr>
          <p:cNvSpPr txBox="1">
            <a:spLocks noChangeArrowheads="1"/>
          </p:cNvSpPr>
          <p:nvPr/>
        </p:nvSpPr>
        <p:spPr bwMode="auto">
          <a:xfrm>
            <a:off x="863748" y="4221088"/>
            <a:ext cx="6228879" cy="2251144"/>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FileInputStream</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fis</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FileInputStream</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("D:\\A.txt");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lang="en-US" altLang="zh-CN" sz="1600" b="1" dirty="0">
                <a:solidFill>
                  <a:srgbClr val="000000"/>
                </a:solidFill>
                <a:latin typeface="Times New Roman" panose="02020603050405020304" pitchFamily="18" charset="0"/>
                <a:cs typeface="Times New Roman" panose="02020603050405020304" pitchFamily="18" charset="0"/>
              </a:rPr>
              <a:t>      </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byte[]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bys</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byte[2];</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int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len</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len</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fis.read</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bys</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-1 ){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String s = new String(</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bys</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0,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len</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System.out.print</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fis.close</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10338223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BE6BCDC5-A63E-FB06-F0AB-AFE4C01B7CC3}"/>
              </a:ext>
            </a:extLst>
          </p:cNvPr>
          <p:cNvSpPr>
            <a:spLocks noGrp="1"/>
          </p:cNvSpPr>
          <p:nvPr>
            <p:ph type="body" sz="quarter" idx="10"/>
          </p:nvPr>
        </p:nvSpPr>
        <p:spPr>
          <a:xfrm>
            <a:off x="3760456" y="1368122"/>
            <a:ext cx="4320404" cy="3383280"/>
          </a:xfrm>
        </p:spPr>
        <p:txBody>
          <a:bodyPr/>
          <a:lstStyle/>
          <a:p>
            <a:pPr marL="0" indent="0">
              <a:buNone/>
            </a:pPr>
            <a:r>
              <a:rPr lang="en-US" altLang="zh-CN" dirty="0" err="1"/>
              <a:t>FileInputStream</a:t>
            </a:r>
            <a:r>
              <a:rPr lang="en-US" altLang="zh-CN" dirty="0"/>
              <a:t> </a:t>
            </a:r>
            <a:r>
              <a:rPr lang="zh-CN" altLang="en-US" dirty="0"/>
              <a:t>字节输入流</a:t>
            </a:r>
            <a:endParaRPr lang="en-US" altLang="zh-CN" dirty="0"/>
          </a:p>
          <a:p>
            <a:pPr marL="0" indent="0">
              <a:buNone/>
            </a:pPr>
            <a:r>
              <a:rPr lang="zh-CN" altLang="en-US" dirty="0"/>
              <a:t>创建对象的时候关联文件</a:t>
            </a:r>
            <a:r>
              <a:rPr lang="en-US" altLang="zh-CN" dirty="0"/>
              <a:t>, </a:t>
            </a:r>
            <a:r>
              <a:rPr lang="zh-CN" altLang="en-US" dirty="0"/>
              <a:t>文件不存在就会抛出异常</a:t>
            </a:r>
            <a:endParaRPr lang="en-US" altLang="zh-CN" dirty="0"/>
          </a:p>
          <a:p>
            <a:pPr marL="0" indent="0">
              <a:buNone/>
            </a:pPr>
            <a:r>
              <a:rPr lang="zh-CN" altLang="en-US" dirty="0"/>
              <a:t>调用 </a:t>
            </a:r>
            <a:r>
              <a:rPr lang="en-US" altLang="zh-CN" dirty="0"/>
              <a:t>read </a:t>
            </a:r>
            <a:r>
              <a:rPr lang="zh-CN" altLang="en-US" dirty="0"/>
              <a:t>方法读取字节</a:t>
            </a:r>
            <a:endParaRPr lang="en-US" altLang="zh-CN" dirty="0"/>
          </a:p>
          <a:p>
            <a:pPr marL="0" indent="0">
              <a:buNone/>
            </a:pPr>
            <a:r>
              <a:rPr lang="en-US" altLang="zh-CN" dirty="0"/>
              <a:t>		</a:t>
            </a:r>
            <a:endParaRPr lang="zh-CN" altLang="en-US" dirty="0"/>
          </a:p>
        </p:txBody>
      </p:sp>
      <p:graphicFrame>
        <p:nvGraphicFramePr>
          <p:cNvPr id="4" name="表格 3">
            <a:extLst>
              <a:ext uri="{FF2B5EF4-FFF2-40B4-BE49-F238E27FC236}">
                <a16:creationId xmlns:a16="http://schemas.microsoft.com/office/drawing/2014/main" id="{C6435787-29F0-0642-2012-56F29CDB5404}"/>
              </a:ext>
            </a:extLst>
          </p:cNvPr>
          <p:cNvGraphicFramePr>
            <a:graphicFrameLocks noGrp="1"/>
          </p:cNvGraphicFramePr>
          <p:nvPr>
            <p:extLst>
              <p:ext uri="{D42A27DB-BD31-4B8C-83A1-F6EECF244321}">
                <p14:modId xmlns:p14="http://schemas.microsoft.com/office/powerpoint/2010/main" val="1508765153"/>
              </p:ext>
            </p:extLst>
          </p:nvPr>
        </p:nvGraphicFramePr>
        <p:xfrm>
          <a:off x="3760456" y="3789040"/>
          <a:ext cx="5051717" cy="1544003"/>
        </p:xfrm>
        <a:graphic>
          <a:graphicData uri="http://schemas.openxmlformats.org/drawingml/2006/table">
            <a:tbl>
              <a:tblPr/>
              <a:tblGrid>
                <a:gridCol w="2649426">
                  <a:extLst>
                    <a:ext uri="{9D8B030D-6E8A-4147-A177-3AD203B41FA5}">
                      <a16:colId xmlns:a16="http://schemas.microsoft.com/office/drawing/2014/main" val="3903616913"/>
                    </a:ext>
                  </a:extLst>
                </a:gridCol>
                <a:gridCol w="2402291">
                  <a:extLst>
                    <a:ext uri="{9D8B030D-6E8A-4147-A177-3AD203B41FA5}">
                      <a16:colId xmlns:a16="http://schemas.microsoft.com/office/drawing/2014/main" val="3501032722"/>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成员方法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58724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200" kern="1200" dirty="0">
                          <a:solidFill>
                            <a:schemeClr val="tx1"/>
                          </a:solidFill>
                          <a:effectLst/>
                          <a:latin typeface="Consolas" panose="020B0609020204030204" pitchFamily="49" charset="0"/>
                          <a:ea typeface="黑体" panose="02010609060101010101" pitchFamily="49" charset="-122"/>
                          <a:cs typeface="+mn-cs"/>
                        </a:rPr>
                        <a:t>int read() </a:t>
                      </a:r>
                      <a:endParaRPr lang="zh-CN" altLang="en-US" sz="12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200" dirty="0">
                          <a:latin typeface="Consolas" panose="020B0609020204030204" pitchFamily="49" charset="0"/>
                          <a:ea typeface="Alibaba PuHuiTi R"/>
                        </a:rPr>
                        <a:t>读取一个字节并返回</a:t>
                      </a:r>
                      <a:r>
                        <a:rPr lang="en-US" altLang="zh-CN" sz="1200" dirty="0">
                          <a:latin typeface="Consolas" panose="020B0609020204030204" pitchFamily="49" charset="0"/>
                          <a:ea typeface="Alibaba PuHuiTi R"/>
                        </a:rPr>
                        <a:t>, </a:t>
                      </a:r>
                      <a:r>
                        <a:rPr lang="zh-CN" altLang="en-US" sz="1200" dirty="0">
                          <a:latin typeface="Consolas" panose="020B0609020204030204" pitchFamily="49" charset="0"/>
                          <a:ea typeface="Alibaba PuHuiTi R"/>
                        </a:rPr>
                        <a:t>如果到达文件结尾则返回 </a:t>
                      </a:r>
                      <a:r>
                        <a:rPr lang="en-US" altLang="zh-CN" sz="1200" dirty="0">
                          <a:latin typeface="Consolas" panose="020B0609020204030204" pitchFamily="49" charset="0"/>
                          <a:ea typeface="Alibaba PuHuiTi R"/>
                        </a:rPr>
                        <a:t>-1</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r h="617252">
                <a:tc>
                  <a:txBody>
                    <a:bodyPr/>
                    <a:lstStyle/>
                    <a:p>
                      <a:pPr algn="l"/>
                      <a:r>
                        <a:rPr lang="en-US" altLang="zh-CN" sz="1200" dirty="0">
                          <a:latin typeface="Consolas" panose="020B0609020204030204" pitchFamily="49" charset="0"/>
                        </a:rPr>
                        <a:t>int read(byte[] b) </a:t>
                      </a:r>
                      <a:endParaRPr lang="zh-CN" altLang="en-US" sz="12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200" b="0" dirty="0">
                          <a:solidFill>
                            <a:schemeClr val="tx1">
                              <a:lumMod val="95000"/>
                              <a:lumOff val="5000"/>
                            </a:schemeClr>
                          </a:solidFill>
                          <a:latin typeface="Consolas" panose="020B0609020204030204" pitchFamily="49" charset="0"/>
                          <a:ea typeface="Alibaba PuHuiTi R"/>
                        </a:rPr>
                        <a:t>将读取到字节</a:t>
                      </a:r>
                      <a:r>
                        <a:rPr lang="en-US" altLang="zh-CN" sz="1200" b="0" dirty="0">
                          <a:solidFill>
                            <a:schemeClr val="tx1">
                              <a:lumMod val="95000"/>
                              <a:lumOff val="5000"/>
                            </a:schemeClr>
                          </a:solidFill>
                          <a:latin typeface="Consolas" panose="020B0609020204030204" pitchFamily="49" charset="0"/>
                          <a:ea typeface="Alibaba PuHuiTi R"/>
                        </a:rPr>
                        <a:t>, </a:t>
                      </a:r>
                      <a:r>
                        <a:rPr lang="zh-CN" altLang="en-US" sz="1200" b="0" dirty="0">
                          <a:solidFill>
                            <a:schemeClr val="tx1">
                              <a:lumMod val="95000"/>
                              <a:lumOff val="5000"/>
                            </a:schemeClr>
                          </a:solidFill>
                          <a:latin typeface="Consolas" panose="020B0609020204030204" pitchFamily="49" charset="0"/>
                          <a:ea typeface="Alibaba PuHuiTi R"/>
                        </a:rPr>
                        <a:t>放到传入的数组</a:t>
                      </a:r>
                      <a:endParaRPr lang="en-US" altLang="zh-CN" sz="1200" b="0" dirty="0">
                        <a:solidFill>
                          <a:schemeClr val="tx1">
                            <a:lumMod val="95000"/>
                            <a:lumOff val="5000"/>
                          </a:schemeClr>
                        </a:solidFill>
                        <a:latin typeface="Consolas" panose="020B0609020204030204" pitchFamily="49" charset="0"/>
                        <a:ea typeface="Alibaba PuHuiTi R"/>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200" b="0" dirty="0">
                          <a:solidFill>
                            <a:schemeClr val="tx1">
                              <a:lumMod val="95000"/>
                              <a:lumOff val="5000"/>
                            </a:schemeClr>
                          </a:solidFill>
                          <a:latin typeface="Consolas" panose="020B0609020204030204" pitchFamily="49" charset="0"/>
                          <a:ea typeface="Alibaba PuHuiTi R"/>
                        </a:rPr>
                        <a:t>返回读取到的有效字节个数</a:t>
                      </a:r>
                      <a:endParaRPr lang="en-US" altLang="zh-CN" sz="1200" b="0" dirty="0">
                        <a:solidFill>
                          <a:schemeClr val="tx1">
                            <a:lumMod val="95000"/>
                            <a:lumOff val="5000"/>
                          </a:schemeClr>
                        </a:solidFill>
                        <a:latin typeface="Consolas" panose="020B0609020204030204" pitchFamily="49" charset="0"/>
                        <a:ea typeface="Alibaba PuHuiTi R"/>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200" dirty="0">
                          <a:latin typeface="Consolas" panose="020B0609020204030204" pitchFamily="49" charset="0"/>
                          <a:ea typeface="Alibaba PuHuiTi R"/>
                        </a:rPr>
                        <a:t>如果到达文件结尾则返回 </a:t>
                      </a:r>
                      <a:r>
                        <a:rPr lang="en-US" altLang="zh-CN" sz="1200" dirty="0">
                          <a:latin typeface="Consolas" panose="020B0609020204030204" pitchFamily="49" charset="0"/>
                          <a:ea typeface="Alibaba PuHuiTi R"/>
                        </a:rPr>
                        <a:t>-1</a:t>
                      </a:r>
                      <a:endParaRPr lang="en-US" altLang="zh-CN" sz="12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400720702"/>
                  </a:ext>
                </a:extLst>
              </a:tr>
            </a:tbl>
          </a:graphicData>
        </a:graphic>
      </p:graphicFrame>
      <p:sp>
        <p:nvSpPr>
          <p:cNvPr id="5" name="标题 1">
            <a:extLst>
              <a:ext uri="{FF2B5EF4-FFF2-40B4-BE49-F238E27FC236}">
                <a16:creationId xmlns:a16="http://schemas.microsoft.com/office/drawing/2014/main" id="{74A61596-6106-4184-B533-2DA5877DF030}"/>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b="0" kern="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D7F1AF44-8F73-496C-B77B-DC5A0AF62DEE}"/>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2231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dirty="0">
              <a:ea typeface="宋体" panose="02010600030101010101" pitchFamily="2" charset="-122"/>
              <a:cs typeface="Times New Roman" panose="02020603050405020304" pitchFamily="18" charset="0"/>
            </a:endParaRPr>
          </a:p>
        </p:txBody>
      </p:sp>
      <p:sp>
        <p:nvSpPr>
          <p:cNvPr id="102403" name="内容占位符 2"/>
          <p:cNvSpPr>
            <a:spLocks noGrp="1"/>
          </p:cNvSpPr>
          <p:nvPr>
            <p:ph idx="1"/>
          </p:nvPr>
        </p:nvSpPr>
        <p:spPr/>
        <p:txBody>
          <a:bodyPr/>
          <a:lstStyle/>
          <a:p>
            <a:pPr>
              <a:lnSpc>
                <a:spcPct val="12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过滤流</a:t>
            </a:r>
          </a:p>
          <a:p>
            <a:pPr lvl="1">
              <a:lnSpc>
                <a:spcPct val="120000"/>
              </a:lnSpc>
            </a:pPr>
            <a:r>
              <a:rPr lang="zh-CN" altLang="en-US" b="0" dirty="0">
                <a:ea typeface="黑体" panose="02010609060101010101" pitchFamily="49" charset="-122"/>
                <a:cs typeface="Times New Roman" panose="02020603050405020304" pitchFamily="18" charset="0"/>
              </a:rPr>
              <a:t>读或写的同时对数据进行处理</a:t>
            </a:r>
            <a:endParaRPr lang="en-US" altLang="zh-CN" b="0" dirty="0">
              <a:ea typeface="黑体" panose="02010609060101010101" pitchFamily="49" charset="-122"/>
              <a:cs typeface="Times New Roman" panose="02020603050405020304" pitchFamily="18" charset="0"/>
            </a:endParaRPr>
          </a:p>
          <a:p>
            <a:pPr lvl="1">
              <a:lnSpc>
                <a:spcPct val="120000"/>
              </a:lnSpc>
            </a:pPr>
            <a:r>
              <a:rPr lang="zh-CN" altLang="en-US" b="0" dirty="0">
                <a:ea typeface="黑体" panose="02010609060101010101" pitchFamily="49" charset="-122"/>
                <a:cs typeface="Times New Roman" panose="02020603050405020304" pitchFamily="18" charset="0"/>
              </a:rPr>
              <a:t>通过另外一个流来构造一个过滤流</a:t>
            </a:r>
            <a:endParaRPr lang="en-US" altLang="zh-CN" b="0" dirty="0">
              <a:ea typeface="黑体" panose="02010609060101010101" pitchFamily="49" charset="-122"/>
              <a:cs typeface="Times New Roman" panose="02020603050405020304" pitchFamily="18" charset="0"/>
            </a:endParaRPr>
          </a:p>
          <a:p>
            <a:pPr lvl="1">
              <a:lnSpc>
                <a:spcPct val="120000"/>
              </a:lnSpc>
            </a:pPr>
            <a:r>
              <a:rPr lang="zh-CN" altLang="en-US" b="0" dirty="0">
                <a:ea typeface="黑体" panose="02010609060101010101" pitchFamily="49" charset="-122"/>
                <a:cs typeface="Times New Roman" panose="02020603050405020304" pitchFamily="18" charset="0"/>
              </a:rPr>
              <a:t>大部分</a:t>
            </a:r>
            <a:r>
              <a:rPr lang="en-US" altLang="zh-CN" b="0" dirty="0">
                <a:ea typeface="黑体" panose="02010609060101010101" pitchFamily="49" charset="-122"/>
                <a:cs typeface="Times New Roman" panose="02020603050405020304" pitchFamily="18" charset="0"/>
              </a:rPr>
              <a:t>java.io </a:t>
            </a:r>
            <a:r>
              <a:rPr lang="zh-CN" altLang="en-US" b="0" dirty="0">
                <a:ea typeface="黑体" panose="02010609060101010101" pitchFamily="49" charset="-122"/>
                <a:cs typeface="Times New Roman" panose="02020603050405020304" pitchFamily="18" charset="0"/>
              </a:rPr>
              <a:t>包所提供过滤流都是</a:t>
            </a:r>
            <a:r>
              <a:rPr lang="en-US" altLang="zh-CN" b="0" dirty="0" err="1">
                <a:solidFill>
                  <a:srgbClr val="0000FF"/>
                </a:solidFill>
                <a:ea typeface="黑体" panose="02010609060101010101" pitchFamily="49" charset="-122"/>
                <a:cs typeface="Times New Roman" panose="02020603050405020304" pitchFamily="18" charset="0"/>
              </a:rPr>
              <a:t>FilterInputStream</a:t>
            </a:r>
            <a:r>
              <a:rPr lang="zh-CN" altLang="en-US" b="0" dirty="0">
                <a:ea typeface="黑体" panose="02010609060101010101" pitchFamily="49" charset="-122"/>
                <a:cs typeface="Times New Roman" panose="02020603050405020304" pitchFamily="18" charset="0"/>
              </a:rPr>
              <a:t>和</a:t>
            </a:r>
            <a:r>
              <a:rPr lang="en-US" altLang="zh-CN" b="0" dirty="0" err="1">
                <a:solidFill>
                  <a:srgbClr val="0000FF"/>
                </a:solidFill>
                <a:ea typeface="黑体" panose="02010609060101010101" pitchFamily="49" charset="-122"/>
                <a:cs typeface="Times New Roman" panose="02020603050405020304" pitchFamily="18" charset="0"/>
              </a:rPr>
              <a:t>FilterOutputStream</a:t>
            </a:r>
            <a:r>
              <a:rPr lang="zh-CN" altLang="en-US" b="0" dirty="0">
                <a:ea typeface="黑体" panose="02010609060101010101" pitchFamily="49" charset="-122"/>
                <a:cs typeface="Times New Roman" panose="02020603050405020304" pitchFamily="18" charset="0"/>
              </a:rPr>
              <a:t>的子类</a:t>
            </a:r>
          </a:p>
          <a:p>
            <a:pPr lvl="2">
              <a:lnSpc>
                <a:spcPct val="120000"/>
              </a:lnSpc>
            </a:pP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DataInputStream</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 </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DataOutputStream</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p>
          <a:p>
            <a:pPr lvl="2">
              <a:lnSpc>
                <a:spcPct val="120000"/>
              </a:lnSpc>
            </a:pP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BufferedInputStream</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 </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BufferedOutputStream</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p>
          <a:p>
            <a:pPr lvl="2">
              <a:lnSpc>
                <a:spcPct val="120000"/>
              </a:lnSpc>
            </a:pP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LineNumberInputStream</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已弃用</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20000"/>
              </a:lnSpc>
            </a:pP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PushbackInputStream</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p>
          <a:p>
            <a:pPr lvl="2">
              <a:lnSpc>
                <a:spcPct val="120000"/>
              </a:lnSpc>
            </a:pP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PrintStream</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dirty="0">
              <a:ea typeface="宋体" panose="02010600030101010101" pitchFamily="2" charset="-122"/>
              <a:cs typeface="Times New Roman" panose="02020603050405020304" pitchFamily="18" charset="0"/>
            </a:endParaRPr>
          </a:p>
        </p:txBody>
      </p:sp>
      <p:sp>
        <p:nvSpPr>
          <p:cNvPr id="103427" name="内容占位符 2"/>
          <p:cNvSpPr>
            <a:spLocks noGrp="1"/>
          </p:cNvSpPr>
          <p:nvPr>
            <p:ph idx="1"/>
          </p:nvPr>
        </p:nvSpPr>
        <p:spPr>
          <a:xfrm>
            <a:off x="468313" y="981075"/>
            <a:ext cx="7704087" cy="5184775"/>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读取例</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WriteByteFileEx</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类创建的数据文件中的3个</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int</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型数字，显示相加结果</a:t>
            </a:r>
          </a:p>
          <a:p>
            <a:endParaRPr lang="zh-CN" altLang="en-US" dirty="0">
              <a:ea typeface="宋体" panose="02010600030101010101" pitchFamily="2" charset="-122"/>
            </a:endParaRPr>
          </a:p>
        </p:txBody>
      </p:sp>
      <p:sp>
        <p:nvSpPr>
          <p:cNvPr id="103428" name="Rectangle 3"/>
          <p:cNvSpPr txBox="1">
            <a:spLocks noChangeArrowheads="1"/>
          </p:cNvSpPr>
          <p:nvPr/>
        </p:nvSpPr>
        <p:spPr bwMode="auto">
          <a:xfrm>
            <a:off x="143643" y="1772816"/>
            <a:ext cx="8353425" cy="504031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import java.io.*;</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class </a:t>
            </a:r>
            <a:r>
              <a:rPr lang="en-US" altLang="zh-CN" sz="2000" dirty="0" err="1">
                <a:latin typeface="Times New Roman" panose="02020603050405020304" pitchFamily="18" charset="0"/>
                <a:cs typeface="Times New Roman" panose="02020603050405020304" pitchFamily="18" charset="0"/>
              </a:rPr>
              <a:t>ReadByteFileEx</a:t>
            </a:r>
            <a:r>
              <a:rPr lang="en-US" altLang="zh-CN" sz="2000"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public static void main ( String[] </a:t>
            </a:r>
            <a:r>
              <a:rPr lang="en-US" altLang="zh-CN" sz="2000" dirty="0" err="1">
                <a:latin typeface="Times New Roman" panose="02020603050405020304" pitchFamily="18" charset="0"/>
                <a:cs typeface="Times New Roman" panose="02020603050405020304" pitchFamily="18" charset="0"/>
              </a:rPr>
              <a:t>args</a:t>
            </a:r>
            <a:r>
              <a:rPr lang="en-US" altLang="zh-CN" sz="2000"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String </a:t>
            </a:r>
            <a:r>
              <a:rPr lang="en-US" altLang="zh-CN" sz="2000" dirty="0" err="1">
                <a:latin typeface="Times New Roman" panose="02020603050405020304" pitchFamily="18" charset="0"/>
                <a:cs typeface="Times New Roman" panose="02020603050405020304" pitchFamily="18" charset="0"/>
              </a:rPr>
              <a:t>fileName</a:t>
            </a:r>
            <a:r>
              <a:rPr lang="en-US" altLang="zh-CN" sz="2000" dirty="0">
                <a:latin typeface="Times New Roman" panose="02020603050405020304" pitchFamily="18" charset="0"/>
                <a:cs typeface="Times New Roman" panose="02020603050405020304" pitchFamily="18" charset="0"/>
              </a:rPr>
              <a:t> = "c:/data1.dat";</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int</a:t>
            </a:r>
            <a:r>
              <a:rPr lang="en-US" altLang="zh-CN" sz="2000" dirty="0">
                <a:latin typeface="Times New Roman" panose="02020603050405020304" pitchFamily="18" charset="0"/>
                <a:cs typeface="Times New Roman" panose="02020603050405020304" pitchFamily="18" charset="0"/>
              </a:rPr>
              <a:t> sum = 0;</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try {  </a:t>
            </a:r>
            <a:r>
              <a:rPr lang="en-US" altLang="zh-CN" sz="2000" dirty="0" err="1">
                <a:latin typeface="Times New Roman" panose="02020603050405020304" pitchFamily="18" charset="0"/>
                <a:cs typeface="Times New Roman" panose="02020603050405020304" pitchFamily="18" charset="0"/>
              </a:rPr>
              <a:t>DataInputStream</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instr</a:t>
            </a:r>
            <a:r>
              <a:rPr lang="en-US" altLang="zh-CN" sz="2000" dirty="0">
                <a:latin typeface="Times New Roman" panose="02020603050405020304" pitchFamily="18" charset="0"/>
                <a:cs typeface="Times New Roman" panose="02020603050405020304" pitchFamily="18" charset="0"/>
              </a:rPr>
              <a:t> = new </a:t>
            </a:r>
            <a:r>
              <a:rPr lang="en-US" altLang="zh-CN" sz="2000" dirty="0" err="1">
                <a:latin typeface="Times New Roman" panose="02020603050405020304" pitchFamily="18" charset="0"/>
                <a:cs typeface="Times New Roman" panose="02020603050405020304" pitchFamily="18" charset="0"/>
              </a:rPr>
              <a:t>DataInputStream</a:t>
            </a:r>
            <a:r>
              <a:rPr lang="en-US" altLang="zh-CN" sz="2000"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new </a:t>
            </a:r>
            <a:r>
              <a:rPr lang="en-US" altLang="zh-CN" sz="2000" dirty="0" err="1">
                <a:latin typeface="Times New Roman" panose="02020603050405020304" pitchFamily="18" charset="0"/>
                <a:cs typeface="Times New Roman" panose="02020603050405020304" pitchFamily="18" charset="0"/>
              </a:rPr>
              <a:t>BufferedInputStream</a:t>
            </a:r>
            <a:r>
              <a:rPr lang="en-US" altLang="zh-CN" sz="2000" dirty="0">
                <a:latin typeface="Times New Roman" panose="02020603050405020304" pitchFamily="18" charset="0"/>
                <a:cs typeface="Times New Roman" panose="02020603050405020304" pitchFamily="18" charset="0"/>
              </a:rPr>
              <a:t>(new </a:t>
            </a:r>
            <a:r>
              <a:rPr lang="en-US" altLang="zh-CN" sz="2000" dirty="0" err="1">
                <a:latin typeface="Times New Roman" panose="02020603050405020304" pitchFamily="18" charset="0"/>
                <a:cs typeface="Times New Roman" panose="02020603050405020304" pitchFamily="18" charset="0"/>
              </a:rPr>
              <a:t>FileInputStream</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fileName</a:t>
            </a:r>
            <a:r>
              <a:rPr lang="en-US" altLang="zh-CN" sz="2000"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sum += </a:t>
            </a:r>
            <a:r>
              <a:rPr lang="en-US" altLang="zh-CN" sz="2000" dirty="0" err="1">
                <a:solidFill>
                  <a:srgbClr val="0000FF"/>
                </a:solidFill>
                <a:latin typeface="Times New Roman" panose="02020603050405020304" pitchFamily="18" charset="0"/>
                <a:cs typeface="Times New Roman" panose="02020603050405020304" pitchFamily="18" charset="0"/>
              </a:rPr>
              <a:t>instr.readInt</a:t>
            </a:r>
            <a:r>
              <a:rPr lang="en-US" altLang="zh-CN" sz="2000"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sum += </a:t>
            </a:r>
            <a:r>
              <a:rPr lang="en-US" altLang="zh-CN" sz="2000" dirty="0" err="1">
                <a:solidFill>
                  <a:srgbClr val="0000FF"/>
                </a:solidFill>
                <a:latin typeface="Times New Roman" panose="02020603050405020304" pitchFamily="18" charset="0"/>
                <a:cs typeface="Times New Roman" panose="02020603050405020304" pitchFamily="18" charset="0"/>
              </a:rPr>
              <a:t>instr.readInt</a:t>
            </a:r>
            <a:r>
              <a:rPr lang="en-US" altLang="zh-CN" sz="2000" dirty="0">
                <a:solidFill>
                  <a:srgbClr val="0000FF"/>
                </a:solidFill>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sum += </a:t>
            </a:r>
            <a:r>
              <a:rPr lang="en-US" altLang="zh-CN" sz="2000" dirty="0" err="1">
                <a:solidFill>
                  <a:srgbClr val="0000FF"/>
                </a:solidFill>
                <a:latin typeface="Times New Roman" panose="02020603050405020304" pitchFamily="18" charset="0"/>
                <a:cs typeface="Times New Roman" panose="02020603050405020304" pitchFamily="18" charset="0"/>
              </a:rPr>
              <a:t>instr.readInt</a:t>
            </a:r>
            <a:r>
              <a:rPr lang="en-US" altLang="zh-CN" sz="2000"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System.out.println</a:t>
            </a:r>
            <a:r>
              <a:rPr lang="en-US" altLang="zh-CN" sz="2000" dirty="0">
                <a:latin typeface="Times New Roman" panose="02020603050405020304" pitchFamily="18" charset="0"/>
                <a:cs typeface="Times New Roman" panose="02020603050405020304" pitchFamily="18" charset="0"/>
              </a:rPr>
              <a:t>( "The sum is: " + sum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instr.close</a:t>
            </a:r>
            <a:r>
              <a:rPr lang="en-US" altLang="zh-CN" sz="2000"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catch ( </a:t>
            </a:r>
            <a:r>
              <a:rPr lang="en-US" altLang="zh-CN" sz="2000" dirty="0" err="1">
                <a:latin typeface="Times New Roman" panose="02020603050405020304" pitchFamily="18" charset="0"/>
                <a:cs typeface="Times New Roman" panose="02020603050405020304" pitchFamily="18" charset="0"/>
              </a:rPr>
              <a:t>IOException</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iox</a:t>
            </a:r>
            <a:r>
              <a:rPr lang="en-US" altLang="zh-CN" sz="2000"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System.out.println</a:t>
            </a:r>
            <a:r>
              <a:rPr lang="en-US" altLang="zh-CN" sz="2000" dirty="0">
                <a:latin typeface="Times New Roman" panose="02020603050405020304" pitchFamily="18" charset="0"/>
                <a:cs typeface="Times New Roman" panose="02020603050405020304" pitchFamily="18" charset="0"/>
              </a:rPr>
              <a:t>("Problem reading " + </a:t>
            </a:r>
            <a:r>
              <a:rPr lang="en-US" altLang="zh-CN" sz="2000" dirty="0" err="1">
                <a:latin typeface="Times New Roman" panose="02020603050405020304" pitchFamily="18" charset="0"/>
                <a:cs typeface="Times New Roman" panose="02020603050405020304" pitchFamily="18" charset="0"/>
              </a:rPr>
              <a:t>fileName</a:t>
            </a:r>
            <a:r>
              <a:rPr lang="en-US" altLang="zh-CN" sz="2000" dirty="0">
                <a:latin typeface="Times New Roman" panose="02020603050405020304" pitchFamily="18" charset="0"/>
                <a:cs typeface="Times New Roman" panose="02020603050405020304" pitchFamily="18" charset="0"/>
              </a:rPr>
              <a:t> ); }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dirty="0">
                <a:latin typeface="Times New Roman" panose="02020603050405020304" pitchFamily="18" charset="0"/>
                <a:cs typeface="Times New Roman" panose="02020603050405020304" pitchFamily="18" charset="0"/>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dirty="0">
              <a:ea typeface="宋体" panose="02010600030101010101" pitchFamily="2" charset="-122"/>
            </a:endParaRPr>
          </a:p>
        </p:txBody>
      </p:sp>
      <p:sp>
        <p:nvSpPr>
          <p:cNvPr id="104451" name="内容占位符 2"/>
          <p:cNvSpPr>
            <a:spLocks noGrp="1"/>
          </p:cNvSpPr>
          <p:nvPr>
            <p:ph idx="1"/>
          </p:nvPr>
        </p:nvSpPr>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该程序显示结果是</a:t>
            </a:r>
            <a:r>
              <a:rPr lang="zh-CN" altLang="en-US" sz="2400"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254</a:t>
            </a:r>
          </a:p>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分析</a:t>
            </a:r>
          </a:p>
          <a:p>
            <a:pPr lvl="1"/>
            <a:r>
              <a:rPr lang="en-US" altLang="zh-CN" b="0" dirty="0" err="1">
                <a:ea typeface="黑体" panose="02010609060101010101" pitchFamily="49" charset="-122"/>
                <a:cs typeface="Times New Roman" panose="02020603050405020304" pitchFamily="18" charset="0"/>
              </a:rPr>
              <a:t>readInt</a:t>
            </a:r>
            <a:r>
              <a:rPr lang="zh-CN" altLang="en-US" b="0" dirty="0">
                <a:ea typeface="黑体" panose="02010609060101010101" pitchFamily="49" charset="-122"/>
                <a:cs typeface="Times New Roman" panose="02020603050405020304" pitchFamily="18" charset="0"/>
              </a:rPr>
              <a:t>方法可以从输入流中读入4个字节并将其当作</a:t>
            </a:r>
            <a:r>
              <a:rPr lang="en-US" altLang="zh-CN" b="0" dirty="0" err="1">
                <a:ea typeface="黑体" panose="02010609060101010101" pitchFamily="49" charset="-122"/>
                <a:cs typeface="Times New Roman" panose="02020603050405020304" pitchFamily="18" charset="0"/>
              </a:rPr>
              <a:t>int</a:t>
            </a:r>
            <a:r>
              <a:rPr lang="zh-CN" altLang="en-US" b="0" dirty="0">
                <a:ea typeface="黑体" panose="02010609060101010101" pitchFamily="49" charset="-122"/>
                <a:cs typeface="Times New Roman" panose="02020603050405020304" pitchFamily="18" charset="0"/>
              </a:rPr>
              <a:t>型数据</a:t>
            </a:r>
          </a:p>
          <a:p>
            <a:pPr lvl="1"/>
            <a:r>
              <a:rPr lang="zh-CN" altLang="en-US" b="0" dirty="0">
                <a:ea typeface="黑体" panose="02010609060101010101" pitchFamily="49" charset="-122"/>
                <a:cs typeface="Times New Roman" panose="02020603050405020304" pitchFamily="18" charset="0"/>
              </a:rPr>
              <a:t>由于知道文件中存储的是3个</a:t>
            </a:r>
            <a:r>
              <a:rPr lang="en-US" altLang="zh-CN" b="0" dirty="0" err="1">
                <a:ea typeface="黑体" panose="02010609060101010101" pitchFamily="49" charset="-122"/>
                <a:cs typeface="Times New Roman" panose="02020603050405020304" pitchFamily="18" charset="0"/>
              </a:rPr>
              <a:t>int</a:t>
            </a:r>
            <a:r>
              <a:rPr lang="zh-CN" altLang="en-US" b="0" dirty="0">
                <a:ea typeface="黑体" panose="02010609060101010101" pitchFamily="49" charset="-122"/>
                <a:cs typeface="Times New Roman" panose="02020603050405020304" pitchFamily="18" charset="0"/>
              </a:rPr>
              <a:t>型数据，所以使用了3个读入语句</a:t>
            </a:r>
          </a:p>
          <a:p>
            <a:pPr lvl="1"/>
            <a:r>
              <a:rPr lang="zh-CN" altLang="en-US" b="0" dirty="0">
                <a:ea typeface="黑体" panose="02010609060101010101" pitchFamily="49" charset="-122"/>
                <a:cs typeface="Times New Roman" panose="02020603050405020304" pitchFamily="18" charset="0"/>
              </a:rPr>
              <a:t>如果不知道数据的个数该怎么办呢？</a:t>
            </a:r>
            <a:endParaRPr lang="en-US" altLang="zh-CN" b="0" dirty="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因为</a:t>
            </a:r>
            <a:r>
              <a:rPr lang="en-US" altLang="zh-CN" b="0" dirty="0" err="1">
                <a:ea typeface="黑体" panose="02010609060101010101" pitchFamily="49" charset="-122"/>
                <a:cs typeface="Times New Roman" panose="02020603050405020304" pitchFamily="18" charset="0"/>
              </a:rPr>
              <a:t>DataInputStream</a:t>
            </a:r>
            <a:r>
              <a:rPr lang="zh-CN" altLang="en-US" b="0" dirty="0">
                <a:ea typeface="黑体" panose="02010609060101010101" pitchFamily="49" charset="-122"/>
                <a:cs typeface="Times New Roman" panose="02020603050405020304" pitchFamily="18" charset="0"/>
              </a:rPr>
              <a:t>的读入操作如遇到文件结尾就会抛出</a:t>
            </a:r>
            <a:r>
              <a:rPr lang="en-US" altLang="zh-CN" b="0" dirty="0" err="1">
                <a:ea typeface="黑体" panose="02010609060101010101" pitchFamily="49" charset="-122"/>
                <a:cs typeface="Times New Roman" panose="02020603050405020304" pitchFamily="18" charset="0"/>
              </a:rPr>
              <a:t>EOFException</a:t>
            </a:r>
            <a:r>
              <a:rPr lang="zh-CN" altLang="en-US" b="0" dirty="0">
                <a:ea typeface="黑体" panose="02010609060101010101" pitchFamily="49" charset="-122"/>
                <a:cs typeface="Times New Roman" panose="02020603050405020304" pitchFamily="18" charset="0"/>
              </a:rPr>
              <a:t>异常，所以我们可以将读操作放入</a:t>
            </a:r>
            <a:r>
              <a:rPr lang="en-US" altLang="zh-CN" b="0" dirty="0">
                <a:ea typeface="黑体" panose="02010609060101010101" pitchFamily="49" charset="-122"/>
                <a:cs typeface="Times New Roman" panose="02020603050405020304" pitchFamily="18" charset="0"/>
              </a:rPr>
              <a:t>try</a:t>
            </a:r>
            <a:r>
              <a:rPr lang="zh-CN" altLang="en-US" b="0" dirty="0">
                <a:ea typeface="黑体" panose="02010609060101010101" pitchFamily="49" charset="-122"/>
                <a:cs typeface="Times New Roman" panose="02020603050405020304" pitchFamily="18" charset="0"/>
              </a:rPr>
              <a:t>块中。</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dirty="0">
              <a:ea typeface="宋体" panose="02010600030101010101" pitchFamily="2" charset="-122"/>
              <a:cs typeface="Times New Roman" panose="02020603050405020304" pitchFamily="18" charset="0"/>
            </a:endParaRPr>
          </a:p>
        </p:txBody>
      </p:sp>
      <p:sp>
        <p:nvSpPr>
          <p:cNvPr id="105475" name="内容占位符 2"/>
          <p:cNvSpPr>
            <a:spLocks noGrp="1"/>
          </p:cNvSpPr>
          <p:nvPr>
            <p:ph idx="1"/>
          </p:nvPr>
        </p:nvSpPr>
        <p:spPr>
          <a:xfrm>
            <a:off x="468313" y="981075"/>
            <a:ext cx="8229600" cy="1439813"/>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修改</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ReadByteFileEx</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类</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将读操作放入</a:t>
            </a:r>
            <a:r>
              <a:rPr lang="en-US" altLang="zh-CN" b="0" dirty="0">
                <a:ea typeface="黑体" panose="02010609060101010101" pitchFamily="49" charset="-122"/>
                <a:cs typeface="Times New Roman" panose="02020603050405020304" pitchFamily="18" charset="0"/>
              </a:rPr>
              <a:t>try</a:t>
            </a:r>
            <a:r>
              <a:rPr lang="zh-CN" altLang="en-US" b="0" dirty="0">
                <a:ea typeface="黑体" panose="02010609060101010101" pitchFamily="49" charset="-122"/>
                <a:cs typeface="Times New Roman" panose="02020603050405020304" pitchFamily="18" charset="0"/>
              </a:rPr>
              <a:t>块中，使遇到文件结尾就会抛出</a:t>
            </a:r>
            <a:r>
              <a:rPr lang="en-US" altLang="zh-CN" b="0" dirty="0" err="1">
                <a:ea typeface="黑体" panose="02010609060101010101" pitchFamily="49" charset="-122"/>
                <a:cs typeface="Times New Roman" panose="02020603050405020304" pitchFamily="18" charset="0"/>
              </a:rPr>
              <a:t>EOFException</a:t>
            </a:r>
            <a:r>
              <a:rPr lang="zh-CN" altLang="en-US" b="0" dirty="0">
                <a:ea typeface="黑体" panose="02010609060101010101" pitchFamily="49" charset="-122"/>
                <a:cs typeface="Times New Roman" panose="02020603050405020304" pitchFamily="18" charset="0"/>
              </a:rPr>
              <a:t>异常，进入到相应的</a:t>
            </a:r>
            <a:r>
              <a:rPr lang="en-US" altLang="zh-CN" b="0" dirty="0">
                <a:ea typeface="黑体" panose="02010609060101010101" pitchFamily="49" charset="-122"/>
                <a:cs typeface="Times New Roman" panose="02020603050405020304" pitchFamily="18" charset="0"/>
              </a:rPr>
              <a:t>catch</a:t>
            </a:r>
            <a:r>
              <a:rPr lang="zh-CN" altLang="en-US" b="0" dirty="0">
                <a:ea typeface="黑体" panose="02010609060101010101" pitchFamily="49" charset="-122"/>
                <a:cs typeface="Times New Roman" panose="02020603050405020304" pitchFamily="18" charset="0"/>
              </a:rPr>
              <a:t>块中</a:t>
            </a:r>
          </a:p>
          <a:p>
            <a:endParaRPr lang="zh-CN" altLang="en-US" dirty="0">
              <a:ea typeface="宋体" panose="02010600030101010101" pitchFamily="2" charset="-122"/>
            </a:endParaRPr>
          </a:p>
        </p:txBody>
      </p:sp>
      <p:sp>
        <p:nvSpPr>
          <p:cNvPr id="105476" name="Rectangle 3"/>
          <p:cNvSpPr txBox="1">
            <a:spLocks noChangeArrowheads="1"/>
          </p:cNvSpPr>
          <p:nvPr/>
        </p:nvSpPr>
        <p:spPr bwMode="auto">
          <a:xfrm>
            <a:off x="395288" y="2565400"/>
            <a:ext cx="8353425" cy="3311525"/>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try</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        while ( true )  </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              sum += instr.readInt();</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catch ( EOFException  eof )</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        System.out.println( "The sum is: " + sum );</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        instr.close();</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dirty="0">
              <a:ea typeface="宋体" panose="02010600030101010101" pitchFamily="2" charset="-122"/>
              <a:cs typeface="Times New Roman" panose="02020603050405020304" pitchFamily="18" charset="0"/>
            </a:endParaRPr>
          </a:p>
        </p:txBody>
      </p:sp>
      <p:sp>
        <p:nvSpPr>
          <p:cNvPr id="106499" name="内容占位符 2"/>
          <p:cNvSpPr>
            <a:spLocks noGrp="1"/>
          </p:cNvSpPr>
          <p:nvPr>
            <p:ph idx="1"/>
          </p:nvPr>
        </p:nvSpPr>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继续修改</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ReadByteFileEx</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类</a:t>
            </a:r>
            <a:endParaRPr lang="en-US" altLang="zh-CN" sz="2400"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b="0" dirty="0">
                <a:ea typeface="黑体" panose="02010609060101010101" pitchFamily="49" charset="-122"/>
                <a:cs typeface="Times New Roman" panose="02020603050405020304" pitchFamily="18" charset="0"/>
              </a:rPr>
              <a:t>如果没有读到结尾，在读取过程中发生的异常属于</a:t>
            </a:r>
            <a:r>
              <a:rPr lang="en-US" altLang="zh-CN" b="0" dirty="0" err="1">
                <a:solidFill>
                  <a:srgbClr val="FF0000"/>
                </a:solidFill>
                <a:ea typeface="黑体" panose="02010609060101010101" pitchFamily="49" charset="-122"/>
                <a:cs typeface="Times New Roman" panose="02020603050405020304" pitchFamily="18" charset="0"/>
              </a:rPr>
              <a:t>IOException</a:t>
            </a:r>
            <a:r>
              <a:rPr lang="en-US" altLang="zh-CN" b="0" dirty="0">
                <a:ea typeface="黑体" panose="02010609060101010101" pitchFamily="49" charset="-122"/>
                <a:cs typeface="Times New Roman" panose="02020603050405020304" pitchFamily="18" charset="0"/>
              </a:rPr>
              <a:t>，</a:t>
            </a:r>
            <a:r>
              <a:rPr lang="zh-CN" altLang="en-US" b="0" dirty="0">
                <a:ea typeface="黑体" panose="02010609060101010101" pitchFamily="49" charset="-122"/>
                <a:cs typeface="Times New Roman" panose="02020603050405020304" pitchFamily="18" charset="0"/>
              </a:rPr>
              <a:t>这样就需要我们再加一个</a:t>
            </a:r>
            <a:r>
              <a:rPr lang="en-US" altLang="zh-CN" b="0" dirty="0">
                <a:ea typeface="黑体" panose="02010609060101010101" pitchFamily="49" charset="-122"/>
                <a:cs typeface="Times New Roman" panose="02020603050405020304" pitchFamily="18" charset="0"/>
              </a:rPr>
              <a:t>catch</a:t>
            </a:r>
            <a:r>
              <a:rPr lang="zh-CN" altLang="en-US" b="0" dirty="0">
                <a:ea typeface="黑体" panose="02010609060101010101" pitchFamily="49" charset="-122"/>
                <a:cs typeface="Times New Roman" panose="02020603050405020304" pitchFamily="18" charset="0"/>
              </a:rPr>
              <a:t>块处理这种异常</a:t>
            </a:r>
          </a:p>
          <a:p>
            <a:pPr lvl="1"/>
            <a:r>
              <a:rPr lang="zh-CN" altLang="en-US" b="0" dirty="0">
                <a:ea typeface="黑体" panose="02010609060101010101" pitchFamily="49" charset="-122"/>
                <a:cs typeface="Times New Roman" panose="02020603050405020304" pitchFamily="18" charset="0"/>
              </a:rPr>
              <a:t>一个</a:t>
            </a:r>
            <a:r>
              <a:rPr lang="en-US" altLang="zh-CN" b="0" dirty="0">
                <a:ea typeface="黑体" panose="02010609060101010101" pitchFamily="49" charset="-122"/>
                <a:cs typeface="Times New Roman" panose="02020603050405020304" pitchFamily="18" charset="0"/>
              </a:rPr>
              <a:t>try</a:t>
            </a:r>
            <a:r>
              <a:rPr lang="zh-CN" altLang="en-US" b="0" dirty="0">
                <a:ea typeface="黑体" panose="02010609060101010101" pitchFamily="49" charset="-122"/>
                <a:cs typeface="Times New Roman" panose="02020603050405020304" pitchFamily="18" charset="0"/>
              </a:rPr>
              <a:t>块后面可以跟不止一个</a:t>
            </a:r>
            <a:r>
              <a:rPr lang="en-US" altLang="zh-CN" b="0" dirty="0">
                <a:ea typeface="黑体" panose="02010609060101010101" pitchFamily="49" charset="-122"/>
                <a:cs typeface="Times New Roman" panose="02020603050405020304" pitchFamily="18" charset="0"/>
              </a:rPr>
              <a:t>catch</a:t>
            </a:r>
            <a:r>
              <a:rPr lang="zh-CN" altLang="en-US" b="0" dirty="0">
                <a:ea typeface="黑体" panose="02010609060101010101" pitchFamily="49" charset="-122"/>
                <a:cs typeface="Times New Roman" panose="02020603050405020304" pitchFamily="18" charset="0"/>
              </a:rPr>
              <a:t>块，用于处理各种可能发生的异常</a:t>
            </a:r>
          </a:p>
          <a:p>
            <a:pPr lvl="1"/>
            <a:r>
              <a:rPr lang="zh-CN" altLang="en-US" b="0" dirty="0">
                <a:ea typeface="黑体" panose="02010609060101010101" pitchFamily="49" charset="-122"/>
                <a:cs typeface="Times New Roman" panose="02020603050405020304" pitchFamily="18" charset="0"/>
              </a:rPr>
              <a:t>我们可以在上段代码后再加上用于捕捉</a:t>
            </a:r>
            <a:r>
              <a:rPr lang="en-US" altLang="zh-CN" b="0" dirty="0" err="1">
                <a:solidFill>
                  <a:srgbClr val="FF0000"/>
                </a:solidFill>
                <a:ea typeface="黑体" panose="02010609060101010101" pitchFamily="49" charset="-122"/>
                <a:cs typeface="Times New Roman" panose="02020603050405020304" pitchFamily="18" charset="0"/>
              </a:rPr>
              <a:t>IOException</a:t>
            </a:r>
            <a:r>
              <a:rPr lang="zh-CN" altLang="en-US" b="0" dirty="0">
                <a:ea typeface="黑体" panose="02010609060101010101" pitchFamily="49" charset="-122"/>
                <a:cs typeface="Times New Roman" panose="02020603050405020304" pitchFamily="18" charset="0"/>
              </a:rPr>
              <a:t>的代码段如下</a:t>
            </a:r>
          </a:p>
        </p:txBody>
      </p:sp>
      <p:sp>
        <p:nvSpPr>
          <p:cNvPr id="106500" name="Rectangle 3"/>
          <p:cNvSpPr txBox="1">
            <a:spLocks noChangeArrowheads="1"/>
          </p:cNvSpPr>
          <p:nvPr/>
        </p:nvSpPr>
        <p:spPr bwMode="auto">
          <a:xfrm>
            <a:off x="395288" y="4365625"/>
            <a:ext cx="8353425" cy="2016125"/>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catch </a:t>
            </a:r>
            <a:r>
              <a:rPr lang="en-US" altLang="zh-CN" sz="2000" b="1">
                <a:solidFill>
                  <a:srgbClr val="FF0000"/>
                </a:solidFill>
                <a:latin typeface="Times New Roman" panose="02020603050405020304" pitchFamily="18" charset="0"/>
                <a:cs typeface="Times New Roman" panose="02020603050405020304" pitchFamily="18" charset="0"/>
              </a:rPr>
              <a:t>( IOException  eof </a:t>
            </a:r>
            <a:r>
              <a:rPr lang="en-US" altLang="zh-CN" sz="2000" b="1">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    System.out.println( "Problem reading input" );</a:t>
            </a:r>
          </a:p>
          <a:p>
            <a:pPr marL="0" lvl="1">
              <a:buClr>
                <a:schemeClr val="accent2"/>
              </a:buClr>
              <a:buSzPct val="70000"/>
            </a:pPr>
            <a:r>
              <a:rPr lang="en-US" altLang="zh-CN" sz="2000" b="1">
                <a:solidFill>
                  <a:srgbClr val="0000FF"/>
                </a:solidFill>
                <a:latin typeface="Times New Roman" panose="02020603050405020304" pitchFamily="18" charset="0"/>
                <a:cs typeface="Times New Roman" panose="02020603050405020304" pitchFamily="18" charset="0"/>
              </a:rPr>
              <a:t>    instr.close();</a:t>
            </a:r>
          </a:p>
          <a:p>
            <a:pPr marL="0" lvl="1">
              <a:buClr>
                <a:schemeClr val="accent2"/>
              </a:buClr>
              <a:buSzPct val="70000"/>
            </a:pPr>
            <a:r>
              <a:rPr lang="en-US" altLang="zh-CN" sz="2000" b="1">
                <a:latin typeface="Times New Roman" panose="02020603050405020304" pitchFamily="18" charset="0"/>
                <a:cs typeface="Times New Roman" panose="02020603050405020304" pitchFamily="18" charset="0"/>
              </a:rPr>
              <a:t> }</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读二进制文件 </a:t>
            </a:r>
            <a:endParaRPr lang="zh-CN" altLang="en-US" dirty="0">
              <a:ea typeface="宋体" panose="02010600030101010101" pitchFamily="2" charset="-122"/>
              <a:cs typeface="Times New Roman" panose="02020603050405020304" pitchFamily="18" charset="0"/>
            </a:endParaRPr>
          </a:p>
        </p:txBody>
      </p:sp>
      <p:sp>
        <p:nvSpPr>
          <p:cNvPr id="107523" name="内容占位符 2"/>
          <p:cNvSpPr>
            <a:spLocks noGrp="1"/>
          </p:cNvSpPr>
          <p:nvPr>
            <p:ph idx="1"/>
          </p:nvPr>
        </p:nvSpPr>
        <p:spPr>
          <a:xfrm>
            <a:off x="468313" y="981075"/>
            <a:ext cx="7776095" cy="5184775"/>
          </a:xfrm>
        </p:spPr>
        <p:txBody>
          <a:bodyPr/>
          <a:lstStyle/>
          <a:p>
            <a:pPr>
              <a:lnSpc>
                <a:spcPct val="16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如果</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catch</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块中的</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close</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方法也发生异常，现在就没法捕获了。解决方法可以有</a:t>
            </a:r>
          </a:p>
          <a:p>
            <a:pPr lvl="1">
              <a:lnSpc>
                <a:spcPct val="160000"/>
              </a:lnSpc>
            </a:pPr>
            <a:r>
              <a:rPr lang="zh-CN" altLang="en-US" b="0" dirty="0">
                <a:ea typeface="黑体" panose="02010609060101010101" pitchFamily="49" charset="-122"/>
                <a:cs typeface="Times New Roman" panose="02020603050405020304" pitchFamily="18" charset="0"/>
              </a:rPr>
              <a:t>在</a:t>
            </a:r>
            <a:r>
              <a:rPr lang="en-US" altLang="zh-CN" b="0" dirty="0">
                <a:ea typeface="黑体" panose="02010609060101010101" pitchFamily="49" charset="-122"/>
                <a:cs typeface="Times New Roman" panose="02020603050405020304" pitchFamily="18" charset="0"/>
              </a:rPr>
              <a:t>main</a:t>
            </a:r>
            <a:r>
              <a:rPr lang="zh-CN" altLang="en-US" b="0" dirty="0">
                <a:ea typeface="黑体" panose="02010609060101010101" pitchFamily="49" charset="-122"/>
                <a:cs typeface="Times New Roman" panose="02020603050405020304" pitchFamily="18" charset="0"/>
              </a:rPr>
              <a:t>方法中抛出异常</a:t>
            </a:r>
          </a:p>
          <a:p>
            <a:pPr lvl="2">
              <a:lnSpc>
                <a:spcPct val="16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比较简单</a:t>
            </a:r>
          </a:p>
          <a:p>
            <a:pPr lvl="2">
              <a:lnSpc>
                <a:spcPct val="16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缺点是没有</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catch</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块，因而无法对异常进行进一步处理，例如给出提示信息</a:t>
            </a:r>
          </a:p>
          <a:p>
            <a:pPr lvl="1">
              <a:lnSpc>
                <a:spcPct val="160000"/>
              </a:lnSpc>
            </a:pPr>
            <a:r>
              <a:rPr lang="zh-CN" altLang="en-US" b="0" dirty="0">
                <a:ea typeface="黑体" panose="02010609060101010101" pitchFamily="49" charset="-122"/>
                <a:cs typeface="Times New Roman" panose="02020603050405020304" pitchFamily="18" charset="0"/>
              </a:rPr>
              <a:t>使用嵌套的</a:t>
            </a:r>
            <a:r>
              <a:rPr lang="en-US" altLang="zh-CN" b="0" dirty="0">
                <a:ea typeface="黑体" panose="02010609060101010101" pitchFamily="49" charset="-122"/>
                <a:cs typeface="Times New Roman" panose="02020603050405020304" pitchFamily="18" charset="0"/>
              </a:rPr>
              <a:t>try</a:t>
            </a:r>
            <a:r>
              <a:rPr lang="zh-CN" altLang="en-US" b="0" dirty="0">
                <a:ea typeface="黑体" panose="02010609060101010101" pitchFamily="49" charset="-122"/>
                <a:cs typeface="Times New Roman" panose="02020603050405020304" pitchFamily="18" charset="0"/>
              </a:rPr>
              <a:t>块</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p:txBody>
          <a:bodyPr/>
          <a:lstStyle/>
          <a:p>
            <a:endParaRPr lang="zh-CN" altLang="en-US">
              <a:ea typeface="宋体" panose="02010600030101010101" pitchFamily="2" charset="-122"/>
            </a:endParaRPr>
          </a:p>
        </p:txBody>
      </p:sp>
      <p:sp>
        <p:nvSpPr>
          <p:cNvPr id="108547" name="内容占位符 2"/>
          <p:cNvSpPr>
            <a:spLocks noGrp="1"/>
          </p:cNvSpPr>
          <p:nvPr>
            <p:ph idx="1"/>
          </p:nvPr>
        </p:nvSpPr>
        <p:spPr/>
        <p:txBody>
          <a:bodyPr/>
          <a:lstStyle/>
          <a:p>
            <a:endParaRPr lang="zh-CN" altLang="en-US">
              <a:ea typeface="宋体" panose="02010600030101010101" pitchFamily="2" charset="-122"/>
            </a:endParaRPr>
          </a:p>
        </p:txBody>
      </p:sp>
      <p:sp>
        <p:nvSpPr>
          <p:cNvPr id="108548" name="Rectangle 3"/>
          <p:cNvSpPr txBox="1">
            <a:spLocks noChangeArrowheads="1"/>
          </p:cNvSpPr>
          <p:nvPr/>
        </p:nvSpPr>
        <p:spPr bwMode="auto">
          <a:xfrm>
            <a:off x="251147" y="116632"/>
            <a:ext cx="8569325" cy="648176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a:t>
            </a:r>
            <a:r>
              <a:rPr lang="en-US" altLang="zh-CN" sz="2000" b="1" dirty="0" err="1">
                <a:latin typeface="Times New Roman" panose="02020603050405020304" pitchFamily="18" charset="0"/>
                <a:cs typeface="Times New Roman" panose="02020603050405020304" pitchFamily="18" charset="0"/>
              </a:rPr>
              <a:t>ReadByteFileEx</a:t>
            </a:r>
            <a:r>
              <a:rPr lang="en-US" altLang="zh-CN" sz="2000" b="1" dirty="0">
                <a:latin typeface="Times New Roman" panose="02020603050405020304" pitchFamily="18" charset="0"/>
                <a:cs typeface="Times New Roman" panose="02020603050405020304" pitchFamily="18" charset="0"/>
              </a:rPr>
              <a:t> 2{</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 ( 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"c:\\data1.dat" ;   long sum = 0;</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try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DataInputStream</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instr</a:t>
            </a:r>
            <a:r>
              <a:rPr lang="en-US" altLang="zh-CN" sz="2000" b="1" dirty="0">
                <a:latin typeface="Times New Roman" panose="02020603050405020304" pitchFamily="18" charset="0"/>
                <a:cs typeface="Times New Roman" panose="02020603050405020304" pitchFamily="18" charset="0"/>
              </a:rPr>
              <a:t> = new </a:t>
            </a:r>
            <a:r>
              <a:rPr lang="en-US" altLang="zh-CN" sz="2000" b="1" dirty="0" err="1">
                <a:latin typeface="Times New Roman" panose="02020603050405020304" pitchFamily="18" charset="0"/>
                <a:cs typeface="Times New Roman" panose="02020603050405020304" pitchFamily="18" charset="0"/>
              </a:rPr>
              <a:t>DataInputStream</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new </a:t>
            </a:r>
            <a:r>
              <a:rPr lang="en-US" altLang="zh-CN" sz="2000" b="1" dirty="0" err="1">
                <a:latin typeface="Times New Roman" panose="02020603050405020304" pitchFamily="18" charset="0"/>
                <a:cs typeface="Times New Roman" panose="02020603050405020304" pitchFamily="18" charset="0"/>
              </a:rPr>
              <a:t>BufferedInputStream</a:t>
            </a:r>
            <a:r>
              <a:rPr lang="en-US" altLang="zh-CN" sz="2000" b="1" dirty="0">
                <a:latin typeface="Times New Roman" panose="02020603050405020304" pitchFamily="18" charset="0"/>
                <a:cs typeface="Times New Roman" panose="02020603050405020304" pitchFamily="18" charset="0"/>
              </a:rPr>
              <a:t>(new </a:t>
            </a:r>
            <a:r>
              <a:rPr lang="en-US" altLang="zh-CN" sz="2000" b="1" dirty="0" err="1">
                <a:latin typeface="Times New Roman" panose="02020603050405020304" pitchFamily="18" charset="0"/>
                <a:cs typeface="Times New Roman" panose="02020603050405020304" pitchFamily="18" charset="0"/>
              </a:rPr>
              <a:t>FileInputStream</a:t>
            </a: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0000FF"/>
                </a:solidFill>
                <a:latin typeface="Times New Roman" panose="02020603050405020304" pitchFamily="18" charset="0"/>
                <a:cs typeface="Times New Roman" panose="02020603050405020304" pitchFamily="18" charset="0"/>
              </a:rPr>
              <a:t>try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while ( true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sum += </a:t>
            </a:r>
            <a:r>
              <a:rPr lang="en-US" altLang="zh-CN" sz="2000" b="1" dirty="0" err="1">
                <a:solidFill>
                  <a:srgbClr val="0000FF"/>
                </a:solidFill>
                <a:latin typeface="Times New Roman" panose="02020603050405020304" pitchFamily="18" charset="0"/>
                <a:cs typeface="Times New Roman" panose="02020603050405020304" pitchFamily="18" charset="0"/>
              </a:rPr>
              <a:t>instr.readInt</a:t>
            </a:r>
            <a:r>
              <a:rPr lang="en-US" altLang="zh-CN" sz="2000" b="1"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catch ( </a:t>
            </a:r>
            <a:r>
              <a:rPr lang="en-US" altLang="zh-CN" sz="2000" b="1" dirty="0" err="1">
                <a:solidFill>
                  <a:srgbClr val="0000FF"/>
                </a:solidFill>
                <a:latin typeface="Times New Roman" panose="02020603050405020304" pitchFamily="18" charset="0"/>
                <a:cs typeface="Times New Roman" panose="02020603050405020304" pitchFamily="18" charset="0"/>
              </a:rPr>
              <a:t>EOFException</a:t>
            </a: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eof</a:t>
            </a:r>
            <a:r>
              <a:rPr lang="en-US" altLang="zh-CN" sz="2000" b="1" dirty="0">
                <a:solidFill>
                  <a:srgbClr val="0000FF"/>
                </a:solidFill>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System.out.println</a:t>
            </a:r>
            <a:r>
              <a:rPr lang="en-US" altLang="zh-CN" sz="2000" b="1" dirty="0">
                <a:solidFill>
                  <a:srgbClr val="0000FF"/>
                </a:solidFill>
                <a:latin typeface="Times New Roman" panose="02020603050405020304" pitchFamily="18" charset="0"/>
                <a:cs typeface="Times New Roman" panose="02020603050405020304" pitchFamily="18" charset="0"/>
              </a:rPr>
              <a:t>( "The sum is: " + sum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instr.close</a:t>
            </a:r>
            <a:r>
              <a:rPr lang="en-US" altLang="zh-CN" sz="2000" b="1"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catch (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iox</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("IO Problems with " +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260648"/>
            <a:ext cx="6858000" cy="648419"/>
          </a:xfrm>
        </p:spPr>
        <p:txBody>
          <a:bodyPr/>
          <a:lstStyle/>
          <a:p>
            <a:pPr marL="838200" indent="-838200" eaLnBrk="1" hangingPunct="1"/>
            <a:r>
              <a:rPr lang="zh-CN" altLang="en-US" b="0" dirty="0">
                <a:latin typeface="Times New Roman" panose="02020603050405020304" pitchFamily="18" charset="0"/>
                <a:ea typeface="黑体" panose="02010609060101010101" pitchFamily="49" charset="-122"/>
                <a:cs typeface="Times New Roman" panose="02020603050405020304" pitchFamily="18" charset="0"/>
              </a:rPr>
              <a:t>第六章 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输出流和文件</a:t>
            </a:r>
          </a:p>
        </p:txBody>
      </p:sp>
      <p:sp>
        <p:nvSpPr>
          <p:cNvPr id="66563" name="Rectangle 3"/>
          <p:cNvSpPr>
            <a:spLocks noGrp="1" noChangeArrowheads="1"/>
          </p:cNvSpPr>
          <p:nvPr>
            <p:ph idx="1"/>
          </p:nvPr>
        </p:nvSpPr>
        <p:spPr>
          <a:xfrm>
            <a:off x="609600" y="1295400"/>
            <a:ext cx="7467600" cy="5257800"/>
          </a:xfrm>
        </p:spPr>
        <p:txBody>
          <a:bodyPr/>
          <a:lstStyle/>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a:t>
            </a:r>
          </a:p>
          <a:p>
            <a:pPr marL="609600" indent="-609600" eaLnBrk="1" hangingPunct="1">
              <a:buFontTx/>
              <a:buNone/>
            </a:pPr>
            <a:r>
              <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6.2 </a:t>
            </a:r>
            <a:r>
              <a:rPr lang="zh-CN" altLang="en-US"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文件读写</a:t>
            </a:r>
            <a:endPar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b="0" dirty="0">
                <a:ea typeface="黑体" panose="02010609060101010101" pitchFamily="49" charset="-122"/>
                <a:cs typeface="Times New Roman" panose="02020603050405020304" pitchFamily="18" charset="0"/>
              </a:rPr>
              <a:t>File</a:t>
            </a:r>
            <a:r>
              <a:rPr lang="zh-CN" altLang="en-US" b="0" dirty="0">
                <a:ea typeface="黑体" panose="02010609060101010101" pitchFamily="49" charset="-122"/>
                <a:cs typeface="Times New Roman" panose="02020603050405020304" pitchFamily="18" charset="0"/>
              </a:rPr>
              <a:t>类</a:t>
            </a:r>
            <a:endParaRPr lang="en-US" altLang="zh-CN" b="0" dirty="0">
              <a:ea typeface="黑体" panose="02010609060101010101" pitchFamily="49" charset="-122"/>
              <a:cs typeface="Times New Roman" panose="02020603050405020304" pitchFamily="18" charset="0"/>
            </a:endParaRPr>
          </a:p>
          <a:p>
            <a:pPr lvl="1" eaLnBrk="1" hangingPunct="1"/>
            <a:r>
              <a:rPr lang="zh-CN" altLang="en-US" b="0" dirty="0">
                <a:ea typeface="黑体" panose="02010609060101010101" pitchFamily="49" charset="-122"/>
                <a:cs typeface="Times New Roman" panose="02020603050405020304" pitchFamily="18" charset="0"/>
              </a:rPr>
              <a:t>写二进制文件</a:t>
            </a:r>
          </a:p>
          <a:p>
            <a:pPr lvl="1" eaLnBrk="1" hangingPunct="1"/>
            <a:r>
              <a:rPr lang="zh-CN" altLang="en-US" b="0" dirty="0">
                <a:ea typeface="黑体" panose="02010609060101010101" pitchFamily="49" charset="-122"/>
                <a:cs typeface="Times New Roman" panose="02020603050405020304" pitchFamily="18" charset="0"/>
              </a:rPr>
              <a:t>读二进制文件</a:t>
            </a:r>
          </a:p>
          <a:p>
            <a:pPr lvl="1" eaLnBrk="1" hangingPunct="1"/>
            <a:r>
              <a:rPr lang="zh-CN" altLang="en-US" b="0" dirty="0">
                <a:solidFill>
                  <a:srgbClr val="C00000"/>
                </a:solidFill>
                <a:ea typeface="黑体" panose="02010609060101010101" pitchFamily="49" charset="-122"/>
                <a:cs typeface="Times New Roman" panose="02020603050405020304" pitchFamily="18" charset="0"/>
              </a:rPr>
              <a:t>读文本文件</a:t>
            </a:r>
          </a:p>
          <a:p>
            <a:pPr lvl="1" eaLnBrk="1" hangingPunct="1"/>
            <a:r>
              <a:rPr lang="zh-CN" altLang="en-US" b="0" dirty="0">
                <a:ea typeface="黑体" panose="02010609060101010101" pitchFamily="49" charset="-122"/>
                <a:cs typeface="Times New Roman" panose="02020603050405020304" pitchFamily="18" charset="0"/>
              </a:rPr>
              <a:t>写文本文件</a:t>
            </a:r>
          </a:p>
          <a:p>
            <a:pPr lvl="1" eaLnBrk="1" hangingPunct="1"/>
            <a:r>
              <a:rPr lang="zh-CN" altLang="en-US" b="0" dirty="0">
                <a:ea typeface="黑体" panose="02010609060101010101" pitchFamily="49" charset="-122"/>
                <a:cs typeface="Times New Roman" panose="02020603050405020304" pitchFamily="18" charset="0"/>
              </a:rPr>
              <a:t>对象序列化</a:t>
            </a:r>
          </a:p>
          <a:p>
            <a:pPr lvl="1" eaLnBrk="1" hangingPunct="1"/>
            <a:r>
              <a:rPr lang="zh-CN" altLang="en-US" b="0" dirty="0">
                <a:ea typeface="黑体" panose="02010609060101010101" pitchFamily="49" charset="-122"/>
                <a:cs typeface="Times New Roman" panose="02020603050405020304" pitchFamily="18" charset="0"/>
              </a:rPr>
              <a:t>随机文件读写</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815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4</a:t>
            </a:r>
            <a:r>
              <a:rPr lang="zh-CN" altLang="en-GB" b="0" dirty="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dirty="0">
              <a:latin typeface="Traditional Arabic" panose="02020603050405020304" pitchFamily="18" charset="-78"/>
              <a:ea typeface="黑体" panose="02010609060101010101" pitchFamily="49" charset="-122"/>
              <a:cs typeface="Traditional Arabic" panose="02020603050405020304" pitchFamily="18" charset="-78"/>
            </a:endParaRPr>
          </a:p>
        </p:txBody>
      </p:sp>
      <p:sp>
        <p:nvSpPr>
          <p:cNvPr id="77827" name="内容占位符 2"/>
          <p:cNvSpPr>
            <a:spLocks noGrp="1"/>
          </p:cNvSpPr>
          <p:nvPr>
            <p:ph idx="1"/>
          </p:nvPr>
        </p:nvSpPr>
        <p:spPr/>
        <p:txBody>
          <a:bodyPr/>
          <a:lstStyle/>
          <a:p>
            <a:pPr>
              <a:lnSpc>
                <a:spcPct val="120000"/>
              </a:lnSpc>
            </a:pPr>
            <a:r>
              <a:rPr lang="zh-CN" altLang="en-GB" dirty="0">
                <a:latin typeface="Traditional Arabic" panose="02020603050405020304" pitchFamily="18" charset="-78"/>
                <a:ea typeface="黑体" panose="02010609060101010101" pitchFamily="49" charset="-122"/>
                <a:cs typeface="Traditional Arabic" panose="02020603050405020304" pitchFamily="18" charset="-78"/>
              </a:rPr>
              <a:t>本节知识点</a:t>
            </a:r>
          </a:p>
          <a:p>
            <a:pPr lvl="1">
              <a:lnSpc>
                <a:spcPct val="120000"/>
              </a:lnSpc>
            </a:pPr>
            <a:r>
              <a:rPr lang="en-GB" altLang="zh-CN" dirty="0">
                <a:latin typeface="Traditional Arabic" panose="02020603050405020304" pitchFamily="18" charset="-78"/>
                <a:ea typeface="黑体" panose="02010609060101010101" pitchFamily="49" charset="-122"/>
                <a:cs typeface="Traditional Arabic" panose="02020603050405020304" pitchFamily="18" charset="-78"/>
              </a:rPr>
              <a:t>Reader </a:t>
            </a:r>
          </a:p>
          <a:p>
            <a:pPr lvl="1">
              <a:lnSpc>
                <a:spcPct val="120000"/>
              </a:lnSpc>
            </a:pPr>
            <a:r>
              <a:rPr lang="en-GB" altLang="zh-CN" dirty="0" err="1">
                <a:latin typeface="Traditional Arabic" panose="02020603050405020304" pitchFamily="18" charset="-78"/>
                <a:ea typeface="黑体" panose="02010609060101010101" pitchFamily="49" charset="-122"/>
                <a:cs typeface="Traditional Arabic" panose="02020603050405020304" pitchFamily="18" charset="-78"/>
              </a:rPr>
              <a:t>FileReader</a:t>
            </a:r>
            <a:r>
              <a:rPr lang="en-GB" altLang="zh-CN" dirty="0">
                <a:latin typeface="Traditional Arabic" panose="02020603050405020304" pitchFamily="18" charset="-78"/>
                <a:ea typeface="黑体" panose="02010609060101010101" pitchFamily="49" charset="-122"/>
                <a:cs typeface="Traditional Arabic" panose="02020603050405020304" pitchFamily="18" charset="-78"/>
              </a:rPr>
              <a:t> </a:t>
            </a:r>
          </a:p>
          <a:p>
            <a:pPr lvl="1">
              <a:lnSpc>
                <a:spcPct val="120000"/>
              </a:lnSpc>
            </a:pPr>
            <a:r>
              <a:rPr lang="en-GB" altLang="zh-CN" dirty="0" err="1">
                <a:latin typeface="Traditional Arabic" panose="02020603050405020304" pitchFamily="18" charset="-78"/>
                <a:ea typeface="黑体" panose="02010609060101010101" pitchFamily="49" charset="-122"/>
                <a:cs typeface="Traditional Arabic" panose="02020603050405020304" pitchFamily="18" charset="-78"/>
              </a:rPr>
              <a:t>BufferedReader</a:t>
            </a:r>
            <a:r>
              <a:rPr lang="zh-CN" altLang="en-GB" dirty="0">
                <a:latin typeface="Traditional Arabic" panose="02020603050405020304" pitchFamily="18" charset="-78"/>
                <a:ea typeface="黑体" panose="02010609060101010101" pitchFamily="49" charset="-122"/>
                <a:cs typeface="Traditional Arabic" panose="02020603050405020304" pitchFamily="18" charset="-78"/>
              </a:rPr>
              <a:t>和</a:t>
            </a:r>
            <a:r>
              <a:rPr lang="en-GB" altLang="zh-CN" dirty="0" err="1">
                <a:latin typeface="Traditional Arabic" panose="02020603050405020304" pitchFamily="18" charset="-78"/>
                <a:ea typeface="黑体" panose="02010609060101010101" pitchFamily="49" charset="-122"/>
                <a:cs typeface="Traditional Arabic" panose="02020603050405020304" pitchFamily="18" charset="-78"/>
              </a:rPr>
              <a:t>readLine</a:t>
            </a:r>
            <a:endParaRPr lang="en-GB" altLang="zh-CN" dirty="0">
              <a:latin typeface="Traditional Arabic" panose="02020603050405020304" pitchFamily="18" charset="-78"/>
              <a:ea typeface="黑体" panose="02010609060101010101" pitchFamily="49" charset="-122"/>
              <a:cs typeface="Traditional Arabic" panose="02020603050405020304" pitchFamily="18" charset="-78"/>
            </a:endParaRPr>
          </a:p>
          <a:p>
            <a:pPr lvl="1">
              <a:lnSpc>
                <a:spcPct val="120000"/>
              </a:lnSpc>
            </a:pPr>
            <a:r>
              <a:rPr lang="zh-CN" altLang="en-GB" dirty="0">
                <a:latin typeface="Traditional Arabic" panose="02020603050405020304" pitchFamily="18" charset="-78"/>
                <a:ea typeface="黑体" panose="02010609060101010101" pitchFamily="49" charset="-122"/>
                <a:cs typeface="Traditional Arabic" panose="02020603050405020304" pitchFamily="18" charset="-78"/>
              </a:rPr>
              <a:t>文本文件复制 </a:t>
            </a: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18457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539552" y="948933"/>
            <a:ext cx="3514725" cy="618952"/>
          </a:xfrm>
          <a:prstGeom prst="rect">
            <a:avLst/>
          </a:prstGeom>
          <a:noFill/>
        </p:spPr>
        <p:txBody>
          <a:bodyPr>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FileReader</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字符输入流</a:t>
            </a:r>
          </a:p>
        </p:txBody>
      </p:sp>
      <p:graphicFrame>
        <p:nvGraphicFramePr>
          <p:cNvPr id="12" name="表格 11">
            <a:extLst>
              <a:ext uri="{FF2B5EF4-FFF2-40B4-BE49-F238E27FC236}">
                <a16:creationId xmlns:a16="http://schemas.microsoft.com/office/drawing/2014/main" id="{81756AF5-628E-47D3-265E-9D583E585B71}"/>
              </a:ext>
            </a:extLst>
          </p:cNvPr>
          <p:cNvGraphicFramePr>
            <a:graphicFrameLocks noGrp="1"/>
          </p:cNvGraphicFramePr>
          <p:nvPr>
            <p:extLst>
              <p:ext uri="{D42A27DB-BD31-4B8C-83A1-F6EECF244321}">
                <p14:modId xmlns:p14="http://schemas.microsoft.com/office/powerpoint/2010/main" val="1605396499"/>
              </p:ext>
            </p:extLst>
          </p:nvPr>
        </p:nvGraphicFramePr>
        <p:xfrm>
          <a:off x="611560" y="2269706"/>
          <a:ext cx="7660922" cy="1082512"/>
        </p:xfrm>
        <a:graphic>
          <a:graphicData uri="http://schemas.openxmlformats.org/drawingml/2006/table">
            <a:tbl>
              <a:tblPr/>
              <a:tblGrid>
                <a:gridCol w="3628474">
                  <a:extLst>
                    <a:ext uri="{9D8B030D-6E8A-4147-A177-3AD203B41FA5}">
                      <a16:colId xmlns:a16="http://schemas.microsoft.com/office/drawing/2014/main" val="4059425573"/>
                    </a:ext>
                  </a:extLst>
                </a:gridCol>
                <a:gridCol w="4032448">
                  <a:extLst>
                    <a:ext uri="{9D8B030D-6E8A-4147-A177-3AD203B41FA5}">
                      <a16:colId xmlns:a16="http://schemas.microsoft.com/office/drawing/2014/main" val="1139361603"/>
                    </a:ext>
                  </a:extLst>
                </a:gridCol>
              </a:tblGrid>
              <a:tr h="358916">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360864">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en-US" altLang="zh-CN" sz="1400" kern="1200" dirty="0" err="1">
                          <a:solidFill>
                            <a:schemeClr val="tx1"/>
                          </a:solidFill>
                          <a:effectLst/>
                          <a:latin typeface="Consolas" panose="020B0609020204030204" pitchFamily="49" charset="0"/>
                          <a:ea typeface="黑体" panose="02010609060101010101" pitchFamily="49" charset="-122"/>
                          <a:cs typeface="+mn-cs"/>
                        </a:rPr>
                        <a:t>FileReader</a:t>
                      </a:r>
                      <a:r>
                        <a:rPr lang="en-US" altLang="zh-CN" sz="1400" kern="1200" dirty="0">
                          <a:solidFill>
                            <a:schemeClr val="tx1"/>
                          </a:solidFill>
                          <a:effectLst/>
                          <a:latin typeface="Consolas" panose="020B0609020204030204" pitchFamily="49" charset="0"/>
                          <a:ea typeface="黑体" panose="02010609060101010101" pitchFamily="49" charset="-122"/>
                          <a:cs typeface="+mn-cs"/>
                        </a:rPr>
                        <a:t>(String </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fileName</a:t>
                      </a:r>
                      <a:r>
                        <a:rPr lang="en-US" altLang="zh-CN" sz="1400" kern="1200" dirty="0">
                          <a:solidFill>
                            <a:schemeClr val="tx1"/>
                          </a:solidFill>
                          <a:effectLst/>
                          <a:latin typeface="Consolas" panose="020B0609020204030204" pitchFamily="49" charset="0"/>
                          <a:ea typeface="黑体" panose="02010609060101010101" pitchFamily="49" charset="-122"/>
                          <a:cs typeface="+mn-cs"/>
                        </a:rPr>
                        <a:t>)</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字符输入流关联文件，路径以字符串形式给出</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r h="362732">
                <a:tc>
                  <a:txBody>
                    <a:bodyPr/>
                    <a:lstStyle/>
                    <a:p>
                      <a:r>
                        <a:rPr lang="en-US" altLang="zh-CN" sz="1400" dirty="0" err="1">
                          <a:latin typeface="Consolas" panose="020B0609020204030204" pitchFamily="49" charset="0"/>
                          <a:ea typeface="微软雅黑" pitchFamily="34" charset="-122"/>
                        </a:rPr>
                        <a:t>FileReader</a:t>
                      </a:r>
                      <a:r>
                        <a:rPr lang="en-US" altLang="zh-CN" sz="1400" dirty="0">
                          <a:latin typeface="Consolas" panose="020B0609020204030204" pitchFamily="49" charset="0"/>
                          <a:ea typeface="微软雅黑" pitchFamily="34" charset="-122"/>
                        </a:rPr>
                        <a:t>(File file)</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字符输入流关联文件，路径以</a:t>
                      </a:r>
                      <a:r>
                        <a:rPr lang="en-US" altLang="zh-CN" sz="1400" dirty="0">
                          <a:latin typeface="Consolas" panose="020B0609020204030204" pitchFamily="49" charset="0"/>
                          <a:ea typeface="Alibaba PuHuiTi R"/>
                        </a:rPr>
                        <a:t>File</a:t>
                      </a:r>
                      <a:r>
                        <a:rPr lang="zh-CN" altLang="en-US" sz="1400" dirty="0">
                          <a:latin typeface="Consolas" panose="020B0609020204030204" pitchFamily="49" charset="0"/>
                          <a:ea typeface="Alibaba PuHuiTi R"/>
                        </a:rPr>
                        <a:t>对象形式给出</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53507733"/>
                  </a:ext>
                </a:extLst>
              </a:tr>
            </a:tbl>
          </a:graphicData>
        </a:graphic>
      </p:graphicFrame>
      <p:sp>
        <p:nvSpPr>
          <p:cNvPr id="17" name="TextBox 6">
            <a:extLst>
              <a:ext uri="{FF2B5EF4-FFF2-40B4-BE49-F238E27FC236}">
                <a16:creationId xmlns:a16="http://schemas.microsoft.com/office/drawing/2014/main" id="{E503AC6C-58AA-8487-C8B0-9D639A83C445}"/>
              </a:ext>
            </a:extLst>
          </p:cNvPr>
          <p:cNvSpPr txBox="1"/>
          <p:nvPr/>
        </p:nvSpPr>
        <p:spPr>
          <a:xfrm>
            <a:off x="539552" y="1708816"/>
            <a:ext cx="6577373" cy="418191"/>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用于读取纯文本文件，解决中文乱码问题</a:t>
            </a:r>
            <a:endParaRPr lang="en-US" altLang="zh-CN" sz="16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aphicFrame>
        <p:nvGraphicFramePr>
          <p:cNvPr id="18" name="表格 17">
            <a:extLst>
              <a:ext uri="{FF2B5EF4-FFF2-40B4-BE49-F238E27FC236}">
                <a16:creationId xmlns:a16="http://schemas.microsoft.com/office/drawing/2014/main" id="{199983C9-8FBA-8EAB-F28D-6DAA789ADE3F}"/>
              </a:ext>
            </a:extLst>
          </p:cNvPr>
          <p:cNvGraphicFramePr>
            <a:graphicFrameLocks noGrp="1"/>
          </p:cNvGraphicFramePr>
          <p:nvPr>
            <p:extLst>
              <p:ext uri="{D42A27DB-BD31-4B8C-83A1-F6EECF244321}">
                <p14:modId xmlns:p14="http://schemas.microsoft.com/office/powerpoint/2010/main" val="3414808143"/>
              </p:ext>
            </p:extLst>
          </p:nvPr>
        </p:nvGraphicFramePr>
        <p:xfrm>
          <a:off x="611560" y="3564281"/>
          <a:ext cx="7660922" cy="1093937"/>
        </p:xfrm>
        <a:graphic>
          <a:graphicData uri="http://schemas.openxmlformats.org/drawingml/2006/table">
            <a:tbl>
              <a:tblPr/>
              <a:tblGrid>
                <a:gridCol w="3628475">
                  <a:extLst>
                    <a:ext uri="{9D8B030D-6E8A-4147-A177-3AD203B41FA5}">
                      <a16:colId xmlns:a16="http://schemas.microsoft.com/office/drawing/2014/main" val="3903616913"/>
                    </a:ext>
                  </a:extLst>
                </a:gridCol>
                <a:gridCol w="4032447">
                  <a:extLst>
                    <a:ext uri="{9D8B030D-6E8A-4147-A177-3AD203B41FA5}">
                      <a16:colId xmlns:a16="http://schemas.microsoft.com/office/drawing/2014/main" val="3501032722"/>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成员方法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31064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public int read()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读取单个字符</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r h="403501">
                <a:tc>
                  <a:txBody>
                    <a:bodyPr/>
                    <a:lstStyle/>
                    <a:p>
                      <a:pPr algn="l"/>
                      <a:r>
                        <a:rPr lang="en-US" altLang="zh-CN" sz="1400" dirty="0">
                          <a:latin typeface="Consolas" panose="020B0609020204030204" pitchFamily="49" charset="0"/>
                        </a:rPr>
                        <a:t>public int read(char[] </a:t>
                      </a:r>
                      <a:r>
                        <a:rPr lang="en-US" altLang="zh-CN" sz="1400" dirty="0" err="1">
                          <a:latin typeface="Consolas" panose="020B0609020204030204" pitchFamily="49" charset="0"/>
                        </a:rPr>
                        <a:t>cbuf</a:t>
                      </a:r>
                      <a:r>
                        <a:rPr lang="en-US" altLang="zh-CN" sz="1400" dirty="0">
                          <a:latin typeface="Consolas" panose="020B0609020204030204" pitchFamily="49" charset="0"/>
                        </a:rPr>
                        <a:t>)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indent="0" algn="l" eaLnBrk="0" hangingPunct="0">
                        <a:lnSpc>
                          <a:spcPct val="150000"/>
                        </a:lnSpc>
                        <a:buFont typeface="Wingdings" pitchFamily="2" charset="2"/>
                        <a:buNone/>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读取一个字符数组</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返回读取到的有效字符个数</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400720702"/>
                  </a:ext>
                </a:extLst>
              </a:tr>
            </a:tbl>
          </a:graphicData>
        </a:graphic>
      </p:graphicFrame>
      <p:cxnSp>
        <p:nvCxnSpPr>
          <p:cNvPr id="7" name="直接连接符 6">
            <a:extLst>
              <a:ext uri="{FF2B5EF4-FFF2-40B4-BE49-F238E27FC236}">
                <a16:creationId xmlns:a16="http://schemas.microsoft.com/office/drawing/2014/main" id="{71D2A8F1-2676-4BCF-9276-6B967919F074}"/>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0" name="表格 9">
            <a:extLst>
              <a:ext uri="{FF2B5EF4-FFF2-40B4-BE49-F238E27FC236}">
                <a16:creationId xmlns:a16="http://schemas.microsoft.com/office/drawing/2014/main" id="{910389B3-1FC6-4151-A84E-4EF2E6203375}"/>
              </a:ext>
            </a:extLst>
          </p:cNvPr>
          <p:cNvGraphicFramePr>
            <a:graphicFrameLocks noGrp="1"/>
          </p:cNvGraphicFramePr>
          <p:nvPr>
            <p:extLst>
              <p:ext uri="{D42A27DB-BD31-4B8C-83A1-F6EECF244321}">
                <p14:modId xmlns:p14="http://schemas.microsoft.com/office/powerpoint/2010/main" val="2653550142"/>
              </p:ext>
            </p:extLst>
          </p:nvPr>
        </p:nvGraphicFramePr>
        <p:xfrm>
          <a:off x="611560" y="4862200"/>
          <a:ext cx="7704856" cy="1781303"/>
        </p:xfrm>
        <a:graphic>
          <a:graphicData uri="http://schemas.openxmlformats.org/drawingml/2006/table">
            <a:tbl>
              <a:tblPr/>
              <a:tblGrid>
                <a:gridCol w="4248472">
                  <a:extLst>
                    <a:ext uri="{9D8B030D-6E8A-4147-A177-3AD203B41FA5}">
                      <a16:colId xmlns:a16="http://schemas.microsoft.com/office/drawing/2014/main" val="3903616913"/>
                    </a:ext>
                  </a:extLst>
                </a:gridCol>
                <a:gridCol w="3456384">
                  <a:extLst>
                    <a:ext uri="{9D8B030D-6E8A-4147-A177-3AD203B41FA5}">
                      <a16:colId xmlns:a16="http://schemas.microsoft.com/office/drawing/2014/main" val="3501032722"/>
                    </a:ext>
                  </a:extLst>
                </a:gridCol>
              </a:tblGrid>
              <a:tr h="0">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1245616">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600" kern="1200" dirty="0">
                          <a:solidFill>
                            <a:schemeClr val="tx1"/>
                          </a:solidFill>
                          <a:effectLst/>
                          <a:latin typeface="Consolas" panose="020B0609020204030204" pitchFamily="49" charset="0"/>
                          <a:ea typeface="黑体" panose="02010609060101010101" pitchFamily="49" charset="-122"/>
                          <a:cs typeface="+mn-cs"/>
                        </a:rPr>
                        <a:t>public String</a:t>
                      </a:r>
                    </a:p>
                    <a:p>
                      <a:pPr algn="l"/>
                      <a:r>
                        <a:rPr lang="en-US" altLang="zh-CN" sz="1600" kern="1200" dirty="0">
                          <a:solidFill>
                            <a:schemeClr val="tx1"/>
                          </a:solidFill>
                          <a:effectLst/>
                          <a:latin typeface="Consolas" panose="020B0609020204030204" pitchFamily="49" charset="0"/>
                          <a:ea typeface="黑体" panose="02010609060101010101" pitchFamily="49" charset="-122"/>
                          <a:cs typeface="+mn-cs"/>
                        </a:rPr>
                        <a:t>(char[] value, int offset, int count)</a:t>
                      </a:r>
                      <a:endParaRPr lang="zh-CN" altLang="en-US" sz="16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将字符数组转换为字符串</a:t>
                      </a:r>
                      <a:endParaRPr lang="en-US" altLang="zh-CN" sz="1400" dirty="0">
                        <a:latin typeface="Consolas" panose="020B0609020204030204" pitchFamily="49" charset="0"/>
                        <a:ea typeface="Alibaba PuHuiTi R"/>
                      </a:endParaRPr>
                    </a:p>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参数</a:t>
                      </a:r>
                      <a:r>
                        <a:rPr lang="en-US" altLang="zh-CN" sz="1400" dirty="0">
                          <a:latin typeface="Consolas" panose="020B0609020204030204" pitchFamily="49" charset="0"/>
                          <a:ea typeface="Alibaba PuHuiTi R"/>
                        </a:rPr>
                        <a:t>1 :</a:t>
                      </a:r>
                      <a:r>
                        <a:rPr lang="zh-CN" altLang="en-US" sz="1400" dirty="0">
                          <a:latin typeface="Consolas" panose="020B0609020204030204" pitchFamily="49" charset="0"/>
                          <a:ea typeface="Alibaba PuHuiTi R"/>
                        </a:rPr>
                        <a:t> 字符数组</a:t>
                      </a:r>
                      <a:endParaRPr lang="en-US" altLang="zh-CN" sz="1400" dirty="0">
                        <a:latin typeface="Consolas" panose="020B0609020204030204" pitchFamily="49" charset="0"/>
                        <a:ea typeface="Alibaba PuHuiTi R"/>
                      </a:endParaRPr>
                    </a:p>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参数</a:t>
                      </a:r>
                      <a:r>
                        <a:rPr lang="en-US" altLang="zh-CN" sz="1400" dirty="0">
                          <a:latin typeface="Consolas" panose="020B0609020204030204" pitchFamily="49" charset="0"/>
                          <a:ea typeface="Alibaba PuHuiTi R"/>
                        </a:rPr>
                        <a:t>2 : </a:t>
                      </a:r>
                      <a:r>
                        <a:rPr lang="zh-CN" altLang="en-US" sz="1400" dirty="0">
                          <a:latin typeface="Consolas" panose="020B0609020204030204" pitchFamily="49" charset="0"/>
                          <a:ea typeface="Alibaba PuHuiTi R"/>
                        </a:rPr>
                        <a:t>起始索引</a:t>
                      </a:r>
                      <a:endParaRPr lang="en-US" altLang="zh-CN" sz="1400" dirty="0">
                        <a:latin typeface="Consolas" panose="020B0609020204030204" pitchFamily="49" charset="0"/>
                        <a:ea typeface="Alibaba PuHuiTi R"/>
                      </a:endParaRPr>
                    </a:p>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参数</a:t>
                      </a:r>
                      <a:r>
                        <a:rPr lang="en-US" altLang="zh-CN" sz="1400" dirty="0">
                          <a:latin typeface="Consolas" panose="020B0609020204030204" pitchFamily="49" charset="0"/>
                          <a:ea typeface="Alibaba PuHuiTi R"/>
                        </a:rPr>
                        <a:t>3 : </a:t>
                      </a:r>
                      <a:r>
                        <a:rPr lang="zh-CN" altLang="en-US" sz="1400" dirty="0">
                          <a:latin typeface="Consolas" panose="020B0609020204030204" pitchFamily="49" charset="0"/>
                          <a:ea typeface="Alibaba PuHuiTi R"/>
                        </a:rPr>
                        <a:t>转换的个数</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bl>
          </a:graphicData>
        </a:graphic>
      </p:graphicFrame>
      <p:sp>
        <p:nvSpPr>
          <p:cNvPr id="9" name="标题 1">
            <a:extLst>
              <a:ext uri="{FF2B5EF4-FFF2-40B4-BE49-F238E27FC236}">
                <a16:creationId xmlns:a16="http://schemas.microsoft.com/office/drawing/2014/main" id="{D4D0E481-42A5-4A14-B9F0-045DF37D4EB1}"/>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20027671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anim calcmode="lin" valueType="num">
                                      <p:cBhvr>
                                        <p:cTn id="8" dur="500" fill="hold"/>
                                        <p:tgtEl>
                                          <p:spTgt spid="12"/>
                                        </p:tgtEl>
                                        <p:attrNameLst>
                                          <p:attrName>ppt_x</p:attrName>
                                        </p:attrNameLst>
                                      </p:cBhvr>
                                      <p:tavLst>
                                        <p:tav tm="0">
                                          <p:val>
                                            <p:strVal val="#ppt_x"/>
                                          </p:val>
                                        </p:tav>
                                        <p:tav tm="100000">
                                          <p:val>
                                            <p:strVal val="#ppt_x"/>
                                          </p:val>
                                        </p:tav>
                                      </p:tavLst>
                                    </p:anim>
                                    <p:anim calcmode="lin" valueType="num">
                                      <p:cBhvr>
                                        <p:cTn id="9"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58314" y="1052949"/>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字符集，字符编码</a:t>
            </a:r>
          </a:p>
        </p:txBody>
      </p:sp>
      <p:sp>
        <p:nvSpPr>
          <p:cNvPr id="8" name="TextBox 6">
            <a:extLst>
              <a:ext uri="{FF2B5EF4-FFF2-40B4-BE49-F238E27FC236}">
                <a16:creationId xmlns:a16="http://schemas.microsoft.com/office/drawing/2014/main" id="{71183036-4A53-F879-A848-59B2C99A2D2E}"/>
              </a:ext>
            </a:extLst>
          </p:cNvPr>
          <p:cNvSpPr txBox="1"/>
          <p:nvPr/>
        </p:nvSpPr>
        <p:spPr>
          <a:xfrm>
            <a:off x="639937" y="1737659"/>
            <a:ext cx="3138434"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字符集：是指多个字符的集合</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9" name="图片 8">
            <a:extLst>
              <a:ext uri="{FF2B5EF4-FFF2-40B4-BE49-F238E27FC236}">
                <a16:creationId xmlns:a16="http://schemas.microsoft.com/office/drawing/2014/main" id="{50C7668E-FCFA-89FB-AF80-5147C064F5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794" y="2276872"/>
            <a:ext cx="6128489" cy="414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连接符 5">
            <a:extLst>
              <a:ext uri="{FF2B5EF4-FFF2-40B4-BE49-F238E27FC236}">
                <a16:creationId xmlns:a16="http://schemas.microsoft.com/office/drawing/2014/main" id="{CCC4981D-4A98-4E16-B8C7-2EA23C72262E}"/>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标题 1">
            <a:extLst>
              <a:ext uri="{FF2B5EF4-FFF2-40B4-BE49-F238E27FC236}">
                <a16:creationId xmlns:a16="http://schemas.microsoft.com/office/drawing/2014/main" id="{5E9E4555-BB1E-4EA5-801C-3ACD93822F3E}"/>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265863883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a:extLst>
              <a:ext uri="{FF2B5EF4-FFF2-40B4-BE49-F238E27FC236}">
                <a16:creationId xmlns:a16="http://schemas.microsoft.com/office/drawing/2014/main" id="{ABAA09BD-C64F-290D-872F-A00FABE908F5}"/>
              </a:ext>
            </a:extLst>
          </p:cNvPr>
          <p:cNvSpPr txBox="1">
            <a:spLocks/>
          </p:cNvSpPr>
          <p:nvPr/>
        </p:nvSpPr>
        <p:spPr>
          <a:xfrm>
            <a:off x="727105" y="2607732"/>
            <a:ext cx="8061043" cy="292684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200000"/>
              </a:lnSpc>
              <a:buNone/>
            </a:pP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GB2312</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字符集：</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1980</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年发布，</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1981</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年</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5</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月</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1</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日实施的简体中文汉字编码国家标准。</a:t>
            </a:r>
            <a:endParaRPr lang="en-US" altLang="zh-CN" sz="1400" b="1"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0" indent="0">
              <a:lnSpc>
                <a:spcPct val="200000"/>
              </a:lnSpc>
              <a:buNone/>
            </a:pPr>
            <a:r>
              <a:rPr lang="en-US" altLang="zh-CN" sz="1400" b="1"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收录</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7445</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个图形字符，其中包括</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6763</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个简体汉字</a:t>
            </a:r>
          </a:p>
          <a:p>
            <a:pPr marL="0" indent="0">
              <a:lnSpc>
                <a:spcPct val="200000"/>
              </a:lnSpc>
              <a:buNone/>
            </a:pP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BIG5</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字符集：台湾地区繁体中文标准字符集，共收录</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13053</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个中文字，</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1984</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年实施。</a:t>
            </a:r>
          </a:p>
          <a:p>
            <a:pPr marL="0" indent="0">
              <a:lnSpc>
                <a:spcPct val="200000"/>
              </a:lnSpc>
              <a:buNone/>
            </a:pP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GBK</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字符集：</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2000</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年</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3</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月</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17</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日发布，收录</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21003</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个汉字。</a:t>
            </a:r>
            <a:endPar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0" indent="0">
              <a:lnSpc>
                <a:spcPct val="200000"/>
              </a:lnSpc>
              <a:buNone/>
            </a:pP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包含国家标准</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GB13000-1</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中的全部中日韩汉字，和</a:t>
            </a: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BIG5</a:t>
            </a:r>
            <a:r>
              <a:rPr lang="zh-CN" altLang="en-US"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编码中的所有汉字。</a:t>
            </a:r>
            <a:endPar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0" indent="0">
              <a:lnSpc>
                <a:spcPct val="200000"/>
              </a:lnSpc>
              <a:buNone/>
            </a:pPr>
            <a:r>
              <a:rPr lang="en-US" altLang="zh-CN" sz="14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windows</a:t>
            </a: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系统默认使用的就是</a:t>
            </a: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GBK</a:t>
            </a: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a:t>
            </a:r>
          </a:p>
        </p:txBody>
      </p:sp>
      <p:sp>
        <p:nvSpPr>
          <p:cNvPr id="6" name="文本框 5">
            <a:extLst>
              <a:ext uri="{FF2B5EF4-FFF2-40B4-BE49-F238E27FC236}">
                <a16:creationId xmlns:a16="http://schemas.microsoft.com/office/drawing/2014/main" id="{9F1515C3-9D06-01AB-8C38-EB06B5D062B7}"/>
              </a:ext>
            </a:extLst>
          </p:cNvPr>
          <p:cNvSpPr txBox="1"/>
          <p:nvPr/>
        </p:nvSpPr>
        <p:spPr>
          <a:xfrm>
            <a:off x="2987824" y="5692704"/>
            <a:ext cx="2016224" cy="369332"/>
          </a:xfrm>
          <a:prstGeom prst="rect">
            <a:avLst/>
          </a:prstGeom>
          <a:noFill/>
        </p:spPr>
        <p:txBody>
          <a:bodyPr wrap="square">
            <a:spAutoFit/>
          </a:bodyPr>
          <a:lstStyle/>
          <a:p>
            <a:r>
              <a:rPr lang="zh-CN" altLang="en-US" dirty="0">
                <a:solidFill>
                  <a:srgbClr val="0070C0"/>
                </a:solidFill>
                <a:latin typeface="杨任东竹石体-Bold" panose="02000000000000000000" pitchFamily="2" charset="-122"/>
                <a:ea typeface="杨任东竹石体-Bold" panose="02000000000000000000" pitchFamily="2" charset="-122"/>
              </a:rPr>
              <a:t>系统显示：</a:t>
            </a:r>
            <a:r>
              <a:rPr lang="en-US" altLang="zh-CN" dirty="0">
                <a:solidFill>
                  <a:srgbClr val="0070C0"/>
                </a:solidFill>
                <a:latin typeface="杨任东竹石体-Bold" panose="02000000000000000000" pitchFamily="2" charset="-122"/>
                <a:ea typeface="杨任东竹石体-Bold" panose="02000000000000000000" pitchFamily="2" charset="-122"/>
              </a:rPr>
              <a:t>ANSI</a:t>
            </a:r>
            <a:endParaRPr lang="zh-CN" altLang="en-US" dirty="0">
              <a:solidFill>
                <a:srgbClr val="0070C0"/>
              </a:solidFill>
              <a:latin typeface="杨任东竹石体-Bold" panose="02000000000000000000" pitchFamily="2" charset="-122"/>
              <a:ea typeface="杨任东竹石体-Bold" panose="02000000000000000000" pitchFamily="2" charset="-122"/>
            </a:endParaRPr>
          </a:p>
        </p:txBody>
      </p:sp>
      <p:cxnSp>
        <p:nvCxnSpPr>
          <p:cNvPr id="12" name="直接连接符 11">
            <a:extLst>
              <a:ext uri="{FF2B5EF4-FFF2-40B4-BE49-F238E27FC236}">
                <a16:creationId xmlns:a16="http://schemas.microsoft.com/office/drawing/2014/main" id="{6E88F42A-DF8C-49A1-93E9-0A08DF36DC78}"/>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2">
            <a:extLst>
              <a:ext uri="{FF2B5EF4-FFF2-40B4-BE49-F238E27FC236}">
                <a16:creationId xmlns:a16="http://schemas.microsoft.com/office/drawing/2014/main" id="{6DF6F027-10EC-4F8A-A8DD-07A82C0D57DD}"/>
              </a:ext>
            </a:extLst>
          </p:cNvPr>
          <p:cNvSpPr txBox="1"/>
          <p:nvPr/>
        </p:nvSpPr>
        <p:spPr>
          <a:xfrm>
            <a:off x="658314" y="1207832"/>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字符集，字符编码</a:t>
            </a:r>
          </a:p>
        </p:txBody>
      </p:sp>
      <p:sp>
        <p:nvSpPr>
          <p:cNvPr id="14" name="TextBox 6">
            <a:extLst>
              <a:ext uri="{FF2B5EF4-FFF2-40B4-BE49-F238E27FC236}">
                <a16:creationId xmlns:a16="http://schemas.microsoft.com/office/drawing/2014/main" id="{4F855EE1-A343-48ED-A274-F276701C3A06}"/>
              </a:ext>
            </a:extLst>
          </p:cNvPr>
          <p:cNvSpPr txBox="1"/>
          <p:nvPr/>
        </p:nvSpPr>
        <p:spPr>
          <a:xfrm>
            <a:off x="658314" y="1912343"/>
            <a:ext cx="3138434"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字符集：是指多个字符的集合</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5" name="圆角矩形 5">
            <a:extLst>
              <a:ext uri="{FF2B5EF4-FFF2-40B4-BE49-F238E27FC236}">
                <a16:creationId xmlns:a16="http://schemas.microsoft.com/office/drawing/2014/main" id="{E66C6C1C-59DE-422A-9459-0BB75D143F1C}"/>
              </a:ext>
            </a:extLst>
          </p:cNvPr>
          <p:cNvSpPr>
            <a:spLocks noChangeArrowheads="1"/>
          </p:cNvSpPr>
          <p:nvPr/>
        </p:nvSpPr>
        <p:spPr bwMode="auto">
          <a:xfrm rot="20846116">
            <a:off x="5702493" y="2399927"/>
            <a:ext cx="2581915" cy="324836"/>
          </a:xfrm>
          <a:prstGeom prst="roundRect">
            <a:avLst>
              <a:gd name="adj" fmla="val 24210"/>
            </a:avLst>
          </a:prstGeom>
          <a:solidFill>
            <a:srgbClr val="8E9BBF"/>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韩语    </a:t>
            </a:r>
            <a:r>
              <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ks_c_5601-1987</a:t>
            </a: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endPar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圆角矩形 5">
            <a:extLst>
              <a:ext uri="{FF2B5EF4-FFF2-40B4-BE49-F238E27FC236}">
                <a16:creationId xmlns:a16="http://schemas.microsoft.com/office/drawing/2014/main" id="{5EFB8DD2-9DC2-4A34-9537-13741FCD1CCD}"/>
              </a:ext>
            </a:extLst>
          </p:cNvPr>
          <p:cNvSpPr>
            <a:spLocks noChangeArrowheads="1"/>
          </p:cNvSpPr>
          <p:nvPr/>
        </p:nvSpPr>
        <p:spPr bwMode="auto">
          <a:xfrm>
            <a:off x="6455014" y="2800978"/>
            <a:ext cx="2403428" cy="324836"/>
          </a:xfrm>
          <a:prstGeom prst="roundRect">
            <a:avLst>
              <a:gd name="adj" fmla="val 24210"/>
            </a:avLst>
          </a:prstGeom>
          <a:solidFill>
            <a:srgbClr val="FF6502"/>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朝鲜语    </a:t>
            </a:r>
            <a:r>
              <a:rPr lang="en-US" altLang="zh-CN" sz="1200" kern="0" dirty="0" err="1">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euc-kr</a:t>
            </a:r>
            <a:endPar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圆角矩形 5">
            <a:extLst>
              <a:ext uri="{FF2B5EF4-FFF2-40B4-BE49-F238E27FC236}">
                <a16:creationId xmlns:a16="http://schemas.microsoft.com/office/drawing/2014/main" id="{496BEE93-A6C9-4EC6-ACF1-549B28DE18F9}"/>
              </a:ext>
            </a:extLst>
          </p:cNvPr>
          <p:cNvSpPr>
            <a:spLocks noChangeArrowheads="1"/>
          </p:cNvSpPr>
          <p:nvPr/>
        </p:nvSpPr>
        <p:spPr bwMode="auto">
          <a:xfrm rot="21305962">
            <a:off x="6043381" y="1895120"/>
            <a:ext cx="2585689" cy="324836"/>
          </a:xfrm>
          <a:prstGeom prst="roundRect">
            <a:avLst>
              <a:gd name="adj" fmla="val 24210"/>
            </a:avLst>
          </a:prstGeom>
          <a:solidFill>
            <a:srgbClr val="3CB1C8"/>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日语    </a:t>
            </a:r>
            <a:r>
              <a:rPr lang="en-US" altLang="zh-CN" sz="1200" kern="0" dirty="0" err="1">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shift_jis</a:t>
            </a:r>
            <a:endPar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圆角矩形 5">
            <a:extLst>
              <a:ext uri="{FF2B5EF4-FFF2-40B4-BE49-F238E27FC236}">
                <a16:creationId xmlns:a16="http://schemas.microsoft.com/office/drawing/2014/main" id="{3E9CBC5E-B012-46C8-8849-86B882EE183E}"/>
              </a:ext>
            </a:extLst>
          </p:cNvPr>
          <p:cNvSpPr>
            <a:spLocks noChangeArrowheads="1"/>
          </p:cNvSpPr>
          <p:nvPr/>
        </p:nvSpPr>
        <p:spPr bwMode="auto">
          <a:xfrm rot="792517">
            <a:off x="5574469" y="2375955"/>
            <a:ext cx="2385198" cy="324836"/>
          </a:xfrm>
          <a:prstGeom prst="roundRect">
            <a:avLst>
              <a:gd name="adj" fmla="val 24210"/>
            </a:avLst>
          </a:prstGeom>
          <a:solidFill>
            <a:srgbClr val="83AFE7"/>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欧罗巴语</a:t>
            </a:r>
            <a:r>
              <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x-Europa</a:t>
            </a:r>
          </a:p>
        </p:txBody>
      </p:sp>
      <p:sp>
        <p:nvSpPr>
          <p:cNvPr id="23" name="圆角矩形 5">
            <a:extLst>
              <a:ext uri="{FF2B5EF4-FFF2-40B4-BE49-F238E27FC236}">
                <a16:creationId xmlns:a16="http://schemas.microsoft.com/office/drawing/2014/main" id="{EE784C12-F2FC-4FBF-AEB7-7EF02CF9BC8B}"/>
              </a:ext>
            </a:extLst>
          </p:cNvPr>
          <p:cNvSpPr>
            <a:spLocks noChangeArrowheads="1"/>
          </p:cNvSpPr>
          <p:nvPr/>
        </p:nvSpPr>
        <p:spPr bwMode="auto">
          <a:xfrm rot="517441">
            <a:off x="6878150" y="2261233"/>
            <a:ext cx="1822301" cy="324836"/>
          </a:xfrm>
          <a:prstGeom prst="roundRect">
            <a:avLst>
              <a:gd name="adj" fmla="val 24210"/>
            </a:avLst>
          </a:prstGeom>
          <a:solidFill>
            <a:srgbClr val="CAC48A"/>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中欧字符</a:t>
            </a:r>
            <a:r>
              <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iso-ir-101</a:t>
            </a:r>
          </a:p>
        </p:txBody>
      </p:sp>
      <p:sp>
        <p:nvSpPr>
          <p:cNvPr id="24" name="文本占位符 2">
            <a:extLst>
              <a:ext uri="{FF2B5EF4-FFF2-40B4-BE49-F238E27FC236}">
                <a16:creationId xmlns:a16="http://schemas.microsoft.com/office/drawing/2014/main" id="{B4B8FD0E-D4D4-42F0-A695-E9C6697210CB}"/>
              </a:ext>
            </a:extLst>
          </p:cNvPr>
          <p:cNvSpPr txBox="1">
            <a:spLocks/>
          </p:cNvSpPr>
          <p:nvPr/>
        </p:nvSpPr>
        <p:spPr>
          <a:xfrm>
            <a:off x="194878" y="5934863"/>
            <a:ext cx="10748057" cy="623998"/>
          </a:xfrm>
          <a:prstGeom prst="rect">
            <a:avLst/>
          </a:prstGeom>
        </p:spPr>
        <p:txBody>
          <a:bodyPr/>
          <a:lst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lnSpc>
                <a:spcPct val="200000"/>
              </a:lnSpc>
              <a:buFont typeface="Arial" panose="020B0604020202020204" pitchFamily="34" charset="0"/>
              <a:buNone/>
            </a:pPr>
            <a:r>
              <a:rPr lang="en-US" altLang="zh-CN" sz="12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Unicode</a:t>
            </a:r>
            <a:r>
              <a:rPr lang="zh-CN" altLang="en-US" sz="1200" dirty="0">
                <a:solidFill>
                  <a:srgbClr val="111111"/>
                </a:solidFill>
                <a:latin typeface="Consolas" panose="020B0609020204030204" pitchFamily="49" charset="0"/>
                <a:ea typeface="阿里巴巴普惠体" panose="00020600040101010101" pitchFamily="18" charset="-122"/>
                <a:cs typeface="阿里巴巴普惠体" panose="00020600040101010101" pitchFamily="18" charset="-122"/>
              </a:rPr>
              <a:t>字符集：国际标准字符集，它将世界各种语言的每个字符定义一个唯一的编码，以满足跨语言、跨平台的文本信息转换</a:t>
            </a:r>
            <a:endParaRPr lang="zh-CN" altLang="en-US" sz="12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6" name="标题 1">
            <a:extLst>
              <a:ext uri="{FF2B5EF4-FFF2-40B4-BE49-F238E27FC236}">
                <a16:creationId xmlns:a16="http://schemas.microsoft.com/office/drawing/2014/main" id="{70F81F85-84AE-4BF7-8153-FE204B0F51BE}"/>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470298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6">
                                            <p:txEl>
                                              <p:pRg st="0" end="0"/>
                                            </p:txEl>
                                          </p:spTgt>
                                        </p:tgtEl>
                                        <p:attrNameLst>
                                          <p:attrName>style.visibility</p:attrName>
                                        </p:attrNameLst>
                                      </p:cBhvr>
                                      <p:to>
                                        <p:strVal val="visible"/>
                                      </p:to>
                                    </p:set>
                                    <p:animEffect transition="in" filter="wipe(left)">
                                      <p:cBhvr>
                                        <p:cTn id="33" dur="500"/>
                                        <p:tgtEl>
                                          <p:spTgt spid="6">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ppt_x"/>
                                          </p:val>
                                        </p:tav>
                                        <p:tav tm="100000">
                                          <p:val>
                                            <p:strVal val="#ppt_x"/>
                                          </p:val>
                                        </p:tav>
                                      </p:tavLst>
                                    </p:anim>
                                    <p:anim calcmode="lin" valueType="num">
                                      <p:cBhvr additive="base">
                                        <p:cTn id="39" dur="500" fill="hold"/>
                                        <p:tgtEl>
                                          <p:spTgt spid="15"/>
                                        </p:tgtEl>
                                        <p:attrNameLst>
                                          <p:attrName>ppt_y</p:attrName>
                                        </p:attrNameLst>
                                      </p:cBhvr>
                                      <p:tavLst>
                                        <p:tav tm="0">
                                          <p:val>
                                            <p:strVal val="1+#ppt_h/2"/>
                                          </p:val>
                                        </p:tav>
                                        <p:tav tm="100000">
                                          <p:val>
                                            <p:strVal val="#ppt_y"/>
                                          </p:val>
                                        </p:tav>
                                      </p:tavLst>
                                    </p:anim>
                                  </p:childTnLst>
                                </p:cTn>
                              </p:par>
                            </p:childTnLst>
                          </p:cTn>
                        </p:par>
                        <p:par>
                          <p:cTn id="40" fill="hold">
                            <p:stCondLst>
                              <p:cond delay="500"/>
                            </p:stCondLst>
                            <p:childTnLst>
                              <p:par>
                                <p:cTn id="41" presetID="2" presetClass="entr" presetSubtype="4"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ppt_x"/>
                                          </p:val>
                                        </p:tav>
                                        <p:tav tm="100000">
                                          <p:val>
                                            <p:strVal val="#ppt_x"/>
                                          </p:val>
                                        </p:tav>
                                      </p:tavLst>
                                    </p:anim>
                                    <p:anim calcmode="lin" valueType="num">
                                      <p:cBhvr additive="base">
                                        <p:cTn id="44" dur="500" fill="hold"/>
                                        <p:tgtEl>
                                          <p:spTgt spid="20"/>
                                        </p:tgtEl>
                                        <p:attrNameLst>
                                          <p:attrName>ppt_y</p:attrName>
                                        </p:attrNameLst>
                                      </p:cBhvr>
                                      <p:tavLst>
                                        <p:tav tm="0">
                                          <p:val>
                                            <p:strVal val="1+#ppt_h/2"/>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1000"/>
                                        <p:tgtEl>
                                          <p:spTgt spid="21"/>
                                        </p:tgtEl>
                                      </p:cBhvr>
                                    </p:animEffect>
                                    <p:anim calcmode="lin" valueType="num">
                                      <p:cBhvr>
                                        <p:cTn id="48" dur="1000" fill="hold"/>
                                        <p:tgtEl>
                                          <p:spTgt spid="21"/>
                                        </p:tgtEl>
                                        <p:attrNameLst>
                                          <p:attrName>ppt_x</p:attrName>
                                        </p:attrNameLst>
                                      </p:cBhvr>
                                      <p:tavLst>
                                        <p:tav tm="0">
                                          <p:val>
                                            <p:strVal val="#ppt_x"/>
                                          </p:val>
                                        </p:tav>
                                        <p:tav tm="100000">
                                          <p:val>
                                            <p:strVal val="#ppt_x"/>
                                          </p:val>
                                        </p:tav>
                                      </p:tavLst>
                                    </p:anim>
                                    <p:anim calcmode="lin" valueType="num">
                                      <p:cBhvr>
                                        <p:cTn id="49" dur="1000" fill="hold"/>
                                        <p:tgtEl>
                                          <p:spTgt spid="21"/>
                                        </p:tgtEl>
                                        <p:attrNameLst>
                                          <p:attrName>ppt_y</p:attrName>
                                        </p:attrNameLst>
                                      </p:cBhvr>
                                      <p:tavLst>
                                        <p:tav tm="0">
                                          <p:val>
                                            <p:strVal val="#ppt_y+.1"/>
                                          </p:val>
                                        </p:tav>
                                        <p:tav tm="100000">
                                          <p:val>
                                            <p:strVal val="#ppt_y"/>
                                          </p:val>
                                        </p:tav>
                                      </p:tavLst>
                                    </p:anim>
                                  </p:childTnLst>
                                </p:cTn>
                              </p:par>
                            </p:childTnLst>
                          </p:cTn>
                        </p:par>
                        <p:par>
                          <p:cTn id="50" fill="hold">
                            <p:stCondLst>
                              <p:cond delay="1500"/>
                            </p:stCondLst>
                            <p:childTnLst>
                              <p:par>
                                <p:cTn id="51" presetID="1" presetClass="entr" presetSubtype="0"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2" presetClass="entr" presetSubtype="4"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ppt_x"/>
                                          </p:val>
                                        </p:tav>
                                        <p:tav tm="100000">
                                          <p:val>
                                            <p:strVal val="#ppt_x"/>
                                          </p:val>
                                        </p:tav>
                                      </p:tavLst>
                                    </p:anim>
                                    <p:anim calcmode="lin" valueType="num">
                                      <p:cBhvr additive="base">
                                        <p:cTn id="5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animBg="1"/>
      <p:bldP spid="22" grpId="0" animBg="1"/>
      <p:bldP spid="23" grpId="0" animBg="1"/>
      <p:bldP spid="2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81416" y="1196752"/>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字符编码</a:t>
            </a:r>
          </a:p>
        </p:txBody>
      </p:sp>
      <p:sp>
        <p:nvSpPr>
          <p:cNvPr id="8" name="TextBox 6">
            <a:extLst>
              <a:ext uri="{FF2B5EF4-FFF2-40B4-BE49-F238E27FC236}">
                <a16:creationId xmlns:a16="http://schemas.microsoft.com/office/drawing/2014/main" id="{71183036-4A53-F879-A848-59B2C99A2D2E}"/>
              </a:ext>
            </a:extLst>
          </p:cNvPr>
          <p:cNvSpPr txBox="1"/>
          <p:nvPr/>
        </p:nvSpPr>
        <p:spPr>
          <a:xfrm>
            <a:off x="681416" y="1988840"/>
            <a:ext cx="8355080" cy="1002967"/>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200000"/>
              </a:lnSpc>
              <a:buFont typeface="Wingdings" panose="05000000000000000000" pitchFamily="2" charset="2"/>
              <a:buChar char="l"/>
            </a:pPr>
            <a:r>
              <a:rPr lang="zh-CN" altLang="en-US" sz="16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字符编码：</a:t>
            </a: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字符编码是指一种映射规则</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lvl="1" indent="0" eaLnBrk="0" hangingPunct="0">
              <a:lnSpc>
                <a:spcPct val="200000"/>
              </a:lnSpc>
            </a:pPr>
            <a:r>
              <a:rPr lang="zh-CN" altLang="en-US" sz="16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根据这个规则可以将某个字符映射成其他形式的数据以便在计算机中存储和传输</a:t>
            </a:r>
            <a:endParaRPr lang="en-US" altLang="zh-CN" sz="16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文本框 2">
            <a:extLst>
              <a:ext uri="{FF2B5EF4-FFF2-40B4-BE49-F238E27FC236}">
                <a16:creationId xmlns:a16="http://schemas.microsoft.com/office/drawing/2014/main" id="{259026CF-B15E-6E30-7ACA-936AE03C247B}"/>
              </a:ext>
            </a:extLst>
          </p:cNvPr>
          <p:cNvSpPr txBox="1"/>
          <p:nvPr/>
        </p:nvSpPr>
        <p:spPr>
          <a:xfrm>
            <a:off x="1403648" y="3610930"/>
            <a:ext cx="4320480" cy="923330"/>
          </a:xfrm>
          <a:prstGeom prst="rect">
            <a:avLst/>
          </a:prstGeom>
          <a:noFill/>
          <a:ln>
            <a:noFill/>
          </a:ln>
        </p:spPr>
        <p:txBody>
          <a:bodyPr wrap="square" rtlCol="0">
            <a:spAutoFit/>
          </a:bodyPr>
          <a:lstStyle/>
          <a:p>
            <a:pPr algn="l"/>
            <a:r>
              <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rPr>
              <a:t>GBK: </a:t>
            </a:r>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每个中文占用</a:t>
            </a:r>
            <a:r>
              <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rPr>
              <a:t>2</a:t>
            </a:r>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个字节</a:t>
            </a:r>
            <a:endPar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endParaRPr>
          </a:p>
          <a:p>
            <a:pPr algn="l"/>
            <a:endPar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endParaRPr>
          </a:p>
          <a:p>
            <a:pPr algn="l"/>
            <a:r>
              <a:rPr kumimoji="0" lang="en-US" altLang="zh-CN"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rPr>
              <a:t>Unicode</a:t>
            </a:r>
            <a:r>
              <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rPr>
              <a:t>: </a:t>
            </a:r>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每个中文占用</a:t>
            </a:r>
            <a:r>
              <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rPr>
              <a:t>3</a:t>
            </a:r>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个字节</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cxnSp>
        <p:nvCxnSpPr>
          <p:cNvPr id="6" name="直接连接符 5">
            <a:extLst>
              <a:ext uri="{FF2B5EF4-FFF2-40B4-BE49-F238E27FC236}">
                <a16:creationId xmlns:a16="http://schemas.microsoft.com/office/drawing/2014/main" id="{3F702650-1598-415C-BC00-FE453BDD9FD1}"/>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9" name="标题 1">
            <a:extLst>
              <a:ext uri="{FF2B5EF4-FFF2-40B4-BE49-F238E27FC236}">
                <a16:creationId xmlns:a16="http://schemas.microsoft.com/office/drawing/2014/main" id="{CFDF6928-B394-4333-B58C-3E38C32CEF77}"/>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253404702"/>
      </p:ext>
    </p:extLst>
  </p:cSld>
  <p:clrMapOvr>
    <a:masterClrMapping/>
  </p:clrMapOvr>
  <p:transition spd="med">
    <p:pull/>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58314" y="1233819"/>
            <a:ext cx="3514725" cy="566245"/>
          </a:xfrm>
          <a:prstGeom prst="rect">
            <a:avLst/>
          </a:prstGeom>
          <a:noFill/>
        </p:spPr>
        <p:txBody>
          <a:bodyPr>
            <a:spAutoFit/>
          </a:bodyPr>
          <a:lstStyle/>
          <a:p>
            <a:pPr eaLnBrk="0" hangingPunct="0">
              <a:lnSpc>
                <a:spcPct val="200000"/>
              </a:lnSpc>
              <a:defRPr/>
            </a:pP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字符编码</a:t>
            </a:r>
          </a:p>
        </p:txBody>
      </p:sp>
      <p:sp>
        <p:nvSpPr>
          <p:cNvPr id="3" name="文本框 2">
            <a:extLst>
              <a:ext uri="{FF2B5EF4-FFF2-40B4-BE49-F238E27FC236}">
                <a16:creationId xmlns:a16="http://schemas.microsoft.com/office/drawing/2014/main" id="{259026CF-B15E-6E30-7ACA-936AE03C247B}"/>
              </a:ext>
            </a:extLst>
          </p:cNvPr>
          <p:cNvSpPr txBox="1"/>
          <p:nvPr/>
        </p:nvSpPr>
        <p:spPr>
          <a:xfrm>
            <a:off x="611560" y="2124147"/>
            <a:ext cx="966716" cy="369332"/>
          </a:xfrm>
          <a:prstGeom prst="rect">
            <a:avLst/>
          </a:prstGeom>
          <a:noFill/>
          <a:ln>
            <a:noFill/>
          </a:ln>
        </p:spPr>
        <p:txBody>
          <a:bodyPr wrap="square" rtlCol="0">
            <a:spAutoFit/>
          </a:bodyPr>
          <a:lstStyle/>
          <a:p>
            <a:pPr marL="214313" indent="-214313">
              <a:buFont typeface="Wingdings" panose="05000000000000000000" pitchFamily="2" charset="2"/>
              <a:buChar char="l"/>
            </a:pPr>
            <a:r>
              <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rPr>
              <a:t>GBK</a:t>
            </a:r>
          </a:p>
        </p:txBody>
      </p:sp>
      <p:sp>
        <p:nvSpPr>
          <p:cNvPr id="4" name="文本框 3">
            <a:extLst>
              <a:ext uri="{FF2B5EF4-FFF2-40B4-BE49-F238E27FC236}">
                <a16:creationId xmlns:a16="http://schemas.microsoft.com/office/drawing/2014/main" id="{4E1C0376-F203-8823-0CC8-B336B72CE615}"/>
              </a:ext>
            </a:extLst>
          </p:cNvPr>
          <p:cNvSpPr txBox="1"/>
          <p:nvPr/>
        </p:nvSpPr>
        <p:spPr>
          <a:xfrm>
            <a:off x="658314" y="3556226"/>
            <a:ext cx="3061253" cy="369332"/>
          </a:xfrm>
          <a:prstGeom prst="rect">
            <a:avLst/>
          </a:prstGeom>
          <a:noFill/>
          <a:ln>
            <a:noFill/>
          </a:ln>
        </p:spPr>
        <p:txBody>
          <a:bodyPr wrap="square" rtlCol="0">
            <a:spAutoFit/>
          </a:bodyPr>
          <a:lstStyle/>
          <a:p>
            <a:pPr marL="214313" indent="-214313">
              <a:buFont typeface="Wingdings" panose="05000000000000000000" pitchFamily="2" charset="2"/>
              <a:buChar char="l"/>
            </a:pPr>
            <a:r>
              <a:rPr kumimoji="0" lang="en-US" altLang="zh-CN"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rPr>
              <a:t>Unicode</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sp>
        <p:nvSpPr>
          <p:cNvPr id="9" name="文本框 8">
            <a:extLst>
              <a:ext uri="{FF2B5EF4-FFF2-40B4-BE49-F238E27FC236}">
                <a16:creationId xmlns:a16="http://schemas.microsoft.com/office/drawing/2014/main" id="{2FDD429C-5C53-F319-521D-C71AAE7D3C9A}"/>
              </a:ext>
            </a:extLst>
          </p:cNvPr>
          <p:cNvSpPr txBox="1"/>
          <p:nvPr/>
        </p:nvSpPr>
        <p:spPr>
          <a:xfrm>
            <a:off x="1743227" y="2317642"/>
            <a:ext cx="3627782" cy="700576"/>
          </a:xfrm>
          <a:prstGeom prst="rect">
            <a:avLst/>
          </a:prstGeom>
          <a:noFill/>
          <a:ln>
            <a:noFill/>
          </a:ln>
        </p:spPr>
        <p:txBody>
          <a:bodyPr wrap="square" rtlCol="0">
            <a:spAutoFit/>
          </a:bodyPr>
          <a:lstStyle/>
          <a:p>
            <a:pPr algn="l">
              <a:lnSpc>
                <a:spcPct val="150000"/>
              </a:lnSpc>
            </a:pPr>
            <a:r>
              <a:rPr lang="zh-CN" altLang="en-US"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英文字符占用</a:t>
            </a:r>
            <a:r>
              <a:rPr lang="en-US" altLang="zh-CN"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lang="zh-CN" altLang="en-US"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个字节</a:t>
            </a:r>
            <a:endParaRPr lang="en-US" altLang="zh-CN"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l">
              <a:lnSpc>
                <a:spcPct val="150000"/>
              </a:lnSpc>
            </a:pPr>
            <a:r>
              <a:rPr lang="zh-CN" altLang="en-US"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中文字符占用</a:t>
            </a:r>
            <a:r>
              <a:rPr lang="en-US" altLang="zh-CN"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个字节</a:t>
            </a:r>
          </a:p>
        </p:txBody>
      </p:sp>
      <p:grpSp>
        <p:nvGrpSpPr>
          <p:cNvPr id="10" name="组合 9">
            <a:extLst>
              <a:ext uri="{FF2B5EF4-FFF2-40B4-BE49-F238E27FC236}">
                <a16:creationId xmlns:a16="http://schemas.microsoft.com/office/drawing/2014/main" id="{0BD16E6B-C1F8-AF8A-5AB9-6179CABA9580}"/>
              </a:ext>
            </a:extLst>
          </p:cNvPr>
          <p:cNvGrpSpPr/>
          <p:nvPr/>
        </p:nvGrpSpPr>
        <p:grpSpPr>
          <a:xfrm>
            <a:off x="1366629" y="4067819"/>
            <a:ext cx="3205371" cy="362549"/>
            <a:chOff x="2964005" y="2992561"/>
            <a:chExt cx="3717265" cy="594560"/>
          </a:xfrm>
        </p:grpSpPr>
        <p:grpSp>
          <p:nvGrpSpPr>
            <p:cNvPr id="11" name="组合 10">
              <a:extLst>
                <a:ext uri="{FF2B5EF4-FFF2-40B4-BE49-F238E27FC236}">
                  <a16:creationId xmlns:a16="http://schemas.microsoft.com/office/drawing/2014/main" id="{04AC3E0C-A700-CE1A-E4F2-554E59762BA9}"/>
                </a:ext>
              </a:extLst>
            </p:cNvPr>
            <p:cNvGrpSpPr/>
            <p:nvPr/>
          </p:nvGrpSpPr>
          <p:grpSpPr>
            <a:xfrm>
              <a:off x="2964006" y="2992561"/>
              <a:ext cx="3717264" cy="594560"/>
              <a:chOff x="3456488" y="1286668"/>
              <a:chExt cx="4164132" cy="2757793"/>
            </a:xfrm>
            <a:effectLst>
              <a:outerShdw blurRad="381000" dist="254000" dir="8100000" algn="tr" rotWithShape="0">
                <a:prstClr val="black">
                  <a:alpha val="40000"/>
                </a:prstClr>
              </a:outerShdw>
            </a:effectLst>
          </p:grpSpPr>
          <p:sp>
            <p:nvSpPr>
              <p:cNvPr id="13" name="圆角矩形 70">
                <a:extLst>
                  <a:ext uri="{FF2B5EF4-FFF2-40B4-BE49-F238E27FC236}">
                    <a16:creationId xmlns:a16="http://schemas.microsoft.com/office/drawing/2014/main" id="{2591D568-EC26-B003-2F4D-CDE48CF46B19}"/>
                  </a:ext>
                </a:extLst>
              </p:cNvPr>
              <p:cNvSpPr/>
              <p:nvPr/>
            </p:nvSpPr>
            <p:spPr>
              <a:xfrm>
                <a:off x="4304044" y="1286668"/>
                <a:ext cx="3316575"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algn="ctr" defTabSz="685800" fontAlgn="auto">
                  <a:spcBef>
                    <a:spcPts val="0"/>
                  </a:spcBef>
                  <a:spcAft>
                    <a:spcPts val="0"/>
                  </a:spcAft>
                  <a:defRPr/>
                </a:pPr>
                <a:endParaRPr lang="zh-CN" altLang="en-US" sz="1496" kern="0">
                  <a:solidFill>
                    <a:sysClr val="window" lastClr="FFFFFF"/>
                  </a:solidFill>
                  <a:latin typeface="Arial"/>
                  <a:ea typeface="微软雅黑"/>
                </a:endParaRPr>
              </a:p>
            </p:txBody>
          </p:sp>
          <p:sp>
            <p:nvSpPr>
              <p:cNvPr id="14" name="圆角矩形 71">
                <a:extLst>
                  <a:ext uri="{FF2B5EF4-FFF2-40B4-BE49-F238E27FC236}">
                    <a16:creationId xmlns:a16="http://schemas.microsoft.com/office/drawing/2014/main" id="{3E26D9A8-8CF9-D402-7E52-DCADBF185A48}"/>
                  </a:ext>
                </a:extLst>
              </p:cNvPr>
              <p:cNvSpPr/>
              <p:nvPr/>
            </p:nvSpPr>
            <p:spPr>
              <a:xfrm>
                <a:off x="3456488" y="1286668"/>
                <a:ext cx="4164132"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algn="ctr" defTabSz="685800" fontAlgn="auto">
                  <a:spcBef>
                    <a:spcPts val="0"/>
                  </a:spcBef>
                  <a:spcAft>
                    <a:spcPts val="0"/>
                  </a:spcAft>
                  <a:defRPr/>
                </a:pPr>
                <a:endParaRPr lang="zh-CN" altLang="en-US" sz="1496" kern="0">
                  <a:solidFill>
                    <a:sysClr val="window" lastClr="FFFFFF"/>
                  </a:solidFill>
                  <a:latin typeface="Arial"/>
                  <a:ea typeface="微软雅黑"/>
                </a:endParaRPr>
              </a:p>
            </p:txBody>
          </p:sp>
        </p:grpSp>
        <p:sp>
          <p:nvSpPr>
            <p:cNvPr id="12" name="!!!IO">
              <a:extLst>
                <a:ext uri="{FF2B5EF4-FFF2-40B4-BE49-F238E27FC236}">
                  <a16:creationId xmlns:a16="http://schemas.microsoft.com/office/drawing/2014/main" id="{D95CBC16-D42C-9A39-D1FE-432482694B05}"/>
                </a:ext>
              </a:extLst>
            </p:cNvPr>
            <p:cNvSpPr txBox="1"/>
            <p:nvPr/>
          </p:nvSpPr>
          <p:spPr>
            <a:xfrm>
              <a:off x="2964005" y="3081636"/>
              <a:ext cx="3717264" cy="504737"/>
            </a:xfrm>
            <a:prstGeom prst="rect">
              <a:avLst/>
            </a:prstGeom>
            <a:noFill/>
          </p:spPr>
          <p:txBody>
            <a:bodyPr wrap="square" rtlCol="0">
              <a:spAutoFit/>
            </a:bodyPr>
            <a:lstStyle/>
            <a:p>
              <a:pPr fontAlgn="auto">
                <a:spcBef>
                  <a:spcPts val="0"/>
                </a:spcBef>
                <a:spcAft>
                  <a:spcPts val="0"/>
                </a:spcAft>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UTF-16</a:t>
              </a: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编码规则：</a:t>
              </a:r>
              <a:r>
                <a:rPr lang="zh-CN" altLang="en-US" sz="1400"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用</a:t>
              </a:r>
              <a:r>
                <a:rPr lang="en-US" altLang="zh-CN" sz="1400"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2~4</a:t>
              </a:r>
              <a:r>
                <a:rPr lang="zh-CN" altLang="en-US" sz="1400"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个字节保存</a:t>
              </a:r>
            </a:p>
          </p:txBody>
        </p:sp>
      </p:grpSp>
      <p:sp>
        <p:nvSpPr>
          <p:cNvPr id="15" name="圆角矩形 5">
            <a:extLst>
              <a:ext uri="{FF2B5EF4-FFF2-40B4-BE49-F238E27FC236}">
                <a16:creationId xmlns:a16="http://schemas.microsoft.com/office/drawing/2014/main" id="{632468B0-9A24-0E17-BEA1-17F4E8C99232}"/>
              </a:ext>
            </a:extLst>
          </p:cNvPr>
          <p:cNvSpPr>
            <a:spLocks noChangeArrowheads="1"/>
          </p:cNvSpPr>
          <p:nvPr/>
        </p:nvSpPr>
        <p:spPr bwMode="auto">
          <a:xfrm>
            <a:off x="1743227" y="3578626"/>
            <a:ext cx="2907214" cy="362549"/>
          </a:xfrm>
          <a:prstGeom prst="roundRect">
            <a:avLst>
              <a:gd name="adj" fmla="val 16667"/>
            </a:avLst>
          </a:prstGeom>
          <a:noFill/>
          <a:ln w="9525">
            <a:noFill/>
            <a:round/>
            <a:headEnd/>
            <a:tailEnd/>
          </a:ln>
          <a:effectLst>
            <a:outerShdw dist="63500" dir="5400000" algn="ctr" rotWithShape="0">
              <a:srgbClr val="000000">
                <a:alpha val="10999"/>
              </a:srgbClr>
            </a:outerShdw>
          </a:effectLst>
        </p:spPr>
        <p:txBody>
          <a:bodyPr anchor="ctr"/>
          <a:lstStyle/>
          <a:p>
            <a:pPr algn="ctr">
              <a:defRPr/>
            </a:pP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Unicode Transfer Format</a:t>
            </a:r>
          </a:p>
        </p:txBody>
      </p:sp>
      <p:grpSp>
        <p:nvGrpSpPr>
          <p:cNvPr id="16" name="组合 15">
            <a:extLst>
              <a:ext uri="{FF2B5EF4-FFF2-40B4-BE49-F238E27FC236}">
                <a16:creationId xmlns:a16="http://schemas.microsoft.com/office/drawing/2014/main" id="{DC5CAE65-EAA5-5109-42F8-0596E41CBA2D}"/>
              </a:ext>
            </a:extLst>
          </p:cNvPr>
          <p:cNvGrpSpPr/>
          <p:nvPr/>
        </p:nvGrpSpPr>
        <p:grpSpPr>
          <a:xfrm>
            <a:off x="1366630" y="4701365"/>
            <a:ext cx="3485219" cy="369053"/>
            <a:chOff x="2964005" y="2992561"/>
            <a:chExt cx="3717265" cy="605226"/>
          </a:xfrm>
        </p:grpSpPr>
        <p:grpSp>
          <p:nvGrpSpPr>
            <p:cNvPr id="17" name="组合 16">
              <a:extLst>
                <a:ext uri="{FF2B5EF4-FFF2-40B4-BE49-F238E27FC236}">
                  <a16:creationId xmlns:a16="http://schemas.microsoft.com/office/drawing/2014/main" id="{7FD0A29F-2081-7F09-BD3E-B3D0138CC166}"/>
                </a:ext>
              </a:extLst>
            </p:cNvPr>
            <p:cNvGrpSpPr/>
            <p:nvPr/>
          </p:nvGrpSpPr>
          <p:grpSpPr>
            <a:xfrm>
              <a:off x="2964006" y="2992561"/>
              <a:ext cx="3717264" cy="594560"/>
              <a:chOff x="3456488" y="1286668"/>
              <a:chExt cx="4164132" cy="2757793"/>
            </a:xfrm>
            <a:effectLst>
              <a:outerShdw blurRad="381000" dist="254000" dir="8100000" algn="tr" rotWithShape="0">
                <a:prstClr val="black">
                  <a:alpha val="40000"/>
                </a:prstClr>
              </a:outerShdw>
            </a:effectLst>
          </p:grpSpPr>
          <p:sp>
            <p:nvSpPr>
              <p:cNvPr id="19" name="圆角矩形 70">
                <a:extLst>
                  <a:ext uri="{FF2B5EF4-FFF2-40B4-BE49-F238E27FC236}">
                    <a16:creationId xmlns:a16="http://schemas.microsoft.com/office/drawing/2014/main" id="{EDE2F1B8-EF0C-45A7-B419-37AAB6905E37}"/>
                  </a:ext>
                </a:extLst>
              </p:cNvPr>
              <p:cNvSpPr/>
              <p:nvPr/>
            </p:nvSpPr>
            <p:spPr>
              <a:xfrm>
                <a:off x="4304044" y="1286668"/>
                <a:ext cx="3316575"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algn="ctr" defTabSz="685800" fontAlgn="auto">
                  <a:spcBef>
                    <a:spcPts val="0"/>
                  </a:spcBef>
                  <a:spcAft>
                    <a:spcPts val="0"/>
                  </a:spcAft>
                  <a:defRPr/>
                </a:pPr>
                <a:endParaRPr lang="zh-CN" altLang="en-US" sz="1496" kern="0">
                  <a:solidFill>
                    <a:sysClr val="window" lastClr="FFFFFF"/>
                  </a:solidFill>
                  <a:latin typeface="Arial"/>
                  <a:ea typeface="微软雅黑"/>
                </a:endParaRPr>
              </a:p>
            </p:txBody>
          </p:sp>
          <p:sp>
            <p:nvSpPr>
              <p:cNvPr id="20" name="圆角矩形 71">
                <a:extLst>
                  <a:ext uri="{FF2B5EF4-FFF2-40B4-BE49-F238E27FC236}">
                    <a16:creationId xmlns:a16="http://schemas.microsoft.com/office/drawing/2014/main" id="{FE45F85A-465F-90E3-3E0C-EC022B38B81B}"/>
                  </a:ext>
                </a:extLst>
              </p:cNvPr>
              <p:cNvSpPr/>
              <p:nvPr/>
            </p:nvSpPr>
            <p:spPr>
              <a:xfrm>
                <a:off x="3456488" y="1286668"/>
                <a:ext cx="4164132"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algn="ctr" defTabSz="685800" fontAlgn="auto">
                  <a:spcBef>
                    <a:spcPts val="0"/>
                  </a:spcBef>
                  <a:spcAft>
                    <a:spcPts val="0"/>
                  </a:spcAft>
                  <a:defRPr/>
                </a:pPr>
                <a:endParaRPr lang="zh-CN" altLang="en-US" sz="1496" kern="0">
                  <a:solidFill>
                    <a:sysClr val="window" lastClr="FFFFFF"/>
                  </a:solidFill>
                  <a:latin typeface="Arial"/>
                  <a:ea typeface="微软雅黑"/>
                </a:endParaRPr>
              </a:p>
            </p:txBody>
          </p:sp>
        </p:grpSp>
        <p:sp>
          <p:nvSpPr>
            <p:cNvPr id="18" name="!!!IO">
              <a:extLst>
                <a:ext uri="{FF2B5EF4-FFF2-40B4-BE49-F238E27FC236}">
                  <a16:creationId xmlns:a16="http://schemas.microsoft.com/office/drawing/2014/main" id="{47444DF7-58D2-952F-617E-DADD4988CDE1}"/>
                </a:ext>
              </a:extLst>
            </p:cNvPr>
            <p:cNvSpPr txBox="1"/>
            <p:nvPr/>
          </p:nvSpPr>
          <p:spPr>
            <a:xfrm>
              <a:off x="2964005" y="3093050"/>
              <a:ext cx="3681231" cy="504737"/>
            </a:xfrm>
            <a:prstGeom prst="rect">
              <a:avLst/>
            </a:prstGeom>
            <a:noFill/>
          </p:spPr>
          <p:txBody>
            <a:bodyPr wrap="square" rtlCol="0">
              <a:spAutoFit/>
            </a:bodyPr>
            <a:lstStyle/>
            <a:p>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UTF-32</a:t>
              </a: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编码规则：</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固定使用四个字节保存</a:t>
              </a:r>
            </a:p>
          </p:txBody>
        </p:sp>
      </p:grpSp>
      <p:grpSp>
        <p:nvGrpSpPr>
          <p:cNvPr id="21" name="组合 20">
            <a:extLst>
              <a:ext uri="{FF2B5EF4-FFF2-40B4-BE49-F238E27FC236}">
                <a16:creationId xmlns:a16="http://schemas.microsoft.com/office/drawing/2014/main" id="{F1C0BCB4-7FEF-4850-8C1E-0CDE61A7C52D}"/>
              </a:ext>
            </a:extLst>
          </p:cNvPr>
          <p:cNvGrpSpPr/>
          <p:nvPr/>
        </p:nvGrpSpPr>
        <p:grpSpPr>
          <a:xfrm>
            <a:off x="1366630" y="5334911"/>
            <a:ext cx="3041376" cy="369053"/>
            <a:chOff x="2964004" y="2992561"/>
            <a:chExt cx="3717266" cy="605226"/>
          </a:xfrm>
        </p:grpSpPr>
        <p:grpSp>
          <p:nvGrpSpPr>
            <p:cNvPr id="22" name="组合 21">
              <a:extLst>
                <a:ext uri="{FF2B5EF4-FFF2-40B4-BE49-F238E27FC236}">
                  <a16:creationId xmlns:a16="http://schemas.microsoft.com/office/drawing/2014/main" id="{3505722C-6483-F8A1-E49C-CB24875A3A8D}"/>
                </a:ext>
              </a:extLst>
            </p:cNvPr>
            <p:cNvGrpSpPr/>
            <p:nvPr/>
          </p:nvGrpSpPr>
          <p:grpSpPr>
            <a:xfrm>
              <a:off x="2964006" y="2992561"/>
              <a:ext cx="3717264" cy="594560"/>
              <a:chOff x="3456488" y="1286668"/>
              <a:chExt cx="4164132" cy="2757793"/>
            </a:xfrm>
            <a:effectLst>
              <a:outerShdw blurRad="381000" dist="254000" dir="8100000" algn="tr" rotWithShape="0">
                <a:prstClr val="black">
                  <a:alpha val="40000"/>
                </a:prstClr>
              </a:outerShdw>
            </a:effectLst>
          </p:grpSpPr>
          <p:sp>
            <p:nvSpPr>
              <p:cNvPr id="24" name="圆角矩形 70">
                <a:extLst>
                  <a:ext uri="{FF2B5EF4-FFF2-40B4-BE49-F238E27FC236}">
                    <a16:creationId xmlns:a16="http://schemas.microsoft.com/office/drawing/2014/main" id="{4E8EE66F-680E-77C8-7764-0A2B9F456355}"/>
                  </a:ext>
                </a:extLst>
              </p:cNvPr>
              <p:cNvSpPr/>
              <p:nvPr/>
            </p:nvSpPr>
            <p:spPr>
              <a:xfrm>
                <a:off x="4304044" y="1286668"/>
                <a:ext cx="3316575"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algn="ctr" defTabSz="685800" fontAlgn="auto">
                  <a:spcBef>
                    <a:spcPts val="0"/>
                  </a:spcBef>
                  <a:spcAft>
                    <a:spcPts val="0"/>
                  </a:spcAft>
                  <a:defRPr/>
                </a:pPr>
                <a:endParaRPr lang="zh-CN" altLang="en-US" sz="1496" kern="0">
                  <a:solidFill>
                    <a:sysClr val="window" lastClr="FFFFFF"/>
                  </a:solidFill>
                  <a:latin typeface="Arial"/>
                  <a:ea typeface="微软雅黑"/>
                </a:endParaRPr>
              </a:p>
            </p:txBody>
          </p:sp>
          <p:sp>
            <p:nvSpPr>
              <p:cNvPr id="25" name="圆角矩形 71">
                <a:extLst>
                  <a:ext uri="{FF2B5EF4-FFF2-40B4-BE49-F238E27FC236}">
                    <a16:creationId xmlns:a16="http://schemas.microsoft.com/office/drawing/2014/main" id="{BE3B494D-C217-45C5-228F-598B68EA6A8F}"/>
                  </a:ext>
                </a:extLst>
              </p:cNvPr>
              <p:cNvSpPr/>
              <p:nvPr/>
            </p:nvSpPr>
            <p:spPr>
              <a:xfrm>
                <a:off x="3456488" y="1286668"/>
                <a:ext cx="4164132"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algn="ctr" defTabSz="685800" fontAlgn="auto">
                  <a:spcBef>
                    <a:spcPts val="0"/>
                  </a:spcBef>
                  <a:spcAft>
                    <a:spcPts val="0"/>
                  </a:spcAft>
                  <a:defRPr/>
                </a:pPr>
                <a:endParaRPr lang="zh-CN" altLang="en-US" sz="1496" kern="0">
                  <a:solidFill>
                    <a:sysClr val="window" lastClr="FFFFFF"/>
                  </a:solidFill>
                  <a:latin typeface="Arial"/>
                  <a:ea typeface="微软雅黑"/>
                </a:endParaRPr>
              </a:p>
            </p:txBody>
          </p:sp>
        </p:grpSp>
        <p:sp>
          <p:nvSpPr>
            <p:cNvPr id="23" name="!!!IO">
              <a:extLst>
                <a:ext uri="{FF2B5EF4-FFF2-40B4-BE49-F238E27FC236}">
                  <a16:creationId xmlns:a16="http://schemas.microsoft.com/office/drawing/2014/main" id="{B74B4A30-8633-D0F9-783A-8A30DEBC01D4}"/>
                </a:ext>
              </a:extLst>
            </p:cNvPr>
            <p:cNvSpPr txBox="1"/>
            <p:nvPr/>
          </p:nvSpPr>
          <p:spPr>
            <a:xfrm>
              <a:off x="2964004" y="3093050"/>
              <a:ext cx="3681231" cy="504737"/>
            </a:xfrm>
            <a:prstGeom prst="rect">
              <a:avLst/>
            </a:prstGeom>
            <a:noFill/>
          </p:spPr>
          <p:txBody>
            <a:bodyPr wrap="square" rtlCol="0">
              <a:spAutoFit/>
            </a:bodyPr>
            <a:lstStyle/>
            <a:p>
              <a:pPr fontAlgn="auto">
                <a:spcBef>
                  <a:spcPts val="0"/>
                </a:spcBef>
                <a:spcAft>
                  <a:spcPts val="0"/>
                </a:spcAft>
              </a:pPr>
              <a:r>
                <a:rPr lang="en-US" altLang="zh-CN"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UTF-8</a:t>
              </a:r>
              <a:r>
                <a:rPr lang="zh-CN" altLang="en-US" sz="14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编码规则：</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用</a:t>
              </a: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1~4</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个字节保存</a:t>
              </a:r>
            </a:p>
          </p:txBody>
        </p:sp>
      </p:grpSp>
      <p:sp>
        <p:nvSpPr>
          <p:cNvPr id="26" name="!!!圆角矩形 5">
            <a:extLst>
              <a:ext uri="{FF2B5EF4-FFF2-40B4-BE49-F238E27FC236}">
                <a16:creationId xmlns:a16="http://schemas.microsoft.com/office/drawing/2014/main" id="{C0CD252A-BE02-B346-1878-C85690A127F6}"/>
              </a:ext>
            </a:extLst>
          </p:cNvPr>
          <p:cNvSpPr>
            <a:spLocks noChangeArrowheads="1"/>
          </p:cNvSpPr>
          <p:nvPr/>
        </p:nvSpPr>
        <p:spPr bwMode="auto">
          <a:xfrm>
            <a:off x="5601545" y="3665221"/>
            <a:ext cx="1255500" cy="334800"/>
          </a:xfrm>
          <a:prstGeom prst="roundRect">
            <a:avLst>
              <a:gd name="adj" fmla="val 24210"/>
            </a:avLst>
          </a:prstGeom>
          <a:solidFill>
            <a:schemeClr val="accent5">
              <a:lumMod val="75000"/>
            </a:schemeClr>
          </a:solidFill>
          <a:ln w="9525">
            <a:noFill/>
            <a:round/>
            <a:headEnd/>
            <a:tailEnd/>
          </a:ln>
          <a:effectLst>
            <a:outerShdw dist="63500" dir="5400000" algn="ctr" rotWithShape="0">
              <a:srgbClr val="000000">
                <a:alpha val="10999"/>
              </a:srgbClr>
            </a:outerShdw>
          </a:effectLst>
        </p:spPr>
        <p:txBody>
          <a:bodyPr anchor="ctr"/>
          <a:lstStyle/>
          <a:p>
            <a:pPr lvl="0" algn="ctr">
              <a:defRPr/>
            </a:pPr>
            <a:r>
              <a:rPr lang="en-US" altLang="zh-CN"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ASCII</a:t>
            </a:r>
            <a:endPar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7" name="!!!圆角矩形 5">
            <a:extLst>
              <a:ext uri="{FF2B5EF4-FFF2-40B4-BE49-F238E27FC236}">
                <a16:creationId xmlns:a16="http://schemas.microsoft.com/office/drawing/2014/main" id="{CC1A8EE6-94AA-0474-9151-7C4D2356EC44}"/>
              </a:ext>
            </a:extLst>
          </p:cNvPr>
          <p:cNvSpPr>
            <a:spLocks noChangeArrowheads="1"/>
          </p:cNvSpPr>
          <p:nvPr/>
        </p:nvSpPr>
        <p:spPr bwMode="auto">
          <a:xfrm>
            <a:off x="5601639" y="4159781"/>
            <a:ext cx="1255500" cy="334800"/>
          </a:xfrm>
          <a:prstGeom prst="roundRect">
            <a:avLst>
              <a:gd name="adj" fmla="val 24210"/>
            </a:avLst>
          </a:prstGeom>
          <a:solidFill>
            <a:srgbClr val="5889EE"/>
          </a:solidFill>
          <a:ln w="9525">
            <a:noFill/>
            <a:round/>
            <a:headEnd/>
            <a:tailEnd/>
          </a:ln>
          <a:effectLst>
            <a:outerShdw dist="63500" dir="5400000" algn="ctr" rotWithShape="0">
              <a:srgbClr val="000000">
                <a:alpha val="10999"/>
              </a:srgbClr>
            </a:outerShdw>
          </a:effectLst>
        </p:spPr>
        <p:txBody>
          <a:bodyPr anchor="b" anchorCtr="1"/>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拉丁文</a:t>
            </a:r>
          </a:p>
        </p:txBody>
      </p:sp>
      <p:sp>
        <p:nvSpPr>
          <p:cNvPr id="28" name="!!!圆角矩形 5">
            <a:extLst>
              <a:ext uri="{FF2B5EF4-FFF2-40B4-BE49-F238E27FC236}">
                <a16:creationId xmlns:a16="http://schemas.microsoft.com/office/drawing/2014/main" id="{86B1A035-40FB-2464-F7A2-9791F29268CF}"/>
              </a:ext>
            </a:extLst>
          </p:cNvPr>
          <p:cNvSpPr>
            <a:spLocks noChangeArrowheads="1"/>
          </p:cNvSpPr>
          <p:nvPr/>
        </p:nvSpPr>
        <p:spPr bwMode="auto">
          <a:xfrm>
            <a:off x="5601545" y="5273198"/>
            <a:ext cx="1255500" cy="334800"/>
          </a:xfrm>
          <a:prstGeom prst="roundRect">
            <a:avLst>
              <a:gd name="adj" fmla="val 24210"/>
            </a:avLst>
          </a:prstGeom>
          <a:solidFill>
            <a:srgbClr val="FF8800"/>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其他语言</a:t>
            </a:r>
          </a:p>
        </p:txBody>
      </p:sp>
      <p:sp>
        <p:nvSpPr>
          <p:cNvPr id="29" name="圆角矩形 5">
            <a:extLst>
              <a:ext uri="{FF2B5EF4-FFF2-40B4-BE49-F238E27FC236}">
                <a16:creationId xmlns:a16="http://schemas.microsoft.com/office/drawing/2014/main" id="{FD4B9728-89B2-B079-D3FA-813B100A71C1}"/>
              </a:ext>
            </a:extLst>
          </p:cNvPr>
          <p:cNvSpPr>
            <a:spLocks noChangeArrowheads="1"/>
          </p:cNvSpPr>
          <p:nvPr/>
        </p:nvSpPr>
        <p:spPr bwMode="auto">
          <a:xfrm>
            <a:off x="7634068" y="3666428"/>
            <a:ext cx="903841" cy="333593"/>
          </a:xfrm>
          <a:prstGeom prst="roundRect">
            <a:avLst>
              <a:gd name="adj" fmla="val 16667"/>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algn="ctr" defTabSz="685800" fontAlgn="auto">
              <a:spcBef>
                <a:spcPts val="0"/>
              </a:spcBef>
              <a:spcAft>
                <a:spcPts val="0"/>
              </a:spcAft>
              <a:defRPr/>
            </a:pPr>
            <a:r>
              <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a:t>
            </a: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个字节</a:t>
            </a:r>
          </a:p>
        </p:txBody>
      </p:sp>
      <p:sp>
        <p:nvSpPr>
          <p:cNvPr id="30" name="圆角矩形 5">
            <a:extLst>
              <a:ext uri="{FF2B5EF4-FFF2-40B4-BE49-F238E27FC236}">
                <a16:creationId xmlns:a16="http://schemas.microsoft.com/office/drawing/2014/main" id="{D8729EED-3A3A-F405-E033-DF3B89F47BD2}"/>
              </a:ext>
            </a:extLst>
          </p:cNvPr>
          <p:cNvSpPr>
            <a:spLocks noChangeArrowheads="1"/>
          </p:cNvSpPr>
          <p:nvPr/>
        </p:nvSpPr>
        <p:spPr bwMode="auto">
          <a:xfrm>
            <a:off x="7634068" y="4160585"/>
            <a:ext cx="903841" cy="333593"/>
          </a:xfrm>
          <a:prstGeom prst="roundRect">
            <a:avLst>
              <a:gd name="adj" fmla="val 16667"/>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algn="ctr" defTabSz="685800" fontAlgn="auto">
              <a:spcBef>
                <a:spcPts val="0"/>
              </a:spcBef>
              <a:spcAft>
                <a:spcPts val="0"/>
              </a:spcAft>
              <a:defRPr/>
            </a:pPr>
            <a:r>
              <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个字节</a:t>
            </a:r>
          </a:p>
        </p:txBody>
      </p:sp>
      <p:sp>
        <p:nvSpPr>
          <p:cNvPr id="31" name="圆角矩形 5">
            <a:extLst>
              <a:ext uri="{FF2B5EF4-FFF2-40B4-BE49-F238E27FC236}">
                <a16:creationId xmlns:a16="http://schemas.microsoft.com/office/drawing/2014/main" id="{07F4C88F-9F6A-7420-BCAA-B22CD9EF31BE}"/>
              </a:ext>
            </a:extLst>
          </p:cNvPr>
          <p:cNvSpPr>
            <a:spLocks noChangeArrowheads="1"/>
          </p:cNvSpPr>
          <p:nvPr/>
        </p:nvSpPr>
        <p:spPr bwMode="auto">
          <a:xfrm>
            <a:off x="7634067" y="4718682"/>
            <a:ext cx="903841" cy="333593"/>
          </a:xfrm>
          <a:prstGeom prst="roundRect">
            <a:avLst>
              <a:gd name="adj" fmla="val 16667"/>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algn="ctr" defTabSz="685800" fontAlgn="auto">
              <a:spcBef>
                <a:spcPts val="0"/>
              </a:spcBef>
              <a:spcAft>
                <a:spcPts val="0"/>
              </a:spcAft>
              <a:defRPr/>
            </a:pPr>
            <a:r>
              <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3</a:t>
            </a: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个字节</a:t>
            </a:r>
          </a:p>
        </p:txBody>
      </p:sp>
      <p:sp>
        <p:nvSpPr>
          <p:cNvPr id="32" name="圆角矩形 5">
            <a:extLst>
              <a:ext uri="{FF2B5EF4-FFF2-40B4-BE49-F238E27FC236}">
                <a16:creationId xmlns:a16="http://schemas.microsoft.com/office/drawing/2014/main" id="{3F03DBD9-A3DD-30DC-8238-55E668B4544B}"/>
              </a:ext>
            </a:extLst>
          </p:cNvPr>
          <p:cNvSpPr>
            <a:spLocks noChangeArrowheads="1"/>
          </p:cNvSpPr>
          <p:nvPr/>
        </p:nvSpPr>
        <p:spPr bwMode="auto">
          <a:xfrm>
            <a:off x="7634067" y="5272594"/>
            <a:ext cx="903841" cy="333593"/>
          </a:xfrm>
          <a:prstGeom prst="roundRect">
            <a:avLst>
              <a:gd name="adj" fmla="val 16667"/>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algn="ctr" defTabSz="685800" fontAlgn="auto">
              <a:spcBef>
                <a:spcPts val="0"/>
              </a:spcBef>
              <a:spcAft>
                <a:spcPts val="0"/>
              </a:spcAft>
              <a:defRPr/>
            </a:pPr>
            <a:r>
              <a:rPr lang="en-US" altLang="zh-CN"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4</a:t>
            </a:r>
            <a:r>
              <a:rPr lang="zh-CN" altLang="en-US" sz="1200" kern="0" dirty="0">
                <a:solidFill>
                  <a:srgbClr val="FFFFFF"/>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个字节</a:t>
            </a:r>
          </a:p>
        </p:txBody>
      </p:sp>
      <p:sp>
        <p:nvSpPr>
          <p:cNvPr id="33" name="!!!圆角矩形 5">
            <a:extLst>
              <a:ext uri="{FF2B5EF4-FFF2-40B4-BE49-F238E27FC236}">
                <a16:creationId xmlns:a16="http://schemas.microsoft.com/office/drawing/2014/main" id="{E9CEC779-7F4D-723E-BDE1-145B39B63EE2}"/>
              </a:ext>
            </a:extLst>
          </p:cNvPr>
          <p:cNvSpPr>
            <a:spLocks noChangeArrowheads="1"/>
          </p:cNvSpPr>
          <p:nvPr/>
        </p:nvSpPr>
        <p:spPr bwMode="auto">
          <a:xfrm>
            <a:off x="5601639" y="4159781"/>
            <a:ext cx="1255500" cy="334800"/>
          </a:xfrm>
          <a:prstGeom prst="roundRect">
            <a:avLst>
              <a:gd name="adj" fmla="val 24210"/>
            </a:avLst>
          </a:prstGeom>
          <a:solidFill>
            <a:srgbClr val="C00000"/>
          </a:solidFill>
          <a:ln w="9525">
            <a:noFill/>
            <a:round/>
            <a:headEnd/>
            <a:tailEnd/>
          </a:ln>
          <a:effectLst>
            <a:outerShdw dist="63500" dir="5400000" algn="ctr" rotWithShape="0">
              <a:srgbClr val="000000">
                <a:alpha val="10999"/>
              </a:srgbClr>
            </a:outerShdw>
          </a:effectLst>
        </p:spPr>
        <p:txBody>
          <a:bodyPr anchor="b" anchorCtr="1"/>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希腊文</a:t>
            </a:r>
            <a:endParaRPr lang="en-US" altLang="zh-CN"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4" name="!!!圆角矩形 5">
            <a:extLst>
              <a:ext uri="{FF2B5EF4-FFF2-40B4-BE49-F238E27FC236}">
                <a16:creationId xmlns:a16="http://schemas.microsoft.com/office/drawing/2014/main" id="{422CE5A2-C2FB-18C7-2006-718C054508C2}"/>
              </a:ext>
            </a:extLst>
          </p:cNvPr>
          <p:cNvSpPr>
            <a:spLocks noChangeArrowheads="1"/>
          </p:cNvSpPr>
          <p:nvPr/>
        </p:nvSpPr>
        <p:spPr bwMode="auto">
          <a:xfrm>
            <a:off x="5601639" y="4159781"/>
            <a:ext cx="1255500" cy="334800"/>
          </a:xfrm>
          <a:prstGeom prst="roundRect">
            <a:avLst>
              <a:gd name="adj" fmla="val 24210"/>
            </a:avLst>
          </a:prstGeom>
          <a:solidFill>
            <a:schemeClr val="accent5">
              <a:lumMod val="75000"/>
            </a:schemeClr>
          </a:solidFill>
          <a:ln w="9525">
            <a:noFill/>
            <a:round/>
            <a:headEnd/>
            <a:tailEnd/>
          </a:ln>
          <a:effectLst>
            <a:outerShdw dist="63500" dir="5400000" algn="ctr" rotWithShape="0">
              <a:srgbClr val="000000">
                <a:alpha val="10999"/>
              </a:srgbClr>
            </a:outerShdw>
          </a:effectLst>
        </p:spPr>
        <p:txBody>
          <a:bodyPr anchor="b" anchorCtr="1"/>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西里尔字母</a:t>
            </a:r>
          </a:p>
        </p:txBody>
      </p:sp>
      <p:sp>
        <p:nvSpPr>
          <p:cNvPr id="35" name="!!!圆角矩形 5">
            <a:extLst>
              <a:ext uri="{FF2B5EF4-FFF2-40B4-BE49-F238E27FC236}">
                <a16:creationId xmlns:a16="http://schemas.microsoft.com/office/drawing/2014/main" id="{AECD89C3-A056-4FD8-B45A-45A4292C380B}"/>
              </a:ext>
            </a:extLst>
          </p:cNvPr>
          <p:cNvSpPr>
            <a:spLocks noChangeArrowheads="1"/>
          </p:cNvSpPr>
          <p:nvPr/>
        </p:nvSpPr>
        <p:spPr bwMode="auto">
          <a:xfrm>
            <a:off x="5601639" y="4159781"/>
            <a:ext cx="1255500" cy="334800"/>
          </a:xfrm>
          <a:prstGeom prst="roundRect">
            <a:avLst>
              <a:gd name="adj" fmla="val 24210"/>
            </a:avLst>
          </a:prstGeom>
          <a:solidFill>
            <a:srgbClr val="FF8800"/>
          </a:solidFill>
          <a:ln w="9525">
            <a:noFill/>
            <a:round/>
            <a:headEnd/>
            <a:tailEnd/>
          </a:ln>
          <a:effectLst>
            <a:outerShdw dist="63500" dir="5400000" algn="ctr" rotWithShape="0">
              <a:srgbClr val="000000">
                <a:alpha val="10999"/>
              </a:srgbClr>
            </a:outerShdw>
          </a:effectLst>
        </p:spPr>
        <p:txBody>
          <a:bodyPr anchor="b" anchorCtr="1"/>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亚美尼亚语</a:t>
            </a:r>
          </a:p>
        </p:txBody>
      </p:sp>
      <p:sp>
        <p:nvSpPr>
          <p:cNvPr id="36" name="!!!圆角矩形 5">
            <a:extLst>
              <a:ext uri="{FF2B5EF4-FFF2-40B4-BE49-F238E27FC236}">
                <a16:creationId xmlns:a16="http://schemas.microsoft.com/office/drawing/2014/main" id="{A62AF456-9DB7-A552-3A49-75CD447C2396}"/>
              </a:ext>
            </a:extLst>
          </p:cNvPr>
          <p:cNvSpPr>
            <a:spLocks noChangeArrowheads="1"/>
          </p:cNvSpPr>
          <p:nvPr/>
        </p:nvSpPr>
        <p:spPr bwMode="auto">
          <a:xfrm>
            <a:off x="5601639" y="4159781"/>
            <a:ext cx="1255500" cy="334800"/>
          </a:xfrm>
          <a:prstGeom prst="roundRect">
            <a:avLst>
              <a:gd name="adj" fmla="val 24210"/>
            </a:avLst>
          </a:prstGeom>
          <a:solidFill>
            <a:srgbClr val="1363AC"/>
          </a:solidFill>
          <a:ln w="9525">
            <a:noFill/>
            <a:round/>
            <a:headEnd/>
            <a:tailEnd/>
          </a:ln>
          <a:effectLst>
            <a:outerShdw dist="63500" dir="5400000" algn="ctr" rotWithShape="0">
              <a:srgbClr val="000000">
                <a:alpha val="10999"/>
              </a:srgbClr>
            </a:outerShdw>
          </a:effectLst>
        </p:spPr>
        <p:txBody>
          <a:bodyPr anchor="b" anchorCtr="1"/>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希伯来文</a:t>
            </a:r>
          </a:p>
        </p:txBody>
      </p:sp>
      <p:sp>
        <p:nvSpPr>
          <p:cNvPr id="37" name="!!!圆角矩形 5">
            <a:extLst>
              <a:ext uri="{FF2B5EF4-FFF2-40B4-BE49-F238E27FC236}">
                <a16:creationId xmlns:a16="http://schemas.microsoft.com/office/drawing/2014/main" id="{1F76B1EF-A9B0-7C1B-2E90-943BD08271CC}"/>
              </a:ext>
            </a:extLst>
          </p:cNvPr>
          <p:cNvSpPr>
            <a:spLocks noChangeArrowheads="1"/>
          </p:cNvSpPr>
          <p:nvPr/>
        </p:nvSpPr>
        <p:spPr bwMode="auto">
          <a:xfrm>
            <a:off x="5601639" y="4159781"/>
            <a:ext cx="1255500" cy="334800"/>
          </a:xfrm>
          <a:prstGeom prst="roundRect">
            <a:avLst>
              <a:gd name="adj" fmla="val 24210"/>
            </a:avLst>
          </a:prstGeom>
          <a:solidFill>
            <a:srgbClr val="D99206"/>
          </a:solidFill>
          <a:ln w="9525">
            <a:noFill/>
            <a:round/>
            <a:headEnd/>
            <a:tailEnd/>
          </a:ln>
          <a:effectLst>
            <a:outerShdw dist="63500" dir="5400000" algn="ctr" rotWithShape="0">
              <a:srgbClr val="000000">
                <a:alpha val="10999"/>
              </a:srgbClr>
            </a:outerShdw>
          </a:effectLst>
        </p:spPr>
        <p:txBody>
          <a:bodyPr anchor="b" anchorCtr="1"/>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阿拉伯文</a:t>
            </a:r>
          </a:p>
        </p:txBody>
      </p:sp>
      <p:sp>
        <p:nvSpPr>
          <p:cNvPr id="38" name="!!!圆角矩形 5">
            <a:extLst>
              <a:ext uri="{FF2B5EF4-FFF2-40B4-BE49-F238E27FC236}">
                <a16:creationId xmlns:a16="http://schemas.microsoft.com/office/drawing/2014/main" id="{93796FDE-3F97-ED6E-2D62-21F4E8E9CFED}"/>
              </a:ext>
            </a:extLst>
          </p:cNvPr>
          <p:cNvSpPr>
            <a:spLocks noChangeArrowheads="1"/>
          </p:cNvSpPr>
          <p:nvPr/>
        </p:nvSpPr>
        <p:spPr bwMode="auto">
          <a:xfrm>
            <a:off x="5601639" y="4159781"/>
            <a:ext cx="1255500" cy="334800"/>
          </a:xfrm>
          <a:prstGeom prst="roundRect">
            <a:avLst>
              <a:gd name="adj" fmla="val 24210"/>
            </a:avLst>
          </a:prstGeom>
          <a:solidFill>
            <a:srgbClr val="5D5D5D"/>
          </a:solidFill>
          <a:ln w="9525">
            <a:noFill/>
            <a:round/>
            <a:headEnd/>
            <a:tailEnd/>
          </a:ln>
          <a:effectLst>
            <a:outerShdw dist="63500" dir="5400000" algn="ctr" rotWithShape="0">
              <a:srgbClr val="000000">
                <a:alpha val="10999"/>
              </a:srgbClr>
            </a:outerShdw>
          </a:effectLst>
        </p:spPr>
        <p:txBody>
          <a:bodyPr anchor="b" anchorCtr="1"/>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叙利亚文</a:t>
            </a:r>
          </a:p>
        </p:txBody>
      </p:sp>
      <p:sp>
        <p:nvSpPr>
          <p:cNvPr id="39" name="!!!圆角矩形 5">
            <a:extLst>
              <a:ext uri="{FF2B5EF4-FFF2-40B4-BE49-F238E27FC236}">
                <a16:creationId xmlns:a16="http://schemas.microsoft.com/office/drawing/2014/main" id="{6561DF7F-1823-FEA1-FA65-F6941DEBD434}"/>
              </a:ext>
            </a:extLst>
          </p:cNvPr>
          <p:cNvSpPr>
            <a:spLocks noChangeArrowheads="1"/>
          </p:cNvSpPr>
          <p:nvPr/>
        </p:nvSpPr>
        <p:spPr bwMode="auto">
          <a:xfrm>
            <a:off x="5601639" y="4718681"/>
            <a:ext cx="1255500" cy="334800"/>
          </a:xfrm>
          <a:prstGeom prst="roundRect">
            <a:avLst>
              <a:gd name="adj" fmla="val 24210"/>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中日韩文字</a:t>
            </a:r>
            <a:endParaRPr lang="en-US" altLang="zh-CN"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0" name="!!!圆角矩形 5">
            <a:extLst>
              <a:ext uri="{FF2B5EF4-FFF2-40B4-BE49-F238E27FC236}">
                <a16:creationId xmlns:a16="http://schemas.microsoft.com/office/drawing/2014/main" id="{609F1F92-B803-DF3D-1F08-96F34CC513E5}"/>
              </a:ext>
            </a:extLst>
          </p:cNvPr>
          <p:cNvSpPr>
            <a:spLocks noChangeArrowheads="1"/>
          </p:cNvSpPr>
          <p:nvPr/>
        </p:nvSpPr>
        <p:spPr bwMode="auto">
          <a:xfrm>
            <a:off x="5601639" y="4718681"/>
            <a:ext cx="1255500" cy="334800"/>
          </a:xfrm>
          <a:prstGeom prst="roundRect">
            <a:avLst>
              <a:gd name="adj" fmla="val 24210"/>
            </a:avLst>
          </a:prstGeom>
          <a:solidFill>
            <a:srgbClr val="554D8A"/>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东南亚文字</a:t>
            </a:r>
          </a:p>
        </p:txBody>
      </p:sp>
      <p:sp>
        <p:nvSpPr>
          <p:cNvPr id="42" name="!!!圆角矩形 5">
            <a:extLst>
              <a:ext uri="{FF2B5EF4-FFF2-40B4-BE49-F238E27FC236}">
                <a16:creationId xmlns:a16="http://schemas.microsoft.com/office/drawing/2014/main" id="{3BD82EA6-D015-4258-705A-71B655834A83}"/>
              </a:ext>
            </a:extLst>
          </p:cNvPr>
          <p:cNvSpPr>
            <a:spLocks noChangeArrowheads="1"/>
          </p:cNvSpPr>
          <p:nvPr/>
        </p:nvSpPr>
        <p:spPr bwMode="auto">
          <a:xfrm>
            <a:off x="5599428" y="4714298"/>
            <a:ext cx="1255500" cy="334800"/>
          </a:xfrm>
          <a:prstGeom prst="roundRect">
            <a:avLst>
              <a:gd name="adj" fmla="val 24210"/>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lvl="0" algn="ctr">
              <a:defRPr/>
            </a:pPr>
            <a:r>
              <a:rPr lang="zh-CN" altLang="en-US"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rPr>
              <a:t>简体中文</a:t>
            </a:r>
            <a:endParaRPr lang="en-US" altLang="zh-CN" kern="0" dirty="0">
              <a:solidFill>
                <a:srgbClr val="FFFFFF"/>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cxnSp>
        <p:nvCxnSpPr>
          <p:cNvPr id="44" name="直接连接符 43">
            <a:extLst>
              <a:ext uri="{FF2B5EF4-FFF2-40B4-BE49-F238E27FC236}">
                <a16:creationId xmlns:a16="http://schemas.microsoft.com/office/drawing/2014/main" id="{47253A6F-048F-404B-B9AF-454025AC2535}"/>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43" name="标题 1">
            <a:extLst>
              <a:ext uri="{FF2B5EF4-FFF2-40B4-BE49-F238E27FC236}">
                <a16:creationId xmlns:a16="http://schemas.microsoft.com/office/drawing/2014/main" id="{4BAF9D66-6637-444D-B380-740F257F5492}"/>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19545069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900" decel="100000" fill="hold"/>
                                        <p:tgtEl>
                                          <p:spTgt spid="1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inVertical)">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37"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1000"/>
                                        <p:tgtEl>
                                          <p:spTgt spid="16"/>
                                        </p:tgtEl>
                                      </p:cBhvr>
                                    </p:animEffect>
                                    <p:anim calcmode="lin" valueType="num">
                                      <p:cBhvr>
                                        <p:cTn id="21" dur="1000" fill="hold"/>
                                        <p:tgtEl>
                                          <p:spTgt spid="16"/>
                                        </p:tgtEl>
                                        <p:attrNameLst>
                                          <p:attrName>ppt_x</p:attrName>
                                        </p:attrNameLst>
                                      </p:cBhvr>
                                      <p:tavLst>
                                        <p:tav tm="0">
                                          <p:val>
                                            <p:strVal val="#ppt_x"/>
                                          </p:val>
                                        </p:tav>
                                        <p:tav tm="100000">
                                          <p:val>
                                            <p:strVal val="#ppt_x"/>
                                          </p:val>
                                        </p:tav>
                                      </p:tavLst>
                                    </p:anim>
                                    <p:anim calcmode="lin" valueType="num">
                                      <p:cBhvr>
                                        <p:cTn id="22" dur="900" decel="100000" fill="hold"/>
                                        <p:tgtEl>
                                          <p:spTgt spid="16"/>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anim calcmode="lin" valueType="num">
                                      <p:cBhvr>
                                        <p:cTn id="29" dur="1000" fill="hold"/>
                                        <p:tgtEl>
                                          <p:spTgt spid="21"/>
                                        </p:tgtEl>
                                        <p:attrNameLst>
                                          <p:attrName>ppt_x</p:attrName>
                                        </p:attrNameLst>
                                      </p:cBhvr>
                                      <p:tavLst>
                                        <p:tav tm="0">
                                          <p:val>
                                            <p:strVal val="#ppt_x"/>
                                          </p:val>
                                        </p:tav>
                                        <p:tav tm="100000">
                                          <p:val>
                                            <p:strVal val="#ppt_x"/>
                                          </p:val>
                                        </p:tav>
                                      </p:tavLst>
                                    </p:anim>
                                    <p:anim calcmode="lin" valueType="num">
                                      <p:cBhvr>
                                        <p:cTn id="30" dur="900" decel="100000" fill="hold"/>
                                        <p:tgtEl>
                                          <p:spTgt spid="21"/>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 calcmode="lin" valueType="num">
                                      <p:cBhvr additive="base">
                                        <p:cTn id="36" dur="500"/>
                                        <p:tgtEl>
                                          <p:spTgt spid="26"/>
                                        </p:tgtEl>
                                        <p:attrNameLst>
                                          <p:attrName>ppt_y</p:attrName>
                                        </p:attrNameLst>
                                      </p:cBhvr>
                                      <p:tavLst>
                                        <p:tav tm="0">
                                          <p:val>
                                            <p:strVal val="#ppt_y-#ppt_h*1.125000"/>
                                          </p:val>
                                        </p:tav>
                                        <p:tav tm="100000">
                                          <p:val>
                                            <p:strVal val="#ppt_y"/>
                                          </p:val>
                                        </p:tav>
                                      </p:tavLst>
                                    </p:anim>
                                    <p:animEffect transition="in" filter="wipe(down)">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additive="base">
                                        <p:cTn id="42" dur="500"/>
                                        <p:tgtEl>
                                          <p:spTgt spid="29"/>
                                        </p:tgtEl>
                                        <p:attrNameLst>
                                          <p:attrName>ppt_y</p:attrName>
                                        </p:attrNameLst>
                                      </p:cBhvr>
                                      <p:tavLst>
                                        <p:tav tm="0">
                                          <p:val>
                                            <p:strVal val="#ppt_y-#ppt_h*1.125000"/>
                                          </p:val>
                                        </p:tav>
                                        <p:tav tm="100000">
                                          <p:val>
                                            <p:strVal val="#ppt_y"/>
                                          </p:val>
                                        </p:tav>
                                      </p:tavLst>
                                    </p:anim>
                                    <p:animEffect transition="in" filter="wipe(down)">
                                      <p:cBhvr>
                                        <p:cTn id="43" dur="5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additive="base">
                                        <p:cTn id="48" dur="500"/>
                                        <p:tgtEl>
                                          <p:spTgt spid="30"/>
                                        </p:tgtEl>
                                        <p:attrNameLst>
                                          <p:attrName>ppt_y</p:attrName>
                                        </p:attrNameLst>
                                      </p:cBhvr>
                                      <p:tavLst>
                                        <p:tav tm="0">
                                          <p:val>
                                            <p:strVal val="#ppt_y-#ppt_h*1.125000"/>
                                          </p:val>
                                        </p:tav>
                                        <p:tav tm="100000">
                                          <p:val>
                                            <p:strVal val="#ppt_y"/>
                                          </p:val>
                                        </p:tav>
                                      </p:tavLst>
                                    </p:anim>
                                    <p:animEffect transition="in" filter="wipe(down)">
                                      <p:cBhvr>
                                        <p:cTn id="49" dur="500"/>
                                        <p:tgtEl>
                                          <p:spTgt spid="30"/>
                                        </p:tgtEl>
                                      </p:cBhvr>
                                    </p:animEffect>
                                  </p:childTnLst>
                                </p:cTn>
                              </p:par>
                            </p:childTnLst>
                          </p:cTn>
                        </p:par>
                        <p:par>
                          <p:cTn id="50" fill="hold">
                            <p:stCondLst>
                              <p:cond delay="500"/>
                            </p:stCondLst>
                            <p:childTnLst>
                              <p:par>
                                <p:cTn id="51" presetID="12" presetClass="entr" presetSubtype="1"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additive="base">
                                        <p:cTn id="53" dur="500"/>
                                        <p:tgtEl>
                                          <p:spTgt spid="27"/>
                                        </p:tgtEl>
                                        <p:attrNameLst>
                                          <p:attrName>ppt_y</p:attrName>
                                        </p:attrNameLst>
                                      </p:cBhvr>
                                      <p:tavLst>
                                        <p:tav tm="0">
                                          <p:val>
                                            <p:strVal val="#ppt_y-#ppt_h*1.125000"/>
                                          </p:val>
                                        </p:tav>
                                        <p:tav tm="100000">
                                          <p:val>
                                            <p:strVal val="#ppt_y"/>
                                          </p:val>
                                        </p:tav>
                                      </p:tavLst>
                                    </p:anim>
                                    <p:animEffect transition="in" filter="wipe(down)">
                                      <p:cBhvr>
                                        <p:cTn id="54" dur="500"/>
                                        <p:tgtEl>
                                          <p:spTgt spid="27"/>
                                        </p:tgtEl>
                                      </p:cBhvr>
                                    </p:animEffect>
                                  </p:childTnLst>
                                </p:cTn>
                              </p:par>
                            </p:childTnLst>
                          </p:cTn>
                        </p:par>
                        <p:par>
                          <p:cTn id="55" fill="hold">
                            <p:stCondLst>
                              <p:cond delay="1000"/>
                            </p:stCondLst>
                            <p:childTnLst>
                              <p:par>
                                <p:cTn id="56" presetID="12" presetClass="exit" presetSubtype="4" fill="hold" grpId="1" nodeType="afterEffect">
                                  <p:stCondLst>
                                    <p:cond delay="0"/>
                                  </p:stCondLst>
                                  <p:childTnLst>
                                    <p:anim calcmode="lin" valueType="num">
                                      <p:cBhvr additive="base">
                                        <p:cTn id="57" dur="500"/>
                                        <p:tgtEl>
                                          <p:spTgt spid="27"/>
                                        </p:tgtEl>
                                        <p:attrNameLst>
                                          <p:attrName>ppt_y</p:attrName>
                                        </p:attrNameLst>
                                      </p:cBhvr>
                                      <p:tavLst>
                                        <p:tav tm="0">
                                          <p:val>
                                            <p:strVal val="#ppt_y"/>
                                          </p:val>
                                        </p:tav>
                                        <p:tav tm="100000">
                                          <p:val>
                                            <p:strVal val="#ppt_y+#ppt_h*1.125000"/>
                                          </p:val>
                                        </p:tav>
                                      </p:tavLst>
                                    </p:anim>
                                    <p:animEffect transition="out" filter="wipe(down)">
                                      <p:cBhvr>
                                        <p:cTn id="58" dur="500"/>
                                        <p:tgtEl>
                                          <p:spTgt spid="27"/>
                                        </p:tgtEl>
                                      </p:cBhvr>
                                    </p:animEffect>
                                    <p:set>
                                      <p:cBhvr>
                                        <p:cTn id="59" dur="1" fill="hold">
                                          <p:stCondLst>
                                            <p:cond delay="499"/>
                                          </p:stCondLst>
                                        </p:cTn>
                                        <p:tgtEl>
                                          <p:spTgt spid="27"/>
                                        </p:tgtEl>
                                        <p:attrNameLst>
                                          <p:attrName>style.visibility</p:attrName>
                                        </p:attrNameLst>
                                      </p:cBhvr>
                                      <p:to>
                                        <p:strVal val="hidden"/>
                                      </p:to>
                                    </p:set>
                                  </p:childTnLst>
                                </p:cTn>
                              </p:par>
                            </p:childTnLst>
                          </p:cTn>
                        </p:par>
                        <p:par>
                          <p:cTn id="60" fill="hold">
                            <p:stCondLst>
                              <p:cond delay="1500"/>
                            </p:stCondLst>
                            <p:childTnLst>
                              <p:par>
                                <p:cTn id="61" presetID="12" presetClass="entr" presetSubtype="1" fill="hold" grpId="0" nodeType="afterEffect">
                                  <p:stCondLst>
                                    <p:cond delay="0"/>
                                  </p:stCondLst>
                                  <p:childTnLst>
                                    <p:set>
                                      <p:cBhvr>
                                        <p:cTn id="62" dur="1" fill="hold">
                                          <p:stCondLst>
                                            <p:cond delay="0"/>
                                          </p:stCondLst>
                                        </p:cTn>
                                        <p:tgtEl>
                                          <p:spTgt spid="33"/>
                                        </p:tgtEl>
                                        <p:attrNameLst>
                                          <p:attrName>style.visibility</p:attrName>
                                        </p:attrNameLst>
                                      </p:cBhvr>
                                      <p:to>
                                        <p:strVal val="visible"/>
                                      </p:to>
                                    </p:set>
                                    <p:anim calcmode="lin" valueType="num">
                                      <p:cBhvr additive="base">
                                        <p:cTn id="63" dur="500"/>
                                        <p:tgtEl>
                                          <p:spTgt spid="33"/>
                                        </p:tgtEl>
                                        <p:attrNameLst>
                                          <p:attrName>ppt_y</p:attrName>
                                        </p:attrNameLst>
                                      </p:cBhvr>
                                      <p:tavLst>
                                        <p:tav tm="0">
                                          <p:val>
                                            <p:strVal val="#ppt_y-#ppt_h*1.125000"/>
                                          </p:val>
                                        </p:tav>
                                        <p:tav tm="100000">
                                          <p:val>
                                            <p:strVal val="#ppt_y"/>
                                          </p:val>
                                        </p:tav>
                                      </p:tavLst>
                                    </p:anim>
                                    <p:animEffect transition="in" filter="wipe(down)">
                                      <p:cBhvr>
                                        <p:cTn id="64" dur="500"/>
                                        <p:tgtEl>
                                          <p:spTgt spid="33"/>
                                        </p:tgtEl>
                                      </p:cBhvr>
                                    </p:animEffect>
                                  </p:childTnLst>
                                </p:cTn>
                              </p:par>
                            </p:childTnLst>
                          </p:cTn>
                        </p:par>
                        <p:par>
                          <p:cTn id="65" fill="hold">
                            <p:stCondLst>
                              <p:cond delay="2000"/>
                            </p:stCondLst>
                            <p:childTnLst>
                              <p:par>
                                <p:cTn id="66" presetID="12" presetClass="exit" presetSubtype="4" fill="hold" grpId="1" nodeType="afterEffect">
                                  <p:stCondLst>
                                    <p:cond delay="0"/>
                                  </p:stCondLst>
                                  <p:childTnLst>
                                    <p:anim calcmode="lin" valueType="num">
                                      <p:cBhvr additive="base">
                                        <p:cTn id="67" dur="500"/>
                                        <p:tgtEl>
                                          <p:spTgt spid="33"/>
                                        </p:tgtEl>
                                        <p:attrNameLst>
                                          <p:attrName>ppt_y</p:attrName>
                                        </p:attrNameLst>
                                      </p:cBhvr>
                                      <p:tavLst>
                                        <p:tav tm="0">
                                          <p:val>
                                            <p:strVal val="#ppt_y"/>
                                          </p:val>
                                        </p:tav>
                                        <p:tav tm="100000">
                                          <p:val>
                                            <p:strVal val="#ppt_y+#ppt_h*1.125000"/>
                                          </p:val>
                                        </p:tav>
                                      </p:tavLst>
                                    </p:anim>
                                    <p:animEffect transition="out" filter="wipe(down)">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childTnLst>
                          </p:cTn>
                        </p:par>
                        <p:par>
                          <p:cTn id="70" fill="hold">
                            <p:stCondLst>
                              <p:cond delay="2500"/>
                            </p:stCondLst>
                            <p:childTnLst>
                              <p:par>
                                <p:cTn id="71" presetID="12" presetClass="entr" presetSubtype="1" fill="hold" grpId="0" nodeType="afterEffect">
                                  <p:stCondLst>
                                    <p:cond delay="0"/>
                                  </p:stCondLst>
                                  <p:childTnLst>
                                    <p:set>
                                      <p:cBhvr>
                                        <p:cTn id="72" dur="1" fill="hold">
                                          <p:stCondLst>
                                            <p:cond delay="0"/>
                                          </p:stCondLst>
                                        </p:cTn>
                                        <p:tgtEl>
                                          <p:spTgt spid="34"/>
                                        </p:tgtEl>
                                        <p:attrNameLst>
                                          <p:attrName>style.visibility</p:attrName>
                                        </p:attrNameLst>
                                      </p:cBhvr>
                                      <p:to>
                                        <p:strVal val="visible"/>
                                      </p:to>
                                    </p:set>
                                    <p:anim calcmode="lin" valueType="num">
                                      <p:cBhvr additive="base">
                                        <p:cTn id="73" dur="500"/>
                                        <p:tgtEl>
                                          <p:spTgt spid="34"/>
                                        </p:tgtEl>
                                        <p:attrNameLst>
                                          <p:attrName>ppt_y</p:attrName>
                                        </p:attrNameLst>
                                      </p:cBhvr>
                                      <p:tavLst>
                                        <p:tav tm="0">
                                          <p:val>
                                            <p:strVal val="#ppt_y-#ppt_h*1.125000"/>
                                          </p:val>
                                        </p:tav>
                                        <p:tav tm="100000">
                                          <p:val>
                                            <p:strVal val="#ppt_y"/>
                                          </p:val>
                                        </p:tav>
                                      </p:tavLst>
                                    </p:anim>
                                    <p:animEffect transition="in" filter="wipe(down)">
                                      <p:cBhvr>
                                        <p:cTn id="74" dur="500"/>
                                        <p:tgtEl>
                                          <p:spTgt spid="34"/>
                                        </p:tgtEl>
                                      </p:cBhvr>
                                    </p:animEffect>
                                  </p:childTnLst>
                                </p:cTn>
                              </p:par>
                            </p:childTnLst>
                          </p:cTn>
                        </p:par>
                        <p:par>
                          <p:cTn id="75" fill="hold">
                            <p:stCondLst>
                              <p:cond delay="3000"/>
                            </p:stCondLst>
                            <p:childTnLst>
                              <p:par>
                                <p:cTn id="76" presetID="12" presetClass="exit" presetSubtype="4" fill="hold" grpId="1" nodeType="afterEffect">
                                  <p:stCondLst>
                                    <p:cond delay="0"/>
                                  </p:stCondLst>
                                  <p:childTnLst>
                                    <p:anim calcmode="lin" valueType="num">
                                      <p:cBhvr additive="base">
                                        <p:cTn id="77" dur="500"/>
                                        <p:tgtEl>
                                          <p:spTgt spid="34"/>
                                        </p:tgtEl>
                                        <p:attrNameLst>
                                          <p:attrName>ppt_y</p:attrName>
                                        </p:attrNameLst>
                                      </p:cBhvr>
                                      <p:tavLst>
                                        <p:tav tm="0">
                                          <p:val>
                                            <p:strVal val="#ppt_y"/>
                                          </p:val>
                                        </p:tav>
                                        <p:tav tm="100000">
                                          <p:val>
                                            <p:strVal val="#ppt_y+#ppt_h*1.125000"/>
                                          </p:val>
                                        </p:tav>
                                      </p:tavLst>
                                    </p:anim>
                                    <p:animEffect transition="out" filter="wipe(down)">
                                      <p:cBhvr>
                                        <p:cTn id="78" dur="500"/>
                                        <p:tgtEl>
                                          <p:spTgt spid="34"/>
                                        </p:tgtEl>
                                      </p:cBhvr>
                                    </p:animEffect>
                                    <p:set>
                                      <p:cBhvr>
                                        <p:cTn id="79" dur="1" fill="hold">
                                          <p:stCondLst>
                                            <p:cond delay="499"/>
                                          </p:stCondLst>
                                        </p:cTn>
                                        <p:tgtEl>
                                          <p:spTgt spid="34"/>
                                        </p:tgtEl>
                                        <p:attrNameLst>
                                          <p:attrName>style.visibility</p:attrName>
                                        </p:attrNameLst>
                                      </p:cBhvr>
                                      <p:to>
                                        <p:strVal val="hidden"/>
                                      </p:to>
                                    </p:set>
                                  </p:childTnLst>
                                </p:cTn>
                              </p:par>
                            </p:childTnLst>
                          </p:cTn>
                        </p:par>
                        <p:par>
                          <p:cTn id="80" fill="hold">
                            <p:stCondLst>
                              <p:cond delay="3500"/>
                            </p:stCondLst>
                            <p:childTnLst>
                              <p:par>
                                <p:cTn id="81" presetID="12" presetClass="entr" presetSubtype="1"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 calcmode="lin" valueType="num">
                                      <p:cBhvr additive="base">
                                        <p:cTn id="83" dur="500"/>
                                        <p:tgtEl>
                                          <p:spTgt spid="35"/>
                                        </p:tgtEl>
                                        <p:attrNameLst>
                                          <p:attrName>ppt_y</p:attrName>
                                        </p:attrNameLst>
                                      </p:cBhvr>
                                      <p:tavLst>
                                        <p:tav tm="0">
                                          <p:val>
                                            <p:strVal val="#ppt_y-#ppt_h*1.125000"/>
                                          </p:val>
                                        </p:tav>
                                        <p:tav tm="100000">
                                          <p:val>
                                            <p:strVal val="#ppt_y"/>
                                          </p:val>
                                        </p:tav>
                                      </p:tavLst>
                                    </p:anim>
                                    <p:animEffect transition="in" filter="wipe(down)">
                                      <p:cBhvr>
                                        <p:cTn id="84" dur="500"/>
                                        <p:tgtEl>
                                          <p:spTgt spid="35"/>
                                        </p:tgtEl>
                                      </p:cBhvr>
                                    </p:animEffect>
                                  </p:childTnLst>
                                </p:cTn>
                              </p:par>
                            </p:childTnLst>
                          </p:cTn>
                        </p:par>
                        <p:par>
                          <p:cTn id="85" fill="hold">
                            <p:stCondLst>
                              <p:cond delay="4000"/>
                            </p:stCondLst>
                            <p:childTnLst>
                              <p:par>
                                <p:cTn id="86" presetID="12" presetClass="exit" presetSubtype="4" fill="hold" grpId="1" nodeType="afterEffect">
                                  <p:stCondLst>
                                    <p:cond delay="0"/>
                                  </p:stCondLst>
                                  <p:childTnLst>
                                    <p:anim calcmode="lin" valueType="num">
                                      <p:cBhvr additive="base">
                                        <p:cTn id="87" dur="500"/>
                                        <p:tgtEl>
                                          <p:spTgt spid="35"/>
                                        </p:tgtEl>
                                        <p:attrNameLst>
                                          <p:attrName>ppt_y</p:attrName>
                                        </p:attrNameLst>
                                      </p:cBhvr>
                                      <p:tavLst>
                                        <p:tav tm="0">
                                          <p:val>
                                            <p:strVal val="#ppt_y"/>
                                          </p:val>
                                        </p:tav>
                                        <p:tav tm="100000">
                                          <p:val>
                                            <p:strVal val="#ppt_y+#ppt_h*1.125000"/>
                                          </p:val>
                                        </p:tav>
                                      </p:tavLst>
                                    </p:anim>
                                    <p:animEffect transition="out" filter="wipe(down)">
                                      <p:cBhvr>
                                        <p:cTn id="88" dur="500"/>
                                        <p:tgtEl>
                                          <p:spTgt spid="35"/>
                                        </p:tgtEl>
                                      </p:cBhvr>
                                    </p:animEffect>
                                    <p:set>
                                      <p:cBhvr>
                                        <p:cTn id="89" dur="1" fill="hold">
                                          <p:stCondLst>
                                            <p:cond delay="499"/>
                                          </p:stCondLst>
                                        </p:cTn>
                                        <p:tgtEl>
                                          <p:spTgt spid="35"/>
                                        </p:tgtEl>
                                        <p:attrNameLst>
                                          <p:attrName>style.visibility</p:attrName>
                                        </p:attrNameLst>
                                      </p:cBhvr>
                                      <p:to>
                                        <p:strVal val="hidden"/>
                                      </p:to>
                                    </p:set>
                                  </p:childTnLst>
                                </p:cTn>
                              </p:par>
                            </p:childTnLst>
                          </p:cTn>
                        </p:par>
                        <p:par>
                          <p:cTn id="90" fill="hold">
                            <p:stCondLst>
                              <p:cond delay="4500"/>
                            </p:stCondLst>
                            <p:childTnLst>
                              <p:par>
                                <p:cTn id="91" presetID="12" presetClass="entr" presetSubtype="1" fill="hold" grpId="0" nodeType="afterEffect">
                                  <p:stCondLst>
                                    <p:cond delay="0"/>
                                  </p:stCondLst>
                                  <p:childTnLst>
                                    <p:set>
                                      <p:cBhvr>
                                        <p:cTn id="92" dur="1" fill="hold">
                                          <p:stCondLst>
                                            <p:cond delay="0"/>
                                          </p:stCondLst>
                                        </p:cTn>
                                        <p:tgtEl>
                                          <p:spTgt spid="36"/>
                                        </p:tgtEl>
                                        <p:attrNameLst>
                                          <p:attrName>style.visibility</p:attrName>
                                        </p:attrNameLst>
                                      </p:cBhvr>
                                      <p:to>
                                        <p:strVal val="visible"/>
                                      </p:to>
                                    </p:set>
                                    <p:anim calcmode="lin" valueType="num">
                                      <p:cBhvr additive="base">
                                        <p:cTn id="93" dur="500"/>
                                        <p:tgtEl>
                                          <p:spTgt spid="36"/>
                                        </p:tgtEl>
                                        <p:attrNameLst>
                                          <p:attrName>ppt_y</p:attrName>
                                        </p:attrNameLst>
                                      </p:cBhvr>
                                      <p:tavLst>
                                        <p:tav tm="0">
                                          <p:val>
                                            <p:strVal val="#ppt_y-#ppt_h*1.125000"/>
                                          </p:val>
                                        </p:tav>
                                        <p:tav tm="100000">
                                          <p:val>
                                            <p:strVal val="#ppt_y"/>
                                          </p:val>
                                        </p:tav>
                                      </p:tavLst>
                                    </p:anim>
                                    <p:animEffect transition="in" filter="wipe(down)">
                                      <p:cBhvr>
                                        <p:cTn id="94" dur="500"/>
                                        <p:tgtEl>
                                          <p:spTgt spid="36"/>
                                        </p:tgtEl>
                                      </p:cBhvr>
                                    </p:animEffect>
                                  </p:childTnLst>
                                </p:cTn>
                              </p:par>
                            </p:childTnLst>
                          </p:cTn>
                        </p:par>
                        <p:par>
                          <p:cTn id="95" fill="hold">
                            <p:stCondLst>
                              <p:cond delay="5000"/>
                            </p:stCondLst>
                            <p:childTnLst>
                              <p:par>
                                <p:cTn id="96" presetID="12" presetClass="exit" presetSubtype="4" fill="hold" grpId="1" nodeType="afterEffect">
                                  <p:stCondLst>
                                    <p:cond delay="0"/>
                                  </p:stCondLst>
                                  <p:childTnLst>
                                    <p:anim calcmode="lin" valueType="num">
                                      <p:cBhvr additive="base">
                                        <p:cTn id="97" dur="500"/>
                                        <p:tgtEl>
                                          <p:spTgt spid="36"/>
                                        </p:tgtEl>
                                        <p:attrNameLst>
                                          <p:attrName>ppt_y</p:attrName>
                                        </p:attrNameLst>
                                      </p:cBhvr>
                                      <p:tavLst>
                                        <p:tav tm="0">
                                          <p:val>
                                            <p:strVal val="#ppt_y"/>
                                          </p:val>
                                        </p:tav>
                                        <p:tav tm="100000">
                                          <p:val>
                                            <p:strVal val="#ppt_y+#ppt_h*1.125000"/>
                                          </p:val>
                                        </p:tav>
                                      </p:tavLst>
                                    </p:anim>
                                    <p:animEffect transition="out" filter="wipe(down)">
                                      <p:cBhvr>
                                        <p:cTn id="98" dur="500"/>
                                        <p:tgtEl>
                                          <p:spTgt spid="36"/>
                                        </p:tgtEl>
                                      </p:cBhvr>
                                    </p:animEffect>
                                    <p:set>
                                      <p:cBhvr>
                                        <p:cTn id="99" dur="1" fill="hold">
                                          <p:stCondLst>
                                            <p:cond delay="499"/>
                                          </p:stCondLst>
                                        </p:cTn>
                                        <p:tgtEl>
                                          <p:spTgt spid="36"/>
                                        </p:tgtEl>
                                        <p:attrNameLst>
                                          <p:attrName>style.visibility</p:attrName>
                                        </p:attrNameLst>
                                      </p:cBhvr>
                                      <p:to>
                                        <p:strVal val="hidden"/>
                                      </p:to>
                                    </p:set>
                                  </p:childTnLst>
                                </p:cTn>
                              </p:par>
                              <p:par>
                                <p:cTn id="100" presetID="12" presetClass="entr" presetSubtype="1"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 calcmode="lin" valueType="num">
                                      <p:cBhvr additive="base">
                                        <p:cTn id="102" dur="500"/>
                                        <p:tgtEl>
                                          <p:spTgt spid="37"/>
                                        </p:tgtEl>
                                        <p:attrNameLst>
                                          <p:attrName>ppt_y</p:attrName>
                                        </p:attrNameLst>
                                      </p:cBhvr>
                                      <p:tavLst>
                                        <p:tav tm="0">
                                          <p:val>
                                            <p:strVal val="#ppt_y-#ppt_h*1.125000"/>
                                          </p:val>
                                        </p:tav>
                                        <p:tav tm="100000">
                                          <p:val>
                                            <p:strVal val="#ppt_y"/>
                                          </p:val>
                                        </p:tav>
                                      </p:tavLst>
                                    </p:anim>
                                    <p:animEffect transition="in" filter="wipe(down)">
                                      <p:cBhvr>
                                        <p:cTn id="103" dur="500"/>
                                        <p:tgtEl>
                                          <p:spTgt spid="37"/>
                                        </p:tgtEl>
                                      </p:cBhvr>
                                    </p:animEffect>
                                  </p:childTnLst>
                                </p:cTn>
                              </p:par>
                            </p:childTnLst>
                          </p:cTn>
                        </p:par>
                        <p:par>
                          <p:cTn id="104" fill="hold">
                            <p:stCondLst>
                              <p:cond delay="5500"/>
                            </p:stCondLst>
                            <p:childTnLst>
                              <p:par>
                                <p:cTn id="105" presetID="12" presetClass="exit" presetSubtype="4" fill="hold" grpId="1" nodeType="afterEffect">
                                  <p:stCondLst>
                                    <p:cond delay="0"/>
                                  </p:stCondLst>
                                  <p:childTnLst>
                                    <p:anim calcmode="lin" valueType="num">
                                      <p:cBhvr additive="base">
                                        <p:cTn id="106" dur="500"/>
                                        <p:tgtEl>
                                          <p:spTgt spid="37"/>
                                        </p:tgtEl>
                                        <p:attrNameLst>
                                          <p:attrName>ppt_y</p:attrName>
                                        </p:attrNameLst>
                                      </p:cBhvr>
                                      <p:tavLst>
                                        <p:tav tm="0">
                                          <p:val>
                                            <p:strVal val="#ppt_y"/>
                                          </p:val>
                                        </p:tav>
                                        <p:tav tm="100000">
                                          <p:val>
                                            <p:strVal val="#ppt_y+#ppt_h*1.125000"/>
                                          </p:val>
                                        </p:tav>
                                      </p:tavLst>
                                    </p:anim>
                                    <p:animEffect transition="out" filter="wipe(down)">
                                      <p:cBhvr>
                                        <p:cTn id="107" dur="500"/>
                                        <p:tgtEl>
                                          <p:spTgt spid="37"/>
                                        </p:tgtEl>
                                      </p:cBhvr>
                                    </p:animEffect>
                                    <p:set>
                                      <p:cBhvr>
                                        <p:cTn id="108" dur="1" fill="hold">
                                          <p:stCondLst>
                                            <p:cond delay="499"/>
                                          </p:stCondLst>
                                        </p:cTn>
                                        <p:tgtEl>
                                          <p:spTgt spid="37"/>
                                        </p:tgtEl>
                                        <p:attrNameLst>
                                          <p:attrName>style.visibility</p:attrName>
                                        </p:attrNameLst>
                                      </p:cBhvr>
                                      <p:to>
                                        <p:strVal val="hidden"/>
                                      </p:to>
                                    </p:set>
                                  </p:childTnLst>
                                </p:cTn>
                              </p:par>
                              <p:par>
                                <p:cTn id="109" presetID="12" presetClass="entr" presetSubtype="1"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 calcmode="lin" valueType="num">
                                      <p:cBhvr additive="base">
                                        <p:cTn id="111" dur="500"/>
                                        <p:tgtEl>
                                          <p:spTgt spid="38"/>
                                        </p:tgtEl>
                                        <p:attrNameLst>
                                          <p:attrName>ppt_y</p:attrName>
                                        </p:attrNameLst>
                                      </p:cBhvr>
                                      <p:tavLst>
                                        <p:tav tm="0">
                                          <p:val>
                                            <p:strVal val="#ppt_y-#ppt_h*1.125000"/>
                                          </p:val>
                                        </p:tav>
                                        <p:tav tm="100000">
                                          <p:val>
                                            <p:strVal val="#ppt_y"/>
                                          </p:val>
                                        </p:tav>
                                      </p:tavLst>
                                    </p:anim>
                                    <p:animEffect transition="in" filter="wipe(down)">
                                      <p:cBhvr>
                                        <p:cTn id="112" dur="500"/>
                                        <p:tgtEl>
                                          <p:spTgt spid="38"/>
                                        </p:tgtEl>
                                      </p:cBhvr>
                                    </p:animEffect>
                                  </p:childTnLst>
                                </p:cTn>
                              </p:par>
                            </p:childTnLst>
                          </p:cTn>
                        </p:par>
                        <p:par>
                          <p:cTn id="113" fill="hold">
                            <p:stCondLst>
                              <p:cond delay="6000"/>
                            </p:stCondLst>
                            <p:childTnLst>
                              <p:par>
                                <p:cTn id="114" presetID="12" presetClass="entr" presetSubtype="1" fill="hold" grpId="0" nodeType="afterEffect">
                                  <p:stCondLst>
                                    <p:cond delay="0"/>
                                  </p:stCondLst>
                                  <p:childTnLst>
                                    <p:set>
                                      <p:cBhvr>
                                        <p:cTn id="115" dur="1" fill="hold">
                                          <p:stCondLst>
                                            <p:cond delay="0"/>
                                          </p:stCondLst>
                                        </p:cTn>
                                        <p:tgtEl>
                                          <p:spTgt spid="31"/>
                                        </p:tgtEl>
                                        <p:attrNameLst>
                                          <p:attrName>style.visibility</p:attrName>
                                        </p:attrNameLst>
                                      </p:cBhvr>
                                      <p:to>
                                        <p:strVal val="visible"/>
                                      </p:to>
                                    </p:set>
                                    <p:anim calcmode="lin" valueType="num">
                                      <p:cBhvr additive="base">
                                        <p:cTn id="116" dur="500"/>
                                        <p:tgtEl>
                                          <p:spTgt spid="31"/>
                                        </p:tgtEl>
                                        <p:attrNameLst>
                                          <p:attrName>ppt_y</p:attrName>
                                        </p:attrNameLst>
                                      </p:cBhvr>
                                      <p:tavLst>
                                        <p:tav tm="0">
                                          <p:val>
                                            <p:strVal val="#ppt_y-#ppt_h*1.125000"/>
                                          </p:val>
                                        </p:tav>
                                        <p:tav tm="100000">
                                          <p:val>
                                            <p:strVal val="#ppt_y"/>
                                          </p:val>
                                        </p:tav>
                                      </p:tavLst>
                                    </p:anim>
                                    <p:animEffect transition="in" filter="wipe(down)">
                                      <p:cBhvr>
                                        <p:cTn id="117" dur="500"/>
                                        <p:tgtEl>
                                          <p:spTgt spid="31"/>
                                        </p:tgtEl>
                                      </p:cBhvr>
                                    </p:animEffect>
                                  </p:childTnLst>
                                </p:cTn>
                              </p:par>
                              <p:par>
                                <p:cTn id="118" presetID="12" presetClass="entr" presetSubtype="1" fill="hold" grpId="0" nodeType="withEffect">
                                  <p:stCondLst>
                                    <p:cond delay="0"/>
                                  </p:stCondLst>
                                  <p:childTnLst>
                                    <p:set>
                                      <p:cBhvr>
                                        <p:cTn id="119" dur="1" fill="hold">
                                          <p:stCondLst>
                                            <p:cond delay="0"/>
                                          </p:stCondLst>
                                        </p:cTn>
                                        <p:tgtEl>
                                          <p:spTgt spid="39"/>
                                        </p:tgtEl>
                                        <p:attrNameLst>
                                          <p:attrName>style.visibility</p:attrName>
                                        </p:attrNameLst>
                                      </p:cBhvr>
                                      <p:to>
                                        <p:strVal val="visible"/>
                                      </p:to>
                                    </p:set>
                                    <p:anim calcmode="lin" valueType="num">
                                      <p:cBhvr additive="base">
                                        <p:cTn id="120" dur="500"/>
                                        <p:tgtEl>
                                          <p:spTgt spid="39"/>
                                        </p:tgtEl>
                                        <p:attrNameLst>
                                          <p:attrName>ppt_y</p:attrName>
                                        </p:attrNameLst>
                                      </p:cBhvr>
                                      <p:tavLst>
                                        <p:tav tm="0">
                                          <p:val>
                                            <p:strVal val="#ppt_y-#ppt_h*1.125000"/>
                                          </p:val>
                                        </p:tav>
                                        <p:tav tm="100000">
                                          <p:val>
                                            <p:strVal val="#ppt_y"/>
                                          </p:val>
                                        </p:tav>
                                      </p:tavLst>
                                    </p:anim>
                                    <p:animEffect transition="in" filter="wipe(down)">
                                      <p:cBhvr>
                                        <p:cTn id="121" dur="500"/>
                                        <p:tgtEl>
                                          <p:spTgt spid="39"/>
                                        </p:tgtEl>
                                      </p:cBhvr>
                                    </p:animEffect>
                                  </p:childTnLst>
                                </p:cTn>
                              </p:par>
                            </p:childTnLst>
                          </p:cTn>
                        </p:par>
                        <p:par>
                          <p:cTn id="122" fill="hold">
                            <p:stCondLst>
                              <p:cond delay="6500"/>
                            </p:stCondLst>
                            <p:childTnLst>
                              <p:par>
                                <p:cTn id="123" presetID="12" presetClass="exit" presetSubtype="4" fill="hold" grpId="1" nodeType="afterEffect">
                                  <p:stCondLst>
                                    <p:cond delay="0"/>
                                  </p:stCondLst>
                                  <p:childTnLst>
                                    <p:anim calcmode="lin" valueType="num">
                                      <p:cBhvr additive="base">
                                        <p:cTn id="124" dur="500"/>
                                        <p:tgtEl>
                                          <p:spTgt spid="39"/>
                                        </p:tgtEl>
                                        <p:attrNameLst>
                                          <p:attrName>ppt_y</p:attrName>
                                        </p:attrNameLst>
                                      </p:cBhvr>
                                      <p:tavLst>
                                        <p:tav tm="0">
                                          <p:val>
                                            <p:strVal val="#ppt_y"/>
                                          </p:val>
                                        </p:tav>
                                        <p:tav tm="100000">
                                          <p:val>
                                            <p:strVal val="#ppt_y+#ppt_h*1.125000"/>
                                          </p:val>
                                        </p:tav>
                                      </p:tavLst>
                                    </p:anim>
                                    <p:animEffect transition="out" filter="wipe(down)">
                                      <p:cBhvr>
                                        <p:cTn id="125" dur="500"/>
                                        <p:tgtEl>
                                          <p:spTgt spid="39"/>
                                        </p:tgtEl>
                                      </p:cBhvr>
                                    </p:animEffect>
                                    <p:set>
                                      <p:cBhvr>
                                        <p:cTn id="126" dur="1" fill="hold">
                                          <p:stCondLst>
                                            <p:cond delay="499"/>
                                          </p:stCondLst>
                                        </p:cTn>
                                        <p:tgtEl>
                                          <p:spTgt spid="39"/>
                                        </p:tgtEl>
                                        <p:attrNameLst>
                                          <p:attrName>style.visibility</p:attrName>
                                        </p:attrNameLst>
                                      </p:cBhvr>
                                      <p:to>
                                        <p:strVal val="hidden"/>
                                      </p:to>
                                    </p:set>
                                  </p:childTnLst>
                                </p:cTn>
                              </p:par>
                            </p:childTnLst>
                          </p:cTn>
                        </p:par>
                        <p:par>
                          <p:cTn id="127" fill="hold">
                            <p:stCondLst>
                              <p:cond delay="7000"/>
                            </p:stCondLst>
                            <p:childTnLst>
                              <p:par>
                                <p:cTn id="128" presetID="12" presetClass="entr" presetSubtype="1" fill="hold" grpId="0" nodeType="afterEffect">
                                  <p:stCondLst>
                                    <p:cond delay="0"/>
                                  </p:stCondLst>
                                  <p:childTnLst>
                                    <p:set>
                                      <p:cBhvr>
                                        <p:cTn id="129" dur="1" fill="hold">
                                          <p:stCondLst>
                                            <p:cond delay="0"/>
                                          </p:stCondLst>
                                        </p:cTn>
                                        <p:tgtEl>
                                          <p:spTgt spid="40"/>
                                        </p:tgtEl>
                                        <p:attrNameLst>
                                          <p:attrName>style.visibility</p:attrName>
                                        </p:attrNameLst>
                                      </p:cBhvr>
                                      <p:to>
                                        <p:strVal val="visible"/>
                                      </p:to>
                                    </p:set>
                                    <p:anim calcmode="lin" valueType="num">
                                      <p:cBhvr additive="base">
                                        <p:cTn id="130" dur="500"/>
                                        <p:tgtEl>
                                          <p:spTgt spid="40"/>
                                        </p:tgtEl>
                                        <p:attrNameLst>
                                          <p:attrName>ppt_y</p:attrName>
                                        </p:attrNameLst>
                                      </p:cBhvr>
                                      <p:tavLst>
                                        <p:tav tm="0">
                                          <p:val>
                                            <p:strVal val="#ppt_y-#ppt_h*1.125000"/>
                                          </p:val>
                                        </p:tav>
                                        <p:tav tm="100000">
                                          <p:val>
                                            <p:strVal val="#ppt_y"/>
                                          </p:val>
                                        </p:tav>
                                      </p:tavLst>
                                    </p:anim>
                                    <p:animEffect transition="in" filter="wipe(down)">
                                      <p:cBhvr>
                                        <p:cTn id="131" dur="500"/>
                                        <p:tgtEl>
                                          <p:spTgt spid="40"/>
                                        </p:tgtEl>
                                      </p:cBhvr>
                                    </p:animEffect>
                                  </p:childTnLst>
                                </p:cTn>
                              </p:par>
                            </p:childTnLst>
                          </p:cTn>
                        </p:par>
                        <p:par>
                          <p:cTn id="132" fill="hold">
                            <p:stCondLst>
                              <p:cond delay="7500"/>
                            </p:stCondLst>
                            <p:childTnLst>
                              <p:par>
                                <p:cTn id="133" presetID="12" presetClass="exit" presetSubtype="4" fill="hold" grpId="1" nodeType="afterEffect">
                                  <p:stCondLst>
                                    <p:cond delay="0"/>
                                  </p:stCondLst>
                                  <p:childTnLst>
                                    <p:anim calcmode="lin" valueType="num">
                                      <p:cBhvr additive="base">
                                        <p:cTn id="134" dur="500"/>
                                        <p:tgtEl>
                                          <p:spTgt spid="40"/>
                                        </p:tgtEl>
                                        <p:attrNameLst>
                                          <p:attrName>ppt_y</p:attrName>
                                        </p:attrNameLst>
                                      </p:cBhvr>
                                      <p:tavLst>
                                        <p:tav tm="0">
                                          <p:val>
                                            <p:strVal val="#ppt_y"/>
                                          </p:val>
                                        </p:tav>
                                        <p:tav tm="100000">
                                          <p:val>
                                            <p:strVal val="#ppt_y+#ppt_h*1.125000"/>
                                          </p:val>
                                        </p:tav>
                                      </p:tavLst>
                                    </p:anim>
                                    <p:animEffect transition="out" filter="wipe(down)">
                                      <p:cBhvr>
                                        <p:cTn id="135" dur="500"/>
                                        <p:tgtEl>
                                          <p:spTgt spid="40"/>
                                        </p:tgtEl>
                                      </p:cBhvr>
                                    </p:animEffect>
                                    <p:set>
                                      <p:cBhvr>
                                        <p:cTn id="136" dur="1" fill="hold">
                                          <p:stCondLst>
                                            <p:cond delay="499"/>
                                          </p:stCondLst>
                                        </p:cTn>
                                        <p:tgtEl>
                                          <p:spTgt spid="40"/>
                                        </p:tgtEl>
                                        <p:attrNameLst>
                                          <p:attrName>style.visibility</p:attrName>
                                        </p:attrNameLst>
                                      </p:cBhvr>
                                      <p:to>
                                        <p:strVal val="hidden"/>
                                      </p:to>
                                    </p:set>
                                  </p:childTnLst>
                                </p:cTn>
                              </p:par>
                            </p:childTnLst>
                          </p:cTn>
                        </p:par>
                        <p:par>
                          <p:cTn id="137" fill="hold">
                            <p:stCondLst>
                              <p:cond delay="8000"/>
                            </p:stCondLst>
                            <p:childTnLst>
                              <p:par>
                                <p:cTn id="138" presetID="12" presetClass="entr" presetSubtype="1" fill="hold" grpId="0" nodeType="afterEffect">
                                  <p:stCondLst>
                                    <p:cond delay="0"/>
                                  </p:stCondLst>
                                  <p:childTnLst>
                                    <p:set>
                                      <p:cBhvr>
                                        <p:cTn id="139" dur="1" fill="hold">
                                          <p:stCondLst>
                                            <p:cond delay="0"/>
                                          </p:stCondLst>
                                        </p:cTn>
                                        <p:tgtEl>
                                          <p:spTgt spid="42"/>
                                        </p:tgtEl>
                                        <p:attrNameLst>
                                          <p:attrName>style.visibility</p:attrName>
                                        </p:attrNameLst>
                                      </p:cBhvr>
                                      <p:to>
                                        <p:strVal val="visible"/>
                                      </p:to>
                                    </p:set>
                                    <p:anim calcmode="lin" valueType="num">
                                      <p:cBhvr additive="base">
                                        <p:cTn id="140" dur="500"/>
                                        <p:tgtEl>
                                          <p:spTgt spid="42"/>
                                        </p:tgtEl>
                                        <p:attrNameLst>
                                          <p:attrName>ppt_y</p:attrName>
                                        </p:attrNameLst>
                                      </p:cBhvr>
                                      <p:tavLst>
                                        <p:tav tm="0">
                                          <p:val>
                                            <p:strVal val="#ppt_y-#ppt_h*1.125000"/>
                                          </p:val>
                                        </p:tav>
                                        <p:tav tm="100000">
                                          <p:val>
                                            <p:strVal val="#ppt_y"/>
                                          </p:val>
                                        </p:tav>
                                      </p:tavLst>
                                    </p:anim>
                                    <p:animEffect transition="in" filter="wipe(down)">
                                      <p:cBhvr>
                                        <p:cTn id="141" dur="500"/>
                                        <p:tgtEl>
                                          <p:spTgt spid="42"/>
                                        </p:tgtEl>
                                      </p:cBhvr>
                                    </p:animEffect>
                                  </p:childTnLst>
                                </p:cTn>
                              </p:par>
                            </p:childTnLst>
                          </p:cTn>
                        </p:par>
                        <p:par>
                          <p:cTn id="142" fill="hold">
                            <p:stCondLst>
                              <p:cond delay="8500"/>
                            </p:stCondLst>
                            <p:childTnLst>
                              <p:par>
                                <p:cTn id="143" presetID="12" presetClass="entr" presetSubtype="1" fill="hold" grpId="0" nodeType="afterEffect">
                                  <p:stCondLst>
                                    <p:cond delay="0"/>
                                  </p:stCondLst>
                                  <p:childTnLst>
                                    <p:set>
                                      <p:cBhvr>
                                        <p:cTn id="144" dur="1" fill="hold">
                                          <p:stCondLst>
                                            <p:cond delay="0"/>
                                          </p:stCondLst>
                                        </p:cTn>
                                        <p:tgtEl>
                                          <p:spTgt spid="32"/>
                                        </p:tgtEl>
                                        <p:attrNameLst>
                                          <p:attrName>style.visibility</p:attrName>
                                        </p:attrNameLst>
                                      </p:cBhvr>
                                      <p:to>
                                        <p:strVal val="visible"/>
                                      </p:to>
                                    </p:set>
                                    <p:anim calcmode="lin" valueType="num">
                                      <p:cBhvr additive="base">
                                        <p:cTn id="145" dur="500"/>
                                        <p:tgtEl>
                                          <p:spTgt spid="32"/>
                                        </p:tgtEl>
                                        <p:attrNameLst>
                                          <p:attrName>ppt_y</p:attrName>
                                        </p:attrNameLst>
                                      </p:cBhvr>
                                      <p:tavLst>
                                        <p:tav tm="0">
                                          <p:val>
                                            <p:strVal val="#ppt_y-#ppt_h*1.125000"/>
                                          </p:val>
                                        </p:tav>
                                        <p:tav tm="100000">
                                          <p:val>
                                            <p:strVal val="#ppt_y"/>
                                          </p:val>
                                        </p:tav>
                                      </p:tavLst>
                                    </p:anim>
                                    <p:animEffect transition="in" filter="wipe(down)">
                                      <p:cBhvr>
                                        <p:cTn id="146" dur="500"/>
                                        <p:tgtEl>
                                          <p:spTgt spid="32"/>
                                        </p:tgtEl>
                                      </p:cBhvr>
                                    </p:animEffect>
                                  </p:childTnLst>
                                </p:cTn>
                              </p:par>
                            </p:childTnLst>
                          </p:cTn>
                        </p:par>
                        <p:par>
                          <p:cTn id="147" fill="hold">
                            <p:stCondLst>
                              <p:cond delay="9000"/>
                            </p:stCondLst>
                            <p:childTnLst>
                              <p:par>
                                <p:cTn id="148" presetID="12" presetClass="entr" presetSubtype="1" fill="hold" grpId="0" nodeType="afterEffect">
                                  <p:stCondLst>
                                    <p:cond delay="0"/>
                                  </p:stCondLst>
                                  <p:childTnLst>
                                    <p:set>
                                      <p:cBhvr>
                                        <p:cTn id="149" dur="1" fill="hold">
                                          <p:stCondLst>
                                            <p:cond delay="0"/>
                                          </p:stCondLst>
                                        </p:cTn>
                                        <p:tgtEl>
                                          <p:spTgt spid="28"/>
                                        </p:tgtEl>
                                        <p:attrNameLst>
                                          <p:attrName>style.visibility</p:attrName>
                                        </p:attrNameLst>
                                      </p:cBhvr>
                                      <p:to>
                                        <p:strVal val="visible"/>
                                      </p:to>
                                    </p:set>
                                    <p:anim calcmode="lin" valueType="num">
                                      <p:cBhvr additive="base">
                                        <p:cTn id="150" dur="500"/>
                                        <p:tgtEl>
                                          <p:spTgt spid="28"/>
                                        </p:tgtEl>
                                        <p:attrNameLst>
                                          <p:attrName>ppt_y</p:attrName>
                                        </p:attrNameLst>
                                      </p:cBhvr>
                                      <p:tavLst>
                                        <p:tav tm="0">
                                          <p:val>
                                            <p:strVal val="#ppt_y-#ppt_h*1.125000"/>
                                          </p:val>
                                        </p:tav>
                                        <p:tav tm="100000">
                                          <p:val>
                                            <p:strVal val="#ppt_y"/>
                                          </p:val>
                                        </p:tav>
                                      </p:tavLst>
                                    </p:anim>
                                    <p:animEffect transition="in" filter="wipe(down)">
                                      <p:cBhvr>
                                        <p:cTn id="15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6" grpId="0" animBg="1"/>
      <p:bldP spid="27" grpId="0" animBg="1"/>
      <p:bldP spid="27" grpId="1" animBg="1"/>
      <p:bldP spid="28" grpId="0" animBg="1"/>
      <p:bldP spid="29" grpId="0" animBg="1"/>
      <p:bldP spid="30" grpId="0" animBg="1"/>
      <p:bldP spid="31" grpId="0" animBg="1"/>
      <p:bldP spid="32" grpId="0"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9" grpId="0" animBg="1"/>
      <p:bldP spid="39" grpId="1" animBg="1"/>
      <p:bldP spid="40" grpId="0" animBg="1"/>
      <p:bldP spid="40" grpId="1" animBg="1"/>
      <p:bldP spid="42"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658314" y="1081825"/>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编码和解码</a:t>
            </a:r>
          </a:p>
        </p:txBody>
      </p:sp>
      <p:graphicFrame>
        <p:nvGraphicFramePr>
          <p:cNvPr id="6" name="表格 5">
            <a:extLst>
              <a:ext uri="{FF2B5EF4-FFF2-40B4-BE49-F238E27FC236}">
                <a16:creationId xmlns:a16="http://schemas.microsoft.com/office/drawing/2014/main" id="{959A5AB9-4C66-C901-0DEB-2905CA9C697B}"/>
              </a:ext>
            </a:extLst>
          </p:cNvPr>
          <p:cNvGraphicFramePr>
            <a:graphicFrameLocks noGrp="1"/>
          </p:cNvGraphicFramePr>
          <p:nvPr>
            <p:extLst>
              <p:ext uri="{D42A27DB-BD31-4B8C-83A1-F6EECF244321}">
                <p14:modId xmlns:p14="http://schemas.microsoft.com/office/powerpoint/2010/main" val="2206913422"/>
              </p:ext>
            </p:extLst>
          </p:nvPr>
        </p:nvGraphicFramePr>
        <p:xfrm>
          <a:off x="899592" y="2483890"/>
          <a:ext cx="7535366" cy="1185768"/>
        </p:xfrm>
        <a:graphic>
          <a:graphicData uri="http://schemas.openxmlformats.org/drawingml/2006/table">
            <a:tbl>
              <a:tblPr/>
              <a:tblGrid>
                <a:gridCol w="3952002">
                  <a:extLst>
                    <a:ext uri="{9D8B030D-6E8A-4147-A177-3AD203B41FA5}">
                      <a16:colId xmlns:a16="http://schemas.microsoft.com/office/drawing/2014/main" val="3903616913"/>
                    </a:ext>
                  </a:extLst>
                </a:gridCol>
                <a:gridCol w="3583364">
                  <a:extLst>
                    <a:ext uri="{9D8B030D-6E8A-4147-A177-3AD203B41FA5}">
                      <a16:colId xmlns:a16="http://schemas.microsoft.com/office/drawing/2014/main" val="3501032722"/>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成员方法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31064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public byte[] </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getBytes</a:t>
                      </a:r>
                      <a:r>
                        <a:rPr lang="en-US" altLang="zh-CN" sz="1400" kern="1200" dirty="0">
                          <a:solidFill>
                            <a:schemeClr val="tx1"/>
                          </a:solidFill>
                          <a:effectLst/>
                          <a:latin typeface="Consolas" panose="020B0609020204030204" pitchFamily="49" charset="0"/>
                          <a:ea typeface="黑体" panose="02010609060101010101" pitchFamily="49" charset="-122"/>
                          <a:cs typeface="+mn-cs"/>
                        </a:rPr>
                        <a:t>()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使用平台默认字符编码方式</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对字符串编码</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r h="403501">
                <a:tc>
                  <a:txBody>
                    <a:bodyPr/>
                    <a:lstStyle/>
                    <a:p>
                      <a:pPr algn="l"/>
                      <a:r>
                        <a:rPr lang="en-US" altLang="zh-CN" sz="1400" dirty="0">
                          <a:latin typeface="Consolas" panose="020B0609020204030204" pitchFamily="49" charset="0"/>
                        </a:rPr>
                        <a:t>public byte[] </a:t>
                      </a:r>
                      <a:r>
                        <a:rPr lang="en-US" altLang="zh-CN" sz="1400" dirty="0" err="1">
                          <a:latin typeface="Consolas" panose="020B0609020204030204" pitchFamily="49" charset="0"/>
                        </a:rPr>
                        <a:t>getBytes</a:t>
                      </a:r>
                      <a:r>
                        <a:rPr lang="en-US" altLang="zh-CN" sz="1400" dirty="0">
                          <a:latin typeface="Consolas" panose="020B0609020204030204" pitchFamily="49" charset="0"/>
                        </a:rPr>
                        <a:t>(String </a:t>
                      </a:r>
                      <a:r>
                        <a:rPr lang="en-US" altLang="zh-CN" sz="1400" dirty="0" err="1">
                          <a:latin typeface="Consolas" panose="020B0609020204030204" pitchFamily="49" charset="0"/>
                        </a:rPr>
                        <a:t>charsetName</a:t>
                      </a:r>
                      <a:r>
                        <a:rPr lang="en-US" altLang="zh-CN" sz="1400" dirty="0">
                          <a:latin typeface="Consolas" panose="020B0609020204030204" pitchFamily="49" charset="0"/>
                        </a:rPr>
                        <a:t>)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indent="0" algn="l" eaLnBrk="0" hangingPunct="0">
                        <a:lnSpc>
                          <a:spcPct val="150000"/>
                        </a:lnSpc>
                        <a:buFont typeface="Wingdings" pitchFamily="2" charset="2"/>
                        <a:buNone/>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使用使用字符编码方式</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对字符串编码</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400720702"/>
                  </a:ext>
                </a:extLst>
              </a:tr>
            </a:tbl>
          </a:graphicData>
        </a:graphic>
      </p:graphicFrame>
      <p:sp>
        <p:nvSpPr>
          <p:cNvPr id="7" name="TextBox 6">
            <a:extLst>
              <a:ext uri="{FF2B5EF4-FFF2-40B4-BE49-F238E27FC236}">
                <a16:creationId xmlns:a16="http://schemas.microsoft.com/office/drawing/2014/main" id="{56E63B1A-76C7-D8FD-EF44-6918D5D67D46}"/>
              </a:ext>
            </a:extLst>
          </p:cNvPr>
          <p:cNvSpPr txBox="1"/>
          <p:nvPr/>
        </p:nvSpPr>
        <p:spPr>
          <a:xfrm>
            <a:off x="611560" y="1893545"/>
            <a:ext cx="6577373" cy="3801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编码</a:t>
            </a: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字符转字节</a:t>
            </a:r>
            <a:endParaRPr lang="en-US" altLang="zh-CN"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TextBox 6">
            <a:extLst>
              <a:ext uri="{FF2B5EF4-FFF2-40B4-BE49-F238E27FC236}">
                <a16:creationId xmlns:a16="http://schemas.microsoft.com/office/drawing/2014/main" id="{EDB763FE-618E-0589-BE48-66CB5E3441B1}"/>
              </a:ext>
            </a:extLst>
          </p:cNvPr>
          <p:cNvSpPr txBox="1"/>
          <p:nvPr/>
        </p:nvSpPr>
        <p:spPr>
          <a:xfrm>
            <a:off x="658314" y="3893287"/>
            <a:ext cx="6577373" cy="3801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解码</a:t>
            </a: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字节转字符</a:t>
            </a:r>
            <a:endParaRPr lang="en-US" altLang="zh-CN" sz="1400" dirty="0">
              <a:solidFill>
                <a:schemeClr val="tx1">
                  <a:lumMod val="95000"/>
                  <a:lumOff val="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aphicFrame>
        <p:nvGraphicFramePr>
          <p:cNvPr id="43" name="表格 42">
            <a:extLst>
              <a:ext uri="{FF2B5EF4-FFF2-40B4-BE49-F238E27FC236}">
                <a16:creationId xmlns:a16="http://schemas.microsoft.com/office/drawing/2014/main" id="{A1610E85-3C5E-B6D1-B900-ECE3733C2F38}"/>
              </a:ext>
            </a:extLst>
          </p:cNvPr>
          <p:cNvGraphicFramePr>
            <a:graphicFrameLocks noGrp="1"/>
          </p:cNvGraphicFramePr>
          <p:nvPr>
            <p:extLst>
              <p:ext uri="{D42A27DB-BD31-4B8C-83A1-F6EECF244321}">
                <p14:modId xmlns:p14="http://schemas.microsoft.com/office/powerpoint/2010/main" val="3328226677"/>
              </p:ext>
            </p:extLst>
          </p:nvPr>
        </p:nvGraphicFramePr>
        <p:xfrm>
          <a:off x="937742" y="4374110"/>
          <a:ext cx="7838511" cy="1185768"/>
        </p:xfrm>
        <a:graphic>
          <a:graphicData uri="http://schemas.openxmlformats.org/drawingml/2006/table">
            <a:tbl>
              <a:tblPr/>
              <a:tblGrid>
                <a:gridCol w="4110989">
                  <a:extLst>
                    <a:ext uri="{9D8B030D-6E8A-4147-A177-3AD203B41FA5}">
                      <a16:colId xmlns:a16="http://schemas.microsoft.com/office/drawing/2014/main" val="3903616913"/>
                    </a:ext>
                  </a:extLst>
                </a:gridCol>
                <a:gridCol w="3727522">
                  <a:extLst>
                    <a:ext uri="{9D8B030D-6E8A-4147-A177-3AD203B41FA5}">
                      <a16:colId xmlns:a16="http://schemas.microsoft.com/office/drawing/2014/main" val="3501032722"/>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31064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public String(byte[] bytes)</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使用平台默认字符编码方式</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对字符串解码</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r h="403501">
                <a:tc>
                  <a:txBody>
                    <a:bodyPr/>
                    <a:lstStyle/>
                    <a:p>
                      <a:pPr algn="l"/>
                      <a:r>
                        <a:rPr lang="en-US" altLang="zh-CN" sz="1400" dirty="0">
                          <a:latin typeface="Consolas" panose="020B0609020204030204" pitchFamily="49" charset="0"/>
                        </a:rPr>
                        <a:t>public String(byte[] bytes, String </a:t>
                      </a:r>
                      <a:r>
                        <a:rPr lang="en-US" altLang="zh-CN" sz="1400" dirty="0" err="1">
                          <a:latin typeface="Consolas" panose="020B0609020204030204" pitchFamily="49" charset="0"/>
                        </a:rPr>
                        <a:t>charsetName</a:t>
                      </a:r>
                      <a:r>
                        <a:rPr lang="en-US" altLang="zh-CN" sz="1400" dirty="0">
                          <a:latin typeface="Consolas" panose="020B0609020204030204" pitchFamily="49" charset="0"/>
                        </a:rPr>
                        <a:t>)</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indent="0" algn="l" eaLnBrk="0" hangingPunct="0">
                        <a:lnSpc>
                          <a:spcPct val="150000"/>
                        </a:lnSpc>
                        <a:buFont typeface="Wingdings" pitchFamily="2" charset="2"/>
                        <a:buNone/>
                        <a:defRPr/>
                      </a:pP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使用使用字符编码方式</a:t>
                      </a:r>
                      <a:r>
                        <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对字符串解码</a:t>
                      </a:r>
                      <a:endParaRPr lang="en-US" altLang="zh-CN" sz="14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400720702"/>
                  </a:ext>
                </a:extLst>
              </a:tr>
            </a:tbl>
          </a:graphicData>
        </a:graphic>
      </p:graphicFrame>
      <p:cxnSp>
        <p:nvCxnSpPr>
          <p:cNvPr id="10" name="直接连接符 9">
            <a:extLst>
              <a:ext uri="{FF2B5EF4-FFF2-40B4-BE49-F238E27FC236}">
                <a16:creationId xmlns:a16="http://schemas.microsoft.com/office/drawing/2014/main" id="{DD805BF4-E788-458A-AA2D-112C15BDF46D}"/>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C51F116D-61BE-4F02-B6E4-87DD167EB7D4}"/>
              </a:ext>
            </a:extLst>
          </p:cNvPr>
          <p:cNvSpPr txBox="1"/>
          <p:nvPr/>
        </p:nvSpPr>
        <p:spPr>
          <a:xfrm>
            <a:off x="827584" y="5949949"/>
            <a:ext cx="4572000" cy="380169"/>
          </a:xfrm>
          <a:prstGeom prst="rect">
            <a:avLst/>
          </a:prstGeom>
          <a:noFill/>
        </p:spPr>
        <p:txBody>
          <a:bodyPr wrap="square">
            <a:spAutoFit/>
          </a:bodyPr>
          <a:lstStyle/>
          <a:p>
            <a:pPr marL="214313" indent="-214313" defTabSz="685800" eaLnBrk="0" hangingPunct="0">
              <a:lnSpc>
                <a:spcPct val="150000"/>
              </a:lnSpc>
              <a:buFont typeface="Wingdings" panose="05000000000000000000" pitchFamily="2" charset="2"/>
              <a:buChar char="l"/>
            </a:pPr>
            <a:r>
              <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rPr>
              <a:t>代码演示</a:t>
            </a:r>
            <a:r>
              <a:rPr lang="en-US" altLang="zh-CN" sz="1400" dirty="0">
                <a:solidFill>
                  <a:schemeClr val="tx1">
                    <a:lumMod val="95000"/>
                    <a:lumOff val="5000"/>
                  </a:schemeClr>
                </a:solidFill>
                <a:latin typeface="Consolas" panose="020B0609020204030204" pitchFamily="49" charset="0"/>
                <a:ea typeface="阿里巴巴普惠体" panose="00020600040101010101" pitchFamily="18" charset="-122"/>
              </a:rPr>
              <a:t>StringDemo.java</a:t>
            </a:r>
            <a:endParaRPr lang="zh-CN" altLang="en-US" sz="1400" dirty="0">
              <a:solidFill>
                <a:schemeClr val="tx1">
                  <a:lumMod val="95000"/>
                  <a:lumOff val="5000"/>
                </a:schemeClr>
              </a:solidFill>
              <a:latin typeface="Consolas" panose="020B0609020204030204" pitchFamily="49" charset="0"/>
              <a:ea typeface="阿里巴巴普惠体" panose="00020600040101010101" pitchFamily="18" charset="-122"/>
            </a:endParaRPr>
          </a:p>
        </p:txBody>
      </p:sp>
      <p:sp>
        <p:nvSpPr>
          <p:cNvPr id="13" name="标题 1">
            <a:extLst>
              <a:ext uri="{FF2B5EF4-FFF2-40B4-BE49-F238E27FC236}">
                <a16:creationId xmlns:a16="http://schemas.microsoft.com/office/drawing/2014/main" id="{8C31F46D-D103-4CE2-8827-1687CF3A58B7}"/>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6813633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8F5A8BCB-9EB8-4916-BEED-E37D7A043F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2348880"/>
            <a:ext cx="7991960" cy="4320480"/>
          </a:xfrm>
          <a:prstGeom prst="rect">
            <a:avLst/>
          </a:prstGeom>
        </p:spPr>
      </p:pic>
      <p:sp>
        <p:nvSpPr>
          <p:cNvPr id="12" name="文本框 11">
            <a:extLst>
              <a:ext uri="{FF2B5EF4-FFF2-40B4-BE49-F238E27FC236}">
                <a16:creationId xmlns:a16="http://schemas.microsoft.com/office/drawing/2014/main" id="{00711392-4071-4714-A226-6A565D0EAE86}"/>
              </a:ext>
            </a:extLst>
          </p:cNvPr>
          <p:cNvSpPr txBox="1"/>
          <p:nvPr/>
        </p:nvSpPr>
        <p:spPr>
          <a:xfrm>
            <a:off x="323528" y="476672"/>
            <a:ext cx="6984776" cy="1754326"/>
          </a:xfrm>
          <a:prstGeom prst="rect">
            <a:avLst/>
          </a:prstGeom>
          <a:noFill/>
        </p:spPr>
        <p:txBody>
          <a:bodyPr wrap="square">
            <a:spAutoFit/>
          </a:bodyPr>
          <a:lstStyle/>
          <a:p>
            <a:r>
              <a:rPr lang="en-US" altLang="zh-CN" dirty="0"/>
              <a:t>public static void main(String[] </a:t>
            </a:r>
            <a:r>
              <a:rPr lang="en-US" altLang="zh-CN" dirty="0" err="1"/>
              <a:t>args</a:t>
            </a:r>
            <a:r>
              <a:rPr lang="en-US" altLang="zh-CN" dirty="0"/>
              <a:t>) throws </a:t>
            </a:r>
            <a:r>
              <a:rPr lang="en-US" altLang="zh-CN" dirty="0" err="1"/>
              <a:t>IOException</a:t>
            </a:r>
            <a:r>
              <a:rPr lang="en-US" altLang="zh-CN" dirty="0"/>
              <a:t> {</a:t>
            </a:r>
          </a:p>
          <a:p>
            <a:r>
              <a:rPr lang="en-US" altLang="zh-CN" dirty="0"/>
              <a:t>        </a:t>
            </a:r>
            <a:r>
              <a:rPr lang="en-US" altLang="zh-CN" dirty="0" err="1"/>
              <a:t>FileReader</a:t>
            </a:r>
            <a:r>
              <a:rPr lang="en-US" altLang="zh-CN" dirty="0"/>
              <a:t> </a:t>
            </a:r>
            <a:r>
              <a:rPr lang="en-US" altLang="zh-CN" dirty="0" err="1"/>
              <a:t>fr</a:t>
            </a:r>
            <a:r>
              <a:rPr lang="en-US" altLang="zh-CN" dirty="0"/>
              <a:t> = new </a:t>
            </a:r>
            <a:r>
              <a:rPr lang="en-US" altLang="zh-CN" dirty="0" err="1"/>
              <a:t>FileReader</a:t>
            </a:r>
            <a:r>
              <a:rPr lang="en-US" altLang="zh-CN" dirty="0"/>
              <a:t>("D:\\A.txt");</a:t>
            </a:r>
          </a:p>
          <a:p>
            <a:endParaRPr lang="en-US" altLang="zh-CN" dirty="0"/>
          </a:p>
          <a:p>
            <a:r>
              <a:rPr lang="en-US" altLang="zh-CN" dirty="0"/>
              <a:t>        int i1 = </a:t>
            </a:r>
            <a:r>
              <a:rPr lang="en-US" altLang="zh-CN" dirty="0" err="1"/>
              <a:t>fr.read</a:t>
            </a:r>
            <a:r>
              <a:rPr lang="en-US" altLang="zh-CN" dirty="0"/>
              <a:t>();</a:t>
            </a:r>
          </a:p>
          <a:p>
            <a:r>
              <a:rPr lang="en-US" altLang="zh-CN" dirty="0"/>
              <a:t>        int i2 = </a:t>
            </a:r>
            <a:r>
              <a:rPr lang="en-US" altLang="zh-CN" dirty="0" err="1"/>
              <a:t>fr.read</a:t>
            </a:r>
            <a:r>
              <a:rPr lang="en-US" altLang="zh-CN" dirty="0"/>
              <a:t>();</a:t>
            </a:r>
          </a:p>
          <a:p>
            <a:r>
              <a:rPr lang="en-US" altLang="zh-CN" dirty="0"/>
              <a:t>        int i3 = </a:t>
            </a:r>
            <a:r>
              <a:rPr lang="en-US" altLang="zh-CN" dirty="0" err="1"/>
              <a:t>fr.read</a:t>
            </a:r>
            <a:r>
              <a:rPr lang="en-US" altLang="zh-CN" dirty="0"/>
              <a:t>();</a:t>
            </a:r>
          </a:p>
        </p:txBody>
      </p:sp>
    </p:spTree>
    <p:extLst>
      <p:ext uri="{BB962C8B-B14F-4D97-AF65-F5344CB8AC3E}">
        <p14:creationId xmlns:p14="http://schemas.microsoft.com/office/powerpoint/2010/main" val="122976305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AC2AAE6-6FD0-8249-0208-71A2036C89B7}"/>
              </a:ext>
            </a:extLst>
          </p:cNvPr>
          <p:cNvSpPr>
            <a:spLocks noGrp="1"/>
          </p:cNvSpPr>
          <p:nvPr>
            <p:ph type="body" sz="quarter" idx="10"/>
          </p:nvPr>
        </p:nvSpPr>
        <p:spPr>
          <a:xfrm>
            <a:off x="3844938" y="1954530"/>
            <a:ext cx="5219549" cy="3383280"/>
          </a:xfrm>
        </p:spPr>
        <p:txBody>
          <a:bodyPr/>
          <a:lstStyle/>
          <a:p>
            <a:pPr marL="0" indent="0">
              <a:buNone/>
            </a:pPr>
            <a:r>
              <a:rPr lang="zh-CN" altLang="en-US" dirty="0">
                <a:latin typeface="Consolas" panose="020B0609020204030204" pitchFamily="49" charset="0"/>
              </a:rPr>
              <a:t>字符集</a:t>
            </a:r>
            <a:r>
              <a:rPr lang="en-US" altLang="zh-CN" dirty="0">
                <a:solidFill>
                  <a:schemeClr val="tx1">
                    <a:lumMod val="85000"/>
                    <a:lumOff val="15000"/>
                  </a:schemeClr>
                </a:solidFill>
                <a:latin typeface="Consolas" panose="020B0609020204030204" pitchFamily="49" charset="0"/>
              </a:rPr>
              <a:t>: </a:t>
            </a:r>
            <a:r>
              <a:rPr lang="zh-CN" altLang="en-US" dirty="0">
                <a:solidFill>
                  <a:schemeClr val="tx1">
                    <a:lumMod val="85000"/>
                    <a:lumOff val="15000"/>
                  </a:schemeClr>
                </a:solidFill>
                <a:latin typeface="Consolas" panose="020B0609020204030204" pitchFamily="49" charset="0"/>
              </a:rPr>
              <a:t>是指多个字符的集合 </a:t>
            </a:r>
            <a:r>
              <a:rPr lang="en-US" altLang="zh-CN" dirty="0">
                <a:solidFill>
                  <a:schemeClr val="tx1">
                    <a:lumMod val="85000"/>
                    <a:lumOff val="15000"/>
                  </a:schemeClr>
                </a:solidFill>
                <a:latin typeface="Consolas" panose="020B0609020204030204" pitchFamily="49" charset="0"/>
              </a:rPr>
              <a:t>(GBK, Unicode...)</a:t>
            </a:r>
          </a:p>
          <a:p>
            <a:pPr marL="0" indent="0">
              <a:buNone/>
            </a:pPr>
            <a:r>
              <a:rPr lang="zh-CN" altLang="en-US" dirty="0">
                <a:solidFill>
                  <a:schemeClr val="tx1">
                    <a:lumMod val="85000"/>
                    <a:lumOff val="15000"/>
                  </a:schemeClr>
                </a:solidFill>
                <a:latin typeface="Consolas" panose="020B0609020204030204" pitchFamily="49" charset="0"/>
              </a:rPr>
              <a:t>字符编码</a:t>
            </a:r>
            <a:r>
              <a:rPr lang="en-US" altLang="zh-CN" dirty="0">
                <a:solidFill>
                  <a:schemeClr val="tx1">
                    <a:lumMod val="85000"/>
                    <a:lumOff val="15000"/>
                  </a:schemeClr>
                </a:solidFill>
                <a:latin typeface="Consolas" panose="020B0609020204030204" pitchFamily="49" charset="0"/>
              </a:rPr>
              <a:t>: </a:t>
            </a:r>
            <a:r>
              <a:rPr lang="zh-CN" altLang="en-US" b="0" dirty="0">
                <a:solidFill>
                  <a:schemeClr val="tx1">
                    <a:lumMod val="95000"/>
                    <a:lumOff val="5000"/>
                  </a:schemeClr>
                </a:solidFill>
                <a:latin typeface="Consolas" panose="020B0609020204030204" pitchFamily="49" charset="0"/>
              </a:rPr>
              <a:t>字符编码是指一种映射规则</a:t>
            </a:r>
            <a:endParaRPr lang="en-US" altLang="zh-CN" b="0" dirty="0">
              <a:solidFill>
                <a:schemeClr val="tx1">
                  <a:lumMod val="95000"/>
                  <a:lumOff val="5000"/>
                </a:schemeClr>
              </a:solidFill>
              <a:latin typeface="Consolas" panose="020B0609020204030204" pitchFamily="49" charset="0"/>
            </a:endParaRPr>
          </a:p>
          <a:p>
            <a:pPr marL="0" indent="0">
              <a:buNone/>
            </a:pPr>
            <a:r>
              <a:rPr lang="en-US" altLang="zh-CN" dirty="0">
                <a:solidFill>
                  <a:schemeClr val="tx1">
                    <a:lumMod val="95000"/>
                    <a:lumOff val="5000"/>
                  </a:schemeClr>
                </a:solidFill>
                <a:latin typeface="Consolas" panose="020B0609020204030204" pitchFamily="49" charset="0"/>
              </a:rPr>
              <a:t>	</a:t>
            </a:r>
            <a:r>
              <a:rPr lang="zh-CN" altLang="en-US" dirty="0">
                <a:solidFill>
                  <a:schemeClr val="tx1">
                    <a:lumMod val="95000"/>
                    <a:lumOff val="5000"/>
                  </a:schemeClr>
                </a:solidFill>
                <a:latin typeface="Consolas" panose="020B0609020204030204" pitchFamily="49" charset="0"/>
              </a:rPr>
              <a:t>英文字符</a:t>
            </a:r>
            <a:r>
              <a:rPr lang="en-US" altLang="zh-CN" dirty="0">
                <a:solidFill>
                  <a:schemeClr val="tx1">
                    <a:lumMod val="95000"/>
                    <a:lumOff val="5000"/>
                  </a:schemeClr>
                </a:solidFill>
                <a:latin typeface="Consolas" panose="020B0609020204030204" pitchFamily="49" charset="0"/>
              </a:rPr>
              <a:t>: </a:t>
            </a:r>
            <a:r>
              <a:rPr lang="zh-CN" altLang="en-US" dirty="0">
                <a:solidFill>
                  <a:schemeClr val="tx1">
                    <a:lumMod val="95000"/>
                    <a:lumOff val="5000"/>
                  </a:schemeClr>
                </a:solidFill>
                <a:latin typeface="Consolas" panose="020B0609020204030204" pitchFamily="49" charset="0"/>
              </a:rPr>
              <a:t>占用一个字节</a:t>
            </a:r>
            <a:r>
              <a:rPr lang="en-US" altLang="zh-CN" dirty="0">
                <a:solidFill>
                  <a:schemeClr val="tx1">
                    <a:lumMod val="95000"/>
                    <a:lumOff val="5000"/>
                  </a:schemeClr>
                </a:solidFill>
                <a:latin typeface="Consolas" panose="020B0609020204030204" pitchFamily="49" charset="0"/>
              </a:rPr>
              <a:t>, </a:t>
            </a:r>
            <a:r>
              <a:rPr lang="zh-CN" altLang="en-US" dirty="0">
                <a:solidFill>
                  <a:schemeClr val="tx1">
                    <a:lumMod val="95000"/>
                    <a:lumOff val="5000"/>
                  </a:schemeClr>
                </a:solidFill>
                <a:latin typeface="Consolas" panose="020B0609020204030204" pitchFamily="49" charset="0"/>
              </a:rPr>
              <a:t>使用正数表示</a:t>
            </a:r>
            <a:endParaRPr lang="en-US" altLang="zh-CN" dirty="0">
              <a:solidFill>
                <a:schemeClr val="tx1">
                  <a:lumMod val="95000"/>
                  <a:lumOff val="5000"/>
                </a:schemeClr>
              </a:solidFill>
              <a:latin typeface="Consolas" panose="020B0609020204030204" pitchFamily="49" charset="0"/>
            </a:endParaRPr>
          </a:p>
          <a:p>
            <a:pPr marL="0" indent="0">
              <a:buNone/>
            </a:pPr>
            <a:r>
              <a:rPr lang="en-US" altLang="zh-CN" b="0" dirty="0">
                <a:solidFill>
                  <a:schemeClr val="tx1">
                    <a:lumMod val="95000"/>
                    <a:lumOff val="5000"/>
                  </a:schemeClr>
                </a:solidFill>
                <a:latin typeface="Consolas" panose="020B0609020204030204" pitchFamily="49" charset="0"/>
              </a:rPr>
              <a:t>	</a:t>
            </a:r>
            <a:r>
              <a:rPr lang="zh-CN" altLang="en-US" b="0" dirty="0">
                <a:solidFill>
                  <a:schemeClr val="tx1">
                    <a:lumMod val="95000"/>
                    <a:lumOff val="5000"/>
                  </a:schemeClr>
                </a:solidFill>
                <a:latin typeface="Consolas" panose="020B0609020204030204" pitchFamily="49" charset="0"/>
              </a:rPr>
              <a:t>中文字符</a:t>
            </a:r>
            <a:r>
              <a:rPr lang="en-US" altLang="zh-CN" b="0" dirty="0">
                <a:solidFill>
                  <a:schemeClr val="tx1">
                    <a:lumMod val="95000"/>
                    <a:lumOff val="5000"/>
                  </a:schemeClr>
                </a:solidFill>
                <a:latin typeface="Consolas" panose="020B0609020204030204" pitchFamily="49" charset="0"/>
              </a:rPr>
              <a:t>: </a:t>
            </a:r>
            <a:endParaRPr lang="en-US" altLang="zh-CN" dirty="0">
              <a:solidFill>
                <a:schemeClr val="tx1">
                  <a:lumMod val="95000"/>
                  <a:lumOff val="5000"/>
                </a:schemeClr>
              </a:solidFill>
              <a:latin typeface="Consolas" panose="020B0609020204030204" pitchFamily="49" charset="0"/>
            </a:endParaRPr>
          </a:p>
          <a:p>
            <a:pPr marL="0" indent="0">
              <a:buNone/>
            </a:pPr>
            <a:r>
              <a:rPr lang="en-US" altLang="zh-CN" b="0" dirty="0">
                <a:solidFill>
                  <a:schemeClr val="tx1">
                    <a:lumMod val="95000"/>
                    <a:lumOff val="5000"/>
                  </a:schemeClr>
                </a:solidFill>
                <a:latin typeface="Consolas" panose="020B0609020204030204" pitchFamily="49" charset="0"/>
              </a:rPr>
              <a:t>			GBK</a:t>
            </a:r>
            <a:r>
              <a:rPr lang="zh-CN" altLang="en-US" dirty="0">
                <a:solidFill>
                  <a:schemeClr val="tx1">
                    <a:lumMod val="95000"/>
                    <a:lumOff val="5000"/>
                  </a:schemeClr>
                </a:solidFill>
                <a:latin typeface="Consolas" panose="020B0609020204030204" pitchFamily="49" charset="0"/>
              </a:rPr>
              <a:t>占用</a:t>
            </a:r>
            <a:r>
              <a:rPr lang="en-US" altLang="zh-CN" dirty="0">
                <a:solidFill>
                  <a:schemeClr val="tx1">
                    <a:lumMod val="95000"/>
                    <a:lumOff val="5000"/>
                  </a:schemeClr>
                </a:solidFill>
                <a:latin typeface="Consolas" panose="020B0609020204030204" pitchFamily="49" charset="0"/>
              </a:rPr>
              <a:t>2</a:t>
            </a:r>
            <a:r>
              <a:rPr lang="zh-CN" altLang="en-US" dirty="0">
                <a:solidFill>
                  <a:schemeClr val="tx1">
                    <a:lumMod val="95000"/>
                    <a:lumOff val="5000"/>
                  </a:schemeClr>
                </a:solidFill>
                <a:latin typeface="Consolas" panose="020B0609020204030204" pitchFamily="49" charset="0"/>
              </a:rPr>
              <a:t>个字节</a:t>
            </a:r>
            <a:endParaRPr lang="en-US" altLang="zh-CN" dirty="0">
              <a:solidFill>
                <a:schemeClr val="tx1">
                  <a:lumMod val="95000"/>
                  <a:lumOff val="5000"/>
                </a:schemeClr>
              </a:solidFill>
              <a:latin typeface="Consolas" panose="020B0609020204030204" pitchFamily="49" charset="0"/>
            </a:endParaRPr>
          </a:p>
          <a:p>
            <a:pPr marL="0" indent="0">
              <a:buNone/>
            </a:pPr>
            <a:r>
              <a:rPr lang="en-US" altLang="zh-CN" b="0" dirty="0">
                <a:solidFill>
                  <a:schemeClr val="tx1">
                    <a:lumMod val="95000"/>
                    <a:lumOff val="5000"/>
                  </a:schemeClr>
                </a:solidFill>
                <a:latin typeface="Consolas" panose="020B0609020204030204" pitchFamily="49" charset="0"/>
              </a:rPr>
              <a:t>			Unicode(UTF-8) </a:t>
            </a:r>
            <a:r>
              <a:rPr lang="zh-CN" altLang="en-US" b="0" dirty="0">
                <a:solidFill>
                  <a:schemeClr val="tx1">
                    <a:lumMod val="95000"/>
                    <a:lumOff val="5000"/>
                  </a:schemeClr>
                </a:solidFill>
                <a:latin typeface="Consolas" panose="020B0609020204030204" pitchFamily="49" charset="0"/>
              </a:rPr>
              <a:t>占用</a:t>
            </a:r>
            <a:r>
              <a:rPr lang="en-US" altLang="zh-CN" b="0" dirty="0">
                <a:solidFill>
                  <a:schemeClr val="tx1">
                    <a:lumMod val="95000"/>
                    <a:lumOff val="5000"/>
                  </a:schemeClr>
                </a:solidFill>
                <a:latin typeface="Consolas" panose="020B0609020204030204" pitchFamily="49" charset="0"/>
              </a:rPr>
              <a:t>3</a:t>
            </a:r>
            <a:r>
              <a:rPr lang="zh-CN" altLang="en-US" b="0" dirty="0">
                <a:solidFill>
                  <a:schemeClr val="tx1">
                    <a:lumMod val="95000"/>
                    <a:lumOff val="5000"/>
                  </a:schemeClr>
                </a:solidFill>
                <a:latin typeface="Consolas" panose="020B0609020204030204" pitchFamily="49" charset="0"/>
              </a:rPr>
              <a:t>个字节</a:t>
            </a:r>
            <a:endParaRPr lang="en-US" altLang="zh-CN" b="0" dirty="0">
              <a:solidFill>
                <a:schemeClr val="tx1">
                  <a:lumMod val="95000"/>
                  <a:lumOff val="5000"/>
                </a:schemeClr>
              </a:solidFill>
              <a:latin typeface="Consolas" panose="020B0609020204030204" pitchFamily="49" charset="0"/>
            </a:endParaRPr>
          </a:p>
          <a:p>
            <a:pPr marL="0" indent="0">
              <a:buNone/>
            </a:pPr>
            <a:r>
              <a:rPr lang="en-US" altLang="zh-CN" dirty="0">
                <a:solidFill>
                  <a:schemeClr val="tx1">
                    <a:lumMod val="95000"/>
                    <a:lumOff val="5000"/>
                  </a:schemeClr>
                </a:solidFill>
                <a:latin typeface="Consolas" panose="020B0609020204030204" pitchFamily="49" charset="0"/>
              </a:rPr>
              <a:t>			</a:t>
            </a:r>
            <a:r>
              <a:rPr lang="zh-CN" altLang="en-US" dirty="0">
                <a:solidFill>
                  <a:schemeClr val="tx1">
                    <a:lumMod val="95000"/>
                    <a:lumOff val="5000"/>
                  </a:schemeClr>
                </a:solidFill>
                <a:latin typeface="Consolas" panose="020B0609020204030204" pitchFamily="49" charset="0"/>
              </a:rPr>
              <a:t>中文字节以负数开头</a:t>
            </a:r>
            <a:endParaRPr lang="en-US" altLang="zh-CN" b="0" dirty="0">
              <a:solidFill>
                <a:schemeClr val="tx1">
                  <a:lumMod val="95000"/>
                  <a:lumOff val="5000"/>
                </a:schemeClr>
              </a:solidFill>
              <a:latin typeface="Consolas" panose="020B0609020204030204" pitchFamily="49" charset="0"/>
            </a:endParaRPr>
          </a:p>
        </p:txBody>
      </p:sp>
      <p:cxnSp>
        <p:nvCxnSpPr>
          <p:cNvPr id="5" name="直接连接符 4">
            <a:extLst>
              <a:ext uri="{FF2B5EF4-FFF2-40B4-BE49-F238E27FC236}">
                <a16:creationId xmlns:a16="http://schemas.microsoft.com/office/drawing/2014/main" id="{7A6B4632-D223-4B7F-9541-7765AAA8ACBE}"/>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a:extLst>
              <a:ext uri="{FF2B5EF4-FFF2-40B4-BE49-F238E27FC236}">
                <a16:creationId xmlns:a16="http://schemas.microsoft.com/office/drawing/2014/main" id="{41880483-982C-4836-9F94-F613BF68C249}"/>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23182945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内容占位符 2"/>
          <p:cNvSpPr>
            <a:spLocks noGrp="1"/>
          </p:cNvSpPr>
          <p:nvPr>
            <p:ph idx="1"/>
          </p:nvPr>
        </p:nvSpPr>
        <p:spPr/>
        <p:txBody>
          <a:bodyPr/>
          <a:lstStyle/>
          <a:p>
            <a:pPr>
              <a:lnSpc>
                <a:spcPct val="90000"/>
              </a:lnSpc>
            </a:pPr>
            <a:r>
              <a:rPr lang="en-US" altLang="zh-CN" b="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FileReader</a:t>
            </a:r>
            <a:r>
              <a:rPr lang="zh-CN" altLang="en-US" b="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类</a:t>
            </a:r>
          </a:p>
          <a:p>
            <a:pPr lvl="1">
              <a:lnSpc>
                <a:spcPct val="90000"/>
              </a:lnSpc>
            </a:pPr>
            <a:r>
              <a:rPr lang="zh-CN" altLang="en-US" b="0" dirty="0">
                <a:ea typeface="黑体" panose="02010609060101010101" pitchFamily="49" charset="-122"/>
                <a:cs typeface="Times New Roman" panose="02020603050405020304" pitchFamily="18" charset="0"/>
              </a:rPr>
              <a:t>从文本文件中读取字符</a:t>
            </a:r>
          </a:p>
          <a:p>
            <a:pPr lvl="1">
              <a:lnSpc>
                <a:spcPct val="90000"/>
              </a:lnSpc>
            </a:pPr>
            <a:r>
              <a:rPr lang="zh-CN" altLang="en-US" b="0" dirty="0">
                <a:ea typeface="黑体" panose="02010609060101010101" pitchFamily="49" charset="-122"/>
                <a:cs typeface="Times New Roman" panose="02020603050405020304" pitchFamily="18" charset="0"/>
              </a:rPr>
              <a:t>继承自</a:t>
            </a:r>
            <a:r>
              <a:rPr lang="en-US" altLang="zh-CN" sz="2000" b="0" dirty="0">
                <a:solidFill>
                  <a:srgbClr val="FF0000"/>
                </a:solidFill>
                <a:ea typeface="黑体" panose="02010609060101010101" pitchFamily="49" charset="-122"/>
                <a:cs typeface="Times New Roman" panose="02020603050405020304" pitchFamily="18" charset="0"/>
              </a:rPr>
              <a:t>Reader</a:t>
            </a:r>
            <a:r>
              <a:rPr lang="zh-CN" altLang="en-US" b="0" dirty="0">
                <a:ea typeface="黑体" panose="02010609060101010101" pitchFamily="49" charset="-122"/>
                <a:cs typeface="Times New Roman" panose="02020603050405020304" pitchFamily="18" charset="0"/>
              </a:rPr>
              <a:t>抽象类的子类</a:t>
            </a:r>
            <a:r>
              <a:rPr lang="en-US" altLang="zh-CN" sz="2000" b="0" dirty="0" err="1">
                <a:solidFill>
                  <a:srgbClr val="FF0000"/>
                </a:solidFill>
                <a:ea typeface="黑体" panose="02010609060101010101" pitchFamily="49" charset="-122"/>
                <a:cs typeface="Times New Roman" panose="02020603050405020304" pitchFamily="18" charset="0"/>
              </a:rPr>
              <a:t>InputStreamReader</a:t>
            </a:r>
            <a:endParaRPr lang="zh-CN" altLang="en-US" sz="2000" b="0" dirty="0">
              <a:solidFill>
                <a:srgbClr val="FF0000"/>
              </a:solidFill>
              <a:ea typeface="黑体" panose="02010609060101010101" pitchFamily="49" charset="-122"/>
              <a:cs typeface="Times New Roman" panose="02020603050405020304" pitchFamily="18" charset="0"/>
            </a:endParaRPr>
          </a:p>
          <a:p>
            <a:pPr>
              <a:lnSpc>
                <a:spcPct val="90000"/>
              </a:lnSpc>
            </a:pPr>
            <a:r>
              <a:rPr lang="en-US" altLang="zh-CN" b="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BufferedReader</a:t>
            </a:r>
            <a:r>
              <a:rPr lang="zh-CN" altLang="en-US" b="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类</a:t>
            </a:r>
          </a:p>
          <a:p>
            <a:pPr lvl="1">
              <a:lnSpc>
                <a:spcPct val="90000"/>
              </a:lnSpc>
            </a:pPr>
            <a:r>
              <a:rPr lang="zh-CN" altLang="en-US" b="0" dirty="0">
                <a:ea typeface="黑体" panose="02010609060101010101" pitchFamily="49" charset="-122"/>
                <a:cs typeface="Times New Roman" panose="02020603050405020304" pitchFamily="18" charset="0"/>
              </a:rPr>
              <a:t>读文本文件的缓冲器类</a:t>
            </a:r>
          </a:p>
          <a:p>
            <a:pPr lvl="1">
              <a:lnSpc>
                <a:spcPct val="90000"/>
              </a:lnSpc>
            </a:pPr>
            <a:r>
              <a:rPr lang="zh-CN" altLang="en-US" b="0" dirty="0">
                <a:ea typeface="黑体" panose="02010609060101010101" pitchFamily="49" charset="-122"/>
                <a:cs typeface="Times New Roman" panose="02020603050405020304" pitchFamily="18" charset="0"/>
              </a:rPr>
              <a:t>具有</a:t>
            </a:r>
            <a:r>
              <a:rPr lang="en-US" altLang="zh-CN" b="0" dirty="0" err="1">
                <a:solidFill>
                  <a:srgbClr val="FF0000"/>
                </a:solidFill>
                <a:ea typeface="黑体" panose="02010609060101010101" pitchFamily="49" charset="-122"/>
                <a:cs typeface="Times New Roman" panose="02020603050405020304" pitchFamily="18" charset="0"/>
              </a:rPr>
              <a:t>readLine</a:t>
            </a:r>
            <a:r>
              <a:rPr lang="en-US" altLang="zh-CN" b="0" dirty="0">
                <a:solidFill>
                  <a:srgbClr val="FF0000"/>
                </a:solidFill>
                <a:ea typeface="黑体" panose="02010609060101010101" pitchFamily="49" charset="-122"/>
                <a:cs typeface="Times New Roman" panose="02020603050405020304" pitchFamily="18" charset="0"/>
              </a:rPr>
              <a:t>()</a:t>
            </a:r>
            <a:r>
              <a:rPr lang="zh-CN" altLang="en-US" b="0" dirty="0">
                <a:ea typeface="黑体" panose="02010609060101010101" pitchFamily="49" charset="-122"/>
                <a:cs typeface="Times New Roman" panose="02020603050405020304" pitchFamily="18" charset="0"/>
              </a:rPr>
              <a:t>方法，可以对</a:t>
            </a:r>
            <a:r>
              <a:rPr lang="zh-CN" altLang="en-US" b="0" dirty="0">
                <a:solidFill>
                  <a:srgbClr val="00B0F0"/>
                </a:solidFill>
                <a:ea typeface="黑体" panose="02010609060101010101" pitchFamily="49" charset="-122"/>
                <a:cs typeface="Times New Roman" panose="02020603050405020304" pitchFamily="18" charset="0"/>
              </a:rPr>
              <a:t>换行符进行鉴别</a:t>
            </a:r>
            <a:r>
              <a:rPr lang="zh-CN" altLang="en-US" b="0" dirty="0">
                <a:ea typeface="黑体" panose="02010609060101010101" pitchFamily="49" charset="-122"/>
                <a:cs typeface="Times New Roman" panose="02020603050405020304" pitchFamily="18" charset="0"/>
              </a:rPr>
              <a:t>，一行一行地读取输入流中的内容</a:t>
            </a:r>
          </a:p>
          <a:p>
            <a:pPr lvl="1">
              <a:lnSpc>
                <a:spcPct val="90000"/>
              </a:lnSpc>
            </a:pPr>
            <a:r>
              <a:rPr lang="zh-CN" altLang="en-US" b="0" dirty="0">
                <a:ea typeface="黑体" panose="02010609060101010101" pitchFamily="49" charset="-122"/>
                <a:cs typeface="Times New Roman" panose="02020603050405020304" pitchFamily="18" charset="0"/>
              </a:rPr>
              <a:t>继承自</a:t>
            </a:r>
            <a:r>
              <a:rPr lang="en-US" altLang="zh-CN" sz="2000" b="0" dirty="0">
                <a:solidFill>
                  <a:srgbClr val="FF0000"/>
                </a:solidFill>
                <a:ea typeface="黑体" panose="02010609060101010101" pitchFamily="49" charset="-122"/>
                <a:cs typeface="Times New Roman" panose="02020603050405020304" pitchFamily="18" charset="0"/>
              </a:rPr>
              <a:t>Reader</a:t>
            </a:r>
          </a:p>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文件输入方法：</a:t>
            </a:r>
          </a:p>
          <a:p>
            <a:pPr lvl="1">
              <a:buFontTx/>
              <a:buNone/>
            </a:pPr>
            <a:r>
              <a:rPr lang="en-GB" altLang="zh-CN" b="0" dirty="0" err="1">
                <a:ea typeface="黑体" panose="02010609060101010101" pitchFamily="49" charset="-122"/>
                <a:cs typeface="Times New Roman" panose="02020603050405020304" pitchFamily="18" charset="0"/>
              </a:rPr>
              <a:t>BufferedReader</a:t>
            </a:r>
            <a:r>
              <a:rPr lang="en-GB" altLang="zh-CN" b="0" dirty="0">
                <a:ea typeface="黑体" panose="02010609060101010101" pitchFamily="49" charset="-122"/>
                <a:cs typeface="Times New Roman" panose="02020603050405020304" pitchFamily="18" charset="0"/>
              </a:rPr>
              <a:t> in </a:t>
            </a:r>
            <a:br>
              <a:rPr lang="en-GB" altLang="zh-CN" b="0" dirty="0">
                <a:ea typeface="黑体" panose="02010609060101010101" pitchFamily="49" charset="-122"/>
                <a:cs typeface="Times New Roman" panose="02020603050405020304" pitchFamily="18" charset="0"/>
              </a:rPr>
            </a:br>
            <a:r>
              <a:rPr lang="en-GB" altLang="zh-CN" b="0" dirty="0">
                <a:ea typeface="黑体" panose="02010609060101010101" pitchFamily="49" charset="-122"/>
                <a:cs typeface="Times New Roman" panose="02020603050405020304" pitchFamily="18" charset="0"/>
              </a:rPr>
              <a:t>= new </a:t>
            </a:r>
            <a:r>
              <a:rPr lang="en-GB" altLang="zh-CN" b="0" dirty="0" err="1">
                <a:solidFill>
                  <a:srgbClr val="FF0000"/>
                </a:solidFill>
                <a:ea typeface="黑体" panose="02010609060101010101" pitchFamily="49" charset="-122"/>
                <a:cs typeface="Times New Roman" panose="02020603050405020304" pitchFamily="18" charset="0"/>
              </a:rPr>
              <a:t>BufferedReader</a:t>
            </a:r>
            <a:r>
              <a:rPr lang="en-GB" altLang="zh-CN" b="0" dirty="0">
                <a:ea typeface="黑体" panose="02010609060101010101" pitchFamily="49" charset="-122"/>
                <a:cs typeface="Times New Roman" panose="02020603050405020304" pitchFamily="18" charset="0"/>
              </a:rPr>
              <a:t>(new</a:t>
            </a:r>
            <a:r>
              <a:rPr lang="en-GB" altLang="zh-CN" b="0" dirty="0">
                <a:solidFill>
                  <a:schemeClr val="tx2"/>
                </a:solidFill>
                <a:ea typeface="黑体" panose="02010609060101010101" pitchFamily="49" charset="-122"/>
                <a:cs typeface="Times New Roman" panose="02020603050405020304" pitchFamily="18" charset="0"/>
              </a:rPr>
              <a:t> </a:t>
            </a:r>
            <a:r>
              <a:rPr lang="en-GB" altLang="zh-CN" b="0" dirty="0" err="1">
                <a:solidFill>
                  <a:srgbClr val="FF0000"/>
                </a:solidFill>
                <a:ea typeface="黑体" panose="02010609060101010101" pitchFamily="49" charset="-122"/>
                <a:cs typeface="Times New Roman" panose="02020603050405020304" pitchFamily="18" charset="0"/>
              </a:rPr>
              <a:t>FileReader</a:t>
            </a:r>
            <a:r>
              <a:rPr lang="en-GB" altLang="zh-CN" b="0" dirty="0">
                <a:ea typeface="黑体" panose="02010609060101010101" pitchFamily="49" charset="-122"/>
                <a:cs typeface="Times New Roman" panose="02020603050405020304" pitchFamily="18" charset="0"/>
              </a:rPr>
              <a:t>( </a:t>
            </a:r>
            <a:r>
              <a:rPr lang="en-GB" altLang="zh-CN" b="0" dirty="0" err="1">
                <a:solidFill>
                  <a:srgbClr val="009900"/>
                </a:solidFill>
                <a:ea typeface="黑体" panose="02010609060101010101" pitchFamily="49" charset="-122"/>
                <a:cs typeface="Times New Roman" panose="02020603050405020304" pitchFamily="18" charset="0"/>
              </a:rPr>
              <a:t>fileName</a:t>
            </a:r>
            <a:r>
              <a:rPr lang="en-GB" altLang="zh-CN" b="0" dirty="0">
                <a:ea typeface="黑体" panose="02010609060101010101" pitchFamily="49" charset="-122"/>
                <a:cs typeface="Times New Roman" panose="02020603050405020304" pitchFamily="18" charset="0"/>
              </a:rPr>
              <a:t>) );</a:t>
            </a:r>
            <a:r>
              <a:rPr lang="zh-CN" altLang="en-GB" b="0" dirty="0">
                <a:ea typeface="黑体" panose="02010609060101010101" pitchFamily="49" charset="-122"/>
                <a:cs typeface="Times New Roman" panose="02020603050405020304" pitchFamily="18" charset="0"/>
              </a:rPr>
              <a:t> </a:t>
            </a:r>
          </a:p>
          <a:p>
            <a:pPr>
              <a:lnSpc>
                <a:spcPct val="90000"/>
              </a:lnSpc>
            </a:pPr>
            <a:endParaRPr lang="zh-CN" altLang="en-US" dirty="0">
              <a:solidFill>
                <a:srgbClr val="FF0000"/>
              </a:solidFill>
              <a:ea typeface="宋体" panose="02010600030101010101" pitchFamily="2" charset="-122"/>
            </a:endParaRPr>
          </a:p>
          <a:p>
            <a:endParaRPr lang="zh-CN" altLang="en-US" dirty="0">
              <a:ea typeface="宋体" panose="02010600030101010101" pitchFamily="2" charset="-122"/>
            </a:endParaRPr>
          </a:p>
        </p:txBody>
      </p:sp>
      <p:pic>
        <p:nvPicPr>
          <p:cNvPr id="78852" name="Picture 11" descr="charInputStre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5589588"/>
            <a:ext cx="6713538"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9" name="标题 1">
            <a:extLst>
              <a:ext uri="{FF2B5EF4-FFF2-40B4-BE49-F238E27FC236}">
                <a16:creationId xmlns:a16="http://schemas.microsoft.com/office/drawing/2014/main" id="{0B7899FE-2AC3-40C8-A7BF-5765A24EC13E}"/>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17393695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内容占位符 2"/>
          <p:cNvSpPr>
            <a:spLocks noGrp="1"/>
          </p:cNvSpPr>
          <p:nvPr>
            <p:ph idx="1"/>
          </p:nvPr>
        </p:nvSpPr>
        <p:spPr>
          <a:xfrm>
            <a:off x="468313" y="836613"/>
            <a:ext cx="8229600" cy="5184775"/>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从</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Hello.txt</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中读取文本并显示在屏幕上</a:t>
            </a:r>
          </a:p>
          <a:p>
            <a:endParaRPr lang="zh-CN" altLang="en-US" dirty="0">
              <a:ea typeface="宋体" panose="02010600030101010101" pitchFamily="2" charset="-122"/>
            </a:endParaRPr>
          </a:p>
        </p:txBody>
      </p:sp>
      <p:sp>
        <p:nvSpPr>
          <p:cNvPr id="79876" name="Rectangle 3"/>
          <p:cNvSpPr txBox="1">
            <a:spLocks noChangeArrowheads="1"/>
          </p:cNvSpPr>
          <p:nvPr/>
        </p:nvSpPr>
        <p:spPr bwMode="auto">
          <a:xfrm>
            <a:off x="395288" y="1268413"/>
            <a:ext cx="8353425" cy="558958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a:t>
            </a:r>
            <a:r>
              <a:rPr lang="en-US" altLang="zh-CN" sz="2000" b="1" dirty="0" err="1">
                <a:latin typeface="Times New Roman" panose="02020603050405020304" pitchFamily="18" charset="0"/>
                <a:cs typeface="Times New Roman" panose="02020603050405020304" pitchFamily="18" charset="0"/>
              </a:rPr>
              <a:t>ReadTxtFile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 ( 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"C:\Hello.txt";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try { </a:t>
            </a:r>
            <a:r>
              <a:rPr lang="en-US" altLang="zh-CN" sz="2000" b="1" dirty="0" err="1">
                <a:latin typeface="Times New Roman" panose="02020603050405020304" pitchFamily="18" charset="0"/>
                <a:cs typeface="Times New Roman" panose="02020603050405020304" pitchFamily="18" charset="0"/>
              </a:rPr>
              <a:t>BufferedReader</a:t>
            </a:r>
            <a:r>
              <a:rPr lang="en-US" altLang="zh-CN" sz="2000" b="1" dirty="0">
                <a:latin typeface="Times New Roman" panose="02020603050405020304" pitchFamily="18" charset="0"/>
                <a:cs typeface="Times New Roman" panose="02020603050405020304" pitchFamily="18" charset="0"/>
              </a:rPr>
              <a:t> in = new </a:t>
            </a:r>
            <a:r>
              <a:rPr lang="en-US" altLang="zh-CN" sz="2000" b="1" dirty="0" err="1">
                <a:latin typeface="Times New Roman" panose="02020603050405020304" pitchFamily="18" charset="0"/>
                <a:cs typeface="Times New Roman" panose="02020603050405020304" pitchFamily="18" charset="0"/>
              </a:rPr>
              <a:t>BufferedReader</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new </a:t>
            </a:r>
            <a:r>
              <a:rPr lang="en-US" altLang="zh-CN" sz="2000" b="1" dirty="0" err="1">
                <a:latin typeface="Times New Roman" panose="02020603050405020304" pitchFamily="18" charset="0"/>
                <a:cs typeface="Times New Roman" panose="02020603050405020304" pitchFamily="18" charset="0"/>
              </a:rPr>
              <a:t>FileReader</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line = </a:t>
            </a:r>
            <a:r>
              <a:rPr lang="en-US" altLang="zh-CN" sz="2000" b="1" dirty="0" err="1">
                <a:latin typeface="Times New Roman" panose="02020603050405020304" pitchFamily="18" charset="0"/>
                <a:cs typeface="Times New Roman" panose="02020603050405020304" pitchFamily="18" charset="0"/>
              </a:rPr>
              <a:t>in.readLine</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读取一行内容</a:t>
            </a:r>
          </a:p>
          <a:p>
            <a:pPr marL="0" lvl="1">
              <a:buClr>
                <a:schemeClr val="accent2"/>
              </a:buClr>
              <a:buSzPct val="70000"/>
            </a:pPr>
            <a:r>
              <a:rPr lang="zh-CN" altLang="en-US" sz="2000" b="1" dirty="0">
                <a:solidFill>
                  <a:srgbClr val="0000FF"/>
                </a:solidFill>
                <a:latin typeface="Times New Roman" panose="02020603050405020304" pitchFamily="18" charset="0"/>
                <a:cs typeface="Times New Roman" panose="02020603050405020304" pitchFamily="18" charset="0"/>
              </a:rPr>
              <a:t>             </a:t>
            </a:r>
            <a:r>
              <a:rPr lang="en-US" altLang="zh-CN" sz="2000" b="1" dirty="0">
                <a:solidFill>
                  <a:srgbClr val="0000FF"/>
                </a:solidFill>
                <a:latin typeface="Times New Roman" panose="02020603050405020304" pitchFamily="18" charset="0"/>
                <a:cs typeface="Times New Roman" panose="02020603050405020304" pitchFamily="18" charset="0"/>
              </a:rPr>
              <a:t>while ( line != </a:t>
            </a:r>
            <a:r>
              <a:rPr lang="en-US" altLang="zh-CN" sz="2000" b="1" dirty="0">
                <a:solidFill>
                  <a:srgbClr val="FF0000"/>
                </a:solidFill>
                <a:latin typeface="Times New Roman" panose="02020603050405020304" pitchFamily="18" charset="0"/>
                <a:cs typeface="Times New Roman" panose="02020603050405020304" pitchFamily="18" charset="0"/>
              </a:rPr>
              <a:t>null </a:t>
            </a:r>
            <a:r>
              <a:rPr lang="en-US" altLang="zh-CN" sz="2000" b="1" dirty="0">
                <a:solidFill>
                  <a:srgbClr val="0000FF"/>
                </a:solidFill>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System.out.println</a:t>
            </a:r>
            <a:r>
              <a:rPr lang="en-US" altLang="zh-CN" sz="2000" b="1" dirty="0">
                <a:solidFill>
                  <a:srgbClr val="0000FF"/>
                </a:solidFill>
                <a:latin typeface="Times New Roman" panose="02020603050405020304" pitchFamily="18" charset="0"/>
                <a:cs typeface="Times New Roman" panose="02020603050405020304" pitchFamily="18" charset="0"/>
              </a:rPr>
              <a:t>( line );</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line = </a:t>
            </a:r>
            <a:r>
              <a:rPr lang="en-US" altLang="zh-CN" sz="2000" b="1" dirty="0" err="1">
                <a:solidFill>
                  <a:srgbClr val="0000FF"/>
                </a:solidFill>
                <a:latin typeface="Times New Roman" panose="02020603050405020304" pitchFamily="18" charset="0"/>
                <a:cs typeface="Times New Roman" panose="02020603050405020304" pitchFamily="18" charset="0"/>
              </a:rPr>
              <a:t>in.readLine</a:t>
            </a:r>
            <a:r>
              <a:rPr lang="en-US" altLang="zh-CN" sz="2000" b="1" dirty="0">
                <a:solidFill>
                  <a:srgbClr val="0000FF"/>
                </a:solidFill>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in.close</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catch (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iox</a:t>
            </a:r>
            <a:r>
              <a:rPr lang="en-US" altLang="zh-CN" sz="2000" b="1" dirty="0">
                <a:latin typeface="Times New Roman" panose="02020603050405020304" pitchFamily="18" charset="0"/>
                <a:cs typeface="Times New Roman" panose="02020603050405020304" pitchFamily="18" charset="0"/>
              </a:rPr>
              <a:t> )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("Problem reading " +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cxnSp>
        <p:nvCxnSpPr>
          <p:cNvPr id="5" name="直接连接符 4"/>
          <p:cNvCxnSpPr/>
          <p:nvPr/>
        </p:nvCxnSpPr>
        <p:spPr>
          <a:xfrm>
            <a:off x="0" y="764704"/>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标题 1">
            <a:extLst>
              <a:ext uri="{FF2B5EF4-FFF2-40B4-BE49-F238E27FC236}">
                <a16:creationId xmlns:a16="http://schemas.microsoft.com/office/drawing/2014/main" id="{7CCD43D1-01D4-4AC0-B4A3-3B3109512CC6}"/>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42143780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内容占位符 2"/>
          <p:cNvSpPr>
            <a:spLocks noGrp="1"/>
          </p:cNvSpPr>
          <p:nvPr>
            <p:ph idx="1"/>
          </p:nvPr>
        </p:nvSpPr>
        <p:spPr>
          <a:xfrm>
            <a:off x="468313" y="981075"/>
            <a:ext cx="8229600" cy="5688013"/>
          </a:xfrm>
        </p:spPr>
        <p:txBody>
          <a:bodyPr/>
          <a:lstStyle/>
          <a:p>
            <a:pPr>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说明</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20000"/>
              </a:lnSpc>
              <a:defRPr/>
            </a:pP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运行该程序，屏幕上将逐行显示出</a:t>
            </a:r>
            <a:r>
              <a:rPr lang="en-US" altLang="zh-CN" sz="2000" b="0" dirty="0">
                <a:latin typeface="Times New Roman" panose="02020603050405020304" pitchFamily="18" charset="0"/>
                <a:ea typeface="黑体" panose="02010609060101010101" pitchFamily="49" charset="-122"/>
                <a:cs typeface="Times New Roman" panose="02020603050405020304" pitchFamily="18" charset="0"/>
              </a:rPr>
              <a:t>Hello.txt</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文件中的内容</a:t>
            </a:r>
            <a:endParaRPr lang="en-US" altLang="zh-CN" sz="2000" b="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20000"/>
              </a:lnSpc>
              <a:defRPr/>
            </a:pPr>
            <a:r>
              <a:rPr lang="en-US" altLang="zh-CN" sz="2000" b="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FileReader</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对象：创建后将打开文件，如果文件不存在，会抛出一个</a:t>
            </a:r>
            <a:r>
              <a:rPr lang="en-US" altLang="zh-CN" sz="2000" b="0" dirty="0" err="1">
                <a:latin typeface="Times New Roman" panose="02020603050405020304" pitchFamily="18" charset="0"/>
                <a:ea typeface="黑体" panose="02010609060101010101" pitchFamily="49" charset="-122"/>
                <a:cs typeface="Times New Roman" panose="02020603050405020304" pitchFamily="18" charset="0"/>
              </a:rPr>
              <a:t>IOException</a:t>
            </a:r>
            <a:endParaRPr lang="en-US" altLang="zh-CN" sz="2000" b="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20000"/>
              </a:lnSpc>
              <a:defRPr/>
            </a:pPr>
            <a:r>
              <a:rPr lang="en-US" altLang="zh-CN" sz="2000" b="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BufferedReader</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类的</a:t>
            </a:r>
            <a:r>
              <a:rPr lang="en-US" altLang="zh-CN" sz="2000" b="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readLine</a:t>
            </a:r>
            <a:r>
              <a:rPr lang="en-US" altLang="zh-CN" sz="2000"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方法：从一个面向字符的输入流中读取一行文本。如果其中不再有数据，返回</a:t>
            </a:r>
            <a:r>
              <a:rPr lang="en-US" altLang="zh-CN" sz="2000" b="0"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rPr>
              <a:t>null</a:t>
            </a:r>
          </a:p>
          <a:p>
            <a:pPr>
              <a:lnSpc>
                <a:spcPct val="120000"/>
              </a:lnSpc>
              <a:defRPr/>
            </a:pPr>
            <a:r>
              <a:rPr lang="en-US" altLang="zh-CN" sz="2000" b="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Reader</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类的</a:t>
            </a:r>
            <a:r>
              <a:rPr lang="en-US" altLang="zh-CN" sz="2000"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read()</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方法：也可用来判别文件结束。该方法返回的一个表示某个字符的</a:t>
            </a:r>
            <a:r>
              <a:rPr lang="en-US" altLang="zh-CN" sz="2000" b="0" dirty="0" err="1">
                <a:latin typeface="Times New Roman" panose="02020603050405020304" pitchFamily="18" charset="0"/>
                <a:ea typeface="黑体" panose="02010609060101010101" pitchFamily="49" charset="-122"/>
                <a:cs typeface="Times New Roman" panose="02020603050405020304" pitchFamily="18" charset="0"/>
              </a:rPr>
              <a:t>int</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型整数，如果读到文件末尾，</a:t>
            </a:r>
            <a:r>
              <a:rPr lang="zh-CN" altLang="en-US" sz="2000" b="0" dirty="0">
                <a:solidFill>
                  <a:srgbClr val="008000"/>
                </a:solidFill>
                <a:latin typeface="Times New Roman" panose="02020603050405020304" pitchFamily="18" charset="0"/>
                <a:ea typeface="黑体" panose="02010609060101010101" pitchFamily="49" charset="-122"/>
                <a:cs typeface="Times New Roman" panose="02020603050405020304" pitchFamily="18" charset="0"/>
              </a:rPr>
              <a:t>返回 -1</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。据此，可修改本例中的读文件部分：</a:t>
            </a:r>
            <a:endParaRPr lang="en-US" altLang="zh-CN" sz="2000" b="0"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20000"/>
              </a:lnSpc>
              <a:buFont typeface="Wingdings" panose="05000000000000000000" pitchFamily="2" charset="2"/>
              <a:buNone/>
              <a:defRPr/>
            </a:pPr>
            <a:r>
              <a:rPr lang="en-US" altLang="zh-CN" sz="2000"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800" b="0" dirty="0" err="1">
                <a:latin typeface="Times New Roman" panose="02020603050405020304" pitchFamily="18" charset="0"/>
                <a:ea typeface="黑体" panose="02010609060101010101" pitchFamily="49" charset="-122"/>
                <a:cs typeface="Times New Roman" panose="02020603050405020304" pitchFamily="18" charset="0"/>
              </a:rPr>
              <a:t>int</a:t>
            </a:r>
            <a:r>
              <a:rPr lang="en-US" altLang="zh-CN" sz="1800" b="0" dirty="0">
                <a:latin typeface="Times New Roman" panose="02020603050405020304" pitchFamily="18" charset="0"/>
                <a:ea typeface="黑体" panose="02010609060101010101" pitchFamily="49" charset="-122"/>
                <a:cs typeface="Times New Roman" panose="02020603050405020304" pitchFamily="18" charset="0"/>
              </a:rPr>
              <a:t> c;</a:t>
            </a:r>
          </a:p>
          <a:p>
            <a:pPr lvl="1">
              <a:lnSpc>
                <a:spcPct val="120000"/>
              </a:lnSpc>
              <a:buFontTx/>
              <a:buNone/>
              <a:defRPr/>
            </a:pPr>
            <a:r>
              <a:rPr lang="en-US" altLang="zh-CN" sz="1800" b="0" dirty="0">
                <a:ea typeface="黑体" panose="02010609060101010101" pitchFamily="49" charset="-122"/>
                <a:cs typeface="Times New Roman" panose="02020603050405020304" pitchFamily="18" charset="0"/>
              </a:rPr>
              <a:t>       while((c=</a:t>
            </a:r>
            <a:r>
              <a:rPr lang="en-US" altLang="zh-CN" sz="1800" b="0" dirty="0" err="1">
                <a:ea typeface="黑体" panose="02010609060101010101" pitchFamily="49" charset="-122"/>
                <a:cs typeface="Times New Roman" panose="02020603050405020304" pitchFamily="18" charset="0"/>
              </a:rPr>
              <a:t>in.read</a:t>
            </a:r>
            <a:r>
              <a:rPr lang="en-US" altLang="zh-CN" sz="1800" b="0" dirty="0">
                <a:ea typeface="黑体" panose="02010609060101010101" pitchFamily="49" charset="-122"/>
                <a:cs typeface="Times New Roman" panose="02020603050405020304" pitchFamily="18" charset="0"/>
              </a:rPr>
              <a:t>())!= -1)    </a:t>
            </a:r>
          </a:p>
          <a:p>
            <a:pPr lvl="1">
              <a:lnSpc>
                <a:spcPct val="120000"/>
              </a:lnSpc>
              <a:buFontTx/>
              <a:buNone/>
              <a:defRPr/>
            </a:pPr>
            <a:r>
              <a:rPr lang="en-US" altLang="zh-CN" sz="1800" b="0" dirty="0">
                <a:ea typeface="黑体" panose="02010609060101010101" pitchFamily="49" charset="-122"/>
                <a:cs typeface="Times New Roman" panose="02020603050405020304" pitchFamily="18" charset="0"/>
              </a:rPr>
              <a:t>  </a:t>
            </a:r>
            <a:r>
              <a:rPr lang="en-US" altLang="zh-CN" sz="1800" b="0" dirty="0" err="1">
                <a:ea typeface="黑体" panose="02010609060101010101" pitchFamily="49" charset="-122"/>
                <a:cs typeface="Times New Roman" panose="02020603050405020304" pitchFamily="18" charset="0"/>
              </a:rPr>
              <a:t>System.out.print</a:t>
            </a:r>
            <a:r>
              <a:rPr lang="en-US" altLang="zh-CN" sz="1800" b="0" dirty="0">
                <a:ea typeface="黑体" panose="02010609060101010101" pitchFamily="49" charset="-122"/>
                <a:cs typeface="Times New Roman" panose="02020603050405020304" pitchFamily="18" charset="0"/>
              </a:rPr>
              <a:t>(</a:t>
            </a:r>
            <a:r>
              <a:rPr lang="en-US" altLang="zh-CN" sz="1800" b="0" dirty="0">
                <a:solidFill>
                  <a:srgbClr val="FF0000"/>
                </a:solidFill>
                <a:ea typeface="黑体" panose="02010609060101010101" pitchFamily="49" charset="-122"/>
                <a:cs typeface="Times New Roman" panose="02020603050405020304" pitchFamily="18" charset="0"/>
              </a:rPr>
              <a:t>(char)c</a:t>
            </a:r>
            <a:r>
              <a:rPr lang="en-US" altLang="zh-CN" sz="1800" b="0" dirty="0">
                <a:ea typeface="黑体" panose="02010609060101010101" pitchFamily="49" charset="-122"/>
                <a:cs typeface="Times New Roman" panose="02020603050405020304" pitchFamily="18" charset="0"/>
              </a:rPr>
              <a:t>);</a:t>
            </a:r>
          </a:p>
          <a:p>
            <a:pPr>
              <a:lnSpc>
                <a:spcPct val="120000"/>
              </a:lnSpc>
              <a:defRPr/>
            </a:pPr>
            <a:r>
              <a:rPr lang="en-US" altLang="zh-CN" sz="2000"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close()</a:t>
            </a:r>
            <a:r>
              <a:rPr lang="zh-CN" altLang="en-US" sz="2000" b="0" dirty="0">
                <a:latin typeface="Times New Roman" panose="02020603050405020304" pitchFamily="18" charset="0"/>
                <a:ea typeface="黑体" panose="02010609060101010101" pitchFamily="49" charset="-122"/>
                <a:cs typeface="Times New Roman" panose="02020603050405020304" pitchFamily="18" charset="0"/>
              </a:rPr>
              <a:t>方法：为了操作系统可以更为有效地利用有限的资源，应该在读取完毕后，调用该方法</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a:extLst>
              <a:ext uri="{FF2B5EF4-FFF2-40B4-BE49-F238E27FC236}">
                <a16:creationId xmlns:a16="http://schemas.microsoft.com/office/drawing/2014/main" id="{35F34142-8CCC-4582-B82A-14B93F7246C0}"/>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4</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读</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14446500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260648"/>
            <a:ext cx="6858000" cy="648419"/>
          </a:xfrm>
        </p:spPr>
        <p:txBody>
          <a:bodyPr/>
          <a:lstStyle/>
          <a:p>
            <a:pPr marL="838200" indent="-838200" eaLnBrk="1" hangingPunct="1"/>
            <a:r>
              <a:rPr lang="zh-CN" altLang="en-US" b="0" dirty="0">
                <a:latin typeface="Times New Roman" panose="02020603050405020304" pitchFamily="18" charset="0"/>
                <a:ea typeface="黑体" panose="02010609060101010101" pitchFamily="49" charset="-122"/>
                <a:cs typeface="Times New Roman" panose="02020603050405020304" pitchFamily="18" charset="0"/>
              </a:rPr>
              <a:t>第六章 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输出流和文件</a:t>
            </a:r>
          </a:p>
        </p:txBody>
      </p:sp>
      <p:sp>
        <p:nvSpPr>
          <p:cNvPr id="66563" name="Rectangle 3"/>
          <p:cNvSpPr>
            <a:spLocks noGrp="1" noChangeArrowheads="1"/>
          </p:cNvSpPr>
          <p:nvPr>
            <p:ph idx="1"/>
          </p:nvPr>
        </p:nvSpPr>
        <p:spPr>
          <a:xfrm>
            <a:off x="609600" y="1295400"/>
            <a:ext cx="7467600" cy="5257800"/>
          </a:xfrm>
        </p:spPr>
        <p:txBody>
          <a:bodyPr/>
          <a:lstStyle/>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a:t>
            </a:r>
          </a:p>
          <a:p>
            <a:pPr marL="609600" indent="-609600" eaLnBrk="1" hangingPunct="1">
              <a:buFontTx/>
              <a:buNone/>
            </a:pPr>
            <a:r>
              <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6.2 </a:t>
            </a:r>
            <a:r>
              <a:rPr lang="zh-CN" altLang="en-US"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文件读写</a:t>
            </a:r>
            <a:endPar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b="0" dirty="0">
                <a:ea typeface="黑体" panose="02010609060101010101" pitchFamily="49" charset="-122"/>
                <a:cs typeface="Times New Roman" panose="02020603050405020304" pitchFamily="18" charset="0"/>
              </a:rPr>
              <a:t>File</a:t>
            </a:r>
            <a:r>
              <a:rPr lang="zh-CN" altLang="en-US" b="0" dirty="0">
                <a:ea typeface="黑体" panose="02010609060101010101" pitchFamily="49" charset="-122"/>
                <a:cs typeface="Times New Roman" panose="02020603050405020304" pitchFamily="18" charset="0"/>
              </a:rPr>
              <a:t>类</a:t>
            </a:r>
            <a:endParaRPr lang="en-US" altLang="zh-CN" b="0" dirty="0">
              <a:ea typeface="黑体" panose="02010609060101010101" pitchFamily="49" charset="-122"/>
              <a:cs typeface="Times New Roman" panose="02020603050405020304" pitchFamily="18" charset="0"/>
            </a:endParaRPr>
          </a:p>
          <a:p>
            <a:pPr lvl="1" eaLnBrk="1" hangingPunct="1"/>
            <a:r>
              <a:rPr lang="zh-CN" altLang="en-US" b="0" dirty="0">
                <a:ea typeface="黑体" panose="02010609060101010101" pitchFamily="49" charset="-122"/>
                <a:cs typeface="Times New Roman" panose="02020603050405020304" pitchFamily="18" charset="0"/>
              </a:rPr>
              <a:t>写二进制文件</a:t>
            </a:r>
          </a:p>
          <a:p>
            <a:pPr lvl="1" eaLnBrk="1" hangingPunct="1"/>
            <a:r>
              <a:rPr lang="zh-CN" altLang="en-US" b="0" dirty="0">
                <a:ea typeface="黑体" panose="02010609060101010101" pitchFamily="49" charset="-122"/>
                <a:cs typeface="Times New Roman" panose="02020603050405020304" pitchFamily="18" charset="0"/>
              </a:rPr>
              <a:t>读二进制文件</a:t>
            </a:r>
          </a:p>
          <a:p>
            <a:pPr lvl="1" eaLnBrk="1" hangingPunct="1"/>
            <a:r>
              <a:rPr lang="zh-CN" altLang="en-US" b="0" dirty="0">
                <a:ea typeface="黑体" panose="02010609060101010101" pitchFamily="49" charset="-122"/>
                <a:cs typeface="Times New Roman" panose="02020603050405020304" pitchFamily="18" charset="0"/>
              </a:rPr>
              <a:t>读文本文件</a:t>
            </a:r>
          </a:p>
          <a:p>
            <a:pPr lvl="1" eaLnBrk="1" hangingPunct="1"/>
            <a:r>
              <a:rPr lang="zh-CN" altLang="en-US" b="0" dirty="0">
                <a:solidFill>
                  <a:srgbClr val="C00000"/>
                </a:solidFill>
                <a:ea typeface="黑体" panose="02010609060101010101" pitchFamily="49" charset="-122"/>
                <a:cs typeface="Times New Roman" panose="02020603050405020304" pitchFamily="18" charset="0"/>
              </a:rPr>
              <a:t>写文本文件</a:t>
            </a:r>
          </a:p>
          <a:p>
            <a:pPr lvl="1" eaLnBrk="1" hangingPunct="1"/>
            <a:r>
              <a:rPr lang="zh-CN" altLang="en-US" b="0" dirty="0">
                <a:ea typeface="黑体" panose="02010609060101010101" pitchFamily="49" charset="-122"/>
                <a:cs typeface="Times New Roman" panose="02020603050405020304" pitchFamily="18" charset="0"/>
              </a:rPr>
              <a:t>对象序列化</a:t>
            </a:r>
          </a:p>
          <a:p>
            <a:pPr lvl="1" eaLnBrk="1" hangingPunct="1"/>
            <a:r>
              <a:rPr lang="zh-CN" altLang="en-US" b="0" dirty="0">
                <a:ea typeface="黑体" panose="02010609060101010101" pitchFamily="49" charset="-122"/>
                <a:cs typeface="Times New Roman" panose="02020603050405020304" pitchFamily="18" charset="0"/>
              </a:rPr>
              <a:t>随机文件读写</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48125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内容占位符 2"/>
          <p:cNvSpPr>
            <a:spLocks noGrp="1"/>
          </p:cNvSpPr>
          <p:nvPr>
            <p:ph idx="1"/>
          </p:nvPr>
        </p:nvSpPr>
        <p:spPr/>
        <p:txBody>
          <a:bodyPr/>
          <a:lstStyle/>
          <a:p>
            <a:pPr lvl="1">
              <a:lnSpc>
                <a:spcPct val="150000"/>
              </a:lnSpc>
              <a:spcBef>
                <a:spcPts val="0"/>
              </a:spcBef>
            </a:pPr>
            <a:r>
              <a:rPr lang="en-GB" altLang="zh-CN" b="0" dirty="0" err="1">
                <a:ea typeface="黑体" panose="02010609060101010101" pitchFamily="49" charset="-122"/>
                <a:cs typeface="Times New Roman" panose="02020603050405020304" pitchFamily="18" charset="0"/>
              </a:rPr>
              <a:t>FileWriter</a:t>
            </a:r>
            <a:r>
              <a:rPr lang="zh-CN" altLang="en-GB" b="0" dirty="0">
                <a:ea typeface="黑体" panose="02010609060101010101" pitchFamily="49" charset="-122"/>
                <a:cs typeface="Times New Roman" panose="02020603050405020304" pitchFamily="18" charset="0"/>
              </a:rPr>
              <a:t>类 </a:t>
            </a:r>
          </a:p>
          <a:p>
            <a:pPr lvl="1">
              <a:lnSpc>
                <a:spcPct val="150000"/>
              </a:lnSpc>
              <a:spcBef>
                <a:spcPts val="0"/>
              </a:spcBef>
            </a:pPr>
            <a:r>
              <a:rPr lang="zh-CN" altLang="en-GB" b="0" dirty="0">
                <a:ea typeface="黑体" panose="02010609060101010101" pitchFamily="49" charset="-122"/>
                <a:cs typeface="Times New Roman" panose="02020603050405020304" pitchFamily="18" charset="0"/>
              </a:rPr>
              <a:t>创建一个磁盘文件 </a:t>
            </a:r>
          </a:p>
          <a:p>
            <a:pPr lvl="1">
              <a:lnSpc>
                <a:spcPct val="150000"/>
              </a:lnSpc>
              <a:spcBef>
                <a:spcPts val="0"/>
              </a:spcBef>
            </a:pPr>
            <a:r>
              <a:rPr lang="zh-CN" altLang="en-GB" b="0" dirty="0">
                <a:ea typeface="黑体" panose="02010609060101010101" pitchFamily="49" charset="-122"/>
                <a:cs typeface="Times New Roman" panose="02020603050405020304" pitchFamily="18" charset="0"/>
              </a:rPr>
              <a:t>关闭一个磁盘文件 </a:t>
            </a:r>
          </a:p>
          <a:p>
            <a:pPr lvl="1">
              <a:lnSpc>
                <a:spcPct val="150000"/>
              </a:lnSpc>
              <a:spcBef>
                <a:spcPts val="0"/>
              </a:spcBef>
            </a:pPr>
            <a:r>
              <a:rPr lang="en-GB" altLang="zh-CN" b="0" dirty="0">
                <a:ea typeface="黑体" panose="02010609060101010101" pitchFamily="49" charset="-122"/>
                <a:cs typeface="Times New Roman" panose="02020603050405020304" pitchFamily="18" charset="0"/>
              </a:rPr>
              <a:t>write() </a:t>
            </a:r>
            <a:r>
              <a:rPr lang="zh-CN" altLang="en-GB" b="0" dirty="0">
                <a:ea typeface="黑体" panose="02010609060101010101" pitchFamily="49" charset="-122"/>
                <a:cs typeface="Times New Roman" panose="02020603050405020304" pitchFamily="18" charset="0"/>
              </a:rPr>
              <a:t>方法</a:t>
            </a:r>
          </a:p>
          <a:p>
            <a:pPr lvl="1">
              <a:lnSpc>
                <a:spcPct val="150000"/>
              </a:lnSpc>
              <a:spcBef>
                <a:spcPts val="0"/>
              </a:spcBef>
            </a:pPr>
            <a:r>
              <a:rPr lang="zh-CN" altLang="en-GB" b="0" dirty="0">
                <a:ea typeface="黑体" panose="02010609060101010101" pitchFamily="49" charset="-122"/>
                <a:cs typeface="Times New Roman" panose="02020603050405020304" pitchFamily="18" charset="0"/>
              </a:rPr>
              <a:t>捕获</a:t>
            </a:r>
            <a:r>
              <a:rPr lang="en-GB" altLang="zh-CN" b="0" dirty="0">
                <a:ea typeface="黑体" panose="02010609060101010101" pitchFamily="49" charset="-122"/>
                <a:cs typeface="Times New Roman" panose="02020603050405020304" pitchFamily="18" charset="0"/>
              </a:rPr>
              <a:t>I/O</a:t>
            </a:r>
            <a:r>
              <a:rPr lang="zh-CN" altLang="en-GB" b="0" dirty="0">
                <a:ea typeface="黑体" panose="02010609060101010101" pitchFamily="49" charset="-122"/>
                <a:cs typeface="Times New Roman" panose="02020603050405020304" pitchFamily="18" charset="0"/>
              </a:rPr>
              <a:t>异常 </a:t>
            </a:r>
          </a:p>
          <a:p>
            <a:pPr lvl="1">
              <a:lnSpc>
                <a:spcPct val="150000"/>
              </a:lnSpc>
              <a:spcBef>
                <a:spcPts val="0"/>
              </a:spcBef>
            </a:pPr>
            <a:r>
              <a:rPr lang="en-GB" altLang="zh-CN" b="0" dirty="0" err="1">
                <a:ea typeface="黑体" panose="02010609060101010101" pitchFamily="49" charset="-122"/>
                <a:cs typeface="Times New Roman" panose="02020603050405020304" pitchFamily="18" charset="0"/>
              </a:rPr>
              <a:t>BufferedWriter</a:t>
            </a:r>
            <a:r>
              <a:rPr lang="en-GB" altLang="zh-CN" b="0" dirty="0">
                <a:ea typeface="黑体" panose="02010609060101010101" pitchFamily="49" charset="-122"/>
                <a:cs typeface="Times New Roman" panose="02020603050405020304" pitchFamily="18" charset="0"/>
              </a:rPr>
              <a:t> </a:t>
            </a:r>
            <a:r>
              <a:rPr lang="zh-CN" altLang="en-GB" b="0" dirty="0">
                <a:ea typeface="黑体" panose="02010609060101010101" pitchFamily="49" charset="-122"/>
                <a:cs typeface="Times New Roman" panose="02020603050405020304" pitchFamily="18" charset="0"/>
              </a:rPr>
              <a:t>类</a:t>
            </a:r>
            <a:endParaRPr lang="zh-CN" altLang="en-US" b="0" dirty="0">
              <a:ea typeface="黑体" panose="02010609060101010101" pitchFamily="49" charset="-122"/>
              <a:cs typeface="Times New Roman" panose="02020603050405020304" pitchFamily="18" charset="0"/>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标题 1">
            <a:extLst>
              <a:ext uri="{FF2B5EF4-FFF2-40B4-BE49-F238E27FC236}">
                <a16:creationId xmlns:a16="http://schemas.microsoft.com/office/drawing/2014/main" id="{F1389E89-4A16-47B4-A43E-3D5BDCFD31C7}"/>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395536" y="1340768"/>
            <a:ext cx="3514725" cy="618952"/>
          </a:xfrm>
          <a:prstGeom prst="rect">
            <a:avLst/>
          </a:prstGeom>
          <a:noFill/>
        </p:spPr>
        <p:txBody>
          <a:bodyPr>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FileWriter</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字符输出流</a:t>
            </a:r>
          </a:p>
        </p:txBody>
      </p:sp>
      <p:graphicFrame>
        <p:nvGraphicFramePr>
          <p:cNvPr id="12" name="表格 11">
            <a:extLst>
              <a:ext uri="{FF2B5EF4-FFF2-40B4-BE49-F238E27FC236}">
                <a16:creationId xmlns:a16="http://schemas.microsoft.com/office/drawing/2014/main" id="{81756AF5-628E-47D3-265E-9D583E585B71}"/>
              </a:ext>
            </a:extLst>
          </p:cNvPr>
          <p:cNvGraphicFramePr>
            <a:graphicFrameLocks noGrp="1"/>
          </p:cNvGraphicFramePr>
          <p:nvPr>
            <p:extLst>
              <p:ext uri="{D42A27DB-BD31-4B8C-83A1-F6EECF244321}">
                <p14:modId xmlns:p14="http://schemas.microsoft.com/office/powerpoint/2010/main" val="1631292075"/>
              </p:ext>
            </p:extLst>
          </p:nvPr>
        </p:nvGraphicFramePr>
        <p:xfrm>
          <a:off x="497095" y="2240869"/>
          <a:ext cx="8424168" cy="2376262"/>
        </p:xfrm>
        <a:graphic>
          <a:graphicData uri="http://schemas.openxmlformats.org/drawingml/2006/table">
            <a:tbl>
              <a:tblPr/>
              <a:tblGrid>
                <a:gridCol w="4418145">
                  <a:extLst>
                    <a:ext uri="{9D8B030D-6E8A-4147-A177-3AD203B41FA5}">
                      <a16:colId xmlns:a16="http://schemas.microsoft.com/office/drawing/2014/main" val="4059425573"/>
                    </a:ext>
                  </a:extLst>
                </a:gridCol>
                <a:gridCol w="4006023">
                  <a:extLst>
                    <a:ext uri="{9D8B030D-6E8A-4147-A177-3AD203B41FA5}">
                      <a16:colId xmlns:a16="http://schemas.microsoft.com/office/drawing/2014/main" val="1139361603"/>
                    </a:ext>
                  </a:extLst>
                </a:gridCol>
              </a:tblGrid>
              <a:tr h="47173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47429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en-US" altLang="zh-CN" sz="1400" kern="1200" dirty="0" err="1">
                          <a:solidFill>
                            <a:schemeClr val="tx1"/>
                          </a:solidFill>
                          <a:effectLst/>
                          <a:latin typeface="Consolas" panose="020B0609020204030204" pitchFamily="49" charset="0"/>
                          <a:ea typeface="黑体" panose="02010609060101010101" pitchFamily="49" charset="-122"/>
                          <a:cs typeface="+mn-cs"/>
                        </a:rPr>
                        <a:t>FileWriter</a:t>
                      </a:r>
                      <a:r>
                        <a:rPr lang="en-US" altLang="zh-CN" sz="1400" kern="1200" dirty="0">
                          <a:solidFill>
                            <a:schemeClr val="tx1"/>
                          </a:solidFill>
                          <a:effectLst/>
                          <a:latin typeface="Consolas" panose="020B0609020204030204" pitchFamily="49" charset="0"/>
                          <a:ea typeface="黑体" panose="02010609060101010101" pitchFamily="49" charset="-122"/>
                          <a:cs typeface="+mn-cs"/>
                        </a:rPr>
                        <a:t>(String </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fileName</a:t>
                      </a:r>
                      <a:r>
                        <a:rPr lang="en-US" altLang="zh-CN" sz="1400" kern="1200" dirty="0">
                          <a:solidFill>
                            <a:schemeClr val="tx1"/>
                          </a:solidFill>
                          <a:effectLst/>
                          <a:latin typeface="Consolas" panose="020B0609020204030204" pitchFamily="49" charset="0"/>
                          <a:ea typeface="黑体" panose="02010609060101010101" pitchFamily="49" charset="-122"/>
                          <a:cs typeface="+mn-cs"/>
                        </a:rPr>
                        <a:t>)</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字符输出流关联文件，路径以字符串形式给出</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r h="476746">
                <a:tc>
                  <a:txBody>
                    <a:bodyPr/>
                    <a:lstStyle/>
                    <a:p>
                      <a:r>
                        <a:rPr lang="en-US" altLang="zh-CN" sz="1400" dirty="0" err="1">
                          <a:latin typeface="Consolas" panose="020B0609020204030204" pitchFamily="49" charset="0"/>
                          <a:ea typeface="微软雅黑" pitchFamily="34" charset="-122"/>
                        </a:rPr>
                        <a:t>FileWriter</a:t>
                      </a:r>
                      <a:r>
                        <a:rPr lang="en-US" altLang="zh-CN" sz="1400" dirty="0">
                          <a:latin typeface="Consolas" panose="020B0609020204030204" pitchFamily="49" charset="0"/>
                          <a:ea typeface="微软雅黑" pitchFamily="34" charset="-122"/>
                        </a:rPr>
                        <a:t>(String </a:t>
                      </a:r>
                      <a:r>
                        <a:rPr lang="en-US" altLang="zh-CN" sz="1400" dirty="0" err="1">
                          <a:latin typeface="Consolas" panose="020B0609020204030204" pitchFamily="49" charset="0"/>
                          <a:ea typeface="微软雅黑" pitchFamily="34" charset="-122"/>
                        </a:rPr>
                        <a:t>fileName</a:t>
                      </a:r>
                      <a:r>
                        <a:rPr lang="en-US" altLang="zh-CN" sz="1400" dirty="0">
                          <a:latin typeface="Consolas" panose="020B0609020204030204" pitchFamily="49" charset="0"/>
                          <a:ea typeface="微软雅黑" pitchFamily="34" charset="-122"/>
                        </a:rPr>
                        <a:t>, </a:t>
                      </a:r>
                      <a:r>
                        <a:rPr lang="en-US" altLang="zh-CN" sz="1400" dirty="0" err="1">
                          <a:latin typeface="Consolas" panose="020B0609020204030204" pitchFamily="49" charset="0"/>
                          <a:ea typeface="微软雅黑" pitchFamily="34" charset="-122"/>
                        </a:rPr>
                        <a:t>boolean</a:t>
                      </a:r>
                      <a:r>
                        <a:rPr lang="en-US" altLang="zh-CN" sz="1400" dirty="0">
                          <a:latin typeface="Consolas" panose="020B0609020204030204" pitchFamily="49" charset="0"/>
                          <a:ea typeface="微软雅黑" pitchFamily="34" charset="-122"/>
                        </a:rPr>
                        <a:t> append) </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参数</a:t>
                      </a:r>
                      <a:r>
                        <a:rPr lang="en-US" altLang="zh-CN" sz="1400" dirty="0">
                          <a:latin typeface="Consolas" panose="020B0609020204030204" pitchFamily="49" charset="0"/>
                          <a:ea typeface="Alibaba PuHuiTi R"/>
                        </a:rPr>
                        <a:t>2: </a:t>
                      </a:r>
                      <a:r>
                        <a:rPr lang="zh-CN" altLang="en-US" sz="1400" dirty="0">
                          <a:latin typeface="Consolas" panose="020B0609020204030204" pitchFamily="49" charset="0"/>
                          <a:ea typeface="Alibaba PuHuiTi R"/>
                        </a:rPr>
                        <a:t>追加写入的开关</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53507733"/>
                  </a:ext>
                </a:extLst>
              </a:tr>
              <a:tr h="476746">
                <a:tc>
                  <a:txBody>
                    <a:bodyPr/>
                    <a:lstStyle/>
                    <a:p>
                      <a:r>
                        <a:rPr lang="en-US" altLang="zh-CN" sz="1400" dirty="0" err="1">
                          <a:latin typeface="Consolas" panose="020B0609020204030204" pitchFamily="49" charset="0"/>
                          <a:ea typeface="微软雅黑" pitchFamily="34" charset="-122"/>
                        </a:rPr>
                        <a:t>FileWriter</a:t>
                      </a:r>
                      <a:r>
                        <a:rPr lang="en-US" altLang="zh-CN" sz="1400" dirty="0">
                          <a:latin typeface="Consolas" panose="020B0609020204030204" pitchFamily="49" charset="0"/>
                          <a:ea typeface="微软雅黑" pitchFamily="34" charset="-122"/>
                        </a:rPr>
                        <a:t>(File file)</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字符输出流关联文件，路径以</a:t>
                      </a:r>
                      <a:r>
                        <a:rPr lang="en-US" altLang="zh-CN" sz="1400" dirty="0">
                          <a:latin typeface="Consolas" panose="020B0609020204030204" pitchFamily="49" charset="0"/>
                          <a:ea typeface="Alibaba PuHuiTi R"/>
                        </a:rPr>
                        <a:t>File</a:t>
                      </a:r>
                      <a:r>
                        <a:rPr lang="zh-CN" altLang="en-US" sz="1400" dirty="0">
                          <a:latin typeface="Consolas" panose="020B0609020204030204" pitchFamily="49" charset="0"/>
                          <a:ea typeface="Alibaba PuHuiTi R"/>
                        </a:rPr>
                        <a:t>对象形式给出</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298574392"/>
                  </a:ext>
                </a:extLst>
              </a:tr>
              <a:tr h="476746">
                <a:tc>
                  <a:txBody>
                    <a:bodyPr/>
                    <a:lstStyle/>
                    <a:p>
                      <a:r>
                        <a:rPr lang="en-US" altLang="zh-CN" sz="1400" dirty="0" err="1">
                          <a:latin typeface="Consolas" panose="020B0609020204030204" pitchFamily="49" charset="0"/>
                          <a:ea typeface="微软雅黑" pitchFamily="34" charset="-122"/>
                        </a:rPr>
                        <a:t>FileWriter</a:t>
                      </a:r>
                      <a:r>
                        <a:rPr lang="en-US" altLang="zh-CN" sz="1400" dirty="0">
                          <a:latin typeface="Consolas" panose="020B0609020204030204" pitchFamily="49" charset="0"/>
                          <a:ea typeface="微软雅黑" pitchFamily="34" charset="-122"/>
                        </a:rPr>
                        <a:t>(File </a:t>
                      </a:r>
                      <a:r>
                        <a:rPr lang="en-US" altLang="zh-CN" sz="1400" dirty="0" err="1">
                          <a:latin typeface="Consolas" panose="020B0609020204030204" pitchFamily="49" charset="0"/>
                          <a:ea typeface="微软雅黑" pitchFamily="34" charset="-122"/>
                        </a:rPr>
                        <a:t>file</a:t>
                      </a:r>
                      <a:r>
                        <a:rPr lang="en-US" altLang="zh-CN" sz="1400" dirty="0">
                          <a:latin typeface="Consolas" panose="020B0609020204030204" pitchFamily="49" charset="0"/>
                          <a:ea typeface="微软雅黑" pitchFamily="34" charset="-122"/>
                        </a:rPr>
                        <a:t>, </a:t>
                      </a:r>
                      <a:r>
                        <a:rPr lang="en-US" altLang="zh-CN" sz="1400" dirty="0" err="1">
                          <a:latin typeface="Consolas" panose="020B0609020204030204" pitchFamily="49" charset="0"/>
                          <a:ea typeface="微软雅黑" pitchFamily="34" charset="-122"/>
                        </a:rPr>
                        <a:t>boolean</a:t>
                      </a:r>
                      <a:r>
                        <a:rPr lang="en-US" altLang="zh-CN" sz="1400" dirty="0">
                          <a:latin typeface="Consolas" panose="020B0609020204030204" pitchFamily="49" charset="0"/>
                          <a:ea typeface="微软雅黑" pitchFamily="34" charset="-122"/>
                        </a:rPr>
                        <a:t> append)</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参数</a:t>
                      </a:r>
                      <a:r>
                        <a:rPr lang="en-US" altLang="zh-CN" sz="1400" dirty="0">
                          <a:latin typeface="Consolas" panose="020B0609020204030204" pitchFamily="49" charset="0"/>
                          <a:ea typeface="Alibaba PuHuiTi R"/>
                        </a:rPr>
                        <a:t>2: </a:t>
                      </a:r>
                      <a:r>
                        <a:rPr lang="zh-CN" altLang="en-US" sz="1400" dirty="0">
                          <a:latin typeface="Consolas" panose="020B0609020204030204" pitchFamily="49" charset="0"/>
                          <a:ea typeface="Alibaba PuHuiTi R"/>
                        </a:rPr>
                        <a:t>追加写入的开关</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699974860"/>
                  </a:ext>
                </a:extLst>
              </a:tr>
            </a:tbl>
          </a:graphicData>
        </a:graphic>
      </p:graphicFrame>
      <p:cxnSp>
        <p:nvCxnSpPr>
          <p:cNvPr id="5" name="直接连接符 4">
            <a:extLst>
              <a:ext uri="{FF2B5EF4-FFF2-40B4-BE49-F238E27FC236}">
                <a16:creationId xmlns:a16="http://schemas.microsoft.com/office/drawing/2014/main" id="{0C4A5115-E51D-457D-B76F-239820C33916}"/>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a:extLst>
              <a:ext uri="{FF2B5EF4-FFF2-40B4-BE49-F238E27FC236}">
                <a16:creationId xmlns:a16="http://schemas.microsoft.com/office/drawing/2014/main" id="{EC2F6340-2DA2-4527-B159-4EAC8E38EC84}"/>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780500266"/>
      </p:ext>
    </p:extLst>
  </p:cSld>
  <p:clrMapOvr>
    <a:masterClrMapping/>
  </p:clrMapOvr>
  <p:transition spd="med">
    <p:pull/>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539552" y="1428413"/>
            <a:ext cx="3633487" cy="618952"/>
          </a:xfrm>
          <a:prstGeom prst="rect">
            <a:avLst/>
          </a:prstGeom>
          <a:noFill/>
        </p:spPr>
        <p:txBody>
          <a:bodyPr wrap="square">
            <a:spAutoFit/>
          </a:bodyPr>
          <a:lstStyle/>
          <a:p>
            <a:pPr eaLnBrk="0" hangingPunct="0">
              <a:lnSpc>
                <a:spcPct val="200000"/>
              </a:lnSpc>
              <a:defRPr/>
            </a:pPr>
            <a:r>
              <a:rPr lang="en-US" altLang="zh-CN" sz="2000" b="1" dirty="0" err="1">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FileWriter</a:t>
            </a:r>
            <a:r>
              <a:rPr lang="en-US" altLang="zh-CN"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字符输出流</a:t>
            </a:r>
          </a:p>
        </p:txBody>
      </p:sp>
      <p:graphicFrame>
        <p:nvGraphicFramePr>
          <p:cNvPr id="12" name="表格 11">
            <a:extLst>
              <a:ext uri="{FF2B5EF4-FFF2-40B4-BE49-F238E27FC236}">
                <a16:creationId xmlns:a16="http://schemas.microsoft.com/office/drawing/2014/main" id="{81756AF5-628E-47D3-265E-9D583E585B71}"/>
              </a:ext>
            </a:extLst>
          </p:cNvPr>
          <p:cNvGraphicFramePr>
            <a:graphicFrameLocks noGrp="1"/>
          </p:cNvGraphicFramePr>
          <p:nvPr>
            <p:extLst>
              <p:ext uri="{D42A27DB-BD31-4B8C-83A1-F6EECF244321}">
                <p14:modId xmlns:p14="http://schemas.microsoft.com/office/powerpoint/2010/main" val="869931227"/>
              </p:ext>
            </p:extLst>
          </p:nvPr>
        </p:nvGraphicFramePr>
        <p:xfrm>
          <a:off x="395536" y="2343646"/>
          <a:ext cx="8041815" cy="2170708"/>
        </p:xfrm>
        <a:graphic>
          <a:graphicData uri="http://schemas.openxmlformats.org/drawingml/2006/table">
            <a:tbl>
              <a:tblPr/>
              <a:tblGrid>
                <a:gridCol w="4896544">
                  <a:extLst>
                    <a:ext uri="{9D8B030D-6E8A-4147-A177-3AD203B41FA5}">
                      <a16:colId xmlns:a16="http://schemas.microsoft.com/office/drawing/2014/main" val="4059425573"/>
                    </a:ext>
                  </a:extLst>
                </a:gridCol>
                <a:gridCol w="3145271">
                  <a:extLst>
                    <a:ext uri="{9D8B030D-6E8A-4147-A177-3AD203B41FA5}">
                      <a16:colId xmlns:a16="http://schemas.microsoft.com/office/drawing/2014/main" val="1139361603"/>
                    </a:ext>
                  </a:extLst>
                </a:gridCol>
              </a:tblGrid>
              <a:tr h="358916">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成员方法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360864">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r>
                        <a:rPr lang="en-US" altLang="zh-CN" sz="1400" kern="1200" dirty="0">
                          <a:solidFill>
                            <a:schemeClr val="tx1"/>
                          </a:solidFill>
                          <a:effectLst/>
                          <a:latin typeface="Consolas" panose="020B0609020204030204" pitchFamily="49" charset="0"/>
                          <a:ea typeface="黑体" panose="02010609060101010101" pitchFamily="49" charset="-122"/>
                          <a:cs typeface="+mn-cs"/>
                        </a:rPr>
                        <a:t>public void write(int c)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写出单个字符</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r h="362732">
                <a:tc>
                  <a:txBody>
                    <a:bodyPr/>
                    <a:lstStyle/>
                    <a:p>
                      <a:r>
                        <a:rPr lang="en-US" altLang="zh-CN" sz="1400" dirty="0">
                          <a:latin typeface="Consolas" panose="020B0609020204030204" pitchFamily="49" charset="0"/>
                          <a:ea typeface="微软雅黑" pitchFamily="34" charset="-122"/>
                        </a:rPr>
                        <a:t>public void write(char[] </a:t>
                      </a:r>
                      <a:r>
                        <a:rPr lang="en-US" altLang="zh-CN" sz="1400" dirty="0" err="1">
                          <a:latin typeface="Consolas" panose="020B0609020204030204" pitchFamily="49" charset="0"/>
                          <a:ea typeface="微软雅黑" pitchFamily="34" charset="-122"/>
                        </a:rPr>
                        <a:t>cbuf</a:t>
                      </a:r>
                      <a:r>
                        <a:rPr lang="en-US" altLang="zh-CN" sz="1400" dirty="0">
                          <a:latin typeface="Consolas" panose="020B0609020204030204" pitchFamily="49" charset="0"/>
                          <a:ea typeface="微软雅黑" pitchFamily="34" charset="-122"/>
                        </a:rPr>
                        <a:t>) </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Alibaba PuHuiTi R"/>
                        </a:rPr>
                        <a:t>写出一个字符数组</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453507733"/>
                  </a:ext>
                </a:extLst>
              </a:tr>
              <a:tr h="362732">
                <a:tc>
                  <a:txBody>
                    <a:bodyPr/>
                    <a:lstStyle/>
                    <a:p>
                      <a:r>
                        <a:rPr lang="en-US" altLang="zh-CN" sz="1400" dirty="0">
                          <a:latin typeface="Consolas" panose="020B0609020204030204" pitchFamily="49" charset="0"/>
                          <a:ea typeface="微软雅黑" pitchFamily="34" charset="-122"/>
                        </a:rPr>
                        <a:t>public write(char[] </a:t>
                      </a:r>
                      <a:r>
                        <a:rPr lang="en-US" altLang="zh-CN" sz="1400" dirty="0" err="1">
                          <a:latin typeface="Consolas" panose="020B0609020204030204" pitchFamily="49" charset="0"/>
                          <a:ea typeface="微软雅黑" pitchFamily="34" charset="-122"/>
                        </a:rPr>
                        <a:t>cbuf</a:t>
                      </a:r>
                      <a:r>
                        <a:rPr lang="en-US" altLang="zh-CN" sz="1400" dirty="0">
                          <a:latin typeface="Consolas" panose="020B0609020204030204" pitchFamily="49" charset="0"/>
                          <a:ea typeface="微软雅黑" pitchFamily="34" charset="-122"/>
                        </a:rPr>
                        <a:t>, int off, int </a:t>
                      </a:r>
                      <a:r>
                        <a:rPr lang="en-US" altLang="zh-CN" sz="1400" dirty="0" err="1">
                          <a:latin typeface="Consolas" panose="020B0609020204030204" pitchFamily="49" charset="0"/>
                          <a:ea typeface="微软雅黑" pitchFamily="34" charset="-122"/>
                        </a:rPr>
                        <a:t>len</a:t>
                      </a:r>
                      <a:r>
                        <a:rPr lang="en-US" altLang="zh-CN" sz="1400" dirty="0">
                          <a:latin typeface="Consolas" panose="020B0609020204030204" pitchFamily="49" charset="0"/>
                          <a:ea typeface="微软雅黑" pitchFamily="34" charset="-122"/>
                        </a:rPr>
                        <a:t>)</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写出字符数组的一部分</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298574392"/>
                  </a:ext>
                </a:extLst>
              </a:tr>
              <a:tr h="362732">
                <a:tc>
                  <a:txBody>
                    <a:bodyPr/>
                    <a:lstStyle/>
                    <a:p>
                      <a:r>
                        <a:rPr lang="en-US" altLang="zh-CN" sz="1400" dirty="0">
                          <a:latin typeface="Consolas" panose="020B0609020204030204" pitchFamily="49" charset="0"/>
                          <a:ea typeface="微软雅黑" pitchFamily="34" charset="-122"/>
                        </a:rPr>
                        <a:t>public void write(String str) </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dirty="0">
                          <a:latin typeface="Consolas" panose="020B0609020204030204" pitchFamily="49" charset="0"/>
                          <a:ea typeface="Alibaba PuHuiTi R"/>
                        </a:rPr>
                        <a:t>写出字符串</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699974860"/>
                  </a:ext>
                </a:extLst>
              </a:tr>
              <a:tr h="362732">
                <a:tc>
                  <a:txBody>
                    <a:bodyPr/>
                    <a:lstStyle/>
                    <a:p>
                      <a:r>
                        <a:rPr lang="en-US" altLang="zh-CN" sz="1400" dirty="0">
                          <a:latin typeface="Consolas" panose="020B0609020204030204" pitchFamily="49" charset="0"/>
                          <a:ea typeface="微软雅黑" pitchFamily="34" charset="-122"/>
                        </a:rPr>
                        <a:t>public void write(String str, int off, int </a:t>
                      </a:r>
                      <a:r>
                        <a:rPr lang="en-US" altLang="zh-CN" sz="1400" dirty="0" err="1">
                          <a:latin typeface="Consolas" panose="020B0609020204030204" pitchFamily="49" charset="0"/>
                          <a:ea typeface="微软雅黑" pitchFamily="34" charset="-122"/>
                        </a:rPr>
                        <a:t>len</a:t>
                      </a:r>
                      <a:r>
                        <a:rPr lang="en-US" altLang="zh-CN" sz="1400" dirty="0">
                          <a:latin typeface="Consolas" panose="020B0609020204030204" pitchFamily="49" charset="0"/>
                          <a:ea typeface="微软雅黑" pitchFamily="34" charset="-122"/>
                        </a:rPr>
                        <a:t>) </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400" b="0" dirty="0">
                          <a:solidFill>
                            <a:schemeClr val="tx1">
                              <a:lumMod val="95000"/>
                              <a:lumOff val="5000"/>
                            </a:schemeClr>
                          </a:solidFill>
                          <a:latin typeface="Consolas" panose="020B0609020204030204" pitchFamily="49" charset="0"/>
                          <a:ea typeface="Alibaba PuHuiTi R"/>
                        </a:rPr>
                        <a:t>写出字符串的一部分</a:t>
                      </a:r>
                      <a:endParaRPr lang="en-US" altLang="zh-CN" sz="1400" b="0" dirty="0">
                        <a:solidFill>
                          <a:schemeClr val="tx1">
                            <a:lumMod val="95000"/>
                            <a:lumOff val="5000"/>
                          </a:schemeClr>
                        </a:solidFill>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369849088"/>
                  </a:ext>
                </a:extLst>
              </a:tr>
            </a:tbl>
          </a:graphicData>
        </a:graphic>
      </p:graphicFrame>
      <p:sp>
        <p:nvSpPr>
          <p:cNvPr id="3" name="三角形 9">
            <a:extLst>
              <a:ext uri="{FF2B5EF4-FFF2-40B4-BE49-F238E27FC236}">
                <a16:creationId xmlns:a16="http://schemas.microsoft.com/office/drawing/2014/main" id="{241BC1B2-C55B-016B-DF8D-B7F901C64C6F}"/>
              </a:ext>
            </a:extLst>
          </p:cNvPr>
          <p:cNvSpPr/>
          <p:nvPr/>
        </p:nvSpPr>
        <p:spPr>
          <a:xfrm rot="2651319">
            <a:off x="711611" y="5017692"/>
            <a:ext cx="109236" cy="58579"/>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575D138F-8850-01AF-8E44-BFD0ADB00108}"/>
              </a:ext>
            </a:extLst>
          </p:cNvPr>
          <p:cNvSpPr/>
          <p:nvPr/>
        </p:nvSpPr>
        <p:spPr>
          <a:xfrm>
            <a:off x="781597" y="4750254"/>
            <a:ext cx="4654500" cy="1271033"/>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DCEC4CB3-A612-D1F9-B480-E38CCFB799C1}"/>
              </a:ext>
            </a:extLst>
          </p:cNvPr>
          <p:cNvSpPr/>
          <p:nvPr/>
        </p:nvSpPr>
        <p:spPr>
          <a:xfrm>
            <a:off x="706650" y="4668106"/>
            <a:ext cx="1201053" cy="319803"/>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latin typeface="Alibaba PuHuiTi R" pitchFamily="18" charset="-122"/>
                <a:ea typeface="Alibaba PuHuiTi R" pitchFamily="18" charset="-122"/>
                <a:cs typeface="Alibaba PuHuiTi R" pitchFamily="18" charset="-122"/>
              </a:rPr>
              <a:t>注意事项</a:t>
            </a:r>
          </a:p>
        </p:txBody>
      </p:sp>
      <p:sp>
        <p:nvSpPr>
          <p:cNvPr id="6" name="TextBox 6">
            <a:extLst>
              <a:ext uri="{FF2B5EF4-FFF2-40B4-BE49-F238E27FC236}">
                <a16:creationId xmlns:a16="http://schemas.microsoft.com/office/drawing/2014/main" id="{18230587-4DD6-B756-E10D-C804FC528C0E}"/>
              </a:ext>
            </a:extLst>
          </p:cNvPr>
          <p:cNvSpPr txBox="1"/>
          <p:nvPr/>
        </p:nvSpPr>
        <p:spPr>
          <a:xfrm>
            <a:off x="900755" y="5084665"/>
            <a:ext cx="4535341" cy="703334"/>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rPr>
              <a:t>字符输出流写出数据，需要调用</a:t>
            </a: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flush</a:t>
            </a:r>
            <a:r>
              <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rPr>
              <a:t>或</a:t>
            </a:r>
            <a:r>
              <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rPr>
              <a:t>close</a:t>
            </a:r>
            <a:r>
              <a:rPr lang="zh-CN" altLang="en-US" sz="1400" dirty="0">
                <a:latin typeface="Consolas" panose="020B0609020204030204" pitchFamily="49" charset="0"/>
                <a:ea typeface="阿里巴巴普惠体" panose="00020600040101010101" pitchFamily="18" charset="-122"/>
                <a:cs typeface="阿里巴巴普惠体" panose="00020600040101010101" pitchFamily="18" charset="-122"/>
              </a:rPr>
              <a:t>方法，数据才会写出</a:t>
            </a:r>
            <a:endParaRPr lang="en-US" altLang="zh-CN" sz="14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7" name="文本框 6">
            <a:extLst>
              <a:ext uri="{FF2B5EF4-FFF2-40B4-BE49-F238E27FC236}">
                <a16:creationId xmlns:a16="http://schemas.microsoft.com/office/drawing/2014/main" id="{708DA48B-D1C8-AA11-FD69-62BC68F07EE2}"/>
              </a:ext>
            </a:extLst>
          </p:cNvPr>
          <p:cNvSpPr txBox="1"/>
          <p:nvPr/>
        </p:nvSpPr>
        <p:spPr>
          <a:xfrm>
            <a:off x="5868144" y="4924105"/>
            <a:ext cx="3061253" cy="923330"/>
          </a:xfrm>
          <a:prstGeom prst="rect">
            <a:avLst/>
          </a:prstGeom>
          <a:noFill/>
          <a:ln>
            <a:noFill/>
          </a:ln>
        </p:spPr>
        <p:txBody>
          <a:bodyPr wrap="square" rtlCol="0">
            <a:spAutoFit/>
          </a:bodyPr>
          <a:lstStyle/>
          <a:p>
            <a:pPr algn="l"/>
            <a:r>
              <a:rPr lang="en-US" altLang="zh-CN" dirty="0">
                <a:solidFill>
                  <a:schemeClr val="tx1">
                    <a:lumMod val="95000"/>
                    <a:lumOff val="5000"/>
                  </a:schemeClr>
                </a:solidFill>
                <a:latin typeface="Consolas" panose="020B0609020204030204" pitchFamily="49" charset="0"/>
                <a:ea typeface="杨任东竹石体-Bold" panose="02000000000000000000" pitchFamily="2" charset="-122"/>
              </a:rPr>
              <a:t>Flush</a:t>
            </a:r>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后可以继续写出</a:t>
            </a:r>
            <a:endPar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endParaRPr>
          </a:p>
          <a:p>
            <a:pPr algn="l"/>
            <a:endPar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endParaRPr>
          </a:p>
          <a:p>
            <a:pPr algn="l"/>
            <a:r>
              <a:rPr lang="en-US" altLang="zh-CN" dirty="0">
                <a:solidFill>
                  <a:schemeClr val="tx1">
                    <a:lumMod val="95000"/>
                    <a:lumOff val="5000"/>
                  </a:schemeClr>
                </a:solidFill>
                <a:latin typeface="Consolas" panose="020B0609020204030204" pitchFamily="49" charset="0"/>
                <a:ea typeface="杨任东竹石体-Bold" panose="02000000000000000000" pitchFamily="2" charset="-122"/>
              </a:rPr>
              <a:t>Close</a:t>
            </a:r>
            <a:r>
              <a:rPr lang="en-US" altLang="zh-CN" dirty="0">
                <a:solidFill>
                  <a:schemeClr val="tx1">
                    <a:lumMod val="95000"/>
                    <a:lumOff val="5000"/>
                  </a:schemeClr>
                </a:solidFill>
                <a:latin typeface="杨任东竹石体-Bold" panose="02000000000000000000" pitchFamily="2" charset="-122"/>
                <a:ea typeface="杨任东竹石体-Bold" panose="02000000000000000000" pitchFamily="2" charset="-122"/>
              </a:rPr>
              <a:t> </a:t>
            </a:r>
            <a:r>
              <a:rPr lang="zh-CN" altLang="en-US" dirty="0">
                <a:solidFill>
                  <a:schemeClr val="tx1">
                    <a:lumMod val="95000"/>
                    <a:lumOff val="5000"/>
                  </a:schemeClr>
                </a:solidFill>
                <a:latin typeface="杨任东竹石体-Bold" panose="02000000000000000000" pitchFamily="2" charset="-122"/>
                <a:ea typeface="杨任东竹石体-Bold" panose="02000000000000000000" pitchFamily="2" charset="-122"/>
              </a:rPr>
              <a:t>后不能继续写出</a:t>
            </a:r>
            <a:endParaRPr kumimoji="0" lang="zh-CN" altLang="en-US" b="0" i="0" u="none" strike="noStrike" cap="none" normalizeH="0" baseline="0" dirty="0">
              <a:ln>
                <a:noFill/>
              </a:ln>
              <a:solidFill>
                <a:schemeClr val="tx1">
                  <a:lumMod val="95000"/>
                  <a:lumOff val="5000"/>
                </a:schemeClr>
              </a:solidFill>
              <a:effectLst/>
              <a:latin typeface="杨任东竹石体-Bold" panose="02000000000000000000" pitchFamily="2" charset="-122"/>
              <a:ea typeface="杨任东竹石体-Bold" panose="02000000000000000000" pitchFamily="2" charset="-122"/>
            </a:endParaRPr>
          </a:p>
        </p:txBody>
      </p:sp>
      <p:cxnSp>
        <p:nvCxnSpPr>
          <p:cNvPr id="10" name="直接连接符 9">
            <a:extLst>
              <a:ext uri="{FF2B5EF4-FFF2-40B4-BE49-F238E27FC236}">
                <a16:creationId xmlns:a16="http://schemas.microsoft.com/office/drawing/2014/main" id="{32A0F6F6-632B-4FA7-8792-65B488B54BF4}"/>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标题 1">
            <a:extLst>
              <a:ext uri="{FF2B5EF4-FFF2-40B4-BE49-F238E27FC236}">
                <a16:creationId xmlns:a16="http://schemas.microsoft.com/office/drawing/2014/main" id="{710F2D93-B5C1-4524-BAFC-98F067AB85F2}"/>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342858960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randombar(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1+#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p:bldP spid="7"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内容占位符 2"/>
          <p:cNvSpPr>
            <a:spLocks noGrp="1"/>
          </p:cNvSpPr>
          <p:nvPr>
            <p:ph idx="1"/>
          </p:nvPr>
        </p:nvSpPr>
        <p:spPr>
          <a:xfrm>
            <a:off x="468313" y="981076"/>
            <a:ext cx="7056015" cy="935036"/>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盘根目录创建文本文件</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Hello.txt，</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并往里写入若干行文本</a:t>
            </a:r>
            <a:endParaRPr lang="en-US" altLang="zh-CN" sz="2400" b="0" dirty="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p:txBody>
      </p:sp>
      <p:sp>
        <p:nvSpPr>
          <p:cNvPr id="68612" name="Rectangle 3"/>
          <p:cNvSpPr txBox="1">
            <a:spLocks noChangeArrowheads="1"/>
          </p:cNvSpPr>
          <p:nvPr/>
        </p:nvSpPr>
        <p:spPr bwMode="auto">
          <a:xfrm>
            <a:off x="627063" y="1989136"/>
            <a:ext cx="7385050" cy="417671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a:t>
            </a:r>
            <a:r>
              <a:rPr lang="en-US" altLang="zh-CN" sz="2000" b="1" dirty="0" err="1">
                <a:latin typeface="Times New Roman" panose="02020603050405020304" pitchFamily="18" charset="0"/>
                <a:cs typeface="Times New Roman" panose="02020603050405020304" pitchFamily="18" charset="0"/>
              </a:rPr>
              <a:t>WriteTxtFile</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 (String[]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 </a:t>
            </a:r>
            <a:r>
              <a:rPr lang="en-US" altLang="zh-CN" sz="2000" b="1" dirty="0">
                <a:solidFill>
                  <a:srgbClr val="009900"/>
                </a:solidFill>
                <a:latin typeface="Times New Roman" panose="02020603050405020304" pitchFamily="18" charset="0"/>
                <a:cs typeface="Times New Roman" panose="02020603050405020304" pitchFamily="18" charset="0"/>
              </a:rPr>
              <a:t>throws </a:t>
            </a:r>
            <a:r>
              <a:rPr lang="en-US" altLang="zh-CN" sz="2000" b="1" dirty="0" err="1">
                <a:solidFill>
                  <a:srgbClr val="009900"/>
                </a:solidFill>
                <a:latin typeface="Times New Roman" panose="02020603050405020304" pitchFamily="18" charset="0"/>
                <a:cs typeface="Times New Roman" panose="02020603050405020304" pitchFamily="18" charset="0"/>
              </a:rPr>
              <a:t>IOException</a:t>
            </a:r>
            <a:r>
              <a:rPr lang="en-US" altLang="zh-CN" sz="2000" b="1" dirty="0">
                <a:solidFill>
                  <a:srgbClr val="009900"/>
                </a:solidFill>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//main</a:t>
            </a:r>
            <a:r>
              <a:rPr lang="zh-CN" altLang="en-US" sz="2000" b="1" dirty="0">
                <a:latin typeface="Times New Roman" panose="02020603050405020304" pitchFamily="18" charset="0"/>
                <a:cs typeface="Times New Roman" panose="02020603050405020304" pitchFamily="18" charset="0"/>
              </a:rPr>
              <a:t>方法中声明抛出</a:t>
            </a:r>
            <a:r>
              <a:rPr lang="en-US" altLang="zh-CN" sz="2000" b="1" dirty="0">
                <a:latin typeface="Times New Roman" panose="02020603050405020304" pitchFamily="18" charset="0"/>
                <a:cs typeface="Times New Roman" panose="02020603050405020304" pitchFamily="18" charset="0"/>
              </a:rPr>
              <a:t>IO</a:t>
            </a:r>
            <a:r>
              <a:rPr lang="zh-CN" altLang="en-US" sz="2000" b="1" dirty="0">
                <a:latin typeface="Times New Roman" panose="02020603050405020304" pitchFamily="18" charset="0"/>
                <a:cs typeface="Times New Roman" panose="02020603050405020304" pitchFamily="18" charset="0"/>
              </a:rPr>
              <a:t>异常</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“C:\Hello.txt";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FileWriter</a:t>
            </a: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writer</a:t>
            </a:r>
            <a:r>
              <a:rPr lang="en-US" altLang="zh-CN" sz="2000" b="1" dirty="0">
                <a:latin typeface="Times New Roman" panose="02020603050405020304" pitchFamily="18" charset="0"/>
                <a:cs typeface="Times New Roman" panose="02020603050405020304" pitchFamily="18" charset="0"/>
              </a:rPr>
              <a:t> = new </a:t>
            </a:r>
            <a:r>
              <a:rPr lang="en-US" altLang="zh-CN" sz="2000" b="1" dirty="0" err="1">
                <a:solidFill>
                  <a:srgbClr val="009900"/>
                </a:solidFill>
                <a:latin typeface="Times New Roman" panose="02020603050405020304" pitchFamily="18" charset="0"/>
                <a:cs typeface="Times New Roman" panose="02020603050405020304" pitchFamily="18" charset="0"/>
              </a:rPr>
              <a:t>FileWriter</a:t>
            </a:r>
            <a:r>
              <a:rPr lang="en-US" altLang="zh-CN" sz="2000" b="1" dirty="0">
                <a:solidFill>
                  <a:srgbClr val="009900"/>
                </a:solidFill>
                <a:latin typeface="Times New Roman" panose="02020603050405020304" pitchFamily="18" charset="0"/>
                <a:cs typeface="Times New Roman" panose="02020603050405020304" pitchFamily="18" charset="0"/>
              </a:rPr>
              <a:t>(</a:t>
            </a:r>
            <a:r>
              <a:rPr lang="en-US" altLang="zh-CN" sz="2000" b="1" dirty="0" err="1">
                <a:solidFill>
                  <a:srgbClr val="009900"/>
                </a:solidFill>
                <a:latin typeface="Times New Roman" panose="02020603050405020304" pitchFamily="18" charset="0"/>
                <a:cs typeface="Times New Roman" panose="02020603050405020304" pitchFamily="18" charset="0"/>
              </a:rPr>
              <a:t>fileName</a:t>
            </a:r>
            <a:r>
              <a:rPr lang="en-US" altLang="zh-CN" sz="2000" b="1" dirty="0">
                <a:solidFill>
                  <a:srgbClr val="009900"/>
                </a:solidFill>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writer.write</a:t>
            </a:r>
            <a:r>
              <a:rPr lang="en-US" altLang="zh-CN" sz="2000" b="1" dirty="0">
                <a:latin typeface="Times New Roman" panose="02020603050405020304" pitchFamily="18" charset="0"/>
                <a:cs typeface="Times New Roman" panose="02020603050405020304" pitchFamily="18" charset="0"/>
              </a:rPr>
              <a:t>( "Hello!\n"); </a:t>
            </a:r>
          </a:p>
          <a:p>
            <a:pPr marL="0" lvl="1">
              <a:buClr>
                <a:schemeClr val="accent2"/>
              </a:buClr>
              <a:buSzPct val="70000"/>
            </a:pP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writer.write</a:t>
            </a:r>
            <a:r>
              <a:rPr lang="en-US" altLang="zh-CN" sz="2000" b="1" dirty="0">
                <a:latin typeface="Times New Roman" panose="02020603050405020304" pitchFamily="18" charset="0"/>
                <a:cs typeface="Times New Roman" panose="02020603050405020304" pitchFamily="18" charset="0"/>
              </a:rPr>
              <a:t>( "This is my first text file,\n"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writer.write</a:t>
            </a:r>
            <a:r>
              <a:rPr lang="en-US" altLang="zh-CN" sz="2000" b="1" dirty="0">
                <a:latin typeface="Times New Roman" panose="02020603050405020304" pitchFamily="18" charset="0"/>
                <a:cs typeface="Times New Roman" panose="02020603050405020304" pitchFamily="18" charset="0"/>
              </a:rPr>
              <a:t>( "You can see how this is done.\n"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writer.write</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输入一行中文也可以</a:t>
            </a:r>
            <a:r>
              <a:rPr lang="en-US" altLang="zh-CN" sz="2000" b="1" dirty="0">
                <a:latin typeface="Times New Roman" panose="02020603050405020304" pitchFamily="18" charset="0"/>
                <a:cs typeface="Times New Roman" panose="02020603050405020304" pitchFamily="18" charset="0"/>
              </a:rPr>
              <a:t>\n");</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009900"/>
                </a:solidFill>
                <a:latin typeface="Times New Roman" panose="02020603050405020304" pitchFamily="18" charset="0"/>
                <a:cs typeface="Times New Roman" panose="02020603050405020304" pitchFamily="18" charset="0"/>
              </a:rPr>
              <a:t>writer.close</a:t>
            </a:r>
            <a:r>
              <a:rPr lang="en-US" altLang="zh-CN" sz="2000" b="1" dirty="0">
                <a:solidFill>
                  <a:srgbClr val="009900"/>
                </a:solidFill>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标题 1">
            <a:extLst>
              <a:ext uri="{FF2B5EF4-FFF2-40B4-BE49-F238E27FC236}">
                <a16:creationId xmlns:a16="http://schemas.microsoft.com/office/drawing/2014/main" id="{5473942C-F9DF-4BAF-8776-6F39ED60ED38}"/>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953511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内容占位符 2"/>
          <p:cNvSpPr>
            <a:spLocks noGrp="1"/>
          </p:cNvSpPr>
          <p:nvPr>
            <p:ph idx="1"/>
          </p:nvPr>
        </p:nvSpPr>
        <p:spPr>
          <a:xfrm>
            <a:off x="468313" y="981075"/>
            <a:ext cx="8064127" cy="5184775"/>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盘根目录下的</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Hello.txt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文件</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每次运行这个程序，都将删除已经存在的</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”Hello.txt”</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文件，创建一个新的同名文件</a:t>
            </a:r>
            <a:endParaRPr lang="en-US" altLang="zh-CN" sz="2400" b="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FileWriter</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的构造方法有五个，本例是通过一个字符串指定文件名来创建</a:t>
            </a:r>
          </a:p>
          <a:p>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FileWriter</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类的</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write</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方法向文件中写入字符</a:t>
            </a:r>
          </a:p>
          <a:p>
            <a:endParaRPr lang="zh-CN" altLang="en-US" dirty="0">
              <a:ea typeface="宋体" panose="02010600030101010101" pitchFamily="2" charset="-122"/>
            </a:endParaRPr>
          </a:p>
          <a:p>
            <a:endParaRPr lang="zh-CN" altLang="en-US" dirty="0">
              <a:ea typeface="宋体" panose="02010600030101010101" pitchFamily="2" charset="-122"/>
            </a:endParaRPr>
          </a:p>
        </p:txBody>
      </p:sp>
      <p:pic>
        <p:nvPicPr>
          <p:cNvPr id="696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1557338"/>
            <a:ext cx="708660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260801" y="3573462"/>
            <a:ext cx="2695575" cy="522287"/>
          </a:xfrm>
          <a:prstGeom prst="rect">
            <a:avLst/>
          </a:prstGeom>
        </p:spPr>
        <p:txBody>
          <a:bodyPr wrap="none">
            <a:spAutoFit/>
          </a:bodyPr>
          <a:lstStyle/>
          <a:p>
            <a:pPr marL="342900" indent="-342900" eaLnBrk="0" hangingPunct="0">
              <a:spcBef>
                <a:spcPct val="20000"/>
              </a:spcBef>
              <a:buClr>
                <a:schemeClr val="tx2"/>
              </a:buClr>
              <a:buSzPct val="70000"/>
              <a:buFont typeface="Wingdings" pitchFamily="2" charset="2"/>
              <a:buChar char="n"/>
              <a:defRPr/>
            </a:pPr>
            <a:r>
              <a:rPr lang="zh-CN" altLang="en-US" sz="2800" b="1" dirty="0">
                <a:solidFill>
                  <a:srgbClr val="0000FF"/>
                </a:solidFill>
                <a:latin typeface="+mn-lt"/>
                <a:ea typeface="+mn-ea"/>
              </a:rPr>
              <a:t>换行有些问题</a:t>
            </a:r>
          </a:p>
        </p:txBody>
      </p:sp>
      <p:cxnSp>
        <p:nvCxnSpPr>
          <p:cNvPr id="6" name="直接连接符 5"/>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8" name="标题 1">
            <a:extLst>
              <a:ext uri="{FF2B5EF4-FFF2-40B4-BE49-F238E27FC236}">
                <a16:creationId xmlns:a16="http://schemas.microsoft.com/office/drawing/2014/main" id="{3E45AD46-54BA-44E3-A435-046B7E370557}"/>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pic>
        <p:nvPicPr>
          <p:cNvPr id="4" name="图片 3">
            <a:extLst>
              <a:ext uri="{FF2B5EF4-FFF2-40B4-BE49-F238E27FC236}">
                <a16:creationId xmlns:a16="http://schemas.microsoft.com/office/drawing/2014/main" id="{99341696-9E4D-4615-8510-01049D32B2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987" y="4848881"/>
            <a:ext cx="2476627" cy="1276416"/>
          </a:xfrm>
          <a:prstGeom prst="rect">
            <a:avLst/>
          </a:prstGeom>
        </p:spPr>
      </p:pic>
    </p:spTree>
    <p:extLst>
      <p:ext uri="{BB962C8B-B14F-4D97-AF65-F5344CB8AC3E}">
        <p14:creationId xmlns:p14="http://schemas.microsoft.com/office/powerpoint/2010/main" val="76698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内容占位符 2"/>
          <p:cNvSpPr>
            <a:spLocks noGrp="1"/>
          </p:cNvSpPr>
          <p:nvPr>
            <p:ph idx="1"/>
          </p:nvPr>
        </p:nvSpPr>
        <p:spPr>
          <a:xfrm>
            <a:off x="323528" y="981075"/>
            <a:ext cx="8496175" cy="3600053"/>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上例</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WriteTxtFile</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说明</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lvl="1"/>
            <a:r>
              <a:rPr lang="en-US" altLang="zh-CN" b="0" dirty="0">
                <a:ea typeface="黑体" panose="02010609060101010101" pitchFamily="49" charset="-122"/>
                <a:cs typeface="Times New Roman" panose="02020603050405020304" pitchFamily="18" charset="0"/>
              </a:rPr>
              <a:t>Writer</a:t>
            </a:r>
            <a:r>
              <a:rPr lang="zh-CN" altLang="en-US" b="0" dirty="0">
                <a:ea typeface="黑体" panose="02010609060101010101" pitchFamily="49" charset="-122"/>
                <a:cs typeface="Times New Roman" panose="02020603050405020304" pitchFamily="18" charset="0"/>
              </a:rPr>
              <a:t>类的流可实现内部格式到外部磁盘文件格式转换</a:t>
            </a:r>
          </a:p>
          <a:p>
            <a:pPr lvl="1"/>
            <a:r>
              <a:rPr lang="zh-CN" altLang="en-US" b="0" dirty="0">
                <a:ea typeface="黑体" panose="02010609060101010101" pitchFamily="49" charset="-122"/>
                <a:cs typeface="Times New Roman" panose="02020603050405020304" pitchFamily="18" charset="0"/>
              </a:rPr>
              <a:t>“</a:t>
            </a:r>
            <a:r>
              <a:rPr lang="en-US" altLang="zh-CN" b="0" dirty="0">
                <a:ea typeface="黑体" panose="02010609060101010101" pitchFamily="49" charset="-122"/>
                <a:cs typeface="Times New Roman" panose="02020603050405020304" pitchFamily="18" charset="0"/>
              </a:rPr>
              <a:t>Hello.txt”</a:t>
            </a:r>
            <a:r>
              <a:rPr lang="zh-CN" altLang="en-US" b="0" dirty="0">
                <a:ea typeface="黑体" panose="02010609060101010101" pitchFamily="49" charset="-122"/>
                <a:cs typeface="Times New Roman" panose="02020603050405020304" pitchFamily="18" charset="0"/>
              </a:rPr>
              <a:t>是一个普通的</a:t>
            </a:r>
            <a:r>
              <a:rPr lang="en-US" altLang="zh-CN" b="0" dirty="0">
                <a:ea typeface="黑体" panose="02010609060101010101" pitchFamily="49" charset="-122"/>
                <a:cs typeface="Times New Roman" panose="02020603050405020304" pitchFamily="18" charset="0"/>
              </a:rPr>
              <a:t>ASCII</a:t>
            </a:r>
            <a:r>
              <a:rPr lang="zh-CN" altLang="en-US" b="0" dirty="0">
                <a:ea typeface="黑体" panose="02010609060101010101" pitchFamily="49" charset="-122"/>
                <a:cs typeface="Times New Roman" panose="02020603050405020304" pitchFamily="18" charset="0"/>
              </a:rPr>
              <a:t>码文本文件，每个英文字符占一个字节，中文字符占两个字节</a:t>
            </a:r>
          </a:p>
          <a:p>
            <a:pPr lvl="1"/>
            <a:r>
              <a:rPr lang="en-US" altLang="zh-CN" b="0" dirty="0">
                <a:ea typeface="黑体" panose="02010609060101010101" pitchFamily="49" charset="-122"/>
                <a:cs typeface="Times New Roman" panose="02020603050405020304" pitchFamily="18" charset="0"/>
              </a:rPr>
              <a:t>Java</a:t>
            </a:r>
            <a:r>
              <a:rPr lang="zh-CN" altLang="en-US" b="0" dirty="0">
                <a:ea typeface="黑体" panose="02010609060101010101" pitchFamily="49" charset="-122"/>
                <a:cs typeface="Times New Roman" panose="02020603050405020304" pitchFamily="18" charset="0"/>
              </a:rPr>
              <a:t>程序中的字符串则是每个字符占两个字节的，采用</a:t>
            </a:r>
            <a:r>
              <a:rPr lang="en-US" altLang="zh-CN" b="0" dirty="0">
                <a:ea typeface="黑体" panose="02010609060101010101" pitchFamily="49" charset="-122"/>
                <a:cs typeface="Times New Roman" panose="02020603050405020304" pitchFamily="18" charset="0"/>
              </a:rPr>
              <a:t>Unicode</a:t>
            </a:r>
            <a:r>
              <a:rPr lang="zh-CN" altLang="en-US" b="0" dirty="0">
                <a:ea typeface="黑体" panose="02010609060101010101" pitchFamily="49" charset="-122"/>
                <a:cs typeface="Times New Roman" panose="02020603050405020304" pitchFamily="18" charset="0"/>
              </a:rPr>
              <a:t>编码</a:t>
            </a:r>
            <a:endParaRPr lang="en-US" altLang="zh-CN" b="0" dirty="0">
              <a:ea typeface="黑体" panose="02010609060101010101" pitchFamily="49" charset="-122"/>
              <a:cs typeface="Times New Roman" panose="02020603050405020304" pitchFamily="18" charset="0"/>
            </a:endParaRPr>
          </a:p>
          <a:p>
            <a:pPr lvl="1"/>
            <a:r>
              <a:rPr lang="en-US" altLang="zh-CN" b="0" dirty="0">
                <a:ea typeface="黑体" panose="02010609060101010101" pitchFamily="49" charset="-122"/>
                <a:cs typeface="Times New Roman" panose="02020603050405020304" pitchFamily="18" charset="0"/>
              </a:rPr>
              <a:t>close</a:t>
            </a:r>
            <a:r>
              <a:rPr lang="zh-CN" altLang="en-US" b="0" dirty="0">
                <a:ea typeface="黑体" panose="02010609060101010101" pitchFamily="49" charset="-122"/>
                <a:cs typeface="Times New Roman" panose="02020603050405020304" pitchFamily="18" charset="0"/>
              </a:rPr>
              <a:t>方法清空流里的内容并关闭它。如果不调用该方法，可能系统还没有完成所有数据的写操作，程序就结束了</a:t>
            </a:r>
          </a:p>
          <a:p>
            <a:endParaRPr lang="zh-CN" altLang="en-US" dirty="0">
              <a:ea typeface="宋体" panose="02010600030101010101" pitchFamily="2" charset="-122"/>
              <a:cs typeface="Times New Roman" panose="02020603050405020304" pitchFamily="18" charset="0"/>
            </a:endParaRPr>
          </a:p>
        </p:txBody>
      </p:sp>
      <p:pic>
        <p:nvPicPr>
          <p:cNvPr id="7066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4653136"/>
            <a:ext cx="7848600" cy="194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标题 1">
            <a:extLst>
              <a:ext uri="{FF2B5EF4-FFF2-40B4-BE49-F238E27FC236}">
                <a16:creationId xmlns:a16="http://schemas.microsoft.com/office/drawing/2014/main" id="{F7283C75-4031-4C41-987C-D1E47F3694BE}"/>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26813856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idx="1"/>
          </p:nvPr>
        </p:nvSpPr>
        <p:spPr/>
        <p:txBody>
          <a:bodyPr/>
          <a:lstStyle/>
          <a:p>
            <a:r>
              <a:rPr lang="zh-CN" altLang="en-US">
                <a:ea typeface="宋体" panose="02010600030101010101" pitchFamily="2" charset="-122"/>
              </a:rPr>
              <a:t>处理</a:t>
            </a:r>
            <a:r>
              <a:rPr lang="en-US" altLang="zh-CN">
                <a:ea typeface="宋体" panose="02010600030101010101" pitchFamily="2" charset="-122"/>
              </a:rPr>
              <a:t>IO</a:t>
            </a:r>
            <a:r>
              <a:rPr lang="zh-CN" altLang="en-US">
                <a:ea typeface="宋体" panose="02010600030101010101" pitchFamily="2" charset="-122"/>
              </a:rPr>
              <a:t>异常</a:t>
            </a:r>
          </a:p>
          <a:p>
            <a:endParaRPr lang="zh-CN" altLang="en-US">
              <a:ea typeface="宋体" panose="02010600030101010101" pitchFamily="2" charset="-122"/>
            </a:endParaRPr>
          </a:p>
        </p:txBody>
      </p:sp>
      <p:sp>
        <p:nvSpPr>
          <p:cNvPr id="71684" name="Rectangle 3"/>
          <p:cNvSpPr txBox="1">
            <a:spLocks noChangeArrowheads="1"/>
          </p:cNvSpPr>
          <p:nvPr/>
        </p:nvSpPr>
        <p:spPr bwMode="auto">
          <a:xfrm>
            <a:off x="395288" y="1628775"/>
            <a:ext cx="8353425" cy="504031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WriteTxtFile2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 ( 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"c:\\Hello.txt"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try</a:t>
            </a:r>
            <a:r>
              <a:rPr lang="en-US" altLang="zh-CN" sz="2000" b="1" dirty="0">
                <a:latin typeface="Times New Roman" panose="02020603050405020304" pitchFamily="18" charset="0"/>
                <a:cs typeface="Times New Roman" panose="02020603050405020304" pitchFamily="18" charset="0"/>
              </a:rPr>
              <a:t> {  //</a:t>
            </a:r>
            <a:r>
              <a:rPr lang="zh-CN" altLang="en-US" sz="2000" b="1" dirty="0">
                <a:latin typeface="Times New Roman" panose="02020603050405020304" pitchFamily="18" charset="0"/>
                <a:cs typeface="Times New Roman" panose="02020603050405020304" pitchFamily="18" charset="0"/>
              </a:rPr>
              <a:t>将所有</a:t>
            </a:r>
            <a:r>
              <a:rPr lang="en-US" altLang="zh-CN" sz="2000" b="1" dirty="0">
                <a:latin typeface="Times New Roman" panose="02020603050405020304" pitchFamily="18" charset="0"/>
                <a:cs typeface="Times New Roman" panose="02020603050405020304" pitchFamily="18" charset="0"/>
              </a:rPr>
              <a:t>IO</a:t>
            </a:r>
            <a:r>
              <a:rPr lang="zh-CN" altLang="en-US" sz="2000" b="1" dirty="0">
                <a:latin typeface="Times New Roman" panose="02020603050405020304" pitchFamily="18" charset="0"/>
                <a:cs typeface="Times New Roman" panose="02020603050405020304" pitchFamily="18" charset="0"/>
              </a:rPr>
              <a:t>操作放入</a:t>
            </a:r>
            <a:r>
              <a:rPr lang="en-US" altLang="zh-CN" sz="2000" b="1" dirty="0">
                <a:latin typeface="Times New Roman" panose="02020603050405020304" pitchFamily="18" charset="0"/>
                <a:cs typeface="Times New Roman" panose="02020603050405020304" pitchFamily="18" charset="0"/>
              </a:rPr>
              <a:t>try</a:t>
            </a:r>
            <a:r>
              <a:rPr lang="zh-CN" altLang="en-US" sz="2000" b="1" dirty="0">
                <a:latin typeface="Times New Roman" panose="02020603050405020304" pitchFamily="18" charset="0"/>
                <a:cs typeface="Times New Roman" panose="02020603050405020304" pitchFamily="18" charset="0"/>
              </a:rPr>
              <a:t>块中</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FileWriter</a:t>
            </a:r>
            <a:r>
              <a:rPr lang="en-US" altLang="zh-CN" sz="2000" b="1" dirty="0">
                <a:latin typeface="Times New Roman" panose="02020603050405020304" pitchFamily="18" charset="0"/>
                <a:cs typeface="Times New Roman" panose="02020603050405020304" pitchFamily="18" charset="0"/>
              </a:rPr>
              <a:t> writer = new </a:t>
            </a:r>
            <a:r>
              <a:rPr lang="en-US" altLang="zh-CN" sz="2000" b="1" dirty="0" err="1">
                <a:solidFill>
                  <a:srgbClr val="FF0000"/>
                </a:solidFill>
                <a:latin typeface="Times New Roman" panose="02020603050405020304" pitchFamily="18" charset="0"/>
                <a:cs typeface="Times New Roman" panose="02020603050405020304" pitchFamily="18" charset="0"/>
              </a:rPr>
              <a:t>FileWriter</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fileName</a:t>
            </a:r>
            <a:r>
              <a:rPr lang="en-US" altLang="zh-CN" sz="2000" b="1" dirty="0">
                <a:solidFill>
                  <a:srgbClr val="FF0000"/>
                </a:solidFill>
                <a:latin typeface="Times New Roman" panose="02020603050405020304" pitchFamily="18" charset="0"/>
                <a:cs typeface="Times New Roman" panose="02020603050405020304" pitchFamily="18" charset="0"/>
              </a:rPr>
              <a:t>, true )</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writer.write</a:t>
            </a:r>
            <a:r>
              <a:rPr lang="en-US" altLang="zh-CN" sz="2000" b="1" dirty="0">
                <a:latin typeface="Times New Roman" panose="02020603050405020304" pitchFamily="18" charset="0"/>
                <a:cs typeface="Times New Roman" panose="02020603050405020304" pitchFamily="18" charset="0"/>
              </a:rPr>
              <a:t>( "Hello!\n");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writer.write</a:t>
            </a:r>
            <a:r>
              <a:rPr lang="en-US" altLang="zh-CN" sz="2000" b="1" dirty="0">
                <a:latin typeface="Times New Roman" panose="02020603050405020304" pitchFamily="18" charset="0"/>
                <a:cs typeface="Times New Roman" panose="02020603050405020304" pitchFamily="18" charset="0"/>
              </a:rPr>
              <a:t>( "This is my first text file,\n"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writer.write</a:t>
            </a:r>
            <a:r>
              <a:rPr lang="en-US" altLang="zh-CN" sz="2000" b="1" dirty="0">
                <a:latin typeface="Times New Roman" panose="02020603050405020304" pitchFamily="18" charset="0"/>
                <a:cs typeface="Times New Roman" panose="02020603050405020304" pitchFamily="18" charset="0"/>
              </a:rPr>
              <a:t>( "You can see how this is done. \n"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writer.write</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输入一行中文也可以</a:t>
            </a:r>
            <a:r>
              <a:rPr lang="en-US" altLang="zh-CN" sz="2000" b="1" dirty="0">
                <a:latin typeface="Times New Roman" panose="02020603050405020304" pitchFamily="18" charset="0"/>
                <a:cs typeface="Times New Roman" panose="02020603050405020304" pitchFamily="18" charset="0"/>
              </a:rPr>
              <a:t>\n");</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writer.close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solidFill>
                  <a:srgbClr val="FF0000"/>
                </a:solidFill>
                <a:latin typeface="Times New Roman" panose="02020603050405020304" pitchFamily="18" charset="0"/>
                <a:cs typeface="Times New Roman" panose="02020603050405020304" pitchFamily="18" charset="0"/>
              </a:rPr>
              <a:t>    catch ( </a:t>
            </a:r>
            <a:r>
              <a:rPr lang="en-US" altLang="zh-CN" sz="2000" b="1" dirty="0" err="1">
                <a:solidFill>
                  <a:srgbClr val="FF0000"/>
                </a:solidFill>
                <a:latin typeface="Times New Roman" panose="02020603050405020304" pitchFamily="18" charset="0"/>
                <a:cs typeface="Times New Roman" panose="02020603050405020304" pitchFamily="18" charset="0"/>
              </a:rPr>
              <a:t>IOException</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iox</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("Problem writing" +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标题 1">
            <a:extLst>
              <a:ext uri="{FF2B5EF4-FFF2-40B4-BE49-F238E27FC236}">
                <a16:creationId xmlns:a16="http://schemas.microsoft.com/office/drawing/2014/main" id="{FFE8CD3C-D6FA-47F8-89E0-272DCF30B921}"/>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87069510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内容占位符 2"/>
          <p:cNvSpPr>
            <a:spLocks noGrp="1"/>
          </p:cNvSpPr>
          <p:nvPr>
            <p:ph idx="1"/>
          </p:nvPr>
        </p:nvSpPr>
        <p:spPr>
          <a:xfrm>
            <a:off x="481560" y="1700808"/>
            <a:ext cx="7704087" cy="3096344"/>
          </a:xfrm>
        </p:spPr>
        <p:txBody>
          <a:bodyPr/>
          <a:lstStyle/>
          <a:p>
            <a:pPr>
              <a:lnSpc>
                <a:spcPct val="15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运行此程序，会发现在原文件内容后面又追加了重复的内容，这就是将构造方法的第二个参数设为</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true</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的效果</a:t>
            </a:r>
          </a:p>
          <a:p>
            <a:pPr>
              <a:lnSpc>
                <a:spcPct val="15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如果将文件属性改为只读属性，再运行本程序，就会出现</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IO</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错误，程序将转入</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catch</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块中，给出出错信息</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a:extLst>
              <a:ext uri="{FF2B5EF4-FFF2-40B4-BE49-F238E27FC236}">
                <a16:creationId xmlns:a16="http://schemas.microsoft.com/office/drawing/2014/main" id="{3B8A99BB-A7B5-468D-8949-6A6F77ACF60C}"/>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273751747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内容占位符 2"/>
          <p:cNvSpPr>
            <a:spLocks noGrp="1"/>
          </p:cNvSpPr>
          <p:nvPr>
            <p:ph idx="1"/>
          </p:nvPr>
        </p:nvSpPr>
        <p:spPr>
          <a:xfrm>
            <a:off x="468313" y="981075"/>
            <a:ext cx="7543800" cy="4752173"/>
          </a:xfrm>
        </p:spPr>
        <p:txBody>
          <a:bodyPr/>
          <a:lstStyle/>
          <a:p>
            <a:pPr>
              <a:lnSpc>
                <a:spcPct val="150000"/>
              </a:lnSpc>
            </a:pP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BufferedWriter</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类</a:t>
            </a:r>
          </a:p>
          <a:p>
            <a:pPr lvl="1">
              <a:lnSpc>
                <a:spcPct val="150000"/>
              </a:lnSpc>
            </a:pPr>
            <a:r>
              <a:rPr lang="zh-CN" altLang="en-US" b="0" dirty="0">
                <a:ea typeface="黑体" panose="02010609060101010101" pitchFamily="49" charset="-122"/>
                <a:cs typeface="Times New Roman" panose="02020603050405020304" pitchFamily="18" charset="0"/>
              </a:rPr>
              <a:t>如果需要写入的内容很多，就应该使用更为高效的缓冲器流类</a:t>
            </a:r>
            <a:r>
              <a:rPr lang="en-US" altLang="zh-CN" b="0" dirty="0" err="1">
                <a:ea typeface="黑体" panose="02010609060101010101" pitchFamily="49" charset="-122"/>
                <a:cs typeface="Times New Roman" panose="02020603050405020304" pitchFamily="18" charset="0"/>
              </a:rPr>
              <a:t>BufferedWriter</a:t>
            </a:r>
            <a:endParaRPr lang="en-US" altLang="zh-CN" b="0" dirty="0">
              <a:ea typeface="黑体" panose="02010609060101010101" pitchFamily="49" charset="-122"/>
              <a:cs typeface="Times New Roman" panose="02020603050405020304" pitchFamily="18" charset="0"/>
            </a:endParaRPr>
          </a:p>
          <a:p>
            <a:pPr lvl="1">
              <a:lnSpc>
                <a:spcPct val="150000"/>
              </a:lnSpc>
            </a:pPr>
            <a:r>
              <a:rPr lang="en-US" altLang="zh-CN" b="0" dirty="0" err="1">
                <a:ea typeface="黑体" panose="02010609060101010101" pitchFamily="49" charset="-122"/>
                <a:cs typeface="Times New Roman" panose="02020603050405020304" pitchFamily="18" charset="0"/>
              </a:rPr>
              <a:t>FileWriter</a:t>
            </a:r>
            <a:r>
              <a:rPr lang="zh-CN" altLang="en-US" b="0" dirty="0">
                <a:ea typeface="黑体" panose="02010609060101010101" pitchFamily="49" charset="-122"/>
                <a:cs typeface="Times New Roman" panose="02020603050405020304" pitchFamily="18" charset="0"/>
              </a:rPr>
              <a:t>和</a:t>
            </a:r>
            <a:r>
              <a:rPr lang="en-US" altLang="zh-CN" b="0" dirty="0" err="1">
                <a:ea typeface="黑体" panose="02010609060101010101" pitchFamily="49" charset="-122"/>
                <a:cs typeface="Times New Roman" panose="02020603050405020304" pitchFamily="18" charset="0"/>
              </a:rPr>
              <a:t>BufferedWriter</a:t>
            </a:r>
            <a:r>
              <a:rPr lang="zh-CN" altLang="en-US" b="0" dirty="0">
                <a:ea typeface="黑体" panose="02010609060101010101" pitchFamily="49" charset="-122"/>
                <a:cs typeface="Times New Roman" panose="02020603050405020304" pitchFamily="18" charset="0"/>
              </a:rPr>
              <a:t>类都用于输出字符流，包含的方法几乎完全一样，但</a:t>
            </a:r>
            <a:r>
              <a:rPr lang="en-US" altLang="zh-CN" b="0" dirty="0" err="1">
                <a:ea typeface="黑体" panose="02010609060101010101" pitchFamily="49" charset="-122"/>
                <a:cs typeface="Times New Roman" panose="02020603050405020304" pitchFamily="18" charset="0"/>
              </a:rPr>
              <a:t>BufferedWriter</a:t>
            </a:r>
            <a:r>
              <a:rPr lang="zh-CN" altLang="en-US" b="0" dirty="0">
                <a:ea typeface="黑体" panose="02010609060101010101" pitchFamily="49" charset="-122"/>
                <a:cs typeface="Times New Roman" panose="02020603050405020304" pitchFamily="18" charset="0"/>
              </a:rPr>
              <a:t>多提供了一个</a:t>
            </a:r>
            <a:r>
              <a:rPr lang="en-US" altLang="zh-CN" b="0" dirty="0" err="1">
                <a:solidFill>
                  <a:srgbClr val="FF0000"/>
                </a:solidFill>
                <a:ea typeface="黑体" panose="02010609060101010101" pitchFamily="49" charset="-122"/>
                <a:cs typeface="Times New Roman" panose="02020603050405020304" pitchFamily="18" charset="0"/>
              </a:rPr>
              <a:t>newLine</a:t>
            </a:r>
            <a:r>
              <a:rPr lang="en-US" altLang="zh-CN" b="0" dirty="0">
                <a:solidFill>
                  <a:srgbClr val="FF0000"/>
                </a:solidFill>
                <a:ea typeface="黑体" panose="02010609060101010101" pitchFamily="49" charset="-122"/>
                <a:cs typeface="Times New Roman" panose="02020603050405020304" pitchFamily="18" charset="0"/>
              </a:rPr>
              <a:t>()</a:t>
            </a:r>
            <a:r>
              <a:rPr lang="zh-CN" altLang="en-US" b="0" dirty="0">
                <a:solidFill>
                  <a:srgbClr val="FF0000"/>
                </a:solidFill>
                <a:ea typeface="黑体" panose="02010609060101010101" pitchFamily="49" charset="-122"/>
                <a:cs typeface="Times New Roman" panose="02020603050405020304" pitchFamily="18" charset="0"/>
              </a:rPr>
              <a:t>方法用于换行</a:t>
            </a:r>
            <a:endParaRPr lang="en-GB" altLang="zh-CN" b="0" dirty="0">
              <a:solidFill>
                <a:srgbClr val="FF0000"/>
              </a:solidFill>
              <a:ea typeface="黑体" panose="02010609060101010101" pitchFamily="49" charset="-122"/>
              <a:cs typeface="Times New Roman" panose="02020603050405020304" pitchFamily="18" charset="0"/>
            </a:endParaRPr>
          </a:p>
          <a:p>
            <a:pPr lvl="2">
              <a:lnSpc>
                <a:spcPct val="150000"/>
              </a:lnSpc>
            </a:pPr>
            <a:r>
              <a:rPr lang="zh-CN" altLang="en-GB" dirty="0">
                <a:latin typeface="Times New Roman" panose="02020603050405020304" pitchFamily="18" charset="0"/>
                <a:ea typeface="黑体" panose="02010609060101010101" pitchFamily="49" charset="-122"/>
                <a:cs typeface="Times New Roman" panose="02020603050405020304" pitchFamily="18" charset="0"/>
              </a:rPr>
              <a:t>不同厂家生产的计算机 (</a:t>
            </a:r>
            <a:r>
              <a:rPr lang="en-GB" altLang="zh-CN" dirty="0">
                <a:latin typeface="Times New Roman" panose="02020603050405020304" pitchFamily="18" charset="0"/>
                <a:ea typeface="黑体" panose="02010609060101010101" pitchFamily="49" charset="-122"/>
                <a:cs typeface="Times New Roman" panose="02020603050405020304" pitchFamily="18" charset="0"/>
              </a:rPr>
              <a:t>IBM, Apple, VAX, Sun) </a:t>
            </a:r>
            <a:r>
              <a:rPr lang="zh-CN" altLang="en-GB" dirty="0">
                <a:latin typeface="Times New Roman" panose="02020603050405020304" pitchFamily="18" charset="0"/>
                <a:ea typeface="黑体" panose="02010609060101010101" pitchFamily="49" charset="-122"/>
                <a:cs typeface="Times New Roman" panose="02020603050405020304" pitchFamily="18" charset="0"/>
              </a:rPr>
              <a:t>对文字的换行方法不同</a:t>
            </a:r>
            <a:r>
              <a:rPr lang="en-GB" altLang="zh-CN" dirty="0">
                <a:latin typeface="Times New Roman" panose="02020603050405020304" pitchFamily="18" charset="0"/>
                <a:ea typeface="黑体" panose="02010609060101010101" pitchFamily="49" charset="-122"/>
                <a:cs typeface="Times New Roman" panose="02020603050405020304" pitchFamily="18" charset="0"/>
              </a:rPr>
              <a:t>。</a:t>
            </a:r>
          </a:p>
          <a:p>
            <a:pPr lvl="2">
              <a:lnSpc>
                <a:spcPct val="150000"/>
              </a:lnSpc>
            </a:pPr>
            <a:r>
              <a:rPr lang="en-GB" altLang="zh-CN" dirty="0" err="1">
                <a:latin typeface="Times New Roman" panose="02020603050405020304" pitchFamily="18" charset="0"/>
                <a:ea typeface="黑体" panose="02010609060101010101" pitchFamily="49" charset="-122"/>
                <a:cs typeface="Times New Roman" panose="02020603050405020304" pitchFamily="18" charset="0"/>
              </a:rPr>
              <a:t>newLine</a:t>
            </a:r>
            <a:r>
              <a:rPr lang="en-GB"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GB" dirty="0">
                <a:latin typeface="Times New Roman" panose="02020603050405020304" pitchFamily="18" charset="0"/>
                <a:ea typeface="黑体" panose="02010609060101010101" pitchFamily="49" charset="-122"/>
                <a:cs typeface="Times New Roman" panose="02020603050405020304" pitchFamily="18" charset="0"/>
              </a:rPr>
              <a:t>方法可以输出在当前计算机上正确的换行符</a:t>
            </a: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a:extLst>
              <a:ext uri="{FF2B5EF4-FFF2-40B4-BE49-F238E27FC236}">
                <a16:creationId xmlns:a16="http://schemas.microsoft.com/office/drawing/2014/main" id="{351D943C-66F0-488D-974D-65A7DDBC01B7}"/>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223333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内容占位符 2"/>
          <p:cNvSpPr>
            <a:spLocks noGrp="1"/>
          </p:cNvSpPr>
          <p:nvPr>
            <p:ph idx="1"/>
          </p:nvPr>
        </p:nvSpPr>
        <p:spPr>
          <a:xfrm>
            <a:off x="468313" y="981076"/>
            <a:ext cx="8229600" cy="647698"/>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使用</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BufferedWriter</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完成例</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WriteTxtFile</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实现的功能</a:t>
            </a:r>
          </a:p>
        </p:txBody>
      </p:sp>
      <p:sp>
        <p:nvSpPr>
          <p:cNvPr id="74756" name="Rectangle 3"/>
          <p:cNvSpPr txBox="1">
            <a:spLocks noChangeArrowheads="1"/>
          </p:cNvSpPr>
          <p:nvPr/>
        </p:nvSpPr>
        <p:spPr bwMode="auto">
          <a:xfrm>
            <a:off x="395288" y="1628775"/>
            <a:ext cx="8353425" cy="504031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  //</a:t>
            </a:r>
            <a:r>
              <a:rPr lang="en-US" altLang="zh-CN" sz="2000" b="1" dirty="0" err="1">
                <a:latin typeface="Times New Roman" panose="02020603050405020304" pitchFamily="18" charset="0"/>
                <a:cs typeface="Times New Roman" panose="02020603050405020304" pitchFamily="18" charset="0"/>
              </a:rPr>
              <a:t>BufferedWriter</a:t>
            </a: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a:t>
            </a:r>
            <a:r>
              <a:rPr lang="en-US" altLang="zh-CN" sz="2000" b="1" dirty="0" err="1">
                <a:latin typeface="Times New Roman" panose="02020603050405020304" pitchFamily="18" charset="0"/>
                <a:cs typeface="Times New Roman" panose="02020603050405020304" pitchFamily="18" charset="0"/>
              </a:rPr>
              <a:t>BufferWriterEx</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 ( 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 throws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 "</a:t>
            </a:r>
            <a:r>
              <a:rPr lang="en-US" altLang="zh-CN" sz="2000" b="1">
                <a:latin typeface="Times New Roman" panose="02020603050405020304" pitchFamily="18" charset="0"/>
                <a:cs typeface="Times New Roman" panose="02020603050405020304" pitchFamily="18" charset="0"/>
              </a:rPr>
              <a:t>C:/newHello</a:t>
            </a:r>
            <a:r>
              <a:rPr lang="en-US" altLang="zh-CN" sz="2000" b="1" dirty="0">
                <a:latin typeface="Times New Roman" panose="02020603050405020304" pitchFamily="18" charset="0"/>
                <a:cs typeface="Times New Roman" panose="02020603050405020304" pitchFamily="18" charset="0"/>
              </a:rPr>
              <a:t>.txt"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BufferedWriter</a:t>
            </a:r>
            <a:r>
              <a:rPr lang="en-US" altLang="zh-CN" sz="2000" b="1" dirty="0">
                <a:latin typeface="Times New Roman" panose="02020603050405020304" pitchFamily="18" charset="0"/>
                <a:cs typeface="Times New Roman" panose="02020603050405020304" pitchFamily="18" charset="0"/>
              </a:rPr>
              <a:t> out </a:t>
            </a:r>
            <a:r>
              <a:rPr lang="en-US" altLang="zh-CN" sz="2000" b="1" dirty="0">
                <a:solidFill>
                  <a:srgbClr val="FF0000"/>
                </a:solidFill>
                <a:latin typeface="Times New Roman" panose="02020603050405020304" pitchFamily="18" charset="0"/>
                <a:cs typeface="Times New Roman" panose="02020603050405020304" pitchFamily="18" charset="0"/>
              </a:rPr>
              <a:t>= new </a:t>
            </a:r>
            <a:r>
              <a:rPr lang="en-US" altLang="zh-CN" sz="2000" b="1" dirty="0" err="1">
                <a:solidFill>
                  <a:srgbClr val="FF0000"/>
                </a:solidFill>
                <a:latin typeface="Times New Roman" panose="02020603050405020304" pitchFamily="18" charset="0"/>
                <a:cs typeface="Times New Roman" panose="02020603050405020304" pitchFamily="18" charset="0"/>
              </a:rPr>
              <a:t>BufferedWriter</a:t>
            </a:r>
            <a:r>
              <a:rPr lang="en-US" altLang="zh-CN" sz="2000" b="1" dirty="0">
                <a:solidFill>
                  <a:srgbClr val="FF0000"/>
                </a:solidFill>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solidFill>
                  <a:srgbClr val="FF0000"/>
                </a:solidFill>
                <a:latin typeface="Times New Roman" panose="02020603050405020304" pitchFamily="18" charset="0"/>
                <a:cs typeface="Times New Roman" panose="02020603050405020304" pitchFamily="18" charset="0"/>
              </a:rPr>
              <a:t>                                                                         new  </a:t>
            </a:r>
            <a:r>
              <a:rPr lang="en-US" altLang="zh-CN" sz="2000" b="1" dirty="0" err="1">
                <a:solidFill>
                  <a:srgbClr val="FF0000"/>
                </a:solidFill>
                <a:latin typeface="Times New Roman" panose="02020603050405020304" pitchFamily="18" charset="0"/>
                <a:cs typeface="Times New Roman" panose="02020603050405020304" pitchFamily="18" charset="0"/>
              </a:rPr>
              <a:t>FileWriter</a:t>
            </a:r>
            <a:r>
              <a:rPr lang="en-US" altLang="zh-CN" sz="2000" b="1" dirty="0">
                <a:solidFill>
                  <a:srgbClr val="FF0000"/>
                </a:solidFill>
                <a:latin typeface="Times New Roman" panose="02020603050405020304" pitchFamily="18" charset="0"/>
                <a:cs typeface="Times New Roman" panose="02020603050405020304" pitchFamily="18" charset="0"/>
              </a:rPr>
              <a:t>( </a:t>
            </a:r>
            <a:r>
              <a:rPr lang="en-US" altLang="zh-CN" sz="2000" b="1" dirty="0" err="1">
                <a:solidFill>
                  <a:srgbClr val="FF0000"/>
                </a:solidFill>
                <a:latin typeface="Times New Roman" panose="02020603050405020304" pitchFamily="18" charset="0"/>
                <a:cs typeface="Times New Roman" panose="02020603050405020304" pitchFamily="18" charset="0"/>
              </a:rPr>
              <a:t>fileName</a:t>
            </a:r>
            <a:r>
              <a:rPr lang="en-US" altLang="zh-CN" sz="2000" b="1" dirty="0">
                <a:solidFill>
                  <a:srgbClr val="FF0000"/>
                </a:solidFill>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out.write</a:t>
            </a:r>
            <a:r>
              <a:rPr lang="en-US" altLang="zh-CN" sz="2000" b="1" dirty="0">
                <a:latin typeface="Times New Roman" panose="02020603050405020304" pitchFamily="18" charset="0"/>
                <a:cs typeface="Times New Roman" panose="02020603050405020304" pitchFamily="18" charset="0"/>
              </a:rPr>
              <a:t>( "Hello!"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out.newLine</a:t>
            </a:r>
            <a:r>
              <a:rPr lang="en-US" altLang="zh-CN" sz="2000" b="1" dirty="0">
                <a:solidFill>
                  <a:srgbClr val="0000FF"/>
                </a:solidFill>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out.write</a:t>
            </a:r>
            <a:r>
              <a:rPr lang="en-US" altLang="zh-CN" sz="2000" b="1" dirty="0">
                <a:latin typeface="Times New Roman" panose="02020603050405020304" pitchFamily="18" charset="0"/>
                <a:cs typeface="Times New Roman" panose="02020603050405020304" pitchFamily="18" charset="0"/>
              </a:rPr>
              <a:t>( "This is another text file using </a:t>
            </a:r>
            <a:r>
              <a:rPr lang="en-US" altLang="zh-CN" sz="2000" b="1" dirty="0" err="1">
                <a:latin typeface="Times New Roman" panose="02020603050405020304" pitchFamily="18" charset="0"/>
                <a:cs typeface="Times New Roman" panose="02020603050405020304" pitchFamily="18" charset="0"/>
              </a:rPr>
              <a:t>BufferedWriter</a:t>
            </a:r>
            <a:r>
              <a:rPr lang="en-US" altLang="zh-CN" sz="2000" b="1" dirty="0">
                <a:latin typeface="Times New Roman" panose="02020603050405020304" pitchFamily="18" charset="0"/>
                <a:cs typeface="Times New Roman" panose="02020603050405020304" pitchFamily="18" charset="0"/>
              </a:rPr>
              <a:t>,"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solidFill>
                  <a:srgbClr val="0000FF"/>
                </a:solidFill>
                <a:latin typeface="Times New Roman" panose="02020603050405020304" pitchFamily="18" charset="0"/>
                <a:cs typeface="Times New Roman" panose="02020603050405020304" pitchFamily="18" charset="0"/>
              </a:rPr>
              <a:t>out.newLine</a:t>
            </a:r>
            <a:r>
              <a:rPr lang="en-US" altLang="zh-CN" sz="2000" b="1" dirty="0">
                <a:solidFill>
                  <a:srgbClr val="0000FF"/>
                </a:solidFill>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out.write</a:t>
            </a:r>
            <a:r>
              <a:rPr lang="en-US" altLang="zh-CN" sz="2000" b="1" dirty="0">
                <a:latin typeface="Times New Roman" panose="02020603050405020304" pitchFamily="18" charset="0"/>
                <a:cs typeface="Times New Roman" panose="02020603050405020304" pitchFamily="18" charset="0"/>
              </a:rPr>
              <a:t>( "So I can use a common way to start a newline" );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out.close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标题 1">
            <a:extLst>
              <a:ext uri="{FF2B5EF4-FFF2-40B4-BE49-F238E27FC236}">
                <a16:creationId xmlns:a16="http://schemas.microsoft.com/office/drawing/2014/main" id="{D2C98DF3-C613-46D6-87F4-8329E01CD981}"/>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6417359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内容占位符 2"/>
          <p:cNvSpPr>
            <a:spLocks noGrp="1"/>
          </p:cNvSpPr>
          <p:nvPr>
            <p:ph idx="1"/>
          </p:nvPr>
        </p:nvSpPr>
        <p:spPr>
          <a:xfrm>
            <a:off x="447577" y="1124744"/>
            <a:ext cx="7543800" cy="5184775"/>
          </a:xfrm>
        </p:spPr>
        <p:txBody>
          <a:bodyPr/>
          <a:lstStyle/>
          <a:p>
            <a:r>
              <a:rPr lang="zh-CN" altLang="en-US" b="0" dirty="0">
                <a:latin typeface="Traditional Arabic" panose="02020603050405020304" pitchFamily="18" charset="-78"/>
                <a:ea typeface="黑体" panose="02010609060101010101" pitchFamily="49" charset="-122"/>
                <a:cs typeface="Traditional Arabic" panose="02020603050405020304" pitchFamily="18" charset="-78"/>
              </a:rPr>
              <a:t>用任何文本编辑器打开</a:t>
            </a:r>
            <a:r>
              <a:rPr lang="en-US" altLang="zh-CN" b="0" dirty="0">
                <a:latin typeface="Traditional Arabic" panose="02020603050405020304" pitchFamily="18" charset="-78"/>
                <a:ea typeface="黑体" panose="02010609060101010101" pitchFamily="49" charset="-122"/>
                <a:cs typeface="Traditional Arabic" panose="02020603050405020304" pitchFamily="18" charset="-78"/>
              </a:rPr>
              <a:t>newHello.txt</a:t>
            </a:r>
            <a:r>
              <a:rPr lang="zh-CN" altLang="en-US" b="0" dirty="0">
                <a:latin typeface="Traditional Arabic" panose="02020603050405020304" pitchFamily="18" charset="-78"/>
                <a:ea typeface="黑体" panose="02010609060101010101" pitchFamily="49" charset="-122"/>
                <a:cs typeface="Traditional Arabic" panose="02020603050405020304" pitchFamily="18" charset="-78"/>
              </a:rPr>
              <a:t>都会出现正确的换行效果</a:t>
            </a:r>
          </a:p>
          <a:p>
            <a:endParaRPr lang="zh-CN" altLang="en-US" dirty="0">
              <a:ea typeface="宋体" panose="02010600030101010101" pitchFamily="2" charset="-122"/>
            </a:endParaRPr>
          </a:p>
        </p:txBody>
      </p:sp>
      <p:pic>
        <p:nvPicPr>
          <p:cNvPr id="757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205038"/>
            <a:ext cx="720725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标题 1">
            <a:extLst>
              <a:ext uri="{FF2B5EF4-FFF2-40B4-BE49-F238E27FC236}">
                <a16:creationId xmlns:a16="http://schemas.microsoft.com/office/drawing/2014/main" id="{049E96DA-901F-4F02-A828-5543E8495E94}"/>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181215127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内容占位符 2"/>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例子：</a:t>
            </a:r>
            <a:r>
              <a:rPr lang="en-US" altLang="zh-CN" dirty="0">
                <a:latin typeface="黑体" panose="02010609060101010101" pitchFamily="49" charset="-122"/>
                <a:ea typeface="黑体" panose="02010609060101010101" pitchFamily="49" charset="-122"/>
              </a:rPr>
              <a:t>copy </a:t>
            </a:r>
            <a:r>
              <a:rPr lang="zh-CN" altLang="en-US" dirty="0">
                <a:latin typeface="黑体" panose="02010609060101010101" pitchFamily="49" charset="-122"/>
                <a:ea typeface="黑体" panose="02010609060101010101" pitchFamily="49" charset="-122"/>
              </a:rPr>
              <a:t>文件</a:t>
            </a:r>
          </a:p>
        </p:txBody>
      </p:sp>
      <p:sp>
        <p:nvSpPr>
          <p:cNvPr id="83972" name="Rectangle 3"/>
          <p:cNvSpPr txBox="1">
            <a:spLocks noChangeArrowheads="1"/>
          </p:cNvSpPr>
          <p:nvPr/>
        </p:nvSpPr>
        <p:spPr bwMode="auto">
          <a:xfrm>
            <a:off x="395288" y="1628800"/>
            <a:ext cx="8353425" cy="4868838"/>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import java.io.*;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class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CopyMaker</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String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sourceName</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destName</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BufferedReader</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source;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BufferedWriter</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dest</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String line;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7" name="标题 1">
            <a:extLst>
              <a:ext uri="{FF2B5EF4-FFF2-40B4-BE49-F238E27FC236}">
                <a16:creationId xmlns:a16="http://schemas.microsoft.com/office/drawing/2014/main" id="{86B806D1-05B6-40DD-97C9-E2AFE7434242}"/>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kern="0" dirty="0">
                <a:latin typeface="Times New Roman" panose="02020603050405020304" pitchFamily="18" charset="0"/>
                <a:ea typeface="黑体" panose="02010609060101010101" pitchFamily="49" charset="-122"/>
                <a:cs typeface="Times New Roman" panose="02020603050405020304" pitchFamily="18" charset="0"/>
              </a:rPr>
              <a:t>5</a:t>
            </a:r>
            <a:r>
              <a:rPr lang="zh-CN" altLang="en-GB" b="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b="0" kern="0" dirty="0">
                <a:latin typeface="Times New Roman" panose="02020603050405020304" pitchFamily="18" charset="0"/>
                <a:ea typeface="黑体" panose="02010609060101010101" pitchFamily="49" charset="-122"/>
                <a:cs typeface="Times New Roman" panose="02020603050405020304" pitchFamily="18" charset="0"/>
              </a:rPr>
              <a:t>写文本文件</a:t>
            </a:r>
            <a:endParaRPr lang="zh-CN" altLang="en-US" b="0" kern="0" dirty="0">
              <a:latin typeface="Traditional Arabic" panose="02020603050405020304" pitchFamily="18" charset="-78"/>
              <a:ea typeface="黑体" panose="02010609060101010101" pitchFamily="49" charset="-122"/>
              <a:cs typeface="Traditional Arabic" panose="02020603050405020304" pitchFamily="18" charset="-78"/>
            </a:endParaRPr>
          </a:p>
        </p:txBody>
      </p:sp>
    </p:spTree>
    <p:extLst>
      <p:ext uri="{BB962C8B-B14F-4D97-AF65-F5344CB8AC3E}">
        <p14:creationId xmlns:p14="http://schemas.microsoft.com/office/powerpoint/2010/main" val="102291109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endParaRPr lang="zh-CN" altLang="en-US">
              <a:ea typeface="宋体" panose="02010600030101010101" pitchFamily="2" charset="-122"/>
            </a:endParaRPr>
          </a:p>
        </p:txBody>
      </p:sp>
      <p:sp>
        <p:nvSpPr>
          <p:cNvPr id="84995" name="内容占位符 2"/>
          <p:cNvSpPr>
            <a:spLocks noGrp="1"/>
          </p:cNvSpPr>
          <p:nvPr>
            <p:ph idx="1"/>
          </p:nvPr>
        </p:nvSpPr>
        <p:spPr/>
        <p:txBody>
          <a:bodyPr/>
          <a:lstStyle/>
          <a:p>
            <a:endParaRPr lang="zh-CN" altLang="en-US">
              <a:ea typeface="宋体" panose="02010600030101010101" pitchFamily="2" charset="-122"/>
            </a:endParaRPr>
          </a:p>
        </p:txBody>
      </p:sp>
      <p:sp>
        <p:nvSpPr>
          <p:cNvPr id="84996" name="Rectangle 3"/>
          <p:cNvSpPr txBox="1">
            <a:spLocks noChangeArrowheads="1"/>
          </p:cNvSpPr>
          <p:nvPr/>
        </p:nvSpPr>
        <p:spPr bwMode="auto">
          <a:xfrm>
            <a:off x="395288" y="333375"/>
            <a:ext cx="8353425" cy="616426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private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boolean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openFiles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try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source = new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BufferedReader</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(new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FileReader</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sourceName</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catch (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IOException</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iox</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System.out.println</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("Problem opening " +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sourceName</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return false;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try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dest</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BufferedWriter</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(new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FileWriter</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destName</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catch (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IOException</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iox</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System.out.println</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("Problem opening " +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destName</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return false;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return true;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p:txBody>
      </p:sp>
    </p:spTree>
    <p:extLst>
      <p:ext uri="{BB962C8B-B14F-4D97-AF65-F5344CB8AC3E}">
        <p14:creationId xmlns:p14="http://schemas.microsoft.com/office/powerpoint/2010/main" val="336833360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endParaRPr lang="zh-CN" altLang="en-US">
              <a:ea typeface="宋体" panose="02010600030101010101" pitchFamily="2" charset="-122"/>
            </a:endParaRPr>
          </a:p>
        </p:txBody>
      </p:sp>
      <p:sp>
        <p:nvSpPr>
          <p:cNvPr id="86019" name="内容占位符 2"/>
          <p:cNvSpPr>
            <a:spLocks noGrp="1"/>
          </p:cNvSpPr>
          <p:nvPr>
            <p:ph idx="1"/>
          </p:nvPr>
        </p:nvSpPr>
        <p:spPr/>
        <p:txBody>
          <a:bodyPr/>
          <a:lstStyle/>
          <a:p>
            <a:endParaRPr lang="zh-CN" altLang="en-US">
              <a:ea typeface="宋体" panose="02010600030101010101" pitchFamily="2" charset="-122"/>
            </a:endParaRPr>
          </a:p>
        </p:txBody>
      </p:sp>
      <p:sp>
        <p:nvSpPr>
          <p:cNvPr id="86020" name="Rectangle 3"/>
          <p:cNvSpPr txBox="1">
            <a:spLocks noChangeArrowheads="1"/>
          </p:cNvSpPr>
          <p:nvPr/>
        </p:nvSpPr>
        <p:spPr bwMode="auto">
          <a:xfrm>
            <a:off x="395287" y="260648"/>
            <a:ext cx="8353425" cy="616426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private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boolean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copyFiles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try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line =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source.readLine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line != null </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dest.write</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(line);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dest.newLine</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line =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source.readLine</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catch (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IOException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iox</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System.out.println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("Problem reading or writing"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return false;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return true;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395895615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endParaRPr lang="zh-CN" altLang="en-US">
              <a:ea typeface="宋体" panose="02010600030101010101" pitchFamily="2" charset="-122"/>
            </a:endParaRPr>
          </a:p>
        </p:txBody>
      </p:sp>
      <p:sp>
        <p:nvSpPr>
          <p:cNvPr id="87043" name="内容占位符 2"/>
          <p:cNvSpPr>
            <a:spLocks noGrp="1"/>
          </p:cNvSpPr>
          <p:nvPr>
            <p:ph idx="1"/>
          </p:nvPr>
        </p:nvSpPr>
        <p:spPr/>
        <p:txBody>
          <a:bodyPr/>
          <a:lstStyle/>
          <a:p>
            <a:endParaRPr lang="zh-CN" altLang="en-US">
              <a:ea typeface="宋体" panose="02010600030101010101" pitchFamily="2" charset="-122"/>
            </a:endParaRPr>
          </a:p>
        </p:txBody>
      </p:sp>
      <p:sp>
        <p:nvSpPr>
          <p:cNvPr id="87044" name="Rectangle 3"/>
          <p:cNvSpPr txBox="1">
            <a:spLocks noChangeArrowheads="1"/>
          </p:cNvSpPr>
          <p:nvPr/>
        </p:nvSpPr>
        <p:spPr bwMode="auto">
          <a:xfrm>
            <a:off x="395288" y="333375"/>
            <a:ext cx="8353425" cy="616426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private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boolean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closeFiles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boolean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retVal</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=true;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try {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source.close</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catch (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IOException</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iox</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System.out.println</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("Problem closing " +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sourceName</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retVal</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 false;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try {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dest.close</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catch (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IOException</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iox</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System.out.println</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("Problem closing " +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destName</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retVal</a:t>
            </a: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 false;</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return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retVal</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public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boolean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copy(String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src</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String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dst</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sourceName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src</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destName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dst</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return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openFiles</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&amp;&amp;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copyFiles</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&amp;&amp;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closeFiles</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61166539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endParaRPr lang="zh-CN" altLang="en-US">
              <a:ea typeface="宋体" panose="02010600030101010101" pitchFamily="2" charset="-122"/>
            </a:endParaRPr>
          </a:p>
        </p:txBody>
      </p:sp>
      <p:sp>
        <p:nvSpPr>
          <p:cNvPr id="88068" name="Rectangle 3"/>
          <p:cNvSpPr txBox="1">
            <a:spLocks noChangeArrowheads="1"/>
          </p:cNvSpPr>
          <p:nvPr/>
        </p:nvSpPr>
        <p:spPr bwMode="auto">
          <a:xfrm>
            <a:off x="395288" y="333375"/>
            <a:ext cx="8353425" cy="259080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public class </a:t>
            </a:r>
            <a:r>
              <a:rPr kumimoji="0" lang="en-US" altLang="zh-CN" sz="2000" b="1" i="0"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mn-cs"/>
              </a:rPr>
              <a:t>CopyFileEx</a:t>
            </a:r>
            <a:r>
              <a:rPr kumimoji="0" lang="en-US" altLang="zh-CN" sz="20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一个文件中只能有一个公有类</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public static void main ( String[]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args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if (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args.length</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2 )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new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CopyMaker</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().copy(</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args</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 </a:t>
            </a: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args</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else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System.out.println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("Please Enter File names");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88069" name="内容占位符 2"/>
          <p:cNvSpPr txBox="1">
            <a:spLocks/>
          </p:cNvSpPr>
          <p:nvPr/>
        </p:nvSpPr>
        <p:spPr bwMode="auto">
          <a:xfrm>
            <a:off x="323528" y="2997200"/>
            <a:ext cx="8229600"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692150" indent="-347663" eaLnBrk="0" hangingPunct="0">
              <a:defRPr>
                <a:solidFill>
                  <a:schemeClr val="tx1"/>
                </a:solidFill>
                <a:latin typeface="Arial" panose="020B0604020202020204" pitchFamily="34" charset="0"/>
                <a:ea typeface="宋体" panose="02010600030101010101" pitchFamily="2" charset="-122"/>
              </a:defRPr>
            </a:lvl2pPr>
            <a:lvl3pPr marL="987425" indent="-293688"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30000"/>
              </a:lnSpc>
              <a:spcBef>
                <a:spcPct val="20000"/>
              </a:spcBef>
              <a:spcAft>
                <a:spcPct val="0"/>
              </a:spcAft>
              <a:buClr>
                <a:srgbClr val="330066"/>
              </a:buClr>
              <a:buSzPct val="70000"/>
              <a:buFont typeface="Wingdings" panose="05000000000000000000" pitchFamily="2" charset="2"/>
              <a:buChar char="n"/>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此文件</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CopyFileEx.java</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编译后生成</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CopyFileEx.class</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和</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CopyMaker.class</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两个字节码文件</a:t>
            </a:r>
          </a:p>
          <a:p>
            <a:pPr marL="342900" marR="0" lvl="0" indent="-342900" algn="l" defTabSz="914400" rtl="0" eaLnBrk="0" fontAlgn="base" latinLnBrk="0" hangingPunct="0">
              <a:lnSpc>
                <a:spcPct val="130000"/>
              </a:lnSpc>
              <a:spcBef>
                <a:spcPct val="20000"/>
              </a:spcBef>
              <a:spcAft>
                <a:spcPct val="0"/>
              </a:spcAft>
              <a:buClr>
                <a:srgbClr val="330066"/>
              </a:buClr>
              <a:buSzPct val="70000"/>
              <a:buFont typeface="Wingdings" panose="05000000000000000000" pitchFamily="2" charset="2"/>
              <a:buChar char="n"/>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运行结果</a:t>
            </a:r>
          </a:p>
          <a:p>
            <a:pPr marL="692150" marR="0" lvl="1" indent="-347663" algn="l" defTabSz="914400" rtl="0" eaLnBrk="0" fontAlgn="base" latinLnBrk="0" hangingPunct="0">
              <a:lnSpc>
                <a:spcPct val="130000"/>
              </a:lnSpc>
              <a:spcBef>
                <a:spcPct val="20000"/>
              </a:spcBef>
              <a:spcAft>
                <a:spcPct val="0"/>
              </a:spcAft>
              <a:buClr>
                <a:srgbClr val="669999"/>
              </a:buClr>
              <a:buSzPct val="70000"/>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在命令行方式下执行如下命令</a:t>
            </a:r>
          </a:p>
          <a:p>
            <a:pPr marL="987425" marR="0" lvl="2" indent="-293688" algn="l" defTabSz="914400" rtl="0" eaLnBrk="0" fontAlgn="base" latinLnBrk="0" hangingPunct="0">
              <a:lnSpc>
                <a:spcPct val="130000"/>
              </a:lnSpc>
              <a:spcBef>
                <a:spcPct val="20000"/>
              </a:spcBef>
              <a:spcAft>
                <a:spcPct val="0"/>
              </a:spcAft>
              <a:buClr>
                <a:srgbClr val="330066"/>
              </a:buClr>
              <a:buSzPct val="70000"/>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java </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CopyFileEx</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  c:\Hello.txt  c:\CopyHello.txt</a:t>
            </a:r>
          </a:p>
          <a:p>
            <a:pPr marL="692150" marR="0" lvl="1" indent="-347663" algn="l" defTabSz="914400" rtl="0" eaLnBrk="0" fontAlgn="base" latinLnBrk="0" hangingPunct="0">
              <a:lnSpc>
                <a:spcPct val="130000"/>
              </a:lnSpc>
              <a:spcBef>
                <a:spcPct val="20000"/>
              </a:spcBef>
              <a:spcAft>
                <a:spcPct val="0"/>
              </a:spcAft>
              <a:buClr>
                <a:srgbClr val="669999"/>
              </a:buClr>
              <a:buSzPct val="70000"/>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则在</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C</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盘根目录下会出现</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CopyHello.txt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文件，内容与</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Hello.txt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完全相同</a:t>
            </a:r>
          </a:p>
          <a:p>
            <a:pPr marL="342900" marR="0" lvl="0" indent="-342900" algn="l" defTabSz="914400" rtl="0" eaLnBrk="0" fontAlgn="base" latinLnBrk="0" hangingPunct="0">
              <a:lnSpc>
                <a:spcPct val="100000"/>
              </a:lnSpc>
              <a:spcBef>
                <a:spcPct val="20000"/>
              </a:spcBef>
              <a:spcAft>
                <a:spcPct val="0"/>
              </a:spcAft>
              <a:buClr>
                <a:srgbClr val="330066"/>
              </a:buClr>
              <a:buSzPct val="70000"/>
              <a:buFont typeface="Wingdings" panose="05000000000000000000" pitchFamily="2" charset="2"/>
              <a:buChar char="n"/>
              <a:tabLst/>
              <a:defRPr/>
            </a:pPr>
            <a:endPar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1063724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endParaRPr lang="zh-CN" altLang="en-US">
              <a:ea typeface="宋体" panose="02010600030101010101" pitchFamily="2" charset="-122"/>
            </a:endParaRPr>
          </a:p>
        </p:txBody>
      </p:sp>
      <p:sp>
        <p:nvSpPr>
          <p:cNvPr id="88068" name="Rectangle 3"/>
          <p:cNvSpPr txBox="1">
            <a:spLocks noChangeArrowheads="1"/>
          </p:cNvSpPr>
          <p:nvPr/>
        </p:nvSpPr>
        <p:spPr bwMode="auto">
          <a:xfrm>
            <a:off x="285907" y="174728"/>
            <a:ext cx="8353425" cy="4319761"/>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import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java.util.Scanner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public class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CopyFileEx</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一个文件中只能有一个公有类</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public static void main ( String[]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args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Scanner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sc</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Scanner(System.in);</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lang="en-US" altLang="zh-CN" sz="2000" b="1" dirty="0">
                <a:solidFill>
                  <a:srgbClr val="000000"/>
                </a:solidFill>
                <a:latin typeface="Times New Roman" panose="02020603050405020304" pitchFamily="18" charset="0"/>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System.out.println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("Enter source file name: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CopyMaker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().copy(</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sc.nextLine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sc.nextLine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88069" name="内容占位符 2"/>
          <p:cNvSpPr txBox="1">
            <a:spLocks/>
          </p:cNvSpPr>
          <p:nvPr/>
        </p:nvSpPr>
        <p:spPr bwMode="auto">
          <a:xfrm>
            <a:off x="0" y="4437112"/>
            <a:ext cx="8964488"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692150" indent="-347663" eaLnBrk="0" hangingPunct="0">
              <a:defRPr>
                <a:solidFill>
                  <a:schemeClr val="tx1"/>
                </a:solidFill>
                <a:latin typeface="Arial" panose="020B0604020202020204" pitchFamily="34" charset="0"/>
                <a:ea typeface="宋体" panose="02010600030101010101" pitchFamily="2" charset="-122"/>
              </a:defRPr>
            </a:lvl2pPr>
            <a:lvl3pPr marL="987425" indent="-293688"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30000"/>
              </a:lnSpc>
              <a:spcBef>
                <a:spcPct val="20000"/>
              </a:spcBef>
              <a:spcAft>
                <a:spcPct val="0"/>
              </a:spcAft>
              <a:buClr>
                <a:srgbClr val="330066"/>
              </a:buClr>
              <a:buSzPct val="70000"/>
              <a:buFont typeface="Wingdings" panose="05000000000000000000" pitchFamily="2" charset="2"/>
              <a:buChar char="n"/>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运行结果</a:t>
            </a:r>
          </a:p>
          <a:p>
            <a:pPr marL="692150" marR="0" lvl="1" indent="-347663" algn="l" defTabSz="914400" rtl="0" eaLnBrk="0" fontAlgn="base" latinLnBrk="0" hangingPunct="0">
              <a:lnSpc>
                <a:spcPct val="130000"/>
              </a:lnSpc>
              <a:spcBef>
                <a:spcPct val="20000"/>
              </a:spcBef>
              <a:spcAft>
                <a:spcPct val="0"/>
              </a:spcAft>
              <a:buClr>
                <a:srgbClr val="669999"/>
              </a:buClr>
              <a:buSzPct val="70000"/>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在命令行方式下执行如下命令</a:t>
            </a:r>
          </a:p>
          <a:p>
            <a:pPr marL="987425" marR="0" lvl="2" indent="-293688" algn="l" defTabSz="914400" rtl="0" eaLnBrk="0" fontAlgn="base" latinLnBrk="0" hangingPunct="0">
              <a:lnSpc>
                <a:spcPct val="130000"/>
              </a:lnSpc>
              <a:spcBef>
                <a:spcPct val="20000"/>
              </a:spcBef>
              <a:spcAft>
                <a:spcPct val="0"/>
              </a:spcAft>
              <a:buClr>
                <a:srgbClr val="330066"/>
              </a:buClr>
              <a:buSzPct val="70000"/>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D:\A.txt  D:\CopyA.txt</a:t>
            </a:r>
          </a:p>
          <a:p>
            <a:pPr marL="692150" marR="0" lvl="1" indent="-347663" algn="l" defTabSz="914400" rtl="0" eaLnBrk="0" fontAlgn="base" latinLnBrk="0" hangingPunct="0">
              <a:lnSpc>
                <a:spcPct val="130000"/>
              </a:lnSpc>
              <a:spcBef>
                <a:spcPct val="20000"/>
              </a:spcBef>
              <a:spcAft>
                <a:spcPct val="0"/>
              </a:spcAft>
              <a:buClr>
                <a:srgbClr val="669999"/>
              </a:buClr>
              <a:buSzPct val="70000"/>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则在</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D</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盘根目录下会有</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CopyA.txt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文件，内容与</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A.txt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完全相同</a:t>
            </a:r>
          </a:p>
          <a:p>
            <a:pPr marL="342900" marR="0" lvl="0" indent="-342900" algn="l" defTabSz="914400" rtl="0" eaLnBrk="0" fontAlgn="base" latinLnBrk="0" hangingPunct="0">
              <a:lnSpc>
                <a:spcPct val="100000"/>
              </a:lnSpc>
              <a:spcBef>
                <a:spcPct val="20000"/>
              </a:spcBef>
              <a:spcAft>
                <a:spcPct val="0"/>
              </a:spcAft>
              <a:buClr>
                <a:srgbClr val="330066"/>
              </a:buClr>
              <a:buSzPct val="70000"/>
              <a:buFont typeface="Wingdings" panose="05000000000000000000" pitchFamily="2" charset="2"/>
              <a:buChar char="n"/>
              <a:tabLst/>
              <a:defRPr/>
            </a:pPr>
            <a:endPar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1237375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endParaRPr lang="zh-CN" altLang="en-US">
              <a:ea typeface="宋体" panose="02010600030101010101" pitchFamily="2" charset="-122"/>
            </a:endParaRPr>
          </a:p>
        </p:txBody>
      </p:sp>
      <p:sp>
        <p:nvSpPr>
          <p:cNvPr id="87043" name="内容占位符 2"/>
          <p:cNvSpPr>
            <a:spLocks noGrp="1"/>
          </p:cNvSpPr>
          <p:nvPr>
            <p:ph idx="1"/>
          </p:nvPr>
        </p:nvSpPr>
        <p:spPr/>
        <p:txBody>
          <a:bodyPr/>
          <a:lstStyle/>
          <a:p>
            <a:endParaRPr lang="zh-CN" altLang="en-US">
              <a:ea typeface="宋体" panose="02010600030101010101" pitchFamily="2" charset="-122"/>
            </a:endParaRPr>
          </a:p>
        </p:txBody>
      </p:sp>
      <p:sp>
        <p:nvSpPr>
          <p:cNvPr id="87044" name="Rectangle 3"/>
          <p:cNvSpPr txBox="1">
            <a:spLocks noChangeArrowheads="1"/>
          </p:cNvSpPr>
          <p:nvPr/>
        </p:nvSpPr>
        <p:spPr bwMode="auto">
          <a:xfrm>
            <a:off x="395288" y="333375"/>
            <a:ext cx="8353425" cy="616426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private static void method() throws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IOException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BufferedReader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BufferedReader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FileReader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D:A.txt</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BufferedWriter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bw</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BufferedWriter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FileWriter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D:B.txt</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int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br.read</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-1){</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bw.write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br.close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bw.close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40365596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endParaRPr lang="zh-CN" altLang="en-US">
              <a:ea typeface="宋体" panose="02010600030101010101" pitchFamily="2" charset="-122"/>
            </a:endParaRPr>
          </a:p>
        </p:txBody>
      </p:sp>
      <p:sp>
        <p:nvSpPr>
          <p:cNvPr id="87043" name="内容占位符 2"/>
          <p:cNvSpPr>
            <a:spLocks noGrp="1"/>
          </p:cNvSpPr>
          <p:nvPr>
            <p:ph idx="1"/>
          </p:nvPr>
        </p:nvSpPr>
        <p:spPr/>
        <p:txBody>
          <a:bodyPr/>
          <a:lstStyle/>
          <a:p>
            <a:endParaRPr lang="zh-CN" altLang="en-US">
              <a:ea typeface="宋体" panose="02010600030101010101" pitchFamily="2" charset="-122"/>
            </a:endParaRPr>
          </a:p>
        </p:txBody>
      </p:sp>
      <p:sp>
        <p:nvSpPr>
          <p:cNvPr id="87044" name="Rectangle 3"/>
          <p:cNvSpPr txBox="1">
            <a:spLocks noChangeArrowheads="1"/>
          </p:cNvSpPr>
          <p:nvPr/>
        </p:nvSpPr>
        <p:spPr bwMode="auto">
          <a:xfrm>
            <a:off x="395288" y="333375"/>
            <a:ext cx="8353425" cy="6164263"/>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public static void main(String[]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args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throws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IOException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BufferedReader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BufferedReader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FileReader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("D:\\A.txt"));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BufferedWriter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bw</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BufferedWriter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(new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FileWriter</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("D:\\C.txt"));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char[]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chs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new char[1024];</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int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len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while((</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len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en-US" altLang="zh-CN" sz="2000" b="1" i="0" u="none" strike="noStrike" kern="1200" cap="none" spc="0" normalizeH="0" baseline="0" noProof="0" dirty="0" err="1">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br.read</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chs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-1){</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bw.write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chs</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0,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len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br.close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bw.close</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1" indent="0" algn="l" defTabSz="914400" rtl="0" eaLnBrk="0" fontAlgn="base" latinLnBrk="0" hangingPunct="0">
              <a:lnSpc>
                <a:spcPct val="100000"/>
              </a:lnSpc>
              <a:spcBef>
                <a:spcPct val="0"/>
              </a:spcBef>
              <a:spcAft>
                <a:spcPct val="0"/>
              </a:spcAft>
              <a:buClr>
                <a:srgbClr val="669999"/>
              </a:buClr>
              <a:buSzPct val="70000"/>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427320730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260648"/>
            <a:ext cx="6858000" cy="648419"/>
          </a:xfrm>
        </p:spPr>
        <p:txBody>
          <a:bodyPr/>
          <a:lstStyle/>
          <a:p>
            <a:pPr marL="838200" indent="-838200" eaLnBrk="1" hangingPunct="1"/>
            <a:r>
              <a:rPr lang="zh-CN" altLang="en-US" b="0" dirty="0">
                <a:latin typeface="Times New Roman" panose="02020603050405020304" pitchFamily="18" charset="0"/>
                <a:ea typeface="黑体" panose="02010609060101010101" pitchFamily="49" charset="-122"/>
                <a:cs typeface="Times New Roman" panose="02020603050405020304" pitchFamily="18" charset="0"/>
              </a:rPr>
              <a:t>第六章 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输出流和文件</a:t>
            </a:r>
          </a:p>
        </p:txBody>
      </p:sp>
      <p:sp>
        <p:nvSpPr>
          <p:cNvPr id="66563" name="Rectangle 3"/>
          <p:cNvSpPr>
            <a:spLocks noGrp="1" noChangeArrowheads="1"/>
          </p:cNvSpPr>
          <p:nvPr>
            <p:ph idx="1"/>
          </p:nvPr>
        </p:nvSpPr>
        <p:spPr>
          <a:xfrm>
            <a:off x="609600" y="1295400"/>
            <a:ext cx="7467600" cy="5257800"/>
          </a:xfrm>
        </p:spPr>
        <p:txBody>
          <a:bodyPr/>
          <a:lstStyle/>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a:t>
            </a:r>
          </a:p>
          <a:p>
            <a:pPr marL="609600" indent="-609600" eaLnBrk="1" hangingPunct="1">
              <a:buFontTx/>
              <a:buNone/>
            </a:pPr>
            <a:r>
              <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6.2 </a:t>
            </a:r>
            <a:r>
              <a:rPr lang="zh-CN" altLang="en-US"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文件读写</a:t>
            </a:r>
            <a:endPar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b="0" dirty="0">
                <a:ea typeface="黑体" panose="02010609060101010101" pitchFamily="49" charset="-122"/>
                <a:cs typeface="Times New Roman" panose="02020603050405020304" pitchFamily="18" charset="0"/>
              </a:rPr>
              <a:t>File</a:t>
            </a:r>
            <a:r>
              <a:rPr lang="zh-CN" altLang="en-US" b="0" dirty="0">
                <a:ea typeface="黑体" panose="02010609060101010101" pitchFamily="49" charset="-122"/>
                <a:cs typeface="Times New Roman" panose="02020603050405020304" pitchFamily="18" charset="0"/>
              </a:rPr>
              <a:t>类</a:t>
            </a:r>
            <a:endParaRPr lang="en-US" altLang="zh-CN" b="0" dirty="0">
              <a:ea typeface="黑体" panose="02010609060101010101" pitchFamily="49" charset="-122"/>
              <a:cs typeface="Times New Roman" panose="02020603050405020304" pitchFamily="18" charset="0"/>
            </a:endParaRPr>
          </a:p>
          <a:p>
            <a:pPr lvl="1" eaLnBrk="1" hangingPunct="1"/>
            <a:r>
              <a:rPr lang="zh-CN" altLang="en-US" b="0" dirty="0">
                <a:ea typeface="黑体" panose="02010609060101010101" pitchFamily="49" charset="-122"/>
                <a:cs typeface="Times New Roman" panose="02020603050405020304" pitchFamily="18" charset="0"/>
              </a:rPr>
              <a:t>写二进制文件</a:t>
            </a:r>
          </a:p>
          <a:p>
            <a:pPr lvl="1" eaLnBrk="1" hangingPunct="1"/>
            <a:r>
              <a:rPr lang="zh-CN" altLang="en-US" b="0" dirty="0">
                <a:ea typeface="黑体" panose="02010609060101010101" pitchFamily="49" charset="-122"/>
                <a:cs typeface="Times New Roman" panose="02020603050405020304" pitchFamily="18" charset="0"/>
              </a:rPr>
              <a:t>读二进制文件</a:t>
            </a:r>
          </a:p>
          <a:p>
            <a:pPr lvl="1" eaLnBrk="1" hangingPunct="1"/>
            <a:r>
              <a:rPr lang="zh-CN" altLang="en-US" b="0" dirty="0">
                <a:ea typeface="黑体" panose="02010609060101010101" pitchFamily="49" charset="-122"/>
                <a:cs typeface="Times New Roman" panose="02020603050405020304" pitchFamily="18" charset="0"/>
              </a:rPr>
              <a:t>写文本文件</a:t>
            </a:r>
          </a:p>
          <a:p>
            <a:pPr lvl="1" eaLnBrk="1" hangingPunct="1"/>
            <a:r>
              <a:rPr lang="zh-CN" altLang="en-US" b="0" dirty="0">
                <a:ea typeface="黑体" panose="02010609060101010101" pitchFamily="49" charset="-122"/>
                <a:cs typeface="Times New Roman" panose="02020603050405020304" pitchFamily="18" charset="0"/>
              </a:rPr>
              <a:t>读文本文件</a:t>
            </a:r>
          </a:p>
          <a:p>
            <a:pPr lvl="1" eaLnBrk="1" hangingPunct="1"/>
            <a:r>
              <a:rPr lang="zh-CN" altLang="en-US" b="0" dirty="0">
                <a:solidFill>
                  <a:srgbClr val="C00000"/>
                </a:solidFill>
                <a:ea typeface="黑体" panose="02010609060101010101" pitchFamily="49" charset="-122"/>
                <a:cs typeface="Times New Roman" panose="02020603050405020304" pitchFamily="18" charset="0"/>
              </a:rPr>
              <a:t>对象序列化</a:t>
            </a:r>
          </a:p>
          <a:p>
            <a:pPr lvl="1" eaLnBrk="1" hangingPunct="1"/>
            <a:r>
              <a:rPr lang="zh-CN" altLang="en-US" b="0" dirty="0">
                <a:ea typeface="黑体" panose="02010609060101010101" pitchFamily="49" charset="-122"/>
                <a:cs typeface="Times New Roman" panose="02020603050405020304" pitchFamily="18" charset="0"/>
              </a:rPr>
              <a:t>随机文件读写</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49156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p:cNvSpPr>
            <a:spLocks noGrp="1"/>
          </p:cNvSpPr>
          <p:nvPr>
            <p:ph type="title"/>
          </p:nvPr>
        </p:nvSpPr>
        <p:spPr/>
        <p:txBody>
          <a:bodyPr/>
          <a:lstStyle/>
          <a:p>
            <a:r>
              <a:rPr lang="zh-CN" altLang="en-GB" sz="3200"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对象序列化（串行化）</a:t>
            </a:r>
          </a:p>
        </p:txBody>
      </p:sp>
      <p:sp>
        <p:nvSpPr>
          <p:cNvPr id="121859" name="内容占位符 2"/>
          <p:cNvSpPr>
            <a:spLocks noGrp="1"/>
          </p:cNvSpPr>
          <p:nvPr>
            <p:ph idx="1"/>
          </p:nvPr>
        </p:nvSpPr>
        <p:spPr>
          <a:xfrm>
            <a:off x="468313" y="981075"/>
            <a:ext cx="7704087" cy="5184775"/>
          </a:xfrm>
        </p:spPr>
        <p:txBody>
          <a:bodyPr/>
          <a:lstStyle/>
          <a:p>
            <a:pPr eaLnBrk="1" hangingPunct="1">
              <a:lnSpc>
                <a:spcPct val="11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对象序列化</a:t>
            </a:r>
          </a:p>
          <a:p>
            <a:pPr lvl="1" eaLnBrk="1" hangingPunct="1">
              <a:lnSpc>
                <a:spcPct val="110000"/>
              </a:lnSpc>
            </a:pPr>
            <a:r>
              <a:rPr lang="zh-CN" altLang="en-US" b="0" dirty="0">
                <a:solidFill>
                  <a:srgbClr val="FF0000"/>
                </a:solidFill>
                <a:ea typeface="黑体" panose="02010609060101010101" pitchFamily="49" charset="-122"/>
                <a:cs typeface="Times New Roman" panose="02020603050405020304" pitchFamily="18" charset="0"/>
              </a:rPr>
              <a:t>概念：</a:t>
            </a:r>
            <a:r>
              <a:rPr lang="zh-CN" altLang="en-US" b="0" dirty="0">
                <a:ea typeface="黑体" panose="02010609060101010101" pitchFamily="49" charset="-122"/>
                <a:cs typeface="Times New Roman" panose="02020603050405020304" pitchFamily="18" charset="0"/>
              </a:rPr>
              <a:t>为了保存在内存中的各种对象的状态，并且可以把保存的对象状态再读出来。</a:t>
            </a:r>
            <a:r>
              <a:rPr lang="en-US" altLang="zh-CN" b="0" dirty="0">
                <a:ea typeface="黑体" panose="02010609060101010101" pitchFamily="49" charset="-122"/>
                <a:cs typeface="Times New Roman" panose="02020603050405020304" pitchFamily="18" charset="0"/>
              </a:rPr>
              <a:t>Java</a:t>
            </a:r>
            <a:r>
              <a:rPr lang="zh-CN" altLang="en-US" b="0" dirty="0">
                <a:ea typeface="黑体" panose="02010609060101010101" pitchFamily="49" charset="-122"/>
                <a:cs typeface="Times New Roman" panose="02020603050405020304" pitchFamily="18" charset="0"/>
              </a:rPr>
              <a:t>提供一种保存对象状态的机制</a:t>
            </a:r>
            <a:r>
              <a:rPr lang="en-US" altLang="zh-CN" b="0" dirty="0">
                <a:ea typeface="黑体" panose="02010609060101010101" pitchFamily="49" charset="-122"/>
                <a:cs typeface="Times New Roman" panose="02020603050405020304" pitchFamily="18" charset="0"/>
              </a:rPr>
              <a:t>——</a:t>
            </a:r>
            <a:r>
              <a:rPr lang="zh-CN" altLang="en-US" b="0" dirty="0">
                <a:ea typeface="黑体" panose="02010609060101010101" pitchFamily="49" charset="-122"/>
                <a:cs typeface="Times New Roman" panose="02020603050405020304" pitchFamily="18" charset="0"/>
              </a:rPr>
              <a:t>序列化（串行化） 。</a:t>
            </a:r>
            <a:endParaRPr lang="en-US" altLang="zh-CN" b="0" dirty="0">
              <a:solidFill>
                <a:srgbClr val="FF0000"/>
              </a:solidFill>
              <a:ea typeface="黑体" panose="02010609060101010101" pitchFamily="49" charset="-122"/>
              <a:cs typeface="Times New Roman" panose="02020603050405020304" pitchFamily="18" charset="0"/>
            </a:endParaRPr>
          </a:p>
          <a:p>
            <a:pPr lvl="1" eaLnBrk="1" hangingPunct="1">
              <a:lnSpc>
                <a:spcPct val="110000"/>
              </a:lnSpc>
            </a:pPr>
            <a:r>
              <a:rPr lang="zh-CN" altLang="en-US" b="0" dirty="0">
                <a:solidFill>
                  <a:srgbClr val="FF0000"/>
                </a:solidFill>
                <a:ea typeface="黑体" panose="02010609060101010101" pitchFamily="49" charset="-122"/>
                <a:cs typeface="Times New Roman" panose="02020603050405020304" pitchFamily="18" charset="0"/>
              </a:rPr>
              <a:t>目的：</a:t>
            </a:r>
            <a:r>
              <a:rPr lang="en-US" altLang="zh-CN" b="0" dirty="0">
                <a:ea typeface="黑体" panose="02010609060101010101" pitchFamily="49" charset="-122"/>
                <a:cs typeface="Times New Roman" panose="02020603050405020304" pitchFamily="18" charset="0"/>
              </a:rPr>
              <a:t>a</a:t>
            </a:r>
            <a:r>
              <a:rPr lang="zh-CN" altLang="en-US" b="0" dirty="0">
                <a:ea typeface="黑体" panose="02010609060101010101" pitchFamily="49" charset="-122"/>
                <a:cs typeface="Times New Roman" panose="02020603050405020304" pitchFamily="18" charset="0"/>
              </a:rPr>
              <a:t>）内存中的对象保存到一个文件中或者数据库中；</a:t>
            </a:r>
            <a:r>
              <a:rPr lang="en-US" altLang="zh-CN" b="0" dirty="0">
                <a:ea typeface="黑体" panose="02010609060101010101" pitchFamily="49" charset="-122"/>
                <a:cs typeface="Times New Roman" panose="02020603050405020304" pitchFamily="18" charset="0"/>
              </a:rPr>
              <a:t>b</a:t>
            </a:r>
            <a:r>
              <a:rPr lang="zh-CN" altLang="en-US" b="0" dirty="0">
                <a:ea typeface="黑体" panose="02010609060101010101" pitchFamily="49" charset="-122"/>
                <a:cs typeface="Times New Roman" panose="02020603050405020304" pitchFamily="18" charset="0"/>
              </a:rPr>
              <a:t>）用套接字在网络上传送对象；</a:t>
            </a:r>
            <a:r>
              <a:rPr lang="en-US" altLang="zh-CN" b="0" dirty="0">
                <a:ea typeface="黑体" panose="02010609060101010101" pitchFamily="49" charset="-122"/>
                <a:cs typeface="Times New Roman" panose="02020603050405020304" pitchFamily="18" charset="0"/>
              </a:rPr>
              <a:t>c</a:t>
            </a:r>
            <a:r>
              <a:rPr lang="zh-CN" altLang="en-US" b="0" dirty="0">
                <a:ea typeface="黑体" panose="02010609060101010101" pitchFamily="49" charset="-122"/>
                <a:cs typeface="Times New Roman" panose="02020603050405020304" pitchFamily="18" charset="0"/>
              </a:rPr>
              <a:t>）通过</a:t>
            </a:r>
            <a:r>
              <a:rPr lang="en-US" altLang="zh-CN" b="0" dirty="0">
                <a:ea typeface="黑体" panose="02010609060101010101" pitchFamily="49" charset="-122"/>
                <a:cs typeface="Times New Roman" panose="02020603050405020304" pitchFamily="18" charset="0"/>
              </a:rPr>
              <a:t>RMI</a:t>
            </a:r>
            <a:r>
              <a:rPr lang="zh-CN" altLang="en-US" b="0" dirty="0">
                <a:ea typeface="黑体" panose="02010609060101010101" pitchFamily="49" charset="-122"/>
                <a:cs typeface="Times New Roman" panose="02020603050405020304" pitchFamily="18" charset="0"/>
              </a:rPr>
              <a:t>传输对象；</a:t>
            </a:r>
            <a:endParaRPr lang="en-US" altLang="zh-CN" b="0" dirty="0">
              <a:ea typeface="黑体" panose="02010609060101010101" pitchFamily="49" charset="-122"/>
              <a:cs typeface="Times New Roman" panose="02020603050405020304" pitchFamily="18" charset="0"/>
            </a:endParaRPr>
          </a:p>
          <a:p>
            <a:pPr lvl="1" eaLnBrk="1" hangingPunct="1">
              <a:lnSpc>
                <a:spcPct val="110000"/>
              </a:lnSpc>
            </a:pPr>
            <a:r>
              <a:rPr lang="zh-CN" altLang="en-US" b="0" dirty="0">
                <a:solidFill>
                  <a:srgbClr val="FF0000"/>
                </a:solidFill>
                <a:ea typeface="黑体" panose="02010609060101010101" pitchFamily="49" charset="-122"/>
                <a:cs typeface="Times New Roman" panose="02020603050405020304" pitchFamily="18" charset="0"/>
              </a:rPr>
              <a:t>任务：</a:t>
            </a:r>
            <a:r>
              <a:rPr lang="zh-CN" altLang="en-US" b="0" dirty="0">
                <a:ea typeface="黑体" panose="02010609060101010101" pitchFamily="49" charset="-122"/>
                <a:cs typeface="Times New Roman" panose="02020603050405020304" pitchFamily="18" charset="0"/>
              </a:rPr>
              <a:t>写出对象实例变量的数值。如果变量是另一个对象的引用，则引用的对象也要序列化。</a:t>
            </a:r>
          </a:p>
          <a:p>
            <a:pPr lvl="1" eaLnBrk="1" hangingPunct="1">
              <a:lnSpc>
                <a:spcPct val="110000"/>
              </a:lnSpc>
            </a:pPr>
            <a:r>
              <a:rPr lang="zh-CN" altLang="en-US" b="0" dirty="0">
                <a:solidFill>
                  <a:srgbClr val="FF0000"/>
                </a:solidFill>
                <a:ea typeface="黑体" panose="02010609060101010101" pitchFamily="49" charset="-122"/>
                <a:cs typeface="Times New Roman" panose="02020603050405020304" pitchFamily="18" charset="0"/>
              </a:rPr>
              <a:t>方法：</a:t>
            </a:r>
            <a:r>
              <a:rPr lang="zh-CN" altLang="en-US" b="0" dirty="0">
                <a:ea typeface="黑体" panose="02010609060101010101" pitchFamily="49" charset="-122"/>
                <a:cs typeface="Times New Roman" panose="02020603050405020304" pitchFamily="18" charset="0"/>
              </a:rPr>
              <a:t>只有实现了</a:t>
            </a:r>
            <a:r>
              <a:rPr lang="en-US" altLang="zh-CN" b="0" dirty="0" err="1">
                <a:ea typeface="黑体" panose="02010609060101010101" pitchFamily="49" charset="-122"/>
                <a:cs typeface="Times New Roman" panose="02020603050405020304" pitchFamily="18" charset="0"/>
              </a:rPr>
              <a:t>Serializable</a:t>
            </a:r>
            <a:r>
              <a:rPr lang="zh-CN" altLang="en-US" b="0" dirty="0">
                <a:ea typeface="黑体" panose="02010609060101010101" pitchFamily="49" charset="-122"/>
                <a:cs typeface="Times New Roman" panose="02020603050405020304" pitchFamily="18" charset="0"/>
              </a:rPr>
              <a:t>接口的类的对象才可以被序列化；该对象必须与一定的对象输入和输出流联系进行状态保存和状态恢复。</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6</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dirty="0">
              <a:ea typeface="宋体" panose="02010600030101010101" pitchFamily="2" charset="-122"/>
              <a:cs typeface="Times New Roman" panose="02020603050405020304" pitchFamily="18" charset="0"/>
            </a:endParaRPr>
          </a:p>
        </p:txBody>
      </p:sp>
      <p:sp>
        <p:nvSpPr>
          <p:cNvPr id="122883" name="内容占位符 2"/>
          <p:cNvSpPr>
            <a:spLocks noGrp="1"/>
          </p:cNvSpPr>
          <p:nvPr>
            <p:ph idx="1"/>
          </p:nvPr>
        </p:nvSpPr>
        <p:spPr>
          <a:xfrm>
            <a:off x="468313" y="1341438"/>
            <a:ext cx="7704087" cy="4824412"/>
          </a:xfrm>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保存对象的信息，在需要的时候，再读取这个对象</a:t>
            </a:r>
          </a:p>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内存中的对象在程序结束时就会被垃圾回收机制清除</a:t>
            </a:r>
          </a:p>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用于对象信息存储和读取的输入输出流类：</a:t>
            </a:r>
          </a:p>
          <a:p>
            <a:pPr lvl="1"/>
            <a:r>
              <a:rPr lang="en-US" altLang="zh-CN" b="0" dirty="0" err="1">
                <a:solidFill>
                  <a:srgbClr val="0000FF"/>
                </a:solidFill>
                <a:ea typeface="黑体" panose="02010609060101010101" pitchFamily="49" charset="-122"/>
                <a:cs typeface="Times New Roman" panose="02020603050405020304" pitchFamily="18" charset="0"/>
              </a:rPr>
              <a:t>ObjectInputStream</a:t>
            </a:r>
            <a:endParaRPr lang="en-US" altLang="zh-CN" b="0" dirty="0">
              <a:solidFill>
                <a:srgbClr val="0000FF"/>
              </a:solidFill>
              <a:ea typeface="黑体" panose="02010609060101010101" pitchFamily="49" charset="-122"/>
              <a:cs typeface="Times New Roman" panose="02020603050405020304" pitchFamily="18" charset="0"/>
            </a:endParaRPr>
          </a:p>
          <a:p>
            <a:pPr lvl="1"/>
            <a:r>
              <a:rPr lang="en-US" altLang="zh-CN" b="0" dirty="0" err="1">
                <a:solidFill>
                  <a:srgbClr val="0000FF"/>
                </a:solidFill>
                <a:ea typeface="黑体" panose="02010609060101010101" pitchFamily="49" charset="-122"/>
                <a:cs typeface="Times New Roman" panose="02020603050405020304" pitchFamily="18" charset="0"/>
              </a:rPr>
              <a:t>ObjectOutputStream</a:t>
            </a:r>
            <a:endParaRPr lang="zh-CN" altLang="en-US" b="0" dirty="0">
              <a:solidFill>
                <a:srgbClr val="0000FF"/>
              </a:solidFill>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6</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dirty="0">
              <a:ea typeface="宋体" panose="02010600030101010101" pitchFamily="2" charset="-122"/>
              <a:cs typeface="Times New Roman" panose="02020603050405020304" pitchFamily="18" charset="0"/>
            </a:endParaRPr>
          </a:p>
        </p:txBody>
      </p:sp>
      <p:sp>
        <p:nvSpPr>
          <p:cNvPr id="123907" name="内容占位符 2"/>
          <p:cNvSpPr>
            <a:spLocks noGrp="1"/>
          </p:cNvSpPr>
          <p:nvPr>
            <p:ph idx="1"/>
          </p:nvPr>
        </p:nvSpPr>
        <p:spPr/>
        <p:txBody>
          <a:bodyPr/>
          <a:lstStyle/>
          <a:p>
            <a:pPr>
              <a:lnSpc>
                <a:spcPct val="120000"/>
              </a:lnSpc>
            </a:pP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ObjectInputStream</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ObjectOutputStream</a:t>
            </a:r>
            <a:endParaRPr lang="zh-CN" altLang="en-US" sz="2400" b="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b="0" dirty="0">
                <a:ea typeface="黑体" panose="02010609060101010101" pitchFamily="49" charset="-122"/>
                <a:cs typeface="Times New Roman" panose="02020603050405020304" pitchFamily="18" charset="0"/>
              </a:rPr>
              <a:t>实现对象的读写</a:t>
            </a:r>
          </a:p>
          <a:p>
            <a:pPr lvl="2">
              <a:lnSpc>
                <a:spcPct val="12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通过</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ObjectOutputStream</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把对象写入磁盘文件</a:t>
            </a:r>
          </a:p>
          <a:p>
            <a:pPr lvl="2">
              <a:lnSpc>
                <a:spcPct val="12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通过</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ObjectInputStream</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把对象读入程序</a:t>
            </a:r>
          </a:p>
          <a:p>
            <a:pPr lvl="1">
              <a:lnSpc>
                <a:spcPct val="120000"/>
              </a:lnSpc>
            </a:pPr>
            <a:r>
              <a:rPr lang="zh-CN" altLang="en-US" b="0" dirty="0">
                <a:ea typeface="黑体" panose="02010609060101010101" pitchFamily="49" charset="-122"/>
                <a:cs typeface="Times New Roman" panose="02020603050405020304" pitchFamily="18" charset="0"/>
              </a:rPr>
              <a:t>不保存对象的</a:t>
            </a:r>
            <a:r>
              <a:rPr lang="en-US" altLang="zh-CN" b="0" dirty="0">
                <a:solidFill>
                  <a:srgbClr val="FF0000"/>
                </a:solidFill>
                <a:ea typeface="黑体" panose="02010609060101010101" pitchFamily="49" charset="-122"/>
                <a:cs typeface="Times New Roman" panose="02020603050405020304" pitchFamily="18" charset="0"/>
              </a:rPr>
              <a:t>transient</a:t>
            </a:r>
            <a:r>
              <a:rPr lang="zh-CN" altLang="en-US" b="0" dirty="0">
                <a:ea typeface="黑体" panose="02010609060101010101" pitchFamily="49" charset="-122"/>
                <a:cs typeface="Times New Roman" panose="02020603050405020304" pitchFamily="18" charset="0"/>
              </a:rPr>
              <a:t>和</a:t>
            </a:r>
            <a:r>
              <a:rPr lang="en-US" altLang="zh-CN" b="0" dirty="0">
                <a:solidFill>
                  <a:srgbClr val="FF0000"/>
                </a:solidFill>
                <a:ea typeface="黑体" panose="02010609060101010101" pitchFamily="49" charset="-122"/>
                <a:cs typeface="Times New Roman" panose="02020603050405020304" pitchFamily="18" charset="0"/>
              </a:rPr>
              <a:t>static</a:t>
            </a:r>
            <a:r>
              <a:rPr lang="zh-CN" altLang="en-US" b="0" dirty="0">
                <a:ea typeface="黑体" panose="02010609060101010101" pitchFamily="49" charset="-122"/>
                <a:cs typeface="Times New Roman" panose="02020603050405020304" pitchFamily="18" charset="0"/>
              </a:rPr>
              <a:t>类型的变量</a:t>
            </a:r>
          </a:p>
          <a:p>
            <a:pPr lvl="1">
              <a:lnSpc>
                <a:spcPct val="120000"/>
              </a:lnSpc>
            </a:pPr>
            <a:r>
              <a:rPr lang="zh-CN" altLang="en-US" b="0" dirty="0">
                <a:ea typeface="黑体" panose="02010609060101010101" pitchFamily="49" charset="-122"/>
                <a:cs typeface="Times New Roman" panose="02020603050405020304" pitchFamily="18" charset="0"/>
              </a:rPr>
              <a:t>对象要想实现序列化，其所属的类必须实现</a:t>
            </a:r>
            <a:r>
              <a:rPr lang="en-US" altLang="zh-CN" b="0" dirty="0" err="1">
                <a:solidFill>
                  <a:srgbClr val="0000FF"/>
                </a:solidFill>
                <a:ea typeface="黑体" panose="02010609060101010101" pitchFamily="49" charset="-122"/>
                <a:cs typeface="Times New Roman" panose="02020603050405020304" pitchFamily="18" charset="0"/>
              </a:rPr>
              <a:t>Serializable</a:t>
            </a:r>
            <a:r>
              <a:rPr lang="zh-CN" altLang="en-US" b="0" dirty="0">
                <a:ea typeface="黑体" panose="02010609060101010101" pitchFamily="49" charset="-122"/>
                <a:cs typeface="Times New Roman" panose="02020603050405020304" pitchFamily="18" charset="0"/>
              </a:rPr>
              <a:t>接口</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p:cNvSpPr>
            <a:spLocks noGrp="1"/>
          </p:cNvSpPr>
          <p:nvPr>
            <p:ph type="title"/>
          </p:nvPr>
        </p:nvSpPr>
        <p:spPr/>
        <p:txBody>
          <a:bodyPr/>
          <a:lstStyle/>
          <a:p>
            <a:r>
              <a:rPr lang="zh-CN" altLang="en-GB" sz="3200"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dirty="0">
              <a:ea typeface="宋体" panose="02010600030101010101" pitchFamily="2" charset="-122"/>
              <a:cs typeface="Times New Roman" panose="02020603050405020304" pitchFamily="18" charset="0"/>
            </a:endParaRPr>
          </a:p>
        </p:txBody>
      </p:sp>
      <p:sp>
        <p:nvSpPr>
          <p:cNvPr id="124931" name="内容占位符 2"/>
          <p:cNvSpPr>
            <a:spLocks noGrp="1"/>
          </p:cNvSpPr>
          <p:nvPr>
            <p:ph idx="1"/>
          </p:nvPr>
        </p:nvSpPr>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写入</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ObjectOutputStream</a:t>
            </a:r>
            <a:endParaRPr lang="en-US" altLang="zh-CN" sz="2400" b="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4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必须通过另一个流构造</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ObjectOutputStream</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a:t>
            </a:r>
          </a:p>
          <a:p>
            <a:pPr lvl="1">
              <a:lnSpc>
                <a:spcPct val="140000"/>
              </a:lnSpc>
              <a:buFontTx/>
              <a:buNone/>
            </a:pPr>
            <a:r>
              <a:rPr lang="en-US" altLang="zh-CN" sz="2200" b="0" dirty="0" err="1">
                <a:ea typeface="黑体" panose="02010609060101010101" pitchFamily="49" charset="-122"/>
                <a:cs typeface="Times New Roman" panose="02020603050405020304" pitchFamily="18" charset="0"/>
              </a:rPr>
              <a:t>FileOutputStream</a:t>
            </a:r>
            <a:r>
              <a:rPr lang="en-US" altLang="zh-CN" sz="2200" b="0" dirty="0">
                <a:ea typeface="黑体" panose="02010609060101010101" pitchFamily="49" charset="-122"/>
                <a:cs typeface="Times New Roman" panose="02020603050405020304" pitchFamily="18" charset="0"/>
              </a:rPr>
              <a:t> </a:t>
            </a:r>
            <a:r>
              <a:rPr lang="en-US" altLang="zh-CN" sz="2200" b="0" dirty="0">
                <a:solidFill>
                  <a:srgbClr val="0000FF"/>
                </a:solidFill>
                <a:ea typeface="黑体" panose="02010609060101010101" pitchFamily="49" charset="-122"/>
                <a:cs typeface="Times New Roman" panose="02020603050405020304" pitchFamily="18" charset="0"/>
              </a:rPr>
              <a:t>out</a:t>
            </a:r>
            <a:r>
              <a:rPr lang="en-US" altLang="zh-CN" sz="2200" b="0" dirty="0">
                <a:ea typeface="黑体" panose="02010609060101010101" pitchFamily="49" charset="-122"/>
                <a:cs typeface="Times New Roman" panose="02020603050405020304" pitchFamily="18" charset="0"/>
              </a:rPr>
              <a:t> = new </a:t>
            </a:r>
            <a:r>
              <a:rPr lang="en-US" altLang="zh-CN" sz="2200" b="0" dirty="0" err="1">
                <a:ea typeface="黑体" panose="02010609060101010101" pitchFamily="49" charset="-122"/>
                <a:cs typeface="Times New Roman" panose="02020603050405020304" pitchFamily="18" charset="0"/>
              </a:rPr>
              <a:t>FileOutputStream</a:t>
            </a:r>
            <a:r>
              <a:rPr lang="en-US" altLang="zh-CN" sz="2200" b="0" dirty="0">
                <a:ea typeface="黑体" panose="02010609060101010101" pitchFamily="49" charset="-122"/>
                <a:cs typeface="Times New Roman" panose="02020603050405020304" pitchFamily="18" charset="0"/>
              </a:rPr>
              <a:t>("</a:t>
            </a:r>
            <a:r>
              <a:rPr lang="en-US" altLang="zh-CN" sz="2200" b="0" dirty="0" err="1">
                <a:ea typeface="黑体" panose="02010609060101010101" pitchFamily="49" charset="-122"/>
                <a:cs typeface="Times New Roman" panose="02020603050405020304" pitchFamily="18" charset="0"/>
              </a:rPr>
              <a:t>theTime</a:t>
            </a:r>
            <a:r>
              <a:rPr lang="en-US" altLang="zh-CN" sz="2200" b="0" dirty="0">
                <a:ea typeface="黑体" panose="02010609060101010101" pitchFamily="49" charset="-122"/>
                <a:cs typeface="Times New Roman" panose="02020603050405020304" pitchFamily="18" charset="0"/>
              </a:rPr>
              <a:t>");</a:t>
            </a:r>
            <a:r>
              <a:rPr lang="en-US" altLang="zh-CN" b="0" dirty="0">
                <a:ea typeface="黑体" panose="02010609060101010101" pitchFamily="49" charset="-122"/>
                <a:cs typeface="Times New Roman" panose="02020603050405020304" pitchFamily="18" charset="0"/>
              </a:rPr>
              <a:t>               </a:t>
            </a:r>
          </a:p>
          <a:p>
            <a:pPr lvl="1">
              <a:lnSpc>
                <a:spcPct val="140000"/>
              </a:lnSpc>
              <a:buFontTx/>
              <a:buNone/>
            </a:pPr>
            <a:r>
              <a:rPr lang="en-US" altLang="zh-CN" sz="2200" b="0" dirty="0" err="1">
                <a:solidFill>
                  <a:srgbClr val="FF0000"/>
                </a:solidFill>
                <a:ea typeface="黑体" panose="02010609060101010101" pitchFamily="49" charset="-122"/>
                <a:cs typeface="Times New Roman" panose="02020603050405020304" pitchFamily="18" charset="0"/>
              </a:rPr>
              <a:t>ObjectOutputStream</a:t>
            </a:r>
            <a:r>
              <a:rPr lang="en-US" altLang="zh-CN" sz="2200" b="0" dirty="0">
                <a:solidFill>
                  <a:srgbClr val="FFFF66"/>
                </a:solidFill>
                <a:ea typeface="黑体" panose="02010609060101010101" pitchFamily="49" charset="-122"/>
                <a:cs typeface="Times New Roman" panose="02020603050405020304" pitchFamily="18" charset="0"/>
              </a:rPr>
              <a:t> </a:t>
            </a:r>
            <a:r>
              <a:rPr lang="en-US" altLang="zh-CN" sz="2200" b="0" dirty="0">
                <a:solidFill>
                  <a:srgbClr val="009900"/>
                </a:solidFill>
                <a:ea typeface="黑体" panose="02010609060101010101" pitchFamily="49" charset="-122"/>
                <a:cs typeface="Times New Roman" panose="02020603050405020304" pitchFamily="18" charset="0"/>
              </a:rPr>
              <a:t>s</a:t>
            </a:r>
            <a:r>
              <a:rPr lang="en-US" altLang="zh-CN" sz="2200" b="0" dirty="0">
                <a:ea typeface="黑体" panose="02010609060101010101" pitchFamily="49" charset="-122"/>
                <a:cs typeface="Times New Roman" panose="02020603050405020304" pitchFamily="18" charset="0"/>
              </a:rPr>
              <a:t> =  new </a:t>
            </a:r>
            <a:r>
              <a:rPr lang="en-US" altLang="zh-CN" sz="2200" b="0" dirty="0" err="1">
                <a:solidFill>
                  <a:srgbClr val="FF0000"/>
                </a:solidFill>
                <a:ea typeface="黑体" panose="02010609060101010101" pitchFamily="49" charset="-122"/>
                <a:cs typeface="Times New Roman" panose="02020603050405020304" pitchFamily="18" charset="0"/>
              </a:rPr>
              <a:t>ObjectOutputStream</a:t>
            </a:r>
            <a:r>
              <a:rPr lang="en-US" altLang="zh-CN" sz="2200" b="0" dirty="0">
                <a:ea typeface="黑体" panose="02010609060101010101" pitchFamily="49" charset="-122"/>
                <a:cs typeface="Times New Roman" panose="02020603050405020304" pitchFamily="18" charset="0"/>
              </a:rPr>
              <a:t>(</a:t>
            </a:r>
            <a:r>
              <a:rPr lang="en-US" altLang="zh-CN" sz="2200" b="0" dirty="0">
                <a:solidFill>
                  <a:srgbClr val="0000FF"/>
                </a:solidFill>
                <a:ea typeface="黑体" panose="02010609060101010101" pitchFamily="49" charset="-122"/>
                <a:cs typeface="Times New Roman" panose="02020603050405020304" pitchFamily="18" charset="0"/>
              </a:rPr>
              <a:t>out</a:t>
            </a:r>
            <a:r>
              <a:rPr lang="en-US" altLang="zh-CN" sz="2200" b="0" dirty="0">
                <a:ea typeface="黑体" panose="02010609060101010101" pitchFamily="49" charset="-122"/>
                <a:cs typeface="Times New Roman" panose="02020603050405020304" pitchFamily="18" charset="0"/>
              </a:rPr>
              <a:t>);</a:t>
            </a:r>
          </a:p>
          <a:p>
            <a:pPr lvl="1">
              <a:lnSpc>
                <a:spcPct val="140000"/>
              </a:lnSpc>
              <a:buFontTx/>
              <a:buNone/>
            </a:pPr>
            <a:r>
              <a:rPr lang="en-US" altLang="zh-CN" sz="2200" b="0" dirty="0" err="1">
                <a:solidFill>
                  <a:srgbClr val="009900"/>
                </a:solidFill>
                <a:ea typeface="黑体" panose="02010609060101010101" pitchFamily="49" charset="-122"/>
                <a:cs typeface="Times New Roman" panose="02020603050405020304" pitchFamily="18" charset="0"/>
              </a:rPr>
              <a:t>s.writeObject</a:t>
            </a:r>
            <a:r>
              <a:rPr lang="en-US" altLang="zh-CN" sz="2200" b="0" dirty="0">
                <a:ea typeface="黑体" panose="02010609060101010101" pitchFamily="49" charset="-122"/>
                <a:cs typeface="Times New Roman" panose="02020603050405020304" pitchFamily="18" charset="0"/>
              </a:rPr>
              <a:t>("Today");</a:t>
            </a:r>
          </a:p>
          <a:p>
            <a:pPr lvl="1">
              <a:lnSpc>
                <a:spcPct val="140000"/>
              </a:lnSpc>
              <a:buFontTx/>
              <a:buNone/>
            </a:pPr>
            <a:r>
              <a:rPr lang="en-US" altLang="zh-CN" sz="2200" b="0" dirty="0" err="1">
                <a:solidFill>
                  <a:srgbClr val="009900"/>
                </a:solidFill>
                <a:ea typeface="黑体" panose="02010609060101010101" pitchFamily="49" charset="-122"/>
                <a:cs typeface="Times New Roman" panose="02020603050405020304" pitchFamily="18" charset="0"/>
              </a:rPr>
              <a:t>s.writeObject</a:t>
            </a:r>
            <a:r>
              <a:rPr lang="en-US" altLang="zh-CN" sz="2200" b="0" dirty="0">
                <a:ea typeface="黑体" panose="02010609060101010101" pitchFamily="49" charset="-122"/>
                <a:cs typeface="Times New Roman" panose="02020603050405020304" pitchFamily="18" charset="0"/>
              </a:rPr>
              <a:t>(new Date());</a:t>
            </a:r>
          </a:p>
          <a:p>
            <a:pPr lvl="1">
              <a:lnSpc>
                <a:spcPct val="140000"/>
              </a:lnSpc>
              <a:buFontTx/>
              <a:buNone/>
            </a:pPr>
            <a:r>
              <a:rPr lang="en-US" altLang="zh-CN" sz="2200" b="0" dirty="0" err="1">
                <a:solidFill>
                  <a:srgbClr val="009900"/>
                </a:solidFill>
                <a:ea typeface="黑体" panose="02010609060101010101" pitchFamily="49" charset="-122"/>
                <a:cs typeface="Times New Roman" panose="02020603050405020304" pitchFamily="18" charset="0"/>
              </a:rPr>
              <a:t>s.flush</a:t>
            </a:r>
            <a:r>
              <a:rPr lang="en-US" altLang="zh-CN" sz="2200" b="0" dirty="0">
                <a:ea typeface="黑体" panose="02010609060101010101" pitchFamily="49" charset="-122"/>
                <a:cs typeface="Times New Roman" panose="02020603050405020304" pitchFamily="18" charset="0"/>
              </a:rPr>
              <a:t>();</a:t>
            </a:r>
          </a:p>
          <a:p>
            <a:pPr lvl="1">
              <a:lnSpc>
                <a:spcPct val="140000"/>
              </a:lnSpc>
              <a:buFontTx/>
              <a:buNone/>
            </a:pPr>
            <a:r>
              <a:rPr lang="en-US" altLang="zh-CN" sz="2200" b="0" dirty="0" err="1">
                <a:ea typeface="黑体" panose="02010609060101010101" pitchFamily="49" charset="-122"/>
                <a:cs typeface="Times New Roman" panose="02020603050405020304" pitchFamily="18" charset="0"/>
              </a:rPr>
              <a:t>s.close</a:t>
            </a:r>
            <a:r>
              <a:rPr lang="en-US" altLang="zh-CN" sz="2200" b="0" dirty="0">
                <a:ea typeface="黑体" panose="02010609060101010101" pitchFamily="49" charset="-122"/>
                <a:cs typeface="Times New Roman" panose="02020603050405020304" pitchFamily="18" charset="0"/>
              </a:rPr>
              <a:t>();</a:t>
            </a: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6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dirty="0">
              <a:ea typeface="宋体" panose="02010600030101010101" pitchFamily="2" charset="-122"/>
              <a:cs typeface="Times New Roman" panose="02020603050405020304" pitchFamily="18" charset="0"/>
            </a:endParaRPr>
          </a:p>
        </p:txBody>
      </p:sp>
      <p:sp>
        <p:nvSpPr>
          <p:cNvPr id="125955" name="内容占位符 2"/>
          <p:cNvSpPr>
            <a:spLocks noGrp="1"/>
          </p:cNvSpPr>
          <p:nvPr>
            <p:ph idx="1"/>
          </p:nvPr>
        </p:nvSpPr>
        <p:spPr/>
        <p:txBody>
          <a:bodyPr/>
          <a:lstStyle/>
          <a:p>
            <a:r>
              <a:rPr lang="zh-CN" altLang="en-US" b="0" dirty="0">
                <a:latin typeface="Times New Roman" panose="02020603050405020304" pitchFamily="18" charset="0"/>
                <a:ea typeface="黑体" panose="02010609060101010101" pitchFamily="49" charset="-122"/>
                <a:cs typeface="Times New Roman" panose="02020603050405020304" pitchFamily="18" charset="0"/>
              </a:rPr>
              <a:t>用</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ObjectInputStream</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读入</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7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必须通过另一个流构造</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ObjectInputStream</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a:t>
            </a:r>
          </a:p>
          <a:p>
            <a:pPr lvl="1">
              <a:lnSpc>
                <a:spcPct val="170000"/>
              </a:lnSpc>
              <a:buFontTx/>
              <a:buNone/>
            </a:pPr>
            <a:r>
              <a:rPr lang="en-US" altLang="zh-CN" dirty="0" err="1">
                <a:ea typeface="楷体_GB2312" pitchFamily="49" charset="-122"/>
              </a:rPr>
              <a:t>FileInputStream</a:t>
            </a:r>
            <a:r>
              <a:rPr lang="en-US" altLang="zh-CN" dirty="0">
                <a:ea typeface="楷体_GB2312" pitchFamily="49" charset="-122"/>
              </a:rPr>
              <a:t> </a:t>
            </a:r>
            <a:r>
              <a:rPr lang="en-US" altLang="zh-CN" dirty="0">
                <a:solidFill>
                  <a:srgbClr val="0000FF"/>
                </a:solidFill>
                <a:ea typeface="楷体_GB2312" pitchFamily="49" charset="-122"/>
              </a:rPr>
              <a:t>in</a:t>
            </a:r>
            <a:r>
              <a:rPr lang="en-US" altLang="zh-CN" dirty="0">
                <a:ea typeface="楷体_GB2312" pitchFamily="49" charset="-122"/>
              </a:rPr>
              <a:t> = new </a:t>
            </a:r>
            <a:r>
              <a:rPr lang="en-US" altLang="zh-CN" dirty="0" err="1">
                <a:ea typeface="楷体_GB2312" pitchFamily="49" charset="-122"/>
              </a:rPr>
              <a:t>FileInputStream</a:t>
            </a:r>
            <a:r>
              <a:rPr lang="en-US" altLang="zh-CN" dirty="0">
                <a:ea typeface="楷体_GB2312" pitchFamily="49" charset="-122"/>
              </a:rPr>
              <a:t>("</a:t>
            </a:r>
            <a:r>
              <a:rPr lang="en-US" altLang="zh-CN" dirty="0" err="1">
                <a:ea typeface="楷体_GB2312" pitchFamily="49" charset="-122"/>
              </a:rPr>
              <a:t>theTime</a:t>
            </a:r>
            <a:r>
              <a:rPr lang="en-US" altLang="zh-CN" dirty="0">
                <a:ea typeface="楷体_GB2312" pitchFamily="49" charset="-122"/>
              </a:rPr>
              <a:t>");</a:t>
            </a:r>
          </a:p>
          <a:p>
            <a:pPr lvl="1">
              <a:lnSpc>
                <a:spcPct val="170000"/>
              </a:lnSpc>
              <a:buFontTx/>
              <a:buNone/>
            </a:pPr>
            <a:r>
              <a:rPr lang="en-US" altLang="zh-CN" dirty="0" err="1">
                <a:solidFill>
                  <a:srgbClr val="FF0000"/>
                </a:solidFill>
                <a:ea typeface="楷体_GB2312" pitchFamily="49" charset="-122"/>
              </a:rPr>
              <a:t>ObjectInputStream</a:t>
            </a:r>
            <a:r>
              <a:rPr lang="en-US" altLang="zh-CN" dirty="0">
                <a:solidFill>
                  <a:srgbClr val="FFFF66"/>
                </a:solidFill>
                <a:ea typeface="楷体_GB2312" pitchFamily="49" charset="-122"/>
              </a:rPr>
              <a:t> </a:t>
            </a:r>
            <a:r>
              <a:rPr lang="en-US" altLang="zh-CN" dirty="0">
                <a:solidFill>
                  <a:srgbClr val="009900"/>
                </a:solidFill>
                <a:ea typeface="楷体_GB2312" pitchFamily="49" charset="-122"/>
              </a:rPr>
              <a:t>s </a:t>
            </a:r>
            <a:r>
              <a:rPr lang="en-US" altLang="zh-CN" dirty="0">
                <a:ea typeface="楷体_GB2312" pitchFamily="49" charset="-122"/>
              </a:rPr>
              <a:t>= new </a:t>
            </a:r>
            <a:r>
              <a:rPr lang="en-US" altLang="zh-CN" dirty="0" err="1">
                <a:solidFill>
                  <a:srgbClr val="FF0000"/>
                </a:solidFill>
                <a:ea typeface="楷体_GB2312" pitchFamily="49" charset="-122"/>
              </a:rPr>
              <a:t>ObjectInputStream</a:t>
            </a:r>
            <a:r>
              <a:rPr lang="en-US" altLang="zh-CN" dirty="0">
                <a:ea typeface="楷体_GB2312" pitchFamily="49" charset="-122"/>
              </a:rPr>
              <a:t>(</a:t>
            </a:r>
            <a:r>
              <a:rPr lang="en-US" altLang="zh-CN" dirty="0">
                <a:solidFill>
                  <a:srgbClr val="0000FF"/>
                </a:solidFill>
                <a:ea typeface="楷体_GB2312" pitchFamily="49" charset="-122"/>
              </a:rPr>
              <a:t>in</a:t>
            </a:r>
            <a:r>
              <a:rPr lang="en-US" altLang="zh-CN" dirty="0">
                <a:ea typeface="楷体_GB2312" pitchFamily="49" charset="-122"/>
              </a:rPr>
              <a:t>);</a:t>
            </a:r>
          </a:p>
          <a:p>
            <a:pPr lvl="1">
              <a:lnSpc>
                <a:spcPct val="170000"/>
              </a:lnSpc>
              <a:buFontTx/>
              <a:buNone/>
            </a:pPr>
            <a:r>
              <a:rPr lang="en-US" altLang="zh-CN" dirty="0">
                <a:ea typeface="楷体_GB2312" pitchFamily="49" charset="-122"/>
              </a:rPr>
              <a:t>String today = (String)</a:t>
            </a:r>
            <a:r>
              <a:rPr lang="en-US" altLang="zh-CN" dirty="0" err="1">
                <a:solidFill>
                  <a:srgbClr val="009900"/>
                </a:solidFill>
                <a:ea typeface="楷体_GB2312" pitchFamily="49" charset="-122"/>
              </a:rPr>
              <a:t>s.readObject</a:t>
            </a:r>
            <a:r>
              <a:rPr lang="en-US" altLang="zh-CN" dirty="0">
                <a:solidFill>
                  <a:srgbClr val="009900"/>
                </a:solidFill>
                <a:ea typeface="楷体_GB2312" pitchFamily="49" charset="-122"/>
              </a:rPr>
              <a:t>()</a:t>
            </a:r>
            <a:r>
              <a:rPr lang="en-US" altLang="zh-CN" dirty="0">
                <a:ea typeface="楷体_GB2312" pitchFamily="49" charset="-122"/>
              </a:rPr>
              <a:t>;</a:t>
            </a:r>
          </a:p>
          <a:p>
            <a:pPr lvl="1">
              <a:lnSpc>
                <a:spcPct val="170000"/>
              </a:lnSpc>
              <a:buFontTx/>
              <a:buNone/>
            </a:pPr>
            <a:r>
              <a:rPr lang="en-US" altLang="zh-CN" dirty="0">
                <a:ea typeface="楷体_GB2312" pitchFamily="49" charset="-122"/>
              </a:rPr>
              <a:t>Date </a:t>
            </a:r>
            <a:r>
              <a:rPr lang="en-US" altLang="zh-CN" dirty="0" err="1">
                <a:ea typeface="楷体_GB2312" pitchFamily="49" charset="-122"/>
              </a:rPr>
              <a:t>date</a:t>
            </a:r>
            <a:r>
              <a:rPr lang="en-US" altLang="zh-CN" dirty="0">
                <a:ea typeface="楷体_GB2312" pitchFamily="49" charset="-122"/>
              </a:rPr>
              <a:t> = (Date)</a:t>
            </a:r>
            <a:r>
              <a:rPr lang="en-US" altLang="zh-CN" dirty="0" err="1">
                <a:solidFill>
                  <a:srgbClr val="009900"/>
                </a:solidFill>
                <a:ea typeface="楷体_GB2312" pitchFamily="49" charset="-122"/>
              </a:rPr>
              <a:t>s.readObject</a:t>
            </a:r>
            <a:r>
              <a:rPr lang="en-US" altLang="zh-CN" dirty="0">
                <a:solidFill>
                  <a:srgbClr val="009900"/>
                </a:solidFill>
                <a:ea typeface="楷体_GB2312" pitchFamily="49" charset="-122"/>
              </a:rPr>
              <a:t>()</a:t>
            </a:r>
            <a:r>
              <a:rPr lang="en-US" altLang="zh-CN" dirty="0">
                <a:ea typeface="楷体_GB2312" pitchFamily="49" charset="-122"/>
              </a:rPr>
              <a:t>;</a:t>
            </a: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
          <p:cNvSpPr>
            <a:spLocks noGrp="1"/>
          </p:cNvSpPr>
          <p:nvPr>
            <p:ph type="title"/>
          </p:nvPr>
        </p:nvSpPr>
        <p:spPr/>
        <p:txBody>
          <a:bodyPr/>
          <a:lstStyle/>
          <a:p>
            <a:r>
              <a:rPr lang="zh-CN" altLang="en-GB"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6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dirty="0">
              <a:ea typeface="宋体" panose="02010600030101010101" pitchFamily="2" charset="-122"/>
              <a:cs typeface="Times New Roman" panose="02020603050405020304" pitchFamily="18" charset="0"/>
            </a:endParaRPr>
          </a:p>
        </p:txBody>
      </p:sp>
      <p:sp>
        <p:nvSpPr>
          <p:cNvPr id="126979" name="内容占位符 2"/>
          <p:cNvSpPr>
            <a:spLocks noGrp="1"/>
          </p:cNvSpPr>
          <p:nvPr>
            <p:ph idx="1"/>
          </p:nvPr>
        </p:nvSpPr>
        <p:spPr>
          <a:xfrm>
            <a:off x="468313" y="981075"/>
            <a:ext cx="8229600" cy="5400675"/>
          </a:xfrm>
        </p:spPr>
        <p:txBody>
          <a:bodyPr/>
          <a:lstStyle/>
          <a:p>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Seriealizable</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接口</a:t>
            </a:r>
            <a:endParaRPr lang="en-US" altLang="zh-CN" sz="2400" b="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8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空接口，使类的对象可实现序列化</a:t>
            </a:r>
          </a:p>
          <a:p>
            <a:pPr>
              <a:lnSpc>
                <a:spcPct val="80000"/>
              </a:lnSpc>
            </a:pP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Serializable</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接口的定义</a:t>
            </a:r>
          </a:p>
          <a:p>
            <a:pPr lvl="1">
              <a:lnSpc>
                <a:spcPct val="80000"/>
              </a:lnSpc>
              <a:buFontTx/>
              <a:buNone/>
            </a:pPr>
            <a:r>
              <a:rPr lang="en-US" altLang="zh-CN" b="0" dirty="0">
                <a:solidFill>
                  <a:srgbClr val="0000FF"/>
                </a:solidFill>
                <a:ea typeface="黑体" panose="02010609060101010101" pitchFamily="49" charset="-122"/>
                <a:cs typeface="Times New Roman" panose="02020603050405020304" pitchFamily="18" charset="0"/>
              </a:rPr>
              <a:t>package java.io;</a:t>
            </a:r>
          </a:p>
          <a:p>
            <a:pPr lvl="1">
              <a:lnSpc>
                <a:spcPct val="80000"/>
              </a:lnSpc>
              <a:buFontTx/>
              <a:buNone/>
            </a:pPr>
            <a:r>
              <a:rPr lang="en-US" altLang="zh-CN" b="0" dirty="0">
                <a:solidFill>
                  <a:srgbClr val="0000FF"/>
                </a:solidFill>
                <a:ea typeface="黑体" panose="02010609060101010101" pitchFamily="49" charset="-122"/>
                <a:cs typeface="Times New Roman" panose="02020603050405020304" pitchFamily="18" charset="0"/>
              </a:rPr>
              <a:t>public interface </a:t>
            </a:r>
            <a:r>
              <a:rPr lang="en-US" altLang="zh-CN" b="0" dirty="0" err="1">
                <a:solidFill>
                  <a:srgbClr val="0000FF"/>
                </a:solidFill>
                <a:ea typeface="黑体" panose="02010609060101010101" pitchFamily="49" charset="-122"/>
                <a:cs typeface="Times New Roman" panose="02020603050405020304" pitchFamily="18" charset="0"/>
              </a:rPr>
              <a:t>Serializable</a:t>
            </a:r>
            <a:r>
              <a:rPr lang="en-US" altLang="zh-CN" b="0" dirty="0">
                <a:solidFill>
                  <a:srgbClr val="0000FF"/>
                </a:solidFill>
                <a:ea typeface="黑体" panose="02010609060101010101" pitchFamily="49" charset="-122"/>
                <a:cs typeface="Times New Roman" panose="02020603050405020304" pitchFamily="18" charset="0"/>
              </a:rPr>
              <a:t> {</a:t>
            </a:r>
          </a:p>
          <a:p>
            <a:pPr lvl="1">
              <a:lnSpc>
                <a:spcPct val="80000"/>
              </a:lnSpc>
              <a:buFontTx/>
              <a:buNone/>
            </a:pPr>
            <a:r>
              <a:rPr lang="en-US" altLang="zh-CN" b="0" dirty="0">
                <a:solidFill>
                  <a:srgbClr val="0000FF"/>
                </a:solidFill>
                <a:ea typeface="黑体" panose="02010609060101010101" pitchFamily="49" charset="-122"/>
                <a:cs typeface="Times New Roman" panose="02020603050405020304" pitchFamily="18" charset="0"/>
              </a:rPr>
              <a:t>    // there's nothing in here!</a:t>
            </a:r>
          </a:p>
          <a:p>
            <a:pPr lvl="1">
              <a:lnSpc>
                <a:spcPct val="80000"/>
              </a:lnSpc>
              <a:buFontTx/>
              <a:buNone/>
            </a:pPr>
            <a:r>
              <a:rPr lang="en-US" altLang="zh-CN" b="0" dirty="0">
                <a:solidFill>
                  <a:srgbClr val="0000FF"/>
                </a:solidFill>
                <a:ea typeface="黑体" panose="02010609060101010101" pitchFamily="49" charset="-122"/>
                <a:cs typeface="Times New Roman" panose="02020603050405020304" pitchFamily="18" charset="0"/>
              </a:rPr>
              <a:t>};</a:t>
            </a:r>
          </a:p>
          <a:p>
            <a:pPr>
              <a:lnSpc>
                <a:spcPct val="8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实现</a:t>
            </a:r>
            <a:r>
              <a:rPr lang="en-US" altLang="zh-CN" sz="2400" b="0" dirty="0" err="1">
                <a:latin typeface="Times New Roman" panose="02020603050405020304" pitchFamily="18" charset="0"/>
                <a:ea typeface="黑体" panose="02010609060101010101" pitchFamily="49" charset="-122"/>
                <a:cs typeface="Times New Roman" panose="02020603050405020304" pitchFamily="18" charset="0"/>
              </a:rPr>
              <a:t>Serializable</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接口的语句</a:t>
            </a:r>
          </a:p>
          <a:p>
            <a:pPr lvl="1">
              <a:lnSpc>
                <a:spcPct val="80000"/>
              </a:lnSpc>
              <a:buFontTx/>
              <a:buNone/>
            </a:pPr>
            <a:r>
              <a:rPr lang="en-US" altLang="zh-CN" b="0" dirty="0">
                <a:solidFill>
                  <a:srgbClr val="0000FF"/>
                </a:solidFill>
                <a:ea typeface="黑体" panose="02010609060101010101" pitchFamily="49" charset="-122"/>
                <a:cs typeface="Times New Roman" panose="02020603050405020304" pitchFamily="18" charset="0"/>
              </a:rPr>
              <a:t>public class </a:t>
            </a:r>
            <a:r>
              <a:rPr lang="en-US" altLang="zh-CN" b="0" dirty="0" err="1">
                <a:solidFill>
                  <a:srgbClr val="0000FF"/>
                </a:solidFill>
                <a:ea typeface="黑体" panose="02010609060101010101" pitchFamily="49" charset="-122"/>
                <a:cs typeface="Times New Roman" panose="02020603050405020304" pitchFamily="18" charset="0"/>
              </a:rPr>
              <a:t>MyClass</a:t>
            </a:r>
            <a:r>
              <a:rPr lang="en-US" altLang="zh-CN" b="0" dirty="0">
                <a:solidFill>
                  <a:srgbClr val="0000FF"/>
                </a:solidFill>
                <a:ea typeface="黑体" panose="02010609060101010101" pitchFamily="49" charset="-122"/>
                <a:cs typeface="Times New Roman" panose="02020603050405020304" pitchFamily="18" charset="0"/>
              </a:rPr>
              <a:t> implements </a:t>
            </a:r>
            <a:r>
              <a:rPr lang="en-US" altLang="zh-CN" b="0" dirty="0" err="1">
                <a:solidFill>
                  <a:srgbClr val="0000FF"/>
                </a:solidFill>
                <a:ea typeface="黑体" panose="02010609060101010101" pitchFamily="49" charset="-122"/>
                <a:cs typeface="Times New Roman" panose="02020603050405020304" pitchFamily="18" charset="0"/>
              </a:rPr>
              <a:t>Serializable</a:t>
            </a:r>
            <a:r>
              <a:rPr lang="en-US" altLang="zh-CN" b="0" dirty="0">
                <a:solidFill>
                  <a:srgbClr val="0000FF"/>
                </a:solidFill>
                <a:ea typeface="黑体" panose="02010609060101010101" pitchFamily="49" charset="-122"/>
                <a:cs typeface="Times New Roman" panose="02020603050405020304" pitchFamily="18" charset="0"/>
              </a:rPr>
              <a:t> {</a:t>
            </a:r>
          </a:p>
          <a:p>
            <a:pPr lvl="1">
              <a:lnSpc>
                <a:spcPct val="80000"/>
              </a:lnSpc>
              <a:buFontTx/>
              <a:buNone/>
            </a:pPr>
            <a:r>
              <a:rPr lang="en-US" altLang="zh-CN" b="0" dirty="0">
                <a:solidFill>
                  <a:srgbClr val="0000FF"/>
                </a:solidFill>
                <a:ea typeface="黑体" panose="02010609060101010101" pitchFamily="49" charset="-122"/>
                <a:cs typeface="Times New Roman" panose="02020603050405020304" pitchFamily="18" charset="0"/>
              </a:rPr>
              <a:t>    ...</a:t>
            </a:r>
          </a:p>
          <a:p>
            <a:pPr lvl="1">
              <a:lnSpc>
                <a:spcPct val="80000"/>
              </a:lnSpc>
              <a:buFontTx/>
              <a:buNone/>
            </a:pPr>
            <a:r>
              <a:rPr lang="en-US" altLang="zh-CN" b="0" dirty="0">
                <a:solidFill>
                  <a:srgbClr val="0000FF"/>
                </a:solidFill>
                <a:ea typeface="黑体" panose="02010609060101010101" pitchFamily="49" charset="-122"/>
                <a:cs typeface="Times New Roman" panose="02020603050405020304" pitchFamily="18" charset="0"/>
              </a:rPr>
              <a:t>}</a:t>
            </a:r>
          </a:p>
          <a:p>
            <a:pPr>
              <a:lnSpc>
                <a:spcPct val="80000"/>
              </a:lnSpc>
            </a:pP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使用关键字</a:t>
            </a:r>
            <a:r>
              <a:rPr lang="en-US" altLang="zh-CN" sz="2400"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transient</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可以阻止对象的某些成员被自动写入文件</a:t>
            </a:r>
            <a:endParaRPr lang="en-US" altLang="zh-CN" sz="2400" b="0" dirty="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p:txBody>
          <a:bodyPr/>
          <a:lstStyle/>
          <a:p>
            <a:r>
              <a:rPr lang="zh-CN" altLang="en-GB" sz="3200"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dirty="0">
              <a:ea typeface="宋体" panose="02010600030101010101" pitchFamily="2" charset="-122"/>
              <a:cs typeface="Times New Roman" panose="02020603050405020304" pitchFamily="18" charset="0"/>
            </a:endParaRPr>
          </a:p>
        </p:txBody>
      </p:sp>
      <p:sp>
        <p:nvSpPr>
          <p:cNvPr id="128003" name="内容占位符 2"/>
          <p:cNvSpPr>
            <a:spLocks noGrp="1"/>
          </p:cNvSpPr>
          <p:nvPr>
            <p:ph idx="1"/>
          </p:nvPr>
        </p:nvSpPr>
        <p:spPr>
          <a:xfrm>
            <a:off x="468313" y="981075"/>
            <a:ext cx="7488063" cy="5184775"/>
          </a:xfrm>
        </p:spPr>
        <p:txBody>
          <a:bodyPr/>
          <a:lstStyle/>
          <a:p>
            <a:pPr eaLnBrk="1" hangingPunct="1"/>
            <a:r>
              <a:rPr lang="zh-CN" altLang="en-US" b="0" dirty="0">
                <a:latin typeface="Times New Roman" panose="02020603050405020304" pitchFamily="18" charset="0"/>
                <a:ea typeface="黑体" panose="02010609060101010101" pitchFamily="49" charset="-122"/>
                <a:cs typeface="Times New Roman" panose="02020603050405020304" pitchFamily="18" charset="0"/>
              </a:rPr>
              <a:t>对象序列化</a:t>
            </a:r>
          </a:p>
          <a:p>
            <a:pPr lvl="1" eaLnBrk="1" hangingPunct="1">
              <a:lnSpc>
                <a:spcPct val="150000"/>
              </a:lnSpc>
            </a:pPr>
            <a:r>
              <a:rPr lang="zh-CN" altLang="en-US" b="0" dirty="0">
                <a:ea typeface="黑体" panose="02010609060101010101" pitchFamily="49" charset="-122"/>
                <a:cs typeface="Times New Roman" panose="02020603050405020304" pitchFamily="18" charset="0"/>
              </a:rPr>
              <a:t>注意事项：序列化只能保存对象的实例成员变量的值；状态瞬时的对象不能序列化，保密的字段应加</a:t>
            </a:r>
            <a:r>
              <a:rPr lang="en-US" altLang="zh-CN" b="0" dirty="0">
                <a:ea typeface="黑体" panose="02010609060101010101" pitchFamily="49" charset="-122"/>
                <a:cs typeface="Times New Roman" panose="02020603050405020304" pitchFamily="18" charset="0"/>
              </a:rPr>
              <a:t>transient</a:t>
            </a:r>
            <a:r>
              <a:rPr lang="zh-CN" altLang="en-US" b="0" dirty="0">
                <a:ea typeface="黑体" panose="02010609060101010101" pitchFamily="49" charset="-122"/>
                <a:cs typeface="Times New Roman" panose="02020603050405020304" pitchFamily="18" charset="0"/>
              </a:rPr>
              <a:t>关键字。</a:t>
            </a:r>
          </a:p>
          <a:p>
            <a:pPr lvl="1" eaLnBrk="1" hangingPunct="1">
              <a:lnSpc>
                <a:spcPct val="150000"/>
              </a:lnSpc>
            </a:pPr>
            <a:r>
              <a:rPr lang="zh-CN" altLang="en-US" b="0" dirty="0">
                <a:ea typeface="黑体" panose="02010609060101010101" pitchFamily="49" charset="-122"/>
                <a:cs typeface="Times New Roman" panose="02020603050405020304" pitchFamily="18" charset="0"/>
              </a:rPr>
              <a:t>定制序列化：默认的序列化机制，按照名称的升序写入其数值，如果想控制这些数值的写入顺序和写入类型，必须自己定义读写数据流的方式。</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D47B8B1D-E70F-6788-832F-F07605E38FE8}"/>
              </a:ext>
            </a:extLst>
          </p:cNvPr>
          <p:cNvSpPr txBox="1"/>
          <p:nvPr/>
        </p:nvSpPr>
        <p:spPr>
          <a:xfrm>
            <a:off x="411744" y="1422614"/>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序列化流</a:t>
            </a:r>
          </a:p>
        </p:txBody>
      </p:sp>
      <p:pic>
        <p:nvPicPr>
          <p:cNvPr id="14" name="图片 13">
            <a:extLst>
              <a:ext uri="{FF2B5EF4-FFF2-40B4-BE49-F238E27FC236}">
                <a16:creationId xmlns:a16="http://schemas.microsoft.com/office/drawing/2014/main" id="{7D63C739-3E38-0835-7FDF-A6B0E22E962D}"/>
              </a:ext>
            </a:extLst>
          </p:cNvPr>
          <p:cNvPicPr>
            <a:picLocks noChangeAspect="1"/>
          </p:cNvPicPr>
          <p:nvPr/>
        </p:nvPicPr>
        <p:blipFill>
          <a:blip r:embed="rId3"/>
          <a:stretch>
            <a:fillRect/>
          </a:stretch>
        </p:blipFill>
        <p:spPr>
          <a:xfrm>
            <a:off x="4173039" y="2784127"/>
            <a:ext cx="4830781" cy="282430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15" name="TextBox 6">
            <a:extLst>
              <a:ext uri="{FF2B5EF4-FFF2-40B4-BE49-F238E27FC236}">
                <a16:creationId xmlns:a16="http://schemas.microsoft.com/office/drawing/2014/main" id="{C582A051-2AC5-AFCC-6376-545BD9530760}"/>
              </a:ext>
            </a:extLst>
          </p:cNvPr>
          <p:cNvSpPr txBox="1"/>
          <p:nvPr/>
        </p:nvSpPr>
        <p:spPr>
          <a:xfrm>
            <a:off x="442174" y="2292830"/>
            <a:ext cx="4087621" cy="3801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可以在流中，以字节的形式直接读写对象</a:t>
            </a:r>
            <a:endPar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6" name="TextBox 6">
            <a:extLst>
              <a:ext uri="{FF2B5EF4-FFF2-40B4-BE49-F238E27FC236}">
                <a16:creationId xmlns:a16="http://schemas.microsoft.com/office/drawing/2014/main" id="{067525D6-A1D2-C2D1-85C0-9C894B67549F}"/>
              </a:ext>
            </a:extLst>
          </p:cNvPr>
          <p:cNvSpPr txBox="1"/>
          <p:nvPr/>
        </p:nvSpPr>
        <p:spPr>
          <a:xfrm>
            <a:off x="323528" y="3175085"/>
            <a:ext cx="3631782" cy="307777"/>
          </a:xfrm>
          <a:prstGeom prst="rect">
            <a:avLst/>
          </a:prstGeom>
          <a:solidFill>
            <a:srgbClr val="FFFFE4"/>
          </a:solidFill>
          <a:ln>
            <a:solidFill>
              <a:schemeClr val="tx1">
                <a:lumMod val="95000"/>
                <a:lumOff val="5000"/>
              </a:schemeClr>
            </a:solid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0" hangingPunct="0"/>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Student </a:t>
            </a:r>
            <a:r>
              <a:rPr lang="en-US" altLang="zh-CN" sz="1400" dirty="0" err="1">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stu</a:t>
            </a: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 new Student(</a:t>
            </a:r>
            <a:r>
              <a:rPr lang="zh-CN" altLang="en-US"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张三</a:t>
            </a: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,23);</a:t>
            </a:r>
          </a:p>
        </p:txBody>
      </p:sp>
      <p:sp>
        <p:nvSpPr>
          <p:cNvPr id="17" name="TextBox 6">
            <a:extLst>
              <a:ext uri="{FF2B5EF4-FFF2-40B4-BE49-F238E27FC236}">
                <a16:creationId xmlns:a16="http://schemas.microsoft.com/office/drawing/2014/main" id="{032DC8AF-2EAF-B6A7-EC0F-F338BBC7FF0F}"/>
              </a:ext>
            </a:extLst>
          </p:cNvPr>
          <p:cNvSpPr txBox="1"/>
          <p:nvPr/>
        </p:nvSpPr>
        <p:spPr>
          <a:xfrm>
            <a:off x="323526" y="3616434"/>
            <a:ext cx="3413587" cy="307777"/>
          </a:xfrm>
          <a:prstGeom prst="rect">
            <a:avLst/>
          </a:prstGeom>
          <a:solidFill>
            <a:srgbClr val="FFFFE4"/>
          </a:solidFill>
          <a:ln>
            <a:solidFill>
              <a:schemeClr val="tx1">
                <a:lumMod val="95000"/>
                <a:lumOff val="5000"/>
              </a:schemeClr>
            </a:solid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0" hangingPunct="0"/>
            <a:r>
              <a:rPr lang="en-US" altLang="zh-CN" sz="1400" dirty="0" err="1">
                <a:solidFill>
                  <a:schemeClr val="tx1">
                    <a:lumMod val="85000"/>
                    <a:lumOff val="15000"/>
                  </a:schemeClr>
                </a:solidFill>
                <a:latin typeface="Consolas" panose="020B0609020204030204" pitchFamily="49" charset="0"/>
                <a:ea typeface="阿里巴巴普惠体" panose="00020600040101010101" pitchFamily="18" charset="-122"/>
              </a:rPr>
              <a:t>writeObejct</a:t>
            </a: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rPr>
              <a:t>(</a:t>
            </a:r>
            <a:r>
              <a:rPr lang="en-US" altLang="zh-CN" sz="1400" dirty="0" err="1">
                <a:solidFill>
                  <a:schemeClr val="tx1">
                    <a:lumMod val="85000"/>
                    <a:lumOff val="15000"/>
                  </a:schemeClr>
                </a:solidFill>
                <a:latin typeface="Consolas" panose="020B0609020204030204" pitchFamily="49" charset="0"/>
                <a:ea typeface="阿里巴巴普惠体" panose="00020600040101010101" pitchFamily="18" charset="-122"/>
              </a:rPr>
              <a:t>stu</a:t>
            </a: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rPr>
              <a:t>);</a:t>
            </a:r>
          </a:p>
        </p:txBody>
      </p:sp>
      <p:sp>
        <p:nvSpPr>
          <p:cNvPr id="18" name="TextBox 6">
            <a:extLst>
              <a:ext uri="{FF2B5EF4-FFF2-40B4-BE49-F238E27FC236}">
                <a16:creationId xmlns:a16="http://schemas.microsoft.com/office/drawing/2014/main" id="{5B3C0FAA-1000-4FFF-0F9D-5B7FD78DC034}"/>
              </a:ext>
            </a:extLst>
          </p:cNvPr>
          <p:cNvSpPr txBox="1"/>
          <p:nvPr/>
        </p:nvSpPr>
        <p:spPr>
          <a:xfrm>
            <a:off x="323526" y="4057782"/>
            <a:ext cx="3413587" cy="307777"/>
          </a:xfrm>
          <a:prstGeom prst="rect">
            <a:avLst/>
          </a:prstGeom>
          <a:solidFill>
            <a:srgbClr val="FFFFE4"/>
          </a:solidFill>
          <a:ln>
            <a:solidFill>
              <a:schemeClr val="tx1">
                <a:lumMod val="95000"/>
                <a:lumOff val="5000"/>
              </a:schemeClr>
            </a:solid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0" hangingPunct="0"/>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rPr>
              <a:t>Student </a:t>
            </a:r>
            <a:r>
              <a:rPr lang="en-US" altLang="zh-CN" sz="1400" dirty="0" err="1">
                <a:solidFill>
                  <a:schemeClr val="tx1">
                    <a:lumMod val="85000"/>
                    <a:lumOff val="15000"/>
                  </a:schemeClr>
                </a:solidFill>
                <a:latin typeface="Consolas" panose="020B0609020204030204" pitchFamily="49" charset="0"/>
                <a:ea typeface="阿里巴巴普惠体" panose="00020600040101010101" pitchFamily="18" charset="-122"/>
              </a:rPr>
              <a:t>stu</a:t>
            </a: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rPr>
              <a:t> = </a:t>
            </a:r>
            <a:r>
              <a:rPr lang="en-US" altLang="zh-CN" sz="1400" dirty="0" err="1">
                <a:solidFill>
                  <a:schemeClr val="tx1">
                    <a:lumMod val="85000"/>
                    <a:lumOff val="15000"/>
                  </a:schemeClr>
                </a:solidFill>
                <a:latin typeface="Consolas" panose="020B0609020204030204" pitchFamily="49" charset="0"/>
                <a:ea typeface="阿里巴巴普惠体" panose="00020600040101010101" pitchFamily="18" charset="-122"/>
              </a:rPr>
              <a:t>readObject</a:t>
            </a:r>
            <a:r>
              <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rPr>
              <a:t>();</a:t>
            </a:r>
          </a:p>
        </p:txBody>
      </p:sp>
      <p:sp>
        <p:nvSpPr>
          <p:cNvPr id="8" name="标题 1">
            <a:extLst>
              <a:ext uri="{FF2B5EF4-FFF2-40B4-BE49-F238E27FC236}">
                <a16:creationId xmlns:a16="http://schemas.microsoft.com/office/drawing/2014/main" id="{6F3ACA72-CEFD-4C89-AC2B-FE11D7A1343C}"/>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sz="3200"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kern="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kern="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kern="0" dirty="0">
              <a:ea typeface="宋体" panose="02010600030101010101" pitchFamily="2" charset="-122"/>
              <a:cs typeface="Times New Roman" panose="02020603050405020304" pitchFamily="18" charset="0"/>
            </a:endParaRPr>
          </a:p>
        </p:txBody>
      </p:sp>
      <p:cxnSp>
        <p:nvCxnSpPr>
          <p:cNvPr id="9" name="直接连接符 8">
            <a:extLst>
              <a:ext uri="{FF2B5EF4-FFF2-40B4-BE49-F238E27FC236}">
                <a16:creationId xmlns:a16="http://schemas.microsoft.com/office/drawing/2014/main" id="{E9A41990-942E-4543-A1D9-25DEFC552F63}"/>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09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a:extLst>
              <a:ext uri="{FF2B5EF4-FFF2-40B4-BE49-F238E27FC236}">
                <a16:creationId xmlns:a16="http://schemas.microsoft.com/office/drawing/2014/main" id="{30301FEC-B8F4-1CD9-D10E-8C374B4C37F5}"/>
              </a:ext>
            </a:extLst>
          </p:cNvPr>
          <p:cNvSpPr txBox="1"/>
          <p:nvPr/>
        </p:nvSpPr>
        <p:spPr>
          <a:xfrm>
            <a:off x="658314" y="2706282"/>
            <a:ext cx="6184778" cy="380873"/>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en-US" altLang="zh-CN" sz="1400" dirty="0" err="1">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ObjectInputStream</a:t>
            </a:r>
            <a:endPar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4" name="TextBox 6">
            <a:extLst>
              <a:ext uri="{FF2B5EF4-FFF2-40B4-BE49-F238E27FC236}">
                <a16:creationId xmlns:a16="http://schemas.microsoft.com/office/drawing/2014/main" id="{A57F5B6A-3EE9-1A8A-A47D-56556FF52B50}"/>
              </a:ext>
            </a:extLst>
          </p:cNvPr>
          <p:cNvSpPr txBox="1"/>
          <p:nvPr/>
        </p:nvSpPr>
        <p:spPr>
          <a:xfrm>
            <a:off x="658314" y="3901830"/>
            <a:ext cx="6184778" cy="380873"/>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en-US" altLang="zh-CN" sz="1400" dirty="0" err="1">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ObjectOutputStream</a:t>
            </a:r>
            <a:endParaRPr lang="en-US" altLang="zh-CN" sz="14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graphicFrame>
        <p:nvGraphicFramePr>
          <p:cNvPr id="5" name="表格 4">
            <a:extLst>
              <a:ext uri="{FF2B5EF4-FFF2-40B4-BE49-F238E27FC236}">
                <a16:creationId xmlns:a16="http://schemas.microsoft.com/office/drawing/2014/main" id="{10123BFE-8C26-F49C-C68F-F6211A4A4E45}"/>
              </a:ext>
            </a:extLst>
          </p:cNvPr>
          <p:cNvGraphicFramePr>
            <a:graphicFrameLocks noGrp="1"/>
          </p:cNvGraphicFramePr>
          <p:nvPr>
            <p:extLst>
              <p:ext uri="{D42A27DB-BD31-4B8C-83A1-F6EECF244321}">
                <p14:modId xmlns:p14="http://schemas.microsoft.com/office/powerpoint/2010/main" val="1465499932"/>
              </p:ext>
            </p:extLst>
          </p:nvPr>
        </p:nvGraphicFramePr>
        <p:xfrm>
          <a:off x="365684" y="3099652"/>
          <a:ext cx="8418920" cy="732980"/>
        </p:xfrm>
        <a:graphic>
          <a:graphicData uri="http://schemas.openxmlformats.org/drawingml/2006/table">
            <a:tbl>
              <a:tblPr/>
              <a:tblGrid>
                <a:gridCol w="4415392">
                  <a:extLst>
                    <a:ext uri="{9D8B030D-6E8A-4147-A177-3AD203B41FA5}">
                      <a16:colId xmlns:a16="http://schemas.microsoft.com/office/drawing/2014/main" val="4059425573"/>
                    </a:ext>
                  </a:extLst>
                </a:gridCol>
                <a:gridCol w="4003528">
                  <a:extLst>
                    <a:ext uri="{9D8B030D-6E8A-4147-A177-3AD203B41FA5}">
                      <a16:colId xmlns:a16="http://schemas.microsoft.com/office/drawing/2014/main" val="1139361603"/>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a:ln>
                            <a:noFill/>
                          </a:ln>
                          <a:solidFill>
                            <a:srgbClr val="FFFFFF"/>
                          </a:solidFill>
                          <a:effectLst/>
                          <a:latin typeface="Alibaba PuHuiTi R" pitchFamily="18" charset="-122"/>
                          <a:ea typeface="Alibaba PuHuiTi R" pitchFamily="18" charset="-122"/>
                          <a:cs typeface="Alibaba PuHuiTi R" pitchFamily="18" charset="-122"/>
                        </a:rPr>
                        <a:t>说明</a:t>
                      </a:r>
                      <a:endPar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3934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public </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ObjectInputStream</a:t>
                      </a:r>
                      <a:r>
                        <a:rPr lang="en-US" altLang="zh-CN" sz="1400" kern="1200" dirty="0">
                          <a:solidFill>
                            <a:schemeClr val="tx1"/>
                          </a:solidFill>
                          <a:effectLst/>
                          <a:latin typeface="Consolas" panose="020B0609020204030204" pitchFamily="49" charset="0"/>
                          <a:ea typeface="黑体" panose="02010609060101010101" pitchFamily="49" charset="-122"/>
                          <a:cs typeface="+mn-cs"/>
                        </a:rPr>
                        <a:t>(</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InputStream</a:t>
                      </a:r>
                      <a:r>
                        <a:rPr lang="en-US" altLang="zh-CN" sz="1400" kern="1200" dirty="0">
                          <a:solidFill>
                            <a:schemeClr val="tx1"/>
                          </a:solidFill>
                          <a:effectLst/>
                          <a:latin typeface="Consolas" panose="020B0609020204030204" pitchFamily="49" charset="0"/>
                          <a:ea typeface="黑体" panose="02010609060101010101" pitchFamily="49" charset="-122"/>
                          <a:cs typeface="+mn-cs"/>
                        </a:rPr>
                        <a:t> in)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对象输入流关联文件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关联方式使用字节输入流</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bl>
          </a:graphicData>
        </a:graphic>
      </p:graphicFrame>
      <p:graphicFrame>
        <p:nvGraphicFramePr>
          <p:cNvPr id="6" name="表格 5">
            <a:extLst>
              <a:ext uri="{FF2B5EF4-FFF2-40B4-BE49-F238E27FC236}">
                <a16:creationId xmlns:a16="http://schemas.microsoft.com/office/drawing/2014/main" id="{68031D48-5D37-4F88-FC73-5B4F0B217495}"/>
              </a:ext>
            </a:extLst>
          </p:cNvPr>
          <p:cNvGraphicFramePr>
            <a:graphicFrameLocks noGrp="1"/>
          </p:cNvGraphicFramePr>
          <p:nvPr>
            <p:extLst>
              <p:ext uri="{D42A27DB-BD31-4B8C-83A1-F6EECF244321}">
                <p14:modId xmlns:p14="http://schemas.microsoft.com/office/powerpoint/2010/main" val="1225865619"/>
              </p:ext>
            </p:extLst>
          </p:nvPr>
        </p:nvGraphicFramePr>
        <p:xfrm>
          <a:off x="365684" y="4349117"/>
          <a:ext cx="8418920" cy="732980"/>
        </p:xfrm>
        <a:graphic>
          <a:graphicData uri="http://schemas.openxmlformats.org/drawingml/2006/table">
            <a:tbl>
              <a:tblPr/>
              <a:tblGrid>
                <a:gridCol w="4415392">
                  <a:extLst>
                    <a:ext uri="{9D8B030D-6E8A-4147-A177-3AD203B41FA5}">
                      <a16:colId xmlns:a16="http://schemas.microsoft.com/office/drawing/2014/main" val="4059425573"/>
                    </a:ext>
                  </a:extLst>
                </a:gridCol>
                <a:gridCol w="4003528">
                  <a:extLst>
                    <a:ext uri="{9D8B030D-6E8A-4147-A177-3AD203B41FA5}">
                      <a16:colId xmlns:a16="http://schemas.microsoft.com/office/drawing/2014/main" val="1139361603"/>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构造方法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413402838"/>
                  </a:ext>
                </a:extLst>
              </a:tr>
              <a:tr h="3934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public </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ObjectOutputStream</a:t>
                      </a:r>
                      <a:r>
                        <a:rPr lang="en-US" altLang="zh-CN" sz="1400" kern="1200" dirty="0">
                          <a:solidFill>
                            <a:schemeClr val="tx1"/>
                          </a:solidFill>
                          <a:effectLst/>
                          <a:latin typeface="Consolas" panose="020B0609020204030204" pitchFamily="49" charset="0"/>
                          <a:ea typeface="黑体" panose="02010609060101010101" pitchFamily="49" charset="-122"/>
                          <a:cs typeface="+mn-cs"/>
                        </a:rPr>
                        <a:t>(</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OutputStream</a:t>
                      </a:r>
                      <a:r>
                        <a:rPr lang="en-US" altLang="zh-CN" sz="1400" kern="1200" dirty="0">
                          <a:solidFill>
                            <a:schemeClr val="tx1"/>
                          </a:solidFill>
                          <a:effectLst/>
                          <a:latin typeface="Consolas" panose="020B0609020204030204" pitchFamily="49" charset="0"/>
                          <a:ea typeface="黑体" panose="02010609060101010101" pitchFamily="49" charset="-122"/>
                          <a:cs typeface="+mn-cs"/>
                        </a:rPr>
                        <a:t> out</a:t>
                      </a:r>
                      <a:r>
                        <a:rPr lang="en-US" altLang="zh-CN" sz="1200" kern="1200" dirty="0">
                          <a:solidFill>
                            <a:schemeClr val="tx1"/>
                          </a:solidFill>
                          <a:effectLst/>
                          <a:latin typeface="Consolas" panose="020B0609020204030204" pitchFamily="49" charset="0"/>
                          <a:ea typeface="黑体" panose="02010609060101010101" pitchFamily="49" charset="-122"/>
                          <a:cs typeface="+mn-cs"/>
                        </a:rPr>
                        <a:t>)</a:t>
                      </a:r>
                      <a:endParaRPr lang="zh-CN" altLang="en-US" sz="12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对象输出流关联文件</a:t>
                      </a:r>
                      <a:r>
                        <a:rPr lang="en-US" altLang="zh-CN" sz="1400" dirty="0">
                          <a:latin typeface="Consolas" panose="020B0609020204030204" pitchFamily="49" charset="0"/>
                          <a:ea typeface="Alibaba PuHuiTi R"/>
                        </a:rPr>
                        <a:t>, </a:t>
                      </a:r>
                      <a:r>
                        <a:rPr lang="zh-CN" altLang="en-US" sz="1400" dirty="0">
                          <a:latin typeface="Consolas" panose="020B0609020204030204" pitchFamily="49" charset="0"/>
                          <a:ea typeface="Alibaba PuHuiTi R"/>
                        </a:rPr>
                        <a:t>关联方式使用字节输出流</a:t>
                      </a:r>
                      <a:endParaRPr lang="en-US" altLang="zh-CN" sz="1400" dirty="0">
                        <a:latin typeface="Consolas" panose="020B0609020204030204" pitchFamily="49" charset="0"/>
                        <a:ea typeface="Alibaba PuHuiTi R"/>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58313400"/>
                  </a:ext>
                </a:extLst>
              </a:tr>
            </a:tbl>
          </a:graphicData>
        </a:graphic>
      </p:graphicFrame>
      <p:graphicFrame>
        <p:nvGraphicFramePr>
          <p:cNvPr id="9" name="表格 8">
            <a:extLst>
              <a:ext uri="{FF2B5EF4-FFF2-40B4-BE49-F238E27FC236}">
                <a16:creationId xmlns:a16="http://schemas.microsoft.com/office/drawing/2014/main" id="{1069208A-CADB-8695-1708-7536A27A2474}"/>
              </a:ext>
            </a:extLst>
          </p:cNvPr>
          <p:cNvGraphicFramePr>
            <a:graphicFrameLocks noGrp="1"/>
          </p:cNvGraphicFramePr>
          <p:nvPr>
            <p:extLst>
              <p:ext uri="{D42A27DB-BD31-4B8C-83A1-F6EECF244321}">
                <p14:modId xmlns:p14="http://schemas.microsoft.com/office/powerpoint/2010/main" val="2313001993"/>
              </p:ext>
            </p:extLst>
          </p:nvPr>
        </p:nvGraphicFramePr>
        <p:xfrm>
          <a:off x="3419872" y="5305005"/>
          <a:ext cx="5387653" cy="693167"/>
        </p:xfrm>
        <a:graphic>
          <a:graphicData uri="http://schemas.openxmlformats.org/drawingml/2006/table">
            <a:tbl>
              <a:tblPr/>
              <a:tblGrid>
                <a:gridCol w="2825612">
                  <a:extLst>
                    <a:ext uri="{9D8B030D-6E8A-4147-A177-3AD203B41FA5}">
                      <a16:colId xmlns:a16="http://schemas.microsoft.com/office/drawing/2014/main" val="3903616913"/>
                    </a:ext>
                  </a:extLst>
                </a:gridCol>
                <a:gridCol w="2562041">
                  <a:extLst>
                    <a:ext uri="{9D8B030D-6E8A-4147-A177-3AD203B41FA5}">
                      <a16:colId xmlns:a16="http://schemas.microsoft.com/office/drawing/2014/main" val="3501032722"/>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成员方法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31292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void </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writeObject</a:t>
                      </a:r>
                      <a:r>
                        <a:rPr lang="en-US" altLang="zh-CN" sz="1400" kern="1200" dirty="0">
                          <a:solidFill>
                            <a:schemeClr val="tx1"/>
                          </a:solidFill>
                          <a:effectLst/>
                          <a:latin typeface="Consolas" panose="020B0609020204030204" pitchFamily="49" charset="0"/>
                          <a:ea typeface="黑体" panose="02010609060101010101" pitchFamily="49" charset="-122"/>
                          <a:cs typeface="+mn-cs"/>
                        </a:rPr>
                        <a:t>(Object obj)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在流中将对象写出 </a:t>
                      </a:r>
                      <a:r>
                        <a:rPr lang="en-US" altLang="zh-CN" sz="1400" b="1" dirty="0">
                          <a:solidFill>
                            <a:srgbClr val="00B0F0"/>
                          </a:solidFill>
                          <a:latin typeface="Consolas" panose="020B0609020204030204" pitchFamily="49" charset="0"/>
                          <a:ea typeface="Alibaba PuHuiTi R"/>
                        </a:rPr>
                        <a:t>(</a:t>
                      </a:r>
                      <a:r>
                        <a:rPr lang="zh-CN" altLang="en-US" sz="1400" b="1" dirty="0">
                          <a:solidFill>
                            <a:srgbClr val="00B0F0"/>
                          </a:solidFill>
                          <a:latin typeface="Consolas" panose="020B0609020204030204" pitchFamily="49" charset="0"/>
                          <a:ea typeface="Alibaba PuHuiTi R"/>
                        </a:rPr>
                        <a:t>序列化</a:t>
                      </a:r>
                      <a:r>
                        <a:rPr lang="en-US" altLang="zh-CN" sz="1400" dirty="0">
                          <a:latin typeface="Consolas" panose="020B0609020204030204" pitchFamily="49" charset="0"/>
                          <a:ea typeface="Alibaba PuHuiTi R"/>
                        </a:rPr>
                        <a:t>)</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bl>
          </a:graphicData>
        </a:graphic>
      </p:graphicFrame>
      <p:graphicFrame>
        <p:nvGraphicFramePr>
          <p:cNvPr id="10" name="表格 9">
            <a:extLst>
              <a:ext uri="{FF2B5EF4-FFF2-40B4-BE49-F238E27FC236}">
                <a16:creationId xmlns:a16="http://schemas.microsoft.com/office/drawing/2014/main" id="{5E585CFC-B094-9925-DA4F-4C198AC87ABE}"/>
              </a:ext>
            </a:extLst>
          </p:cNvPr>
          <p:cNvGraphicFramePr>
            <a:graphicFrameLocks noGrp="1"/>
          </p:cNvGraphicFramePr>
          <p:nvPr>
            <p:extLst>
              <p:ext uri="{D42A27DB-BD31-4B8C-83A1-F6EECF244321}">
                <p14:modId xmlns:p14="http://schemas.microsoft.com/office/powerpoint/2010/main" val="2984123681"/>
              </p:ext>
            </p:extLst>
          </p:nvPr>
        </p:nvGraphicFramePr>
        <p:xfrm>
          <a:off x="3750703" y="2459329"/>
          <a:ext cx="5027613" cy="693167"/>
        </p:xfrm>
        <a:graphic>
          <a:graphicData uri="http://schemas.openxmlformats.org/drawingml/2006/table">
            <a:tbl>
              <a:tblPr/>
              <a:tblGrid>
                <a:gridCol w="2636785">
                  <a:extLst>
                    <a:ext uri="{9D8B030D-6E8A-4147-A177-3AD203B41FA5}">
                      <a16:colId xmlns:a16="http://schemas.microsoft.com/office/drawing/2014/main" val="3903616913"/>
                    </a:ext>
                  </a:extLst>
                </a:gridCol>
                <a:gridCol w="2390828">
                  <a:extLst>
                    <a:ext uri="{9D8B030D-6E8A-4147-A177-3AD203B41FA5}">
                      <a16:colId xmlns:a16="http://schemas.microsoft.com/office/drawing/2014/main" val="3501032722"/>
                    </a:ext>
                  </a:extLst>
                </a:gridCol>
              </a:tblGrid>
              <a:tr h="28087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成员方法</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400" b="0" i="0" u="none" strike="noStrike" cap="none" normalizeH="0" baseline="0">
                          <a:ln>
                            <a:noFill/>
                          </a:ln>
                          <a:solidFill>
                            <a:srgbClr val="FFFFFF"/>
                          </a:solidFill>
                          <a:effectLst/>
                          <a:latin typeface="Alibaba PuHuiTi R" pitchFamily="18" charset="-122"/>
                          <a:ea typeface="Alibaba PuHuiTi R" pitchFamily="18" charset="-122"/>
                          <a:cs typeface="Alibaba PuHuiTi R" pitchFamily="18" charset="-122"/>
                        </a:rPr>
                        <a:t>说明</a:t>
                      </a:r>
                      <a:endParaRPr kumimoji="0" lang="zh-CN" altLang="en-US" sz="14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373553032"/>
                  </a:ext>
                </a:extLst>
              </a:tr>
              <a:tr h="31292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algn="l"/>
                      <a:r>
                        <a:rPr lang="en-US" altLang="zh-CN" sz="1400" kern="1200" dirty="0">
                          <a:solidFill>
                            <a:schemeClr val="tx1"/>
                          </a:solidFill>
                          <a:effectLst/>
                          <a:latin typeface="Consolas" panose="020B0609020204030204" pitchFamily="49" charset="0"/>
                          <a:ea typeface="黑体" panose="02010609060101010101" pitchFamily="49" charset="-122"/>
                          <a:cs typeface="+mn-cs"/>
                        </a:rPr>
                        <a:t>Object </a:t>
                      </a:r>
                      <a:r>
                        <a:rPr lang="en-US" altLang="zh-CN" sz="1400" kern="1200" dirty="0" err="1">
                          <a:solidFill>
                            <a:schemeClr val="tx1"/>
                          </a:solidFill>
                          <a:effectLst/>
                          <a:latin typeface="Consolas" panose="020B0609020204030204" pitchFamily="49" charset="0"/>
                          <a:ea typeface="黑体" panose="02010609060101010101" pitchFamily="49" charset="-122"/>
                          <a:cs typeface="+mn-cs"/>
                        </a:rPr>
                        <a:t>readObject</a:t>
                      </a:r>
                      <a:r>
                        <a:rPr lang="en-US" altLang="zh-CN" sz="1400" kern="1200" dirty="0">
                          <a:solidFill>
                            <a:schemeClr val="tx1"/>
                          </a:solidFill>
                          <a:effectLst/>
                          <a:latin typeface="Consolas" panose="020B0609020204030204" pitchFamily="49" charset="0"/>
                          <a:ea typeface="黑体" panose="02010609060101010101" pitchFamily="49" charset="-122"/>
                          <a:cs typeface="+mn-cs"/>
                        </a:rPr>
                        <a:t>() </a:t>
                      </a:r>
                      <a:endParaRPr lang="zh-CN" altLang="en-US" sz="1400" dirty="0">
                        <a:latin typeface="Consolas" panose="020B0609020204030204" pitchFamily="49" charset="0"/>
                      </a:endParaRP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indent="0" algn="l" eaLnBrk="0" hangingPunct="0">
                        <a:lnSpc>
                          <a:spcPct val="150000"/>
                        </a:lnSpc>
                        <a:buFont typeface="Wingdings" pitchFamily="2" charset="2"/>
                        <a:buNone/>
                        <a:defRPr/>
                      </a:pPr>
                      <a:r>
                        <a:rPr lang="zh-CN" altLang="en-US" sz="1400" dirty="0">
                          <a:latin typeface="Consolas" panose="020B0609020204030204" pitchFamily="49" charset="0"/>
                          <a:ea typeface="Alibaba PuHuiTi R"/>
                        </a:rPr>
                        <a:t>从流中读取对象</a:t>
                      </a:r>
                      <a:r>
                        <a:rPr lang="en-US" altLang="zh-CN" sz="1400" dirty="0">
                          <a:latin typeface="Consolas" panose="020B0609020204030204" pitchFamily="49" charset="0"/>
                          <a:ea typeface="Alibaba PuHuiTi R"/>
                        </a:rPr>
                        <a:t>(</a:t>
                      </a:r>
                      <a:r>
                        <a:rPr lang="zh-CN" altLang="en-US" sz="1400" b="1" dirty="0">
                          <a:solidFill>
                            <a:srgbClr val="00B0F0"/>
                          </a:solidFill>
                          <a:latin typeface="Consolas" panose="020B0609020204030204" pitchFamily="49" charset="0"/>
                          <a:ea typeface="Alibaba PuHuiTi R"/>
                        </a:rPr>
                        <a:t>反序列化</a:t>
                      </a:r>
                      <a:r>
                        <a:rPr lang="en-US" altLang="zh-CN" sz="1400" dirty="0">
                          <a:latin typeface="Consolas" panose="020B0609020204030204" pitchFamily="49" charset="0"/>
                          <a:ea typeface="Alibaba PuHuiTi R"/>
                        </a:rPr>
                        <a:t>)</a:t>
                      </a:r>
                    </a:p>
                  </a:txBody>
                  <a:tcPr marL="68556" marR="68556" marT="34306" marB="3430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02623438"/>
                  </a:ext>
                </a:extLst>
              </a:tr>
            </a:tbl>
          </a:graphicData>
        </a:graphic>
      </p:graphicFrame>
      <p:sp>
        <p:nvSpPr>
          <p:cNvPr id="11" name="标题 1">
            <a:extLst>
              <a:ext uri="{FF2B5EF4-FFF2-40B4-BE49-F238E27FC236}">
                <a16:creationId xmlns:a16="http://schemas.microsoft.com/office/drawing/2014/main" id="{2D362C84-D3A3-4A8E-B333-26EBF5D579BA}"/>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sz="3200"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kern="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kern="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kern="0" dirty="0">
              <a:ea typeface="宋体" panose="02010600030101010101" pitchFamily="2" charset="-122"/>
              <a:cs typeface="Times New Roman" panose="02020603050405020304" pitchFamily="18" charset="0"/>
            </a:endParaRPr>
          </a:p>
        </p:txBody>
      </p:sp>
      <p:cxnSp>
        <p:nvCxnSpPr>
          <p:cNvPr id="12" name="直接连接符 11">
            <a:extLst>
              <a:ext uri="{FF2B5EF4-FFF2-40B4-BE49-F238E27FC236}">
                <a16:creationId xmlns:a16="http://schemas.microsoft.com/office/drawing/2014/main" id="{62E455FE-9FFD-4D25-B618-9B659E95ADFD}"/>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2">
            <a:extLst>
              <a:ext uri="{FF2B5EF4-FFF2-40B4-BE49-F238E27FC236}">
                <a16:creationId xmlns:a16="http://schemas.microsoft.com/office/drawing/2014/main" id="{76E4B218-0EFF-4502-8762-538114AFE5CB}"/>
              </a:ext>
            </a:extLst>
          </p:cNvPr>
          <p:cNvSpPr txBox="1"/>
          <p:nvPr/>
        </p:nvSpPr>
        <p:spPr>
          <a:xfrm>
            <a:off x="442174" y="1088622"/>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序列化流</a:t>
            </a:r>
          </a:p>
        </p:txBody>
      </p:sp>
      <p:sp>
        <p:nvSpPr>
          <p:cNvPr id="14" name="TextBox 6">
            <a:extLst>
              <a:ext uri="{FF2B5EF4-FFF2-40B4-BE49-F238E27FC236}">
                <a16:creationId xmlns:a16="http://schemas.microsoft.com/office/drawing/2014/main" id="{13225420-0ECA-4A59-BBCE-1126940DDBA5}"/>
              </a:ext>
            </a:extLst>
          </p:cNvPr>
          <p:cNvSpPr txBox="1"/>
          <p:nvPr/>
        </p:nvSpPr>
        <p:spPr>
          <a:xfrm>
            <a:off x="442174" y="1914583"/>
            <a:ext cx="4087621" cy="4212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14313" indent="-214313" defTabSz="685800" eaLnBrk="0" hangingPunct="0">
              <a:lnSpc>
                <a:spcPct val="150000"/>
              </a:lnSpc>
              <a:buFont typeface="Wingdings" panose="05000000000000000000" pitchFamily="2" charset="2"/>
              <a:buChar char="l"/>
            </a:pPr>
            <a:r>
              <a:rPr lang="zh-CN" altLang="en-US"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可以在流中，以字节的形式直接读写对象</a:t>
            </a:r>
            <a:endParaRPr lang="en-US" altLang="zh-CN" sz="1600" dirty="0">
              <a:solidFill>
                <a:schemeClr val="tx1">
                  <a:lumMod val="85000"/>
                  <a:lumOff val="15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4023090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AF25EE5F-8A57-E645-0344-9458AE3E8B57}"/>
              </a:ext>
            </a:extLst>
          </p:cNvPr>
          <p:cNvSpPr txBox="1"/>
          <p:nvPr/>
        </p:nvSpPr>
        <p:spPr>
          <a:xfrm>
            <a:off x="544983" y="1190073"/>
            <a:ext cx="3514725" cy="566245"/>
          </a:xfrm>
          <a:prstGeom prst="rect">
            <a:avLst/>
          </a:prstGeom>
          <a:noFill/>
        </p:spPr>
        <p:txBody>
          <a:bodyPr>
            <a:spAutoFit/>
          </a:bodyPr>
          <a:lstStyle/>
          <a:p>
            <a:pPr eaLnBrk="0" hangingPunct="0">
              <a:lnSpc>
                <a:spcPct val="200000"/>
              </a:lnSpc>
              <a:defRPr/>
            </a:pP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序列化流的操作流程</a:t>
            </a:r>
          </a:p>
        </p:txBody>
      </p:sp>
      <p:sp>
        <p:nvSpPr>
          <p:cNvPr id="3" name="TextBox 6">
            <a:extLst>
              <a:ext uri="{FF2B5EF4-FFF2-40B4-BE49-F238E27FC236}">
                <a16:creationId xmlns:a16="http://schemas.microsoft.com/office/drawing/2014/main" id="{509B2215-6F41-BD33-6E8A-DA5A07A924B7}"/>
              </a:ext>
            </a:extLst>
          </p:cNvPr>
          <p:cNvSpPr txBox="1"/>
          <p:nvPr/>
        </p:nvSpPr>
        <p:spPr>
          <a:xfrm>
            <a:off x="733834" y="2038339"/>
            <a:ext cx="4187011" cy="1015663"/>
          </a:xfrm>
          <a:prstGeom prst="rect">
            <a:avLst/>
          </a:prstGeom>
          <a:solidFill>
            <a:srgbClr val="FFFFE4"/>
          </a:solidFill>
          <a:ln>
            <a:solidFill>
              <a:schemeClr val="tx1">
                <a:lumMod val="95000"/>
                <a:lumOff val="5000"/>
              </a:schemeClr>
            </a:solid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0" hangingPunct="0"/>
            <a:r>
              <a:rPr lang="zh-CN" altLang="zh-CN" sz="1200" dirty="0">
                <a:solidFill>
                  <a:srgbClr val="0033B3"/>
                </a:solidFill>
                <a:latin typeface="Consolas" panose="020B0609020204030204" pitchFamily="49" charset="0"/>
                <a:ea typeface="JetBrains Mono"/>
              </a:rPr>
              <a:t>public class </a:t>
            </a:r>
            <a:r>
              <a:rPr lang="zh-CN" altLang="zh-CN" sz="1200" dirty="0">
                <a:solidFill>
                  <a:srgbClr val="000000"/>
                </a:solidFill>
                <a:latin typeface="Consolas" panose="020B0609020204030204" pitchFamily="49" charset="0"/>
                <a:ea typeface="JetBrains Mono"/>
              </a:rPr>
              <a:t>Student </a:t>
            </a:r>
            <a:r>
              <a:rPr lang="zh-CN" altLang="zh-CN" sz="1200" dirty="0">
                <a:solidFill>
                  <a:srgbClr val="0033B3"/>
                </a:solidFill>
                <a:latin typeface="Consolas" panose="020B0609020204030204" pitchFamily="49" charset="0"/>
                <a:ea typeface="JetBrains Mono"/>
              </a:rPr>
              <a:t>implements </a:t>
            </a:r>
            <a:r>
              <a:rPr lang="zh-CN" altLang="zh-CN" sz="1200" dirty="0">
                <a:solidFill>
                  <a:srgbClr val="000000"/>
                </a:solidFill>
                <a:latin typeface="Consolas" panose="020B0609020204030204" pitchFamily="49" charset="0"/>
                <a:ea typeface="JetBrains Mono"/>
              </a:rPr>
              <a:t>Serializable </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200" dirty="0">
                <a:solidFill>
                  <a:srgbClr val="080808"/>
                </a:solidFill>
                <a:latin typeface="Consolas" panose="020B0609020204030204" pitchFamily="49" charset="0"/>
                <a:ea typeface="JetBrains Mono"/>
              </a:rPr>
              <a:t>  </a:t>
            </a:r>
            <a:r>
              <a:rPr lang="zh-CN" altLang="zh-CN" sz="1200" dirty="0">
                <a:solidFill>
                  <a:srgbClr val="0033B3"/>
                </a:solidFill>
                <a:latin typeface="Consolas" panose="020B0609020204030204" pitchFamily="49" charset="0"/>
                <a:ea typeface="JetBrains Mono"/>
              </a:rPr>
              <a:t>private </a:t>
            </a:r>
            <a:r>
              <a:rPr lang="zh-CN" altLang="zh-CN" sz="1200" dirty="0">
                <a:solidFill>
                  <a:srgbClr val="000000"/>
                </a:solidFill>
                <a:latin typeface="Consolas" panose="020B0609020204030204" pitchFamily="49" charset="0"/>
                <a:ea typeface="JetBrains Mono"/>
              </a:rPr>
              <a:t>String </a:t>
            </a:r>
            <a:r>
              <a:rPr lang="zh-CN" altLang="zh-CN" sz="1200" dirty="0">
                <a:solidFill>
                  <a:srgbClr val="871094"/>
                </a:solidFill>
                <a:latin typeface="Consolas" panose="020B0609020204030204" pitchFamily="49" charset="0"/>
                <a:ea typeface="JetBrains Mono"/>
              </a:rPr>
              <a:t>name</a:t>
            </a:r>
            <a:r>
              <a:rPr lang="zh-CN" altLang="zh-CN" sz="1200" dirty="0">
                <a:solidFill>
                  <a:srgbClr val="080808"/>
                </a:solidFill>
                <a:latin typeface="Consolas" panose="020B0609020204030204" pitchFamily="49" charset="0"/>
                <a:ea typeface="JetBrains Mono"/>
              </a:rPr>
              <a:t>;</a:t>
            </a:r>
            <a:br>
              <a:rPr lang="zh-CN" altLang="zh-CN" sz="1200" dirty="0">
                <a:solidFill>
                  <a:srgbClr val="080808"/>
                </a:solidFill>
                <a:latin typeface="Consolas" panose="020B0609020204030204" pitchFamily="49" charset="0"/>
                <a:ea typeface="JetBrains Mono"/>
              </a:rPr>
            </a:br>
            <a:r>
              <a:rPr lang="en-US" altLang="zh-CN" sz="1200" dirty="0">
                <a:solidFill>
                  <a:srgbClr val="080808"/>
                </a:solidFill>
                <a:latin typeface="Consolas" panose="020B0609020204030204" pitchFamily="49" charset="0"/>
                <a:ea typeface="JetBrains Mono"/>
              </a:rPr>
              <a:t>  </a:t>
            </a:r>
            <a:r>
              <a:rPr lang="zh-CN" altLang="zh-CN" sz="1200" dirty="0">
                <a:solidFill>
                  <a:srgbClr val="0033B3"/>
                </a:solidFill>
                <a:latin typeface="Consolas" panose="020B0609020204030204" pitchFamily="49" charset="0"/>
                <a:ea typeface="JetBrains Mono"/>
              </a:rPr>
              <a:t>private int </a:t>
            </a:r>
            <a:r>
              <a:rPr lang="zh-CN" altLang="zh-CN" sz="1200" dirty="0">
                <a:solidFill>
                  <a:srgbClr val="871094"/>
                </a:solidFill>
                <a:latin typeface="Consolas" panose="020B0609020204030204" pitchFamily="49" charset="0"/>
                <a:ea typeface="JetBrains Mono"/>
              </a:rPr>
              <a:t>age</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200" dirty="0">
                <a:solidFill>
                  <a:srgbClr val="080808"/>
                </a:solidFill>
                <a:latin typeface="Consolas" panose="020B0609020204030204" pitchFamily="49" charset="0"/>
                <a:ea typeface="JetBrains Mono"/>
              </a:rPr>
              <a:t>  ...</a:t>
            </a:r>
          </a:p>
          <a:p>
            <a:pPr defTabSz="685800" eaLnBrk="0" hangingPunct="0"/>
            <a:r>
              <a:rPr lang="en-US" altLang="zh-CN" sz="1200" dirty="0">
                <a:solidFill>
                  <a:srgbClr val="080808"/>
                </a:solidFill>
                <a:latin typeface="Consolas" panose="020B0609020204030204" pitchFamily="49" charset="0"/>
                <a:ea typeface="JetBrains Mono"/>
              </a:rPr>
              <a:t>} </a:t>
            </a:r>
            <a:endParaRPr lang="zh-CN" altLang="zh-CN" sz="1200" dirty="0">
              <a:latin typeface="Consolas" panose="020B0609020204030204" pitchFamily="49" charset="0"/>
            </a:endParaRPr>
          </a:p>
        </p:txBody>
      </p:sp>
      <p:sp>
        <p:nvSpPr>
          <p:cNvPr id="9" name="矩形: 折角 8">
            <a:extLst>
              <a:ext uri="{FF2B5EF4-FFF2-40B4-BE49-F238E27FC236}">
                <a16:creationId xmlns:a16="http://schemas.microsoft.com/office/drawing/2014/main" id="{452B584F-AC9B-D33E-21F7-C08CD53302CC}"/>
              </a:ext>
            </a:extLst>
          </p:cNvPr>
          <p:cNvSpPr/>
          <p:nvPr/>
        </p:nvSpPr>
        <p:spPr>
          <a:xfrm>
            <a:off x="5471317" y="5125414"/>
            <a:ext cx="3242795" cy="771095"/>
          </a:xfrm>
          <a:prstGeom prst="foldedCorner">
            <a:avLst/>
          </a:prstGeom>
          <a:ln/>
        </p:spPr>
        <p:style>
          <a:lnRef idx="1">
            <a:schemeClr val="dk1"/>
          </a:lnRef>
          <a:fillRef idx="2">
            <a:schemeClr val="dk1"/>
          </a:fillRef>
          <a:effectRef idx="1">
            <a:schemeClr val="dk1"/>
          </a:effectRef>
          <a:fontRef idx="minor">
            <a:schemeClr val="dk1"/>
          </a:fontRef>
        </p:style>
        <p:txBody>
          <a:bodyPr rtlCol="0" anchor="ctr"/>
          <a:lstStyle/>
          <a:p>
            <a:endParaRPr lang="en-US" altLang="zh-CN" sz="788" dirty="0">
              <a:latin typeface="Consolas" panose="020B0609020204030204" pitchFamily="49" charset="0"/>
            </a:endParaRPr>
          </a:p>
          <a:p>
            <a:endParaRPr lang="zh-CN" altLang="en-US" sz="788" dirty="0">
              <a:latin typeface="Consolas" panose="020B0609020204030204" pitchFamily="49" charset="0"/>
            </a:endParaRPr>
          </a:p>
        </p:txBody>
      </p:sp>
      <p:sp>
        <p:nvSpPr>
          <p:cNvPr id="11" name="箭头: 右 10">
            <a:extLst>
              <a:ext uri="{FF2B5EF4-FFF2-40B4-BE49-F238E27FC236}">
                <a16:creationId xmlns:a16="http://schemas.microsoft.com/office/drawing/2014/main" id="{F639D786-B85C-DA03-C060-BD0C73F7FB1A}"/>
              </a:ext>
            </a:extLst>
          </p:cNvPr>
          <p:cNvSpPr/>
          <p:nvPr/>
        </p:nvSpPr>
        <p:spPr>
          <a:xfrm>
            <a:off x="2392707" y="5510962"/>
            <a:ext cx="2988248" cy="346992"/>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zh-CN" sz="1200" dirty="0">
                <a:solidFill>
                  <a:schemeClr val="bg1"/>
                </a:solidFill>
                <a:latin typeface="Consolas" panose="020B0609020204030204" pitchFamily="49" charset="0"/>
                <a:ea typeface="JetBrains Mono"/>
              </a:rPr>
              <a:t>writeObject</a:t>
            </a:r>
            <a:endParaRPr lang="zh-CN" altLang="en-US" sz="1200" dirty="0">
              <a:solidFill>
                <a:schemeClr val="bg1"/>
              </a:solidFill>
              <a:latin typeface="Consolas" panose="020B0609020204030204" pitchFamily="49" charset="0"/>
            </a:endParaRPr>
          </a:p>
        </p:txBody>
      </p:sp>
      <p:sp>
        <p:nvSpPr>
          <p:cNvPr id="13" name="文本框 12">
            <a:extLst>
              <a:ext uri="{FF2B5EF4-FFF2-40B4-BE49-F238E27FC236}">
                <a16:creationId xmlns:a16="http://schemas.microsoft.com/office/drawing/2014/main" id="{3FB7858B-E00E-960E-0FB1-1A3D82DA6BBB}"/>
              </a:ext>
            </a:extLst>
          </p:cNvPr>
          <p:cNvSpPr txBox="1"/>
          <p:nvPr/>
        </p:nvSpPr>
        <p:spPr>
          <a:xfrm>
            <a:off x="5580112" y="5199337"/>
            <a:ext cx="3657167" cy="623248"/>
          </a:xfrm>
          <a:prstGeom prst="rect">
            <a:avLst/>
          </a:prstGeom>
          <a:noFill/>
          <a:ln>
            <a:noFill/>
          </a:ln>
        </p:spPr>
        <p:txBody>
          <a:bodyPr wrap="square" rtlCol="0">
            <a:spAutoFit/>
          </a:bodyPr>
          <a:lstStyle/>
          <a:p>
            <a:pPr algn="l"/>
            <a:r>
              <a:rPr lang="zh-CN" altLang="en-US" sz="1200" dirty="0">
                <a:solidFill>
                  <a:schemeClr val="tx1">
                    <a:lumMod val="85000"/>
                    <a:lumOff val="15000"/>
                  </a:schemeClr>
                </a:solidFill>
                <a:latin typeface="Consolas" panose="020B0609020204030204" pitchFamily="49" charset="0"/>
                <a:ea typeface="杨任东竹石体-Bold" panose="02000000000000000000" pitchFamily="2" charset="-122"/>
              </a:rPr>
              <a:t>张三</a:t>
            </a:r>
            <a:r>
              <a:rPr lang="en-US" altLang="zh-CN" sz="1200" dirty="0">
                <a:solidFill>
                  <a:schemeClr val="tx1">
                    <a:lumMod val="85000"/>
                    <a:lumOff val="15000"/>
                  </a:schemeClr>
                </a:solidFill>
                <a:latin typeface="Consolas" panose="020B0609020204030204" pitchFamily="49" charset="0"/>
                <a:ea typeface="杨任东竹石体-Bold" panose="02000000000000000000" pitchFamily="2" charset="-122"/>
              </a:rPr>
              <a:t>,23</a:t>
            </a:r>
          </a:p>
          <a:p>
            <a:pPr algn="l"/>
            <a:endParaRPr lang="en-US" altLang="zh-CN" sz="1200" dirty="0">
              <a:solidFill>
                <a:schemeClr val="tx1">
                  <a:lumMod val="85000"/>
                  <a:lumOff val="15000"/>
                </a:schemeClr>
              </a:solidFill>
              <a:latin typeface="Consolas" panose="020B0609020204030204" pitchFamily="49" charset="0"/>
              <a:ea typeface="杨任东竹石体-Bold" panose="02000000000000000000" pitchFamily="2" charset="-122"/>
            </a:endParaRPr>
          </a:p>
          <a:p>
            <a:r>
              <a:rPr lang="zh-CN" altLang="zh-CN" sz="1050" dirty="0">
                <a:solidFill>
                  <a:srgbClr val="871094"/>
                </a:solidFill>
                <a:latin typeface="Consolas" panose="020B0609020204030204" pitchFamily="49" charset="0"/>
                <a:ea typeface="JetBrains Mono"/>
              </a:rPr>
              <a:t>serialVersionUID</a:t>
            </a:r>
            <a:r>
              <a:rPr lang="en-US" altLang="zh-CN" sz="1050" dirty="0">
                <a:solidFill>
                  <a:srgbClr val="871094"/>
                </a:solidFill>
                <a:latin typeface="Consolas" panose="020B0609020204030204" pitchFamily="49" charset="0"/>
                <a:ea typeface="JetBrains Mono"/>
              </a:rPr>
              <a:t> = </a:t>
            </a:r>
            <a:r>
              <a:rPr lang="zh-CN" altLang="zh-CN" sz="1050" dirty="0">
                <a:solidFill>
                  <a:srgbClr val="1750EB"/>
                </a:solidFill>
                <a:latin typeface="Consolas" panose="020B0609020204030204" pitchFamily="49" charset="0"/>
                <a:ea typeface="JetBrains Mono"/>
              </a:rPr>
              <a:t>6849794470754667710L</a:t>
            </a:r>
            <a:endParaRPr lang="zh-CN" altLang="zh-CN" dirty="0">
              <a:latin typeface="Consolas" panose="020B0609020204030204" pitchFamily="49" charset="0"/>
            </a:endParaRPr>
          </a:p>
        </p:txBody>
      </p:sp>
      <p:sp>
        <p:nvSpPr>
          <p:cNvPr id="16" name="文本框 15">
            <a:extLst>
              <a:ext uri="{FF2B5EF4-FFF2-40B4-BE49-F238E27FC236}">
                <a16:creationId xmlns:a16="http://schemas.microsoft.com/office/drawing/2014/main" id="{10B8B006-D2B9-06D3-2F0C-F7AC13C8BE29}"/>
              </a:ext>
            </a:extLst>
          </p:cNvPr>
          <p:cNvSpPr txBox="1"/>
          <p:nvPr/>
        </p:nvSpPr>
        <p:spPr>
          <a:xfrm>
            <a:off x="5580112" y="4737672"/>
            <a:ext cx="1419432" cy="461665"/>
          </a:xfrm>
          <a:prstGeom prst="rect">
            <a:avLst/>
          </a:prstGeom>
          <a:noFill/>
          <a:ln>
            <a:noFill/>
          </a:ln>
        </p:spPr>
        <p:txBody>
          <a:bodyPr wrap="square" rtlCol="0">
            <a:spAutoFit/>
          </a:bodyPr>
          <a:lstStyle/>
          <a:p>
            <a:r>
              <a:rPr lang="en-US" altLang="zh-CN" sz="1200" dirty="0">
                <a:latin typeface="Consolas" panose="020B0609020204030204" pitchFamily="49" charset="0"/>
              </a:rPr>
              <a:t>D:\A.txt</a:t>
            </a:r>
          </a:p>
          <a:p>
            <a:pPr algn="l"/>
            <a:endParaRPr lang="zh-CN" altLang="en-US" sz="1200" dirty="0">
              <a:solidFill>
                <a:schemeClr val="tx1">
                  <a:lumMod val="85000"/>
                  <a:lumOff val="15000"/>
                </a:schemeClr>
              </a:solidFill>
              <a:latin typeface="Consolas" panose="020B0609020204030204" pitchFamily="49" charset="0"/>
              <a:ea typeface="杨任东竹石体-Bold" panose="02000000000000000000" pitchFamily="2" charset="-122"/>
            </a:endParaRPr>
          </a:p>
        </p:txBody>
      </p:sp>
      <p:sp>
        <p:nvSpPr>
          <p:cNvPr id="18" name="箭头: 左 17">
            <a:extLst>
              <a:ext uri="{FF2B5EF4-FFF2-40B4-BE49-F238E27FC236}">
                <a16:creationId xmlns:a16="http://schemas.microsoft.com/office/drawing/2014/main" id="{8316F285-D9DA-9FB2-8FEB-48CC2E35911C}"/>
              </a:ext>
            </a:extLst>
          </p:cNvPr>
          <p:cNvSpPr/>
          <p:nvPr/>
        </p:nvSpPr>
        <p:spPr>
          <a:xfrm>
            <a:off x="2341949" y="5046022"/>
            <a:ext cx="2988248" cy="346992"/>
          </a:xfrm>
          <a:prstGeom prst="leftArrow">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dirty="0" err="1">
                <a:latin typeface="Consolas" panose="020B0609020204030204" pitchFamily="49" charset="0"/>
              </a:rPr>
              <a:t>readObject</a:t>
            </a:r>
            <a:endParaRPr lang="zh-CN" altLang="en-US" dirty="0">
              <a:latin typeface="Consolas" panose="020B0609020204030204" pitchFamily="49" charset="0"/>
            </a:endParaRPr>
          </a:p>
        </p:txBody>
      </p:sp>
      <p:sp>
        <p:nvSpPr>
          <p:cNvPr id="20" name="矩形: 圆角 19">
            <a:extLst>
              <a:ext uri="{FF2B5EF4-FFF2-40B4-BE49-F238E27FC236}">
                <a16:creationId xmlns:a16="http://schemas.microsoft.com/office/drawing/2014/main" id="{2EA1998A-EB27-D050-CEFF-53EDA335C187}"/>
              </a:ext>
            </a:extLst>
          </p:cNvPr>
          <p:cNvSpPr/>
          <p:nvPr/>
        </p:nvSpPr>
        <p:spPr>
          <a:xfrm>
            <a:off x="5037321" y="2345932"/>
            <a:ext cx="3771900" cy="590122"/>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zh-CN" sz="1350" dirty="0">
                <a:solidFill>
                  <a:srgbClr val="871094"/>
                </a:solidFill>
                <a:latin typeface="Consolas" panose="020B0609020204030204" pitchFamily="49" charset="0"/>
                <a:ea typeface="JetBrains Mono"/>
              </a:rPr>
              <a:t>serialVersionUID</a:t>
            </a:r>
            <a:r>
              <a:rPr lang="en-US" altLang="zh-CN" sz="1350" dirty="0">
                <a:solidFill>
                  <a:srgbClr val="871094"/>
                </a:solidFill>
                <a:latin typeface="Consolas" panose="020B0609020204030204" pitchFamily="49" charset="0"/>
                <a:ea typeface="JetBrains Mono"/>
              </a:rPr>
              <a:t> </a:t>
            </a:r>
          </a:p>
          <a:p>
            <a:pPr algn="ctr"/>
            <a:r>
              <a:rPr lang="zh-CN" altLang="zh-CN" sz="1350" dirty="0">
                <a:solidFill>
                  <a:srgbClr val="1750EB"/>
                </a:solidFill>
                <a:latin typeface="Consolas" panose="020B0609020204030204" pitchFamily="49" charset="0"/>
                <a:ea typeface="JetBrains Mono"/>
              </a:rPr>
              <a:t>6849794470754667710L</a:t>
            </a:r>
            <a:endParaRPr lang="zh-CN" altLang="en-US" sz="1350" dirty="0">
              <a:solidFill>
                <a:srgbClr val="1750EB"/>
              </a:solidFill>
              <a:latin typeface="Consolas" panose="020B0609020204030204" pitchFamily="49" charset="0"/>
              <a:ea typeface="JetBrains Mono"/>
            </a:endParaRPr>
          </a:p>
        </p:txBody>
      </p:sp>
      <p:sp>
        <p:nvSpPr>
          <p:cNvPr id="21" name="TextBox 6">
            <a:extLst>
              <a:ext uri="{FF2B5EF4-FFF2-40B4-BE49-F238E27FC236}">
                <a16:creationId xmlns:a16="http://schemas.microsoft.com/office/drawing/2014/main" id="{D4667BC4-030E-93C4-D765-323C9160281C}"/>
              </a:ext>
            </a:extLst>
          </p:cNvPr>
          <p:cNvSpPr txBox="1"/>
          <p:nvPr/>
        </p:nvSpPr>
        <p:spPr>
          <a:xfrm>
            <a:off x="733833" y="3188009"/>
            <a:ext cx="4187011" cy="1200329"/>
          </a:xfrm>
          <a:prstGeom prst="rect">
            <a:avLst/>
          </a:prstGeom>
          <a:solidFill>
            <a:srgbClr val="FFFFE4"/>
          </a:solidFill>
          <a:ln>
            <a:solidFill>
              <a:schemeClr val="tx1">
                <a:lumMod val="95000"/>
                <a:lumOff val="5000"/>
              </a:schemeClr>
            </a:solid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0" hangingPunct="0"/>
            <a:r>
              <a:rPr lang="zh-CN" altLang="zh-CN" sz="1200" dirty="0">
                <a:solidFill>
                  <a:srgbClr val="0033B3"/>
                </a:solidFill>
                <a:latin typeface="Consolas" panose="020B0609020204030204" pitchFamily="49" charset="0"/>
                <a:ea typeface="JetBrains Mono"/>
              </a:rPr>
              <a:t>public class </a:t>
            </a:r>
            <a:r>
              <a:rPr lang="zh-CN" altLang="zh-CN" sz="1200" dirty="0">
                <a:solidFill>
                  <a:srgbClr val="000000"/>
                </a:solidFill>
                <a:latin typeface="Consolas" panose="020B0609020204030204" pitchFamily="49" charset="0"/>
                <a:ea typeface="JetBrains Mono"/>
              </a:rPr>
              <a:t>Student </a:t>
            </a:r>
            <a:r>
              <a:rPr lang="zh-CN" altLang="zh-CN" sz="1200" dirty="0">
                <a:solidFill>
                  <a:srgbClr val="0033B3"/>
                </a:solidFill>
                <a:latin typeface="Consolas" panose="020B0609020204030204" pitchFamily="49" charset="0"/>
                <a:ea typeface="JetBrains Mono"/>
              </a:rPr>
              <a:t>implements </a:t>
            </a:r>
            <a:r>
              <a:rPr lang="zh-CN" altLang="zh-CN" sz="1200" dirty="0">
                <a:solidFill>
                  <a:srgbClr val="000000"/>
                </a:solidFill>
                <a:latin typeface="Consolas" panose="020B0609020204030204" pitchFamily="49" charset="0"/>
                <a:ea typeface="JetBrains Mono"/>
              </a:rPr>
              <a:t>Serializable </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200" dirty="0">
                <a:solidFill>
                  <a:srgbClr val="080808"/>
                </a:solidFill>
                <a:latin typeface="Consolas" panose="020B0609020204030204" pitchFamily="49" charset="0"/>
                <a:ea typeface="JetBrains Mono"/>
              </a:rPr>
              <a:t>  </a:t>
            </a:r>
            <a:r>
              <a:rPr lang="zh-CN" altLang="zh-CN" sz="1200" dirty="0">
                <a:solidFill>
                  <a:srgbClr val="0033B3"/>
                </a:solidFill>
                <a:latin typeface="Consolas" panose="020B0609020204030204" pitchFamily="49" charset="0"/>
                <a:ea typeface="JetBrains Mono"/>
              </a:rPr>
              <a:t>private </a:t>
            </a:r>
            <a:r>
              <a:rPr lang="zh-CN" altLang="zh-CN" sz="1200" dirty="0">
                <a:solidFill>
                  <a:srgbClr val="000000"/>
                </a:solidFill>
                <a:latin typeface="Consolas" panose="020B0609020204030204" pitchFamily="49" charset="0"/>
                <a:ea typeface="JetBrains Mono"/>
              </a:rPr>
              <a:t>String </a:t>
            </a:r>
            <a:r>
              <a:rPr lang="zh-CN" altLang="zh-CN" sz="1200" dirty="0">
                <a:solidFill>
                  <a:srgbClr val="871094"/>
                </a:solidFill>
                <a:latin typeface="Consolas" panose="020B0609020204030204" pitchFamily="49" charset="0"/>
                <a:ea typeface="JetBrains Mono"/>
              </a:rPr>
              <a:t>name</a:t>
            </a:r>
            <a:r>
              <a:rPr lang="zh-CN" altLang="zh-CN" sz="1200" dirty="0">
                <a:solidFill>
                  <a:srgbClr val="080808"/>
                </a:solidFill>
                <a:latin typeface="Consolas" panose="020B0609020204030204" pitchFamily="49" charset="0"/>
                <a:ea typeface="JetBrains Mono"/>
              </a:rPr>
              <a:t>;</a:t>
            </a:r>
            <a:br>
              <a:rPr lang="zh-CN" altLang="zh-CN" sz="1200" dirty="0">
                <a:solidFill>
                  <a:srgbClr val="080808"/>
                </a:solidFill>
                <a:latin typeface="Consolas" panose="020B0609020204030204" pitchFamily="49" charset="0"/>
                <a:ea typeface="JetBrains Mono"/>
              </a:rPr>
            </a:br>
            <a:r>
              <a:rPr lang="en-US" altLang="zh-CN" sz="1200" dirty="0">
                <a:solidFill>
                  <a:srgbClr val="080808"/>
                </a:solidFill>
                <a:latin typeface="Consolas" panose="020B0609020204030204" pitchFamily="49" charset="0"/>
                <a:ea typeface="JetBrains Mono"/>
              </a:rPr>
              <a:t>  </a:t>
            </a:r>
            <a:r>
              <a:rPr lang="zh-CN" altLang="zh-CN" sz="1200" dirty="0">
                <a:solidFill>
                  <a:srgbClr val="0033B3"/>
                </a:solidFill>
                <a:latin typeface="Consolas" panose="020B0609020204030204" pitchFamily="49" charset="0"/>
                <a:ea typeface="JetBrains Mono"/>
              </a:rPr>
              <a:t>private int </a:t>
            </a:r>
            <a:r>
              <a:rPr lang="zh-CN" altLang="zh-CN" sz="1200" dirty="0">
                <a:solidFill>
                  <a:srgbClr val="871094"/>
                </a:solidFill>
                <a:latin typeface="Consolas" panose="020B0609020204030204" pitchFamily="49" charset="0"/>
                <a:ea typeface="JetBrains Mono"/>
              </a:rPr>
              <a:t>age</a:t>
            </a:r>
            <a:r>
              <a:rPr lang="zh-CN" altLang="zh-CN" sz="1200" dirty="0">
                <a:solidFill>
                  <a:srgbClr val="080808"/>
                </a:solidFill>
                <a:latin typeface="Consolas" panose="020B0609020204030204" pitchFamily="49" charset="0"/>
                <a:ea typeface="JetBrains Mono"/>
              </a:rPr>
              <a:t>;</a:t>
            </a:r>
            <a:endParaRPr lang="en-US" altLang="zh-CN" sz="12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200" dirty="0">
                <a:solidFill>
                  <a:srgbClr val="080808"/>
                </a:solidFill>
                <a:latin typeface="Consolas" panose="020B0609020204030204" pitchFamily="49" charset="0"/>
                <a:ea typeface="JetBrains Mono"/>
              </a:rPr>
              <a:t>  String address;</a:t>
            </a:r>
          </a:p>
          <a:p>
            <a:pPr eaLnBrk="0" fontAlgn="base" hangingPunct="0">
              <a:spcBef>
                <a:spcPct val="0"/>
              </a:spcBef>
              <a:spcAft>
                <a:spcPct val="0"/>
              </a:spcAft>
            </a:pPr>
            <a:r>
              <a:rPr lang="en-US" altLang="zh-CN" sz="1200" dirty="0">
                <a:solidFill>
                  <a:srgbClr val="080808"/>
                </a:solidFill>
                <a:latin typeface="Consolas" panose="020B0609020204030204" pitchFamily="49" charset="0"/>
                <a:ea typeface="JetBrains Mono"/>
              </a:rPr>
              <a:t>  ...</a:t>
            </a:r>
          </a:p>
          <a:p>
            <a:pPr defTabSz="685800" eaLnBrk="0" hangingPunct="0"/>
            <a:r>
              <a:rPr lang="en-US" altLang="zh-CN" sz="1200" dirty="0">
                <a:solidFill>
                  <a:srgbClr val="080808"/>
                </a:solidFill>
                <a:latin typeface="Consolas" panose="020B0609020204030204" pitchFamily="49" charset="0"/>
                <a:ea typeface="JetBrains Mono"/>
              </a:rPr>
              <a:t>} </a:t>
            </a:r>
            <a:endParaRPr lang="zh-CN" altLang="zh-CN" sz="1200" dirty="0">
              <a:latin typeface="Consolas" panose="020B0609020204030204" pitchFamily="49" charset="0"/>
            </a:endParaRPr>
          </a:p>
        </p:txBody>
      </p:sp>
      <p:sp>
        <p:nvSpPr>
          <p:cNvPr id="22" name="矩形: 圆角 21">
            <a:extLst>
              <a:ext uri="{FF2B5EF4-FFF2-40B4-BE49-F238E27FC236}">
                <a16:creationId xmlns:a16="http://schemas.microsoft.com/office/drawing/2014/main" id="{EA280896-0EA6-5615-77F7-0AFD227834F0}"/>
              </a:ext>
            </a:extLst>
          </p:cNvPr>
          <p:cNvSpPr/>
          <p:nvPr/>
        </p:nvSpPr>
        <p:spPr>
          <a:xfrm>
            <a:off x="5037321" y="3190302"/>
            <a:ext cx="3771900" cy="590122"/>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zh-CN" sz="1350" dirty="0">
                <a:solidFill>
                  <a:srgbClr val="871094"/>
                </a:solidFill>
                <a:latin typeface="Consolas" panose="020B0609020204030204" pitchFamily="49" charset="0"/>
                <a:ea typeface="JetBrains Mono"/>
              </a:rPr>
              <a:t>serialVersionUID</a:t>
            </a:r>
            <a:r>
              <a:rPr lang="en-US" altLang="zh-CN" sz="1350" dirty="0">
                <a:solidFill>
                  <a:srgbClr val="871094"/>
                </a:solidFill>
                <a:latin typeface="Consolas" panose="020B0609020204030204" pitchFamily="49" charset="0"/>
                <a:ea typeface="JetBrains Mono"/>
              </a:rPr>
              <a:t> </a:t>
            </a:r>
          </a:p>
          <a:p>
            <a:pPr lvl="0" algn="ctr" eaLnBrk="0" fontAlgn="base" hangingPunct="0">
              <a:spcBef>
                <a:spcPct val="0"/>
              </a:spcBef>
              <a:spcAft>
                <a:spcPct val="0"/>
              </a:spcAft>
            </a:pPr>
            <a:r>
              <a:rPr lang="zh-CN" altLang="zh-CN" dirty="0">
                <a:solidFill>
                  <a:srgbClr val="1750EB"/>
                </a:solidFill>
                <a:latin typeface="Consolas" panose="020B0609020204030204" pitchFamily="49" charset="0"/>
                <a:ea typeface="JetBrains Mono"/>
              </a:rPr>
              <a:t>8683452581122892189L</a:t>
            </a:r>
            <a:endParaRPr lang="zh-CN" altLang="zh-CN" sz="2400" dirty="0">
              <a:solidFill>
                <a:schemeClr val="tx1"/>
              </a:solidFill>
              <a:latin typeface="Consolas" panose="020B0609020204030204" pitchFamily="49" charset="0"/>
            </a:endParaRPr>
          </a:p>
        </p:txBody>
      </p:sp>
      <p:sp>
        <p:nvSpPr>
          <p:cNvPr id="14" name="标题 1">
            <a:extLst>
              <a:ext uri="{FF2B5EF4-FFF2-40B4-BE49-F238E27FC236}">
                <a16:creationId xmlns:a16="http://schemas.microsoft.com/office/drawing/2014/main" id="{DCA4624F-3C04-4ECF-B370-BCBDDE2D6EA6}"/>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sz="3200"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kern="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kern="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kern="0" dirty="0">
              <a:ea typeface="宋体" panose="02010600030101010101" pitchFamily="2" charset="-122"/>
              <a:cs typeface="Times New Roman" panose="02020603050405020304" pitchFamily="18" charset="0"/>
            </a:endParaRPr>
          </a:p>
        </p:txBody>
      </p:sp>
      <p:cxnSp>
        <p:nvCxnSpPr>
          <p:cNvPr id="15" name="直接连接符 14">
            <a:extLst>
              <a:ext uri="{FF2B5EF4-FFF2-40B4-BE49-F238E27FC236}">
                <a16:creationId xmlns:a16="http://schemas.microsoft.com/office/drawing/2014/main" id="{EA5B49F1-FEBD-4911-9950-B96727E53845}"/>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流程图: 磁盘 18">
            <a:extLst>
              <a:ext uri="{FF2B5EF4-FFF2-40B4-BE49-F238E27FC236}">
                <a16:creationId xmlns:a16="http://schemas.microsoft.com/office/drawing/2014/main" id="{D587A2A0-5EA9-46A4-9B2F-9201A1C993F6}"/>
              </a:ext>
            </a:extLst>
          </p:cNvPr>
          <p:cNvSpPr/>
          <p:nvPr/>
        </p:nvSpPr>
        <p:spPr>
          <a:xfrm>
            <a:off x="544982" y="4870022"/>
            <a:ext cx="1742569" cy="1079928"/>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Tree>
    <p:extLst>
      <p:ext uri="{BB962C8B-B14F-4D97-AF65-F5344CB8AC3E}">
        <p14:creationId xmlns:p14="http://schemas.microsoft.com/office/powerpoint/2010/main" val="25706309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p:tgtEl>
                                          <p:spTgt spid="20"/>
                                        </p:tgtEl>
                                        <p:attrNameLst>
                                          <p:attrName>ppt_x</p:attrName>
                                        </p:attrNameLst>
                                      </p:cBhvr>
                                      <p:tavLst>
                                        <p:tav tm="0">
                                          <p:val>
                                            <p:strVal val="#ppt_x-#ppt_w*1.125000"/>
                                          </p:val>
                                        </p:tav>
                                        <p:tav tm="100000">
                                          <p:val>
                                            <p:strVal val="#ppt_x"/>
                                          </p:val>
                                        </p:tav>
                                      </p:tavLst>
                                    </p:anim>
                                    <p:animEffect transition="in" filter="wipe(right)">
                                      <p:cBhvr>
                                        <p:cTn id="13" dur="5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barn(outHorizontal)">
                                      <p:cBhvr>
                                        <p:cTn id="31" dur="500"/>
                                        <p:tgtEl>
                                          <p:spTgt spid="13">
                                            <p:txEl>
                                              <p:pRg st="0" end="0"/>
                                            </p:txEl>
                                          </p:spTgt>
                                        </p:tgtEl>
                                      </p:cBhvr>
                                    </p:animEffect>
                                  </p:childTnLst>
                                </p:cTn>
                              </p:par>
                              <p:par>
                                <p:cTn id="32" presetID="16" presetClass="entr" presetSubtype="42" fill="hold" nodeType="withEffect">
                                  <p:stCondLst>
                                    <p:cond delay="0"/>
                                  </p:stCondLst>
                                  <p:childTnLst>
                                    <p:set>
                                      <p:cBhvr>
                                        <p:cTn id="33" dur="1" fill="hold">
                                          <p:stCondLst>
                                            <p:cond delay="0"/>
                                          </p:stCondLst>
                                        </p:cTn>
                                        <p:tgtEl>
                                          <p:spTgt spid="13">
                                            <p:txEl>
                                              <p:pRg st="2" end="2"/>
                                            </p:txEl>
                                          </p:spTgt>
                                        </p:tgtEl>
                                        <p:attrNameLst>
                                          <p:attrName>style.visibility</p:attrName>
                                        </p:attrNameLst>
                                      </p:cBhvr>
                                      <p:to>
                                        <p:strVal val="visible"/>
                                      </p:to>
                                    </p:set>
                                    <p:animEffect transition="in" filter="barn(outHorizontal)">
                                      <p:cBhvr>
                                        <p:cTn id="34" dur="500"/>
                                        <p:tgtEl>
                                          <p:spTgt spid="1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right)">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additive="base">
                                        <p:cTn id="44" dur="500"/>
                                        <p:tgtEl>
                                          <p:spTgt spid="21"/>
                                        </p:tgtEl>
                                        <p:attrNameLst>
                                          <p:attrName>ppt_y</p:attrName>
                                        </p:attrNameLst>
                                      </p:cBhvr>
                                      <p:tavLst>
                                        <p:tav tm="0">
                                          <p:val>
                                            <p:strVal val="#ppt_y-#ppt_h*1.125000"/>
                                          </p:val>
                                        </p:tav>
                                        <p:tav tm="100000">
                                          <p:val>
                                            <p:strVal val="#ppt_y"/>
                                          </p:val>
                                        </p:tav>
                                      </p:tavLst>
                                    </p:anim>
                                    <p:animEffect transition="in" filter="wipe(down)">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 calcmode="lin" valueType="num">
                                      <p:cBhvr additive="base">
                                        <p:cTn id="50" dur="500"/>
                                        <p:tgtEl>
                                          <p:spTgt spid="22"/>
                                        </p:tgtEl>
                                        <p:attrNameLst>
                                          <p:attrName>ppt_x</p:attrName>
                                        </p:attrNameLst>
                                      </p:cBhvr>
                                      <p:tavLst>
                                        <p:tav tm="0">
                                          <p:val>
                                            <p:strVal val="#ppt_x-#ppt_w*1.125000"/>
                                          </p:val>
                                        </p:tav>
                                        <p:tav tm="100000">
                                          <p:val>
                                            <p:strVal val="#ppt_x"/>
                                          </p:val>
                                        </p:tav>
                                      </p:tavLst>
                                    </p:anim>
                                    <p:animEffect transition="in" filter="wipe(right)">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27" presetClass="emph" presetSubtype="0" repeatCount="3000" fill="remove" grpId="1" nodeType="clickEffect">
                                  <p:stCondLst>
                                    <p:cond delay="0"/>
                                  </p:stCondLst>
                                  <p:childTnLst>
                                    <p:animClr clrSpc="rgb" dir="cw">
                                      <p:cBhvr override="childStyle">
                                        <p:cTn id="55" dur="250" autoRev="1" fill="remove"/>
                                        <p:tgtEl>
                                          <p:spTgt spid="18"/>
                                        </p:tgtEl>
                                        <p:attrNameLst>
                                          <p:attrName>style.color</p:attrName>
                                        </p:attrNameLst>
                                      </p:cBhvr>
                                      <p:to>
                                        <a:schemeClr val="accent2"/>
                                      </p:to>
                                    </p:animClr>
                                    <p:animClr clrSpc="rgb" dir="cw">
                                      <p:cBhvr>
                                        <p:cTn id="56" dur="250" autoRev="1" fill="remove"/>
                                        <p:tgtEl>
                                          <p:spTgt spid="18"/>
                                        </p:tgtEl>
                                        <p:attrNameLst>
                                          <p:attrName>fillcolor</p:attrName>
                                        </p:attrNameLst>
                                      </p:cBhvr>
                                      <p:to>
                                        <a:schemeClr val="accent2"/>
                                      </p:to>
                                    </p:animClr>
                                    <p:set>
                                      <p:cBhvr>
                                        <p:cTn id="57" dur="250" autoRev="1" fill="remove"/>
                                        <p:tgtEl>
                                          <p:spTgt spid="18"/>
                                        </p:tgtEl>
                                        <p:attrNameLst>
                                          <p:attrName>fill.type</p:attrName>
                                        </p:attrNameLst>
                                      </p:cBhvr>
                                      <p:to>
                                        <p:strVal val="solid"/>
                                      </p:to>
                                    </p:set>
                                    <p:set>
                                      <p:cBhvr>
                                        <p:cTn id="58" dur="250" autoRev="1" fill="remove"/>
                                        <p:tgtEl>
                                          <p:spTgt spid="18"/>
                                        </p:tgtEl>
                                        <p:attrNameLst>
                                          <p:attrName>fill.on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6" presetClass="exit" presetSubtype="21" fill="hold" grpId="1" nodeType="clickEffect">
                                  <p:stCondLst>
                                    <p:cond delay="0"/>
                                  </p:stCondLst>
                                  <p:childTnLst>
                                    <p:animEffect transition="out" filter="barn(inVertical)">
                                      <p:cBhvr>
                                        <p:cTn id="62" dur="500"/>
                                        <p:tgtEl>
                                          <p:spTgt spid="20"/>
                                        </p:tgtEl>
                                      </p:cBhvr>
                                    </p:animEffect>
                                    <p:set>
                                      <p:cBhvr>
                                        <p:cTn id="63" dur="1" fill="hold">
                                          <p:stCondLst>
                                            <p:cond delay="499"/>
                                          </p:stCondLst>
                                        </p:cTn>
                                        <p:tgtEl>
                                          <p:spTgt spid="20"/>
                                        </p:tgtEl>
                                        <p:attrNameLst>
                                          <p:attrName>style.visibility</p:attrName>
                                        </p:attrNameLst>
                                      </p:cBhvr>
                                      <p:to>
                                        <p:strVal val="hidden"/>
                                      </p:to>
                                    </p:set>
                                  </p:childTnLst>
                                </p:cTn>
                              </p:par>
                              <p:par>
                                <p:cTn id="64" presetID="16" presetClass="exit" presetSubtype="21" fill="hold" grpId="1" nodeType="withEffect">
                                  <p:stCondLst>
                                    <p:cond delay="0"/>
                                  </p:stCondLst>
                                  <p:childTnLst>
                                    <p:animEffect transition="out" filter="barn(inVertical)">
                                      <p:cBhvr>
                                        <p:cTn id="65" dur="500"/>
                                        <p:tgtEl>
                                          <p:spTgt spid="22"/>
                                        </p:tgtEl>
                                      </p:cBhvr>
                                    </p:animEffect>
                                    <p:set>
                                      <p:cBhvr>
                                        <p:cTn id="66" dur="1" fill="hold">
                                          <p:stCondLst>
                                            <p:cond delay="499"/>
                                          </p:stCondLst>
                                        </p:cTn>
                                        <p:tgtEl>
                                          <p:spTgt spid="22"/>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1" grpId="0" animBg="1"/>
      <p:bldP spid="16" grpId="0"/>
      <p:bldP spid="18" grpId="0" animBg="1"/>
      <p:bldP spid="18" grpId="1" animBg="1"/>
      <p:bldP spid="20" grpId="0" animBg="1"/>
      <p:bldP spid="20" grpId="1" animBg="1"/>
      <p:bldP spid="21" grpId="0" animBg="1"/>
      <p:bldP spid="22" grpId="0" animBg="1"/>
      <p:bldP spid="22" grpId="1" animBg="1"/>
      <p:bldP spid="19"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AF25EE5F-8A57-E645-0344-9458AE3E8B57}"/>
              </a:ext>
            </a:extLst>
          </p:cNvPr>
          <p:cNvSpPr txBox="1"/>
          <p:nvPr/>
        </p:nvSpPr>
        <p:spPr>
          <a:xfrm>
            <a:off x="683568" y="1371185"/>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序列化流的操作流程</a:t>
            </a:r>
          </a:p>
        </p:txBody>
      </p:sp>
      <p:sp>
        <p:nvSpPr>
          <p:cNvPr id="3" name="TextBox 6">
            <a:extLst>
              <a:ext uri="{FF2B5EF4-FFF2-40B4-BE49-F238E27FC236}">
                <a16:creationId xmlns:a16="http://schemas.microsoft.com/office/drawing/2014/main" id="{509B2215-6F41-BD33-6E8A-DA5A07A924B7}"/>
              </a:ext>
            </a:extLst>
          </p:cNvPr>
          <p:cNvSpPr txBox="1"/>
          <p:nvPr/>
        </p:nvSpPr>
        <p:spPr>
          <a:xfrm>
            <a:off x="755576" y="2289356"/>
            <a:ext cx="5404554" cy="1384995"/>
          </a:xfrm>
          <a:prstGeom prst="rect">
            <a:avLst/>
          </a:prstGeom>
          <a:solidFill>
            <a:srgbClr val="FFFFE4"/>
          </a:solidFill>
          <a:ln>
            <a:solidFill>
              <a:schemeClr val="tx1">
                <a:lumMod val="95000"/>
                <a:lumOff val="5000"/>
              </a:schemeClr>
            </a:solid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0" hangingPunct="0"/>
            <a:r>
              <a:rPr lang="zh-CN" altLang="zh-CN" sz="1400" dirty="0">
                <a:solidFill>
                  <a:srgbClr val="0033B3"/>
                </a:solidFill>
                <a:latin typeface="Consolas" panose="020B0609020204030204" pitchFamily="49" charset="0"/>
                <a:ea typeface="JetBrains Mono"/>
              </a:rPr>
              <a:t>public class </a:t>
            </a:r>
            <a:r>
              <a:rPr lang="zh-CN" altLang="zh-CN" sz="1400" dirty="0">
                <a:solidFill>
                  <a:srgbClr val="000000"/>
                </a:solidFill>
                <a:latin typeface="Consolas" panose="020B0609020204030204" pitchFamily="49" charset="0"/>
                <a:ea typeface="JetBrains Mono"/>
              </a:rPr>
              <a:t>Student </a:t>
            </a:r>
            <a:r>
              <a:rPr lang="zh-CN" altLang="zh-CN" sz="1400" dirty="0">
                <a:solidFill>
                  <a:srgbClr val="0033B3"/>
                </a:solidFill>
                <a:latin typeface="Consolas" panose="020B0609020204030204" pitchFamily="49" charset="0"/>
                <a:ea typeface="JetBrains Mono"/>
              </a:rPr>
              <a:t>implements </a:t>
            </a:r>
            <a:r>
              <a:rPr lang="zh-CN" altLang="zh-CN" sz="1400" dirty="0">
                <a:solidFill>
                  <a:srgbClr val="000000"/>
                </a:solidFill>
                <a:latin typeface="Consolas" panose="020B0609020204030204" pitchFamily="49" charset="0"/>
                <a:ea typeface="JetBrains Mono"/>
              </a:rPr>
              <a:t>Serializable </a:t>
            </a:r>
            <a:r>
              <a:rPr lang="zh-CN" altLang="zh-CN" sz="1400" dirty="0">
                <a:solidFill>
                  <a:srgbClr val="080808"/>
                </a:solidFill>
                <a:latin typeface="Consolas" panose="020B0609020204030204" pitchFamily="49" charset="0"/>
                <a:ea typeface="JetBrains Mono"/>
              </a:rPr>
              <a:t>{</a:t>
            </a:r>
            <a:endParaRPr lang="en-US" altLang="zh-CN" sz="14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400" dirty="0">
                <a:solidFill>
                  <a:srgbClr val="080808"/>
                </a:solidFill>
                <a:latin typeface="Consolas" panose="020B0609020204030204" pitchFamily="49" charset="0"/>
                <a:ea typeface="JetBrains Mono"/>
              </a:rPr>
              <a:t>  </a:t>
            </a:r>
            <a:r>
              <a:rPr lang="zh-CN" altLang="zh-CN" sz="1400" dirty="0">
                <a:solidFill>
                  <a:srgbClr val="0033B3"/>
                </a:solidFill>
                <a:latin typeface="Consolas" panose="020B0609020204030204" pitchFamily="49" charset="0"/>
                <a:ea typeface="JetBrains Mono"/>
              </a:rPr>
              <a:t>private </a:t>
            </a:r>
            <a:r>
              <a:rPr lang="zh-CN" altLang="zh-CN" sz="1400" dirty="0">
                <a:solidFill>
                  <a:srgbClr val="000000"/>
                </a:solidFill>
                <a:latin typeface="Consolas" panose="020B0609020204030204" pitchFamily="49" charset="0"/>
                <a:ea typeface="JetBrains Mono"/>
              </a:rPr>
              <a:t>String </a:t>
            </a:r>
            <a:r>
              <a:rPr lang="zh-CN" altLang="zh-CN" sz="1400" dirty="0">
                <a:solidFill>
                  <a:srgbClr val="871094"/>
                </a:solidFill>
                <a:latin typeface="Consolas" panose="020B0609020204030204" pitchFamily="49" charset="0"/>
                <a:ea typeface="JetBrains Mono"/>
              </a:rPr>
              <a:t>name</a:t>
            </a:r>
            <a:r>
              <a:rPr lang="zh-CN" altLang="zh-CN" sz="1400" dirty="0">
                <a:solidFill>
                  <a:srgbClr val="080808"/>
                </a:solidFill>
                <a:latin typeface="Consolas" panose="020B0609020204030204" pitchFamily="49" charset="0"/>
                <a:ea typeface="JetBrains Mono"/>
              </a:rPr>
              <a:t>;</a:t>
            </a:r>
            <a:br>
              <a:rPr lang="zh-CN" altLang="zh-CN" sz="1400" dirty="0">
                <a:solidFill>
                  <a:srgbClr val="080808"/>
                </a:solidFill>
                <a:latin typeface="Consolas" panose="020B0609020204030204" pitchFamily="49" charset="0"/>
                <a:ea typeface="JetBrains Mono"/>
              </a:rPr>
            </a:br>
            <a:r>
              <a:rPr lang="en-US" altLang="zh-CN" sz="1400" dirty="0">
                <a:solidFill>
                  <a:srgbClr val="080808"/>
                </a:solidFill>
                <a:latin typeface="Consolas" panose="020B0609020204030204" pitchFamily="49" charset="0"/>
                <a:ea typeface="JetBrains Mono"/>
              </a:rPr>
              <a:t>  </a:t>
            </a:r>
            <a:r>
              <a:rPr lang="zh-CN" altLang="zh-CN" sz="1400" dirty="0">
                <a:solidFill>
                  <a:srgbClr val="0033B3"/>
                </a:solidFill>
                <a:latin typeface="Consolas" panose="020B0609020204030204" pitchFamily="49" charset="0"/>
                <a:ea typeface="JetBrains Mono"/>
              </a:rPr>
              <a:t>private int </a:t>
            </a:r>
            <a:r>
              <a:rPr lang="zh-CN" altLang="zh-CN" sz="1400" dirty="0">
                <a:solidFill>
                  <a:srgbClr val="871094"/>
                </a:solidFill>
                <a:latin typeface="Consolas" panose="020B0609020204030204" pitchFamily="49" charset="0"/>
                <a:ea typeface="JetBrains Mono"/>
              </a:rPr>
              <a:t>age</a:t>
            </a:r>
            <a:r>
              <a:rPr lang="zh-CN" altLang="zh-CN" sz="1400" dirty="0">
                <a:solidFill>
                  <a:srgbClr val="080808"/>
                </a:solidFill>
                <a:latin typeface="Consolas" panose="020B0609020204030204" pitchFamily="49" charset="0"/>
                <a:ea typeface="JetBrains Mono"/>
              </a:rPr>
              <a:t>;</a:t>
            </a:r>
            <a:endParaRPr lang="en-US" altLang="zh-CN" sz="14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400" dirty="0">
                <a:solidFill>
                  <a:srgbClr val="080808"/>
                </a:solidFill>
                <a:latin typeface="Consolas" panose="020B0609020204030204" pitchFamily="49" charset="0"/>
                <a:ea typeface="JetBrains Mono"/>
              </a:rPr>
              <a:t>  </a:t>
            </a:r>
            <a:r>
              <a:rPr lang="zh-CN" altLang="zh-CN" sz="1400" dirty="0">
                <a:solidFill>
                  <a:srgbClr val="0033B3"/>
                </a:solidFill>
                <a:latin typeface="Consolas" panose="020B0609020204030204" pitchFamily="49" charset="0"/>
                <a:ea typeface="JetBrains Mono"/>
              </a:rPr>
              <a:t>private static final long </a:t>
            </a:r>
            <a:r>
              <a:rPr lang="zh-CN" altLang="zh-CN" sz="1400" i="1" dirty="0">
                <a:solidFill>
                  <a:srgbClr val="871094"/>
                </a:solidFill>
                <a:latin typeface="Consolas" panose="020B0609020204030204" pitchFamily="49" charset="0"/>
                <a:ea typeface="JetBrains Mono"/>
              </a:rPr>
              <a:t>serialVersionUID </a:t>
            </a:r>
            <a:r>
              <a:rPr lang="zh-CN" altLang="zh-CN" sz="1400" dirty="0">
                <a:solidFill>
                  <a:srgbClr val="080808"/>
                </a:solidFill>
                <a:latin typeface="Consolas" panose="020B0609020204030204" pitchFamily="49" charset="0"/>
                <a:ea typeface="JetBrains Mono"/>
              </a:rPr>
              <a:t>= </a:t>
            </a:r>
            <a:r>
              <a:rPr lang="en-US" altLang="zh-CN" sz="1400" dirty="0">
                <a:solidFill>
                  <a:srgbClr val="1750EB"/>
                </a:solidFill>
                <a:latin typeface="Consolas" panose="020B0609020204030204" pitchFamily="49" charset="0"/>
                <a:ea typeface="JetBrains Mono"/>
              </a:rPr>
              <a:t>1</a:t>
            </a:r>
            <a:r>
              <a:rPr lang="zh-CN" altLang="zh-CN" sz="1400" dirty="0">
                <a:solidFill>
                  <a:srgbClr val="1750EB"/>
                </a:solidFill>
                <a:latin typeface="Consolas" panose="020B0609020204030204" pitchFamily="49" charset="0"/>
                <a:ea typeface="JetBrains Mono"/>
              </a:rPr>
              <a:t>L</a:t>
            </a:r>
            <a:r>
              <a:rPr lang="zh-CN" altLang="zh-CN" sz="1400" dirty="0">
                <a:solidFill>
                  <a:srgbClr val="080808"/>
                </a:solidFill>
                <a:latin typeface="Consolas" panose="020B0609020204030204" pitchFamily="49" charset="0"/>
                <a:ea typeface="JetBrains Mono"/>
              </a:rPr>
              <a:t>;</a:t>
            </a:r>
            <a:endParaRPr lang="en-US" altLang="zh-CN" sz="14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400" dirty="0">
                <a:solidFill>
                  <a:srgbClr val="080808"/>
                </a:solidFill>
                <a:latin typeface="Consolas" panose="020B0609020204030204" pitchFamily="49" charset="0"/>
                <a:ea typeface="JetBrains Mono"/>
              </a:rPr>
              <a:t>  ...</a:t>
            </a:r>
          </a:p>
          <a:p>
            <a:pPr defTabSz="685800" eaLnBrk="0" hangingPunct="0"/>
            <a:r>
              <a:rPr lang="en-US" altLang="zh-CN" sz="1400" dirty="0">
                <a:solidFill>
                  <a:srgbClr val="080808"/>
                </a:solidFill>
                <a:latin typeface="Consolas" panose="020B0609020204030204" pitchFamily="49" charset="0"/>
                <a:ea typeface="JetBrains Mono"/>
              </a:rPr>
              <a:t>} </a:t>
            </a:r>
            <a:endParaRPr lang="zh-CN" altLang="zh-CN" sz="1400" dirty="0">
              <a:latin typeface="Consolas" panose="020B0609020204030204" pitchFamily="49" charset="0"/>
            </a:endParaRPr>
          </a:p>
        </p:txBody>
      </p:sp>
      <p:sp>
        <p:nvSpPr>
          <p:cNvPr id="9" name="矩形: 折角 8">
            <a:extLst>
              <a:ext uri="{FF2B5EF4-FFF2-40B4-BE49-F238E27FC236}">
                <a16:creationId xmlns:a16="http://schemas.microsoft.com/office/drawing/2014/main" id="{452B584F-AC9B-D33E-21F7-C08CD53302CC}"/>
              </a:ext>
            </a:extLst>
          </p:cNvPr>
          <p:cNvSpPr/>
          <p:nvPr/>
        </p:nvSpPr>
        <p:spPr>
          <a:xfrm>
            <a:off x="5320667" y="4416640"/>
            <a:ext cx="3242795" cy="771095"/>
          </a:xfrm>
          <a:prstGeom prst="foldedCorner">
            <a:avLst/>
          </a:prstGeom>
          <a:ln/>
        </p:spPr>
        <p:style>
          <a:lnRef idx="1">
            <a:schemeClr val="dk1"/>
          </a:lnRef>
          <a:fillRef idx="2">
            <a:schemeClr val="dk1"/>
          </a:fillRef>
          <a:effectRef idx="1">
            <a:schemeClr val="dk1"/>
          </a:effectRef>
          <a:fontRef idx="minor">
            <a:schemeClr val="dk1"/>
          </a:fontRef>
        </p:style>
        <p:txBody>
          <a:bodyPr rtlCol="0" anchor="ctr"/>
          <a:lstStyle/>
          <a:p>
            <a:endParaRPr lang="en-US" altLang="zh-CN" sz="788" dirty="0">
              <a:latin typeface="Consolas" panose="020B0609020204030204" pitchFamily="49" charset="0"/>
            </a:endParaRPr>
          </a:p>
          <a:p>
            <a:endParaRPr lang="zh-CN" altLang="en-US" sz="788" dirty="0">
              <a:latin typeface="Consolas" panose="020B0609020204030204" pitchFamily="49" charset="0"/>
            </a:endParaRPr>
          </a:p>
        </p:txBody>
      </p:sp>
      <p:sp>
        <p:nvSpPr>
          <p:cNvPr id="11" name="箭头: 右 10">
            <a:extLst>
              <a:ext uri="{FF2B5EF4-FFF2-40B4-BE49-F238E27FC236}">
                <a16:creationId xmlns:a16="http://schemas.microsoft.com/office/drawing/2014/main" id="{F639D786-B85C-DA03-C060-BD0C73F7FB1A}"/>
              </a:ext>
            </a:extLst>
          </p:cNvPr>
          <p:cNvSpPr/>
          <p:nvPr/>
        </p:nvSpPr>
        <p:spPr>
          <a:xfrm>
            <a:off x="2339317" y="4628692"/>
            <a:ext cx="2988248" cy="346992"/>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zh-CN" sz="1200" dirty="0">
                <a:solidFill>
                  <a:schemeClr val="bg1"/>
                </a:solidFill>
                <a:latin typeface="Consolas" panose="020B0609020204030204" pitchFamily="49" charset="0"/>
                <a:ea typeface="JetBrains Mono"/>
              </a:rPr>
              <a:t>writeObject</a:t>
            </a:r>
            <a:endParaRPr lang="zh-CN" altLang="en-US" sz="1200" dirty="0">
              <a:solidFill>
                <a:schemeClr val="bg1"/>
              </a:solidFill>
              <a:latin typeface="Consolas" panose="020B0609020204030204" pitchFamily="49" charset="0"/>
            </a:endParaRPr>
          </a:p>
        </p:txBody>
      </p:sp>
      <p:sp>
        <p:nvSpPr>
          <p:cNvPr id="13" name="文本框 12">
            <a:extLst>
              <a:ext uri="{FF2B5EF4-FFF2-40B4-BE49-F238E27FC236}">
                <a16:creationId xmlns:a16="http://schemas.microsoft.com/office/drawing/2014/main" id="{3FB7858B-E00E-960E-0FB1-1A3D82DA6BBB}"/>
              </a:ext>
            </a:extLst>
          </p:cNvPr>
          <p:cNvSpPr txBox="1"/>
          <p:nvPr/>
        </p:nvSpPr>
        <p:spPr>
          <a:xfrm>
            <a:off x="5434156" y="4490563"/>
            <a:ext cx="3657167" cy="623248"/>
          </a:xfrm>
          <a:prstGeom prst="rect">
            <a:avLst/>
          </a:prstGeom>
          <a:noFill/>
          <a:ln>
            <a:noFill/>
          </a:ln>
        </p:spPr>
        <p:txBody>
          <a:bodyPr wrap="square" rtlCol="0">
            <a:spAutoFit/>
          </a:bodyPr>
          <a:lstStyle/>
          <a:p>
            <a:pPr algn="l"/>
            <a:r>
              <a:rPr lang="zh-CN" altLang="en-US" sz="1200" dirty="0">
                <a:solidFill>
                  <a:schemeClr val="tx1">
                    <a:lumMod val="85000"/>
                    <a:lumOff val="15000"/>
                  </a:schemeClr>
                </a:solidFill>
                <a:latin typeface="Consolas" panose="020B0609020204030204" pitchFamily="49" charset="0"/>
                <a:ea typeface="杨任东竹石体-Bold" panose="02000000000000000000" pitchFamily="2" charset="-122"/>
              </a:rPr>
              <a:t>张三</a:t>
            </a:r>
            <a:r>
              <a:rPr lang="en-US" altLang="zh-CN" sz="1200" dirty="0">
                <a:solidFill>
                  <a:schemeClr val="tx1">
                    <a:lumMod val="85000"/>
                    <a:lumOff val="15000"/>
                  </a:schemeClr>
                </a:solidFill>
                <a:latin typeface="Consolas" panose="020B0609020204030204" pitchFamily="49" charset="0"/>
                <a:ea typeface="杨任东竹石体-Bold" panose="02000000000000000000" pitchFamily="2" charset="-122"/>
              </a:rPr>
              <a:t>,23</a:t>
            </a:r>
          </a:p>
          <a:p>
            <a:pPr algn="l"/>
            <a:endParaRPr lang="en-US" altLang="zh-CN" sz="1200" dirty="0">
              <a:solidFill>
                <a:schemeClr val="tx1">
                  <a:lumMod val="85000"/>
                  <a:lumOff val="15000"/>
                </a:schemeClr>
              </a:solidFill>
              <a:latin typeface="Consolas" panose="020B0609020204030204" pitchFamily="49" charset="0"/>
              <a:ea typeface="杨任东竹石体-Bold" panose="02000000000000000000" pitchFamily="2" charset="-122"/>
            </a:endParaRPr>
          </a:p>
          <a:p>
            <a:r>
              <a:rPr lang="zh-CN" altLang="zh-CN" sz="1050" dirty="0">
                <a:solidFill>
                  <a:srgbClr val="871094"/>
                </a:solidFill>
                <a:latin typeface="Consolas" panose="020B0609020204030204" pitchFamily="49" charset="0"/>
                <a:ea typeface="JetBrains Mono"/>
              </a:rPr>
              <a:t>serialVersionUID</a:t>
            </a:r>
            <a:r>
              <a:rPr lang="en-US" altLang="zh-CN" sz="1050" dirty="0">
                <a:solidFill>
                  <a:srgbClr val="871094"/>
                </a:solidFill>
                <a:latin typeface="Consolas" panose="020B0609020204030204" pitchFamily="49" charset="0"/>
                <a:ea typeface="JetBrains Mono"/>
              </a:rPr>
              <a:t> = </a:t>
            </a:r>
            <a:r>
              <a:rPr lang="en-US" altLang="zh-CN" sz="1050" dirty="0">
                <a:solidFill>
                  <a:srgbClr val="1750EB"/>
                </a:solidFill>
                <a:latin typeface="Consolas" panose="020B0609020204030204" pitchFamily="49" charset="0"/>
                <a:ea typeface="JetBrains Mono"/>
              </a:rPr>
              <a:t>1</a:t>
            </a:r>
            <a:r>
              <a:rPr lang="zh-CN" altLang="zh-CN" sz="1050" dirty="0">
                <a:solidFill>
                  <a:srgbClr val="1750EB"/>
                </a:solidFill>
                <a:latin typeface="Consolas" panose="020B0609020204030204" pitchFamily="49" charset="0"/>
                <a:ea typeface="JetBrains Mono"/>
              </a:rPr>
              <a:t>L</a:t>
            </a:r>
            <a:endParaRPr lang="zh-CN" altLang="zh-CN" dirty="0">
              <a:latin typeface="Consolas" panose="020B0609020204030204" pitchFamily="49" charset="0"/>
            </a:endParaRPr>
          </a:p>
        </p:txBody>
      </p:sp>
      <p:sp>
        <p:nvSpPr>
          <p:cNvPr id="16" name="文本框 15">
            <a:extLst>
              <a:ext uri="{FF2B5EF4-FFF2-40B4-BE49-F238E27FC236}">
                <a16:creationId xmlns:a16="http://schemas.microsoft.com/office/drawing/2014/main" id="{10B8B006-D2B9-06D3-2F0C-F7AC13C8BE29}"/>
              </a:ext>
            </a:extLst>
          </p:cNvPr>
          <p:cNvSpPr txBox="1"/>
          <p:nvPr/>
        </p:nvSpPr>
        <p:spPr>
          <a:xfrm>
            <a:off x="5292080" y="3938388"/>
            <a:ext cx="1419432" cy="461665"/>
          </a:xfrm>
          <a:prstGeom prst="rect">
            <a:avLst/>
          </a:prstGeom>
          <a:noFill/>
          <a:ln>
            <a:noFill/>
          </a:ln>
        </p:spPr>
        <p:txBody>
          <a:bodyPr wrap="square" rtlCol="0">
            <a:spAutoFit/>
          </a:bodyPr>
          <a:lstStyle/>
          <a:p>
            <a:r>
              <a:rPr lang="en-US" altLang="zh-CN" sz="1200" dirty="0">
                <a:latin typeface="Consolas" panose="020B0609020204030204" pitchFamily="49" charset="0"/>
              </a:rPr>
              <a:t>D:\A.txt</a:t>
            </a:r>
          </a:p>
          <a:p>
            <a:pPr algn="l"/>
            <a:endParaRPr lang="zh-CN" altLang="en-US" sz="1200" dirty="0">
              <a:solidFill>
                <a:schemeClr val="tx1">
                  <a:lumMod val="85000"/>
                  <a:lumOff val="15000"/>
                </a:schemeClr>
              </a:solidFill>
              <a:latin typeface="Consolas" panose="020B0609020204030204" pitchFamily="49" charset="0"/>
              <a:ea typeface="杨任东竹石体-Bold" panose="02000000000000000000" pitchFamily="2" charset="-122"/>
            </a:endParaRPr>
          </a:p>
        </p:txBody>
      </p:sp>
      <p:sp>
        <p:nvSpPr>
          <p:cNvPr id="10" name="标题 1">
            <a:extLst>
              <a:ext uri="{FF2B5EF4-FFF2-40B4-BE49-F238E27FC236}">
                <a16:creationId xmlns:a16="http://schemas.microsoft.com/office/drawing/2014/main" id="{A951D339-B8AF-4976-9775-2D711964727A}"/>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sz="3200"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kern="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kern="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kern="0" dirty="0">
              <a:ea typeface="宋体" panose="02010600030101010101" pitchFamily="2" charset="-122"/>
              <a:cs typeface="Times New Roman" panose="02020603050405020304" pitchFamily="18" charset="0"/>
            </a:endParaRPr>
          </a:p>
        </p:txBody>
      </p:sp>
      <p:cxnSp>
        <p:nvCxnSpPr>
          <p:cNvPr id="12" name="直接连接符 11">
            <a:extLst>
              <a:ext uri="{FF2B5EF4-FFF2-40B4-BE49-F238E27FC236}">
                <a16:creationId xmlns:a16="http://schemas.microsoft.com/office/drawing/2014/main" id="{E04BE8FA-E947-4F99-871D-0DAD4A0844C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流程图: 磁盘 13">
            <a:extLst>
              <a:ext uri="{FF2B5EF4-FFF2-40B4-BE49-F238E27FC236}">
                <a16:creationId xmlns:a16="http://schemas.microsoft.com/office/drawing/2014/main" id="{C008A797-562F-435E-98EB-903DE013FBA8}"/>
              </a:ext>
            </a:extLst>
          </p:cNvPr>
          <p:cNvSpPr/>
          <p:nvPr/>
        </p:nvSpPr>
        <p:spPr>
          <a:xfrm>
            <a:off x="395536" y="4317068"/>
            <a:ext cx="1816826" cy="1082759"/>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Tree>
    <p:extLst>
      <p:ext uri="{BB962C8B-B14F-4D97-AF65-F5344CB8AC3E}">
        <p14:creationId xmlns:p14="http://schemas.microsoft.com/office/powerpoint/2010/main" val="24836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14"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a:extLst>
              <a:ext uri="{FF2B5EF4-FFF2-40B4-BE49-F238E27FC236}">
                <a16:creationId xmlns:a16="http://schemas.microsoft.com/office/drawing/2014/main" id="{509B2215-6F41-BD33-6E8A-DA5A07A924B7}"/>
              </a:ext>
            </a:extLst>
          </p:cNvPr>
          <p:cNvSpPr txBox="1"/>
          <p:nvPr/>
        </p:nvSpPr>
        <p:spPr>
          <a:xfrm>
            <a:off x="737828" y="2249963"/>
            <a:ext cx="5404554" cy="1600438"/>
          </a:xfrm>
          <a:prstGeom prst="rect">
            <a:avLst/>
          </a:prstGeom>
          <a:solidFill>
            <a:srgbClr val="FFFFE4"/>
          </a:solidFill>
          <a:ln>
            <a:solidFill>
              <a:schemeClr val="tx1">
                <a:lumMod val="95000"/>
                <a:lumOff val="5000"/>
              </a:schemeClr>
            </a:solidFill>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0" hangingPunct="0"/>
            <a:r>
              <a:rPr lang="zh-CN" altLang="zh-CN" sz="1400" dirty="0">
                <a:solidFill>
                  <a:srgbClr val="0033B3"/>
                </a:solidFill>
                <a:latin typeface="Consolas" panose="020B0609020204030204" pitchFamily="49" charset="0"/>
                <a:ea typeface="JetBrains Mono"/>
              </a:rPr>
              <a:t>public class </a:t>
            </a:r>
            <a:r>
              <a:rPr lang="zh-CN" altLang="zh-CN" sz="1400" dirty="0">
                <a:solidFill>
                  <a:srgbClr val="000000"/>
                </a:solidFill>
                <a:latin typeface="Consolas" panose="020B0609020204030204" pitchFamily="49" charset="0"/>
                <a:ea typeface="JetBrains Mono"/>
              </a:rPr>
              <a:t>Student </a:t>
            </a:r>
            <a:r>
              <a:rPr lang="zh-CN" altLang="zh-CN" sz="1400" dirty="0">
                <a:solidFill>
                  <a:srgbClr val="0033B3"/>
                </a:solidFill>
                <a:latin typeface="Consolas" panose="020B0609020204030204" pitchFamily="49" charset="0"/>
                <a:ea typeface="JetBrains Mono"/>
              </a:rPr>
              <a:t>implements </a:t>
            </a:r>
            <a:r>
              <a:rPr lang="zh-CN" altLang="zh-CN" sz="1400" dirty="0">
                <a:solidFill>
                  <a:srgbClr val="000000"/>
                </a:solidFill>
                <a:latin typeface="Consolas" panose="020B0609020204030204" pitchFamily="49" charset="0"/>
                <a:ea typeface="JetBrains Mono"/>
              </a:rPr>
              <a:t>Serializable </a:t>
            </a:r>
            <a:r>
              <a:rPr lang="zh-CN" altLang="zh-CN" sz="1400" dirty="0">
                <a:solidFill>
                  <a:srgbClr val="080808"/>
                </a:solidFill>
                <a:latin typeface="Consolas" panose="020B0609020204030204" pitchFamily="49" charset="0"/>
                <a:ea typeface="JetBrains Mono"/>
              </a:rPr>
              <a:t>{</a:t>
            </a:r>
            <a:endParaRPr lang="en-US" altLang="zh-CN" sz="14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400" dirty="0">
                <a:solidFill>
                  <a:srgbClr val="080808"/>
                </a:solidFill>
                <a:latin typeface="Consolas" panose="020B0609020204030204" pitchFamily="49" charset="0"/>
                <a:ea typeface="JetBrains Mono"/>
              </a:rPr>
              <a:t>  </a:t>
            </a:r>
            <a:r>
              <a:rPr lang="zh-CN" altLang="zh-CN" sz="1400" dirty="0">
                <a:solidFill>
                  <a:srgbClr val="0033B3"/>
                </a:solidFill>
                <a:latin typeface="Consolas" panose="020B0609020204030204" pitchFamily="49" charset="0"/>
                <a:ea typeface="JetBrains Mono"/>
              </a:rPr>
              <a:t>private </a:t>
            </a:r>
            <a:r>
              <a:rPr lang="zh-CN" altLang="zh-CN" sz="1400" dirty="0">
                <a:solidFill>
                  <a:srgbClr val="000000"/>
                </a:solidFill>
                <a:latin typeface="Consolas" panose="020B0609020204030204" pitchFamily="49" charset="0"/>
                <a:ea typeface="JetBrains Mono"/>
              </a:rPr>
              <a:t>String </a:t>
            </a:r>
            <a:r>
              <a:rPr lang="zh-CN" altLang="zh-CN" sz="1400" dirty="0">
                <a:solidFill>
                  <a:srgbClr val="871094"/>
                </a:solidFill>
                <a:latin typeface="Consolas" panose="020B0609020204030204" pitchFamily="49" charset="0"/>
                <a:ea typeface="JetBrains Mono"/>
              </a:rPr>
              <a:t>name</a:t>
            </a:r>
            <a:r>
              <a:rPr lang="zh-CN" altLang="zh-CN" sz="1400" dirty="0">
                <a:solidFill>
                  <a:srgbClr val="080808"/>
                </a:solidFill>
                <a:latin typeface="Consolas" panose="020B0609020204030204" pitchFamily="49" charset="0"/>
                <a:ea typeface="JetBrains Mono"/>
              </a:rPr>
              <a:t>;</a:t>
            </a:r>
            <a:br>
              <a:rPr lang="zh-CN" altLang="zh-CN" sz="1400" dirty="0">
                <a:solidFill>
                  <a:srgbClr val="080808"/>
                </a:solidFill>
                <a:latin typeface="Consolas" panose="020B0609020204030204" pitchFamily="49" charset="0"/>
                <a:ea typeface="JetBrains Mono"/>
              </a:rPr>
            </a:br>
            <a:r>
              <a:rPr lang="en-US" altLang="zh-CN" sz="1400" dirty="0">
                <a:solidFill>
                  <a:srgbClr val="080808"/>
                </a:solidFill>
                <a:latin typeface="Consolas" panose="020B0609020204030204" pitchFamily="49" charset="0"/>
                <a:ea typeface="JetBrains Mono"/>
              </a:rPr>
              <a:t>  </a:t>
            </a:r>
            <a:r>
              <a:rPr lang="zh-CN" altLang="zh-CN" sz="1400" dirty="0">
                <a:solidFill>
                  <a:srgbClr val="0033B3"/>
                </a:solidFill>
                <a:latin typeface="Consolas" panose="020B0609020204030204" pitchFamily="49" charset="0"/>
                <a:ea typeface="JetBrains Mono"/>
              </a:rPr>
              <a:t>private int </a:t>
            </a:r>
            <a:r>
              <a:rPr lang="zh-CN" altLang="zh-CN" sz="1400" dirty="0">
                <a:solidFill>
                  <a:srgbClr val="871094"/>
                </a:solidFill>
                <a:latin typeface="Consolas" panose="020B0609020204030204" pitchFamily="49" charset="0"/>
                <a:ea typeface="JetBrains Mono"/>
              </a:rPr>
              <a:t>age</a:t>
            </a:r>
            <a:r>
              <a:rPr lang="zh-CN" altLang="zh-CN" sz="1400" dirty="0">
                <a:solidFill>
                  <a:srgbClr val="080808"/>
                </a:solidFill>
                <a:latin typeface="Consolas" panose="020B0609020204030204" pitchFamily="49" charset="0"/>
                <a:ea typeface="JetBrains Mono"/>
              </a:rPr>
              <a:t>;</a:t>
            </a:r>
            <a:endParaRPr lang="en-US" altLang="zh-CN" sz="14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400" dirty="0">
                <a:solidFill>
                  <a:srgbClr val="080808"/>
                </a:solidFill>
                <a:latin typeface="Consolas" panose="020B0609020204030204" pitchFamily="49" charset="0"/>
                <a:ea typeface="JetBrains Mono"/>
              </a:rPr>
              <a:t>  </a:t>
            </a:r>
            <a:r>
              <a:rPr lang="zh-CN" altLang="zh-CN" sz="1400" dirty="0">
                <a:solidFill>
                  <a:srgbClr val="0033B3"/>
                </a:solidFill>
                <a:latin typeface="Consolas" panose="020B0609020204030204" pitchFamily="49" charset="0"/>
                <a:ea typeface="JetBrains Mono"/>
              </a:rPr>
              <a:t>private static final long </a:t>
            </a:r>
            <a:r>
              <a:rPr lang="zh-CN" altLang="zh-CN" sz="1400" i="1" dirty="0">
                <a:solidFill>
                  <a:srgbClr val="871094"/>
                </a:solidFill>
                <a:latin typeface="Consolas" panose="020B0609020204030204" pitchFamily="49" charset="0"/>
                <a:ea typeface="JetBrains Mono"/>
              </a:rPr>
              <a:t>serialVersionUID </a:t>
            </a:r>
            <a:r>
              <a:rPr lang="zh-CN" altLang="zh-CN" sz="1400" dirty="0">
                <a:solidFill>
                  <a:srgbClr val="080808"/>
                </a:solidFill>
                <a:latin typeface="Consolas" panose="020B0609020204030204" pitchFamily="49" charset="0"/>
                <a:ea typeface="JetBrains Mono"/>
              </a:rPr>
              <a:t>= </a:t>
            </a:r>
            <a:r>
              <a:rPr lang="en-US" altLang="zh-CN" sz="1400" dirty="0">
                <a:solidFill>
                  <a:srgbClr val="1750EB"/>
                </a:solidFill>
                <a:latin typeface="Consolas" panose="020B0609020204030204" pitchFamily="49" charset="0"/>
                <a:ea typeface="JetBrains Mono"/>
              </a:rPr>
              <a:t>1</a:t>
            </a:r>
            <a:r>
              <a:rPr lang="zh-CN" altLang="zh-CN" sz="1400" dirty="0">
                <a:solidFill>
                  <a:srgbClr val="1750EB"/>
                </a:solidFill>
                <a:latin typeface="Consolas" panose="020B0609020204030204" pitchFamily="49" charset="0"/>
                <a:ea typeface="JetBrains Mono"/>
              </a:rPr>
              <a:t>L</a:t>
            </a:r>
            <a:r>
              <a:rPr lang="zh-CN" altLang="zh-CN" sz="1400" dirty="0">
                <a:solidFill>
                  <a:srgbClr val="080808"/>
                </a:solidFill>
                <a:latin typeface="Consolas" panose="020B0609020204030204" pitchFamily="49" charset="0"/>
                <a:ea typeface="JetBrains Mono"/>
              </a:rPr>
              <a:t>;</a:t>
            </a:r>
            <a:endParaRPr lang="en-US" altLang="zh-CN" sz="1400" dirty="0">
              <a:solidFill>
                <a:srgbClr val="080808"/>
              </a:solidFill>
              <a:latin typeface="Consolas" panose="020B0609020204030204" pitchFamily="49" charset="0"/>
              <a:ea typeface="JetBrains Mono"/>
            </a:endParaRPr>
          </a:p>
          <a:p>
            <a:pPr eaLnBrk="0" fontAlgn="base" hangingPunct="0">
              <a:spcBef>
                <a:spcPct val="0"/>
              </a:spcBef>
              <a:spcAft>
                <a:spcPct val="0"/>
              </a:spcAft>
            </a:pPr>
            <a:r>
              <a:rPr lang="en-US" altLang="zh-CN" sz="1400" dirty="0">
                <a:solidFill>
                  <a:srgbClr val="080808"/>
                </a:solidFill>
                <a:latin typeface="Consolas" panose="020B0609020204030204" pitchFamily="49" charset="0"/>
                <a:ea typeface="JetBrains Mono"/>
              </a:rPr>
              <a:t>  String address;</a:t>
            </a:r>
          </a:p>
          <a:p>
            <a:pPr eaLnBrk="0" fontAlgn="base" hangingPunct="0">
              <a:spcBef>
                <a:spcPct val="0"/>
              </a:spcBef>
              <a:spcAft>
                <a:spcPct val="0"/>
              </a:spcAft>
            </a:pPr>
            <a:r>
              <a:rPr lang="en-US" altLang="zh-CN" sz="1400" dirty="0">
                <a:solidFill>
                  <a:srgbClr val="080808"/>
                </a:solidFill>
                <a:latin typeface="Consolas" panose="020B0609020204030204" pitchFamily="49" charset="0"/>
                <a:ea typeface="JetBrains Mono"/>
              </a:rPr>
              <a:t>  ...</a:t>
            </a:r>
          </a:p>
          <a:p>
            <a:pPr defTabSz="685800" eaLnBrk="0" hangingPunct="0"/>
            <a:r>
              <a:rPr lang="en-US" altLang="zh-CN" sz="1400" dirty="0">
                <a:solidFill>
                  <a:srgbClr val="080808"/>
                </a:solidFill>
                <a:latin typeface="Consolas" panose="020B0609020204030204" pitchFamily="49" charset="0"/>
                <a:ea typeface="JetBrains Mono"/>
              </a:rPr>
              <a:t>} </a:t>
            </a:r>
            <a:endParaRPr lang="zh-CN" altLang="zh-CN" sz="1400" dirty="0">
              <a:latin typeface="Consolas" panose="020B0609020204030204" pitchFamily="49" charset="0"/>
            </a:endParaRPr>
          </a:p>
        </p:txBody>
      </p:sp>
      <p:sp>
        <p:nvSpPr>
          <p:cNvPr id="9" name="矩形: 折角 8">
            <a:extLst>
              <a:ext uri="{FF2B5EF4-FFF2-40B4-BE49-F238E27FC236}">
                <a16:creationId xmlns:a16="http://schemas.microsoft.com/office/drawing/2014/main" id="{452B584F-AC9B-D33E-21F7-C08CD53302CC}"/>
              </a:ext>
            </a:extLst>
          </p:cNvPr>
          <p:cNvSpPr/>
          <p:nvPr/>
        </p:nvSpPr>
        <p:spPr>
          <a:xfrm>
            <a:off x="5335628" y="4243146"/>
            <a:ext cx="3242795" cy="771095"/>
          </a:xfrm>
          <a:prstGeom prst="foldedCorner">
            <a:avLst/>
          </a:prstGeom>
          <a:ln/>
        </p:spPr>
        <p:style>
          <a:lnRef idx="1">
            <a:schemeClr val="dk1"/>
          </a:lnRef>
          <a:fillRef idx="2">
            <a:schemeClr val="dk1"/>
          </a:fillRef>
          <a:effectRef idx="1">
            <a:schemeClr val="dk1"/>
          </a:effectRef>
          <a:fontRef idx="minor">
            <a:schemeClr val="dk1"/>
          </a:fontRef>
        </p:style>
        <p:txBody>
          <a:bodyPr rtlCol="0" anchor="ctr"/>
          <a:lstStyle/>
          <a:p>
            <a:endParaRPr lang="en-US" altLang="zh-CN" sz="788" dirty="0">
              <a:latin typeface="Consolas" panose="020B0609020204030204" pitchFamily="49" charset="0"/>
            </a:endParaRPr>
          </a:p>
          <a:p>
            <a:endParaRPr lang="zh-CN" altLang="en-US" sz="788" dirty="0">
              <a:latin typeface="Consolas" panose="020B0609020204030204" pitchFamily="49" charset="0"/>
            </a:endParaRPr>
          </a:p>
        </p:txBody>
      </p:sp>
      <p:sp>
        <p:nvSpPr>
          <p:cNvPr id="11" name="箭头: 右 10">
            <a:extLst>
              <a:ext uri="{FF2B5EF4-FFF2-40B4-BE49-F238E27FC236}">
                <a16:creationId xmlns:a16="http://schemas.microsoft.com/office/drawing/2014/main" id="{F639D786-B85C-DA03-C060-BD0C73F7FB1A}"/>
              </a:ext>
            </a:extLst>
          </p:cNvPr>
          <p:cNvSpPr/>
          <p:nvPr/>
        </p:nvSpPr>
        <p:spPr>
          <a:xfrm>
            <a:off x="2339317" y="4628692"/>
            <a:ext cx="2988248" cy="346992"/>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zh-CN" sz="1200" dirty="0">
                <a:solidFill>
                  <a:schemeClr val="bg1"/>
                </a:solidFill>
                <a:latin typeface="Consolas" panose="020B0609020204030204" pitchFamily="49" charset="0"/>
                <a:ea typeface="JetBrains Mono"/>
              </a:rPr>
              <a:t>writeObject</a:t>
            </a:r>
            <a:endParaRPr lang="zh-CN" altLang="en-US" sz="1200" dirty="0">
              <a:solidFill>
                <a:schemeClr val="bg1"/>
              </a:solidFill>
              <a:latin typeface="Consolas" panose="020B0609020204030204" pitchFamily="49" charset="0"/>
            </a:endParaRPr>
          </a:p>
        </p:txBody>
      </p:sp>
      <p:sp>
        <p:nvSpPr>
          <p:cNvPr id="13" name="文本框 12">
            <a:extLst>
              <a:ext uri="{FF2B5EF4-FFF2-40B4-BE49-F238E27FC236}">
                <a16:creationId xmlns:a16="http://schemas.microsoft.com/office/drawing/2014/main" id="{3FB7858B-E00E-960E-0FB1-1A3D82DA6BBB}"/>
              </a:ext>
            </a:extLst>
          </p:cNvPr>
          <p:cNvSpPr txBox="1"/>
          <p:nvPr/>
        </p:nvSpPr>
        <p:spPr>
          <a:xfrm>
            <a:off x="5380955" y="4317068"/>
            <a:ext cx="3657167" cy="623248"/>
          </a:xfrm>
          <a:prstGeom prst="rect">
            <a:avLst/>
          </a:prstGeom>
          <a:noFill/>
          <a:ln>
            <a:noFill/>
          </a:ln>
        </p:spPr>
        <p:txBody>
          <a:bodyPr wrap="square" rtlCol="0">
            <a:spAutoFit/>
          </a:bodyPr>
          <a:lstStyle/>
          <a:p>
            <a:pPr algn="l"/>
            <a:r>
              <a:rPr lang="zh-CN" altLang="en-US" sz="1200" dirty="0">
                <a:solidFill>
                  <a:schemeClr val="tx1">
                    <a:lumMod val="85000"/>
                    <a:lumOff val="15000"/>
                  </a:schemeClr>
                </a:solidFill>
                <a:latin typeface="Consolas" panose="020B0609020204030204" pitchFamily="49" charset="0"/>
                <a:ea typeface="杨任东竹石体-Bold" panose="02000000000000000000" pitchFamily="2" charset="-122"/>
              </a:rPr>
              <a:t>张三</a:t>
            </a:r>
            <a:r>
              <a:rPr lang="en-US" altLang="zh-CN" sz="1200" dirty="0">
                <a:solidFill>
                  <a:schemeClr val="tx1">
                    <a:lumMod val="85000"/>
                    <a:lumOff val="15000"/>
                  </a:schemeClr>
                </a:solidFill>
                <a:latin typeface="Consolas" panose="020B0609020204030204" pitchFamily="49" charset="0"/>
                <a:ea typeface="杨任东竹石体-Bold" panose="02000000000000000000" pitchFamily="2" charset="-122"/>
              </a:rPr>
              <a:t>,23</a:t>
            </a:r>
          </a:p>
          <a:p>
            <a:pPr algn="l"/>
            <a:endParaRPr lang="en-US" altLang="zh-CN" sz="1200" dirty="0">
              <a:solidFill>
                <a:schemeClr val="tx1">
                  <a:lumMod val="85000"/>
                  <a:lumOff val="15000"/>
                </a:schemeClr>
              </a:solidFill>
              <a:latin typeface="Consolas" panose="020B0609020204030204" pitchFamily="49" charset="0"/>
              <a:ea typeface="杨任东竹石体-Bold" panose="02000000000000000000" pitchFamily="2" charset="-122"/>
            </a:endParaRPr>
          </a:p>
          <a:p>
            <a:r>
              <a:rPr lang="zh-CN" altLang="zh-CN" sz="1050" dirty="0">
                <a:solidFill>
                  <a:srgbClr val="871094"/>
                </a:solidFill>
                <a:latin typeface="Consolas" panose="020B0609020204030204" pitchFamily="49" charset="0"/>
                <a:ea typeface="JetBrains Mono"/>
              </a:rPr>
              <a:t>serialVersionUID</a:t>
            </a:r>
            <a:r>
              <a:rPr lang="en-US" altLang="zh-CN" sz="1050" dirty="0">
                <a:solidFill>
                  <a:srgbClr val="871094"/>
                </a:solidFill>
                <a:latin typeface="Consolas" panose="020B0609020204030204" pitchFamily="49" charset="0"/>
                <a:ea typeface="JetBrains Mono"/>
              </a:rPr>
              <a:t> = </a:t>
            </a:r>
            <a:r>
              <a:rPr lang="en-US" altLang="zh-CN" sz="1050" dirty="0">
                <a:solidFill>
                  <a:srgbClr val="1750EB"/>
                </a:solidFill>
                <a:latin typeface="Consolas" panose="020B0609020204030204" pitchFamily="49" charset="0"/>
                <a:ea typeface="JetBrains Mono"/>
              </a:rPr>
              <a:t>1</a:t>
            </a:r>
            <a:r>
              <a:rPr lang="zh-CN" altLang="zh-CN" sz="1050" dirty="0">
                <a:solidFill>
                  <a:srgbClr val="1750EB"/>
                </a:solidFill>
                <a:latin typeface="Consolas" panose="020B0609020204030204" pitchFamily="49" charset="0"/>
                <a:ea typeface="JetBrains Mono"/>
              </a:rPr>
              <a:t>L</a:t>
            </a:r>
            <a:endParaRPr lang="zh-CN" altLang="zh-CN" dirty="0">
              <a:latin typeface="Consolas" panose="020B0609020204030204" pitchFamily="49" charset="0"/>
            </a:endParaRPr>
          </a:p>
        </p:txBody>
      </p:sp>
      <p:sp>
        <p:nvSpPr>
          <p:cNvPr id="16" name="文本框 15">
            <a:extLst>
              <a:ext uri="{FF2B5EF4-FFF2-40B4-BE49-F238E27FC236}">
                <a16:creationId xmlns:a16="http://schemas.microsoft.com/office/drawing/2014/main" id="{10B8B006-D2B9-06D3-2F0C-F7AC13C8BE29}"/>
              </a:ext>
            </a:extLst>
          </p:cNvPr>
          <p:cNvSpPr txBox="1"/>
          <p:nvPr/>
        </p:nvSpPr>
        <p:spPr>
          <a:xfrm>
            <a:off x="5319502" y="3921948"/>
            <a:ext cx="1419432" cy="461665"/>
          </a:xfrm>
          <a:prstGeom prst="rect">
            <a:avLst/>
          </a:prstGeom>
          <a:noFill/>
          <a:ln>
            <a:noFill/>
          </a:ln>
        </p:spPr>
        <p:txBody>
          <a:bodyPr wrap="square" rtlCol="0">
            <a:spAutoFit/>
          </a:bodyPr>
          <a:lstStyle/>
          <a:p>
            <a:r>
              <a:rPr lang="en-US" altLang="zh-CN" sz="1200" dirty="0">
                <a:latin typeface="Consolas" panose="020B0609020204030204" pitchFamily="49" charset="0"/>
              </a:rPr>
              <a:t>D:\A.txt</a:t>
            </a:r>
          </a:p>
          <a:p>
            <a:pPr algn="l"/>
            <a:endParaRPr lang="zh-CN" altLang="en-US" sz="1200" dirty="0">
              <a:solidFill>
                <a:schemeClr val="tx1">
                  <a:lumMod val="85000"/>
                  <a:lumOff val="15000"/>
                </a:schemeClr>
              </a:solidFill>
              <a:latin typeface="Consolas" panose="020B0609020204030204" pitchFamily="49" charset="0"/>
              <a:ea typeface="杨任东竹石体-Bold" panose="02000000000000000000" pitchFamily="2" charset="-122"/>
            </a:endParaRPr>
          </a:p>
        </p:txBody>
      </p:sp>
      <p:sp>
        <p:nvSpPr>
          <p:cNvPr id="18" name="箭头: 左 17">
            <a:extLst>
              <a:ext uri="{FF2B5EF4-FFF2-40B4-BE49-F238E27FC236}">
                <a16:creationId xmlns:a16="http://schemas.microsoft.com/office/drawing/2014/main" id="{8316F285-D9DA-9FB2-8FEB-48CC2E35911C}"/>
              </a:ext>
            </a:extLst>
          </p:cNvPr>
          <p:cNvSpPr/>
          <p:nvPr/>
        </p:nvSpPr>
        <p:spPr>
          <a:xfrm>
            <a:off x="2323191" y="4257953"/>
            <a:ext cx="2988248" cy="346992"/>
          </a:xfrm>
          <a:prstGeom prst="leftArrow">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dirty="0" err="1">
                <a:latin typeface="Consolas" panose="020B0609020204030204" pitchFamily="49" charset="0"/>
              </a:rPr>
              <a:t>readObject</a:t>
            </a:r>
            <a:endParaRPr lang="zh-CN" altLang="en-US" dirty="0">
              <a:latin typeface="Consolas" panose="020B0609020204030204" pitchFamily="49" charset="0"/>
            </a:endParaRPr>
          </a:p>
        </p:txBody>
      </p:sp>
      <p:sp>
        <p:nvSpPr>
          <p:cNvPr id="4" name="文本框 3">
            <a:extLst>
              <a:ext uri="{FF2B5EF4-FFF2-40B4-BE49-F238E27FC236}">
                <a16:creationId xmlns:a16="http://schemas.microsoft.com/office/drawing/2014/main" id="{33FFAA34-074C-C4F4-8191-3843A3AECD8A}"/>
              </a:ext>
            </a:extLst>
          </p:cNvPr>
          <p:cNvSpPr txBox="1"/>
          <p:nvPr/>
        </p:nvSpPr>
        <p:spPr>
          <a:xfrm>
            <a:off x="2339318" y="5196544"/>
            <a:ext cx="4308613" cy="646331"/>
          </a:xfrm>
          <a:prstGeom prst="rect">
            <a:avLst/>
          </a:prstGeom>
          <a:noFill/>
          <a:ln>
            <a:noFill/>
          </a:ln>
        </p:spPr>
        <p:txBody>
          <a:bodyPr wrap="square" rtlCol="0">
            <a:spAutoFit/>
          </a:bodyPr>
          <a:lstStyle/>
          <a:p>
            <a:r>
              <a:rPr lang="zh-CN" altLang="en-US" dirty="0">
                <a:solidFill>
                  <a:schemeClr val="tx1">
                    <a:lumMod val="85000"/>
                    <a:lumOff val="15000"/>
                  </a:schemeClr>
                </a:solidFill>
                <a:latin typeface="Consolas" panose="020B0609020204030204" pitchFamily="49" charset="0"/>
                <a:ea typeface="杨任东竹石体-Bold" panose="02000000000000000000" pitchFamily="2" charset="-122"/>
              </a:rPr>
              <a:t>今后若要进行序列化操作</a:t>
            </a:r>
            <a:endParaRPr lang="en-US" altLang="zh-CN" dirty="0">
              <a:solidFill>
                <a:schemeClr val="tx1">
                  <a:lumMod val="85000"/>
                  <a:lumOff val="15000"/>
                </a:schemeClr>
              </a:solidFill>
              <a:latin typeface="Consolas" panose="020B0609020204030204" pitchFamily="49" charset="0"/>
              <a:ea typeface="杨任东竹石体-Bold" panose="02000000000000000000" pitchFamily="2" charset="-122"/>
            </a:endParaRPr>
          </a:p>
          <a:p>
            <a:r>
              <a:rPr lang="zh-CN" altLang="en-US" dirty="0">
                <a:solidFill>
                  <a:schemeClr val="tx1">
                    <a:lumMod val="85000"/>
                    <a:lumOff val="15000"/>
                  </a:schemeClr>
                </a:solidFill>
                <a:latin typeface="Consolas" panose="020B0609020204030204" pitchFamily="49" charset="0"/>
                <a:ea typeface="杨任东竹石体-Bold" panose="02000000000000000000" pitchFamily="2" charset="-122"/>
              </a:rPr>
              <a:t>推荐手动编写 </a:t>
            </a:r>
            <a:r>
              <a:rPr lang="zh-CN" altLang="zh-CN" dirty="0">
                <a:solidFill>
                  <a:schemeClr val="tx1">
                    <a:lumMod val="95000"/>
                    <a:lumOff val="5000"/>
                  </a:schemeClr>
                </a:solidFill>
                <a:latin typeface="Consolas" panose="020B0609020204030204" pitchFamily="49" charset="0"/>
                <a:ea typeface="JetBrains Mono"/>
              </a:rPr>
              <a:t>serialVersionUID</a:t>
            </a:r>
            <a:endParaRPr lang="zh-CN" altLang="en-US" dirty="0">
              <a:solidFill>
                <a:schemeClr val="tx1">
                  <a:lumMod val="95000"/>
                  <a:lumOff val="5000"/>
                </a:schemeClr>
              </a:solidFill>
              <a:latin typeface="Consolas" panose="020B0609020204030204" pitchFamily="49" charset="0"/>
              <a:ea typeface="杨任东竹石体-Bold" panose="02000000000000000000" pitchFamily="2" charset="-122"/>
            </a:endParaRPr>
          </a:p>
        </p:txBody>
      </p:sp>
      <p:sp>
        <p:nvSpPr>
          <p:cNvPr id="12" name="标题 1">
            <a:extLst>
              <a:ext uri="{FF2B5EF4-FFF2-40B4-BE49-F238E27FC236}">
                <a16:creationId xmlns:a16="http://schemas.microsoft.com/office/drawing/2014/main" id="{FCD6BF3D-BC15-4C8E-AA3D-03AEB8D1E17C}"/>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zh-CN" altLang="en-GB" sz="3200" b="0" kern="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kern="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kern="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kern="0" dirty="0">
              <a:ea typeface="宋体" panose="02010600030101010101" pitchFamily="2" charset="-122"/>
              <a:cs typeface="Times New Roman" panose="02020603050405020304" pitchFamily="18" charset="0"/>
            </a:endParaRPr>
          </a:p>
        </p:txBody>
      </p:sp>
      <p:cxnSp>
        <p:nvCxnSpPr>
          <p:cNvPr id="14" name="直接连接符 13">
            <a:extLst>
              <a:ext uri="{FF2B5EF4-FFF2-40B4-BE49-F238E27FC236}">
                <a16:creationId xmlns:a16="http://schemas.microsoft.com/office/drawing/2014/main" id="{0C8FC2E0-86A1-401E-A336-97777C0BA265}"/>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5" name="TextBox 2">
            <a:extLst>
              <a:ext uri="{FF2B5EF4-FFF2-40B4-BE49-F238E27FC236}">
                <a16:creationId xmlns:a16="http://schemas.microsoft.com/office/drawing/2014/main" id="{132BD287-24B6-4F8F-B7A2-0CF5E2BD8BC0}"/>
              </a:ext>
            </a:extLst>
          </p:cNvPr>
          <p:cNvSpPr txBox="1"/>
          <p:nvPr/>
        </p:nvSpPr>
        <p:spPr>
          <a:xfrm>
            <a:off x="737828" y="1392517"/>
            <a:ext cx="3514725" cy="618952"/>
          </a:xfrm>
          <a:prstGeom prst="rect">
            <a:avLst/>
          </a:prstGeom>
          <a:noFill/>
        </p:spPr>
        <p:txBody>
          <a:bodyPr>
            <a:spAutoFit/>
          </a:bodyPr>
          <a:lstStyle/>
          <a:p>
            <a:pPr eaLnBrk="0" hangingPunct="0">
              <a:lnSpc>
                <a:spcPct val="200000"/>
              </a:lnSpc>
              <a:defRPr/>
            </a:pPr>
            <a:r>
              <a:rPr lang="zh-CN" altLang="en-US" sz="2000"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序列化流的操作流程</a:t>
            </a:r>
          </a:p>
        </p:txBody>
      </p:sp>
      <p:sp>
        <p:nvSpPr>
          <p:cNvPr id="17" name="流程图: 磁盘 16">
            <a:extLst>
              <a:ext uri="{FF2B5EF4-FFF2-40B4-BE49-F238E27FC236}">
                <a16:creationId xmlns:a16="http://schemas.microsoft.com/office/drawing/2014/main" id="{49692C2C-4A8E-46F9-B7A1-5DB34084EE90}"/>
              </a:ext>
            </a:extLst>
          </p:cNvPr>
          <p:cNvSpPr/>
          <p:nvPr/>
        </p:nvSpPr>
        <p:spPr>
          <a:xfrm>
            <a:off x="463256" y="4123086"/>
            <a:ext cx="1666146" cy="1032921"/>
          </a:xfrm>
          <a:prstGeom prst="flowChartMagneticDisk">
            <a:avLst/>
          </a:prstGeom>
          <a:solidFill>
            <a:srgbClr val="9BBB59"/>
          </a:solidFill>
          <a:ln w="38100" cap="flat" cmpd="sng" algn="ctr">
            <a:solidFill>
              <a:sysClr val="window" lastClr="FFFFFF"/>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Java </a:t>
            </a:r>
            <a:r>
              <a:rPr kumimoji="0" lang="zh-CN" altLang="en-US" sz="1800" b="0" i="0" u="none" strike="noStrike" kern="0" cap="none" spc="0" normalizeH="0" baseline="0" noProof="0" dirty="0">
                <a:ln>
                  <a:noFill/>
                </a:ln>
                <a:solidFill>
                  <a:prstClr val="white"/>
                </a:solidFill>
                <a:effectLst/>
                <a:uLnTx/>
                <a:uFillTx/>
                <a:latin typeface="Consolas" panose="020B0609020204030204" pitchFamily="49" charset="0"/>
                <a:ea typeface="黑体"/>
                <a:cs typeface="+mn-cs"/>
              </a:rPr>
              <a:t>程序</a:t>
            </a:r>
          </a:p>
        </p:txBody>
      </p:sp>
    </p:spTree>
    <p:extLst>
      <p:ext uri="{BB962C8B-B14F-4D97-AF65-F5344CB8AC3E}">
        <p14:creationId xmlns:p14="http://schemas.microsoft.com/office/powerpoint/2010/main" val="331200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righ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 grpId="0"/>
      <p:bldP spid="17"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AF25EE5F-8A57-E645-0344-9458AE3E8B57}"/>
              </a:ext>
            </a:extLst>
          </p:cNvPr>
          <p:cNvSpPr txBox="1"/>
          <p:nvPr/>
        </p:nvSpPr>
        <p:spPr>
          <a:xfrm>
            <a:off x="658314" y="1678109"/>
            <a:ext cx="3514725" cy="566245"/>
          </a:xfrm>
          <a:prstGeom prst="rect">
            <a:avLst/>
          </a:prstGeom>
          <a:noFill/>
        </p:spPr>
        <p:txBody>
          <a:bodyPr>
            <a:spAutoFit/>
          </a:bodyPr>
          <a:lstStyle/>
          <a:p>
            <a:pPr eaLnBrk="0" hangingPunct="0">
              <a:lnSpc>
                <a:spcPct val="200000"/>
              </a:lnSpc>
              <a:defRPr/>
            </a:pPr>
            <a:r>
              <a:rPr lang="zh-CN" altLang="en-US" b="1" dirty="0">
                <a:solidFill>
                  <a:srgbClr val="AD2B26"/>
                </a:solidFill>
                <a:latin typeface="Consolas" panose="020B0609020204030204" pitchFamily="49" charset="0"/>
                <a:ea typeface="阿里巴巴普惠体" panose="00020600040101010101" pitchFamily="18" charset="-122"/>
                <a:cs typeface="阿里巴巴普惠体" panose="00020600040101010101" pitchFamily="18" charset="-122"/>
              </a:rPr>
              <a:t>序列化流的操作流程</a:t>
            </a:r>
          </a:p>
        </p:txBody>
      </p:sp>
      <p:sp>
        <p:nvSpPr>
          <p:cNvPr id="4" name="文本占位符 3">
            <a:extLst>
              <a:ext uri="{FF2B5EF4-FFF2-40B4-BE49-F238E27FC236}">
                <a16:creationId xmlns:a16="http://schemas.microsoft.com/office/drawing/2014/main" id="{DCF670B0-875A-8B35-06FB-FCC954BF2A24}"/>
              </a:ext>
            </a:extLst>
          </p:cNvPr>
          <p:cNvSpPr>
            <a:spLocks noGrp="1"/>
          </p:cNvSpPr>
          <p:nvPr>
            <p:ph type="body" sz="quarter" idx="10"/>
          </p:nvPr>
        </p:nvSpPr>
        <p:spPr>
          <a:xfrm>
            <a:off x="3750808" y="2021009"/>
            <a:ext cx="4320404" cy="3383280"/>
          </a:xfrm>
        </p:spPr>
        <p:txBody>
          <a:bodyPr/>
          <a:lstStyle/>
          <a:p>
            <a:pPr marL="0" indent="0">
              <a:buNone/>
            </a:pPr>
            <a:r>
              <a:rPr lang="zh-CN" altLang="en-US" sz="1200" dirty="0">
                <a:latin typeface="Consolas" panose="020B0609020204030204" pitchFamily="49" charset="0"/>
              </a:rPr>
              <a:t>序列化流的作用是？</a:t>
            </a:r>
            <a:endParaRPr lang="en-US" altLang="zh-CN" sz="1200" dirty="0">
              <a:latin typeface="Consolas" panose="020B0609020204030204" pitchFamily="49" charset="0"/>
            </a:endParaRPr>
          </a:p>
          <a:p>
            <a:pPr marL="0" indent="0">
              <a:buNone/>
            </a:pPr>
            <a:r>
              <a:rPr lang="en-US" altLang="zh-CN" sz="1200" dirty="0">
                <a:solidFill>
                  <a:schemeClr val="tx1">
                    <a:lumMod val="85000"/>
                    <a:lumOff val="15000"/>
                  </a:schemeClr>
                </a:solidFill>
                <a:latin typeface="Consolas" panose="020B0609020204030204" pitchFamily="49" charset="0"/>
              </a:rPr>
              <a:t>	</a:t>
            </a:r>
            <a:r>
              <a:rPr lang="zh-CN" altLang="en-US" sz="1200" dirty="0">
                <a:solidFill>
                  <a:schemeClr val="tx1">
                    <a:lumMod val="85000"/>
                    <a:lumOff val="15000"/>
                  </a:schemeClr>
                </a:solidFill>
                <a:latin typeface="Consolas" panose="020B0609020204030204" pitchFamily="49" charset="0"/>
              </a:rPr>
              <a:t>可以在流中，以字节的形式直接读写对象</a:t>
            </a:r>
            <a:endParaRPr lang="en-US" altLang="zh-CN" sz="1200" dirty="0">
              <a:solidFill>
                <a:schemeClr val="tx1">
                  <a:lumMod val="85000"/>
                  <a:lumOff val="15000"/>
                </a:schemeClr>
              </a:solidFill>
              <a:latin typeface="Consolas" panose="020B0609020204030204" pitchFamily="49" charset="0"/>
            </a:endParaRPr>
          </a:p>
          <a:p>
            <a:pPr marL="0" indent="0">
              <a:buNone/>
            </a:pPr>
            <a:r>
              <a:rPr lang="zh-CN" altLang="en-US" sz="1200" dirty="0">
                <a:solidFill>
                  <a:schemeClr val="tx1">
                    <a:lumMod val="85000"/>
                    <a:lumOff val="15000"/>
                  </a:schemeClr>
                </a:solidFill>
                <a:latin typeface="Consolas" panose="020B0609020204030204" pitchFamily="49" charset="0"/>
              </a:rPr>
              <a:t>序列化流我们用的是哪个类读取</a:t>
            </a:r>
            <a:r>
              <a:rPr lang="en-US" altLang="zh-CN" sz="1200" dirty="0">
                <a:solidFill>
                  <a:schemeClr val="tx1">
                    <a:lumMod val="85000"/>
                    <a:lumOff val="15000"/>
                  </a:schemeClr>
                </a:solidFill>
                <a:latin typeface="Consolas" panose="020B0609020204030204" pitchFamily="49" charset="0"/>
              </a:rPr>
              <a:t>, </a:t>
            </a:r>
            <a:r>
              <a:rPr lang="zh-CN" altLang="en-US" sz="1200" dirty="0">
                <a:solidFill>
                  <a:schemeClr val="tx1">
                    <a:lumMod val="85000"/>
                    <a:lumOff val="15000"/>
                  </a:schemeClr>
                </a:solidFill>
                <a:latin typeface="Consolas" panose="020B0609020204030204" pitchFamily="49" charset="0"/>
              </a:rPr>
              <a:t>又是哪个类在写</a:t>
            </a:r>
            <a:r>
              <a:rPr lang="en-US" altLang="zh-CN" sz="1200" dirty="0">
                <a:solidFill>
                  <a:schemeClr val="tx1">
                    <a:lumMod val="85000"/>
                    <a:lumOff val="15000"/>
                  </a:schemeClr>
                </a:solidFill>
                <a:latin typeface="Consolas" panose="020B0609020204030204" pitchFamily="49" charset="0"/>
              </a:rPr>
              <a:t>?</a:t>
            </a:r>
          </a:p>
          <a:p>
            <a:pPr marL="0" indent="0">
              <a:buNone/>
            </a:pPr>
            <a:r>
              <a:rPr lang="en-US" altLang="zh-CN" sz="1200" dirty="0">
                <a:solidFill>
                  <a:schemeClr val="tx1">
                    <a:lumMod val="85000"/>
                    <a:lumOff val="15000"/>
                  </a:schemeClr>
                </a:solidFill>
                <a:latin typeface="Consolas" panose="020B0609020204030204" pitchFamily="49" charset="0"/>
              </a:rPr>
              <a:t>	</a:t>
            </a:r>
            <a:r>
              <a:rPr lang="en-US" altLang="zh-CN" sz="1200" dirty="0" err="1">
                <a:solidFill>
                  <a:schemeClr val="tx1">
                    <a:lumMod val="85000"/>
                    <a:lumOff val="15000"/>
                  </a:schemeClr>
                </a:solidFill>
                <a:latin typeface="Consolas" panose="020B0609020204030204" pitchFamily="49" charset="0"/>
              </a:rPr>
              <a:t>ObjectInputStream</a:t>
            </a:r>
            <a:r>
              <a:rPr lang="zh-CN" altLang="en-US" sz="1200" dirty="0">
                <a:solidFill>
                  <a:schemeClr val="tx1">
                    <a:lumMod val="85000"/>
                    <a:lumOff val="15000"/>
                  </a:schemeClr>
                </a:solidFill>
                <a:latin typeface="Consolas" panose="020B0609020204030204" pitchFamily="49" charset="0"/>
              </a:rPr>
              <a:t>、</a:t>
            </a:r>
            <a:r>
              <a:rPr lang="en-US" altLang="zh-CN" sz="1200" dirty="0" err="1">
                <a:solidFill>
                  <a:schemeClr val="tx1">
                    <a:lumMod val="85000"/>
                    <a:lumOff val="15000"/>
                  </a:schemeClr>
                </a:solidFill>
                <a:latin typeface="Consolas" panose="020B0609020204030204" pitchFamily="49" charset="0"/>
              </a:rPr>
              <a:t>ObjectOutputStream</a:t>
            </a:r>
            <a:endParaRPr lang="en-US" altLang="zh-CN" sz="1200" dirty="0">
              <a:solidFill>
                <a:schemeClr val="tx1">
                  <a:lumMod val="85000"/>
                  <a:lumOff val="15000"/>
                </a:schemeClr>
              </a:solidFill>
              <a:latin typeface="Consolas" panose="020B0609020204030204" pitchFamily="49" charset="0"/>
            </a:endParaRPr>
          </a:p>
          <a:p>
            <a:pPr marL="0" indent="0">
              <a:buNone/>
            </a:pPr>
            <a:r>
              <a:rPr lang="zh-CN" altLang="en-US" sz="1200" dirty="0">
                <a:solidFill>
                  <a:schemeClr val="tx1">
                    <a:lumMod val="85000"/>
                    <a:lumOff val="15000"/>
                  </a:schemeClr>
                </a:solidFill>
                <a:latin typeface="Consolas" panose="020B0609020204030204" pitchFamily="49" charset="0"/>
              </a:rPr>
              <a:t>调用的方法是</a:t>
            </a:r>
            <a:r>
              <a:rPr lang="en-US" altLang="zh-CN" sz="1200" dirty="0">
                <a:solidFill>
                  <a:schemeClr val="tx1">
                    <a:lumMod val="85000"/>
                    <a:lumOff val="15000"/>
                  </a:schemeClr>
                </a:solidFill>
                <a:latin typeface="Consolas" panose="020B0609020204030204" pitchFamily="49" charset="0"/>
              </a:rPr>
              <a:t>?</a:t>
            </a:r>
          </a:p>
          <a:p>
            <a:pPr marL="0" indent="0">
              <a:buNone/>
            </a:pPr>
            <a:r>
              <a:rPr lang="en-US" altLang="zh-CN" sz="1200" dirty="0">
                <a:solidFill>
                  <a:schemeClr val="tx1">
                    <a:lumMod val="85000"/>
                    <a:lumOff val="15000"/>
                  </a:schemeClr>
                </a:solidFill>
                <a:latin typeface="Consolas" panose="020B0609020204030204" pitchFamily="49" charset="0"/>
              </a:rPr>
              <a:t>	</a:t>
            </a:r>
            <a:r>
              <a:rPr lang="en-US" altLang="zh-CN" sz="1200" dirty="0" err="1">
                <a:solidFill>
                  <a:schemeClr val="tx1">
                    <a:lumMod val="85000"/>
                    <a:lumOff val="15000"/>
                  </a:schemeClr>
                </a:solidFill>
                <a:latin typeface="Consolas" panose="020B0609020204030204" pitchFamily="49" charset="0"/>
              </a:rPr>
              <a:t>readObject</a:t>
            </a:r>
            <a:r>
              <a:rPr lang="en-US" altLang="zh-CN" sz="1200" dirty="0">
                <a:solidFill>
                  <a:schemeClr val="tx1">
                    <a:lumMod val="85000"/>
                    <a:lumOff val="15000"/>
                  </a:schemeClr>
                </a:solidFill>
                <a:latin typeface="Consolas" panose="020B0609020204030204" pitchFamily="49" charset="0"/>
              </a:rPr>
              <a:t>()  </a:t>
            </a:r>
            <a:r>
              <a:rPr lang="en-US" altLang="zh-CN" sz="1200" dirty="0" err="1">
                <a:solidFill>
                  <a:schemeClr val="tx1">
                    <a:lumMod val="85000"/>
                    <a:lumOff val="15000"/>
                  </a:schemeClr>
                </a:solidFill>
                <a:latin typeface="Consolas" panose="020B0609020204030204" pitchFamily="49" charset="0"/>
              </a:rPr>
              <a:t>writeObject</a:t>
            </a:r>
            <a:r>
              <a:rPr lang="en-US" altLang="zh-CN" sz="1200" dirty="0">
                <a:solidFill>
                  <a:schemeClr val="tx1">
                    <a:lumMod val="85000"/>
                    <a:lumOff val="15000"/>
                  </a:schemeClr>
                </a:solidFill>
                <a:latin typeface="Consolas" panose="020B0609020204030204" pitchFamily="49" charset="0"/>
              </a:rPr>
              <a:t>()</a:t>
            </a:r>
          </a:p>
          <a:p>
            <a:pPr marL="0" indent="0">
              <a:buNone/>
            </a:pPr>
            <a:r>
              <a:rPr lang="zh-CN" altLang="en-US" sz="1200" dirty="0">
                <a:latin typeface="Consolas" panose="020B0609020204030204" pitchFamily="49" charset="0"/>
              </a:rPr>
              <a:t>类需要实现什么接口才可以序列化？</a:t>
            </a:r>
            <a:endParaRPr lang="en-US" altLang="zh-CN" sz="1200" dirty="0">
              <a:latin typeface="Consolas" panose="020B0609020204030204" pitchFamily="49" charset="0"/>
            </a:endParaRPr>
          </a:p>
          <a:p>
            <a:pPr marL="0" indent="0">
              <a:buNone/>
            </a:pPr>
            <a:r>
              <a:rPr lang="en-US" altLang="zh-CN" sz="1200" b="0" dirty="0">
                <a:solidFill>
                  <a:srgbClr val="000000"/>
                </a:solidFill>
                <a:latin typeface="Consolas" panose="020B0609020204030204" pitchFamily="49" charset="0"/>
                <a:ea typeface="JetBrains Mono"/>
              </a:rPr>
              <a:t>	</a:t>
            </a:r>
            <a:r>
              <a:rPr lang="zh-CN" altLang="zh-CN" sz="1200" b="0" dirty="0">
                <a:solidFill>
                  <a:srgbClr val="000000"/>
                </a:solidFill>
                <a:latin typeface="Consolas" panose="020B0609020204030204" pitchFamily="49" charset="0"/>
                <a:ea typeface="JetBrains Mono"/>
              </a:rPr>
              <a:t>Serializabl</a:t>
            </a:r>
            <a:r>
              <a:rPr lang="en-US" altLang="zh-CN" sz="1200" b="0" dirty="0">
                <a:solidFill>
                  <a:srgbClr val="000000"/>
                </a:solidFill>
                <a:latin typeface="Consolas" panose="020B0609020204030204" pitchFamily="49" charset="0"/>
                <a:ea typeface="JetBrains Mono"/>
              </a:rPr>
              <a:t>e</a:t>
            </a:r>
            <a:r>
              <a:rPr lang="zh-CN" altLang="en-US" sz="1200" b="0" dirty="0">
                <a:solidFill>
                  <a:srgbClr val="000000"/>
                </a:solidFill>
                <a:latin typeface="Consolas" panose="020B0609020204030204" pitchFamily="49" charset="0"/>
                <a:ea typeface="JetBrains Mono"/>
              </a:rPr>
              <a:t>接口</a:t>
            </a:r>
            <a:endParaRPr lang="en-US" altLang="zh-CN" sz="1200" b="0" dirty="0">
              <a:solidFill>
                <a:srgbClr val="000000"/>
              </a:solidFill>
              <a:latin typeface="Consolas" panose="020B0609020204030204" pitchFamily="49" charset="0"/>
              <a:ea typeface="JetBrains Mono"/>
            </a:endParaRPr>
          </a:p>
          <a:p>
            <a:pPr marL="0" indent="0">
              <a:buNone/>
            </a:pPr>
            <a:r>
              <a:rPr lang="zh-CN" altLang="en-US" sz="1200" dirty="0">
                <a:solidFill>
                  <a:srgbClr val="000000"/>
                </a:solidFill>
                <a:latin typeface="Consolas" panose="020B0609020204030204" pitchFamily="49" charset="0"/>
                <a:ea typeface="JetBrains Mono"/>
              </a:rPr>
              <a:t>实现接口后</a:t>
            </a:r>
            <a:r>
              <a:rPr lang="en-US" altLang="zh-CN" sz="1200" dirty="0">
                <a:solidFill>
                  <a:srgbClr val="000000"/>
                </a:solidFill>
                <a:latin typeface="Consolas" panose="020B0609020204030204" pitchFamily="49" charset="0"/>
                <a:ea typeface="JetBrains Mono"/>
              </a:rPr>
              <a:t>, </a:t>
            </a:r>
            <a:r>
              <a:rPr lang="zh-CN" altLang="en-US" sz="1200" dirty="0">
                <a:solidFill>
                  <a:srgbClr val="000000"/>
                </a:solidFill>
                <a:latin typeface="Consolas" panose="020B0609020204030204" pitchFamily="49" charset="0"/>
                <a:ea typeface="JetBrains Mono"/>
              </a:rPr>
              <a:t>推荐多做一步操作</a:t>
            </a:r>
            <a:r>
              <a:rPr lang="en-US" altLang="zh-CN" sz="1200" dirty="0">
                <a:solidFill>
                  <a:srgbClr val="000000"/>
                </a:solidFill>
                <a:latin typeface="Consolas" panose="020B0609020204030204" pitchFamily="49" charset="0"/>
                <a:ea typeface="JetBrains Mono"/>
              </a:rPr>
              <a:t>, </a:t>
            </a:r>
            <a:r>
              <a:rPr lang="zh-CN" altLang="en-US" sz="1200" dirty="0">
                <a:solidFill>
                  <a:srgbClr val="000000"/>
                </a:solidFill>
                <a:latin typeface="Consolas" panose="020B0609020204030204" pitchFamily="49" charset="0"/>
                <a:ea typeface="JetBrains Mono"/>
              </a:rPr>
              <a:t>这一步是 </a:t>
            </a:r>
            <a:r>
              <a:rPr lang="en-US" altLang="zh-CN" sz="1200" dirty="0">
                <a:solidFill>
                  <a:srgbClr val="000000"/>
                </a:solidFill>
                <a:latin typeface="Consolas" panose="020B0609020204030204" pitchFamily="49" charset="0"/>
                <a:ea typeface="JetBrains Mono"/>
              </a:rPr>
              <a:t>?</a:t>
            </a:r>
          </a:p>
          <a:p>
            <a:pPr marL="0" indent="0">
              <a:buNone/>
            </a:pPr>
            <a:r>
              <a:rPr lang="en-US" altLang="zh-CN" sz="1200" dirty="0">
                <a:solidFill>
                  <a:srgbClr val="000000"/>
                </a:solidFill>
                <a:latin typeface="Consolas" panose="020B0609020204030204" pitchFamily="49" charset="0"/>
                <a:ea typeface="JetBrains Mono"/>
              </a:rPr>
              <a:t>	</a:t>
            </a:r>
            <a:r>
              <a:rPr lang="zh-CN" altLang="en-US" sz="1200" dirty="0">
                <a:solidFill>
                  <a:srgbClr val="000000"/>
                </a:solidFill>
                <a:latin typeface="Consolas" panose="020B0609020204030204" pitchFamily="49" charset="0"/>
                <a:ea typeface="JetBrains Mono"/>
              </a:rPr>
              <a:t>手动加入 </a:t>
            </a:r>
            <a:r>
              <a:rPr lang="zh-CN" altLang="zh-CN" sz="1200" i="1" dirty="0">
                <a:solidFill>
                  <a:srgbClr val="871094"/>
                </a:solidFill>
                <a:latin typeface="Consolas" panose="020B0609020204030204" pitchFamily="49" charset="0"/>
                <a:ea typeface="JetBrains Mono"/>
              </a:rPr>
              <a:t>serialVersionUID</a:t>
            </a:r>
            <a:endParaRPr lang="en-US" altLang="zh-CN" sz="1200" i="1" dirty="0">
              <a:solidFill>
                <a:srgbClr val="871094"/>
              </a:solidFill>
              <a:latin typeface="Consolas" panose="020B0609020204030204" pitchFamily="49" charset="0"/>
              <a:ea typeface="JetBrains Mono"/>
            </a:endParaRPr>
          </a:p>
          <a:p>
            <a:pPr marL="0" indent="0">
              <a:buNone/>
            </a:pPr>
            <a:r>
              <a:rPr lang="zh-CN" altLang="zh-CN" sz="1200" dirty="0">
                <a:solidFill>
                  <a:srgbClr val="0033B3"/>
                </a:solidFill>
                <a:latin typeface="Consolas" panose="020B0609020204030204" pitchFamily="49" charset="0"/>
                <a:ea typeface="JetBrains Mono"/>
              </a:rPr>
              <a:t>transient</a:t>
            </a:r>
            <a:r>
              <a:rPr lang="en-US" altLang="zh-CN" sz="1200" dirty="0">
                <a:solidFill>
                  <a:srgbClr val="000000"/>
                </a:solidFill>
                <a:latin typeface="Consolas" panose="020B0609020204030204" pitchFamily="49" charset="0"/>
                <a:ea typeface="JetBrains Mono"/>
              </a:rPr>
              <a:t> </a:t>
            </a:r>
            <a:r>
              <a:rPr lang="zh-CN" altLang="en-US" sz="1200" dirty="0">
                <a:solidFill>
                  <a:srgbClr val="000000"/>
                </a:solidFill>
                <a:latin typeface="Consolas" panose="020B0609020204030204" pitchFamily="49" charset="0"/>
                <a:ea typeface="JetBrains Mono"/>
              </a:rPr>
              <a:t>关键字的作用是</a:t>
            </a:r>
            <a:r>
              <a:rPr lang="en-US" altLang="zh-CN" sz="1200" dirty="0">
                <a:solidFill>
                  <a:srgbClr val="000000"/>
                </a:solidFill>
                <a:latin typeface="Consolas" panose="020B0609020204030204" pitchFamily="49" charset="0"/>
                <a:ea typeface="JetBrains Mono"/>
              </a:rPr>
              <a:t>?</a:t>
            </a:r>
          </a:p>
          <a:p>
            <a:pPr marL="0" indent="0">
              <a:buNone/>
            </a:pPr>
            <a:r>
              <a:rPr lang="en-US" altLang="zh-CN" sz="1200" dirty="0">
                <a:solidFill>
                  <a:srgbClr val="000000"/>
                </a:solidFill>
                <a:latin typeface="Consolas" panose="020B0609020204030204" pitchFamily="49" charset="0"/>
                <a:ea typeface="JetBrains Mono"/>
              </a:rPr>
              <a:t>	</a:t>
            </a:r>
            <a:r>
              <a:rPr lang="zh-CN" altLang="en-US" sz="1200" dirty="0">
                <a:solidFill>
                  <a:srgbClr val="000000"/>
                </a:solidFill>
                <a:latin typeface="Consolas" panose="020B0609020204030204" pitchFamily="49" charset="0"/>
                <a:ea typeface="JetBrains Mono"/>
              </a:rPr>
              <a:t>被 </a:t>
            </a:r>
            <a:r>
              <a:rPr lang="en-US" altLang="zh-CN" sz="1200" dirty="0">
                <a:solidFill>
                  <a:srgbClr val="000000"/>
                </a:solidFill>
                <a:latin typeface="Consolas" panose="020B0609020204030204" pitchFamily="49" charset="0"/>
                <a:ea typeface="JetBrains Mono"/>
              </a:rPr>
              <a:t>transient </a:t>
            </a:r>
            <a:r>
              <a:rPr lang="zh-CN" altLang="en-US" sz="1200" dirty="0">
                <a:solidFill>
                  <a:srgbClr val="000000"/>
                </a:solidFill>
                <a:latin typeface="Consolas" panose="020B0609020204030204" pitchFamily="49" charset="0"/>
                <a:ea typeface="JetBrains Mono"/>
              </a:rPr>
              <a:t>修饰的成员变量不会被序列化</a:t>
            </a:r>
            <a:endParaRPr lang="en-US" altLang="zh-CN" sz="1200" dirty="0">
              <a:solidFill>
                <a:srgbClr val="000000"/>
              </a:solidFill>
              <a:latin typeface="Consolas" panose="020B0609020204030204" pitchFamily="49" charset="0"/>
              <a:ea typeface="JetBrains Mono"/>
            </a:endParaRPr>
          </a:p>
          <a:p>
            <a:pPr marL="0" indent="0">
              <a:buNone/>
            </a:pPr>
            <a:r>
              <a:rPr lang="en-US" altLang="zh-CN" sz="1200" dirty="0">
                <a:solidFill>
                  <a:srgbClr val="000000"/>
                </a:solidFill>
                <a:latin typeface="Consolas" panose="020B0609020204030204" pitchFamily="49" charset="0"/>
                <a:ea typeface="JetBrains Mono"/>
              </a:rPr>
              <a:t>	</a:t>
            </a:r>
          </a:p>
        </p:txBody>
      </p:sp>
    </p:spTree>
    <p:extLst>
      <p:ext uri="{BB962C8B-B14F-4D97-AF65-F5344CB8AC3E}">
        <p14:creationId xmlns:p14="http://schemas.microsoft.com/office/powerpoint/2010/main" val="13432393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wipe(left)">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wipe(left)">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wipe(left)">
                                      <p:cBhvr>
                                        <p:cTn id="62" dur="5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wipe(left)">
                                      <p:cBhvr>
                                        <p:cTn id="67"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p:txBody>
          <a:bodyPr/>
          <a:lstStyle/>
          <a:p>
            <a:r>
              <a:rPr lang="zh-CN" altLang="en-GB" sz="3200"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dirty="0">
              <a:ea typeface="宋体" panose="02010600030101010101" pitchFamily="2" charset="-122"/>
              <a:cs typeface="Times New Roman" panose="02020603050405020304" pitchFamily="18" charset="0"/>
            </a:endParaRPr>
          </a:p>
        </p:txBody>
      </p:sp>
      <p:sp>
        <p:nvSpPr>
          <p:cNvPr id="129027" name="内容占位符 2"/>
          <p:cNvSpPr>
            <a:spLocks noGrp="1"/>
          </p:cNvSpPr>
          <p:nvPr>
            <p:ph idx="1"/>
          </p:nvPr>
        </p:nvSpPr>
        <p:spPr>
          <a:xfrm>
            <a:off x="468313" y="981076"/>
            <a:ext cx="7543800" cy="935036"/>
          </a:xfrm>
        </p:spPr>
        <p:txBody>
          <a:bodyPr/>
          <a:lstStyle/>
          <a:p>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创建一个书籍对象，并把它输出到一个文件</a:t>
            </a:r>
            <a:r>
              <a:rPr lang="en-US" altLang="zh-CN" sz="2400" b="0" dirty="0">
                <a:latin typeface="Times New Roman" panose="02020603050405020304" pitchFamily="18" charset="0"/>
                <a:ea typeface="黑体" panose="02010609060101010101" pitchFamily="49" charset="-122"/>
                <a:cs typeface="Times New Roman" panose="02020603050405020304" pitchFamily="18" charset="0"/>
              </a:rPr>
              <a:t>book.dat</a:t>
            </a:r>
            <a:r>
              <a:rPr lang="zh-CN" altLang="en-US" sz="2400" b="0" dirty="0">
                <a:latin typeface="Times New Roman" panose="02020603050405020304" pitchFamily="18" charset="0"/>
                <a:ea typeface="黑体" panose="02010609060101010101" pitchFamily="49" charset="-122"/>
                <a:cs typeface="Times New Roman" panose="02020603050405020304" pitchFamily="18" charset="0"/>
              </a:rPr>
              <a:t>中，然后再把该对象读出来，在屏幕上显示对象信息</a:t>
            </a:r>
          </a:p>
          <a:p>
            <a:endParaRPr lang="zh-CN" altLang="en-US" dirty="0">
              <a:ea typeface="宋体" panose="02010600030101010101" pitchFamily="2" charset="-122"/>
            </a:endParaRPr>
          </a:p>
        </p:txBody>
      </p:sp>
      <p:sp>
        <p:nvSpPr>
          <p:cNvPr id="129028" name="Rectangle 3"/>
          <p:cNvSpPr txBox="1">
            <a:spLocks noChangeArrowheads="1"/>
          </p:cNvSpPr>
          <p:nvPr/>
        </p:nvSpPr>
        <p:spPr bwMode="auto">
          <a:xfrm>
            <a:off x="179388" y="1916113"/>
            <a:ext cx="8785225" cy="3889375"/>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class Book implements Serializable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int</a:t>
            </a: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0000FF"/>
                </a:solidFill>
                <a:latin typeface="Times New Roman" panose="02020603050405020304" pitchFamily="18" charset="0"/>
                <a:cs typeface="Times New Roman" panose="02020603050405020304" pitchFamily="18" charset="0"/>
              </a:rPr>
              <a:t>id</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a:solidFill>
                  <a:srgbClr val="0000FF"/>
                </a:solidFill>
                <a:latin typeface="Times New Roman" panose="02020603050405020304" pitchFamily="18" charset="0"/>
                <a:cs typeface="Times New Roman" panose="02020603050405020304" pitchFamily="18" charset="0"/>
              </a:rPr>
              <a:t>name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String </a:t>
            </a:r>
            <a:r>
              <a:rPr lang="en-US" altLang="zh-CN" sz="2000" b="1" dirty="0">
                <a:solidFill>
                  <a:srgbClr val="0000FF"/>
                </a:solidFill>
                <a:latin typeface="Times New Roman" panose="02020603050405020304" pitchFamily="18" charset="0"/>
                <a:cs typeface="Times New Roman" panose="02020603050405020304" pitchFamily="18" charset="0"/>
              </a:rPr>
              <a:t>author</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float </a:t>
            </a:r>
            <a:r>
              <a:rPr lang="en-US" altLang="zh-CN" sz="2000" b="1" dirty="0">
                <a:solidFill>
                  <a:srgbClr val="0000FF"/>
                </a:solidFill>
                <a:latin typeface="Times New Roman" panose="02020603050405020304" pitchFamily="18" charset="0"/>
                <a:cs typeface="Times New Roman" panose="02020603050405020304" pitchFamily="18" charset="0"/>
              </a:rPr>
              <a:t>price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Book(</a:t>
            </a:r>
            <a:r>
              <a:rPr lang="en-US" altLang="zh-CN" sz="2000" b="1" dirty="0" err="1">
                <a:latin typeface="Times New Roman" panose="02020603050405020304" pitchFamily="18" charset="0"/>
                <a:cs typeface="Times New Roman" panose="02020603050405020304" pitchFamily="18" charset="0"/>
              </a:rPr>
              <a:t>int</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id,String</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name,String</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author,float</a:t>
            </a:r>
            <a:r>
              <a:rPr lang="en-US" altLang="zh-CN" sz="2000" b="1" dirty="0">
                <a:latin typeface="Times New Roman" panose="02020603050405020304" pitchFamily="18" charset="0"/>
                <a:cs typeface="Times New Roman" panose="02020603050405020304" pitchFamily="18" charset="0"/>
              </a:rPr>
              <a:t> price)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this.id=id;</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this.name=name;</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this.author</a:t>
            </a:r>
            <a:r>
              <a:rPr lang="en-US" altLang="zh-CN" sz="2000" b="1" dirty="0">
                <a:latin typeface="Times New Roman" panose="02020603050405020304" pitchFamily="18" charset="0"/>
                <a:cs typeface="Times New Roman" panose="02020603050405020304" pitchFamily="18" charset="0"/>
              </a:rPr>
              <a:t>=author;</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this.price</a:t>
            </a:r>
            <a:r>
              <a:rPr lang="en-US" altLang="zh-CN" sz="2000" b="1" dirty="0">
                <a:latin typeface="Times New Roman" panose="02020603050405020304" pitchFamily="18" charset="0"/>
                <a:cs typeface="Times New Roman" panose="02020603050405020304" pitchFamily="18" charset="0"/>
              </a:rPr>
              <a:t>=price;</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cxnSp>
        <p:nvCxnSpPr>
          <p:cNvPr id="5" name="直接连接符 4"/>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1"/>
          <p:cNvSpPr>
            <a:spLocks noGrp="1"/>
          </p:cNvSpPr>
          <p:nvPr>
            <p:ph type="title"/>
          </p:nvPr>
        </p:nvSpPr>
        <p:spPr/>
        <p:txBody>
          <a:bodyPr/>
          <a:lstStyle/>
          <a:p>
            <a:endParaRPr lang="zh-CN" altLang="en-US">
              <a:ea typeface="宋体" panose="02010600030101010101" pitchFamily="2" charset="-122"/>
            </a:endParaRPr>
          </a:p>
        </p:txBody>
      </p:sp>
      <p:sp>
        <p:nvSpPr>
          <p:cNvPr id="130051" name="内容占位符 2"/>
          <p:cNvSpPr>
            <a:spLocks noGrp="1"/>
          </p:cNvSpPr>
          <p:nvPr>
            <p:ph idx="1"/>
          </p:nvPr>
        </p:nvSpPr>
        <p:spPr/>
        <p:txBody>
          <a:bodyPr/>
          <a:lstStyle/>
          <a:p>
            <a:endParaRPr lang="zh-CN" altLang="en-US">
              <a:ea typeface="宋体" panose="02010600030101010101" pitchFamily="2" charset="-122"/>
            </a:endParaRPr>
          </a:p>
        </p:txBody>
      </p:sp>
      <p:sp>
        <p:nvSpPr>
          <p:cNvPr id="130052" name="Rectangle 3"/>
          <p:cNvSpPr txBox="1">
            <a:spLocks noChangeArrowheads="1"/>
          </p:cNvSpPr>
          <p:nvPr/>
        </p:nvSpPr>
        <p:spPr bwMode="auto">
          <a:xfrm>
            <a:off x="107950" y="44450"/>
            <a:ext cx="8964613" cy="68135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public class </a:t>
            </a:r>
            <a:r>
              <a:rPr lang="en-US" altLang="zh-CN" sz="2000" b="1" dirty="0" err="1">
                <a:latin typeface="Times New Roman" panose="02020603050405020304" pitchFamily="18" charset="0"/>
                <a:cs typeface="Times New Roman" panose="02020603050405020304" pitchFamily="18" charset="0"/>
              </a:rPr>
              <a:t>SerialEx</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throws</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IOException,ClassNotFoundException</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Book book=new Book(100032,"Java Programming Skills",</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"Wang Sir",30);</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ObjectOutputStream</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oos</a:t>
            </a:r>
            <a:r>
              <a:rPr lang="en-US" altLang="zh-CN" sz="2000" b="1" dirty="0">
                <a:latin typeface="Times New Roman" panose="02020603050405020304" pitchFamily="18" charset="0"/>
                <a:cs typeface="Times New Roman" panose="02020603050405020304" pitchFamily="18" charset="0"/>
              </a:rPr>
              <a:t> = new </a:t>
            </a:r>
            <a:r>
              <a:rPr lang="en-US" altLang="zh-CN" sz="2000" b="1" dirty="0" err="1">
                <a:latin typeface="Times New Roman" panose="02020603050405020304" pitchFamily="18" charset="0"/>
                <a:cs typeface="Times New Roman" panose="02020603050405020304" pitchFamily="18" charset="0"/>
              </a:rPr>
              <a:t>ObjectOutputStream</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new </a:t>
            </a:r>
            <a:r>
              <a:rPr lang="en-US" altLang="zh-CN" sz="2000" b="1" dirty="0" err="1">
                <a:latin typeface="Times New Roman" panose="02020603050405020304" pitchFamily="18" charset="0"/>
                <a:cs typeface="Times New Roman" panose="02020603050405020304" pitchFamily="18" charset="0"/>
              </a:rPr>
              <a:t>FileOutputStream</a:t>
            </a:r>
            <a:r>
              <a:rPr lang="en-US" altLang="zh-CN" sz="2000" b="1" dirty="0">
                <a:latin typeface="Times New Roman" panose="02020603050405020304" pitchFamily="18" charset="0"/>
                <a:cs typeface="Times New Roman" panose="02020603050405020304" pitchFamily="18" charset="0"/>
              </a:rPr>
              <a:t>("c:\book.dat"));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oos.writeObject</a:t>
            </a:r>
            <a:r>
              <a:rPr lang="en-US" altLang="zh-CN" sz="2000" b="1" dirty="0">
                <a:latin typeface="Times New Roman" panose="02020603050405020304" pitchFamily="18" charset="0"/>
                <a:cs typeface="Times New Roman" panose="02020603050405020304" pitchFamily="18" charset="0"/>
              </a:rPr>
              <a:t>(book);</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oos.close</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book=null;</a:t>
            </a:r>
          </a:p>
          <a:p>
            <a:pPr marL="0" lvl="1">
              <a:buClr>
                <a:schemeClr val="accent2"/>
              </a:buClr>
              <a:buSzPct val="70000"/>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ObjectInputStream</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ois</a:t>
            </a:r>
            <a:r>
              <a:rPr lang="en-US" altLang="zh-CN" sz="2000" b="1" dirty="0">
                <a:latin typeface="Times New Roman" panose="02020603050405020304" pitchFamily="18" charset="0"/>
                <a:cs typeface="Times New Roman" panose="02020603050405020304" pitchFamily="18" charset="0"/>
              </a:rPr>
              <a:t> = new </a:t>
            </a:r>
            <a:r>
              <a:rPr lang="en-US" altLang="zh-CN" sz="2000" b="1" dirty="0" err="1">
                <a:latin typeface="Times New Roman" panose="02020603050405020304" pitchFamily="18" charset="0"/>
                <a:cs typeface="Times New Roman" panose="02020603050405020304" pitchFamily="18" charset="0"/>
              </a:rPr>
              <a:t>ObjectInputStream</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new </a:t>
            </a:r>
            <a:r>
              <a:rPr lang="en-US" altLang="zh-CN" sz="2000" b="1" dirty="0" err="1">
                <a:latin typeface="Times New Roman" panose="02020603050405020304" pitchFamily="18" charset="0"/>
                <a:cs typeface="Times New Roman" panose="02020603050405020304" pitchFamily="18" charset="0"/>
              </a:rPr>
              <a:t>FileInputStream</a:t>
            </a:r>
            <a:r>
              <a:rPr lang="en-US" altLang="zh-CN" sz="2000" b="1" dirty="0">
                <a:latin typeface="Times New Roman" panose="02020603050405020304" pitchFamily="18" charset="0"/>
                <a:cs typeface="Times New Roman" panose="02020603050405020304" pitchFamily="18" charset="0"/>
              </a:rPr>
              <a:t>("c:\book.dat"));    </a:t>
            </a:r>
          </a:p>
          <a:p>
            <a:pPr marL="0" lvl="1">
              <a:buClr>
                <a:schemeClr val="accent2"/>
              </a:buClr>
              <a:buSzPct val="70000"/>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book=(Book)</a:t>
            </a:r>
            <a:r>
              <a:rPr lang="en-US" altLang="zh-CN" sz="2000" b="1" dirty="0" err="1">
                <a:latin typeface="Times New Roman" panose="02020603050405020304" pitchFamily="18" charset="0"/>
                <a:cs typeface="Times New Roman" panose="02020603050405020304" pitchFamily="18" charset="0"/>
              </a:rPr>
              <a:t>ois.readObject</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ois.close</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("ID is:"+book.id);  </a:t>
            </a:r>
            <a:endParaRPr lang="zh-CN" altLang="en-US"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("name is:"+book.name);</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("author is:"+</a:t>
            </a:r>
            <a:r>
              <a:rPr lang="en-US" altLang="zh-CN" sz="2000" b="1" dirty="0" err="1">
                <a:latin typeface="Times New Roman" panose="02020603050405020304" pitchFamily="18" charset="0"/>
                <a:cs typeface="Times New Roman" panose="02020603050405020304" pitchFamily="18" charset="0"/>
              </a:rPr>
              <a:t>book.author</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("price is:"+</a:t>
            </a:r>
            <a:r>
              <a:rPr lang="en-US" altLang="zh-CN" sz="2000" b="1" dirty="0" err="1">
                <a:latin typeface="Times New Roman" panose="02020603050405020304" pitchFamily="18" charset="0"/>
                <a:cs typeface="Times New Roman" panose="02020603050405020304" pitchFamily="18" charset="0"/>
              </a:rPr>
              <a:t>book.price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
          <p:cNvSpPr>
            <a:spLocks noGrp="1"/>
          </p:cNvSpPr>
          <p:nvPr>
            <p:ph type="title"/>
          </p:nvPr>
        </p:nvSpPr>
        <p:spPr/>
        <p:txBody>
          <a:bodyPr/>
          <a:lstStyle/>
          <a:p>
            <a:r>
              <a:rPr lang="zh-CN" altLang="en-GB" sz="3200" b="0" dirty="0">
                <a:latin typeface="Times New Roman" panose="02020603050405020304" pitchFamily="18" charset="0"/>
                <a:ea typeface="黑体" panose="02010609060101010101" pitchFamily="49" charset="-122"/>
                <a:cs typeface="Times New Roman" panose="02020603050405020304" pitchFamily="18" charset="0"/>
              </a:rPr>
              <a:t>6.2.</a:t>
            </a:r>
            <a:r>
              <a:rPr lang="en-US" altLang="zh-CN" sz="3200" b="0" dirty="0">
                <a:latin typeface="Times New Roman" panose="02020603050405020304" pitchFamily="18" charset="0"/>
                <a:ea typeface="黑体" panose="02010609060101010101" pitchFamily="49" charset="-122"/>
                <a:cs typeface="Times New Roman" panose="02020603050405020304" pitchFamily="18" charset="0"/>
              </a:rPr>
              <a:t>6 </a:t>
            </a:r>
            <a:r>
              <a:rPr lang="zh-CN" altLang="en-US" sz="3200" b="0" dirty="0">
                <a:latin typeface="Times New Roman" panose="02020603050405020304" pitchFamily="18" charset="0"/>
                <a:ea typeface="黑体" panose="02010609060101010101" pitchFamily="49" charset="-122"/>
                <a:cs typeface="Times New Roman" panose="02020603050405020304" pitchFamily="18" charset="0"/>
              </a:rPr>
              <a:t>对象序列化</a:t>
            </a:r>
            <a:endParaRPr lang="zh-CN" altLang="en-US" sz="3200" dirty="0">
              <a:ea typeface="宋体" panose="02010600030101010101" pitchFamily="2" charset="-122"/>
              <a:cs typeface="Times New Roman" panose="02020603050405020304" pitchFamily="18" charset="0"/>
            </a:endParaRPr>
          </a:p>
        </p:txBody>
      </p:sp>
      <p:sp>
        <p:nvSpPr>
          <p:cNvPr id="131075" name="内容占位符 2"/>
          <p:cNvSpPr>
            <a:spLocks noGrp="1"/>
          </p:cNvSpPr>
          <p:nvPr>
            <p:ph idx="1"/>
          </p:nvPr>
        </p:nvSpPr>
        <p:spPr>
          <a:xfrm>
            <a:off x="323528" y="981075"/>
            <a:ext cx="8374385" cy="5616575"/>
          </a:xfrm>
        </p:spPr>
        <p:txBody>
          <a:bodyPr/>
          <a:lstStyle/>
          <a:p>
            <a:pPr>
              <a:lnSpc>
                <a:spcPct val="90000"/>
              </a:lnSpc>
            </a:pPr>
            <a:r>
              <a:rPr lang="zh-CN" altLang="en-US" sz="2400" dirty="0">
                <a:ea typeface="宋体" panose="02010600030101010101" pitchFamily="2" charset="-122"/>
              </a:rPr>
              <a:t>运行结果</a:t>
            </a:r>
          </a:p>
          <a:p>
            <a:pPr lvl="1">
              <a:lnSpc>
                <a:spcPct val="90000"/>
              </a:lnSpc>
              <a:buFontTx/>
              <a:buNone/>
            </a:pPr>
            <a:r>
              <a:rPr lang="zh-CN" altLang="en-US" sz="2000" dirty="0">
                <a:ea typeface="楷体_GB2312" pitchFamily="49" charset="-122"/>
              </a:rPr>
              <a:t>将生成</a:t>
            </a:r>
            <a:r>
              <a:rPr lang="en-US" altLang="zh-CN" sz="2000" dirty="0">
                <a:ea typeface="楷体_GB2312" pitchFamily="49" charset="-122"/>
              </a:rPr>
              <a:t>book.dat</a:t>
            </a:r>
            <a:r>
              <a:rPr lang="zh-CN" altLang="en-US" sz="2000" dirty="0">
                <a:ea typeface="楷体_GB2312" pitchFamily="49" charset="-122"/>
              </a:rPr>
              <a:t>文件，并在屏幕显示：</a:t>
            </a:r>
          </a:p>
          <a:p>
            <a:pPr lvl="2">
              <a:lnSpc>
                <a:spcPct val="90000"/>
              </a:lnSpc>
              <a:buFont typeface="Wingdings" panose="05000000000000000000" pitchFamily="2" charset="2"/>
              <a:buNone/>
            </a:pPr>
            <a:r>
              <a:rPr lang="en-US" altLang="zh-CN" sz="2400" dirty="0">
                <a:ea typeface="楷体_GB2312" pitchFamily="49" charset="-122"/>
              </a:rPr>
              <a:t>ID is:100032</a:t>
            </a:r>
          </a:p>
          <a:p>
            <a:pPr lvl="2">
              <a:lnSpc>
                <a:spcPct val="90000"/>
              </a:lnSpc>
              <a:buFont typeface="Wingdings" panose="05000000000000000000" pitchFamily="2" charset="2"/>
              <a:buNone/>
            </a:pPr>
            <a:r>
              <a:rPr lang="en-US" altLang="zh-CN" sz="2400" dirty="0">
                <a:ea typeface="楷体_GB2312" pitchFamily="49" charset="-122"/>
              </a:rPr>
              <a:t>name </a:t>
            </a:r>
            <a:r>
              <a:rPr lang="en-US" altLang="zh-CN" sz="2400" dirty="0" err="1">
                <a:ea typeface="楷体_GB2312" pitchFamily="49" charset="-122"/>
              </a:rPr>
              <a:t>is:Java</a:t>
            </a:r>
            <a:r>
              <a:rPr lang="en-US" altLang="zh-CN" sz="2400" dirty="0">
                <a:ea typeface="楷体_GB2312" pitchFamily="49" charset="-122"/>
              </a:rPr>
              <a:t> Programming Skills</a:t>
            </a:r>
          </a:p>
          <a:p>
            <a:pPr lvl="2">
              <a:lnSpc>
                <a:spcPct val="90000"/>
              </a:lnSpc>
              <a:buFont typeface="Wingdings" panose="05000000000000000000" pitchFamily="2" charset="2"/>
              <a:buNone/>
            </a:pPr>
            <a:r>
              <a:rPr lang="en-US" altLang="zh-CN" sz="2400" dirty="0">
                <a:ea typeface="楷体_GB2312" pitchFamily="49" charset="-122"/>
              </a:rPr>
              <a:t>author </a:t>
            </a:r>
            <a:r>
              <a:rPr lang="en-US" altLang="zh-CN" sz="2400" dirty="0" err="1">
                <a:ea typeface="楷体_GB2312" pitchFamily="49" charset="-122"/>
              </a:rPr>
              <a:t>is:Wang</a:t>
            </a:r>
            <a:r>
              <a:rPr lang="en-US" altLang="zh-CN" sz="2400" dirty="0">
                <a:ea typeface="楷体_GB2312" pitchFamily="49" charset="-122"/>
              </a:rPr>
              <a:t> Sir</a:t>
            </a:r>
          </a:p>
          <a:p>
            <a:pPr lvl="2">
              <a:lnSpc>
                <a:spcPct val="90000"/>
              </a:lnSpc>
              <a:buFont typeface="Wingdings" panose="05000000000000000000" pitchFamily="2" charset="2"/>
              <a:buNone/>
            </a:pPr>
            <a:r>
              <a:rPr lang="en-US" altLang="zh-CN" sz="2400" dirty="0">
                <a:ea typeface="楷体_GB2312" pitchFamily="49" charset="-122"/>
              </a:rPr>
              <a:t>price is:30.0</a:t>
            </a:r>
          </a:p>
          <a:p>
            <a:pPr>
              <a:lnSpc>
                <a:spcPct val="90000"/>
              </a:lnSpc>
            </a:pPr>
            <a:r>
              <a:rPr lang="zh-CN" altLang="en-US" sz="2400" dirty="0">
                <a:ea typeface="宋体" panose="02010600030101010101" pitchFamily="2" charset="-122"/>
              </a:rPr>
              <a:t>说明</a:t>
            </a:r>
          </a:p>
          <a:p>
            <a:pPr lvl="1">
              <a:lnSpc>
                <a:spcPct val="90000"/>
              </a:lnSpc>
            </a:pPr>
            <a:r>
              <a:rPr lang="zh-CN" altLang="en-US" dirty="0">
                <a:ea typeface="楷体_GB2312" pitchFamily="49" charset="-122"/>
              </a:rPr>
              <a:t>如果希望增加</a:t>
            </a:r>
            <a:r>
              <a:rPr lang="en-US" altLang="zh-CN" dirty="0">
                <a:ea typeface="楷体_GB2312" pitchFamily="49" charset="-122"/>
              </a:rPr>
              <a:t>Book</a:t>
            </a:r>
            <a:r>
              <a:rPr lang="zh-CN" altLang="en-US" dirty="0">
                <a:ea typeface="楷体_GB2312" pitchFamily="49" charset="-122"/>
              </a:rPr>
              <a:t>类的功能，使其还能够具有借书方法</a:t>
            </a:r>
            <a:r>
              <a:rPr lang="en-US" altLang="zh-CN" dirty="0" err="1">
                <a:solidFill>
                  <a:srgbClr val="FF0000"/>
                </a:solidFill>
                <a:ea typeface="楷体_GB2312" pitchFamily="49" charset="-122"/>
              </a:rPr>
              <a:t>borrowBook</a:t>
            </a:r>
            <a:r>
              <a:rPr lang="en-US" altLang="zh-CN" dirty="0">
                <a:ea typeface="楷体_GB2312" pitchFamily="49" charset="-122"/>
              </a:rPr>
              <a:t>，</a:t>
            </a:r>
            <a:r>
              <a:rPr lang="zh-CN" altLang="en-US" dirty="0">
                <a:ea typeface="楷体_GB2312" pitchFamily="49" charset="-122"/>
              </a:rPr>
              <a:t>并保存借书人的借书号</a:t>
            </a:r>
            <a:r>
              <a:rPr lang="en-US" altLang="zh-CN" dirty="0" err="1">
                <a:solidFill>
                  <a:srgbClr val="FF0000"/>
                </a:solidFill>
                <a:ea typeface="楷体_GB2312" pitchFamily="49" charset="-122"/>
              </a:rPr>
              <a:t>borrowerID</a:t>
            </a:r>
            <a:r>
              <a:rPr lang="en-US" altLang="zh-CN" dirty="0">
                <a:ea typeface="楷体_GB2312" pitchFamily="49" charset="-122"/>
              </a:rPr>
              <a:t>，</a:t>
            </a:r>
            <a:r>
              <a:rPr lang="zh-CN" altLang="en-US" dirty="0">
                <a:ea typeface="楷体_GB2312" pitchFamily="49" charset="-122"/>
              </a:rPr>
              <a:t>可对</a:t>
            </a:r>
            <a:r>
              <a:rPr lang="en-US" altLang="zh-CN" dirty="0">
                <a:ea typeface="楷体_GB2312" pitchFamily="49" charset="-122"/>
              </a:rPr>
              <a:t>Book</a:t>
            </a:r>
            <a:r>
              <a:rPr lang="zh-CN" altLang="en-US" dirty="0">
                <a:ea typeface="楷体_GB2312" pitchFamily="49" charset="-122"/>
              </a:rPr>
              <a:t>类添加如下内容：</a:t>
            </a:r>
          </a:p>
          <a:p>
            <a:pPr lvl="2">
              <a:lnSpc>
                <a:spcPct val="90000"/>
              </a:lnSpc>
              <a:buFont typeface="Wingdings" panose="05000000000000000000" pitchFamily="2" charset="2"/>
              <a:buNone/>
            </a:pPr>
            <a:r>
              <a:rPr lang="en-US" altLang="zh-CN" b="1" dirty="0">
                <a:solidFill>
                  <a:srgbClr val="FF0000"/>
                </a:solidFill>
                <a:ea typeface="楷体_GB2312" pitchFamily="49" charset="-122"/>
              </a:rPr>
              <a:t>transient</a:t>
            </a:r>
            <a:r>
              <a:rPr lang="en-US" altLang="zh-CN" b="1" dirty="0">
                <a:solidFill>
                  <a:srgbClr val="0000FF"/>
                </a:solidFill>
                <a:ea typeface="楷体_GB2312" pitchFamily="49" charset="-122"/>
              </a:rPr>
              <a:t> </a:t>
            </a:r>
            <a:r>
              <a:rPr lang="en-US" altLang="zh-CN" b="1" dirty="0" err="1">
                <a:solidFill>
                  <a:srgbClr val="0000FF"/>
                </a:solidFill>
                <a:ea typeface="楷体_GB2312" pitchFamily="49" charset="-122"/>
              </a:rPr>
              <a:t>int</a:t>
            </a:r>
            <a:r>
              <a:rPr lang="en-US" altLang="zh-CN" b="1" dirty="0">
                <a:solidFill>
                  <a:srgbClr val="0000FF"/>
                </a:solidFill>
                <a:ea typeface="楷体_GB2312" pitchFamily="49" charset="-122"/>
              </a:rPr>
              <a:t> </a:t>
            </a:r>
            <a:r>
              <a:rPr lang="en-US" altLang="zh-CN" b="1" dirty="0" err="1">
                <a:solidFill>
                  <a:srgbClr val="0000FF"/>
                </a:solidFill>
                <a:ea typeface="楷体_GB2312" pitchFamily="49" charset="-122"/>
              </a:rPr>
              <a:t>borrowerID</a:t>
            </a:r>
            <a:r>
              <a:rPr lang="en-US" altLang="zh-CN" b="1" dirty="0">
                <a:solidFill>
                  <a:srgbClr val="0000FF"/>
                </a:solidFill>
                <a:ea typeface="楷体_GB2312" pitchFamily="49" charset="-122"/>
              </a:rPr>
              <a:t>;</a:t>
            </a:r>
          </a:p>
          <a:p>
            <a:pPr lvl="2">
              <a:lnSpc>
                <a:spcPct val="90000"/>
              </a:lnSpc>
              <a:buFont typeface="Wingdings" panose="05000000000000000000" pitchFamily="2" charset="2"/>
              <a:buNone/>
            </a:pPr>
            <a:r>
              <a:rPr lang="en-US" altLang="zh-CN" b="1" dirty="0">
                <a:solidFill>
                  <a:srgbClr val="0000FF"/>
                </a:solidFill>
                <a:ea typeface="楷体_GB2312" pitchFamily="49" charset="-122"/>
              </a:rPr>
              <a:t>public void </a:t>
            </a:r>
            <a:r>
              <a:rPr lang="en-US" altLang="zh-CN" b="1" dirty="0" err="1">
                <a:solidFill>
                  <a:srgbClr val="0000FF"/>
                </a:solidFill>
                <a:ea typeface="楷体_GB2312" pitchFamily="49" charset="-122"/>
              </a:rPr>
              <a:t>borrowBook</a:t>
            </a:r>
            <a:r>
              <a:rPr lang="en-US" altLang="zh-CN" b="1" dirty="0">
                <a:solidFill>
                  <a:srgbClr val="0000FF"/>
                </a:solidFill>
                <a:ea typeface="楷体_GB2312" pitchFamily="49" charset="-122"/>
              </a:rPr>
              <a:t>(</a:t>
            </a:r>
            <a:r>
              <a:rPr lang="en-US" altLang="zh-CN" b="1" dirty="0" err="1">
                <a:solidFill>
                  <a:srgbClr val="0000FF"/>
                </a:solidFill>
                <a:ea typeface="楷体_GB2312" pitchFamily="49" charset="-122"/>
              </a:rPr>
              <a:t>int</a:t>
            </a:r>
            <a:r>
              <a:rPr lang="en-US" altLang="zh-CN" b="1" dirty="0">
                <a:solidFill>
                  <a:srgbClr val="0000FF"/>
                </a:solidFill>
                <a:ea typeface="楷体_GB2312" pitchFamily="49" charset="-122"/>
              </a:rPr>
              <a:t> ID)</a:t>
            </a:r>
          </a:p>
          <a:p>
            <a:pPr lvl="2">
              <a:lnSpc>
                <a:spcPct val="90000"/>
              </a:lnSpc>
              <a:buFont typeface="Wingdings" panose="05000000000000000000" pitchFamily="2" charset="2"/>
              <a:buNone/>
            </a:pPr>
            <a:r>
              <a:rPr lang="en-US" altLang="zh-CN" b="1" dirty="0">
                <a:solidFill>
                  <a:srgbClr val="0000FF"/>
                </a:solidFill>
                <a:ea typeface="楷体_GB2312" pitchFamily="49" charset="-122"/>
              </a:rPr>
              <a:t>{</a:t>
            </a:r>
          </a:p>
          <a:p>
            <a:pPr lvl="2">
              <a:lnSpc>
                <a:spcPct val="90000"/>
              </a:lnSpc>
              <a:buFont typeface="Wingdings" panose="05000000000000000000" pitchFamily="2" charset="2"/>
              <a:buNone/>
            </a:pPr>
            <a:r>
              <a:rPr lang="en-US" altLang="zh-CN" b="1" dirty="0">
                <a:solidFill>
                  <a:srgbClr val="0000FF"/>
                </a:solidFill>
                <a:ea typeface="楷体_GB2312" pitchFamily="49" charset="-122"/>
              </a:rPr>
              <a:t>	</a:t>
            </a:r>
            <a:r>
              <a:rPr lang="en-US" altLang="zh-CN" b="1" dirty="0" err="1">
                <a:solidFill>
                  <a:srgbClr val="0000FF"/>
                </a:solidFill>
                <a:ea typeface="楷体_GB2312" pitchFamily="49" charset="-122"/>
              </a:rPr>
              <a:t>this.borrowerID</a:t>
            </a:r>
            <a:r>
              <a:rPr lang="en-US" altLang="zh-CN" b="1" dirty="0">
                <a:solidFill>
                  <a:srgbClr val="0000FF"/>
                </a:solidFill>
                <a:ea typeface="楷体_GB2312" pitchFamily="49" charset="-122"/>
              </a:rPr>
              <a:t>=ID;</a:t>
            </a:r>
          </a:p>
          <a:p>
            <a:pPr lvl="2">
              <a:lnSpc>
                <a:spcPct val="90000"/>
              </a:lnSpc>
              <a:buFont typeface="Wingdings" panose="05000000000000000000" pitchFamily="2" charset="2"/>
              <a:buNone/>
            </a:pPr>
            <a:r>
              <a:rPr lang="en-US" altLang="zh-CN" b="1" dirty="0">
                <a:solidFill>
                  <a:srgbClr val="0000FF"/>
                </a:solidFill>
                <a:ea typeface="楷体_GB2312" pitchFamily="49" charset="-122"/>
              </a:rPr>
              <a:t>}</a:t>
            </a:r>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p:txBody>
          <a:bodyPr/>
          <a:lstStyle/>
          <a:p>
            <a:endParaRPr lang="zh-CN" altLang="en-US">
              <a:ea typeface="宋体" panose="02010600030101010101" pitchFamily="2" charset="-122"/>
            </a:endParaRPr>
          </a:p>
        </p:txBody>
      </p:sp>
      <p:sp>
        <p:nvSpPr>
          <p:cNvPr id="132099" name="内容占位符 2"/>
          <p:cNvSpPr>
            <a:spLocks noGrp="1"/>
          </p:cNvSpPr>
          <p:nvPr>
            <p:ph idx="1"/>
          </p:nvPr>
        </p:nvSpPr>
        <p:spPr>
          <a:xfrm>
            <a:off x="468313" y="1341438"/>
            <a:ext cx="8424862" cy="4824412"/>
          </a:xfrm>
        </p:spPr>
        <p:txBody>
          <a:bodyPr/>
          <a:lstStyle/>
          <a:p>
            <a:pPr>
              <a:lnSpc>
                <a:spcPct val="110000"/>
              </a:lnSpc>
            </a:pPr>
            <a:r>
              <a:rPr lang="zh-CN" altLang="en-US" sz="2400" dirty="0">
                <a:ea typeface="宋体" panose="02010600030101010101" pitchFamily="2" charset="-122"/>
              </a:rPr>
              <a:t>在</a:t>
            </a:r>
            <a:r>
              <a:rPr lang="en-US" altLang="zh-CN" sz="2400" dirty="0">
                <a:ea typeface="宋体" panose="02010600030101010101" pitchFamily="2" charset="-122"/>
              </a:rPr>
              <a:t>main</a:t>
            </a:r>
            <a:r>
              <a:rPr lang="zh-CN" altLang="en-US" sz="2400" dirty="0">
                <a:ea typeface="宋体" panose="02010600030101010101" pitchFamily="2" charset="-122"/>
              </a:rPr>
              <a:t>方法中创建了</a:t>
            </a:r>
            <a:r>
              <a:rPr lang="en-US" altLang="zh-CN" sz="2400" dirty="0">
                <a:ea typeface="宋体" panose="02010600030101010101" pitchFamily="2" charset="-122"/>
              </a:rPr>
              <a:t>Book</a:t>
            </a:r>
            <a:r>
              <a:rPr lang="zh-CN" altLang="en-US" sz="2400" dirty="0">
                <a:ea typeface="宋体" panose="02010600030101010101" pitchFamily="2" charset="-122"/>
              </a:rPr>
              <a:t>类的一个对象后，紧接着调用</a:t>
            </a:r>
            <a:r>
              <a:rPr lang="en-US" altLang="zh-CN" sz="2400" dirty="0" err="1">
                <a:ea typeface="宋体" panose="02010600030101010101" pitchFamily="2" charset="-122"/>
              </a:rPr>
              <a:t>borrowBook</a:t>
            </a:r>
            <a:r>
              <a:rPr lang="zh-CN" altLang="en-US" sz="2400" dirty="0">
                <a:ea typeface="宋体" panose="02010600030101010101" pitchFamily="2" charset="-122"/>
              </a:rPr>
              <a:t>方法</a:t>
            </a:r>
          </a:p>
          <a:p>
            <a:pPr lvl="1">
              <a:lnSpc>
                <a:spcPct val="110000"/>
              </a:lnSpc>
              <a:buFontTx/>
              <a:buNone/>
            </a:pPr>
            <a:r>
              <a:rPr lang="en-US" altLang="zh-CN" dirty="0">
                <a:solidFill>
                  <a:srgbClr val="0000FF"/>
                </a:solidFill>
                <a:ea typeface="楷体_GB2312" pitchFamily="49" charset="-122"/>
              </a:rPr>
              <a:t>    </a:t>
            </a:r>
            <a:r>
              <a:rPr lang="en-US" altLang="zh-CN" dirty="0" err="1">
                <a:solidFill>
                  <a:srgbClr val="0000FF"/>
                </a:solidFill>
                <a:ea typeface="楷体_GB2312" pitchFamily="49" charset="-122"/>
              </a:rPr>
              <a:t>book.borrowBook</a:t>
            </a:r>
            <a:r>
              <a:rPr lang="en-US" altLang="zh-CN" dirty="0">
                <a:solidFill>
                  <a:srgbClr val="0000FF"/>
                </a:solidFill>
                <a:ea typeface="楷体_GB2312" pitchFamily="49" charset="-122"/>
              </a:rPr>
              <a:t>(2012);</a:t>
            </a:r>
          </a:p>
          <a:p>
            <a:pPr>
              <a:lnSpc>
                <a:spcPct val="110000"/>
              </a:lnSpc>
            </a:pPr>
            <a:r>
              <a:rPr lang="zh-CN" altLang="en-US" sz="2400" dirty="0">
                <a:ea typeface="宋体" panose="02010600030101010101" pitchFamily="2" charset="-122"/>
              </a:rPr>
              <a:t>从读入的对象中输出</a:t>
            </a:r>
            <a:r>
              <a:rPr lang="en-US" altLang="zh-CN" sz="2400" dirty="0" err="1">
                <a:solidFill>
                  <a:srgbClr val="009900"/>
                </a:solidFill>
                <a:ea typeface="宋体" panose="02010600030101010101" pitchFamily="2" charset="-122"/>
              </a:rPr>
              <a:t>borrowerID</a:t>
            </a:r>
            <a:endParaRPr lang="en-US" altLang="zh-CN" sz="2400" dirty="0">
              <a:solidFill>
                <a:srgbClr val="009900"/>
              </a:solidFill>
              <a:ea typeface="宋体" panose="02010600030101010101" pitchFamily="2" charset="-122"/>
            </a:endParaRPr>
          </a:p>
          <a:p>
            <a:pPr lvl="1">
              <a:lnSpc>
                <a:spcPct val="110000"/>
              </a:lnSpc>
              <a:buFontTx/>
              <a:buNone/>
            </a:pPr>
            <a:r>
              <a:rPr lang="en-US" altLang="zh-CN" sz="2000" dirty="0">
                <a:ea typeface="楷体_GB2312" pitchFamily="49" charset="-122"/>
              </a:rPr>
              <a:t>   </a:t>
            </a:r>
            <a:r>
              <a:rPr lang="en-US" altLang="zh-CN" sz="2000" dirty="0" err="1">
                <a:ea typeface="楷体_GB2312" pitchFamily="49" charset="-122"/>
              </a:rPr>
              <a:t>System.out.println</a:t>
            </a:r>
            <a:r>
              <a:rPr lang="en-US" altLang="zh-CN" sz="2000" dirty="0">
                <a:ea typeface="楷体_GB2312" pitchFamily="49" charset="-122"/>
              </a:rPr>
              <a:t>("Borrower ID is:"+</a:t>
            </a:r>
            <a:r>
              <a:rPr lang="en-US" altLang="zh-CN" sz="2000" dirty="0" err="1">
                <a:solidFill>
                  <a:srgbClr val="009900"/>
                </a:solidFill>
                <a:ea typeface="楷体_GB2312" pitchFamily="49" charset="-122"/>
              </a:rPr>
              <a:t>book.borrowerID</a:t>
            </a:r>
            <a:r>
              <a:rPr lang="en-US" altLang="zh-CN" sz="2000" dirty="0">
                <a:ea typeface="楷体_GB2312" pitchFamily="49" charset="-122"/>
              </a:rPr>
              <a:t>);</a:t>
            </a:r>
          </a:p>
          <a:p>
            <a:pPr>
              <a:lnSpc>
                <a:spcPct val="110000"/>
              </a:lnSpc>
            </a:pPr>
            <a:r>
              <a:rPr lang="zh-CN" altLang="en-US" sz="2400" dirty="0">
                <a:ea typeface="宋体" panose="02010600030101010101" pitchFamily="2" charset="-122"/>
              </a:rPr>
              <a:t>运行结果</a:t>
            </a:r>
          </a:p>
          <a:p>
            <a:pPr lvl="1">
              <a:lnSpc>
                <a:spcPct val="110000"/>
              </a:lnSpc>
            </a:pPr>
            <a:r>
              <a:rPr lang="zh-CN" altLang="en-US" dirty="0">
                <a:ea typeface="楷体_GB2312" pitchFamily="49" charset="-122"/>
              </a:rPr>
              <a:t>显示</a:t>
            </a:r>
            <a:r>
              <a:rPr lang="en-US" altLang="zh-CN" dirty="0" err="1">
                <a:ea typeface="楷体_GB2312" pitchFamily="49" charset="-122"/>
              </a:rPr>
              <a:t>borrrowID</a:t>
            </a:r>
            <a:r>
              <a:rPr lang="zh-CN" altLang="en-US" dirty="0">
                <a:ea typeface="楷体_GB2312" pitchFamily="49" charset="-122"/>
              </a:rPr>
              <a:t>为0，因为声明为</a:t>
            </a:r>
            <a:r>
              <a:rPr lang="en-US" altLang="zh-CN" dirty="0">
                <a:solidFill>
                  <a:srgbClr val="FF0000"/>
                </a:solidFill>
                <a:ea typeface="楷体_GB2312" pitchFamily="49" charset="-122"/>
              </a:rPr>
              <a:t>transient</a:t>
            </a:r>
            <a:r>
              <a:rPr lang="en-US" altLang="zh-CN" dirty="0">
                <a:ea typeface="楷体_GB2312" pitchFamily="49" charset="-122"/>
              </a:rPr>
              <a:t>，</a:t>
            </a:r>
            <a:r>
              <a:rPr lang="zh-CN" altLang="en-US" dirty="0">
                <a:ea typeface="楷体_GB2312" pitchFamily="49" charset="-122"/>
              </a:rPr>
              <a:t>所以不保存</a:t>
            </a:r>
          </a:p>
          <a:p>
            <a:pPr lvl="1">
              <a:lnSpc>
                <a:spcPct val="110000"/>
              </a:lnSpc>
            </a:pPr>
            <a:r>
              <a:rPr lang="zh-CN" altLang="en-US" dirty="0">
                <a:ea typeface="楷体_GB2312" pitchFamily="49" charset="-122"/>
              </a:rPr>
              <a:t>如果去掉</a:t>
            </a:r>
            <a:r>
              <a:rPr lang="en-US" altLang="zh-CN" dirty="0">
                <a:ea typeface="楷体_GB2312" pitchFamily="49" charset="-122"/>
              </a:rPr>
              <a:t>transient</a:t>
            </a:r>
            <a:r>
              <a:rPr lang="zh-CN" altLang="en-US" dirty="0">
                <a:ea typeface="楷体_GB2312" pitchFamily="49" charset="-122"/>
              </a:rPr>
              <a:t>关键子，则可以正确读出201</a:t>
            </a:r>
            <a:r>
              <a:rPr lang="en-US" altLang="zh-CN" dirty="0">
                <a:ea typeface="楷体_GB2312" pitchFamily="49" charset="-122"/>
              </a:rPr>
              <a:t>2</a:t>
            </a:r>
            <a:r>
              <a:rPr lang="zh-CN" altLang="en-US" dirty="0">
                <a:ea typeface="楷体_GB2312" pitchFamily="49" charset="-122"/>
              </a:rPr>
              <a:t>。这对于保护比较重要的信息（例如密码等）是很有必要的</a:t>
            </a:r>
          </a:p>
          <a:p>
            <a:endParaRPr lang="zh-CN" altLang="en-US" dirty="0">
              <a:ea typeface="宋体" panose="02010600030101010101" pitchFamily="2"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260648"/>
            <a:ext cx="6858000" cy="648419"/>
          </a:xfrm>
        </p:spPr>
        <p:txBody>
          <a:bodyPr/>
          <a:lstStyle/>
          <a:p>
            <a:pPr marL="838200" indent="-838200" eaLnBrk="1" hangingPunct="1"/>
            <a:r>
              <a:rPr lang="zh-CN" altLang="en-US" b="0" dirty="0">
                <a:latin typeface="Times New Roman" panose="02020603050405020304" pitchFamily="18" charset="0"/>
                <a:ea typeface="黑体" panose="02010609060101010101" pitchFamily="49" charset="-122"/>
                <a:cs typeface="Times New Roman" panose="02020603050405020304" pitchFamily="18" charset="0"/>
              </a:rPr>
              <a:t>第六章 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输出流和文件</a:t>
            </a:r>
          </a:p>
        </p:txBody>
      </p:sp>
      <p:sp>
        <p:nvSpPr>
          <p:cNvPr id="66563" name="Rectangle 3"/>
          <p:cNvSpPr>
            <a:spLocks noGrp="1" noChangeArrowheads="1"/>
          </p:cNvSpPr>
          <p:nvPr>
            <p:ph idx="1"/>
          </p:nvPr>
        </p:nvSpPr>
        <p:spPr>
          <a:xfrm>
            <a:off x="609600" y="1295400"/>
            <a:ext cx="7467600" cy="5257800"/>
          </a:xfrm>
        </p:spPr>
        <p:txBody>
          <a:bodyPr/>
          <a:lstStyle/>
          <a:p>
            <a:pPr marL="609600" indent="-609600" eaLnBrk="1" hangingPunct="1">
              <a:buFontTx/>
              <a:buNone/>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6.1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输出流</a:t>
            </a:r>
          </a:p>
          <a:p>
            <a:pPr marL="609600" indent="-609600" eaLnBrk="1" hangingPunct="1">
              <a:buFontTx/>
              <a:buNone/>
            </a:pPr>
            <a:r>
              <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6.2 </a:t>
            </a:r>
            <a:r>
              <a:rPr lang="zh-CN" altLang="en-US"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文件读写</a:t>
            </a:r>
            <a:endParaRPr lang="en-US" altLang="zh-CN" b="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r>
              <a:rPr lang="en-US" altLang="zh-CN" b="0" dirty="0">
                <a:ea typeface="黑体" panose="02010609060101010101" pitchFamily="49" charset="-122"/>
                <a:cs typeface="Times New Roman" panose="02020603050405020304" pitchFamily="18" charset="0"/>
              </a:rPr>
              <a:t>File</a:t>
            </a:r>
            <a:r>
              <a:rPr lang="zh-CN" altLang="en-US" b="0" dirty="0">
                <a:ea typeface="黑体" panose="02010609060101010101" pitchFamily="49" charset="-122"/>
                <a:cs typeface="Times New Roman" panose="02020603050405020304" pitchFamily="18" charset="0"/>
              </a:rPr>
              <a:t>类</a:t>
            </a:r>
            <a:endParaRPr lang="en-US" altLang="zh-CN" b="0" dirty="0">
              <a:ea typeface="黑体" panose="02010609060101010101" pitchFamily="49" charset="-122"/>
              <a:cs typeface="Times New Roman" panose="02020603050405020304" pitchFamily="18" charset="0"/>
            </a:endParaRPr>
          </a:p>
          <a:p>
            <a:pPr lvl="1" eaLnBrk="1" hangingPunct="1"/>
            <a:r>
              <a:rPr lang="zh-CN" altLang="en-US" b="0" dirty="0">
                <a:ea typeface="黑体" panose="02010609060101010101" pitchFamily="49" charset="-122"/>
                <a:cs typeface="Times New Roman" panose="02020603050405020304" pitchFamily="18" charset="0"/>
              </a:rPr>
              <a:t>写二进制文件</a:t>
            </a:r>
          </a:p>
          <a:p>
            <a:pPr lvl="1" eaLnBrk="1" hangingPunct="1"/>
            <a:r>
              <a:rPr lang="zh-CN" altLang="en-US" b="0" dirty="0">
                <a:ea typeface="黑体" panose="02010609060101010101" pitchFamily="49" charset="-122"/>
                <a:cs typeface="Times New Roman" panose="02020603050405020304" pitchFamily="18" charset="0"/>
              </a:rPr>
              <a:t>读二进制文件</a:t>
            </a:r>
          </a:p>
          <a:p>
            <a:pPr lvl="1" eaLnBrk="1" hangingPunct="1"/>
            <a:r>
              <a:rPr lang="zh-CN" altLang="en-US" b="0" dirty="0">
                <a:ea typeface="黑体" panose="02010609060101010101" pitchFamily="49" charset="-122"/>
                <a:cs typeface="Times New Roman" panose="02020603050405020304" pitchFamily="18" charset="0"/>
              </a:rPr>
              <a:t>写文本文件</a:t>
            </a:r>
          </a:p>
          <a:p>
            <a:pPr lvl="1" eaLnBrk="1" hangingPunct="1"/>
            <a:r>
              <a:rPr lang="zh-CN" altLang="en-US" b="0" dirty="0">
                <a:ea typeface="黑体" panose="02010609060101010101" pitchFamily="49" charset="-122"/>
                <a:cs typeface="Times New Roman" panose="02020603050405020304" pitchFamily="18" charset="0"/>
              </a:rPr>
              <a:t>读文本文件</a:t>
            </a:r>
          </a:p>
          <a:p>
            <a:pPr lvl="1" eaLnBrk="1" hangingPunct="1"/>
            <a:r>
              <a:rPr lang="zh-CN" altLang="en-US" b="0" dirty="0">
                <a:ea typeface="黑体" panose="02010609060101010101" pitchFamily="49" charset="-122"/>
                <a:cs typeface="Times New Roman" panose="02020603050405020304" pitchFamily="18" charset="0"/>
              </a:rPr>
              <a:t>对象序列化</a:t>
            </a:r>
          </a:p>
          <a:p>
            <a:pPr lvl="1" eaLnBrk="1" hangingPunct="1"/>
            <a:r>
              <a:rPr lang="zh-CN" altLang="en-US" b="0" dirty="0">
                <a:solidFill>
                  <a:srgbClr val="C00000"/>
                </a:solidFill>
                <a:ea typeface="黑体" panose="02010609060101010101" pitchFamily="49" charset="-122"/>
                <a:cs typeface="Times New Roman" panose="02020603050405020304" pitchFamily="18" charset="0"/>
              </a:rPr>
              <a:t>随机文件读写</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97786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标题 1"/>
          <p:cNvSpPr>
            <a:spLocks noGrp="1"/>
          </p:cNvSpPr>
          <p:nvPr>
            <p:ph type="title"/>
          </p:nvPr>
        </p:nvSpPr>
        <p:spPr/>
        <p:txBody>
          <a:bodyPr/>
          <a:lstStyle/>
          <a:p>
            <a:r>
              <a:rPr lang="zh-CN" altLang="en-GB" dirty="0">
                <a:ea typeface="宋体" panose="02010600030101010101" pitchFamily="2" charset="-122"/>
                <a:cs typeface="Times New Roman" panose="02020603050405020304" pitchFamily="18" charset="0"/>
              </a:rPr>
              <a:t>6.2.</a:t>
            </a:r>
            <a:r>
              <a:rPr lang="en-US" altLang="zh-CN" dirty="0">
                <a:ea typeface="宋体" panose="02010600030101010101" pitchFamily="2" charset="-122"/>
                <a:cs typeface="Times New Roman" panose="02020603050405020304" pitchFamily="18" charset="0"/>
              </a:rPr>
              <a:t>7 </a:t>
            </a:r>
            <a:r>
              <a:rPr lang="zh-CN" altLang="en-US" dirty="0">
                <a:ea typeface="宋体" panose="02010600030101010101" pitchFamily="2" charset="-122"/>
                <a:cs typeface="Times New Roman" panose="02020603050405020304" pitchFamily="18" charset="0"/>
              </a:rPr>
              <a:t>随机文件读写</a:t>
            </a:r>
          </a:p>
        </p:txBody>
      </p:sp>
      <p:sp>
        <p:nvSpPr>
          <p:cNvPr id="134147" name="内容占位符 2"/>
          <p:cNvSpPr>
            <a:spLocks noGrp="1"/>
          </p:cNvSpPr>
          <p:nvPr>
            <p:ph idx="1"/>
          </p:nvPr>
        </p:nvSpPr>
        <p:spPr>
          <a:xfrm>
            <a:off x="468313" y="981075"/>
            <a:ext cx="7920111" cy="5184775"/>
          </a:xfrm>
        </p:spPr>
        <p:txBody>
          <a:bodyPr/>
          <a:lstStyle/>
          <a:p>
            <a:pPr>
              <a:lnSpc>
                <a:spcPct val="90000"/>
              </a:lnSpc>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随机文件读写</a:t>
            </a:r>
          </a:p>
          <a:p>
            <a:pPr lvl="1">
              <a:lnSpc>
                <a:spcPct val="120000"/>
              </a:lnSpc>
            </a:pPr>
            <a:r>
              <a:rPr lang="zh-CN" altLang="en-US" b="0" dirty="0">
                <a:ea typeface="黑体" panose="02010609060101010101" pitchFamily="49" charset="-122"/>
                <a:cs typeface="Times New Roman" panose="02020603050405020304" pitchFamily="18" charset="0"/>
              </a:rPr>
              <a:t>对于很多场合，例如银行系统、实时销售系统，要求能够迅速、直接地访问文件中的特定信息，而无需查找其他的记录。这种类型的即时访问可能要用到随机存取文件和数据库。</a:t>
            </a:r>
          </a:p>
          <a:p>
            <a:pPr lvl="1">
              <a:lnSpc>
                <a:spcPct val="120000"/>
              </a:lnSpc>
            </a:pPr>
            <a:r>
              <a:rPr lang="zh-CN" altLang="en-US" b="0" dirty="0">
                <a:solidFill>
                  <a:srgbClr val="FF0000"/>
                </a:solidFill>
                <a:ea typeface="黑体" panose="02010609060101010101" pitchFamily="49" charset="-122"/>
                <a:cs typeface="Times New Roman" panose="02020603050405020304" pitchFamily="18" charset="0"/>
              </a:rPr>
              <a:t>随机文件的应用程序必须指定文件的格式。</a:t>
            </a:r>
            <a:r>
              <a:rPr lang="zh-CN" altLang="en-US" b="0" dirty="0">
                <a:ea typeface="黑体" panose="02010609060101010101" pitchFamily="49" charset="-122"/>
                <a:cs typeface="Times New Roman" panose="02020603050405020304" pitchFamily="18" charset="0"/>
              </a:rPr>
              <a:t>最简单的是要求文件中的所有记录均保持相同的固定长度。利用固定长度的记录，程序可以容易地计算出任何一条记录相对于文件头的确切位置</a:t>
            </a:r>
          </a:p>
          <a:p>
            <a:pPr lvl="1">
              <a:lnSpc>
                <a:spcPct val="120000"/>
              </a:lnSpc>
            </a:pPr>
            <a:r>
              <a:rPr lang="en-US" altLang="zh-CN" b="0" dirty="0">
                <a:ea typeface="黑体" panose="02010609060101010101" pitchFamily="49" charset="-122"/>
                <a:cs typeface="Times New Roman" panose="02020603050405020304" pitchFamily="18" charset="0"/>
              </a:rPr>
              <a:t>Java.io</a:t>
            </a:r>
            <a:r>
              <a:rPr lang="zh-CN" altLang="en-US" b="0" dirty="0">
                <a:ea typeface="黑体" panose="02010609060101010101" pitchFamily="49" charset="-122"/>
                <a:cs typeface="Times New Roman" panose="02020603050405020304" pitchFamily="18" charset="0"/>
              </a:rPr>
              <a:t>包提供了</a:t>
            </a:r>
            <a:r>
              <a:rPr lang="en-US" altLang="zh-CN" b="0" dirty="0" err="1">
                <a:solidFill>
                  <a:srgbClr val="0000FF"/>
                </a:solidFill>
                <a:ea typeface="黑体" panose="02010609060101010101" pitchFamily="49" charset="-122"/>
                <a:cs typeface="Times New Roman" panose="02020603050405020304" pitchFamily="18" charset="0"/>
              </a:rPr>
              <a:t>RandomAccessFile</a:t>
            </a:r>
            <a:r>
              <a:rPr lang="zh-CN" altLang="en-US" b="0" dirty="0">
                <a:solidFill>
                  <a:srgbClr val="0000FF"/>
                </a:solidFill>
                <a:ea typeface="黑体" panose="02010609060101010101" pitchFamily="49" charset="-122"/>
                <a:cs typeface="Times New Roman" panose="02020603050405020304" pitchFamily="18" charset="0"/>
              </a:rPr>
              <a:t>类</a:t>
            </a:r>
            <a:r>
              <a:rPr lang="zh-CN" altLang="en-US" b="0" dirty="0">
                <a:ea typeface="黑体" panose="02010609060101010101" pitchFamily="49" charset="-122"/>
                <a:cs typeface="Times New Roman" panose="02020603050405020304" pitchFamily="18" charset="0"/>
              </a:rPr>
              <a:t>用于随机文件的创建和访问</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p:nvPr>
        </p:nvSpPr>
        <p:spPr/>
        <p:txBody>
          <a:bodyPr/>
          <a:lstStyle/>
          <a:p>
            <a:r>
              <a:rPr lang="zh-CN" altLang="en-GB" dirty="0">
                <a:ea typeface="宋体" panose="02010600030101010101" pitchFamily="2" charset="-122"/>
                <a:cs typeface="Times New Roman" panose="02020603050405020304" pitchFamily="18" charset="0"/>
              </a:rPr>
              <a:t>6.2.</a:t>
            </a:r>
            <a:r>
              <a:rPr lang="en-US" altLang="zh-CN" dirty="0">
                <a:ea typeface="宋体" panose="02010600030101010101" pitchFamily="2" charset="-122"/>
                <a:cs typeface="Times New Roman" panose="02020603050405020304" pitchFamily="18" charset="0"/>
              </a:rPr>
              <a:t>7 </a:t>
            </a:r>
            <a:r>
              <a:rPr lang="zh-CN" altLang="en-US" dirty="0">
                <a:ea typeface="宋体" panose="02010600030101010101" pitchFamily="2" charset="-122"/>
                <a:cs typeface="Times New Roman" panose="02020603050405020304" pitchFamily="18" charset="0"/>
              </a:rPr>
              <a:t>随机文件读写</a:t>
            </a:r>
          </a:p>
        </p:txBody>
      </p:sp>
      <p:sp>
        <p:nvSpPr>
          <p:cNvPr id="135171" name="内容占位符 2"/>
          <p:cNvSpPr>
            <a:spLocks noGrp="1"/>
          </p:cNvSpPr>
          <p:nvPr>
            <p:ph idx="1"/>
          </p:nvPr>
        </p:nvSpPr>
        <p:spPr>
          <a:xfrm>
            <a:off x="323850" y="981075"/>
            <a:ext cx="8496300" cy="5761038"/>
          </a:xfrm>
        </p:spPr>
        <p:txBody>
          <a:bodyPr/>
          <a:lstStyle/>
          <a:p>
            <a:pPr>
              <a:lnSpc>
                <a:spcPct val="110000"/>
              </a:lnSpc>
            </a:pPr>
            <a:r>
              <a:rPr lang="en-US" altLang="zh-CN" sz="2400" dirty="0" err="1">
                <a:ea typeface="宋体" panose="02010600030101010101" pitchFamily="2" charset="-122"/>
              </a:rPr>
              <a:t>RandomAccessFile</a:t>
            </a:r>
            <a:r>
              <a:rPr lang="zh-CN" altLang="en-US" sz="2400" dirty="0">
                <a:ea typeface="宋体" panose="02010600030101010101" pitchFamily="2" charset="-122"/>
              </a:rPr>
              <a:t>类</a:t>
            </a:r>
          </a:p>
          <a:p>
            <a:pPr lvl="1">
              <a:lnSpc>
                <a:spcPct val="120000"/>
              </a:lnSpc>
            </a:pPr>
            <a:r>
              <a:rPr lang="zh-CN" altLang="en-US" sz="2200" dirty="0">
                <a:ea typeface="楷体_GB2312" pitchFamily="49" charset="-122"/>
              </a:rPr>
              <a:t>可跳转到文件的任意位置读/写数据</a:t>
            </a:r>
          </a:p>
          <a:p>
            <a:pPr lvl="1">
              <a:lnSpc>
                <a:spcPct val="120000"/>
              </a:lnSpc>
            </a:pPr>
            <a:r>
              <a:rPr lang="zh-CN" altLang="en-US" sz="2200" dirty="0">
                <a:ea typeface="楷体_GB2312" pitchFamily="49" charset="-122"/>
              </a:rPr>
              <a:t>可在随机文件中插入数据，而不破坏该文件的其他数据</a:t>
            </a:r>
          </a:p>
          <a:p>
            <a:pPr lvl="1">
              <a:lnSpc>
                <a:spcPct val="120000"/>
              </a:lnSpc>
            </a:pPr>
            <a:r>
              <a:rPr lang="zh-CN" altLang="en-US" sz="2200" dirty="0">
                <a:ea typeface="楷体_GB2312" pitchFamily="49" charset="-122"/>
              </a:rPr>
              <a:t>实现了</a:t>
            </a:r>
            <a:r>
              <a:rPr lang="en-US" altLang="zh-CN" sz="2200" dirty="0" err="1">
                <a:ea typeface="楷体_GB2312" pitchFamily="49" charset="-122"/>
              </a:rPr>
              <a:t>DataInput</a:t>
            </a:r>
            <a:r>
              <a:rPr lang="en-US" altLang="zh-CN" sz="2200" dirty="0">
                <a:ea typeface="楷体_GB2312" pitchFamily="49" charset="-122"/>
              </a:rPr>
              <a:t> </a:t>
            </a:r>
            <a:r>
              <a:rPr lang="zh-CN" altLang="en-US" sz="2200" dirty="0">
                <a:ea typeface="楷体_GB2312" pitchFamily="49" charset="-122"/>
              </a:rPr>
              <a:t>和 </a:t>
            </a:r>
            <a:r>
              <a:rPr lang="en-US" altLang="zh-CN" sz="2200" dirty="0" err="1">
                <a:ea typeface="楷体_GB2312" pitchFamily="49" charset="-122"/>
              </a:rPr>
              <a:t>DataOutput</a:t>
            </a:r>
            <a:r>
              <a:rPr lang="en-US" altLang="zh-CN" sz="2200" dirty="0">
                <a:ea typeface="楷体_GB2312" pitchFamily="49" charset="-122"/>
              </a:rPr>
              <a:t> </a:t>
            </a:r>
            <a:r>
              <a:rPr lang="zh-CN" altLang="en-US" sz="2200" dirty="0">
                <a:ea typeface="楷体_GB2312" pitchFamily="49" charset="-122"/>
              </a:rPr>
              <a:t>接口，可使用普通的读写方法</a:t>
            </a:r>
          </a:p>
          <a:p>
            <a:pPr lvl="1">
              <a:lnSpc>
                <a:spcPct val="120000"/>
              </a:lnSpc>
            </a:pPr>
            <a:r>
              <a:rPr lang="zh-CN" altLang="en-US" sz="2200" dirty="0">
                <a:ea typeface="楷体_GB2312" pitchFamily="49" charset="-122"/>
              </a:rPr>
              <a:t>有个位置指示器，指向当前读写处的位置。刚打开文件时，文件指示器指向文件的开头处。对文件指针显式操作的方法有：</a:t>
            </a:r>
          </a:p>
          <a:p>
            <a:pPr lvl="2">
              <a:lnSpc>
                <a:spcPct val="120000"/>
              </a:lnSpc>
            </a:pPr>
            <a:r>
              <a:rPr lang="en-US" altLang="zh-CN" sz="1800" b="1" dirty="0">
                <a:solidFill>
                  <a:srgbClr val="0000FF"/>
                </a:solidFill>
                <a:ea typeface="楷体_GB2312" pitchFamily="49" charset="-122"/>
              </a:rPr>
              <a:t>int  </a:t>
            </a:r>
            <a:r>
              <a:rPr lang="en-US" altLang="zh-CN" sz="1800" b="1" dirty="0" err="1">
                <a:solidFill>
                  <a:srgbClr val="0000FF"/>
                </a:solidFill>
                <a:ea typeface="楷体_GB2312" pitchFamily="49" charset="-122"/>
              </a:rPr>
              <a:t>skipBytes</a:t>
            </a:r>
            <a:r>
              <a:rPr lang="en-US" altLang="zh-CN" sz="1800" b="1" dirty="0">
                <a:solidFill>
                  <a:srgbClr val="0000FF"/>
                </a:solidFill>
                <a:ea typeface="楷体_GB2312" pitchFamily="49" charset="-122"/>
              </a:rPr>
              <a:t>(int n)：</a:t>
            </a:r>
            <a:r>
              <a:rPr lang="zh-CN" altLang="en-US" sz="1800" dirty="0">
                <a:ea typeface="楷体_GB2312" pitchFamily="49" charset="-122"/>
              </a:rPr>
              <a:t>把文件指针向前移动指定的</a:t>
            </a:r>
            <a:r>
              <a:rPr lang="en-US" altLang="zh-CN" sz="1800" dirty="0">
                <a:ea typeface="楷体_GB2312" pitchFamily="49" charset="-122"/>
              </a:rPr>
              <a:t>n</a:t>
            </a:r>
            <a:r>
              <a:rPr lang="zh-CN" altLang="en-US" sz="1800" dirty="0">
                <a:ea typeface="楷体_GB2312" pitchFamily="49" charset="-122"/>
              </a:rPr>
              <a:t>个字节</a:t>
            </a:r>
          </a:p>
          <a:p>
            <a:pPr lvl="2">
              <a:lnSpc>
                <a:spcPct val="120000"/>
              </a:lnSpc>
            </a:pPr>
            <a:r>
              <a:rPr lang="en-US" altLang="zh-CN" sz="1800" b="1" dirty="0">
                <a:solidFill>
                  <a:srgbClr val="0000FF"/>
                </a:solidFill>
                <a:ea typeface="楷体_GB2312" pitchFamily="49" charset="-122"/>
              </a:rPr>
              <a:t>void seek(long)：</a:t>
            </a:r>
            <a:r>
              <a:rPr lang="zh-CN" altLang="en-US" sz="1800" dirty="0">
                <a:ea typeface="楷体_GB2312" pitchFamily="49" charset="-122"/>
              </a:rPr>
              <a:t>移动文件指针到指定的位置。</a:t>
            </a:r>
          </a:p>
          <a:p>
            <a:pPr lvl="2">
              <a:lnSpc>
                <a:spcPct val="120000"/>
              </a:lnSpc>
            </a:pPr>
            <a:r>
              <a:rPr lang="en-US" altLang="zh-CN" sz="1800" b="1" dirty="0">
                <a:solidFill>
                  <a:srgbClr val="0000FF"/>
                </a:solidFill>
                <a:ea typeface="楷体_GB2312" pitchFamily="49" charset="-122"/>
              </a:rPr>
              <a:t>long </a:t>
            </a:r>
            <a:r>
              <a:rPr lang="en-US" altLang="zh-CN" sz="1800" b="1" dirty="0" err="1">
                <a:solidFill>
                  <a:srgbClr val="0000FF"/>
                </a:solidFill>
                <a:ea typeface="楷体_GB2312" pitchFamily="49" charset="-122"/>
              </a:rPr>
              <a:t>getFilePointer</a:t>
            </a:r>
            <a:r>
              <a:rPr lang="en-US" altLang="zh-CN" sz="1800" b="1" dirty="0">
                <a:solidFill>
                  <a:srgbClr val="0000FF"/>
                </a:solidFill>
                <a:ea typeface="楷体_GB2312" pitchFamily="49" charset="-122"/>
              </a:rPr>
              <a:t>()：</a:t>
            </a:r>
            <a:r>
              <a:rPr lang="zh-CN" altLang="en-US" sz="1800" dirty="0">
                <a:ea typeface="楷体_GB2312" pitchFamily="49" charset="-122"/>
              </a:rPr>
              <a:t>得到当前的文件指针。</a:t>
            </a:r>
          </a:p>
          <a:p>
            <a:pPr lvl="1">
              <a:lnSpc>
                <a:spcPct val="120000"/>
              </a:lnSpc>
            </a:pPr>
            <a:r>
              <a:rPr lang="zh-CN" altLang="en-US" dirty="0">
                <a:ea typeface="楷体_GB2312" pitchFamily="49" charset="-122"/>
              </a:rPr>
              <a:t>在等长记录格式文件的随机读取时有很大的优势，但仅限于操作文件，不能访问其它</a:t>
            </a:r>
            <a:r>
              <a:rPr lang="en-US" altLang="zh-CN" dirty="0">
                <a:ea typeface="楷体_GB2312" pitchFamily="49" charset="-122"/>
              </a:rPr>
              <a:t>IO</a:t>
            </a:r>
            <a:r>
              <a:rPr lang="zh-CN" altLang="en-US" dirty="0">
                <a:ea typeface="楷体_GB2312" pitchFamily="49" charset="-122"/>
              </a:rPr>
              <a:t>设备，如网络、内存映像等</a:t>
            </a:r>
            <a:endParaRPr lang="zh-CN" altLang="en-US" sz="2800" dirty="0">
              <a:ea typeface="楷体_GB2312" pitchFamily="49"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
          <p:cNvSpPr>
            <a:spLocks noGrp="1"/>
          </p:cNvSpPr>
          <p:nvPr>
            <p:ph type="title"/>
          </p:nvPr>
        </p:nvSpPr>
        <p:spPr/>
        <p:txBody>
          <a:bodyPr/>
          <a:lstStyle/>
          <a:p>
            <a:r>
              <a:rPr lang="zh-CN" altLang="en-GB" dirty="0">
                <a:ea typeface="宋体" panose="02010600030101010101" pitchFamily="2" charset="-122"/>
                <a:cs typeface="Times New Roman" panose="02020603050405020304" pitchFamily="18" charset="0"/>
              </a:rPr>
              <a:t>6.2.</a:t>
            </a:r>
            <a:r>
              <a:rPr lang="en-US" altLang="zh-CN" dirty="0">
                <a:ea typeface="宋体" panose="02010600030101010101" pitchFamily="2" charset="-122"/>
                <a:cs typeface="Times New Roman" panose="02020603050405020304" pitchFamily="18" charset="0"/>
              </a:rPr>
              <a:t>7 </a:t>
            </a:r>
            <a:r>
              <a:rPr lang="zh-CN" altLang="en-US" dirty="0">
                <a:ea typeface="宋体" panose="02010600030101010101" pitchFamily="2" charset="-122"/>
                <a:cs typeface="Times New Roman" panose="02020603050405020304" pitchFamily="18" charset="0"/>
              </a:rPr>
              <a:t>随机文件读写</a:t>
            </a:r>
          </a:p>
        </p:txBody>
      </p:sp>
      <p:sp>
        <p:nvSpPr>
          <p:cNvPr id="136195" name="内容占位符 2"/>
          <p:cNvSpPr>
            <a:spLocks noGrp="1"/>
          </p:cNvSpPr>
          <p:nvPr>
            <p:ph idx="1"/>
          </p:nvPr>
        </p:nvSpPr>
        <p:spPr/>
        <p:txBody>
          <a:bodyPr/>
          <a:lstStyle/>
          <a:p>
            <a:pPr>
              <a:lnSpc>
                <a:spcPct val="120000"/>
              </a:lnSpc>
            </a:pPr>
            <a:r>
              <a:rPr lang="en-US" altLang="zh-CN" dirty="0" err="1">
                <a:solidFill>
                  <a:schemeClr val="tx2"/>
                </a:solidFill>
                <a:ea typeface="宋体" panose="02010600030101010101" pitchFamily="2" charset="-122"/>
              </a:rPr>
              <a:t>RandomAccessFile</a:t>
            </a:r>
            <a:r>
              <a:rPr lang="zh-CN" altLang="en-US" dirty="0">
                <a:ea typeface="宋体" panose="02010600030101010101" pitchFamily="2" charset="-122"/>
              </a:rPr>
              <a:t>类</a:t>
            </a:r>
          </a:p>
          <a:p>
            <a:pPr lvl="1">
              <a:lnSpc>
                <a:spcPct val="120000"/>
              </a:lnSpc>
            </a:pPr>
            <a:r>
              <a:rPr lang="zh-CN" altLang="en-US" dirty="0">
                <a:ea typeface="楷体_GB2312" pitchFamily="49" charset="-122"/>
              </a:rPr>
              <a:t>可用来实现读和写，构造方法包括</a:t>
            </a:r>
          </a:p>
          <a:p>
            <a:pPr lvl="2">
              <a:lnSpc>
                <a:spcPct val="120000"/>
              </a:lnSpc>
              <a:spcBef>
                <a:spcPct val="0"/>
              </a:spcBef>
              <a:buFont typeface="Wingdings" panose="05000000000000000000" pitchFamily="2" charset="2"/>
              <a:buNone/>
            </a:pPr>
            <a:r>
              <a:rPr lang="en-US" altLang="zh-CN" b="1" dirty="0">
                <a:solidFill>
                  <a:srgbClr val="0000FF"/>
                </a:solidFill>
                <a:ea typeface="楷体_GB2312" pitchFamily="49" charset="-122"/>
              </a:rPr>
              <a:t>public </a:t>
            </a:r>
            <a:r>
              <a:rPr lang="en-US" altLang="zh-CN" b="1" dirty="0" err="1">
                <a:solidFill>
                  <a:srgbClr val="0000FF"/>
                </a:solidFill>
                <a:ea typeface="楷体_GB2312" pitchFamily="49" charset="-122"/>
              </a:rPr>
              <a:t>RandomAccessFile</a:t>
            </a:r>
            <a:r>
              <a:rPr lang="en-US" altLang="zh-CN" b="1" dirty="0">
                <a:solidFill>
                  <a:srgbClr val="0000FF"/>
                </a:solidFill>
                <a:ea typeface="楷体_GB2312" pitchFamily="49" charset="-122"/>
              </a:rPr>
              <a:t>(File </a:t>
            </a:r>
            <a:r>
              <a:rPr lang="en-US" altLang="zh-CN" b="1" dirty="0" err="1">
                <a:solidFill>
                  <a:srgbClr val="0000FF"/>
                </a:solidFill>
                <a:ea typeface="楷体_GB2312" pitchFamily="49" charset="-122"/>
              </a:rPr>
              <a:t>file</a:t>
            </a:r>
            <a:r>
              <a:rPr lang="en-US" altLang="zh-CN" b="1" dirty="0">
                <a:solidFill>
                  <a:srgbClr val="0000FF"/>
                </a:solidFill>
                <a:ea typeface="楷体_GB2312" pitchFamily="49" charset="-122"/>
              </a:rPr>
              <a:t>, String mode)</a:t>
            </a:r>
          </a:p>
          <a:p>
            <a:pPr lvl="2">
              <a:lnSpc>
                <a:spcPct val="120000"/>
              </a:lnSpc>
              <a:spcBef>
                <a:spcPct val="0"/>
              </a:spcBef>
              <a:buFont typeface="Wingdings" panose="05000000000000000000" pitchFamily="2" charset="2"/>
              <a:buNone/>
            </a:pPr>
            <a:r>
              <a:rPr lang="en-US" altLang="zh-CN" b="1" dirty="0">
                <a:solidFill>
                  <a:srgbClr val="0000FF"/>
                </a:solidFill>
                <a:ea typeface="楷体_GB2312" pitchFamily="49" charset="-122"/>
              </a:rPr>
              <a:t>                 throws </a:t>
            </a:r>
            <a:r>
              <a:rPr lang="en-US" altLang="zh-CN" b="1" dirty="0" err="1">
                <a:solidFill>
                  <a:srgbClr val="0000FF"/>
                </a:solidFill>
                <a:ea typeface="楷体_GB2312" pitchFamily="49" charset="-122"/>
              </a:rPr>
              <a:t>FileNotFoundException</a:t>
            </a:r>
            <a:endParaRPr lang="en-US" altLang="zh-CN" b="1" dirty="0">
              <a:solidFill>
                <a:srgbClr val="0000FF"/>
              </a:solidFill>
              <a:ea typeface="楷体_GB2312" pitchFamily="49" charset="-122"/>
            </a:endParaRPr>
          </a:p>
          <a:p>
            <a:pPr lvl="2">
              <a:lnSpc>
                <a:spcPct val="120000"/>
              </a:lnSpc>
              <a:spcBef>
                <a:spcPct val="0"/>
              </a:spcBef>
              <a:buFont typeface="Wingdings" panose="05000000000000000000" pitchFamily="2" charset="2"/>
              <a:buNone/>
            </a:pPr>
            <a:r>
              <a:rPr lang="en-US" altLang="zh-CN" b="1" dirty="0">
                <a:solidFill>
                  <a:srgbClr val="0000FF"/>
                </a:solidFill>
                <a:ea typeface="楷体_GB2312" pitchFamily="49" charset="-122"/>
              </a:rPr>
              <a:t>public </a:t>
            </a:r>
            <a:r>
              <a:rPr lang="en-US" altLang="zh-CN" b="1" dirty="0" err="1">
                <a:solidFill>
                  <a:srgbClr val="0000FF"/>
                </a:solidFill>
                <a:ea typeface="楷体_GB2312" pitchFamily="49" charset="-122"/>
              </a:rPr>
              <a:t>RandomAccessFile</a:t>
            </a:r>
            <a:r>
              <a:rPr lang="en-US" altLang="zh-CN" b="1" dirty="0">
                <a:solidFill>
                  <a:srgbClr val="0000FF"/>
                </a:solidFill>
                <a:ea typeface="楷体_GB2312" pitchFamily="49" charset="-122"/>
              </a:rPr>
              <a:t>(String name, String mode)</a:t>
            </a:r>
          </a:p>
          <a:p>
            <a:pPr lvl="2">
              <a:lnSpc>
                <a:spcPct val="120000"/>
              </a:lnSpc>
              <a:spcBef>
                <a:spcPct val="0"/>
              </a:spcBef>
              <a:buFont typeface="Wingdings" panose="05000000000000000000" pitchFamily="2" charset="2"/>
              <a:buNone/>
            </a:pPr>
            <a:r>
              <a:rPr lang="en-US" altLang="zh-CN" b="1" dirty="0">
                <a:solidFill>
                  <a:srgbClr val="0000FF"/>
                </a:solidFill>
                <a:ea typeface="楷体_GB2312" pitchFamily="49" charset="-122"/>
              </a:rPr>
              <a:t>                 throws </a:t>
            </a:r>
            <a:r>
              <a:rPr lang="en-US" altLang="zh-CN" b="1" dirty="0" err="1">
                <a:solidFill>
                  <a:srgbClr val="0000FF"/>
                </a:solidFill>
                <a:ea typeface="楷体_GB2312" pitchFamily="49" charset="-122"/>
              </a:rPr>
              <a:t>FileNotFoundException</a:t>
            </a:r>
            <a:endParaRPr lang="en-US" altLang="zh-CN" b="1" dirty="0">
              <a:solidFill>
                <a:srgbClr val="0000FF"/>
              </a:solidFill>
              <a:ea typeface="楷体_GB2312" pitchFamily="49" charset="-122"/>
            </a:endParaRPr>
          </a:p>
          <a:p>
            <a:pPr lvl="1">
              <a:lnSpc>
                <a:spcPct val="120000"/>
              </a:lnSpc>
            </a:pPr>
            <a:r>
              <a:rPr lang="zh-CN" altLang="en-US" dirty="0">
                <a:ea typeface="楷体_GB2312" pitchFamily="49" charset="-122"/>
              </a:rPr>
              <a:t>建立一个</a:t>
            </a:r>
            <a:r>
              <a:rPr lang="en-US" altLang="zh-CN" dirty="0" err="1">
                <a:ea typeface="楷体_GB2312" pitchFamily="49" charset="-122"/>
              </a:rPr>
              <a:t>RandomAccessFile</a:t>
            </a:r>
            <a:r>
              <a:rPr lang="zh-CN" altLang="en-US" dirty="0">
                <a:ea typeface="楷体_GB2312" pitchFamily="49" charset="-122"/>
              </a:rPr>
              <a:t>时，要指出你要执行的操作：仅从文件读，还是同时读写</a:t>
            </a:r>
          </a:p>
          <a:p>
            <a:pPr lvl="2">
              <a:lnSpc>
                <a:spcPct val="120000"/>
              </a:lnSpc>
              <a:buFont typeface="Wingdings" panose="05000000000000000000" pitchFamily="2" charset="2"/>
              <a:buNone/>
            </a:pPr>
            <a:r>
              <a:rPr lang="en-US" altLang="zh-CN" b="1" dirty="0">
                <a:solidFill>
                  <a:srgbClr val="009900"/>
                </a:solidFill>
                <a:ea typeface="楷体_GB2312" pitchFamily="49" charset="-122"/>
              </a:rPr>
              <a:t>new </a:t>
            </a:r>
            <a:r>
              <a:rPr lang="en-US" altLang="zh-CN" b="1" dirty="0" err="1">
                <a:solidFill>
                  <a:srgbClr val="009900"/>
                </a:solidFill>
                <a:ea typeface="楷体_GB2312" pitchFamily="49" charset="-122"/>
              </a:rPr>
              <a:t>RandomAccessFile</a:t>
            </a:r>
            <a:r>
              <a:rPr lang="en-US" altLang="zh-CN" b="1" dirty="0">
                <a:solidFill>
                  <a:srgbClr val="009900"/>
                </a:solidFill>
                <a:ea typeface="楷体_GB2312" pitchFamily="49" charset="-122"/>
              </a:rPr>
              <a:t>("farrago.txt", "r");</a:t>
            </a:r>
          </a:p>
          <a:p>
            <a:pPr lvl="2">
              <a:lnSpc>
                <a:spcPct val="120000"/>
              </a:lnSpc>
              <a:buFont typeface="Wingdings" panose="05000000000000000000" pitchFamily="2" charset="2"/>
              <a:buNone/>
            </a:pPr>
            <a:r>
              <a:rPr lang="en-US" altLang="zh-CN" b="1" dirty="0">
                <a:solidFill>
                  <a:srgbClr val="009900"/>
                </a:solidFill>
                <a:ea typeface="楷体_GB2312" pitchFamily="49" charset="-122"/>
              </a:rPr>
              <a:t>new </a:t>
            </a:r>
            <a:r>
              <a:rPr lang="en-US" altLang="zh-CN" b="1" dirty="0" err="1">
                <a:solidFill>
                  <a:srgbClr val="009900"/>
                </a:solidFill>
                <a:ea typeface="楷体_GB2312" pitchFamily="49" charset="-122"/>
              </a:rPr>
              <a:t>RandomAccessFile</a:t>
            </a:r>
            <a:r>
              <a:rPr lang="en-US" altLang="zh-CN" b="1" dirty="0">
                <a:solidFill>
                  <a:srgbClr val="009900"/>
                </a:solidFill>
                <a:ea typeface="楷体_GB2312" pitchFamily="49" charset="-122"/>
              </a:rPr>
              <a:t>("farrago.txt", "</a:t>
            </a:r>
            <a:r>
              <a:rPr lang="en-US" altLang="zh-CN" b="1" dirty="0" err="1">
                <a:solidFill>
                  <a:srgbClr val="009900"/>
                </a:solidFill>
                <a:ea typeface="楷体_GB2312" pitchFamily="49" charset="-122"/>
              </a:rPr>
              <a:t>rw</a:t>
            </a:r>
            <a:r>
              <a:rPr lang="en-US" altLang="zh-CN" b="1" dirty="0">
                <a:solidFill>
                  <a:srgbClr val="009900"/>
                </a:solidFill>
                <a:ea typeface="楷体_GB2312" pitchFamily="49" charset="-122"/>
              </a:rPr>
              <a:t>");</a:t>
            </a:r>
            <a:endParaRPr lang="zh-CN" altLang="en-US" dirty="0">
              <a:ea typeface="楷体_GB2312" pitchFamily="49"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1"/>
          <p:cNvSpPr>
            <a:spLocks noGrp="1"/>
          </p:cNvSpPr>
          <p:nvPr>
            <p:ph type="title"/>
          </p:nvPr>
        </p:nvSpPr>
        <p:spPr/>
        <p:txBody>
          <a:bodyPr/>
          <a:lstStyle/>
          <a:p>
            <a:r>
              <a:rPr lang="en-US" altLang="zh-CN">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GB">
                <a:ea typeface="宋体" panose="02010600030101010101" pitchFamily="2" charset="-122"/>
                <a:cs typeface="Times New Roman" panose="02020603050405020304" pitchFamily="18" charset="0"/>
              </a:rPr>
              <a:t>6.2.</a:t>
            </a:r>
            <a:r>
              <a:rPr lang="en-US" altLang="zh-CN">
                <a:ea typeface="宋体" panose="02010600030101010101" pitchFamily="2" charset="-122"/>
                <a:cs typeface="Times New Roman" panose="02020603050405020304" pitchFamily="18" charset="0"/>
              </a:rPr>
              <a:t>7 </a:t>
            </a:r>
            <a:r>
              <a:rPr lang="zh-CN" altLang="en-US">
                <a:ea typeface="宋体" panose="02010600030101010101" pitchFamily="2" charset="-122"/>
                <a:cs typeface="Times New Roman" panose="02020603050405020304" pitchFamily="18" charset="0"/>
              </a:rPr>
              <a:t>随机文件读写</a:t>
            </a:r>
          </a:p>
        </p:txBody>
      </p:sp>
      <p:sp>
        <p:nvSpPr>
          <p:cNvPr id="138243" name="内容占位符 2"/>
          <p:cNvSpPr>
            <a:spLocks noGrp="1"/>
          </p:cNvSpPr>
          <p:nvPr>
            <p:ph idx="1"/>
          </p:nvPr>
        </p:nvSpPr>
        <p:spPr/>
        <p:txBody>
          <a:bodyPr/>
          <a:lstStyle/>
          <a:p>
            <a:pPr>
              <a:lnSpc>
                <a:spcPct val="120000"/>
              </a:lnSpc>
            </a:pPr>
            <a:endParaRPr lang="zh-CN" altLang="en-US">
              <a:ea typeface="楷体_GB2312" pitchFamily="49" charset="-122"/>
            </a:endParaRPr>
          </a:p>
        </p:txBody>
      </p:sp>
      <p:sp>
        <p:nvSpPr>
          <p:cNvPr id="138244" name="Rectangle 3"/>
          <p:cNvSpPr txBox="1">
            <a:spLocks noChangeArrowheads="1"/>
          </p:cNvSpPr>
          <p:nvPr/>
        </p:nvSpPr>
        <p:spPr bwMode="auto">
          <a:xfrm>
            <a:off x="107950" y="44450"/>
            <a:ext cx="8964613" cy="6813550"/>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public class </a:t>
            </a:r>
            <a:r>
              <a:rPr lang="en-US" altLang="zh-CN" sz="2000" b="1" dirty="0" err="1">
                <a:latin typeface="Times New Roman" panose="02020603050405020304" pitchFamily="18" charset="0"/>
                <a:cs typeface="Times New Roman" panose="02020603050405020304" pitchFamily="18" charset="0"/>
              </a:rPr>
              <a:t>ReadRandomFile</a:t>
            </a: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0000FF"/>
                </a:solidFill>
                <a:latin typeface="Times New Roman" panose="02020603050405020304" pitchFamily="18" charset="0"/>
                <a:cs typeface="Times New Roman" panose="02020603050405020304" pitchFamily="18" charset="0"/>
              </a:rPr>
              <a:t>{</a:t>
            </a:r>
            <a:r>
              <a:rPr lang="zh-CN" altLang="en-US" sz="2000" b="1" dirty="0">
                <a:solidFill>
                  <a:srgbClr val="0000FF"/>
                </a:solidFill>
                <a:latin typeface="Times New Roman" panose="02020603050405020304" pitchFamily="18" charset="0"/>
                <a:cs typeface="Times New Roman" panose="02020603050405020304" pitchFamily="18" charset="0"/>
              </a:rPr>
              <a:t>       </a:t>
            </a:r>
            <a:r>
              <a:rPr lang="en-US" altLang="zh-CN" sz="2000" b="1" dirty="0">
                <a:solidFill>
                  <a:srgbClr val="0000FF"/>
                </a:solidFill>
                <a:latin typeface="Times New Roman" panose="02020603050405020304" pitchFamily="18" charset="0"/>
                <a:cs typeface="Times New Roman" panose="02020603050405020304" pitchFamily="18" charset="0"/>
              </a:rPr>
              <a:t>//</a:t>
            </a:r>
            <a:r>
              <a:rPr lang="zh-CN" altLang="en-US" sz="2000" b="1" dirty="0">
                <a:solidFill>
                  <a:srgbClr val="0000FF"/>
                </a:solidFill>
                <a:latin typeface="Times New Roman" panose="02020603050405020304" pitchFamily="18" charset="0"/>
                <a:cs typeface="Times New Roman" panose="02020603050405020304" pitchFamily="18" charset="0"/>
              </a:rPr>
              <a:t>随机读取文件内容</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a:t>
            </a:r>
            <a:r>
              <a:rPr lang="en-US" altLang="zh-CN" sz="2000" b="1" dirty="0" err="1">
                <a:latin typeface="Times New Roman" panose="02020603050405020304" pitchFamily="18" charset="0"/>
                <a:cs typeface="Times New Roman" panose="02020603050405020304" pitchFamily="18" charset="0"/>
              </a:rPr>
              <a:t>readFileByRandomAccess</a:t>
            </a:r>
            <a:r>
              <a:rPr lang="en-US" altLang="zh-CN" sz="2000" b="1" dirty="0">
                <a:latin typeface="Times New Roman" panose="02020603050405020304" pitchFamily="18" charset="0"/>
                <a:cs typeface="Times New Roman" panose="02020603050405020304" pitchFamily="18" charset="0"/>
              </a:rPr>
              <a:t>(String </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RandomAccessFile</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randomFile</a:t>
            </a:r>
            <a:r>
              <a:rPr lang="en-US" altLang="zh-CN" sz="2000" b="1" dirty="0">
                <a:latin typeface="Times New Roman" panose="02020603050405020304" pitchFamily="18" charset="0"/>
                <a:cs typeface="Times New Roman" panose="02020603050405020304" pitchFamily="18" charset="0"/>
              </a:rPr>
              <a:t> = null;</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try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随机读取一段文件内容：</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 </a:t>
            </a:r>
            <a:r>
              <a:rPr lang="zh-CN" altLang="en-US" sz="2000" b="1" dirty="0">
                <a:solidFill>
                  <a:srgbClr val="0000FF"/>
                </a:solidFill>
                <a:latin typeface="Times New Roman" panose="02020603050405020304" pitchFamily="18" charset="0"/>
                <a:cs typeface="Times New Roman" panose="02020603050405020304" pitchFamily="18" charset="0"/>
              </a:rPr>
              <a:t>打开一个随机访问文件流，按只读方式</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randomFile</a:t>
            </a:r>
            <a:r>
              <a:rPr lang="en-US" altLang="zh-CN" sz="2000" b="1" dirty="0">
                <a:latin typeface="Times New Roman" panose="02020603050405020304" pitchFamily="18" charset="0"/>
                <a:cs typeface="Times New Roman" panose="02020603050405020304" pitchFamily="18" charset="0"/>
              </a:rPr>
              <a:t> = new </a:t>
            </a:r>
            <a:r>
              <a:rPr lang="en-US" altLang="zh-CN" sz="2000" b="1" dirty="0" err="1">
                <a:latin typeface="Times New Roman" panose="02020603050405020304" pitchFamily="18" charset="0"/>
                <a:cs typeface="Times New Roman" panose="02020603050405020304" pitchFamily="18" charset="0"/>
              </a:rPr>
              <a:t>RandomAccessFile</a:t>
            </a: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fileName</a:t>
            </a:r>
            <a:r>
              <a:rPr lang="en-US" altLang="zh-CN" sz="2000" b="1" dirty="0">
                <a:latin typeface="Times New Roman" panose="02020603050405020304" pitchFamily="18" charset="0"/>
                <a:cs typeface="Times New Roman" panose="02020603050405020304" pitchFamily="18" charset="0"/>
              </a:rPr>
              <a:t>, "r");</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 </a:t>
            </a:r>
            <a:r>
              <a:rPr lang="zh-CN" altLang="en-US" sz="2000" b="1" dirty="0">
                <a:solidFill>
                  <a:srgbClr val="0000FF"/>
                </a:solidFill>
                <a:latin typeface="Times New Roman" panose="02020603050405020304" pitchFamily="18" charset="0"/>
                <a:cs typeface="Times New Roman" panose="02020603050405020304" pitchFamily="18" charset="0"/>
              </a:rPr>
              <a:t>文件长度，字节数</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long </a:t>
            </a:r>
            <a:r>
              <a:rPr lang="en-US" altLang="zh-CN" sz="2000" b="1" dirty="0" err="1">
                <a:latin typeface="Times New Roman" panose="02020603050405020304" pitchFamily="18" charset="0"/>
                <a:cs typeface="Times New Roman" panose="02020603050405020304" pitchFamily="18" charset="0"/>
              </a:rPr>
              <a:t>fileLength</a:t>
            </a:r>
            <a:r>
              <a:rPr lang="en-US" altLang="zh-CN" sz="2000" b="1" dirty="0">
                <a:latin typeface="Times New Roman" panose="02020603050405020304" pitchFamily="18" charset="0"/>
                <a:cs typeface="Times New Roman" panose="02020603050405020304" pitchFamily="18" charset="0"/>
              </a:rPr>
              <a:t> = </a:t>
            </a:r>
            <a:r>
              <a:rPr lang="en-US" altLang="zh-CN" sz="2000" b="1" dirty="0" err="1">
                <a:latin typeface="Times New Roman" panose="02020603050405020304" pitchFamily="18" charset="0"/>
                <a:cs typeface="Times New Roman" panose="02020603050405020304" pitchFamily="18" charset="0"/>
              </a:rPr>
              <a:t>randomFile.length</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 </a:t>
            </a:r>
            <a:r>
              <a:rPr lang="zh-CN" altLang="en-US" sz="2000" b="1" dirty="0">
                <a:solidFill>
                  <a:srgbClr val="0000FF"/>
                </a:solidFill>
                <a:latin typeface="Times New Roman" panose="02020603050405020304" pitchFamily="18" charset="0"/>
                <a:cs typeface="Times New Roman" panose="02020603050405020304" pitchFamily="18" charset="0"/>
              </a:rPr>
              <a:t>读文件的起始位置</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int</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beginIndex</a:t>
            </a:r>
            <a:r>
              <a:rPr lang="en-US" altLang="zh-CN" sz="2000" b="1" dirty="0">
                <a:latin typeface="Times New Roman" panose="02020603050405020304" pitchFamily="18" charset="0"/>
                <a:cs typeface="Times New Roman" panose="02020603050405020304" pitchFamily="18" charset="0"/>
              </a:rPr>
              <a:t> = (</a:t>
            </a:r>
            <a:r>
              <a:rPr lang="en-US" altLang="zh-CN" sz="2000" b="1" dirty="0" err="1">
                <a:latin typeface="Times New Roman" panose="02020603050405020304" pitchFamily="18" charset="0"/>
                <a:cs typeface="Times New Roman" panose="02020603050405020304" pitchFamily="18" charset="0"/>
              </a:rPr>
              <a:t>fileLength</a:t>
            </a:r>
            <a:r>
              <a:rPr lang="en-US" altLang="zh-CN" sz="2000" b="1" dirty="0">
                <a:latin typeface="Times New Roman" panose="02020603050405020304" pitchFamily="18" charset="0"/>
                <a:cs typeface="Times New Roman" panose="02020603050405020304" pitchFamily="18" charset="0"/>
              </a:rPr>
              <a:t> &gt; 4) ? 4 : 0;</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 </a:t>
            </a:r>
            <a:r>
              <a:rPr lang="zh-CN" altLang="en-US" sz="2000" b="1" dirty="0">
                <a:solidFill>
                  <a:srgbClr val="0000FF"/>
                </a:solidFill>
                <a:latin typeface="Times New Roman" panose="02020603050405020304" pitchFamily="18" charset="0"/>
                <a:cs typeface="Times New Roman" panose="02020603050405020304" pitchFamily="18" charset="0"/>
              </a:rPr>
              <a:t>将读文件的开始位置移到</a:t>
            </a:r>
            <a:r>
              <a:rPr lang="en-US" altLang="zh-CN" sz="2000" b="1" dirty="0" err="1">
                <a:solidFill>
                  <a:srgbClr val="0000FF"/>
                </a:solidFill>
                <a:latin typeface="Times New Roman" panose="02020603050405020304" pitchFamily="18" charset="0"/>
                <a:cs typeface="Times New Roman" panose="02020603050405020304" pitchFamily="18" charset="0"/>
              </a:rPr>
              <a:t>beginIndex</a:t>
            </a:r>
            <a:r>
              <a:rPr lang="zh-CN" altLang="en-US" sz="2000" b="1" dirty="0">
                <a:solidFill>
                  <a:srgbClr val="0000FF"/>
                </a:solidFill>
                <a:latin typeface="Times New Roman" panose="02020603050405020304" pitchFamily="18" charset="0"/>
                <a:cs typeface="Times New Roman" panose="02020603050405020304" pitchFamily="18" charset="0"/>
              </a:rPr>
              <a:t>位置。</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randomFile.seek</a:t>
            </a: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beginIndex</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byte[] bytes = new byte[10];</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int</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byteread</a:t>
            </a:r>
            <a:r>
              <a:rPr lang="en-US" altLang="zh-CN" sz="2000" b="1" dirty="0">
                <a:latin typeface="Times New Roman" panose="02020603050405020304" pitchFamily="18" charset="0"/>
                <a:cs typeface="Times New Roman" panose="02020603050405020304" pitchFamily="18" charset="0"/>
              </a:rPr>
              <a:t> = 0;</a:t>
            </a:r>
          </a:p>
          <a:p>
            <a:pPr marL="0" lvl="1">
              <a:buClr>
                <a:schemeClr val="accent2"/>
              </a:buClr>
              <a:buSzPct val="70000"/>
            </a:pPr>
            <a:r>
              <a:rPr lang="en-US" altLang="zh-CN" sz="2000" b="1" dirty="0">
                <a:solidFill>
                  <a:srgbClr val="0000FF"/>
                </a:solidFill>
                <a:latin typeface="Times New Roman" panose="02020603050405020304" pitchFamily="18" charset="0"/>
                <a:cs typeface="Times New Roman" panose="02020603050405020304" pitchFamily="18" charset="0"/>
              </a:rPr>
              <a:t>            // </a:t>
            </a:r>
            <a:r>
              <a:rPr lang="zh-CN" altLang="en-US" sz="2000" b="1" dirty="0">
                <a:solidFill>
                  <a:srgbClr val="0000FF"/>
                </a:solidFill>
                <a:latin typeface="Times New Roman" panose="02020603050405020304" pitchFamily="18" charset="0"/>
                <a:cs typeface="Times New Roman" panose="02020603050405020304" pitchFamily="18" charset="0"/>
              </a:rPr>
              <a:t>一次读</a:t>
            </a:r>
            <a:r>
              <a:rPr lang="en-US" altLang="zh-CN" sz="2000" b="1" dirty="0">
                <a:solidFill>
                  <a:srgbClr val="0000FF"/>
                </a:solidFill>
                <a:latin typeface="Times New Roman" panose="02020603050405020304" pitchFamily="18" charset="0"/>
                <a:cs typeface="Times New Roman" panose="02020603050405020304" pitchFamily="18" charset="0"/>
              </a:rPr>
              <a:t>10</a:t>
            </a:r>
            <a:r>
              <a:rPr lang="zh-CN" altLang="en-US" sz="2000" b="1" dirty="0">
                <a:solidFill>
                  <a:srgbClr val="0000FF"/>
                </a:solidFill>
                <a:latin typeface="Times New Roman" panose="02020603050405020304" pitchFamily="18" charset="0"/>
                <a:cs typeface="Times New Roman" panose="02020603050405020304" pitchFamily="18" charset="0"/>
              </a:rPr>
              <a:t>个字节，如果文件内容不足</a:t>
            </a:r>
            <a:r>
              <a:rPr lang="en-US" altLang="zh-CN" sz="2000" b="1" dirty="0">
                <a:solidFill>
                  <a:srgbClr val="0000FF"/>
                </a:solidFill>
                <a:latin typeface="Times New Roman" panose="02020603050405020304" pitchFamily="18" charset="0"/>
                <a:cs typeface="Times New Roman" panose="02020603050405020304" pitchFamily="18" charset="0"/>
              </a:rPr>
              <a:t>10</a:t>
            </a:r>
            <a:r>
              <a:rPr lang="zh-CN" altLang="en-US" sz="2000" b="1" dirty="0">
                <a:solidFill>
                  <a:srgbClr val="0000FF"/>
                </a:solidFill>
                <a:latin typeface="Times New Roman" panose="02020603050405020304" pitchFamily="18" charset="0"/>
                <a:cs typeface="Times New Roman" panose="02020603050405020304" pitchFamily="18" charset="0"/>
              </a:rPr>
              <a:t>个字节，则读剩下的字节。</a:t>
            </a:r>
          </a:p>
          <a:p>
            <a:pPr marL="0" lvl="1">
              <a:buClr>
                <a:schemeClr val="accent2"/>
              </a:buClr>
              <a:buSzPct val="70000"/>
            </a:pPr>
            <a:r>
              <a:rPr lang="zh-CN" altLang="en-US" sz="2000" b="1" dirty="0">
                <a:solidFill>
                  <a:srgbClr val="0000FF"/>
                </a:solidFill>
                <a:latin typeface="Times New Roman" panose="02020603050405020304" pitchFamily="18" charset="0"/>
                <a:cs typeface="Times New Roman" panose="02020603050405020304" pitchFamily="18" charset="0"/>
              </a:rPr>
              <a:t>            </a:t>
            </a:r>
            <a:r>
              <a:rPr lang="en-US" altLang="zh-CN" sz="2000" b="1" dirty="0">
                <a:solidFill>
                  <a:srgbClr val="0000FF"/>
                </a:solidFill>
                <a:latin typeface="Times New Roman" panose="02020603050405020304" pitchFamily="18" charset="0"/>
                <a:cs typeface="Times New Roman" panose="02020603050405020304" pitchFamily="18" charset="0"/>
              </a:rPr>
              <a:t>// </a:t>
            </a:r>
            <a:r>
              <a:rPr lang="zh-CN" altLang="en-US" sz="2000" b="1" dirty="0">
                <a:solidFill>
                  <a:srgbClr val="0000FF"/>
                </a:solidFill>
                <a:latin typeface="Times New Roman" panose="02020603050405020304" pitchFamily="18" charset="0"/>
                <a:cs typeface="Times New Roman" panose="02020603050405020304" pitchFamily="18" charset="0"/>
              </a:rPr>
              <a:t>将一次读取的字节数赋给</a:t>
            </a:r>
            <a:r>
              <a:rPr lang="en-US" altLang="zh-CN" sz="2000" b="1" dirty="0" err="1">
                <a:solidFill>
                  <a:srgbClr val="0000FF"/>
                </a:solidFill>
                <a:latin typeface="Times New Roman" panose="02020603050405020304" pitchFamily="18" charset="0"/>
                <a:cs typeface="Times New Roman" panose="02020603050405020304" pitchFamily="18" charset="0"/>
              </a:rPr>
              <a:t>byteread</a:t>
            </a:r>
            <a:endParaRPr lang="en-US" altLang="zh-CN" sz="2000" b="1" dirty="0">
              <a:solidFill>
                <a:srgbClr val="0000FF"/>
              </a:solidFill>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while ((</a:t>
            </a:r>
            <a:r>
              <a:rPr lang="en-US" altLang="zh-CN" sz="2000" b="1" dirty="0" err="1">
                <a:latin typeface="Times New Roman" panose="02020603050405020304" pitchFamily="18" charset="0"/>
                <a:cs typeface="Times New Roman" panose="02020603050405020304" pitchFamily="18" charset="0"/>
              </a:rPr>
              <a:t>byteread</a:t>
            </a:r>
            <a:r>
              <a:rPr lang="en-US" altLang="zh-CN" sz="2000" b="1" dirty="0">
                <a:latin typeface="Times New Roman" panose="02020603050405020304" pitchFamily="18" charset="0"/>
                <a:cs typeface="Times New Roman" panose="02020603050405020304" pitchFamily="18" charset="0"/>
              </a:rPr>
              <a:t> = </a:t>
            </a:r>
            <a:r>
              <a:rPr lang="en-US" altLang="zh-CN" sz="2000" b="1" dirty="0" err="1">
                <a:latin typeface="Times New Roman" panose="02020603050405020304" pitchFamily="18" charset="0"/>
                <a:cs typeface="Times New Roman" panose="02020603050405020304" pitchFamily="18" charset="0"/>
              </a:rPr>
              <a:t>randomFile.read</a:t>
            </a:r>
            <a:r>
              <a:rPr lang="en-US" altLang="zh-CN" sz="2000" b="1" dirty="0">
                <a:latin typeface="Times New Roman" panose="02020603050405020304" pitchFamily="18" charset="0"/>
                <a:cs typeface="Times New Roman" panose="02020603050405020304" pitchFamily="18" charset="0"/>
              </a:rPr>
              <a:t>(bytes)) != -1)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System.out.write</a:t>
            </a:r>
            <a:r>
              <a:rPr lang="en-US" altLang="zh-CN" sz="2000" b="1" dirty="0">
                <a:latin typeface="Times New Roman" panose="02020603050405020304" pitchFamily="18" charset="0"/>
                <a:cs typeface="Times New Roman" panose="02020603050405020304" pitchFamily="18" charset="0"/>
              </a:rPr>
              <a:t>(bytes, 0, </a:t>
            </a:r>
            <a:r>
              <a:rPr lang="en-US" altLang="zh-CN" sz="2000" b="1" dirty="0" err="1">
                <a:latin typeface="Times New Roman" panose="02020603050405020304" pitchFamily="18" charset="0"/>
                <a:cs typeface="Times New Roman" panose="02020603050405020304" pitchFamily="18" charset="0"/>
              </a:rPr>
              <a:t>byteread</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
          <p:cNvSpPr>
            <a:spLocks noGrp="1"/>
          </p:cNvSpPr>
          <p:nvPr>
            <p:ph type="title"/>
          </p:nvPr>
        </p:nvSpPr>
        <p:spPr/>
        <p:txBody>
          <a:bodyPr/>
          <a:lstStyle/>
          <a:p>
            <a:endParaRPr lang="zh-CN" altLang="en-US">
              <a:ea typeface="宋体" panose="02010600030101010101" pitchFamily="2" charset="-122"/>
            </a:endParaRPr>
          </a:p>
        </p:txBody>
      </p:sp>
      <p:sp>
        <p:nvSpPr>
          <p:cNvPr id="139267" name="内容占位符 2"/>
          <p:cNvSpPr>
            <a:spLocks noGrp="1"/>
          </p:cNvSpPr>
          <p:nvPr>
            <p:ph idx="1"/>
          </p:nvPr>
        </p:nvSpPr>
        <p:spPr/>
        <p:txBody>
          <a:bodyPr/>
          <a:lstStyle/>
          <a:p>
            <a:endParaRPr lang="zh-CN" altLang="en-US">
              <a:ea typeface="宋体" panose="02010600030101010101" pitchFamily="2" charset="-122"/>
            </a:endParaRPr>
          </a:p>
        </p:txBody>
      </p:sp>
      <p:sp>
        <p:nvSpPr>
          <p:cNvPr id="139268" name="Rectangle 3"/>
          <p:cNvSpPr txBox="1">
            <a:spLocks noChangeArrowheads="1"/>
          </p:cNvSpPr>
          <p:nvPr/>
        </p:nvSpPr>
        <p:spPr bwMode="auto">
          <a:xfrm>
            <a:off x="107950" y="188913"/>
            <a:ext cx="8964613" cy="619283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catch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e)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e.printStackTrace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 </a:t>
            </a:r>
            <a:br>
              <a:rPr lang="en-US" altLang="zh-CN" sz="2000" b="1" dirty="0">
                <a:latin typeface="Times New Roman" panose="02020603050405020304" pitchFamily="18" charset="0"/>
                <a:cs typeface="Times New Roman" panose="02020603050405020304" pitchFamily="18" charset="0"/>
              </a:rPr>
            </a:br>
            <a:r>
              <a:rPr lang="en-US" altLang="zh-CN" sz="2000" b="1" dirty="0">
                <a:latin typeface="Times New Roman" panose="02020603050405020304" pitchFamily="18" charset="0"/>
                <a:cs typeface="Times New Roman" panose="02020603050405020304" pitchFamily="18" charset="0"/>
              </a:rPr>
              <a:t>        finally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if (</a:t>
            </a:r>
            <a:r>
              <a:rPr lang="en-US" altLang="zh-CN" sz="2000" b="1" dirty="0" err="1">
                <a:latin typeface="Times New Roman" panose="02020603050405020304" pitchFamily="18" charset="0"/>
                <a:cs typeface="Times New Roman" panose="02020603050405020304" pitchFamily="18" charset="0"/>
              </a:rPr>
              <a:t>randomFile</a:t>
            </a:r>
            <a:r>
              <a:rPr lang="en-US" altLang="zh-CN" sz="2000" b="1" dirty="0">
                <a:latin typeface="Times New Roman" panose="02020603050405020304" pitchFamily="18" charset="0"/>
                <a:cs typeface="Times New Roman" panose="02020603050405020304" pitchFamily="18" charset="0"/>
              </a:rPr>
              <a:t> != null)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try {  </a:t>
            </a:r>
            <a:r>
              <a:rPr lang="en-US" altLang="zh-CN" sz="2000" b="1" dirty="0" err="1">
                <a:latin typeface="Times New Roman" panose="02020603050405020304" pitchFamily="18" charset="0"/>
                <a:cs typeface="Times New Roman" panose="02020603050405020304" pitchFamily="18" charset="0"/>
              </a:rPr>
              <a:t>randomFile.close</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catch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e1) {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(“IO Problems”);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内容占位符 2"/>
          <p:cNvSpPr>
            <a:spLocks noGrp="1"/>
          </p:cNvSpPr>
          <p:nvPr>
            <p:ph idx="1"/>
          </p:nvPr>
        </p:nvSpPr>
        <p:spPr/>
        <p:txBody>
          <a:bodyPr/>
          <a:lstStyle/>
          <a:p>
            <a:pPr>
              <a:lnSpc>
                <a:spcPct val="90000"/>
              </a:lnSpc>
            </a:pPr>
            <a:r>
              <a:rPr lang="zh-CN" altLang="en-US" sz="2400">
                <a:ea typeface="宋体" panose="02010600030101010101" pitchFamily="2" charset="-122"/>
              </a:rPr>
              <a:t>本章内容</a:t>
            </a:r>
          </a:p>
          <a:p>
            <a:pPr lvl="1">
              <a:lnSpc>
                <a:spcPct val="90000"/>
              </a:lnSpc>
            </a:pPr>
            <a:r>
              <a:rPr lang="en-US" altLang="zh-CN" sz="2000">
                <a:ea typeface="楷体_GB2312" pitchFamily="49" charset="-122"/>
              </a:rPr>
              <a:t>I/O</a:t>
            </a:r>
            <a:r>
              <a:rPr lang="zh-CN" altLang="en-US" sz="2000">
                <a:ea typeface="楷体_GB2312" pitchFamily="49" charset="-122"/>
              </a:rPr>
              <a:t>流的概念以及分类</a:t>
            </a:r>
          </a:p>
          <a:p>
            <a:pPr lvl="1">
              <a:lnSpc>
                <a:spcPct val="90000"/>
              </a:lnSpc>
            </a:pPr>
            <a:r>
              <a:rPr lang="zh-CN" altLang="en-US" sz="2000">
                <a:ea typeface="楷体_GB2312" pitchFamily="49" charset="-122"/>
              </a:rPr>
              <a:t>读写文本文件、二进制文件的方法</a:t>
            </a:r>
          </a:p>
          <a:p>
            <a:pPr lvl="1">
              <a:lnSpc>
                <a:spcPct val="90000"/>
              </a:lnSpc>
            </a:pPr>
            <a:r>
              <a:rPr lang="zh-CN" altLang="en-US" sz="2000">
                <a:ea typeface="楷体_GB2312" pitchFamily="49" charset="-122"/>
              </a:rPr>
              <a:t>处理流的概念及用法</a:t>
            </a:r>
          </a:p>
          <a:p>
            <a:pPr lvl="1">
              <a:lnSpc>
                <a:spcPct val="90000"/>
              </a:lnSpc>
            </a:pPr>
            <a:r>
              <a:rPr lang="en-US" altLang="zh-CN" sz="2000">
                <a:ea typeface="楷体_GB2312" pitchFamily="49" charset="-122"/>
              </a:rPr>
              <a:t>File</a:t>
            </a:r>
            <a:r>
              <a:rPr lang="zh-CN" altLang="en-US" sz="2000">
                <a:ea typeface="楷体_GB2312" pitchFamily="49" charset="-122"/>
              </a:rPr>
              <a:t>类</a:t>
            </a:r>
          </a:p>
          <a:p>
            <a:pPr lvl="1">
              <a:lnSpc>
                <a:spcPct val="90000"/>
              </a:lnSpc>
            </a:pPr>
            <a:r>
              <a:rPr lang="zh-CN" altLang="en-US" sz="2000">
                <a:ea typeface="楷体_GB2312" pitchFamily="49" charset="-122"/>
              </a:rPr>
              <a:t>对象序列化的常用流类及接口</a:t>
            </a:r>
          </a:p>
          <a:p>
            <a:pPr lvl="1">
              <a:lnSpc>
                <a:spcPct val="90000"/>
              </a:lnSpc>
            </a:pPr>
            <a:r>
              <a:rPr lang="zh-CN" altLang="en-US" sz="2000">
                <a:ea typeface="楷体_GB2312" pitchFamily="49" charset="-122"/>
              </a:rPr>
              <a:t>随机读写文件的流类</a:t>
            </a:r>
          </a:p>
          <a:p>
            <a:pPr>
              <a:lnSpc>
                <a:spcPct val="90000"/>
              </a:lnSpc>
            </a:pPr>
            <a:r>
              <a:rPr lang="zh-CN" altLang="en-US" sz="2400">
                <a:ea typeface="宋体" panose="02010600030101010101" pitchFamily="2" charset="-122"/>
              </a:rPr>
              <a:t>本章要求</a:t>
            </a:r>
          </a:p>
          <a:p>
            <a:pPr lvl="1">
              <a:lnSpc>
                <a:spcPct val="90000"/>
              </a:lnSpc>
            </a:pPr>
            <a:r>
              <a:rPr lang="zh-CN" altLang="en-US" sz="2000">
                <a:ea typeface="楷体_GB2312" pitchFamily="49" charset="-122"/>
              </a:rPr>
              <a:t>理解</a:t>
            </a:r>
            <a:r>
              <a:rPr lang="en-US" altLang="zh-CN" sz="2000">
                <a:ea typeface="楷体_GB2312" pitchFamily="49" charset="-122"/>
              </a:rPr>
              <a:t>I/O</a:t>
            </a:r>
            <a:r>
              <a:rPr lang="zh-CN" altLang="en-US" sz="2000">
                <a:ea typeface="楷体_GB2312" pitchFamily="49" charset="-122"/>
              </a:rPr>
              <a:t>流的概念，掌握其分类</a:t>
            </a:r>
          </a:p>
          <a:p>
            <a:pPr lvl="1">
              <a:lnSpc>
                <a:spcPct val="90000"/>
              </a:lnSpc>
            </a:pPr>
            <a:r>
              <a:rPr lang="zh-CN" altLang="en-US" sz="2000">
                <a:ea typeface="楷体_GB2312" pitchFamily="49" charset="-122"/>
              </a:rPr>
              <a:t>掌握文本文件读写、二进制文件读写、处理流类的概念和用法、对象序列化</a:t>
            </a:r>
          </a:p>
          <a:p>
            <a:pPr lvl="1">
              <a:lnSpc>
                <a:spcPct val="90000"/>
              </a:lnSpc>
            </a:pPr>
            <a:r>
              <a:rPr lang="zh-CN" altLang="en-US" sz="2000">
                <a:ea typeface="楷体_GB2312" pitchFamily="49" charset="-122"/>
              </a:rPr>
              <a:t>掌握</a:t>
            </a:r>
            <a:r>
              <a:rPr lang="en-US" altLang="zh-CN" sz="2000">
                <a:ea typeface="楷体_GB2312" pitchFamily="49" charset="-122"/>
              </a:rPr>
              <a:t>File</a:t>
            </a:r>
            <a:r>
              <a:rPr lang="zh-CN" altLang="en-US" sz="2000">
                <a:ea typeface="楷体_GB2312" pitchFamily="49" charset="-122"/>
              </a:rPr>
              <a:t>类、随机读写流类</a:t>
            </a:r>
          </a:p>
          <a:p>
            <a:pPr lvl="1">
              <a:lnSpc>
                <a:spcPct val="90000"/>
              </a:lnSpc>
            </a:pPr>
            <a:r>
              <a:rPr lang="zh-CN" altLang="en-US" sz="2000">
                <a:ea typeface="楷体_GB2312" pitchFamily="49" charset="-122"/>
              </a:rPr>
              <a:t>遇到</a:t>
            </a:r>
            <a:r>
              <a:rPr lang="en-US" altLang="zh-CN" sz="2000">
                <a:ea typeface="楷体_GB2312" pitchFamily="49" charset="-122"/>
              </a:rPr>
              <a:t>I/O</a:t>
            </a:r>
            <a:r>
              <a:rPr lang="zh-CN" altLang="en-US" sz="2000">
                <a:ea typeface="楷体_GB2312" pitchFamily="49" charset="-122"/>
              </a:rPr>
              <a:t>方面的问题，能够自行查阅</a:t>
            </a:r>
            <a:r>
              <a:rPr lang="en-US" altLang="zh-CN" sz="2000">
                <a:ea typeface="楷体_GB2312" pitchFamily="49" charset="-122"/>
              </a:rPr>
              <a:t>API</a:t>
            </a:r>
            <a:r>
              <a:rPr lang="zh-CN" altLang="en-US" sz="2000">
                <a:ea typeface="楷体_GB2312" pitchFamily="49" charset="-122"/>
              </a:rPr>
              <a:t>文档解决</a:t>
            </a:r>
            <a:endParaRPr lang="zh-CN" altLang="en-US" b="0">
              <a:ea typeface="楷体_GB2312" pitchFamily="49" charset="-122"/>
            </a:endParaRP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6" name="标题 1">
            <a:extLst>
              <a:ext uri="{FF2B5EF4-FFF2-40B4-BE49-F238E27FC236}">
                <a16:creationId xmlns:a16="http://schemas.microsoft.com/office/drawing/2014/main" id="{24D1B340-CF8F-429F-8298-5A0C7FA743C8}"/>
              </a:ext>
            </a:extLst>
          </p:cNvPr>
          <p:cNvSpPr>
            <a:spLocks noGrp="1"/>
          </p:cNvSpPr>
          <p:nvPr>
            <p:ph type="title"/>
          </p:nvPr>
        </p:nvSpPr>
        <p:spPr>
          <a:xfrm>
            <a:off x="468313" y="188913"/>
            <a:ext cx="7543800" cy="719137"/>
          </a:xfrm>
        </p:spPr>
        <p:txBody>
          <a:bodyPr/>
          <a:lstStyle/>
          <a:p>
            <a:r>
              <a:rPr lang="zh-CN" altLang="en-US" dirty="0">
                <a:ea typeface="宋体" panose="02010600030101010101" pitchFamily="2" charset="-122"/>
              </a:rPr>
              <a:t>本章小结</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p:cNvSpPr>
            <a:spLocks noGrp="1"/>
          </p:cNvSpPr>
          <p:nvPr>
            <p:ph type="title"/>
          </p:nvPr>
        </p:nvSpPr>
        <p:spPr/>
        <p:txBody>
          <a:bodyPr/>
          <a:lstStyle/>
          <a:p>
            <a:r>
              <a:rPr lang="zh-CN" altLang="en-US" dirty="0">
                <a:ea typeface="宋体" panose="02010600030101010101" pitchFamily="2" charset="-122"/>
              </a:rPr>
              <a:t>本章小结</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2A43C78F-7E15-4F10-A95C-D7A9400D82C5}"/>
              </a:ext>
            </a:extLst>
          </p:cNvPr>
          <p:cNvPicPr>
            <a:picLocks noChangeAspect="1"/>
          </p:cNvPicPr>
          <p:nvPr/>
        </p:nvPicPr>
        <p:blipFill>
          <a:blip r:embed="rId2"/>
          <a:stretch>
            <a:fillRect/>
          </a:stretch>
        </p:blipFill>
        <p:spPr>
          <a:xfrm>
            <a:off x="323528" y="1094881"/>
            <a:ext cx="6928445" cy="5583512"/>
          </a:xfrm>
          <a:prstGeom prst="rect">
            <a:avLst/>
          </a:prstGeom>
        </p:spPr>
      </p:pic>
    </p:spTree>
    <p:extLst>
      <p:ext uri="{BB962C8B-B14F-4D97-AF65-F5344CB8AC3E}">
        <p14:creationId xmlns:p14="http://schemas.microsoft.com/office/powerpoint/2010/main" val="164181600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p:cNvSpPr>
            <a:spLocks noGrp="1"/>
          </p:cNvSpPr>
          <p:nvPr>
            <p:ph type="title"/>
          </p:nvPr>
        </p:nvSpPr>
        <p:spPr/>
        <p:txBody>
          <a:bodyPr/>
          <a:lstStyle/>
          <a:p>
            <a:r>
              <a:rPr lang="zh-CN" altLang="en-US" dirty="0">
                <a:ea typeface="宋体" panose="02010600030101010101" pitchFamily="2" charset="-122"/>
              </a:rPr>
              <a:t>本章小结</a:t>
            </a:r>
          </a:p>
        </p:txBody>
      </p:sp>
      <p:cxnSp>
        <p:nvCxnSpPr>
          <p:cNvPr id="4" name="直接连接符 3"/>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00475532-073E-4791-9633-80EA4108FF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313" y="188913"/>
            <a:ext cx="6974942" cy="6628324"/>
          </a:xfrm>
          <a:prstGeom prst="rect">
            <a:avLst/>
          </a:prstGeom>
        </p:spPr>
      </p:pic>
    </p:spTree>
    <p:extLst>
      <p:ext uri="{BB962C8B-B14F-4D97-AF65-F5344CB8AC3E}">
        <p14:creationId xmlns:p14="http://schemas.microsoft.com/office/powerpoint/2010/main" val="218677926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15E82DD2-4220-8FCD-2BB3-DBD2858B5110}"/>
              </a:ext>
            </a:extLst>
          </p:cNvPr>
          <p:cNvSpPr>
            <a:spLocks noGrp="1"/>
          </p:cNvSpPr>
          <p:nvPr>
            <p:ph type="body" sz="quarter" idx="10"/>
          </p:nvPr>
        </p:nvSpPr>
        <p:spPr>
          <a:xfrm>
            <a:off x="1562002" y="1674713"/>
            <a:ext cx="6910673" cy="517190"/>
          </a:xfrm>
        </p:spPr>
        <p:txBody>
          <a:bodyPr/>
          <a:lstStyle/>
          <a:p>
            <a:r>
              <a:rPr lang="zh-CN" altLang="en-US" sz="2400" dirty="0">
                <a:latin typeface="楷体" panose="02010609060101010101" pitchFamily="49" charset="-122"/>
                <a:ea typeface="楷体" panose="02010609060101010101" pitchFamily="49" charset="-122"/>
              </a:rPr>
              <a:t>文件夹拷贝</a:t>
            </a:r>
          </a:p>
        </p:txBody>
      </p:sp>
      <p:sp>
        <p:nvSpPr>
          <p:cNvPr id="9" name="文本占位符 8">
            <a:extLst>
              <a:ext uri="{FF2B5EF4-FFF2-40B4-BE49-F238E27FC236}">
                <a16:creationId xmlns:a16="http://schemas.microsoft.com/office/drawing/2014/main" id="{E30BC70D-26A3-CB85-AD8A-E4F9F31A27F3}"/>
              </a:ext>
            </a:extLst>
          </p:cNvPr>
          <p:cNvSpPr>
            <a:spLocks noGrp="1"/>
          </p:cNvSpPr>
          <p:nvPr>
            <p:ph type="body" sz="quarter" idx="11"/>
          </p:nvPr>
        </p:nvSpPr>
        <p:spPr>
          <a:xfrm>
            <a:off x="1331640" y="2636912"/>
            <a:ext cx="6910673" cy="3762373"/>
          </a:xfrm>
        </p:spPr>
        <p:txBody>
          <a:bodyPr/>
          <a:lstStyle/>
          <a:p>
            <a:r>
              <a:rPr lang="zh-CN" altLang="en-US" sz="2000" dirty="0">
                <a:latin typeface="楷体" panose="02010609060101010101" pitchFamily="49" charset="-122"/>
                <a:ea typeface="楷体" panose="02010609060101010101" pitchFamily="49" charset="-122"/>
              </a:rPr>
              <a:t>需求：拷贝一个文件夹，考虑子文件夹</a:t>
            </a:r>
            <a:endParaRPr lang="en-US" altLang="zh-CN" sz="2000" dirty="0">
              <a:latin typeface="楷体" panose="02010609060101010101" pitchFamily="49" charset="-122"/>
              <a:ea typeface="楷体" panose="02010609060101010101" pitchFamily="49" charset="-122"/>
            </a:endParaRPr>
          </a:p>
        </p:txBody>
      </p:sp>
      <p:sp>
        <p:nvSpPr>
          <p:cNvPr id="4" name="标题 1">
            <a:extLst>
              <a:ext uri="{FF2B5EF4-FFF2-40B4-BE49-F238E27FC236}">
                <a16:creationId xmlns:a16="http://schemas.microsoft.com/office/drawing/2014/main" id="{C0C72767-3064-4277-8FCC-D5FA2778D691}"/>
              </a:ext>
            </a:extLst>
          </p:cNvPr>
          <p:cNvSpPr txBox="1">
            <a:spLocks/>
          </p:cNvSpPr>
          <p:nvPr/>
        </p:nvSpPr>
        <p:spPr>
          <a:xfrm>
            <a:off x="468313" y="188913"/>
            <a:ext cx="7543800" cy="719137"/>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pitchFamily="34" charset="0"/>
              </a:defRPr>
            </a:lvl2pPr>
            <a:lvl3pPr algn="l" rtl="0" eaLnBrk="0" fontAlgn="base" hangingPunct="0">
              <a:spcBef>
                <a:spcPct val="0"/>
              </a:spcBef>
              <a:spcAft>
                <a:spcPct val="0"/>
              </a:spcAft>
              <a:defRPr sz="3600" b="1">
                <a:solidFill>
                  <a:schemeClr val="tx2"/>
                </a:solidFill>
                <a:latin typeface="Arial" pitchFamily="34" charset="0"/>
              </a:defRPr>
            </a:lvl3pPr>
            <a:lvl4pPr algn="l" rtl="0" eaLnBrk="0" fontAlgn="base" hangingPunct="0">
              <a:spcBef>
                <a:spcPct val="0"/>
              </a:spcBef>
              <a:spcAft>
                <a:spcPct val="0"/>
              </a:spcAft>
              <a:defRPr sz="3600" b="1">
                <a:solidFill>
                  <a:schemeClr val="tx2"/>
                </a:solidFill>
                <a:latin typeface="Arial" pitchFamily="34" charset="0"/>
              </a:defRPr>
            </a:lvl4pPr>
            <a:lvl5pPr algn="l" rtl="0" eaLnBrk="0" fontAlgn="base" hangingPunct="0">
              <a:spcBef>
                <a:spcPct val="0"/>
              </a:spcBef>
              <a:spcAft>
                <a:spcPct val="0"/>
              </a:spcAft>
              <a:defRPr sz="3600" b="1">
                <a:solidFill>
                  <a:schemeClr val="tx2"/>
                </a:solidFill>
                <a:latin typeface="Arial" pitchFamily="34" charset="0"/>
              </a:defRPr>
            </a:lvl5pPr>
            <a:lvl6pPr marL="457200" algn="l" rtl="0" fontAlgn="base">
              <a:spcBef>
                <a:spcPct val="0"/>
              </a:spcBef>
              <a:spcAft>
                <a:spcPct val="0"/>
              </a:spcAft>
              <a:defRPr sz="3600" b="1">
                <a:solidFill>
                  <a:schemeClr val="tx2"/>
                </a:solidFill>
                <a:latin typeface="Arial" pitchFamily="34" charset="0"/>
              </a:defRPr>
            </a:lvl6pPr>
            <a:lvl7pPr marL="914400" algn="l" rtl="0" fontAlgn="base">
              <a:spcBef>
                <a:spcPct val="0"/>
              </a:spcBef>
              <a:spcAft>
                <a:spcPct val="0"/>
              </a:spcAft>
              <a:defRPr sz="3600" b="1">
                <a:solidFill>
                  <a:schemeClr val="tx2"/>
                </a:solidFill>
                <a:latin typeface="Arial" pitchFamily="34" charset="0"/>
              </a:defRPr>
            </a:lvl7pPr>
            <a:lvl8pPr marL="1371600" algn="l" rtl="0" fontAlgn="base">
              <a:spcBef>
                <a:spcPct val="0"/>
              </a:spcBef>
              <a:spcAft>
                <a:spcPct val="0"/>
              </a:spcAft>
              <a:defRPr sz="3600" b="1">
                <a:solidFill>
                  <a:schemeClr val="tx2"/>
                </a:solidFill>
                <a:latin typeface="Arial" pitchFamily="34" charset="0"/>
              </a:defRPr>
            </a:lvl8pPr>
            <a:lvl9pPr marL="1828800" algn="l" rtl="0" fontAlgn="base">
              <a:spcBef>
                <a:spcPct val="0"/>
              </a:spcBef>
              <a:spcAft>
                <a:spcPct val="0"/>
              </a:spcAft>
              <a:defRPr sz="3600" b="1">
                <a:solidFill>
                  <a:schemeClr val="tx2"/>
                </a:solidFill>
                <a:latin typeface="Arial" pitchFamily="34" charset="0"/>
              </a:defRPr>
            </a:lvl9pPr>
          </a:lstStyle>
          <a:p>
            <a:r>
              <a:rPr lang="en-US" altLang="zh-CN"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6.2.1 </a:t>
            </a:r>
            <a:r>
              <a:rPr lang="zh-CN" altLang="en-US" b="0" kern="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写文本文件 </a:t>
            </a:r>
            <a:endParaRPr lang="zh-CN" altLang="en-US" kern="0" dirty="0">
              <a:ea typeface="宋体" panose="02010600030101010101" pitchFamily="2" charset="-122"/>
              <a:cs typeface="Times New Roman" panose="02020603050405020304" pitchFamily="18" charset="0"/>
            </a:endParaRPr>
          </a:p>
        </p:txBody>
      </p:sp>
      <p:cxnSp>
        <p:nvCxnSpPr>
          <p:cNvPr id="5" name="直接连接符 4">
            <a:extLst>
              <a:ext uri="{FF2B5EF4-FFF2-40B4-BE49-F238E27FC236}">
                <a16:creationId xmlns:a16="http://schemas.microsoft.com/office/drawing/2014/main" id="{6542EB77-E802-49B1-BE90-9303CE0C5921}"/>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664542"/>
      </p:ext>
    </p:extLst>
  </p:cSld>
  <p:clrMapOvr>
    <a:masterClrMapping/>
  </p:clrMapOvr>
  <p:transition spd="slow">
    <p:randomBar dir="vert"/>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en-US" altLang="zh-CN"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6.2.1 </a:t>
            </a:r>
            <a:r>
              <a:rPr lang="zh-CN" altLang="en-US"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写文本文件 </a:t>
            </a:r>
            <a:endParaRPr lang="zh-CN" altLang="en-US" dirty="0">
              <a:ea typeface="宋体" panose="02010600030101010101" pitchFamily="2" charset="-122"/>
              <a:cs typeface="Times New Roman" panose="02020603050405020304" pitchFamily="18" charset="0"/>
            </a:endParaRPr>
          </a:p>
        </p:txBody>
      </p:sp>
      <p:sp>
        <p:nvSpPr>
          <p:cNvPr id="74756" name="Rectangle 3"/>
          <p:cNvSpPr txBox="1">
            <a:spLocks noChangeArrowheads="1"/>
          </p:cNvSpPr>
          <p:nvPr/>
        </p:nvSpPr>
        <p:spPr bwMode="auto">
          <a:xfrm>
            <a:off x="322262" y="908050"/>
            <a:ext cx="8353425" cy="5802607"/>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import java.io.*;  //</a:t>
            </a:r>
            <a:r>
              <a:rPr lang="en-US" altLang="zh-CN" sz="2000" b="1" dirty="0" err="1">
                <a:latin typeface="Times New Roman" panose="02020603050405020304" pitchFamily="18" charset="0"/>
                <a:cs typeface="Times New Roman" panose="02020603050405020304" pitchFamily="18" charset="0"/>
              </a:rPr>
              <a:t>BufferedWriter</a:t>
            </a: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public class </a:t>
            </a:r>
            <a:r>
              <a:rPr lang="en-US" altLang="zh-CN" sz="2000" b="1" dirty="0" err="1">
                <a:latin typeface="Times New Roman" panose="02020603050405020304" pitchFamily="18" charset="0"/>
                <a:cs typeface="Times New Roman" panose="02020603050405020304" pitchFamily="18" charset="0"/>
              </a:rPr>
              <a:t>CopyDirTest</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拷贝一个文件夹</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考虑子文件夹</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将</a:t>
            </a:r>
            <a:r>
              <a:rPr lang="en-US" altLang="zh-CN" sz="2000" b="1" dirty="0">
                <a:latin typeface="Times New Roman" panose="02020603050405020304" pitchFamily="18" charset="0"/>
                <a:cs typeface="Times New Roman" panose="02020603050405020304" pitchFamily="18" charset="0"/>
              </a:rPr>
              <a:t>D:\\test</a:t>
            </a:r>
            <a:r>
              <a:rPr lang="zh-CN" altLang="en-US" sz="2000" b="1" dirty="0">
                <a:latin typeface="Times New Roman" panose="02020603050405020304" pitchFamily="18" charset="0"/>
                <a:cs typeface="Times New Roman" panose="02020603050405020304" pitchFamily="18" charset="0"/>
              </a:rPr>
              <a:t>文件夹</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拷贝到</a:t>
            </a:r>
            <a:r>
              <a:rPr lang="en-US" altLang="zh-CN" sz="2000" b="1" dirty="0">
                <a:latin typeface="Times New Roman" panose="02020603050405020304" pitchFamily="18" charset="0"/>
                <a:cs typeface="Times New Roman" panose="02020603050405020304" pitchFamily="18" charset="0"/>
              </a:rPr>
              <a:t>E:\\</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main(String[] </a:t>
            </a:r>
            <a:r>
              <a:rPr lang="en-US" altLang="zh-CN" sz="2000" b="1" dirty="0" err="1">
                <a:latin typeface="Times New Roman" panose="02020603050405020304" pitchFamily="18" charset="0"/>
                <a:cs typeface="Times New Roman" panose="02020603050405020304" pitchFamily="18" charset="0"/>
              </a:rPr>
              <a:t>args</a:t>
            </a:r>
            <a:r>
              <a:rPr lang="en-US" altLang="zh-CN" sz="2000" b="1" dirty="0">
                <a:latin typeface="Times New Roman" panose="02020603050405020304" pitchFamily="18" charset="0"/>
                <a:cs typeface="Times New Roman" panose="02020603050405020304" pitchFamily="18" charset="0"/>
              </a:rPr>
              <a:t>) throws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File </a:t>
            </a:r>
            <a:r>
              <a:rPr lang="en-US" altLang="zh-CN" sz="2000" b="1" dirty="0" err="1">
                <a:latin typeface="Times New Roman" panose="02020603050405020304" pitchFamily="18" charset="0"/>
                <a:cs typeface="Times New Roman" panose="02020603050405020304" pitchFamily="18" charset="0"/>
              </a:rPr>
              <a:t>src</a:t>
            </a:r>
            <a:r>
              <a:rPr lang="en-US" altLang="zh-CN" sz="2000" b="1" dirty="0">
                <a:latin typeface="Times New Roman" panose="02020603050405020304" pitchFamily="18" charset="0"/>
                <a:cs typeface="Times New Roman" panose="02020603050405020304" pitchFamily="18" charset="0"/>
              </a:rPr>
              <a:t> = new File("E:\\test");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File </a:t>
            </a:r>
            <a:r>
              <a:rPr lang="en-US" altLang="zh-CN" sz="2000" b="1" dirty="0" err="1">
                <a:latin typeface="Times New Roman" panose="02020603050405020304" pitchFamily="18" charset="0"/>
                <a:cs typeface="Times New Roman" panose="02020603050405020304" pitchFamily="18" charset="0"/>
              </a:rPr>
              <a:t>dest</a:t>
            </a:r>
            <a:r>
              <a:rPr lang="en-US" altLang="zh-CN" sz="2000" b="1" dirty="0">
                <a:latin typeface="Times New Roman" panose="02020603050405020304" pitchFamily="18" charset="0"/>
                <a:cs typeface="Times New Roman" panose="02020603050405020304" pitchFamily="18" charset="0"/>
              </a:rPr>
              <a:t> = new File("D:\\");</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if (</a:t>
            </a:r>
            <a:r>
              <a:rPr lang="en-US" altLang="zh-CN" sz="2000" b="1" dirty="0" err="1">
                <a:latin typeface="Times New Roman" panose="02020603050405020304" pitchFamily="18" charset="0"/>
                <a:cs typeface="Times New Roman" panose="02020603050405020304" pitchFamily="18" charset="0"/>
              </a:rPr>
              <a:t>src.equals</a:t>
            </a: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dest</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System.out.println</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目标文件夹是源文件夹的子文件夹</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 else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copyDir</a:t>
            </a: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src</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dest</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p:txBody>
      </p:sp>
      <p:cxnSp>
        <p:nvCxnSpPr>
          <p:cNvPr id="6" name="直接连接符 5">
            <a:extLst>
              <a:ext uri="{FF2B5EF4-FFF2-40B4-BE49-F238E27FC236}">
                <a16:creationId xmlns:a16="http://schemas.microsoft.com/office/drawing/2014/main" id="{26AD2F6D-B965-4F39-B0CF-FA449E90A1ED}"/>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628340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en-US" altLang="zh-CN"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6.2.1 </a:t>
            </a:r>
            <a:r>
              <a:rPr lang="zh-CN" altLang="en-US"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写文本文件 </a:t>
            </a:r>
            <a:endParaRPr lang="zh-CN" altLang="en-US" dirty="0">
              <a:ea typeface="宋体" panose="02010600030101010101" pitchFamily="2" charset="-122"/>
              <a:cs typeface="Times New Roman" panose="02020603050405020304" pitchFamily="18" charset="0"/>
            </a:endParaRPr>
          </a:p>
        </p:txBody>
      </p:sp>
      <p:sp>
        <p:nvSpPr>
          <p:cNvPr id="74756" name="Rectangle 3"/>
          <p:cNvSpPr txBox="1">
            <a:spLocks noChangeArrowheads="1"/>
          </p:cNvSpPr>
          <p:nvPr/>
        </p:nvSpPr>
        <p:spPr bwMode="auto">
          <a:xfrm>
            <a:off x="-12135" y="332656"/>
            <a:ext cx="9505056" cy="6444716"/>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public static void </a:t>
            </a:r>
            <a:r>
              <a:rPr lang="en-US" altLang="zh-CN" sz="2000" b="1" dirty="0" err="1">
                <a:latin typeface="Times New Roman" panose="02020603050405020304" pitchFamily="18" charset="0"/>
                <a:cs typeface="Times New Roman" panose="02020603050405020304" pitchFamily="18" charset="0"/>
              </a:rPr>
              <a:t>copyDir</a:t>
            </a:r>
            <a:r>
              <a:rPr lang="en-US" altLang="zh-CN" sz="2000" b="1" dirty="0">
                <a:latin typeface="Times New Roman" panose="02020603050405020304" pitchFamily="18" charset="0"/>
                <a:cs typeface="Times New Roman" panose="02020603050405020304" pitchFamily="18" charset="0"/>
              </a:rPr>
              <a:t>(File </a:t>
            </a:r>
            <a:r>
              <a:rPr lang="en-US" altLang="zh-CN" sz="2000" b="1" dirty="0" err="1">
                <a:latin typeface="Times New Roman" panose="02020603050405020304" pitchFamily="18" charset="0"/>
                <a:cs typeface="Times New Roman" panose="02020603050405020304" pitchFamily="18" charset="0"/>
              </a:rPr>
              <a:t>src</a:t>
            </a:r>
            <a:r>
              <a:rPr lang="en-US" altLang="zh-CN" sz="2000" b="1" dirty="0">
                <a:latin typeface="Times New Roman" panose="02020603050405020304" pitchFamily="18" charset="0"/>
                <a:cs typeface="Times New Roman" panose="02020603050405020304" pitchFamily="18" charset="0"/>
              </a:rPr>
              <a:t>, File </a:t>
            </a:r>
            <a:r>
              <a:rPr lang="en-US" altLang="zh-CN" sz="2000" b="1" dirty="0" err="1">
                <a:latin typeface="Times New Roman" panose="02020603050405020304" pitchFamily="18" charset="0"/>
                <a:cs typeface="Times New Roman" panose="02020603050405020304" pitchFamily="18" charset="0"/>
              </a:rPr>
              <a:t>dest</a:t>
            </a:r>
            <a:r>
              <a:rPr lang="en-US" altLang="zh-CN" sz="2000" b="1" dirty="0">
                <a:latin typeface="Times New Roman" panose="02020603050405020304" pitchFamily="18" charset="0"/>
                <a:cs typeface="Times New Roman" panose="02020603050405020304" pitchFamily="18" charset="0"/>
              </a:rPr>
              <a:t>) throws </a:t>
            </a:r>
            <a:r>
              <a:rPr lang="en-US" altLang="zh-CN" sz="2000" b="1" dirty="0" err="1">
                <a:latin typeface="Times New Roman" panose="02020603050405020304" pitchFamily="18" charset="0"/>
                <a:cs typeface="Times New Roman" panose="02020603050405020304" pitchFamily="18" charset="0"/>
              </a:rPr>
              <a:t>IOException</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File </a:t>
            </a:r>
            <a:r>
              <a:rPr lang="en-US" altLang="zh-CN" sz="2000" b="1" dirty="0" err="1">
                <a:latin typeface="Times New Roman" panose="02020603050405020304" pitchFamily="18" charset="0"/>
                <a:cs typeface="Times New Roman" panose="02020603050405020304" pitchFamily="18" charset="0"/>
              </a:rPr>
              <a:t>newDir</a:t>
            </a:r>
            <a:r>
              <a:rPr lang="en-US" altLang="zh-CN" sz="2000" b="1" dirty="0">
                <a:latin typeface="Times New Roman" panose="02020603050405020304" pitchFamily="18" charset="0"/>
                <a:cs typeface="Times New Roman" panose="02020603050405020304" pitchFamily="18" charset="0"/>
              </a:rPr>
              <a:t> = new File(</a:t>
            </a:r>
            <a:r>
              <a:rPr lang="en-US" altLang="zh-CN" sz="2000" b="1" dirty="0" err="1">
                <a:latin typeface="Times New Roman" panose="02020603050405020304" pitchFamily="18" charset="0"/>
                <a:cs typeface="Times New Roman" panose="02020603050405020304" pitchFamily="18" charset="0"/>
              </a:rPr>
              <a:t>dest</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src.getName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newDir.mkdirs</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 </a:t>
            </a:r>
            <a:r>
              <a:rPr lang="zh-CN" altLang="en-US" sz="2000" b="1" dirty="0">
                <a:latin typeface="Times New Roman" panose="02020603050405020304" pitchFamily="18" charset="0"/>
                <a:cs typeface="Times New Roman" panose="02020603050405020304" pitchFamily="18" charset="0"/>
              </a:rPr>
              <a:t>从数据源中获取数据</a:t>
            </a:r>
            <a:r>
              <a:rPr lang="en-US" altLang="zh-CN" sz="2000" b="1" dirty="0">
                <a:latin typeface="Times New Roman" panose="02020603050405020304" pitchFamily="18" charset="0"/>
                <a:cs typeface="Times New Roman" panose="02020603050405020304" pitchFamily="18" charset="0"/>
              </a:rPr>
              <a:t>(File</a:t>
            </a:r>
            <a:r>
              <a:rPr lang="zh-CN" altLang="en-US" sz="2000" b="1" dirty="0">
                <a:latin typeface="Times New Roman" panose="02020603050405020304" pitchFamily="18" charset="0"/>
                <a:cs typeface="Times New Roman" panose="02020603050405020304" pitchFamily="18" charset="0"/>
              </a:rPr>
              <a:t>对象</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File[] files = </a:t>
            </a:r>
            <a:r>
              <a:rPr lang="en-US" altLang="zh-CN" sz="2000" b="1" dirty="0" err="1">
                <a:latin typeface="Times New Roman" panose="02020603050405020304" pitchFamily="18" charset="0"/>
                <a:cs typeface="Times New Roman" panose="02020603050405020304" pitchFamily="18" charset="0"/>
              </a:rPr>
              <a:t>src.listFiles</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 </a:t>
            </a:r>
            <a:r>
              <a:rPr lang="zh-CN" altLang="en-US" sz="2000" b="1" dirty="0">
                <a:latin typeface="Times New Roman" panose="02020603050405020304" pitchFamily="18" charset="0"/>
                <a:cs typeface="Times New Roman" panose="02020603050405020304" pitchFamily="18" charset="0"/>
              </a:rPr>
              <a:t>遍历数组</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获取每一个文件或文件夹对象</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for (File </a:t>
            </a:r>
            <a:r>
              <a:rPr lang="en-US" altLang="zh-CN" sz="2000" b="1" dirty="0" err="1">
                <a:latin typeface="Times New Roman" panose="02020603050405020304" pitchFamily="18" charset="0"/>
                <a:cs typeface="Times New Roman" panose="02020603050405020304" pitchFamily="18" charset="0"/>
              </a:rPr>
              <a:t>file</a:t>
            </a:r>
            <a:r>
              <a:rPr lang="en-US" altLang="zh-CN" sz="2000" b="1" dirty="0">
                <a:latin typeface="Times New Roman" panose="02020603050405020304" pitchFamily="18" charset="0"/>
                <a:cs typeface="Times New Roman" panose="02020603050405020304" pitchFamily="18" charset="0"/>
              </a:rPr>
              <a:t> : files)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 </a:t>
            </a:r>
            <a:r>
              <a:rPr lang="zh-CN" altLang="en-US" sz="2000" b="1" dirty="0">
                <a:latin typeface="Times New Roman" panose="02020603050405020304" pitchFamily="18" charset="0"/>
                <a:cs typeface="Times New Roman" panose="02020603050405020304" pitchFamily="18" charset="0"/>
              </a:rPr>
              <a:t>判断当前对象是否是文件</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if (</a:t>
            </a:r>
            <a:r>
              <a:rPr lang="en-US" altLang="zh-CN" sz="2000" b="1" dirty="0" err="1">
                <a:latin typeface="Times New Roman" panose="02020603050405020304" pitchFamily="18" charset="0"/>
                <a:cs typeface="Times New Roman" panose="02020603050405020304" pitchFamily="18" charset="0"/>
              </a:rPr>
              <a:t>file.isFile</a:t>
            </a: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 </a:t>
            </a:r>
            <a:r>
              <a:rPr lang="zh-CN" altLang="en-US" sz="2000" b="1" dirty="0">
                <a:latin typeface="Times New Roman" panose="02020603050405020304" pitchFamily="18" charset="0"/>
                <a:cs typeface="Times New Roman" panose="02020603050405020304" pitchFamily="18" charset="0"/>
              </a:rPr>
              <a:t>是的话直接拷贝</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FileInputStream</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fis</a:t>
            </a:r>
            <a:r>
              <a:rPr lang="en-US" altLang="zh-CN" sz="2000" b="1" dirty="0">
                <a:latin typeface="Times New Roman" panose="02020603050405020304" pitchFamily="18" charset="0"/>
                <a:cs typeface="Times New Roman" panose="02020603050405020304" pitchFamily="18" charset="0"/>
              </a:rPr>
              <a:t> = new </a:t>
            </a:r>
            <a:r>
              <a:rPr lang="en-US" altLang="zh-CN" sz="2000" b="1" dirty="0" err="1">
                <a:latin typeface="Times New Roman" panose="02020603050405020304" pitchFamily="18" charset="0"/>
                <a:cs typeface="Times New Roman" panose="02020603050405020304" pitchFamily="18" charset="0"/>
              </a:rPr>
              <a:t>FileInputStream</a:t>
            </a:r>
            <a:r>
              <a:rPr lang="en-US" altLang="zh-CN" sz="2000" b="1" dirty="0">
                <a:latin typeface="Times New Roman" panose="02020603050405020304" pitchFamily="18" charset="0"/>
                <a:cs typeface="Times New Roman" panose="02020603050405020304" pitchFamily="18" charset="0"/>
              </a:rPr>
              <a:t>(file);</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FileOutputStream</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fos</a:t>
            </a:r>
            <a:r>
              <a:rPr lang="en-US" altLang="zh-CN" sz="2000" b="1" dirty="0">
                <a:latin typeface="Times New Roman" panose="02020603050405020304" pitchFamily="18" charset="0"/>
                <a:cs typeface="Times New Roman" panose="02020603050405020304" pitchFamily="18" charset="0"/>
              </a:rPr>
              <a:t> = new </a:t>
            </a:r>
            <a:r>
              <a:rPr lang="en-US" altLang="zh-CN" sz="2000" b="1" dirty="0" err="1">
                <a:latin typeface="Times New Roman" panose="02020603050405020304" pitchFamily="18" charset="0"/>
                <a:cs typeface="Times New Roman" panose="02020603050405020304" pitchFamily="18" charset="0"/>
              </a:rPr>
              <a:t>FileOutputStream</a:t>
            </a:r>
            <a:r>
              <a:rPr lang="en-US" altLang="zh-CN" sz="2000" b="1" dirty="0">
                <a:latin typeface="Times New Roman" panose="02020603050405020304" pitchFamily="18" charset="0"/>
                <a:cs typeface="Times New Roman" panose="02020603050405020304" pitchFamily="18" charset="0"/>
              </a:rPr>
              <a:t>(new File(</a:t>
            </a:r>
            <a:r>
              <a:rPr lang="en-US" altLang="zh-CN" sz="2000" b="1" dirty="0" err="1">
                <a:latin typeface="Times New Roman" panose="02020603050405020304" pitchFamily="18" charset="0"/>
                <a:cs typeface="Times New Roman" panose="02020603050405020304" pitchFamily="18" charset="0"/>
              </a:rPr>
              <a:t>newDir</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file.getName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int </a:t>
            </a:r>
            <a:r>
              <a:rPr lang="en-US" altLang="zh-CN" sz="2000" b="1" dirty="0" err="1">
                <a:latin typeface="Times New Roman" panose="02020603050405020304" pitchFamily="18" charset="0"/>
                <a:cs typeface="Times New Roman" panose="02020603050405020304" pitchFamily="18" charset="0"/>
              </a:rPr>
              <a:t>len</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byte[] </a:t>
            </a:r>
            <a:r>
              <a:rPr lang="en-US" altLang="zh-CN" sz="2000" b="1" dirty="0" err="1">
                <a:latin typeface="Times New Roman" panose="02020603050405020304" pitchFamily="18" charset="0"/>
                <a:cs typeface="Times New Roman" panose="02020603050405020304" pitchFamily="18" charset="0"/>
              </a:rPr>
              <a:t>bys</a:t>
            </a:r>
            <a:r>
              <a:rPr lang="en-US" altLang="zh-CN" sz="2000" b="1" dirty="0">
                <a:latin typeface="Times New Roman" panose="02020603050405020304" pitchFamily="18" charset="0"/>
                <a:cs typeface="Times New Roman" panose="02020603050405020304" pitchFamily="18" charset="0"/>
              </a:rPr>
              <a:t> = new byte[1024];</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while ((</a:t>
            </a:r>
            <a:r>
              <a:rPr lang="en-US" altLang="zh-CN" sz="2000" b="1" dirty="0" err="1">
                <a:latin typeface="Times New Roman" panose="02020603050405020304" pitchFamily="18" charset="0"/>
                <a:cs typeface="Times New Roman" panose="02020603050405020304" pitchFamily="18" charset="0"/>
              </a:rPr>
              <a:t>len</a:t>
            </a:r>
            <a:r>
              <a:rPr lang="en-US" altLang="zh-CN" sz="2000" b="1" dirty="0">
                <a:latin typeface="Times New Roman" panose="02020603050405020304" pitchFamily="18" charset="0"/>
                <a:cs typeface="Times New Roman" panose="02020603050405020304" pitchFamily="18" charset="0"/>
              </a:rPr>
              <a:t> = </a:t>
            </a:r>
            <a:r>
              <a:rPr lang="en-US" altLang="zh-CN" sz="2000" b="1" dirty="0" err="1">
                <a:latin typeface="Times New Roman" panose="02020603050405020304" pitchFamily="18" charset="0"/>
                <a:cs typeface="Times New Roman" panose="02020603050405020304" pitchFamily="18" charset="0"/>
              </a:rPr>
              <a:t>fis.read</a:t>
            </a: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bys</a:t>
            </a:r>
            <a:r>
              <a:rPr lang="en-US" altLang="zh-CN" sz="2000" b="1" dirty="0">
                <a:latin typeface="Times New Roman" panose="02020603050405020304" pitchFamily="18" charset="0"/>
                <a:cs typeface="Times New Roman" panose="02020603050405020304" pitchFamily="18" charset="0"/>
              </a:rPr>
              <a:t>)) != -1)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fos.write</a:t>
            </a: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bys</a:t>
            </a:r>
            <a:r>
              <a:rPr lang="en-US" altLang="zh-CN" sz="2000" b="1" dirty="0">
                <a:latin typeface="Times New Roman" panose="02020603050405020304" pitchFamily="18" charset="0"/>
                <a:cs typeface="Times New Roman" panose="02020603050405020304" pitchFamily="18" charset="0"/>
              </a:rPr>
              <a:t>, 0, </a:t>
            </a:r>
            <a:r>
              <a:rPr lang="en-US" altLang="zh-CN" sz="2000" b="1" dirty="0" err="1">
                <a:latin typeface="Times New Roman" panose="02020603050405020304" pitchFamily="18" charset="0"/>
                <a:cs typeface="Times New Roman" panose="02020603050405020304" pitchFamily="18" charset="0"/>
              </a:rPr>
              <a:t>len</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7292222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en-US" altLang="zh-CN"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6.2.1 </a:t>
            </a:r>
            <a:r>
              <a:rPr lang="zh-CN" altLang="en-US"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写文本文件 </a:t>
            </a:r>
            <a:endParaRPr lang="zh-CN" altLang="en-US" dirty="0">
              <a:ea typeface="宋体" panose="02010600030101010101" pitchFamily="2" charset="-122"/>
              <a:cs typeface="Times New Roman" panose="02020603050405020304" pitchFamily="18" charset="0"/>
            </a:endParaRPr>
          </a:p>
        </p:txBody>
      </p:sp>
      <p:sp>
        <p:nvSpPr>
          <p:cNvPr id="74756" name="Rectangle 3"/>
          <p:cNvSpPr txBox="1">
            <a:spLocks noChangeArrowheads="1"/>
          </p:cNvSpPr>
          <p:nvPr/>
        </p:nvSpPr>
        <p:spPr bwMode="auto">
          <a:xfrm>
            <a:off x="179512" y="1124744"/>
            <a:ext cx="8353425" cy="4248472"/>
          </a:xfrm>
          <a:prstGeom prst="rect">
            <a:avLst/>
          </a:prstGeom>
          <a:solidFill>
            <a:srgbClr val="FFFFCC"/>
          </a:solidFill>
          <a:ln w="9525">
            <a:solidFill>
              <a:schemeClr val="tx1"/>
            </a:solidFill>
            <a:miter lim="800000"/>
            <a:headEnd/>
            <a:tailEnd/>
          </a:ln>
        </p:spPr>
        <p:txBody>
          <a:bodyPr wrap="none"/>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fis.close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fos.close</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endParaRPr lang="en-US" altLang="zh-CN" sz="2000" b="1" dirty="0">
              <a:latin typeface="Times New Roman" panose="02020603050405020304" pitchFamily="18" charset="0"/>
              <a:cs typeface="Times New Roman" panose="02020603050405020304" pitchFamily="18" charset="0"/>
            </a:endParaRP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 else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 </a:t>
            </a:r>
            <a:r>
              <a:rPr lang="zh-CN" altLang="en-US" sz="2000" b="1" dirty="0">
                <a:latin typeface="Times New Roman" panose="02020603050405020304" pitchFamily="18" charset="0"/>
                <a:cs typeface="Times New Roman" panose="02020603050405020304" pitchFamily="18" charset="0"/>
              </a:rPr>
              <a:t>如果是文件夹</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递归调用方法</a:t>
            </a:r>
          </a:p>
          <a:p>
            <a:pPr marL="0" lvl="1">
              <a:buClr>
                <a:schemeClr val="accent2"/>
              </a:buClr>
              <a:buSzPct val="70000"/>
            </a:pPr>
            <a:r>
              <a:rPr lang="zh-CN" altLang="en-US"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copyDir</a:t>
            </a:r>
            <a:r>
              <a:rPr lang="en-US" altLang="zh-CN" sz="2000" b="1" dirty="0">
                <a:latin typeface="Times New Roman" panose="02020603050405020304" pitchFamily="18" charset="0"/>
                <a:cs typeface="Times New Roman" panose="02020603050405020304" pitchFamily="18" charset="0"/>
              </a:rPr>
              <a:t>(file, </a:t>
            </a:r>
            <a:r>
              <a:rPr lang="en-US" altLang="zh-CN" sz="2000" b="1" dirty="0" err="1">
                <a:latin typeface="Times New Roman" panose="02020603050405020304" pitchFamily="18" charset="0"/>
                <a:cs typeface="Times New Roman" panose="02020603050405020304" pitchFamily="18" charset="0"/>
              </a:rPr>
              <a:t>newDir</a:t>
            </a:r>
            <a:r>
              <a:rPr lang="en-US" altLang="zh-CN" sz="2000" b="1" dirty="0">
                <a:latin typeface="Times New Roman" panose="02020603050405020304" pitchFamily="18" charset="0"/>
                <a:cs typeface="Times New Roman" panose="02020603050405020304" pitchFamily="18" charset="0"/>
              </a:rPr>
              <a:t>);</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    }</a:t>
            </a:r>
          </a:p>
          <a:p>
            <a:pPr marL="0" lvl="1">
              <a:buClr>
                <a:schemeClr val="accent2"/>
              </a:buClr>
              <a:buSzPct val="70000"/>
            </a:pPr>
            <a:r>
              <a:rPr lang="en-US" altLang="zh-CN" sz="2000" b="1" dirty="0">
                <a:latin typeface="Times New Roman" panose="02020603050405020304" pitchFamily="18" charset="0"/>
                <a:cs typeface="Times New Roman" panose="02020603050405020304" pitchFamily="18" charset="0"/>
              </a:rPr>
              <a:t>}</a:t>
            </a:r>
          </a:p>
        </p:txBody>
      </p:sp>
      <p:cxnSp>
        <p:nvCxnSpPr>
          <p:cNvPr id="4" name="直接连接符 3">
            <a:extLst>
              <a:ext uri="{FF2B5EF4-FFF2-40B4-BE49-F238E27FC236}">
                <a16:creationId xmlns:a16="http://schemas.microsoft.com/office/drawing/2014/main" id="{8D6DDEA8-E22D-476E-B26C-3DC690953A69}"/>
              </a:ext>
            </a:extLst>
          </p:cNvPr>
          <p:cNvCxnSpPr/>
          <p:nvPr/>
        </p:nvCxnSpPr>
        <p:spPr>
          <a:xfrm>
            <a:off x="0" y="908051"/>
            <a:ext cx="7956376"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8314389"/>
      </p:ext>
    </p:extLst>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15865</TotalTime>
  <Words>12734</Words>
  <Application>Microsoft Office PowerPoint</Application>
  <PresentationFormat>全屏显示(4:3)</PresentationFormat>
  <Paragraphs>1991</Paragraphs>
  <Slides>161</Slides>
  <Notes>103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161</vt:i4>
      </vt:variant>
    </vt:vector>
  </HeadingPairs>
  <TitlesOfParts>
    <vt:vector size="178" baseType="lpstr">
      <vt:lpstr>Alibaba PuHuiTi B</vt:lpstr>
      <vt:lpstr>Alibaba PuHuiTi Medium</vt:lpstr>
      <vt:lpstr>Alibaba PuHuiTi R</vt:lpstr>
      <vt:lpstr>Arial Unicode MS</vt:lpstr>
      <vt:lpstr>阿里巴巴普惠体</vt:lpstr>
      <vt:lpstr>黑体</vt:lpstr>
      <vt:lpstr>楷体</vt:lpstr>
      <vt:lpstr>微软雅黑</vt:lpstr>
      <vt:lpstr>杨任东竹石体-Bold</vt:lpstr>
      <vt:lpstr>Arial</vt:lpstr>
      <vt:lpstr>Calibri</vt:lpstr>
      <vt:lpstr>Consolas</vt:lpstr>
      <vt:lpstr>Courier New</vt:lpstr>
      <vt:lpstr>Times New Roman</vt:lpstr>
      <vt:lpstr>Traditional Arabic</vt:lpstr>
      <vt:lpstr>Wingdings</vt:lpstr>
      <vt:lpstr>Network</vt:lpstr>
      <vt:lpstr>第六章 输入/输出流和文件</vt:lpstr>
      <vt:lpstr>6.1 输入/输出流</vt:lpstr>
      <vt:lpstr>6.1 输入/输出流</vt:lpstr>
      <vt:lpstr>6.1 输入/输出流</vt:lpstr>
      <vt:lpstr>6.1 输入/输出流</vt:lpstr>
      <vt:lpstr>6.1 输入/输出流</vt:lpstr>
      <vt:lpstr>6.1 输入/输出流</vt:lpstr>
      <vt:lpstr>6.1.1 I/O流的概念</vt:lpstr>
      <vt:lpstr>6.1.1 I/O流的概念</vt:lpstr>
      <vt:lpstr>6.1.1 I/O流的概念</vt:lpstr>
      <vt:lpstr>6.1.1 I/O流的概念</vt:lpstr>
      <vt:lpstr>6.1.1 I/O流的概念</vt:lpstr>
      <vt:lpstr>6.1.1 I/O流的概念</vt:lpstr>
      <vt:lpstr>6.1.1 I/O流的概念</vt:lpstr>
      <vt:lpstr>6.1.1 I/O流的概念</vt:lpstr>
      <vt:lpstr>6.1.1 I/O流的概念</vt:lpstr>
      <vt:lpstr>6.1.2 预定义的I/O流类概述</vt:lpstr>
      <vt:lpstr>6.1.2 预定义的I/O流类概述</vt:lpstr>
      <vt:lpstr>6.1.2 预定义的I/O流类概述</vt:lpstr>
      <vt:lpstr>6.1.2 预定义的I/O流类概述</vt:lpstr>
      <vt:lpstr>PowerPoint 演示文稿</vt:lpstr>
      <vt:lpstr>6.1.2 预定义的I/O流类概述</vt:lpstr>
      <vt:lpstr>6.1.2 预定义的I/O流类概述</vt:lpstr>
      <vt:lpstr>6.1.2 预定义的I/O流类概述</vt:lpstr>
      <vt:lpstr>6.1.2 预定义的I/O流类概述</vt:lpstr>
      <vt:lpstr>6.1.2 预定义的I/O流类概述</vt:lpstr>
      <vt:lpstr>6.1.2 预定义的I/O流类概述</vt:lpstr>
      <vt:lpstr>6.1.2 预定义的I/O流类概述</vt:lpstr>
      <vt:lpstr>6.1.2 预定义的I/O流类概述</vt:lpstr>
      <vt:lpstr>6.1.2 预定义的I/O流类概述</vt:lpstr>
      <vt:lpstr>6.1.2 预定义的I/O流类概述</vt:lpstr>
      <vt:lpstr>6.1.2 预定义的I/O流类概述</vt:lpstr>
      <vt:lpstr>6.1.2 预定义的I/O流类概述</vt:lpstr>
      <vt:lpstr>第六章 输入/输出流和文件</vt:lpstr>
      <vt:lpstr>6.2.1 File类</vt:lpstr>
      <vt:lpstr>PowerPoint 演示文稿</vt:lpstr>
      <vt:lpstr>PowerPoint 演示文稿</vt:lpstr>
      <vt:lpstr>6.2.5 File类--改进的文件复制程序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6.2.5 File类</vt:lpstr>
      <vt:lpstr>PowerPoint 演示文稿</vt:lpstr>
      <vt:lpstr>6.2.1 File类</vt:lpstr>
      <vt:lpstr>6.2.1 File类</vt:lpstr>
      <vt:lpstr>6.2.1 File类</vt:lpstr>
      <vt:lpstr>PowerPoint 演示文稿</vt:lpstr>
      <vt:lpstr>6.2.5 File类--改进的文件复制程序</vt:lpstr>
      <vt:lpstr>PowerPoint 演示文稿</vt:lpstr>
      <vt:lpstr>PowerPoint 演示文稿</vt:lpstr>
      <vt:lpstr>第六章 输入/输出流和文件</vt:lpstr>
      <vt:lpstr>PowerPoint 演示文稿</vt:lpstr>
      <vt:lpstr>IO 流体系结构</vt:lpstr>
      <vt:lpstr> 6.2.2 写二进制文件</vt:lpstr>
      <vt:lpstr> 6.2.2 写二进制文件</vt:lpstr>
      <vt:lpstr>6.2.2 写二进制文件</vt:lpstr>
      <vt:lpstr>6.2.2 写二进制文件</vt:lpstr>
      <vt:lpstr>6.2.2 写二进制文件</vt:lpstr>
      <vt:lpstr>6.2.3 写二进制文件</vt:lpstr>
      <vt:lpstr>6.2.2 写二进制文件</vt:lpstr>
      <vt:lpstr>6.2.3 写二进制文件</vt:lpstr>
      <vt:lpstr>PowerPoint 演示文稿</vt:lpstr>
      <vt:lpstr>PowerPoint 演示文稿</vt:lpstr>
      <vt:lpstr>PowerPoint 演示文稿</vt:lpstr>
      <vt:lpstr>PowerPoint 演示文稿</vt:lpstr>
      <vt:lpstr>PowerPoint 演示文稿</vt:lpstr>
      <vt:lpstr>PowerPoint 演示文稿</vt:lpstr>
      <vt:lpstr>6.2.2 写二进制文件</vt:lpstr>
      <vt:lpstr>PowerPoint 演示文稿</vt:lpstr>
      <vt:lpstr>PowerPoint 演示文稿</vt:lpstr>
      <vt:lpstr>6.2.2 写二进制文件</vt:lpstr>
      <vt:lpstr>6.2.2 写二进制文件</vt:lpstr>
      <vt:lpstr>6.2.2 写二进制文件</vt:lpstr>
      <vt:lpstr>第六章 输入/输出流和文件</vt:lpstr>
      <vt:lpstr>6.2.3 读二进制文件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6.2.3 读二进制文件 </vt:lpstr>
      <vt:lpstr>6.2.3 读二进制文件 </vt:lpstr>
      <vt:lpstr>6.2.3 读二进制文件 </vt:lpstr>
      <vt:lpstr>6.2.3 读二进制文件 </vt:lpstr>
      <vt:lpstr>6.2.3 读二进制文件 </vt:lpstr>
      <vt:lpstr>6.2.3 读二进制文件 </vt:lpstr>
      <vt:lpstr>PowerPoint 演示文稿</vt:lpstr>
      <vt:lpstr>第六章 输入/输出流和文件</vt:lpstr>
      <vt:lpstr>6.2.4 读文本文件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第六章 输入/输出流和文件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第六章 输入/输出流和文件</vt:lpstr>
      <vt:lpstr>6.2.6 对象序列化（串行化）</vt:lpstr>
      <vt:lpstr>6.2.6对象序列化</vt:lpstr>
      <vt:lpstr>6.2.6对象序列化</vt:lpstr>
      <vt:lpstr>6.2.6 对象序列化</vt:lpstr>
      <vt:lpstr>6.2.6 对象序列化</vt:lpstr>
      <vt:lpstr>6.2.6 对象序列化</vt:lpstr>
      <vt:lpstr>6.2.6 对象序列化</vt:lpstr>
      <vt:lpstr>PowerPoint 演示文稿</vt:lpstr>
      <vt:lpstr>PowerPoint 演示文稿</vt:lpstr>
      <vt:lpstr>PowerPoint 演示文稿</vt:lpstr>
      <vt:lpstr>PowerPoint 演示文稿</vt:lpstr>
      <vt:lpstr>PowerPoint 演示文稿</vt:lpstr>
      <vt:lpstr>PowerPoint 演示文稿</vt:lpstr>
      <vt:lpstr>6.2.6 对象序列化</vt:lpstr>
      <vt:lpstr>PowerPoint 演示文稿</vt:lpstr>
      <vt:lpstr>6.2.6 对象序列化</vt:lpstr>
      <vt:lpstr>PowerPoint 演示文稿</vt:lpstr>
      <vt:lpstr>第六章 输入/输出流和文件</vt:lpstr>
      <vt:lpstr>6.2.7 随机文件读写</vt:lpstr>
      <vt:lpstr>6.2.7 随机文件读写</vt:lpstr>
      <vt:lpstr>6.2.7 随机文件读写</vt:lpstr>
      <vt:lpstr>§ 6.2.7 随机文件读写</vt:lpstr>
      <vt:lpstr>PowerPoint 演示文稿</vt:lpstr>
      <vt:lpstr>本章小结</vt:lpstr>
      <vt:lpstr>本章小结</vt:lpstr>
      <vt:lpstr>本章小结</vt:lpstr>
      <vt:lpstr>PowerPoint 演示文稿</vt:lpstr>
      <vt:lpstr>6.2.1 写文本文件 </vt:lpstr>
      <vt:lpstr>6.2.1 写文本文件 </vt:lpstr>
      <vt:lpstr>6.2.1 写文本文件 </vt:lpstr>
    </vt:vector>
  </TitlesOfParts>
  <Company>HHU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Java面向对象程序设计</dc:title>
  <dc:creator>Yingchi Mao</dc:creator>
  <cp:lastModifiedBy>Yanyan</cp:lastModifiedBy>
  <cp:revision>605</cp:revision>
  <dcterms:created xsi:type="dcterms:W3CDTF">2012-10-29T00:47:36Z</dcterms:created>
  <dcterms:modified xsi:type="dcterms:W3CDTF">2024-06-11T23:30:57Z</dcterms:modified>
</cp:coreProperties>
</file>