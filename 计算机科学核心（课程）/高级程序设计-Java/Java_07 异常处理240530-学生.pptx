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4279" r:id="rId2"/>
    <p:sldMasterId id="2147484396" r:id="rId3"/>
  </p:sldMasterIdLst>
  <p:notesMasterIdLst>
    <p:notesMasterId r:id="rId123"/>
  </p:notesMasterIdLst>
  <p:sldIdLst>
    <p:sldId id="396" r:id="rId4"/>
    <p:sldId id="543" r:id="rId5"/>
    <p:sldId id="499" r:id="rId6"/>
    <p:sldId id="500" r:id="rId7"/>
    <p:sldId id="501" r:id="rId8"/>
    <p:sldId id="503" r:id="rId9"/>
    <p:sldId id="502" r:id="rId10"/>
    <p:sldId id="544" r:id="rId11"/>
    <p:sldId id="450" r:id="rId12"/>
    <p:sldId id="480" r:id="rId13"/>
    <p:sldId id="481" r:id="rId14"/>
    <p:sldId id="482" r:id="rId15"/>
    <p:sldId id="483" r:id="rId16"/>
    <p:sldId id="545" r:id="rId17"/>
    <p:sldId id="546" r:id="rId18"/>
    <p:sldId id="547" r:id="rId19"/>
    <p:sldId id="548" r:id="rId20"/>
    <p:sldId id="549" r:id="rId21"/>
    <p:sldId id="550" r:id="rId22"/>
    <p:sldId id="551" r:id="rId23"/>
    <p:sldId id="552" r:id="rId24"/>
    <p:sldId id="553" r:id="rId25"/>
    <p:sldId id="554" r:id="rId26"/>
    <p:sldId id="555" r:id="rId27"/>
    <p:sldId id="556" r:id="rId28"/>
    <p:sldId id="557" r:id="rId29"/>
    <p:sldId id="558" r:id="rId30"/>
    <p:sldId id="559" r:id="rId31"/>
    <p:sldId id="2064" r:id="rId32"/>
    <p:sldId id="504" r:id="rId33"/>
    <p:sldId id="505" r:id="rId34"/>
    <p:sldId id="506" r:id="rId35"/>
    <p:sldId id="507" r:id="rId36"/>
    <p:sldId id="508" r:id="rId37"/>
    <p:sldId id="574" r:id="rId38"/>
    <p:sldId id="575" r:id="rId39"/>
    <p:sldId id="576" r:id="rId40"/>
    <p:sldId id="509" r:id="rId41"/>
    <p:sldId id="510" r:id="rId42"/>
    <p:sldId id="511" r:id="rId43"/>
    <p:sldId id="562" r:id="rId44"/>
    <p:sldId id="563" r:id="rId45"/>
    <p:sldId id="514" r:id="rId46"/>
    <p:sldId id="571" r:id="rId47"/>
    <p:sldId id="515" r:id="rId48"/>
    <p:sldId id="572" r:id="rId49"/>
    <p:sldId id="564" r:id="rId50"/>
    <p:sldId id="516" r:id="rId51"/>
    <p:sldId id="517" r:id="rId52"/>
    <p:sldId id="560" r:id="rId53"/>
    <p:sldId id="561" r:id="rId54"/>
    <p:sldId id="520" r:id="rId55"/>
    <p:sldId id="521" r:id="rId56"/>
    <p:sldId id="578" r:id="rId57"/>
    <p:sldId id="519" r:id="rId58"/>
    <p:sldId id="522" r:id="rId59"/>
    <p:sldId id="523" r:id="rId60"/>
    <p:sldId id="524" r:id="rId61"/>
    <p:sldId id="525" r:id="rId62"/>
    <p:sldId id="526" r:id="rId63"/>
    <p:sldId id="527" r:id="rId64"/>
    <p:sldId id="528" r:id="rId65"/>
    <p:sldId id="529" r:id="rId66"/>
    <p:sldId id="530" r:id="rId67"/>
    <p:sldId id="531" r:id="rId68"/>
    <p:sldId id="532" r:id="rId69"/>
    <p:sldId id="533" r:id="rId70"/>
    <p:sldId id="534" r:id="rId71"/>
    <p:sldId id="597" r:id="rId72"/>
    <p:sldId id="598" r:id="rId73"/>
    <p:sldId id="596" r:id="rId74"/>
    <p:sldId id="583" r:id="rId75"/>
    <p:sldId id="2065" r:id="rId76"/>
    <p:sldId id="2066" r:id="rId77"/>
    <p:sldId id="566" r:id="rId78"/>
    <p:sldId id="567" r:id="rId79"/>
    <p:sldId id="568" r:id="rId80"/>
    <p:sldId id="569" r:id="rId81"/>
    <p:sldId id="570" r:id="rId82"/>
    <p:sldId id="565" r:id="rId83"/>
    <p:sldId id="536" r:id="rId84"/>
    <p:sldId id="537" r:id="rId85"/>
    <p:sldId id="538" r:id="rId86"/>
    <p:sldId id="542" r:id="rId87"/>
    <p:sldId id="946" r:id="rId88"/>
    <p:sldId id="2053" r:id="rId89"/>
    <p:sldId id="2067" r:id="rId90"/>
    <p:sldId id="539" r:id="rId91"/>
    <p:sldId id="2054" r:id="rId92"/>
    <p:sldId id="2055" r:id="rId93"/>
    <p:sldId id="2058" r:id="rId94"/>
    <p:sldId id="2059" r:id="rId95"/>
    <p:sldId id="2056" r:id="rId96"/>
    <p:sldId id="2060" r:id="rId97"/>
    <p:sldId id="2061" r:id="rId98"/>
    <p:sldId id="540" r:id="rId99"/>
    <p:sldId id="541" r:id="rId100"/>
    <p:sldId id="367" r:id="rId101"/>
    <p:sldId id="373" r:id="rId102"/>
    <p:sldId id="573" r:id="rId103"/>
    <p:sldId id="595" r:id="rId104"/>
    <p:sldId id="478" r:id="rId105"/>
    <p:sldId id="586" r:id="rId106"/>
    <p:sldId id="587" r:id="rId107"/>
    <p:sldId id="579" r:id="rId108"/>
    <p:sldId id="588" r:id="rId109"/>
    <p:sldId id="589" r:id="rId110"/>
    <p:sldId id="590" r:id="rId111"/>
    <p:sldId id="591" r:id="rId112"/>
    <p:sldId id="593" r:id="rId113"/>
    <p:sldId id="594" r:id="rId114"/>
    <p:sldId id="577" r:id="rId115"/>
    <p:sldId id="2062" r:id="rId116"/>
    <p:sldId id="580" r:id="rId117"/>
    <p:sldId id="581" r:id="rId118"/>
    <p:sldId id="2063" r:id="rId119"/>
    <p:sldId id="582" r:id="rId120"/>
    <p:sldId id="592" r:id="rId121"/>
    <p:sldId id="2057" r:id="rId122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6B23"/>
    <a:srgbClr val="008000"/>
    <a:srgbClr val="3366FF"/>
    <a:srgbClr val="D08C1E"/>
    <a:srgbClr val="009900"/>
    <a:srgbClr val="FFFFCC"/>
    <a:srgbClr val="FFFF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075" autoAdjust="0"/>
  </p:normalViewPr>
  <p:slideViewPr>
    <p:cSldViewPr showGuides="1">
      <p:cViewPr varScale="1">
        <p:scale>
          <a:sx n="136" d="100"/>
          <a:sy n="136" d="100"/>
        </p:scale>
        <p:origin x="2514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117" Type="http://schemas.openxmlformats.org/officeDocument/2006/relationships/slide" Target="slides/slide114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slide" Target="slides/slide86.xml"/><Relationship Id="rId112" Type="http://schemas.openxmlformats.org/officeDocument/2006/relationships/slide" Target="slides/slide109.xml"/><Relationship Id="rId16" Type="http://schemas.openxmlformats.org/officeDocument/2006/relationships/slide" Target="slides/slide13.xml"/><Relationship Id="rId107" Type="http://schemas.openxmlformats.org/officeDocument/2006/relationships/slide" Target="slides/slide104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102" Type="http://schemas.openxmlformats.org/officeDocument/2006/relationships/slide" Target="slides/slide99.xml"/><Relationship Id="rId123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90" Type="http://schemas.openxmlformats.org/officeDocument/2006/relationships/slide" Target="slides/slide87.xml"/><Relationship Id="rId95" Type="http://schemas.openxmlformats.org/officeDocument/2006/relationships/slide" Target="slides/slide92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113" Type="http://schemas.openxmlformats.org/officeDocument/2006/relationships/slide" Target="slides/slide110.xml"/><Relationship Id="rId118" Type="http://schemas.openxmlformats.org/officeDocument/2006/relationships/slide" Target="slides/slide115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59" Type="http://schemas.openxmlformats.org/officeDocument/2006/relationships/slide" Target="slides/slide56.xml"/><Relationship Id="rId103" Type="http://schemas.openxmlformats.org/officeDocument/2006/relationships/slide" Target="slides/slide100.xml"/><Relationship Id="rId108" Type="http://schemas.openxmlformats.org/officeDocument/2006/relationships/slide" Target="slides/slide105.xml"/><Relationship Id="rId124" Type="http://schemas.openxmlformats.org/officeDocument/2006/relationships/presProps" Target="presProps.xml"/><Relationship Id="rId54" Type="http://schemas.openxmlformats.org/officeDocument/2006/relationships/slide" Target="slides/slide51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91" Type="http://schemas.openxmlformats.org/officeDocument/2006/relationships/slide" Target="slides/slide88.xml"/><Relationship Id="rId96" Type="http://schemas.openxmlformats.org/officeDocument/2006/relationships/slide" Target="slides/slide9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49" Type="http://schemas.openxmlformats.org/officeDocument/2006/relationships/slide" Target="slides/slide46.xml"/><Relationship Id="rId114" Type="http://schemas.openxmlformats.org/officeDocument/2006/relationships/slide" Target="slides/slide111.xml"/><Relationship Id="rId119" Type="http://schemas.openxmlformats.org/officeDocument/2006/relationships/slide" Target="slides/slide116.xml"/><Relationship Id="rId44" Type="http://schemas.openxmlformats.org/officeDocument/2006/relationships/slide" Target="slides/slide41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109" Type="http://schemas.openxmlformats.org/officeDocument/2006/relationships/slide" Target="slides/slide10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slide" Target="slides/slide94.xml"/><Relationship Id="rId104" Type="http://schemas.openxmlformats.org/officeDocument/2006/relationships/slide" Target="slides/slide101.xml"/><Relationship Id="rId120" Type="http://schemas.openxmlformats.org/officeDocument/2006/relationships/slide" Target="slides/slide117.xml"/><Relationship Id="rId125" Type="http://schemas.openxmlformats.org/officeDocument/2006/relationships/viewProps" Target="viewProps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110" Type="http://schemas.openxmlformats.org/officeDocument/2006/relationships/slide" Target="slides/slide107.xml"/><Relationship Id="rId115" Type="http://schemas.openxmlformats.org/officeDocument/2006/relationships/slide" Target="slides/slide112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Relationship Id="rId100" Type="http://schemas.openxmlformats.org/officeDocument/2006/relationships/slide" Target="slides/slide97.xml"/><Relationship Id="rId105" Type="http://schemas.openxmlformats.org/officeDocument/2006/relationships/slide" Target="slides/slide102.xml"/><Relationship Id="rId126" Type="http://schemas.openxmlformats.org/officeDocument/2006/relationships/theme" Target="theme/theme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93" Type="http://schemas.openxmlformats.org/officeDocument/2006/relationships/slide" Target="slides/slide90.xml"/><Relationship Id="rId98" Type="http://schemas.openxmlformats.org/officeDocument/2006/relationships/slide" Target="slides/slide95.xml"/><Relationship Id="rId121" Type="http://schemas.openxmlformats.org/officeDocument/2006/relationships/slide" Target="slides/slide118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2.xml"/><Relationship Id="rId46" Type="http://schemas.openxmlformats.org/officeDocument/2006/relationships/slide" Target="slides/slide43.xml"/><Relationship Id="rId67" Type="http://schemas.openxmlformats.org/officeDocument/2006/relationships/slide" Target="slides/slide64.xml"/><Relationship Id="rId116" Type="http://schemas.openxmlformats.org/officeDocument/2006/relationships/slide" Target="slides/slide11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62" Type="http://schemas.openxmlformats.org/officeDocument/2006/relationships/slide" Target="slides/slide59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111" Type="http://schemas.openxmlformats.org/officeDocument/2006/relationships/slide" Target="slides/slide108.xml"/><Relationship Id="rId15" Type="http://schemas.openxmlformats.org/officeDocument/2006/relationships/slide" Target="slides/slide12.xml"/><Relationship Id="rId36" Type="http://schemas.openxmlformats.org/officeDocument/2006/relationships/slide" Target="slides/slide33.xml"/><Relationship Id="rId57" Type="http://schemas.openxmlformats.org/officeDocument/2006/relationships/slide" Target="slides/slide54.xml"/><Relationship Id="rId106" Type="http://schemas.openxmlformats.org/officeDocument/2006/relationships/slide" Target="slides/slide103.xml"/><Relationship Id="rId127" Type="http://schemas.openxmlformats.org/officeDocument/2006/relationships/tableStyles" Target="tableStyles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52" Type="http://schemas.openxmlformats.org/officeDocument/2006/relationships/slide" Target="slides/slide49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94" Type="http://schemas.openxmlformats.org/officeDocument/2006/relationships/slide" Target="slides/slide91.xml"/><Relationship Id="rId99" Type="http://schemas.openxmlformats.org/officeDocument/2006/relationships/slide" Target="slides/slide96.xml"/><Relationship Id="rId101" Type="http://schemas.openxmlformats.org/officeDocument/2006/relationships/slide" Target="slides/slide98.xml"/><Relationship Id="rId122" Type="http://schemas.openxmlformats.org/officeDocument/2006/relationships/slide" Target="slides/slide119.xml"/><Relationship Id="rId4" Type="http://schemas.openxmlformats.org/officeDocument/2006/relationships/slide" Target="slides/slide1.xml"/><Relationship Id="rId9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F821F38F-0314-4068-A2B5-804925BDF627}" type="datetimeFigureOut">
              <a:rPr lang="zh-CN" altLang="en-US"/>
              <a:pPr>
                <a:defRPr/>
              </a:pPr>
              <a:t>2024/5/30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7075DD97-DC81-4DEF-BBA7-ECD6B6FE609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2852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75DD97-DC81-4DEF-BBA7-ECD6B6FE6096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80703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75DD97-DC81-4DEF-BBA7-ECD6B6FE6096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35216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75DD97-DC81-4DEF-BBA7-ECD6B6FE6096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86742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75DD97-DC81-4DEF-BBA7-ECD6B6FE6096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39888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75DD97-DC81-4DEF-BBA7-ECD6B6FE6096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23045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75DD97-DC81-4DEF-BBA7-ECD6B6FE6096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59361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75DD97-DC81-4DEF-BBA7-ECD6B6FE6096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33616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75DD97-DC81-4DEF-BBA7-ECD6B6FE6096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01581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3FA3912-B750-4115-8816-BA3B34C6380A}" type="slidenum">
              <a:rPr lang="zh-CN" altLang="en-US">
                <a:latin typeface="Calibri" panose="020F0502020204030204" pitchFamily="34" charset="0"/>
              </a:rPr>
              <a:pPr eaLnBrk="1" hangingPunct="1"/>
              <a:t>31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06132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75DD97-DC81-4DEF-BBA7-ECD6B6FE6096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96444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75DD97-DC81-4DEF-BBA7-ECD6B6FE6096}" type="slidenum">
              <a:rPr lang="zh-CN" altLang="en-US" smtClean="0"/>
              <a:pPr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50795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75DD97-DC81-4DEF-BBA7-ECD6B6FE6096}" type="slidenum">
              <a:rPr lang="zh-CN" altLang="en-US" smtClean="0"/>
              <a:pPr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11262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3FA3912-B750-4115-8816-BA3B34C6380A}" type="slidenum">
              <a:rPr lang="zh-CN" altLang="en-US">
                <a:latin typeface="Calibri" panose="020F0502020204030204" pitchFamily="34" charset="0"/>
              </a:rPr>
              <a:pPr eaLnBrk="1" hangingPunct="1"/>
              <a:t>35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42088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3FA3912-B750-4115-8816-BA3B34C6380A}" type="slidenum">
              <a:rPr lang="zh-CN" altLang="en-US">
                <a:latin typeface="Calibri" panose="020F0502020204030204" pitchFamily="34" charset="0"/>
              </a:rPr>
              <a:pPr eaLnBrk="1" hangingPunct="1"/>
              <a:t>36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27166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3FA3912-B750-4115-8816-BA3B34C6380A}" type="slidenum">
              <a:rPr lang="zh-CN" altLang="en-US">
                <a:latin typeface="Calibri" panose="020F0502020204030204" pitchFamily="34" charset="0"/>
              </a:rPr>
              <a:pPr eaLnBrk="1" hangingPunct="1"/>
              <a:t>37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60846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75DD97-DC81-4DEF-BBA7-ECD6B6FE6096}" type="slidenum">
              <a:rPr lang="zh-CN" altLang="en-US" smtClean="0"/>
              <a:pPr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21099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75DD97-DC81-4DEF-BBA7-ECD6B6FE6096}" type="slidenum">
              <a:rPr lang="zh-CN" altLang="en-US" smtClean="0"/>
              <a:pPr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24602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75DD97-DC81-4DEF-BBA7-ECD6B6FE6096}" type="slidenum">
              <a:rPr lang="zh-CN" altLang="en-US" smtClean="0"/>
              <a:pPr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42874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75DD97-DC81-4DEF-BBA7-ECD6B6FE6096}" type="slidenum">
              <a:rPr lang="zh-CN" altLang="en-US" smtClean="0"/>
              <a:pPr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51769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75DD97-DC81-4DEF-BBA7-ECD6B6FE6096}" type="slidenum">
              <a:rPr lang="zh-CN" altLang="en-US" smtClean="0"/>
              <a:pPr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78393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75DD97-DC81-4DEF-BBA7-ECD6B6FE6096}" type="slidenum">
              <a:rPr lang="zh-CN" altLang="en-US" smtClean="0"/>
              <a:pPr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01675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75DD97-DC81-4DEF-BBA7-ECD6B6FE6096}" type="slidenum">
              <a:rPr lang="zh-CN" altLang="en-US" smtClean="0"/>
              <a:pPr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504025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75DD97-DC81-4DEF-BBA7-ECD6B6FE6096}" type="slidenum">
              <a:rPr lang="zh-CN" altLang="en-US" smtClean="0"/>
              <a:pPr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531988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75DD97-DC81-4DEF-BBA7-ECD6B6FE6096}" type="slidenum">
              <a:rPr lang="zh-CN" altLang="en-US" smtClean="0"/>
              <a:pPr/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95871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75DD97-DC81-4DEF-BBA7-ECD6B6FE6096}" type="slidenum">
              <a:rPr lang="zh-CN" altLang="en-US" smtClean="0"/>
              <a:pPr/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020203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幻灯片图像占位符 1">
            <a:extLst>
              <a:ext uri="{FF2B5EF4-FFF2-40B4-BE49-F238E27FC236}">
                <a16:creationId xmlns:a16="http://schemas.microsoft.com/office/drawing/2014/main" id="{343DAFBA-C6F6-450B-AFB3-BA4BC073EB9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备注占位符 2">
            <a:extLst>
              <a:ext uri="{FF2B5EF4-FFF2-40B4-BE49-F238E27FC236}">
                <a16:creationId xmlns:a16="http://schemas.microsoft.com/office/drawing/2014/main" id="{98308299-A1D4-4067-A9F8-12910459DDC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zh-CN" dirty="0"/>
          </a:p>
        </p:txBody>
      </p:sp>
      <p:sp>
        <p:nvSpPr>
          <p:cNvPr id="43012" name="灯片编号占位符 3">
            <a:extLst>
              <a:ext uri="{FF2B5EF4-FFF2-40B4-BE49-F238E27FC236}">
                <a16:creationId xmlns:a16="http://schemas.microsoft.com/office/drawing/2014/main" id="{422DE9BC-4559-4274-A721-BCDB05C213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37CB8D3B-63E8-4DDF-909F-C8B61FB6589C}" type="slidenum">
              <a:rPr lang="zh-CN" altLang="en-US">
                <a:solidFill>
                  <a:srgbClr val="000000"/>
                </a:solidFill>
              </a:rPr>
              <a:pPr/>
              <a:t>86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6186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幻灯片图像占位符 1">
            <a:extLst>
              <a:ext uri="{FF2B5EF4-FFF2-40B4-BE49-F238E27FC236}">
                <a16:creationId xmlns:a16="http://schemas.microsoft.com/office/drawing/2014/main" id="{343DAFBA-C6F6-450B-AFB3-BA4BC073EB9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备注占位符 2">
            <a:extLst>
              <a:ext uri="{FF2B5EF4-FFF2-40B4-BE49-F238E27FC236}">
                <a16:creationId xmlns:a16="http://schemas.microsoft.com/office/drawing/2014/main" id="{98308299-A1D4-4067-A9F8-12910459DDC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zh-CN" dirty="0"/>
          </a:p>
        </p:txBody>
      </p:sp>
      <p:sp>
        <p:nvSpPr>
          <p:cNvPr id="43012" name="灯片编号占位符 3">
            <a:extLst>
              <a:ext uri="{FF2B5EF4-FFF2-40B4-BE49-F238E27FC236}">
                <a16:creationId xmlns:a16="http://schemas.microsoft.com/office/drawing/2014/main" id="{422DE9BC-4559-4274-A721-BCDB05C213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37CB8D3B-63E8-4DDF-909F-C8B61FB6589C}" type="slidenum">
              <a:rPr lang="zh-CN" altLang="en-US">
                <a:solidFill>
                  <a:srgbClr val="000000"/>
                </a:solidFill>
              </a:rPr>
              <a:pPr/>
              <a:t>87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640416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75DD97-DC81-4DEF-BBA7-ECD6B6FE6096}" type="slidenum">
              <a:rPr lang="zh-CN" altLang="en-US" smtClean="0"/>
              <a:pPr/>
              <a:t>88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812612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75DD97-DC81-4DEF-BBA7-ECD6B6FE6096}" type="slidenum">
              <a:rPr lang="zh-CN" altLang="en-US" smtClean="0"/>
              <a:pPr/>
              <a:t>91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018149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75DD97-DC81-4DEF-BBA7-ECD6B6FE6096}" type="slidenum">
              <a:rPr lang="zh-CN" altLang="en-US" smtClean="0"/>
              <a:pPr/>
              <a:t>94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340342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75DD97-DC81-4DEF-BBA7-ECD6B6FE6096}" type="slidenum">
              <a:rPr lang="zh-CN" altLang="en-US" smtClean="0"/>
              <a:pPr/>
              <a:t>95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089796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C249C67-27DA-4B96-AB08-D9D49BA4C223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193911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C249C67-27DA-4B96-AB08-D9D49BA4C223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237360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75DD97-DC81-4DEF-BBA7-ECD6B6FE6096}" type="slidenum">
              <a:rPr lang="zh-CN" altLang="en-US" smtClean="0"/>
              <a:pPr/>
              <a:t>103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960758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75DD97-DC81-4DEF-BBA7-ECD6B6FE6096}" type="slidenum">
              <a:rPr lang="zh-CN" altLang="en-US" smtClean="0"/>
              <a:pPr/>
              <a:t>104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183725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75DD97-DC81-4DEF-BBA7-ECD6B6FE6096}" type="slidenum">
              <a:rPr lang="zh-CN" altLang="en-US" smtClean="0"/>
              <a:pPr/>
              <a:t>105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325408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75DD97-DC81-4DEF-BBA7-ECD6B6FE6096}" type="slidenum">
              <a:rPr lang="zh-CN" altLang="en-US" smtClean="0"/>
              <a:pPr/>
              <a:t>109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69265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75DD97-DC81-4DEF-BBA7-ECD6B6FE6096}" type="slidenum">
              <a:rPr lang="zh-CN" altLang="en-US" smtClean="0"/>
              <a:pPr/>
              <a:t>112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173790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75DD97-DC81-4DEF-BBA7-ECD6B6FE6096}" type="slidenum">
              <a:rPr lang="zh-CN" altLang="en-US" smtClean="0"/>
              <a:pPr/>
              <a:t>113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372405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75DD97-DC81-4DEF-BBA7-ECD6B6FE6096}" type="slidenum">
              <a:rPr lang="zh-CN" altLang="en-US" smtClean="0"/>
              <a:pPr/>
              <a:t>114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676470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75DD97-DC81-4DEF-BBA7-ECD6B6FE6096}" type="slidenum">
              <a:rPr lang="zh-CN" altLang="en-US" smtClean="0"/>
              <a:pPr/>
              <a:t>115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806717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75DD97-DC81-4DEF-BBA7-ECD6B6FE6096}" type="slidenum">
              <a:rPr lang="zh-CN" altLang="en-US" smtClean="0"/>
              <a:pPr/>
              <a:t>116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801793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75DD97-DC81-4DEF-BBA7-ECD6B6FE6096}" type="slidenum">
              <a:rPr lang="zh-CN" altLang="en-US" smtClean="0"/>
              <a:pPr/>
              <a:t>117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356673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75DD97-DC81-4DEF-BBA7-ECD6B6FE6096}" type="slidenum">
              <a:rPr lang="zh-CN" altLang="en-US" smtClean="0"/>
              <a:pPr/>
              <a:t>119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147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0" y="0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0" y="0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179" y="0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358" y="0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0" y="179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179" y="179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358" y="179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37" y="1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0" y="358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179" y="358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358" y="358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37" y="358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716" y="3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0" y="536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179" y="536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358" y="536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37" y="536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0" y="715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179" y="715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358" y="715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37" y="715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716" y="715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0" y="89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179" y="894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358" y="894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37" y="894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0" y="107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179" y="107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358" y="1073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37" y="1073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179" y="1252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37" y="1252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600"/>
            </a:lvl1pPr>
          </a:lstStyle>
          <a:p>
            <a:r>
              <a:rPr lang="en-GB" altLang="zh-CN"/>
              <a:t>Click to edit Master title style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000"/>
            </a:lvl1pPr>
          </a:lstStyle>
          <a:p>
            <a:r>
              <a:rPr lang="en-GB" altLang="zh-CN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 sz="1000" b="0">
                <a:solidFill>
                  <a:srgbClr val="000000"/>
                </a:solidFill>
              </a:defRPr>
            </a:lvl1pPr>
          </a:lstStyle>
          <a:p>
            <a:fld id="{0D7E832D-A83A-4036-ABBD-D3B709B3DF6D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15576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53834C-56EA-4A3C-9ACD-F8BD7C28EFF9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32586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C94850-8F03-475A-AD53-5B148B854E16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29436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8313" y="981075"/>
            <a:ext cx="4038600" cy="5184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9313" y="981075"/>
            <a:ext cx="4038600" cy="5184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FE0A2F-9EE3-427F-BBF0-F671105C86E7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15136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DC4FFB-EF00-49F7-AAB6-DC6A9311EAE5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34910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6F9E83-20AA-413E-9189-8673381B82CC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89871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F6D69B-F791-414F-BDAA-05650EF08C02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76466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7BF8A7-E98D-4919-9DEF-87AD17F8A713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23959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5E44C0-4B85-4FCA-9E43-B4C27C724115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230469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D16644-7455-4FDC-852A-D8F0F57C9153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27754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40513" y="188913"/>
            <a:ext cx="2057400" cy="597693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68313" y="188913"/>
            <a:ext cx="6019800" cy="597693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1FD79D-E3C5-47D7-8205-241A95541A83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278015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6019800" cy="685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SmartArt 占位符 2"/>
          <p:cNvSpPr>
            <a:spLocks noGrp="1"/>
          </p:cNvSpPr>
          <p:nvPr>
            <p:ph type="dgm" idx="1"/>
          </p:nvPr>
        </p:nvSpPr>
        <p:spPr>
          <a:xfrm>
            <a:off x="381000" y="1066800"/>
            <a:ext cx="8382000" cy="5486400"/>
          </a:xfrm>
        </p:spPr>
        <p:txBody>
          <a:bodyPr/>
          <a:lstStyle/>
          <a:p>
            <a:pPr lvl="0"/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34210696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0AD5A1-704F-485D-B27B-0DDF48329B3D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9484963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83EFEC-C305-4231-B3C8-59321519C3AD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493319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30F9370-A8ED-4D35-A26D-B543CFD6E954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138412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8313" y="981075"/>
            <a:ext cx="4038600" cy="5184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9313" y="981075"/>
            <a:ext cx="4038600" cy="5184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CACC53-ABE5-449E-BF6B-989E347D0B28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945366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8F1BCA-9065-4577-9B7A-36E801682817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4890069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7A7A96-0075-4905-9329-C12C4285F870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204990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DE4F82-25C7-4342-8BFA-00841D43D157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845097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BC94532-3034-46CC-AF5A-46DD9CC77A3F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684688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C1E71DF-C8EB-4A14-8BB9-9CADE85CEA2F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053132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7E530A-0826-4DC8-9989-40B19EC6999E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991004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40513" y="188913"/>
            <a:ext cx="2057400" cy="597693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68313" y="188913"/>
            <a:ext cx="6019800" cy="597693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473918-7676-4491-B326-E6C4C6D77C9C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904683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5844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ic01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2227263"/>
            <a:ext cx="5791200" cy="4630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0" y="0"/>
            <a:ext cx="533400" cy="6858000"/>
          </a:xfrm>
          <a:prstGeom prst="rect">
            <a:avLst/>
          </a:prstGeom>
          <a:gradFill rotWithShape="0">
            <a:gsLst>
              <a:gs pos="0">
                <a:srgbClr val="339966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lnSpc>
                <a:spcPct val="90000"/>
              </a:lnSpc>
              <a:spcBef>
                <a:spcPct val="20000"/>
              </a:spcBef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pitchFamily="49" charset="-122"/>
              </a:defRPr>
            </a:lvl1pPr>
            <a:lvl2pPr marL="742950" indent="-285750" algn="ctr">
              <a:lnSpc>
                <a:spcPct val="90000"/>
              </a:lnSpc>
              <a:spcBef>
                <a:spcPct val="20000"/>
              </a:spcBef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pitchFamily="49" charset="-122"/>
              </a:defRPr>
            </a:lvl2pPr>
            <a:lvl3pPr marL="1143000" indent="-228600" algn="ctr">
              <a:lnSpc>
                <a:spcPct val="90000"/>
              </a:lnSpc>
              <a:spcBef>
                <a:spcPct val="20000"/>
              </a:spcBef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pitchFamily="49" charset="-122"/>
              </a:defRPr>
            </a:lvl3pPr>
            <a:lvl4pPr marL="1600200" indent="-228600" algn="ctr">
              <a:lnSpc>
                <a:spcPct val="90000"/>
              </a:lnSpc>
              <a:spcBef>
                <a:spcPct val="20000"/>
              </a:spcBef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pitchFamily="49" charset="-122"/>
              </a:defRPr>
            </a:lvl4pPr>
            <a:lvl5pPr marL="2057400" indent="-228600" algn="ctr">
              <a:lnSpc>
                <a:spcPct val="90000"/>
              </a:lnSpc>
              <a:spcBef>
                <a:spcPct val="20000"/>
              </a:spcBef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pitchFamily="49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pic>
        <p:nvPicPr>
          <p:cNvPr id="6" name="图片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0325" y="0"/>
            <a:ext cx="1457325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7" name="Rectangle 7"/>
          <p:cNvSpPr>
            <a:spLocks noGrp="1" noChangeArrowheads="1"/>
          </p:cNvSpPr>
          <p:nvPr>
            <p:ph type="ctrTitle"/>
          </p:nvPr>
        </p:nvSpPr>
        <p:spPr>
          <a:xfrm>
            <a:off x="755650" y="2130425"/>
            <a:ext cx="7772400" cy="1470025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40968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185384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D58E85-D1F6-4761-AFB9-C0004D46D3A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4999150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5273EA-435D-4F0A-BD03-FD111B5FEB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2659859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4213" y="1412875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75213" y="1412875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03D901-A712-41D2-89DA-65AB617509E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997413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AF9CC2-38C3-447C-A514-2F77D683B8D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7989686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17230A-1BD5-4D85-9043-A15D6972B6A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1532483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6D6FCB-A7DD-482B-856F-4A4865EE1C4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484568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9A97DF-0916-4478-8B0A-EC21535530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1244139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6EC4D1-361E-4218-A100-EB65560E2B0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3609188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1AE18F-8ED2-4895-B3E9-8BB5983E193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73314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6413" y="260350"/>
            <a:ext cx="2057400" cy="56784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4213" y="260350"/>
            <a:ext cx="6019800" cy="567848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704AF2-D841-4940-A729-6A495227DA5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2139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260350"/>
            <a:ext cx="82296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4213" y="1412875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875213" y="1412875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875213" y="3751263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1C525C-3C40-4C4E-9039-924ABD0C844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9953333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84213" y="260350"/>
            <a:ext cx="82296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84213" y="1412875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875213" y="1412875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84213" y="3751263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875213" y="3751263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451198-2088-4E96-982F-314A4E90351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8276038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260350"/>
            <a:ext cx="82296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4213" y="1412875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75213" y="1412875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85B621-DCE8-4068-A499-761F04A095D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784791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260350"/>
            <a:ext cx="82296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84213" y="1412875"/>
            <a:ext cx="8229600" cy="4525963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092966-BB87-470B-B689-3692E487380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67528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18" Type="http://schemas.openxmlformats.org/officeDocument/2006/relationships/image" Target="../media/image2.jpe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6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188913"/>
            <a:ext cx="75438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zh-CN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981075"/>
            <a:ext cx="8229600" cy="51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0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96188" y="6248400"/>
            <a:ext cx="10906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1">
                <a:solidFill>
                  <a:srgbClr val="CC0000"/>
                </a:solidFill>
              </a:defRPr>
            </a:lvl1pPr>
          </a:lstStyle>
          <a:p>
            <a:fld id="{876A6016-3041-4AB1-8091-DD6436F3F61D}" type="slidenum">
              <a:rPr lang="en-GB" altLang="en-US"/>
              <a:pPr/>
              <a:t>‹#›</a:t>
            </a:fld>
            <a:endParaRPr lang="en-GB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0" y="0"/>
            <a:chExt cx="528" cy="864"/>
          </a:xfrm>
        </p:grpSpPr>
        <p:sp>
          <p:nvSpPr>
            <p:cNvPr id="1034" name="Oval 9"/>
            <p:cNvSpPr>
              <a:spLocks noChangeArrowheads="1"/>
            </p:cNvSpPr>
            <p:nvPr/>
          </p:nvSpPr>
          <p:spPr bwMode="auto">
            <a:xfrm>
              <a:off x="0" y="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35" name="Oval 10"/>
            <p:cNvSpPr>
              <a:spLocks noChangeArrowheads="1"/>
            </p:cNvSpPr>
            <p:nvPr/>
          </p:nvSpPr>
          <p:spPr bwMode="auto">
            <a:xfrm>
              <a:off x="112" y="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36" name="Oval 11"/>
            <p:cNvSpPr>
              <a:spLocks noChangeArrowheads="1"/>
            </p:cNvSpPr>
            <p:nvPr/>
          </p:nvSpPr>
          <p:spPr bwMode="auto">
            <a:xfrm>
              <a:off x="224" y="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37" name="Oval 12"/>
            <p:cNvSpPr>
              <a:spLocks noChangeArrowheads="1"/>
            </p:cNvSpPr>
            <p:nvPr/>
          </p:nvSpPr>
          <p:spPr bwMode="auto">
            <a:xfrm>
              <a:off x="0" y="11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38" name="Oval 13"/>
            <p:cNvSpPr>
              <a:spLocks noChangeArrowheads="1"/>
            </p:cNvSpPr>
            <p:nvPr/>
          </p:nvSpPr>
          <p:spPr bwMode="auto">
            <a:xfrm>
              <a:off x="112" y="11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39" name="Oval 14"/>
            <p:cNvSpPr>
              <a:spLocks noChangeArrowheads="1"/>
            </p:cNvSpPr>
            <p:nvPr/>
          </p:nvSpPr>
          <p:spPr bwMode="auto">
            <a:xfrm>
              <a:off x="224" y="11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0" name="Oval 15"/>
            <p:cNvSpPr>
              <a:spLocks noChangeArrowheads="1"/>
            </p:cNvSpPr>
            <p:nvPr/>
          </p:nvSpPr>
          <p:spPr bwMode="auto">
            <a:xfrm>
              <a:off x="336" y="11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1" name="Oval 16"/>
            <p:cNvSpPr>
              <a:spLocks noChangeArrowheads="1"/>
            </p:cNvSpPr>
            <p:nvPr/>
          </p:nvSpPr>
          <p:spPr bwMode="auto">
            <a:xfrm>
              <a:off x="0" y="22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2" name="Oval 17"/>
            <p:cNvSpPr>
              <a:spLocks noChangeArrowheads="1"/>
            </p:cNvSpPr>
            <p:nvPr/>
          </p:nvSpPr>
          <p:spPr bwMode="auto">
            <a:xfrm>
              <a:off x="112" y="22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3" name="Oval 18"/>
            <p:cNvSpPr>
              <a:spLocks noChangeArrowheads="1"/>
            </p:cNvSpPr>
            <p:nvPr/>
          </p:nvSpPr>
          <p:spPr bwMode="auto">
            <a:xfrm>
              <a:off x="224" y="22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4" name="Oval 19"/>
            <p:cNvSpPr>
              <a:spLocks noChangeArrowheads="1"/>
            </p:cNvSpPr>
            <p:nvPr/>
          </p:nvSpPr>
          <p:spPr bwMode="auto">
            <a:xfrm>
              <a:off x="336" y="22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5" name="Oval 20"/>
            <p:cNvSpPr>
              <a:spLocks noChangeArrowheads="1"/>
            </p:cNvSpPr>
            <p:nvPr/>
          </p:nvSpPr>
          <p:spPr bwMode="auto">
            <a:xfrm>
              <a:off x="448" y="22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6" name="Oval 21"/>
            <p:cNvSpPr>
              <a:spLocks noChangeArrowheads="1"/>
            </p:cNvSpPr>
            <p:nvPr/>
          </p:nvSpPr>
          <p:spPr bwMode="auto">
            <a:xfrm>
              <a:off x="0" y="33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7" name="Oval 22"/>
            <p:cNvSpPr>
              <a:spLocks noChangeArrowheads="1"/>
            </p:cNvSpPr>
            <p:nvPr/>
          </p:nvSpPr>
          <p:spPr bwMode="auto">
            <a:xfrm>
              <a:off x="112" y="33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8" name="Oval 23"/>
            <p:cNvSpPr>
              <a:spLocks noChangeArrowheads="1"/>
            </p:cNvSpPr>
            <p:nvPr/>
          </p:nvSpPr>
          <p:spPr bwMode="auto">
            <a:xfrm>
              <a:off x="224" y="33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9" name="Oval 24"/>
            <p:cNvSpPr>
              <a:spLocks noChangeArrowheads="1"/>
            </p:cNvSpPr>
            <p:nvPr/>
          </p:nvSpPr>
          <p:spPr bwMode="auto">
            <a:xfrm>
              <a:off x="336" y="33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0" name="Oval 25"/>
            <p:cNvSpPr>
              <a:spLocks noChangeArrowheads="1"/>
            </p:cNvSpPr>
            <p:nvPr/>
          </p:nvSpPr>
          <p:spPr bwMode="auto">
            <a:xfrm>
              <a:off x="0" y="44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1" name="Oval 26"/>
            <p:cNvSpPr>
              <a:spLocks noChangeArrowheads="1"/>
            </p:cNvSpPr>
            <p:nvPr/>
          </p:nvSpPr>
          <p:spPr bwMode="auto">
            <a:xfrm>
              <a:off x="112" y="44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2" name="Oval 27"/>
            <p:cNvSpPr>
              <a:spLocks noChangeArrowheads="1"/>
            </p:cNvSpPr>
            <p:nvPr/>
          </p:nvSpPr>
          <p:spPr bwMode="auto">
            <a:xfrm>
              <a:off x="224" y="44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3" name="Oval 28"/>
            <p:cNvSpPr>
              <a:spLocks noChangeArrowheads="1"/>
            </p:cNvSpPr>
            <p:nvPr/>
          </p:nvSpPr>
          <p:spPr bwMode="auto">
            <a:xfrm>
              <a:off x="336" y="44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4" name="Oval 29"/>
            <p:cNvSpPr>
              <a:spLocks noChangeArrowheads="1"/>
            </p:cNvSpPr>
            <p:nvPr/>
          </p:nvSpPr>
          <p:spPr bwMode="auto">
            <a:xfrm>
              <a:off x="448" y="44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5" name="Oval 30"/>
            <p:cNvSpPr>
              <a:spLocks noChangeArrowheads="1"/>
            </p:cNvSpPr>
            <p:nvPr/>
          </p:nvSpPr>
          <p:spPr bwMode="auto">
            <a:xfrm>
              <a:off x="0" y="56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6" name="Oval 31"/>
            <p:cNvSpPr>
              <a:spLocks noChangeArrowheads="1"/>
            </p:cNvSpPr>
            <p:nvPr/>
          </p:nvSpPr>
          <p:spPr bwMode="auto">
            <a:xfrm>
              <a:off x="112" y="56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7" name="Oval 32"/>
            <p:cNvSpPr>
              <a:spLocks noChangeArrowheads="1"/>
            </p:cNvSpPr>
            <p:nvPr/>
          </p:nvSpPr>
          <p:spPr bwMode="auto">
            <a:xfrm>
              <a:off x="224" y="56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8" name="Oval 33"/>
            <p:cNvSpPr>
              <a:spLocks noChangeArrowheads="1"/>
            </p:cNvSpPr>
            <p:nvPr/>
          </p:nvSpPr>
          <p:spPr bwMode="auto">
            <a:xfrm>
              <a:off x="336" y="56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9" name="Oval 34"/>
            <p:cNvSpPr>
              <a:spLocks noChangeArrowheads="1"/>
            </p:cNvSpPr>
            <p:nvPr/>
          </p:nvSpPr>
          <p:spPr bwMode="auto">
            <a:xfrm>
              <a:off x="0" y="67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60" name="Oval 35"/>
            <p:cNvSpPr>
              <a:spLocks noChangeArrowheads="1"/>
            </p:cNvSpPr>
            <p:nvPr/>
          </p:nvSpPr>
          <p:spPr bwMode="auto">
            <a:xfrm>
              <a:off x="112" y="67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61" name="Oval 36"/>
            <p:cNvSpPr>
              <a:spLocks noChangeArrowheads="1"/>
            </p:cNvSpPr>
            <p:nvPr/>
          </p:nvSpPr>
          <p:spPr bwMode="auto">
            <a:xfrm>
              <a:off x="224" y="67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62" name="Oval 37"/>
            <p:cNvSpPr>
              <a:spLocks noChangeArrowheads="1"/>
            </p:cNvSpPr>
            <p:nvPr/>
          </p:nvSpPr>
          <p:spPr bwMode="auto">
            <a:xfrm>
              <a:off x="336" y="67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63" name="Oval 38"/>
            <p:cNvSpPr>
              <a:spLocks noChangeArrowheads="1"/>
            </p:cNvSpPr>
            <p:nvPr/>
          </p:nvSpPr>
          <p:spPr bwMode="auto">
            <a:xfrm>
              <a:off x="112" y="78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64" name="Oval 39"/>
            <p:cNvSpPr>
              <a:spLocks noChangeArrowheads="1"/>
            </p:cNvSpPr>
            <p:nvPr/>
          </p:nvSpPr>
          <p:spPr bwMode="auto">
            <a:xfrm>
              <a:off x="336" y="78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</p:grpSp>
      <p:sp>
        <p:nvSpPr>
          <p:cNvPr id="1033" name="Text Box 40"/>
          <p:cNvSpPr txBox="1">
            <a:spLocks noChangeArrowheads="1"/>
          </p:cNvSpPr>
          <p:nvPr userDrawn="1"/>
        </p:nvSpPr>
        <p:spPr bwMode="auto">
          <a:xfrm>
            <a:off x="8532813" y="6308725"/>
            <a:ext cx="43656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D16220A-E1C1-45DD-9F43-5040B7BEABA9}" type="slidenum">
              <a:rPr lang="en-GB" altLang="en-US" b="1">
                <a:solidFill>
                  <a:srgbClr val="CC0000"/>
                </a:solidFill>
              </a:rPr>
              <a:pPr eaLnBrk="1" hangingPunct="1"/>
              <a:t>‹#›</a:t>
            </a:fld>
            <a:endParaRPr lang="zh-CN" altLang="en-US" b="1">
              <a:solidFill>
                <a:srgbClr val="CC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84" r:id="rId1"/>
    <p:sldLayoutId id="2147484385" r:id="rId2"/>
    <p:sldLayoutId id="2147484386" r:id="rId3"/>
    <p:sldLayoutId id="2147484387" r:id="rId4"/>
    <p:sldLayoutId id="2147484388" r:id="rId5"/>
    <p:sldLayoutId id="2147484389" r:id="rId6"/>
    <p:sldLayoutId id="2147484390" r:id="rId7"/>
    <p:sldLayoutId id="2147484391" r:id="rId8"/>
    <p:sldLayoutId id="2147484392" r:id="rId9"/>
    <p:sldLayoutId id="2147484393" r:id="rId10"/>
    <p:sldLayoutId id="2147484394" r:id="rId11"/>
    <p:sldLayoutId id="2147484395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400" b="1">
          <a:solidFill>
            <a:schemeClr val="tx1"/>
          </a:solidFill>
          <a:latin typeface="Times New Roman" pitchFamily="18" charset="0"/>
          <a:ea typeface="楷体_GB2312" pitchFamily="1" charset="-122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Ø"/>
        <a:defRPr sz="2000">
          <a:solidFill>
            <a:schemeClr val="tx1"/>
          </a:solidFill>
          <a:latin typeface="+mn-lt"/>
          <a:ea typeface="楷体_GB2312" pitchFamily="1" charset="-122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楷体_GB2312" pitchFamily="1" charset="-122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楷体_GB2312" pitchFamily="1" charset="-122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1600">
          <a:solidFill>
            <a:schemeClr val="tx1"/>
          </a:solidFill>
          <a:latin typeface="+mn-lt"/>
          <a:ea typeface="楷体_GB2312" pitchFamily="1" charset="-122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1600">
          <a:solidFill>
            <a:schemeClr val="tx1"/>
          </a:solidFill>
          <a:latin typeface="+mn-lt"/>
          <a:ea typeface="楷体_GB2312" pitchFamily="1" charset="-122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1600">
          <a:solidFill>
            <a:schemeClr val="tx1"/>
          </a:solidFill>
          <a:latin typeface="+mn-lt"/>
          <a:ea typeface="楷体_GB2312" pitchFamily="1" charset="-122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1600">
          <a:solidFill>
            <a:schemeClr val="tx1"/>
          </a:solidFill>
          <a:latin typeface="+mn-lt"/>
          <a:ea typeface="楷体_GB2312" pitchFamily="1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188913"/>
            <a:ext cx="75438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zh-CN"/>
              <a:t>Click to edit Master title style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981075"/>
            <a:ext cx="8229600" cy="51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96188" y="6248400"/>
            <a:ext cx="10906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1">
                <a:solidFill>
                  <a:srgbClr val="CC0000"/>
                </a:solidFill>
              </a:defRPr>
            </a:lvl1pPr>
          </a:lstStyle>
          <a:p>
            <a:fld id="{9774AD39-D8DB-4A6D-B415-F32AC6236310}" type="slidenum">
              <a:rPr lang="en-GB" altLang="en-US"/>
              <a:pPr/>
              <a:t>‹#›</a:t>
            </a:fld>
            <a:endParaRPr lang="en-GB" altLang="en-US"/>
          </a:p>
        </p:txBody>
      </p:sp>
      <p:grpSp>
        <p:nvGrpSpPr>
          <p:cNvPr id="2056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0" y="0"/>
            <a:chExt cx="528" cy="864"/>
          </a:xfrm>
        </p:grpSpPr>
        <p:sp>
          <p:nvSpPr>
            <p:cNvPr id="2058" name="Oval 9"/>
            <p:cNvSpPr>
              <a:spLocks noChangeArrowheads="1"/>
            </p:cNvSpPr>
            <p:nvPr/>
          </p:nvSpPr>
          <p:spPr bwMode="auto">
            <a:xfrm>
              <a:off x="0" y="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59" name="Oval 10"/>
            <p:cNvSpPr>
              <a:spLocks noChangeArrowheads="1"/>
            </p:cNvSpPr>
            <p:nvPr/>
          </p:nvSpPr>
          <p:spPr bwMode="auto">
            <a:xfrm>
              <a:off x="112" y="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60" name="Oval 11"/>
            <p:cNvSpPr>
              <a:spLocks noChangeArrowheads="1"/>
            </p:cNvSpPr>
            <p:nvPr/>
          </p:nvSpPr>
          <p:spPr bwMode="auto">
            <a:xfrm>
              <a:off x="224" y="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61" name="Oval 12"/>
            <p:cNvSpPr>
              <a:spLocks noChangeArrowheads="1"/>
            </p:cNvSpPr>
            <p:nvPr/>
          </p:nvSpPr>
          <p:spPr bwMode="auto">
            <a:xfrm>
              <a:off x="0" y="11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62" name="Oval 13"/>
            <p:cNvSpPr>
              <a:spLocks noChangeArrowheads="1"/>
            </p:cNvSpPr>
            <p:nvPr/>
          </p:nvSpPr>
          <p:spPr bwMode="auto">
            <a:xfrm>
              <a:off x="112" y="11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63" name="Oval 14"/>
            <p:cNvSpPr>
              <a:spLocks noChangeArrowheads="1"/>
            </p:cNvSpPr>
            <p:nvPr/>
          </p:nvSpPr>
          <p:spPr bwMode="auto">
            <a:xfrm>
              <a:off x="224" y="11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64" name="Oval 15"/>
            <p:cNvSpPr>
              <a:spLocks noChangeArrowheads="1"/>
            </p:cNvSpPr>
            <p:nvPr/>
          </p:nvSpPr>
          <p:spPr bwMode="auto">
            <a:xfrm>
              <a:off x="336" y="112"/>
              <a:ext cx="74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65" name="Oval 16"/>
            <p:cNvSpPr>
              <a:spLocks noChangeArrowheads="1"/>
            </p:cNvSpPr>
            <p:nvPr/>
          </p:nvSpPr>
          <p:spPr bwMode="auto">
            <a:xfrm>
              <a:off x="0" y="224"/>
              <a:ext cx="80" cy="7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66" name="Oval 17"/>
            <p:cNvSpPr>
              <a:spLocks noChangeArrowheads="1"/>
            </p:cNvSpPr>
            <p:nvPr/>
          </p:nvSpPr>
          <p:spPr bwMode="auto">
            <a:xfrm>
              <a:off x="112" y="224"/>
              <a:ext cx="79" cy="7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67" name="Oval 18"/>
            <p:cNvSpPr>
              <a:spLocks noChangeArrowheads="1"/>
            </p:cNvSpPr>
            <p:nvPr/>
          </p:nvSpPr>
          <p:spPr bwMode="auto">
            <a:xfrm>
              <a:off x="224" y="224"/>
              <a:ext cx="76" cy="7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68" name="Oval 19"/>
            <p:cNvSpPr>
              <a:spLocks noChangeArrowheads="1"/>
            </p:cNvSpPr>
            <p:nvPr/>
          </p:nvSpPr>
          <p:spPr bwMode="auto">
            <a:xfrm>
              <a:off x="336" y="224"/>
              <a:ext cx="74" cy="7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69" name="Oval 20"/>
            <p:cNvSpPr>
              <a:spLocks noChangeArrowheads="1"/>
            </p:cNvSpPr>
            <p:nvPr/>
          </p:nvSpPr>
          <p:spPr bwMode="auto">
            <a:xfrm>
              <a:off x="448" y="224"/>
              <a:ext cx="80" cy="7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70" name="Oval 21"/>
            <p:cNvSpPr>
              <a:spLocks noChangeArrowheads="1"/>
            </p:cNvSpPr>
            <p:nvPr/>
          </p:nvSpPr>
          <p:spPr bwMode="auto">
            <a:xfrm>
              <a:off x="0" y="33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71" name="Oval 22"/>
            <p:cNvSpPr>
              <a:spLocks noChangeArrowheads="1"/>
            </p:cNvSpPr>
            <p:nvPr/>
          </p:nvSpPr>
          <p:spPr bwMode="auto">
            <a:xfrm>
              <a:off x="112" y="33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72" name="Oval 23"/>
            <p:cNvSpPr>
              <a:spLocks noChangeArrowheads="1"/>
            </p:cNvSpPr>
            <p:nvPr/>
          </p:nvSpPr>
          <p:spPr bwMode="auto">
            <a:xfrm>
              <a:off x="224" y="33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73" name="Oval 24"/>
            <p:cNvSpPr>
              <a:spLocks noChangeArrowheads="1"/>
            </p:cNvSpPr>
            <p:nvPr/>
          </p:nvSpPr>
          <p:spPr bwMode="auto">
            <a:xfrm>
              <a:off x="336" y="336"/>
              <a:ext cx="74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74" name="Oval 25"/>
            <p:cNvSpPr>
              <a:spLocks noChangeArrowheads="1"/>
            </p:cNvSpPr>
            <p:nvPr/>
          </p:nvSpPr>
          <p:spPr bwMode="auto">
            <a:xfrm>
              <a:off x="0" y="44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75" name="Oval 26"/>
            <p:cNvSpPr>
              <a:spLocks noChangeArrowheads="1"/>
            </p:cNvSpPr>
            <p:nvPr/>
          </p:nvSpPr>
          <p:spPr bwMode="auto">
            <a:xfrm>
              <a:off x="112" y="44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76" name="Oval 27"/>
            <p:cNvSpPr>
              <a:spLocks noChangeArrowheads="1"/>
            </p:cNvSpPr>
            <p:nvPr/>
          </p:nvSpPr>
          <p:spPr bwMode="auto">
            <a:xfrm>
              <a:off x="224" y="44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77" name="Oval 28"/>
            <p:cNvSpPr>
              <a:spLocks noChangeArrowheads="1"/>
            </p:cNvSpPr>
            <p:nvPr/>
          </p:nvSpPr>
          <p:spPr bwMode="auto">
            <a:xfrm>
              <a:off x="336" y="448"/>
              <a:ext cx="74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78" name="Oval 29"/>
            <p:cNvSpPr>
              <a:spLocks noChangeArrowheads="1"/>
            </p:cNvSpPr>
            <p:nvPr/>
          </p:nvSpPr>
          <p:spPr bwMode="auto">
            <a:xfrm>
              <a:off x="448" y="44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79" name="Oval 30"/>
            <p:cNvSpPr>
              <a:spLocks noChangeArrowheads="1"/>
            </p:cNvSpPr>
            <p:nvPr/>
          </p:nvSpPr>
          <p:spPr bwMode="auto">
            <a:xfrm>
              <a:off x="0" y="56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80" name="Oval 31"/>
            <p:cNvSpPr>
              <a:spLocks noChangeArrowheads="1"/>
            </p:cNvSpPr>
            <p:nvPr/>
          </p:nvSpPr>
          <p:spPr bwMode="auto">
            <a:xfrm>
              <a:off x="112" y="56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81" name="Oval 32"/>
            <p:cNvSpPr>
              <a:spLocks noChangeArrowheads="1"/>
            </p:cNvSpPr>
            <p:nvPr/>
          </p:nvSpPr>
          <p:spPr bwMode="auto">
            <a:xfrm>
              <a:off x="224" y="56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82" name="Oval 33"/>
            <p:cNvSpPr>
              <a:spLocks noChangeArrowheads="1"/>
            </p:cNvSpPr>
            <p:nvPr/>
          </p:nvSpPr>
          <p:spPr bwMode="auto">
            <a:xfrm>
              <a:off x="336" y="560"/>
              <a:ext cx="74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83" name="Oval 34"/>
            <p:cNvSpPr>
              <a:spLocks noChangeArrowheads="1"/>
            </p:cNvSpPr>
            <p:nvPr/>
          </p:nvSpPr>
          <p:spPr bwMode="auto">
            <a:xfrm>
              <a:off x="0" y="67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84" name="Oval 35"/>
            <p:cNvSpPr>
              <a:spLocks noChangeArrowheads="1"/>
            </p:cNvSpPr>
            <p:nvPr/>
          </p:nvSpPr>
          <p:spPr bwMode="auto">
            <a:xfrm>
              <a:off x="112" y="67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85" name="Oval 36"/>
            <p:cNvSpPr>
              <a:spLocks noChangeArrowheads="1"/>
            </p:cNvSpPr>
            <p:nvPr/>
          </p:nvSpPr>
          <p:spPr bwMode="auto">
            <a:xfrm>
              <a:off x="224" y="67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86" name="Oval 37"/>
            <p:cNvSpPr>
              <a:spLocks noChangeArrowheads="1"/>
            </p:cNvSpPr>
            <p:nvPr/>
          </p:nvSpPr>
          <p:spPr bwMode="auto">
            <a:xfrm>
              <a:off x="336" y="672"/>
              <a:ext cx="74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87" name="Oval 38"/>
            <p:cNvSpPr>
              <a:spLocks noChangeArrowheads="1"/>
            </p:cNvSpPr>
            <p:nvPr/>
          </p:nvSpPr>
          <p:spPr bwMode="auto">
            <a:xfrm>
              <a:off x="112" y="78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88" name="Oval 39"/>
            <p:cNvSpPr>
              <a:spLocks noChangeArrowheads="1"/>
            </p:cNvSpPr>
            <p:nvPr/>
          </p:nvSpPr>
          <p:spPr bwMode="auto">
            <a:xfrm>
              <a:off x="336" y="784"/>
              <a:ext cx="74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</p:grpSp>
      <p:sp>
        <p:nvSpPr>
          <p:cNvPr id="2057" name="Text Box 40"/>
          <p:cNvSpPr txBox="1">
            <a:spLocks noChangeArrowheads="1"/>
          </p:cNvSpPr>
          <p:nvPr/>
        </p:nvSpPr>
        <p:spPr bwMode="auto">
          <a:xfrm>
            <a:off x="8532813" y="6308725"/>
            <a:ext cx="43656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29C326C-9019-4339-BF69-66DCA06C9094}" type="slidenum">
              <a:rPr lang="en-GB" altLang="en-US" b="1">
                <a:solidFill>
                  <a:srgbClr val="CC0000"/>
                </a:solidFill>
              </a:rPr>
              <a:pPr eaLnBrk="1" hangingPunct="1"/>
              <a:t>‹#›</a:t>
            </a:fld>
            <a:endParaRPr lang="zh-CN" altLang="en-US" b="1">
              <a:solidFill>
                <a:srgbClr val="CC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73" r:id="rId1"/>
    <p:sldLayoutId id="2147484374" r:id="rId2"/>
    <p:sldLayoutId id="2147484375" r:id="rId3"/>
    <p:sldLayoutId id="2147484376" r:id="rId4"/>
    <p:sldLayoutId id="2147484377" r:id="rId5"/>
    <p:sldLayoutId id="2147484378" r:id="rId6"/>
    <p:sldLayoutId id="2147484379" r:id="rId7"/>
    <p:sldLayoutId id="2147484380" r:id="rId8"/>
    <p:sldLayoutId id="2147484381" r:id="rId9"/>
    <p:sldLayoutId id="2147484382" r:id="rId10"/>
    <p:sldLayoutId id="2147484383" r:id="rId11"/>
    <p:sldLayoutId id="2147484412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4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Ø"/>
        <a:defRPr sz="2000">
          <a:solidFill>
            <a:schemeClr val="tx1"/>
          </a:solidFill>
          <a:latin typeface="+mn-lt"/>
          <a:ea typeface="楷体_GB2312" pitchFamily="49" charset="-122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楷体_GB2312" pitchFamily="49" charset="-122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楷体_GB2312" pitchFamily="49" charset="-122"/>
        </a:defRPr>
      </a:lvl5pPr>
      <a:lvl6pPr marL="20558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1600">
          <a:solidFill>
            <a:schemeClr val="tx1"/>
          </a:solidFill>
          <a:latin typeface="+mn-lt"/>
          <a:ea typeface="楷体_GB2312" pitchFamily="49" charset="-122"/>
        </a:defRPr>
      </a:lvl6pPr>
      <a:lvl7pPr marL="25130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1600">
          <a:solidFill>
            <a:schemeClr val="tx1"/>
          </a:solidFill>
          <a:latin typeface="+mn-lt"/>
          <a:ea typeface="楷体_GB2312" pitchFamily="49" charset="-122"/>
        </a:defRPr>
      </a:lvl7pPr>
      <a:lvl8pPr marL="29702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1600">
          <a:solidFill>
            <a:schemeClr val="tx1"/>
          </a:solidFill>
          <a:latin typeface="+mn-lt"/>
          <a:ea typeface="楷体_GB2312" pitchFamily="49" charset="-122"/>
        </a:defRPr>
      </a:lvl8pPr>
      <a:lvl9pPr marL="34274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1600">
          <a:solidFill>
            <a:schemeClr val="tx1"/>
          </a:solidFill>
          <a:latin typeface="+mn-lt"/>
          <a:ea typeface="楷体_GB2312" pitchFamily="49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pic01c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2227263"/>
            <a:ext cx="5791200" cy="4630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10"/>
          <p:cNvSpPr>
            <a:spLocks noChangeArrowheads="1"/>
          </p:cNvSpPr>
          <p:nvPr/>
        </p:nvSpPr>
        <p:spPr bwMode="auto">
          <a:xfrm>
            <a:off x="0" y="0"/>
            <a:ext cx="533400" cy="6858000"/>
          </a:xfrm>
          <a:prstGeom prst="rect">
            <a:avLst/>
          </a:prstGeom>
          <a:gradFill rotWithShape="0">
            <a:gsLst>
              <a:gs pos="0">
                <a:srgbClr val="339966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lnSpc>
                <a:spcPct val="90000"/>
              </a:lnSpc>
              <a:spcBef>
                <a:spcPct val="20000"/>
              </a:spcBef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pitchFamily="49" charset="-122"/>
              </a:defRPr>
            </a:lvl1pPr>
            <a:lvl2pPr marL="742950" indent="-285750" algn="ctr">
              <a:lnSpc>
                <a:spcPct val="90000"/>
              </a:lnSpc>
              <a:spcBef>
                <a:spcPct val="20000"/>
              </a:spcBef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pitchFamily="49" charset="-122"/>
              </a:defRPr>
            </a:lvl2pPr>
            <a:lvl3pPr marL="1143000" indent="-228600" algn="ctr">
              <a:lnSpc>
                <a:spcPct val="90000"/>
              </a:lnSpc>
              <a:spcBef>
                <a:spcPct val="20000"/>
              </a:spcBef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pitchFamily="49" charset="-122"/>
              </a:defRPr>
            </a:lvl3pPr>
            <a:lvl4pPr marL="1600200" indent="-228600" algn="ctr">
              <a:lnSpc>
                <a:spcPct val="90000"/>
              </a:lnSpc>
              <a:spcBef>
                <a:spcPct val="20000"/>
              </a:spcBef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pitchFamily="49" charset="-122"/>
              </a:defRPr>
            </a:lvl4pPr>
            <a:lvl5pPr marL="2057400" indent="-228600" algn="ctr">
              <a:lnSpc>
                <a:spcPct val="90000"/>
              </a:lnSpc>
              <a:spcBef>
                <a:spcPct val="20000"/>
              </a:spcBef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pitchFamily="49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8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684213" y="260350"/>
            <a:ext cx="8229600" cy="792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9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412875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  <p:sp>
        <p:nvSpPr>
          <p:cNvPr id="1040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5650" y="6381750"/>
            <a:ext cx="2133600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400" b="1">
                <a:latin typeface="+mn-lt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68FB9B02-98D5-429A-A43D-CCB1E646849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1031" name="图片 6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59513"/>
            <a:ext cx="744538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58245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97" r:id="rId1"/>
    <p:sldLayoutId id="2147484398" r:id="rId2"/>
    <p:sldLayoutId id="2147484399" r:id="rId3"/>
    <p:sldLayoutId id="2147484400" r:id="rId4"/>
    <p:sldLayoutId id="2147484401" r:id="rId5"/>
    <p:sldLayoutId id="2147484402" r:id="rId6"/>
    <p:sldLayoutId id="2147484403" r:id="rId7"/>
    <p:sldLayoutId id="2147484404" r:id="rId8"/>
    <p:sldLayoutId id="2147484405" r:id="rId9"/>
    <p:sldLayoutId id="2147484406" r:id="rId10"/>
    <p:sldLayoutId id="2147484407" r:id="rId11"/>
    <p:sldLayoutId id="2147484408" r:id="rId12"/>
    <p:sldLayoutId id="2147484409" r:id="rId13"/>
    <p:sldLayoutId id="2147484410" r:id="rId14"/>
    <p:sldLayoutId id="2147484411" r:id="rId15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4400" kern="1200">
          <a:solidFill>
            <a:srgbClr val="3333CC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4400">
          <a:solidFill>
            <a:srgbClr val="3333CC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4400">
          <a:solidFill>
            <a:srgbClr val="3333CC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4400">
          <a:solidFill>
            <a:srgbClr val="3333CC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4400">
          <a:solidFill>
            <a:srgbClr val="3333CC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4400">
          <a:solidFill>
            <a:srgbClr val="3333CC"/>
          </a:solidFill>
          <a:latin typeface="Arial" panose="020B0604020202020204" pitchFamily="34" charset="0"/>
          <a:ea typeface="黑体" panose="02010609060101010101" pitchFamily="49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4400">
          <a:solidFill>
            <a:srgbClr val="3333CC"/>
          </a:solidFill>
          <a:latin typeface="Arial" panose="020B0604020202020204" pitchFamily="34" charset="0"/>
          <a:ea typeface="黑体" panose="02010609060101010101" pitchFamily="49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4400">
          <a:solidFill>
            <a:srgbClr val="3333CC"/>
          </a:solidFill>
          <a:latin typeface="Arial" panose="020B0604020202020204" pitchFamily="34" charset="0"/>
          <a:ea typeface="黑体" panose="02010609060101010101" pitchFamily="49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4400">
          <a:solidFill>
            <a:srgbClr val="3333CC"/>
          </a:solidFill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339966"/>
        </a:buClr>
        <a:buFont typeface="Wingdings" panose="05000000000000000000" pitchFamily="2" charset="2"/>
        <a:buChar char="q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339966"/>
        </a:buClr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339966"/>
        </a:buClr>
        <a:buFont typeface="Wingdings" panose="05000000000000000000" pitchFamily="2" charset="2"/>
        <a:buChar char="q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9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9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9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4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4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9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9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9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9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6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6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88640"/>
            <a:ext cx="6858000" cy="720427"/>
          </a:xfrm>
        </p:spPr>
        <p:txBody>
          <a:bodyPr/>
          <a:lstStyle/>
          <a:p>
            <a:pPr marL="838200" indent="-838200" eaLnBrk="1" hangingPunct="1"/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第五章 异常处理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295400"/>
            <a:ext cx="7467600" cy="3285728"/>
          </a:xfrm>
        </p:spPr>
        <p:txBody>
          <a:bodyPr/>
          <a:lstStyle/>
          <a:p>
            <a:pPr marL="609600" indent="-609600" eaLnBrk="1" hangingPunct="1">
              <a:lnSpc>
                <a:spcPct val="150000"/>
              </a:lnSpc>
              <a:buFontTx/>
              <a:buNone/>
            </a:pP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5.1 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错误处理的方法概述</a:t>
            </a:r>
          </a:p>
          <a:p>
            <a:pPr marL="609600" indent="-609600" eaLnBrk="1" hangingPunct="1">
              <a:lnSpc>
                <a:spcPct val="150000"/>
              </a:lnSpc>
              <a:buFontTx/>
              <a:buNone/>
            </a:pP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5.2 Java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的异常处理机制</a:t>
            </a:r>
          </a:p>
          <a:p>
            <a:pPr marL="609600" indent="-609600" eaLnBrk="1" hangingPunct="1">
              <a:lnSpc>
                <a:spcPct val="150000"/>
              </a:lnSpc>
              <a:buFontTx/>
              <a:buNone/>
            </a:pP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5.3 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创建自己的异常类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/>
              <a:t>异常的演示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313" y="981075"/>
            <a:ext cx="7543800" cy="5184775"/>
          </a:xfrm>
        </p:spPr>
        <p:txBody>
          <a:bodyPr/>
          <a:lstStyle/>
          <a:p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异常 （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Exception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）：发生于程序执行期间，表明出现了一个非法的运行状况。许多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JDK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中的方法在检测到非法情况时，会抛出一个异常对象。 </a:t>
            </a:r>
          </a:p>
          <a:p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例如：数组越界和被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除。 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749" y="5489578"/>
            <a:ext cx="8644501" cy="64719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115616" y="3789040"/>
            <a:ext cx="2448272" cy="83099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400" b="1" i="0" u="none" strike="noStrike" baseline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2400" b="1" i="0" u="none" strike="noStrike" baseline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i="0" u="none" strike="noStrike" baseline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b="1" i="0" u="none" strike="noStrike" baseline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=1, j=0, k; </a:t>
            </a:r>
            <a:endParaRPr lang="en-US" altLang="zh-CN" sz="2400" b="0" i="0" u="none" strike="noStrike" baseline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b="1" i="0" u="none" strike="noStrike" baseline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k=</a:t>
            </a:r>
            <a:r>
              <a:rPr lang="en-US" altLang="zh-CN" sz="2400" b="1" i="0" u="none" strike="noStrike" baseline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b="1" i="0" u="none" strike="noStrike" baseline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/j; </a:t>
            </a:r>
            <a:endParaRPr lang="zh-CN" altLang="en-US" sz="2400" dirty="0"/>
          </a:p>
        </p:txBody>
      </p:sp>
      <p:sp>
        <p:nvSpPr>
          <p:cNvPr id="9" name="下箭头 8"/>
          <p:cNvSpPr/>
          <p:nvPr/>
        </p:nvSpPr>
        <p:spPr>
          <a:xfrm>
            <a:off x="2015716" y="4730771"/>
            <a:ext cx="648072" cy="648072"/>
          </a:xfrm>
          <a:prstGeom prst="dow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5554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5.1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错误处理的方法概述</a:t>
            </a:r>
          </a:p>
        </p:txBody>
      </p:sp>
      <p:sp>
        <p:nvSpPr>
          <p:cNvPr id="1638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传统的程序运行时错误处理</a:t>
            </a:r>
            <a:endParaRPr lang="en-US" altLang="zh-CN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/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如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语言：</a:t>
            </a:r>
          </a:p>
          <a:p>
            <a:pPr lvl="1" eaLnBrk="1" hangingPunct="1"/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函数返回值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某个可能会执行失败的函数（）；</a:t>
            </a:r>
          </a:p>
          <a:p>
            <a:pPr eaLnBrk="1" hangingPunct="1">
              <a:buFontTx/>
              <a:buNone/>
            </a:pP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	</a:t>
            </a:r>
            <a:endParaRPr lang="en-US" altLang="zh-CN" sz="24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altLang="zh-CN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if (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函数返回值</a:t>
            </a:r>
            <a:r>
              <a:rPr lang="en-US" altLang="zh-CN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==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表示该函数执行成功的值）</a:t>
            </a:r>
            <a:r>
              <a:rPr lang="en-US" altLang="zh-CN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正常代码</a:t>
            </a:r>
            <a:r>
              <a:rPr lang="en-US" altLang="zh-CN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}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altLang="zh-CN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	  else if (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函数返回值</a:t>
            </a:r>
            <a:r>
              <a:rPr lang="en-US" altLang="zh-CN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==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代表错误情况</a:t>
            </a:r>
            <a:r>
              <a:rPr lang="en-US" altLang="zh-CN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的值</a:t>
            </a:r>
            <a:r>
              <a:rPr lang="en-US" altLang="zh-CN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 {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处理错误情形</a:t>
            </a:r>
            <a:r>
              <a:rPr lang="en-US" altLang="zh-CN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1}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altLang="zh-CN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	  else if (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函数返回值</a:t>
            </a:r>
            <a:r>
              <a:rPr lang="en-US" altLang="zh-CN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==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代表错误情况</a:t>
            </a:r>
            <a:r>
              <a:rPr lang="en-US" altLang="zh-CN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的值</a:t>
            </a:r>
            <a:r>
              <a:rPr lang="en-US" altLang="zh-CN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 {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处理错误情形</a:t>
            </a:r>
            <a:r>
              <a:rPr lang="en-US" altLang="zh-CN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2}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altLang="zh-CN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	   ……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5.1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错误处理的方法概述</a:t>
            </a:r>
            <a:endParaRPr lang="zh-CN" altLang="en-US" sz="3200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41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函数返回值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某个可能会执行失败的函数（）；</a:t>
            </a:r>
            <a:endParaRPr lang="en-US" altLang="zh-CN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/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</a:p>
          <a:p>
            <a:pPr marL="609600" indent="-609600" eaLnBrk="1" hangingPunct="1">
              <a:buFontTx/>
              <a:buNone/>
            </a:pP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if(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函数返回值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!=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表示该函数执行成功的值）</a:t>
            </a:r>
          </a:p>
          <a:p>
            <a:pPr marL="609600" indent="-609600" eaLnBrk="1" hangingPunct="1">
              <a:buFontTx/>
              <a:buNone/>
            </a:pP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{ Switch(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函数返回值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){</a:t>
            </a:r>
          </a:p>
          <a:p>
            <a:pPr marL="609600" indent="-609600" eaLnBrk="1" hangingPunct="1">
              <a:buFontTx/>
              <a:buNone/>
            </a:pP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			case 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错误情况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的值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处理错误情形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</a:p>
          <a:p>
            <a:pPr marL="609600" indent="-609600" eaLnBrk="1" hangingPunct="1">
              <a:buFontTx/>
              <a:buNone/>
            </a:pP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			case 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错误情况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的值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处理错误情形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</a:p>
          <a:p>
            <a:pPr marL="609600" indent="-609600" eaLnBrk="1" hangingPunct="1">
              <a:buFontTx/>
              <a:buNone/>
            </a:pP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			……}}</a:t>
            </a:r>
          </a:p>
          <a:p>
            <a:pPr marL="609600" indent="-609600" eaLnBrk="1" hangingPunct="1">
              <a:buFontTx/>
              <a:buNone/>
            </a:pP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	else{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正常代码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}</a:t>
            </a:r>
            <a:endParaRPr lang="zh-CN" altLang="en-US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5.1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错误处理的方法概述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  <p:sp>
        <p:nvSpPr>
          <p:cNvPr id="18435" name="内容占位符 2"/>
          <p:cNvSpPr>
            <a:spLocks noGrp="1"/>
          </p:cNvSpPr>
          <p:nvPr>
            <p:ph idx="1"/>
          </p:nvPr>
        </p:nvSpPr>
        <p:spPr>
          <a:xfrm>
            <a:off x="34441" y="1412577"/>
            <a:ext cx="8928992" cy="2016423"/>
          </a:xfrm>
        </p:spPr>
        <p:txBody>
          <a:bodyPr/>
          <a:lstStyle/>
          <a:p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缺点：</a:t>
            </a:r>
          </a:p>
          <a:p>
            <a:pPr lvl="1"/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整个程序代码穿插错误处理代码，使得条理性和可读性差；</a:t>
            </a:r>
          </a:p>
          <a:p>
            <a:pPr lvl="1"/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对错误处理程序难以集中管理，难以保证程序的一致性；</a:t>
            </a:r>
          </a:p>
          <a:p>
            <a:pPr lvl="1"/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对于返回值的意义，要借助于文档，程序维护困难。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5.1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错误处理的方法概述</a:t>
            </a:r>
            <a:endParaRPr lang="zh-CN" altLang="en-US" sz="3200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459" name="内容占位符 2"/>
          <p:cNvSpPr>
            <a:spLocks noGrp="1"/>
          </p:cNvSpPr>
          <p:nvPr>
            <p:ph idx="1"/>
          </p:nvPr>
        </p:nvSpPr>
        <p:spPr>
          <a:xfrm>
            <a:off x="468313" y="981075"/>
            <a:ext cx="8136135" cy="518477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异常处理</a:t>
            </a:r>
          </a:p>
          <a:p>
            <a:pPr lvl="1">
              <a:lnSpc>
                <a:spcPct val="15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在进行程序设计时，错误的产生是不可避免的。</a:t>
            </a:r>
            <a:endParaRPr lang="en-US" altLang="zh-CN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所谓错误，是在程序运行过程中发生的异常事件，这些事件的发生将阻止程序的正常运行</a:t>
            </a:r>
          </a:p>
          <a:p>
            <a:pPr lvl="1">
              <a:lnSpc>
                <a:spcPct val="15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如何处理错误？把错误交给谁去处理？程序又该如何从错误中恢复？</a:t>
            </a:r>
          </a:p>
          <a:p>
            <a:pPr lvl="1">
              <a:lnSpc>
                <a:spcPct val="15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为了加强程序的鲁棒性，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Java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语言具有特定的运行错误处理机制。</a:t>
            </a:r>
          </a:p>
          <a:p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5.1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错误处理的方法概述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  <p:sp>
        <p:nvSpPr>
          <p:cNvPr id="2048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如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C++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Java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语言：</a:t>
            </a:r>
          </a:p>
          <a:p>
            <a:pPr marL="355600" indent="-355600" eaLnBrk="1" hangingPunct="1"/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在异常发生时，由编程语言提供的某种机制通知应用程序，让应用程序决定如何进行下一步的处理。</a:t>
            </a:r>
          </a:p>
          <a:p>
            <a:pPr marL="355600" indent="-355600" eaLnBrk="1" hangingPunct="1"/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传统方式：</a:t>
            </a:r>
            <a:endParaRPr lang="en-US" altLang="zh-CN" sz="24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/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负责测出错误的发生 （程序设计者）</a:t>
            </a:r>
            <a:endParaRPr lang="en-US" altLang="zh-CN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/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进行错误的处理</a:t>
            </a:r>
          </a:p>
          <a:p>
            <a:pPr marL="355600" indent="-355600" eaLnBrk="1" hangingPunct="1"/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异常处理方式：</a:t>
            </a:r>
            <a:endParaRPr lang="en-US" altLang="zh-CN" sz="24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/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进行错误的处理 （程序设计者）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88640"/>
            <a:ext cx="6858000" cy="720427"/>
          </a:xfrm>
        </p:spPr>
        <p:txBody>
          <a:bodyPr/>
          <a:lstStyle/>
          <a:p>
            <a:pPr marL="838200" indent="-838200" eaLnBrk="1" hangingPunct="1"/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第五章 异常处理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295400"/>
            <a:ext cx="7467600" cy="3285728"/>
          </a:xfrm>
        </p:spPr>
        <p:txBody>
          <a:bodyPr/>
          <a:lstStyle/>
          <a:p>
            <a:pPr marL="609600" indent="-609600" eaLnBrk="1" hangingPunct="1">
              <a:lnSpc>
                <a:spcPct val="150000"/>
              </a:lnSpc>
              <a:buFontTx/>
              <a:buNone/>
            </a:pP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5.1 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错误处理的方法概述</a:t>
            </a:r>
          </a:p>
          <a:p>
            <a:pPr marL="609600" indent="-609600" eaLnBrk="1" hangingPunct="1">
              <a:lnSpc>
                <a:spcPct val="150000"/>
              </a:lnSpc>
              <a:buFontTx/>
              <a:buNone/>
            </a:pPr>
            <a:r>
              <a:rPr lang="en-US" altLang="zh-CN" b="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5.2 Java</a:t>
            </a:r>
            <a:r>
              <a:rPr lang="zh-CN" altLang="en-US" b="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的异常处理机制</a:t>
            </a:r>
          </a:p>
          <a:p>
            <a:pPr marL="609600" indent="-609600" eaLnBrk="1" hangingPunct="1">
              <a:lnSpc>
                <a:spcPct val="150000"/>
              </a:lnSpc>
              <a:buFontTx/>
              <a:buNone/>
            </a:pP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5.3 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创建自己的异常类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3330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609600" indent="-609600" eaLnBrk="1" hangingPunct="1"/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5.2 Java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的异常处理机制</a:t>
            </a:r>
          </a:p>
        </p:txBody>
      </p:sp>
      <p:sp>
        <p:nvSpPr>
          <p:cNvPr id="21507" name="内容占位符 2"/>
          <p:cNvSpPr>
            <a:spLocks noGrp="1"/>
          </p:cNvSpPr>
          <p:nvPr>
            <p:ph idx="1"/>
          </p:nvPr>
        </p:nvSpPr>
        <p:spPr>
          <a:xfrm>
            <a:off x="468313" y="981075"/>
            <a:ext cx="7632079" cy="5184775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错误有三类：语法错误、运行错误和逻辑错误</a:t>
            </a:r>
            <a:endParaRPr lang="en-US" altLang="zh-CN" sz="24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出现</a:t>
            </a:r>
            <a:r>
              <a:rPr lang="zh-CN" altLang="en-US" b="0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语法错误（</a:t>
            </a:r>
            <a:r>
              <a:rPr lang="en-US" altLang="zh-CN" b="0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syntax error</a:t>
            </a:r>
            <a:r>
              <a:rPr lang="zh-CN" altLang="en-US" b="0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的原因是没有遵循语言的规则，它们可以由编译器检查发现。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在程序运行过程中，如果环境发现了一个不可能执行的操作，就会出现</a:t>
            </a:r>
            <a:r>
              <a:rPr lang="zh-CN" altLang="en-US" b="0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运行错误（</a:t>
            </a:r>
            <a:r>
              <a:rPr lang="en-US" altLang="zh-CN" b="0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runtime error</a:t>
            </a:r>
            <a:r>
              <a:rPr lang="zh-CN" altLang="en-US" b="0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如果程序没有按照预期的方案执行，就会发生</a:t>
            </a:r>
            <a:r>
              <a:rPr lang="zh-CN" altLang="en-US" b="0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逻辑错误（</a:t>
            </a:r>
            <a:r>
              <a:rPr lang="en-US" altLang="zh-CN" b="0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logic error</a:t>
            </a:r>
            <a:r>
              <a:rPr lang="zh-CN" altLang="en-US" b="0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/>
          <p:cNvSpPr>
            <a:spLocks noGrp="1"/>
          </p:cNvSpPr>
          <p:nvPr>
            <p:ph type="title" idx="4294967295"/>
          </p:nvPr>
        </p:nvSpPr>
        <p:spPr>
          <a:xfrm>
            <a:off x="329890" y="1175147"/>
            <a:ext cx="2175444" cy="719137"/>
          </a:xfrm>
        </p:spPr>
        <p:txBody>
          <a:bodyPr/>
          <a:lstStyle/>
          <a:p>
            <a:pPr eaLnBrk="1" hangingPunct="1"/>
            <a:r>
              <a:rPr lang="zh-CN" altLang="en-US" sz="3200" b="0" dirty="0">
                <a:latin typeface="黑体" panose="02010609060101010101" pitchFamily="49" charset="-122"/>
                <a:ea typeface="黑体" panose="02010609060101010101" pitchFamily="49" charset="-122"/>
              </a:rPr>
              <a:t>运行错误</a:t>
            </a:r>
          </a:p>
        </p:txBody>
      </p:sp>
      <p:sp>
        <p:nvSpPr>
          <p:cNvPr id="22531" name="Rectangle 4"/>
          <p:cNvSpPr>
            <a:spLocks noChangeArrowheads="1"/>
          </p:cNvSpPr>
          <p:nvPr/>
        </p:nvSpPr>
        <p:spPr bwMode="auto">
          <a:xfrm>
            <a:off x="2655888" y="1443038"/>
            <a:ext cx="6075362" cy="3894139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0000FF"/>
                </a:solidFill>
              </a:rPr>
              <a:t>import</a:t>
            </a:r>
            <a:r>
              <a:rPr lang="en-US" altLang="zh-CN" sz="1600" b="1" dirty="0"/>
              <a:t> </a:t>
            </a:r>
            <a:r>
              <a:rPr lang="en-US" altLang="zh-CN" sz="1600" b="1" dirty="0" err="1"/>
              <a:t>java.util.Scanner</a:t>
            </a:r>
            <a:r>
              <a:rPr lang="en-US" altLang="zh-CN" sz="1600" b="1" dirty="0"/>
              <a:t>;</a:t>
            </a:r>
            <a:endParaRPr lang="en-US" altLang="zh-CN" sz="1600" b="1" dirty="0">
              <a:solidFill>
                <a:srgbClr val="0000FF"/>
              </a:solidFill>
            </a:endParaRPr>
          </a:p>
          <a:p>
            <a:pPr eaLnBrk="1" hangingPunct="1"/>
            <a:r>
              <a:rPr lang="en-US" altLang="zh-CN" sz="1600" b="1" dirty="0">
                <a:solidFill>
                  <a:srgbClr val="0000FF"/>
                </a:solidFill>
              </a:rPr>
              <a:t>public class </a:t>
            </a:r>
            <a:r>
              <a:rPr lang="en-US" altLang="zh-CN" sz="1600" b="1" dirty="0" err="1"/>
              <a:t>RuntimeExceptionDemo</a:t>
            </a:r>
            <a:endParaRPr lang="en-US" altLang="zh-CN" sz="1600" b="1" dirty="0"/>
          </a:p>
          <a:p>
            <a:pPr eaLnBrk="1" hangingPunct="1"/>
            <a:r>
              <a:rPr lang="en-US" altLang="zh-CN" sz="1600" b="1" dirty="0"/>
              <a:t>{</a:t>
            </a:r>
          </a:p>
          <a:p>
            <a:pPr eaLnBrk="1" hangingPunct="1"/>
            <a:r>
              <a:rPr lang="en-US" altLang="zh-CN" sz="1600" b="1" dirty="0"/>
              <a:t>    </a:t>
            </a:r>
            <a:r>
              <a:rPr lang="en-US" altLang="zh-CN" sz="1600" b="1" dirty="0">
                <a:solidFill>
                  <a:srgbClr val="0000FF"/>
                </a:solidFill>
              </a:rPr>
              <a:t>public static void </a:t>
            </a:r>
            <a:r>
              <a:rPr lang="en-US" altLang="zh-CN" sz="1600" b="1" dirty="0"/>
              <a:t>main(String[] </a:t>
            </a:r>
            <a:r>
              <a:rPr lang="en-US" altLang="zh-CN" sz="1600" b="1" dirty="0" err="1"/>
              <a:t>args</a:t>
            </a:r>
            <a:r>
              <a:rPr lang="en-US" altLang="zh-CN" sz="1600" b="1" dirty="0"/>
              <a:t>)</a:t>
            </a:r>
          </a:p>
          <a:p>
            <a:pPr eaLnBrk="1" hangingPunct="1"/>
            <a:r>
              <a:rPr lang="en-US" altLang="zh-CN" sz="1600" b="1" dirty="0"/>
              <a:t>    {</a:t>
            </a:r>
          </a:p>
          <a:p>
            <a:pPr eaLnBrk="1" hangingPunct="1"/>
            <a:r>
              <a:rPr lang="en-US" altLang="zh-CN" sz="1600" b="1" dirty="0"/>
              <a:t>        Scanner </a:t>
            </a:r>
            <a:r>
              <a:rPr lang="en-US" altLang="zh-CN" sz="1600" b="1" dirty="0" err="1"/>
              <a:t>scanner</a:t>
            </a:r>
            <a:r>
              <a:rPr lang="en-US" altLang="zh-CN" sz="1600" b="1" dirty="0"/>
              <a:t> = </a:t>
            </a:r>
            <a:r>
              <a:rPr lang="en-US" altLang="zh-CN" sz="1600" b="1" dirty="0">
                <a:solidFill>
                  <a:srgbClr val="0000FF"/>
                </a:solidFill>
              </a:rPr>
              <a:t>new</a:t>
            </a:r>
            <a:r>
              <a:rPr lang="en-US" altLang="zh-CN" sz="1600" b="1" dirty="0"/>
              <a:t> Scanner(System.in);</a:t>
            </a:r>
          </a:p>
          <a:p>
            <a:pPr eaLnBrk="1" hangingPunct="1"/>
            <a:r>
              <a:rPr lang="en-US" altLang="zh-CN" sz="1600" b="1" dirty="0"/>
              <a:t>        </a:t>
            </a:r>
            <a:r>
              <a:rPr lang="en-US" altLang="zh-CN" sz="1600" b="1" dirty="0" err="1"/>
              <a:t>System.out.println</a:t>
            </a:r>
            <a:r>
              <a:rPr lang="en-US" altLang="zh-CN" sz="1600" b="1" dirty="0"/>
              <a:t>("Please enter a integer:");</a:t>
            </a:r>
          </a:p>
          <a:p>
            <a:pPr eaLnBrk="1" hangingPunct="1"/>
            <a:endParaRPr lang="en-US" altLang="zh-CN" sz="1600" b="1" dirty="0"/>
          </a:p>
          <a:p>
            <a:pPr eaLnBrk="1" hangingPunct="1"/>
            <a:r>
              <a:rPr lang="en-US" altLang="zh-CN" sz="1600" b="1" dirty="0">
                <a:solidFill>
                  <a:srgbClr val="008000"/>
                </a:solidFill>
              </a:rPr>
              <a:t>        // </a:t>
            </a:r>
            <a:r>
              <a:rPr lang="zh-CN" altLang="en-US" sz="1600" b="1" dirty="0">
                <a:solidFill>
                  <a:srgbClr val="008000"/>
                </a:solidFill>
              </a:rPr>
              <a:t>从键盘读取用户输入，并转换为一个整数，</a:t>
            </a:r>
          </a:p>
          <a:p>
            <a:pPr eaLnBrk="1" hangingPunct="1"/>
            <a:r>
              <a:rPr lang="en-US" altLang="zh-CN" sz="1600" b="1" dirty="0">
                <a:solidFill>
                  <a:srgbClr val="008000"/>
                </a:solidFill>
              </a:rPr>
              <a:t>        // </a:t>
            </a:r>
            <a:r>
              <a:rPr lang="zh-CN" altLang="en-US" sz="1600" b="1" dirty="0">
                <a:solidFill>
                  <a:srgbClr val="008000"/>
                </a:solidFill>
              </a:rPr>
              <a:t>赋值给 </a:t>
            </a:r>
            <a:r>
              <a:rPr lang="en-US" altLang="zh-CN" sz="1600" b="1" dirty="0">
                <a:solidFill>
                  <a:srgbClr val="008000"/>
                </a:solidFill>
              </a:rPr>
              <a:t>number </a:t>
            </a:r>
            <a:r>
              <a:rPr lang="zh-CN" altLang="en-US" sz="1600" b="1" dirty="0">
                <a:solidFill>
                  <a:srgbClr val="008000"/>
                </a:solidFill>
              </a:rPr>
              <a:t>这个变量</a:t>
            </a:r>
            <a:endParaRPr lang="en-US" sz="1600" b="1" dirty="0">
              <a:solidFill>
                <a:srgbClr val="008000"/>
              </a:solidFill>
            </a:endParaRPr>
          </a:p>
          <a:p>
            <a:pPr eaLnBrk="1" hangingPunct="1"/>
            <a:r>
              <a:rPr lang="en-US" sz="1600" b="1" dirty="0"/>
              <a:t>        </a:t>
            </a:r>
            <a:r>
              <a:rPr lang="en-US" altLang="zh-CN" sz="1600" b="1" dirty="0" err="1">
                <a:solidFill>
                  <a:srgbClr val="0000FF"/>
                </a:solidFill>
              </a:rPr>
              <a:t>int</a:t>
            </a:r>
            <a:r>
              <a:rPr lang="en-US" altLang="zh-CN" sz="1600" b="1" dirty="0"/>
              <a:t> number = </a:t>
            </a:r>
            <a:r>
              <a:rPr lang="en-US" altLang="zh-CN" sz="1600" b="1" dirty="0" err="1"/>
              <a:t>scanner.nextInt</a:t>
            </a:r>
            <a:r>
              <a:rPr lang="en-US" altLang="zh-CN" sz="1600" b="1" dirty="0"/>
              <a:t>();</a:t>
            </a:r>
          </a:p>
          <a:p>
            <a:pPr eaLnBrk="1" hangingPunct="1"/>
            <a:endParaRPr lang="en-US" altLang="zh-CN" sz="1600" b="1" dirty="0"/>
          </a:p>
          <a:p>
            <a:pPr eaLnBrk="1" hangingPunct="1"/>
            <a:r>
              <a:rPr lang="en-US" altLang="zh-CN" sz="1600" b="1" dirty="0"/>
              <a:t>        </a:t>
            </a:r>
            <a:r>
              <a:rPr lang="en-US" altLang="zh-CN" sz="1600" b="1" dirty="0" err="1"/>
              <a:t>System.out.println</a:t>
            </a:r>
            <a:r>
              <a:rPr lang="en-US" altLang="zh-CN" sz="1600" b="1" dirty="0"/>
              <a:t>("Your input is: " + number);</a:t>
            </a:r>
          </a:p>
          <a:p>
            <a:pPr eaLnBrk="1" hangingPunct="1"/>
            <a:r>
              <a:rPr lang="en-US" altLang="zh-CN" sz="1600" b="1" dirty="0"/>
              <a:t>    }</a:t>
            </a:r>
          </a:p>
          <a:p>
            <a:pPr eaLnBrk="1" hangingPunct="1"/>
            <a:r>
              <a:rPr lang="en-US" altLang="zh-CN" sz="1600" b="1" dirty="0"/>
              <a:t>}</a:t>
            </a:r>
          </a:p>
        </p:txBody>
      </p:sp>
      <p:sp>
        <p:nvSpPr>
          <p:cNvPr id="22532" name="矩形 3"/>
          <p:cNvSpPr>
            <a:spLocks noChangeArrowheads="1"/>
          </p:cNvSpPr>
          <p:nvPr/>
        </p:nvSpPr>
        <p:spPr bwMode="auto">
          <a:xfrm>
            <a:off x="3059113" y="3957563"/>
            <a:ext cx="3946525" cy="263525"/>
          </a:xfrm>
          <a:prstGeom prst="rect">
            <a:avLst/>
          </a:prstGeom>
          <a:solidFill>
            <a:srgbClr val="FF0000">
              <a:alpha val="2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2533" name="TextBox 12"/>
          <p:cNvSpPr txBox="1">
            <a:spLocks noChangeArrowheads="1"/>
          </p:cNvSpPr>
          <p:nvPr/>
        </p:nvSpPr>
        <p:spPr bwMode="auto">
          <a:xfrm>
            <a:off x="148109" y="2780928"/>
            <a:ext cx="247967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如果这里出错（如用户输入不是一个整数），</a:t>
            </a:r>
            <a:endParaRPr lang="en-US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则会发生异常。</a:t>
            </a:r>
            <a:endParaRPr lang="en-US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endParaRPr lang="en-US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发生异常后，就会跳过后面的内容，并终止程序</a:t>
            </a:r>
          </a:p>
        </p:txBody>
      </p:sp>
      <p:cxnSp>
        <p:nvCxnSpPr>
          <p:cNvPr id="22534" name="直接箭头连接符 19"/>
          <p:cNvCxnSpPr>
            <a:cxnSpLocks noChangeShapeType="1"/>
            <a:stCxn id="22532" idx="1"/>
          </p:cNvCxnSpPr>
          <p:nvPr/>
        </p:nvCxnSpPr>
        <p:spPr bwMode="auto">
          <a:xfrm flipH="1">
            <a:off x="2466975" y="4089326"/>
            <a:ext cx="592138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35" name="直接箭头连接符 21"/>
          <p:cNvCxnSpPr>
            <a:cxnSpLocks noChangeShapeType="1"/>
          </p:cNvCxnSpPr>
          <p:nvPr/>
        </p:nvCxnSpPr>
        <p:spPr bwMode="auto">
          <a:xfrm>
            <a:off x="2466975" y="4089326"/>
            <a:ext cx="0" cy="1335162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2536" name="Group 8"/>
          <p:cNvGrpSpPr>
            <a:grpSpLocks/>
          </p:cNvGrpSpPr>
          <p:nvPr/>
        </p:nvGrpSpPr>
        <p:grpSpPr bwMode="auto">
          <a:xfrm>
            <a:off x="1841500" y="5424388"/>
            <a:ext cx="1266825" cy="596900"/>
            <a:chOff x="0" y="0"/>
            <a:chExt cx="798" cy="376"/>
          </a:xfrm>
        </p:grpSpPr>
        <p:pic>
          <p:nvPicPr>
            <p:cNvPr id="22537" name="椭圆 22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798" cy="3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538" name="Text Box 10"/>
            <p:cNvSpPr txBox="1">
              <a:spLocks noChangeArrowheads="1"/>
            </p:cNvSpPr>
            <p:nvPr/>
          </p:nvSpPr>
          <p:spPr bwMode="auto">
            <a:xfrm>
              <a:off x="146" y="67"/>
              <a:ext cx="513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b="1">
                  <a:solidFill>
                    <a:srgbClr val="FFFFFF"/>
                  </a:solidFill>
                </a:rPr>
                <a:t>终止</a:t>
              </a:r>
            </a:p>
          </p:txBody>
        </p:sp>
      </p:grpSp>
      <p:cxnSp>
        <p:nvCxnSpPr>
          <p:cNvPr id="11" name="直接连接符 10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标题 1"/>
          <p:cNvSpPr txBox="1">
            <a:spLocks/>
          </p:cNvSpPr>
          <p:nvPr/>
        </p:nvSpPr>
        <p:spPr>
          <a:xfrm>
            <a:off x="442730" y="190898"/>
            <a:ext cx="7543800" cy="678656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pPr marL="609600" indent="-609600" eaLnBrk="1" hangingPunct="1"/>
            <a:r>
              <a:rPr lang="en-US" altLang="zh-CN" sz="3200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5.2 Java</a:t>
            </a:r>
            <a:r>
              <a:rPr lang="zh-CN" altLang="en-US" sz="3200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的异常处理机制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marL="609600" indent="-609600" eaLnBrk="1" hangingPunct="1"/>
            <a:r>
              <a:rPr lang="en-US" altLang="zh-CN" sz="3200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5.2 Java</a:t>
            </a:r>
            <a:r>
              <a:rPr lang="zh-CN" altLang="en-US" sz="3200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的异常处理机制</a:t>
            </a:r>
          </a:p>
        </p:txBody>
      </p:sp>
      <p:sp>
        <p:nvSpPr>
          <p:cNvPr id="23555" name="内容占位符 2"/>
          <p:cNvSpPr>
            <a:spLocks noGrp="1"/>
          </p:cNvSpPr>
          <p:nvPr>
            <p:ph idx="4294967295"/>
          </p:nvPr>
        </p:nvSpPr>
        <p:spPr>
          <a:xfrm>
            <a:off x="457200" y="1052737"/>
            <a:ext cx="8229600" cy="3744416"/>
          </a:xfrm>
        </p:spPr>
        <p:txBody>
          <a:bodyPr/>
          <a:lstStyle/>
          <a:p>
            <a:pPr eaLnBrk="1" hangingPunct="1"/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捕获运行错误</a:t>
            </a:r>
            <a:endParaRPr lang="en-US" altLang="zh-CN" sz="24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运行错误不是我们想要的，它会引起程序异常终止。</a:t>
            </a:r>
            <a:endParaRPr lang="en-US" sz="24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需要有某种手段来捕获这个错误，让程序在收到错误后，能够继续执行</a:t>
            </a:r>
            <a:endParaRPr lang="en-US" sz="24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对于上一个例子来说，解决方案：</a:t>
            </a:r>
            <a:br>
              <a:rPr lang="en-US" dirty="0">
                <a:ea typeface="宋体" panose="02010600030101010101" pitchFamily="2" charset="-122"/>
              </a:rPr>
            </a:br>
            <a:br>
              <a:rPr lang="en-US" dirty="0">
                <a:ea typeface="宋体" panose="02010600030101010101" pitchFamily="2" charset="-122"/>
              </a:rPr>
            </a:br>
            <a:r>
              <a:rPr lang="zh-CN" altLang="en-US" sz="2400" b="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如果发现用户输入了错误的内容（如输入的不是一个整数），则提醒用户再次输入，直到正确为止</a:t>
            </a:r>
            <a:endParaRPr lang="zh-CN" altLang="en-US" sz="24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200" b="0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5.2 Java</a:t>
            </a:r>
            <a:r>
              <a:rPr lang="zh-CN" altLang="en-US" sz="3200" b="0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的异常处理机制</a:t>
            </a:r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--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改进版</a:t>
            </a:r>
          </a:p>
        </p:txBody>
      </p:sp>
      <p:sp>
        <p:nvSpPr>
          <p:cNvPr id="24579" name="Rectangle 4"/>
          <p:cNvSpPr>
            <a:spLocks noChangeArrowheads="1"/>
          </p:cNvSpPr>
          <p:nvPr/>
        </p:nvSpPr>
        <p:spPr bwMode="auto">
          <a:xfrm>
            <a:off x="1101725" y="976313"/>
            <a:ext cx="7854950" cy="5573712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400" b="1" dirty="0">
                <a:solidFill>
                  <a:srgbClr val="0000FF"/>
                </a:solidFill>
              </a:rPr>
              <a:t>import</a:t>
            </a:r>
            <a:r>
              <a:rPr lang="en-US" altLang="zh-CN" sz="1400" b="1" dirty="0"/>
              <a:t> </a:t>
            </a:r>
            <a:r>
              <a:rPr lang="en-US" altLang="zh-CN" sz="1400" b="1" dirty="0" err="1"/>
              <a:t>java.util.InputMismatchException</a:t>
            </a:r>
            <a:r>
              <a:rPr lang="en-US" altLang="zh-CN" sz="1400" b="1" dirty="0"/>
              <a:t>;</a:t>
            </a:r>
          </a:p>
          <a:p>
            <a:pPr eaLnBrk="1" hangingPunct="1"/>
            <a:r>
              <a:rPr lang="en-US" altLang="zh-CN" sz="1400" b="1" dirty="0">
                <a:solidFill>
                  <a:srgbClr val="0000FF"/>
                </a:solidFill>
              </a:rPr>
              <a:t>import</a:t>
            </a:r>
            <a:r>
              <a:rPr lang="en-US" altLang="zh-CN" sz="1400" b="1" dirty="0"/>
              <a:t> </a:t>
            </a:r>
            <a:r>
              <a:rPr lang="en-US" altLang="zh-CN" sz="1400" b="1" dirty="0" err="1"/>
              <a:t>java.util.Scanner</a:t>
            </a:r>
            <a:r>
              <a:rPr lang="en-US" altLang="zh-CN" sz="1400" b="1" dirty="0"/>
              <a:t>;</a:t>
            </a:r>
          </a:p>
          <a:p>
            <a:pPr eaLnBrk="1" hangingPunct="1"/>
            <a:endParaRPr lang="en-US" altLang="zh-CN" sz="1400" b="1" dirty="0"/>
          </a:p>
          <a:p>
            <a:pPr eaLnBrk="1" hangingPunct="1"/>
            <a:r>
              <a:rPr lang="en-US" altLang="zh-CN" sz="1400" b="1" dirty="0">
                <a:solidFill>
                  <a:srgbClr val="0000FF"/>
                </a:solidFill>
              </a:rPr>
              <a:t>public class </a:t>
            </a:r>
            <a:r>
              <a:rPr lang="en-US" altLang="zh-CN" sz="1400" b="1" dirty="0"/>
              <a:t>RuntimeExceptionDemo2 {</a:t>
            </a:r>
          </a:p>
          <a:p>
            <a:pPr eaLnBrk="1" hangingPunct="1"/>
            <a:r>
              <a:rPr lang="en-US" altLang="zh-CN" sz="1400" b="1" dirty="0"/>
              <a:t>    </a:t>
            </a:r>
            <a:r>
              <a:rPr lang="en-US" altLang="zh-CN" sz="1400" b="1" dirty="0">
                <a:solidFill>
                  <a:srgbClr val="0000FF"/>
                </a:solidFill>
              </a:rPr>
              <a:t>public static void </a:t>
            </a:r>
            <a:r>
              <a:rPr lang="en-US" altLang="zh-CN" sz="1400" b="1" dirty="0"/>
              <a:t>main(String[] </a:t>
            </a:r>
            <a:r>
              <a:rPr lang="en-US" altLang="zh-CN" sz="1400" b="1" dirty="0" err="1"/>
              <a:t>args</a:t>
            </a:r>
            <a:r>
              <a:rPr lang="en-US" altLang="zh-CN" sz="1400" b="1" dirty="0"/>
              <a:t>) {</a:t>
            </a:r>
          </a:p>
          <a:p>
            <a:pPr eaLnBrk="1" hangingPunct="1"/>
            <a:r>
              <a:rPr lang="en-US" altLang="zh-CN" sz="1400" b="1" dirty="0"/>
              <a:t>        Scanner </a:t>
            </a:r>
            <a:r>
              <a:rPr lang="en-US" altLang="zh-CN" sz="1400" b="1" dirty="0" err="1"/>
              <a:t>scanner</a:t>
            </a:r>
            <a:r>
              <a:rPr lang="en-US" altLang="zh-CN" sz="1400" b="1" dirty="0"/>
              <a:t> = </a:t>
            </a:r>
            <a:r>
              <a:rPr lang="en-US" altLang="zh-CN" sz="1400" b="1" dirty="0">
                <a:solidFill>
                  <a:srgbClr val="0000FF"/>
                </a:solidFill>
              </a:rPr>
              <a:t>new</a:t>
            </a:r>
            <a:r>
              <a:rPr lang="en-US" altLang="zh-CN" sz="1400" b="1" dirty="0"/>
              <a:t> Scanner(System.in);</a:t>
            </a:r>
          </a:p>
          <a:p>
            <a:pPr eaLnBrk="1" hangingPunct="1"/>
            <a:r>
              <a:rPr lang="en-US" altLang="zh-CN" sz="1400" b="1" dirty="0"/>
              <a:t>        </a:t>
            </a:r>
            <a:r>
              <a:rPr lang="en-US" altLang="zh-CN" sz="1400" b="1" dirty="0" err="1">
                <a:solidFill>
                  <a:srgbClr val="0000FF"/>
                </a:solidFill>
              </a:rPr>
              <a:t>boolean</a:t>
            </a:r>
            <a:r>
              <a:rPr lang="en-US" altLang="zh-CN" sz="1400" b="1" dirty="0"/>
              <a:t> </a:t>
            </a:r>
            <a:r>
              <a:rPr lang="en-US" altLang="zh-CN" sz="1400" b="1" dirty="0" err="1"/>
              <a:t>inputIsValid</a:t>
            </a:r>
            <a:r>
              <a:rPr lang="en-US" altLang="zh-CN" sz="1400" b="1" dirty="0"/>
              <a:t> = false; </a:t>
            </a:r>
          </a:p>
          <a:p>
            <a:pPr eaLnBrk="1" hangingPunct="1"/>
            <a:r>
              <a:rPr lang="en-US" altLang="zh-CN" sz="1400" b="1" dirty="0"/>
              <a:t>        </a:t>
            </a:r>
          </a:p>
          <a:p>
            <a:pPr eaLnBrk="1" hangingPunct="1"/>
            <a:r>
              <a:rPr lang="en-US" altLang="zh-CN" sz="1400" b="1" dirty="0"/>
              <a:t>        </a:t>
            </a:r>
            <a:r>
              <a:rPr lang="en-US" altLang="zh-CN" sz="1400" b="1" dirty="0">
                <a:solidFill>
                  <a:srgbClr val="0000FF"/>
                </a:solidFill>
              </a:rPr>
              <a:t>while</a:t>
            </a:r>
            <a:r>
              <a:rPr lang="en-US" altLang="zh-CN" sz="1400" b="1" dirty="0"/>
              <a:t> (!</a:t>
            </a:r>
            <a:r>
              <a:rPr lang="en-US" altLang="zh-CN" sz="1400" b="1" dirty="0" err="1"/>
              <a:t>inputIsValid</a:t>
            </a:r>
            <a:r>
              <a:rPr lang="en-US" altLang="zh-CN" sz="1400" b="1" dirty="0"/>
              <a:t>)</a:t>
            </a:r>
          </a:p>
          <a:p>
            <a:pPr eaLnBrk="1" hangingPunct="1"/>
            <a:r>
              <a:rPr lang="en-US" altLang="zh-CN" sz="1400" b="1" dirty="0"/>
              <a:t>        {</a:t>
            </a:r>
          </a:p>
          <a:p>
            <a:pPr eaLnBrk="1" hangingPunct="1"/>
            <a:r>
              <a:rPr lang="en-US" altLang="zh-CN" sz="1400" b="1" dirty="0"/>
              <a:t>            </a:t>
            </a:r>
            <a:r>
              <a:rPr lang="en-US" altLang="zh-CN" sz="1400" b="1" dirty="0">
                <a:solidFill>
                  <a:srgbClr val="0000FF"/>
                </a:solidFill>
              </a:rPr>
              <a:t>try</a:t>
            </a:r>
          </a:p>
          <a:p>
            <a:pPr eaLnBrk="1" hangingPunct="1"/>
            <a:r>
              <a:rPr lang="en-US" altLang="zh-CN" sz="1400" b="1" dirty="0"/>
              <a:t>            {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System.out.println</a:t>
            </a:r>
            <a:r>
              <a:rPr lang="en-US" altLang="zh-CN" sz="1400" b="1" dirty="0"/>
              <a:t>("Please enter a integer:");</a:t>
            </a:r>
          </a:p>
          <a:p>
            <a:pPr eaLnBrk="1" hangingPunct="1"/>
            <a:r>
              <a:rPr lang="en-US" altLang="zh-CN" sz="1400" b="1" dirty="0"/>
              <a:t>                int number = </a:t>
            </a:r>
            <a:r>
              <a:rPr lang="en-US" altLang="zh-CN" sz="1400" b="1" dirty="0" err="1"/>
              <a:t>scanner.nextInt</a:t>
            </a:r>
            <a:r>
              <a:rPr lang="en-US" altLang="zh-CN" sz="1400" b="1" dirty="0"/>
              <a:t>();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System.out.println</a:t>
            </a:r>
            <a:r>
              <a:rPr lang="en-US" altLang="zh-CN" sz="1400" b="1" dirty="0"/>
              <a:t>("Your input is: " + number);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inputIsValid</a:t>
            </a:r>
            <a:r>
              <a:rPr lang="en-US" altLang="zh-CN" sz="1400" b="1" dirty="0"/>
              <a:t> = true;</a:t>
            </a:r>
          </a:p>
          <a:p>
            <a:pPr eaLnBrk="1" hangingPunct="1"/>
            <a:r>
              <a:rPr lang="en-US" altLang="zh-CN" sz="1400" b="1" dirty="0"/>
              <a:t>            }</a:t>
            </a:r>
          </a:p>
          <a:p>
            <a:pPr eaLnBrk="1" hangingPunct="1"/>
            <a:r>
              <a:rPr lang="en-US" altLang="zh-CN" sz="1400" b="1" dirty="0"/>
              <a:t>            </a:t>
            </a:r>
            <a:r>
              <a:rPr lang="en-US" altLang="zh-CN" sz="1400" b="1" dirty="0">
                <a:solidFill>
                  <a:srgbClr val="0000FF"/>
                </a:solidFill>
              </a:rPr>
              <a:t>catch</a:t>
            </a:r>
            <a:r>
              <a:rPr lang="en-US" altLang="zh-CN" sz="1400" b="1" dirty="0"/>
              <a:t> (</a:t>
            </a:r>
            <a:r>
              <a:rPr lang="en-US" altLang="zh-CN" sz="1400" b="1" dirty="0" err="1"/>
              <a:t>InputMismatchException</a:t>
            </a:r>
            <a:r>
              <a:rPr lang="en-US" altLang="zh-CN" sz="1400" b="1" dirty="0"/>
              <a:t> ex)</a:t>
            </a:r>
          </a:p>
          <a:p>
            <a:pPr eaLnBrk="1" hangingPunct="1"/>
            <a:r>
              <a:rPr lang="en-US" altLang="zh-CN" sz="1400" b="1" dirty="0"/>
              <a:t>            {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System.out.println</a:t>
            </a:r>
            <a:r>
              <a:rPr lang="en-US" altLang="zh-CN" sz="1400" b="1" dirty="0"/>
              <a:t>("</a:t>
            </a:r>
            <a:r>
              <a:rPr lang="en-US" altLang="zh-CN" sz="1400" b="1" dirty="0" err="1"/>
              <a:t>Incorect</a:t>
            </a:r>
            <a:r>
              <a:rPr lang="en-US" altLang="zh-CN" sz="1400" b="1" dirty="0"/>
              <a:t> input, please try again.");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scanner.nextLine</a:t>
            </a:r>
            <a:r>
              <a:rPr lang="en-US" altLang="zh-CN" sz="1400" b="1" dirty="0"/>
              <a:t>();  </a:t>
            </a:r>
            <a:r>
              <a:rPr lang="en-US" altLang="zh-CN" sz="1400" b="1" dirty="0">
                <a:solidFill>
                  <a:srgbClr val="006600"/>
                </a:solidFill>
              </a:rPr>
              <a:t>// </a:t>
            </a:r>
            <a:r>
              <a:rPr lang="zh-CN" altLang="en-US" sz="1400" b="1" dirty="0">
                <a:solidFill>
                  <a:srgbClr val="006600"/>
                </a:solidFill>
              </a:rPr>
              <a:t>重新开始接受输入</a:t>
            </a:r>
          </a:p>
          <a:p>
            <a:pPr eaLnBrk="1" hangingPunct="1"/>
            <a:r>
              <a:rPr lang="zh-CN" altLang="en-US" sz="1400" b="1" dirty="0"/>
              <a:t>            </a:t>
            </a:r>
            <a:r>
              <a:rPr lang="en-US" altLang="zh-CN" sz="1400" b="1" dirty="0"/>
              <a:t>}</a:t>
            </a:r>
          </a:p>
          <a:p>
            <a:pPr eaLnBrk="1" hangingPunct="1"/>
            <a:r>
              <a:rPr lang="en-US" altLang="zh-CN" sz="1400" b="1" dirty="0"/>
              <a:t>        }</a:t>
            </a:r>
          </a:p>
          <a:p>
            <a:pPr eaLnBrk="1" hangingPunct="1"/>
            <a:r>
              <a:rPr lang="en-US" altLang="zh-CN" sz="1400" b="1" dirty="0"/>
              <a:t>    }</a:t>
            </a:r>
          </a:p>
          <a:p>
            <a:pPr eaLnBrk="1" hangingPunct="1"/>
            <a:r>
              <a:rPr lang="en-US" altLang="zh-CN" sz="1400" b="1" dirty="0"/>
              <a:t>}</a:t>
            </a:r>
          </a:p>
          <a:p>
            <a:pPr eaLnBrk="1" hangingPunct="1"/>
            <a:endParaRPr lang="en-US" altLang="zh-CN" sz="1400" b="1" dirty="0"/>
          </a:p>
        </p:txBody>
      </p:sp>
      <p:sp>
        <p:nvSpPr>
          <p:cNvPr id="24580" name="矩形 7"/>
          <p:cNvSpPr>
            <a:spLocks noChangeArrowheads="1"/>
          </p:cNvSpPr>
          <p:nvPr/>
        </p:nvSpPr>
        <p:spPr bwMode="auto">
          <a:xfrm>
            <a:off x="1907704" y="3783013"/>
            <a:ext cx="3946525" cy="263525"/>
          </a:xfrm>
          <a:prstGeom prst="rect">
            <a:avLst/>
          </a:prstGeom>
          <a:solidFill>
            <a:srgbClr val="FF0000">
              <a:alpha val="2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4581" name="矩形 8"/>
          <p:cNvSpPr>
            <a:spLocks noChangeArrowheads="1"/>
          </p:cNvSpPr>
          <p:nvPr/>
        </p:nvSpPr>
        <p:spPr bwMode="auto">
          <a:xfrm>
            <a:off x="1942926" y="5013176"/>
            <a:ext cx="4645298" cy="288032"/>
          </a:xfrm>
          <a:prstGeom prst="rect">
            <a:avLst/>
          </a:prstGeom>
          <a:solidFill>
            <a:srgbClr val="FF0000">
              <a:alpha val="2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cxnSp>
        <p:nvCxnSpPr>
          <p:cNvPr id="9222" name="肘形连接符 11"/>
          <p:cNvCxnSpPr>
            <a:cxnSpLocks noChangeShapeType="1"/>
            <a:stCxn id="24580" idx="1"/>
          </p:cNvCxnSpPr>
          <p:nvPr/>
        </p:nvCxnSpPr>
        <p:spPr bwMode="auto">
          <a:xfrm rot="10800000" flipV="1">
            <a:off x="1624878" y="3914776"/>
            <a:ext cx="282826" cy="1386432"/>
          </a:xfrm>
          <a:prstGeom prst="bentConnector2">
            <a:avLst/>
          </a:prstGeom>
          <a:noFill/>
          <a:ln w="25400">
            <a:solidFill>
              <a:schemeClr val="tx1"/>
            </a:solidFill>
            <a:miter lim="800000"/>
            <a:headEnd/>
            <a:tailEnd type="arrow" w="med" len="med"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23" name="TextBox 16"/>
          <p:cNvSpPr txBox="1">
            <a:spLocks noChangeArrowheads="1"/>
          </p:cNvSpPr>
          <p:nvPr/>
        </p:nvSpPr>
        <p:spPr bwMode="auto">
          <a:xfrm>
            <a:off x="54412" y="4437112"/>
            <a:ext cx="1498662" cy="1323439"/>
          </a:xfrm>
          <a:prstGeom prst="rect">
            <a:avLst/>
          </a:prstGeom>
          <a:gradFill rotWithShape="1">
            <a:gsLst>
              <a:gs pos="0">
                <a:srgbClr val="BCBCBC"/>
              </a:gs>
              <a:gs pos="35001">
                <a:srgbClr val="D0D0D0"/>
              </a:gs>
              <a:gs pos="100000">
                <a:srgbClr val="EDEDED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如果在该行出现异常，在</a:t>
            </a:r>
            <a:r>
              <a:rPr lang="en-US" altLang="zh-CN" sz="16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try</a:t>
            </a:r>
            <a:r>
              <a:rPr lang="zh-CN" altLang="en-US" sz="16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块中的其他部分被跳过，并转到</a:t>
            </a:r>
            <a:r>
              <a:rPr lang="en-US" altLang="zh-CN" sz="16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catch</a:t>
            </a:r>
            <a:r>
              <a:rPr lang="zh-CN" altLang="en-US" sz="16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块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跟踪程序执行</a:t>
            </a: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462597" y="974601"/>
            <a:ext cx="7426722" cy="5883399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400" b="1" dirty="0">
                <a:solidFill>
                  <a:srgbClr val="0000FF"/>
                </a:solidFill>
              </a:rPr>
              <a:t>import</a:t>
            </a:r>
            <a:r>
              <a:rPr lang="en-US" altLang="zh-CN" sz="1400" b="1" dirty="0"/>
              <a:t> </a:t>
            </a:r>
            <a:r>
              <a:rPr lang="en-US" altLang="zh-CN" sz="1400" b="1" dirty="0" err="1"/>
              <a:t>java.util.InputMismatchException</a:t>
            </a:r>
            <a:r>
              <a:rPr lang="en-US" altLang="zh-CN" sz="1400" b="1" dirty="0"/>
              <a:t>;</a:t>
            </a:r>
          </a:p>
          <a:p>
            <a:pPr eaLnBrk="1" hangingPunct="1"/>
            <a:r>
              <a:rPr lang="en-US" altLang="zh-CN" sz="1400" b="1" dirty="0">
                <a:solidFill>
                  <a:srgbClr val="0000FF"/>
                </a:solidFill>
              </a:rPr>
              <a:t>import</a:t>
            </a:r>
            <a:r>
              <a:rPr lang="en-US" altLang="zh-CN" sz="1400" b="1" dirty="0"/>
              <a:t> </a:t>
            </a:r>
            <a:r>
              <a:rPr lang="en-US" altLang="zh-CN" sz="1400" b="1" dirty="0" err="1"/>
              <a:t>java.util.Scanner</a:t>
            </a:r>
            <a:r>
              <a:rPr lang="en-US" altLang="zh-CN" sz="1400" b="1" dirty="0"/>
              <a:t>;</a:t>
            </a:r>
          </a:p>
          <a:p>
            <a:pPr eaLnBrk="1" hangingPunct="1"/>
            <a:endParaRPr lang="en-US" altLang="zh-CN" sz="1400" b="1" dirty="0"/>
          </a:p>
          <a:p>
            <a:pPr eaLnBrk="1" hangingPunct="1"/>
            <a:r>
              <a:rPr lang="en-US" altLang="zh-CN" sz="1400" b="1" dirty="0">
                <a:solidFill>
                  <a:srgbClr val="0000FF"/>
                </a:solidFill>
              </a:rPr>
              <a:t>public class </a:t>
            </a:r>
            <a:r>
              <a:rPr lang="en-US" altLang="zh-CN" sz="1400" b="1" dirty="0"/>
              <a:t>RuntimeExceptionDemo2 </a:t>
            </a:r>
          </a:p>
          <a:p>
            <a:pPr eaLnBrk="1" hangingPunct="1"/>
            <a:r>
              <a:rPr lang="en-US" altLang="zh-CN" sz="1400" b="1" dirty="0"/>
              <a:t>{</a:t>
            </a:r>
          </a:p>
          <a:p>
            <a:pPr eaLnBrk="1" hangingPunct="1"/>
            <a:r>
              <a:rPr lang="en-US" altLang="zh-CN" sz="1400" b="1" dirty="0"/>
              <a:t>    </a:t>
            </a:r>
            <a:r>
              <a:rPr lang="en-US" altLang="zh-CN" sz="1400" b="1" dirty="0">
                <a:solidFill>
                  <a:srgbClr val="0000FF"/>
                </a:solidFill>
              </a:rPr>
              <a:t>public static void </a:t>
            </a:r>
            <a:r>
              <a:rPr lang="en-US" altLang="zh-CN" sz="1400" b="1" dirty="0"/>
              <a:t>main(String[] </a:t>
            </a:r>
            <a:r>
              <a:rPr lang="en-US" altLang="zh-CN" sz="1400" b="1" dirty="0" err="1"/>
              <a:t>args</a:t>
            </a:r>
            <a:r>
              <a:rPr lang="en-US" altLang="zh-CN" sz="1400" b="1" dirty="0"/>
              <a:t>) </a:t>
            </a:r>
          </a:p>
          <a:p>
            <a:pPr eaLnBrk="1" hangingPunct="1"/>
            <a:r>
              <a:rPr lang="en-US" altLang="zh-CN" sz="1400" b="1" dirty="0"/>
              <a:t>    {</a:t>
            </a:r>
          </a:p>
          <a:p>
            <a:pPr eaLnBrk="1" hangingPunct="1"/>
            <a:r>
              <a:rPr lang="en-US" altLang="zh-CN" sz="1400" b="1" dirty="0"/>
              <a:t>        Scanner </a:t>
            </a:r>
            <a:r>
              <a:rPr lang="en-US" altLang="zh-CN" sz="1400" b="1" dirty="0" err="1"/>
              <a:t>scanner</a:t>
            </a:r>
            <a:r>
              <a:rPr lang="en-US" altLang="zh-CN" sz="1400" b="1" dirty="0"/>
              <a:t> = </a:t>
            </a:r>
            <a:r>
              <a:rPr lang="en-US" altLang="zh-CN" sz="1400" b="1" dirty="0">
                <a:solidFill>
                  <a:srgbClr val="0000FF"/>
                </a:solidFill>
              </a:rPr>
              <a:t>new</a:t>
            </a:r>
            <a:r>
              <a:rPr lang="en-US" altLang="zh-CN" sz="1400" b="1" dirty="0"/>
              <a:t> Scanner(System.in);</a:t>
            </a:r>
          </a:p>
          <a:p>
            <a:pPr eaLnBrk="1" hangingPunct="1"/>
            <a:r>
              <a:rPr lang="en-US" altLang="zh-CN" sz="1400" b="1" dirty="0"/>
              <a:t>        </a:t>
            </a:r>
            <a:r>
              <a:rPr lang="en-US" altLang="zh-CN" sz="1400" b="1" dirty="0" err="1">
                <a:solidFill>
                  <a:srgbClr val="0000FF"/>
                </a:solidFill>
              </a:rPr>
              <a:t>boolean</a:t>
            </a:r>
            <a:r>
              <a:rPr lang="en-US" altLang="zh-CN" sz="1400" b="1" dirty="0"/>
              <a:t> </a:t>
            </a:r>
            <a:r>
              <a:rPr lang="en-US" altLang="zh-CN" sz="1400" b="1" dirty="0" err="1"/>
              <a:t>inputIsValid</a:t>
            </a:r>
            <a:r>
              <a:rPr lang="en-US" altLang="zh-CN" sz="1400" b="1" dirty="0"/>
              <a:t> = false; </a:t>
            </a:r>
          </a:p>
          <a:p>
            <a:pPr eaLnBrk="1" hangingPunct="1"/>
            <a:r>
              <a:rPr lang="en-US" altLang="zh-CN" sz="1400" b="1" dirty="0"/>
              <a:t>        </a:t>
            </a:r>
          </a:p>
          <a:p>
            <a:pPr eaLnBrk="1" hangingPunct="1"/>
            <a:r>
              <a:rPr lang="en-US" altLang="zh-CN" sz="1400" b="1" dirty="0"/>
              <a:t>        </a:t>
            </a:r>
            <a:r>
              <a:rPr lang="en-US" altLang="zh-CN" sz="1400" b="1" dirty="0">
                <a:solidFill>
                  <a:srgbClr val="0000FF"/>
                </a:solidFill>
              </a:rPr>
              <a:t>while</a:t>
            </a:r>
            <a:r>
              <a:rPr lang="en-US" altLang="zh-CN" sz="1400" b="1" dirty="0"/>
              <a:t> (!</a:t>
            </a:r>
            <a:r>
              <a:rPr lang="en-US" altLang="zh-CN" sz="1400" b="1" dirty="0" err="1"/>
              <a:t>inputIsValid</a:t>
            </a:r>
            <a:r>
              <a:rPr lang="en-US" altLang="zh-CN" sz="1400" b="1" dirty="0"/>
              <a:t>)</a:t>
            </a:r>
          </a:p>
          <a:p>
            <a:pPr eaLnBrk="1" hangingPunct="1"/>
            <a:r>
              <a:rPr lang="en-US" altLang="zh-CN" sz="1400" b="1" dirty="0"/>
              <a:t>        {</a:t>
            </a:r>
          </a:p>
          <a:p>
            <a:pPr eaLnBrk="1" hangingPunct="1"/>
            <a:r>
              <a:rPr lang="en-US" altLang="zh-CN" sz="1400" b="1" dirty="0"/>
              <a:t>            </a:t>
            </a:r>
            <a:r>
              <a:rPr lang="en-US" altLang="zh-CN" sz="1400" b="1" dirty="0">
                <a:solidFill>
                  <a:srgbClr val="0000FF"/>
                </a:solidFill>
              </a:rPr>
              <a:t>try</a:t>
            </a:r>
          </a:p>
          <a:p>
            <a:pPr eaLnBrk="1" hangingPunct="1"/>
            <a:r>
              <a:rPr lang="en-US" altLang="zh-CN" sz="1400" b="1" dirty="0"/>
              <a:t>            {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System.out.println</a:t>
            </a:r>
            <a:r>
              <a:rPr lang="en-US" altLang="zh-CN" sz="1400" b="1" dirty="0"/>
              <a:t>("Please enter a integer:");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int</a:t>
            </a:r>
            <a:r>
              <a:rPr lang="en-US" altLang="zh-CN" sz="1400" b="1" dirty="0"/>
              <a:t> number = </a:t>
            </a:r>
            <a:r>
              <a:rPr lang="en-US" altLang="zh-CN" sz="1400" b="1" dirty="0" err="1"/>
              <a:t>scanner.nextInt</a:t>
            </a:r>
            <a:r>
              <a:rPr lang="en-US" altLang="zh-CN" sz="1400" b="1" dirty="0"/>
              <a:t>();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System.out.println</a:t>
            </a:r>
            <a:r>
              <a:rPr lang="en-US" altLang="zh-CN" sz="1400" b="1" dirty="0"/>
              <a:t>("Your input is: " + number);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inputIsValid</a:t>
            </a:r>
            <a:r>
              <a:rPr lang="en-US" altLang="zh-CN" sz="1400" b="1" dirty="0"/>
              <a:t> = true;</a:t>
            </a:r>
          </a:p>
          <a:p>
            <a:pPr eaLnBrk="1" hangingPunct="1"/>
            <a:r>
              <a:rPr lang="en-US" altLang="zh-CN" sz="1400" b="1" dirty="0"/>
              <a:t>            }</a:t>
            </a:r>
          </a:p>
          <a:p>
            <a:pPr eaLnBrk="1" hangingPunct="1"/>
            <a:r>
              <a:rPr lang="en-US" altLang="zh-CN" sz="1400" b="1" dirty="0"/>
              <a:t>            </a:t>
            </a:r>
            <a:r>
              <a:rPr lang="en-US" altLang="zh-CN" sz="1400" b="1" dirty="0">
                <a:solidFill>
                  <a:srgbClr val="0000FF"/>
                </a:solidFill>
              </a:rPr>
              <a:t>catch</a:t>
            </a:r>
            <a:r>
              <a:rPr lang="en-US" altLang="zh-CN" sz="1400" b="1" dirty="0"/>
              <a:t> (</a:t>
            </a:r>
            <a:r>
              <a:rPr lang="en-US" altLang="zh-CN" sz="1400" b="1" dirty="0" err="1"/>
              <a:t>InputMismatchException</a:t>
            </a:r>
            <a:r>
              <a:rPr lang="en-US" altLang="zh-CN" sz="1400" b="1" dirty="0"/>
              <a:t> ex)</a:t>
            </a:r>
          </a:p>
          <a:p>
            <a:pPr eaLnBrk="1" hangingPunct="1"/>
            <a:r>
              <a:rPr lang="en-US" altLang="zh-CN" sz="1400" b="1" dirty="0"/>
              <a:t>            {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System.out.println</a:t>
            </a:r>
            <a:r>
              <a:rPr lang="en-US" altLang="zh-CN" sz="1400" b="1" dirty="0"/>
              <a:t>("</a:t>
            </a:r>
            <a:r>
              <a:rPr lang="en-US" altLang="zh-CN" sz="1400" b="1" dirty="0" err="1"/>
              <a:t>Incorect</a:t>
            </a:r>
            <a:r>
              <a:rPr lang="en-US" altLang="zh-CN" sz="1400" b="1" dirty="0"/>
              <a:t> input, please try again.");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scanner.nextLine</a:t>
            </a:r>
            <a:r>
              <a:rPr lang="en-US" altLang="zh-CN" sz="1400" b="1" dirty="0"/>
              <a:t>();  </a:t>
            </a:r>
            <a:r>
              <a:rPr lang="en-US" altLang="zh-CN" sz="1400" b="1" dirty="0">
                <a:solidFill>
                  <a:srgbClr val="006600"/>
                </a:solidFill>
              </a:rPr>
              <a:t>// </a:t>
            </a:r>
            <a:r>
              <a:rPr lang="zh-CN" altLang="en-US" sz="1400" b="1" dirty="0">
                <a:solidFill>
                  <a:srgbClr val="006600"/>
                </a:solidFill>
              </a:rPr>
              <a:t>重新开始接受输入</a:t>
            </a:r>
          </a:p>
          <a:p>
            <a:pPr eaLnBrk="1" hangingPunct="1"/>
            <a:r>
              <a:rPr lang="zh-CN" altLang="en-US" sz="1400" b="1" dirty="0"/>
              <a:t>            </a:t>
            </a:r>
            <a:r>
              <a:rPr lang="en-US" altLang="zh-CN" sz="1400" b="1" dirty="0"/>
              <a:t>}</a:t>
            </a:r>
          </a:p>
          <a:p>
            <a:pPr eaLnBrk="1" hangingPunct="1"/>
            <a:r>
              <a:rPr lang="en-US" altLang="zh-CN" sz="1400" b="1" dirty="0"/>
              <a:t>        }</a:t>
            </a:r>
          </a:p>
          <a:p>
            <a:pPr eaLnBrk="1" hangingPunct="1"/>
            <a:r>
              <a:rPr lang="en-US" altLang="zh-CN" sz="1400" b="1" dirty="0"/>
              <a:t>    }</a:t>
            </a:r>
          </a:p>
          <a:p>
            <a:pPr eaLnBrk="1" hangingPunct="1"/>
            <a:r>
              <a:rPr lang="en-US" altLang="zh-CN" sz="1400" b="1" dirty="0"/>
              <a:t>}</a:t>
            </a:r>
          </a:p>
          <a:p>
            <a:pPr eaLnBrk="1" hangingPunct="1"/>
            <a:endParaRPr lang="en-US" altLang="zh-CN" sz="1200" b="1" dirty="0"/>
          </a:p>
        </p:txBody>
      </p:sp>
      <p:sp>
        <p:nvSpPr>
          <p:cNvPr id="25604" name="矩形 4"/>
          <p:cNvSpPr>
            <a:spLocks noChangeArrowheads="1"/>
          </p:cNvSpPr>
          <p:nvPr/>
        </p:nvSpPr>
        <p:spPr bwMode="auto">
          <a:xfrm>
            <a:off x="683568" y="2060848"/>
            <a:ext cx="4435475" cy="225425"/>
          </a:xfrm>
          <a:prstGeom prst="rect">
            <a:avLst/>
          </a:prstGeom>
          <a:solidFill>
            <a:srgbClr val="FF0000">
              <a:alpha val="2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200">
              <a:solidFill>
                <a:srgbClr val="FFFFFF"/>
              </a:solidFill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跟踪程序执行</a:t>
            </a: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462597" y="974601"/>
            <a:ext cx="7426722" cy="5883399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400" b="1" dirty="0">
                <a:solidFill>
                  <a:srgbClr val="0000FF"/>
                </a:solidFill>
              </a:rPr>
              <a:t>import</a:t>
            </a:r>
            <a:r>
              <a:rPr lang="en-US" altLang="zh-CN" sz="1400" b="1" dirty="0"/>
              <a:t> </a:t>
            </a:r>
            <a:r>
              <a:rPr lang="en-US" altLang="zh-CN" sz="1400" b="1" dirty="0" err="1"/>
              <a:t>java.util.InputMismatchException</a:t>
            </a:r>
            <a:r>
              <a:rPr lang="en-US" altLang="zh-CN" sz="1400" b="1" dirty="0"/>
              <a:t>;</a:t>
            </a:r>
          </a:p>
          <a:p>
            <a:pPr eaLnBrk="1" hangingPunct="1"/>
            <a:r>
              <a:rPr lang="en-US" altLang="zh-CN" sz="1400" b="1" dirty="0">
                <a:solidFill>
                  <a:srgbClr val="0000FF"/>
                </a:solidFill>
              </a:rPr>
              <a:t>import</a:t>
            </a:r>
            <a:r>
              <a:rPr lang="en-US" altLang="zh-CN" sz="1400" b="1" dirty="0"/>
              <a:t> </a:t>
            </a:r>
            <a:r>
              <a:rPr lang="en-US" altLang="zh-CN" sz="1400" b="1" dirty="0" err="1"/>
              <a:t>java.util.Scanner</a:t>
            </a:r>
            <a:r>
              <a:rPr lang="en-US" altLang="zh-CN" sz="1400" b="1" dirty="0"/>
              <a:t>;</a:t>
            </a:r>
          </a:p>
          <a:p>
            <a:pPr eaLnBrk="1" hangingPunct="1"/>
            <a:endParaRPr lang="en-US" altLang="zh-CN" sz="1400" b="1" dirty="0"/>
          </a:p>
          <a:p>
            <a:pPr eaLnBrk="1" hangingPunct="1"/>
            <a:r>
              <a:rPr lang="en-US" altLang="zh-CN" sz="1400" b="1" dirty="0">
                <a:solidFill>
                  <a:srgbClr val="0000FF"/>
                </a:solidFill>
              </a:rPr>
              <a:t>public class </a:t>
            </a:r>
            <a:r>
              <a:rPr lang="en-US" altLang="zh-CN" sz="1400" b="1" dirty="0"/>
              <a:t>RuntimeExceptionDemo2 </a:t>
            </a:r>
          </a:p>
          <a:p>
            <a:pPr eaLnBrk="1" hangingPunct="1"/>
            <a:r>
              <a:rPr lang="en-US" altLang="zh-CN" sz="1400" b="1" dirty="0"/>
              <a:t>{</a:t>
            </a:r>
          </a:p>
          <a:p>
            <a:pPr eaLnBrk="1" hangingPunct="1"/>
            <a:r>
              <a:rPr lang="en-US" altLang="zh-CN" sz="1400" b="1" dirty="0"/>
              <a:t>    </a:t>
            </a:r>
            <a:r>
              <a:rPr lang="en-US" altLang="zh-CN" sz="1400" b="1" dirty="0">
                <a:solidFill>
                  <a:srgbClr val="0000FF"/>
                </a:solidFill>
              </a:rPr>
              <a:t>public static void </a:t>
            </a:r>
            <a:r>
              <a:rPr lang="en-US" altLang="zh-CN" sz="1400" b="1" dirty="0"/>
              <a:t>main(String[] </a:t>
            </a:r>
            <a:r>
              <a:rPr lang="en-US" altLang="zh-CN" sz="1400" b="1" dirty="0" err="1"/>
              <a:t>args</a:t>
            </a:r>
            <a:r>
              <a:rPr lang="en-US" altLang="zh-CN" sz="1400" b="1" dirty="0"/>
              <a:t>) </a:t>
            </a:r>
          </a:p>
          <a:p>
            <a:pPr eaLnBrk="1" hangingPunct="1"/>
            <a:r>
              <a:rPr lang="en-US" altLang="zh-CN" sz="1400" b="1" dirty="0"/>
              <a:t>    {</a:t>
            </a:r>
          </a:p>
          <a:p>
            <a:pPr eaLnBrk="1" hangingPunct="1"/>
            <a:r>
              <a:rPr lang="en-US" altLang="zh-CN" sz="1400" b="1" dirty="0"/>
              <a:t>        Scanner </a:t>
            </a:r>
            <a:r>
              <a:rPr lang="en-US" altLang="zh-CN" sz="1400" b="1" dirty="0" err="1"/>
              <a:t>scanner</a:t>
            </a:r>
            <a:r>
              <a:rPr lang="en-US" altLang="zh-CN" sz="1400" b="1" dirty="0"/>
              <a:t> = </a:t>
            </a:r>
            <a:r>
              <a:rPr lang="en-US" altLang="zh-CN" sz="1400" b="1" dirty="0">
                <a:solidFill>
                  <a:srgbClr val="0000FF"/>
                </a:solidFill>
              </a:rPr>
              <a:t>new</a:t>
            </a:r>
            <a:r>
              <a:rPr lang="en-US" altLang="zh-CN" sz="1400" b="1" dirty="0"/>
              <a:t> Scanner(System.in);</a:t>
            </a:r>
          </a:p>
          <a:p>
            <a:pPr eaLnBrk="1" hangingPunct="1"/>
            <a:r>
              <a:rPr lang="en-US" altLang="zh-CN" sz="1400" b="1" dirty="0"/>
              <a:t>        </a:t>
            </a:r>
            <a:r>
              <a:rPr lang="en-US" altLang="zh-CN" sz="1400" b="1" dirty="0" err="1">
                <a:solidFill>
                  <a:srgbClr val="0000FF"/>
                </a:solidFill>
              </a:rPr>
              <a:t>boolean</a:t>
            </a:r>
            <a:r>
              <a:rPr lang="en-US" altLang="zh-CN" sz="1400" b="1" dirty="0"/>
              <a:t> </a:t>
            </a:r>
            <a:r>
              <a:rPr lang="en-US" altLang="zh-CN" sz="1400" b="1" dirty="0" err="1"/>
              <a:t>inputIsValid</a:t>
            </a:r>
            <a:r>
              <a:rPr lang="en-US" altLang="zh-CN" sz="1400" b="1" dirty="0"/>
              <a:t> = false; </a:t>
            </a:r>
          </a:p>
          <a:p>
            <a:pPr eaLnBrk="1" hangingPunct="1"/>
            <a:r>
              <a:rPr lang="en-US" altLang="zh-CN" sz="1400" b="1" dirty="0"/>
              <a:t>        </a:t>
            </a:r>
          </a:p>
          <a:p>
            <a:pPr eaLnBrk="1" hangingPunct="1"/>
            <a:r>
              <a:rPr lang="en-US" altLang="zh-CN" sz="1400" b="1" dirty="0"/>
              <a:t>        </a:t>
            </a:r>
            <a:r>
              <a:rPr lang="en-US" altLang="zh-CN" sz="1400" b="1" dirty="0">
                <a:solidFill>
                  <a:srgbClr val="0000FF"/>
                </a:solidFill>
              </a:rPr>
              <a:t>while</a:t>
            </a:r>
            <a:r>
              <a:rPr lang="en-US" altLang="zh-CN" sz="1400" b="1" dirty="0"/>
              <a:t> (!</a:t>
            </a:r>
            <a:r>
              <a:rPr lang="en-US" altLang="zh-CN" sz="1400" b="1" dirty="0" err="1"/>
              <a:t>inputIsValid</a:t>
            </a:r>
            <a:r>
              <a:rPr lang="en-US" altLang="zh-CN" sz="1400" b="1" dirty="0"/>
              <a:t>)</a:t>
            </a:r>
          </a:p>
          <a:p>
            <a:pPr eaLnBrk="1" hangingPunct="1"/>
            <a:r>
              <a:rPr lang="en-US" altLang="zh-CN" sz="1400" b="1" dirty="0"/>
              <a:t>        {</a:t>
            </a:r>
          </a:p>
          <a:p>
            <a:pPr eaLnBrk="1" hangingPunct="1"/>
            <a:r>
              <a:rPr lang="en-US" altLang="zh-CN" sz="1400" b="1" dirty="0"/>
              <a:t>            </a:t>
            </a:r>
            <a:r>
              <a:rPr lang="en-US" altLang="zh-CN" sz="1400" b="1" dirty="0">
                <a:solidFill>
                  <a:srgbClr val="0000FF"/>
                </a:solidFill>
              </a:rPr>
              <a:t>try</a:t>
            </a:r>
          </a:p>
          <a:p>
            <a:pPr eaLnBrk="1" hangingPunct="1"/>
            <a:r>
              <a:rPr lang="en-US" altLang="zh-CN" sz="1400" b="1" dirty="0"/>
              <a:t>            {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System.out.println</a:t>
            </a:r>
            <a:r>
              <a:rPr lang="en-US" altLang="zh-CN" sz="1400" b="1" dirty="0"/>
              <a:t>("Please enter a integer:");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int</a:t>
            </a:r>
            <a:r>
              <a:rPr lang="en-US" altLang="zh-CN" sz="1400" b="1" dirty="0"/>
              <a:t> number = </a:t>
            </a:r>
            <a:r>
              <a:rPr lang="en-US" altLang="zh-CN" sz="1400" b="1" dirty="0" err="1"/>
              <a:t>scanner.nextInt</a:t>
            </a:r>
            <a:r>
              <a:rPr lang="en-US" altLang="zh-CN" sz="1400" b="1" dirty="0"/>
              <a:t>();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System.out.println</a:t>
            </a:r>
            <a:r>
              <a:rPr lang="en-US" altLang="zh-CN" sz="1400" b="1" dirty="0"/>
              <a:t>("Your input is: " + number);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inputIsValid</a:t>
            </a:r>
            <a:r>
              <a:rPr lang="en-US" altLang="zh-CN" sz="1400" b="1" dirty="0"/>
              <a:t> = true;</a:t>
            </a:r>
          </a:p>
          <a:p>
            <a:pPr eaLnBrk="1" hangingPunct="1"/>
            <a:r>
              <a:rPr lang="en-US" altLang="zh-CN" sz="1400" b="1" dirty="0"/>
              <a:t>            }</a:t>
            </a:r>
          </a:p>
          <a:p>
            <a:pPr eaLnBrk="1" hangingPunct="1"/>
            <a:r>
              <a:rPr lang="en-US" altLang="zh-CN" sz="1400" b="1" dirty="0"/>
              <a:t>            </a:t>
            </a:r>
            <a:r>
              <a:rPr lang="en-US" altLang="zh-CN" sz="1400" b="1" dirty="0">
                <a:solidFill>
                  <a:srgbClr val="0000FF"/>
                </a:solidFill>
              </a:rPr>
              <a:t>catch</a:t>
            </a:r>
            <a:r>
              <a:rPr lang="en-US" altLang="zh-CN" sz="1400" b="1" dirty="0"/>
              <a:t> (</a:t>
            </a:r>
            <a:r>
              <a:rPr lang="en-US" altLang="zh-CN" sz="1400" b="1" dirty="0" err="1"/>
              <a:t>InputMismatchException</a:t>
            </a:r>
            <a:r>
              <a:rPr lang="en-US" altLang="zh-CN" sz="1400" b="1" dirty="0"/>
              <a:t> ex)</a:t>
            </a:r>
          </a:p>
          <a:p>
            <a:pPr eaLnBrk="1" hangingPunct="1"/>
            <a:r>
              <a:rPr lang="en-US" altLang="zh-CN" sz="1400" b="1" dirty="0"/>
              <a:t>            {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System.out.println</a:t>
            </a:r>
            <a:r>
              <a:rPr lang="en-US" altLang="zh-CN" sz="1400" b="1" dirty="0"/>
              <a:t>("</a:t>
            </a:r>
            <a:r>
              <a:rPr lang="en-US" altLang="zh-CN" sz="1400" b="1" dirty="0" err="1"/>
              <a:t>Incorect</a:t>
            </a:r>
            <a:r>
              <a:rPr lang="en-US" altLang="zh-CN" sz="1400" b="1" dirty="0"/>
              <a:t> input, please try again.");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scanner.nextLine</a:t>
            </a:r>
            <a:r>
              <a:rPr lang="en-US" altLang="zh-CN" sz="1400" b="1" dirty="0"/>
              <a:t>();  </a:t>
            </a:r>
            <a:r>
              <a:rPr lang="en-US" altLang="zh-CN" sz="1400" b="1" dirty="0">
                <a:solidFill>
                  <a:srgbClr val="006600"/>
                </a:solidFill>
              </a:rPr>
              <a:t>// </a:t>
            </a:r>
            <a:r>
              <a:rPr lang="zh-CN" altLang="en-US" sz="1400" b="1" dirty="0">
                <a:solidFill>
                  <a:srgbClr val="006600"/>
                </a:solidFill>
              </a:rPr>
              <a:t>重新开始接受输入</a:t>
            </a:r>
          </a:p>
          <a:p>
            <a:pPr eaLnBrk="1" hangingPunct="1"/>
            <a:r>
              <a:rPr lang="zh-CN" altLang="en-US" sz="1400" b="1" dirty="0"/>
              <a:t>            </a:t>
            </a:r>
            <a:r>
              <a:rPr lang="en-US" altLang="zh-CN" sz="1400" b="1" dirty="0"/>
              <a:t>}</a:t>
            </a:r>
          </a:p>
          <a:p>
            <a:pPr eaLnBrk="1" hangingPunct="1"/>
            <a:r>
              <a:rPr lang="en-US" altLang="zh-CN" sz="1400" b="1" dirty="0"/>
              <a:t>        }</a:t>
            </a:r>
          </a:p>
          <a:p>
            <a:pPr eaLnBrk="1" hangingPunct="1"/>
            <a:r>
              <a:rPr lang="en-US" altLang="zh-CN" sz="1400" b="1" dirty="0"/>
              <a:t>    }</a:t>
            </a:r>
          </a:p>
          <a:p>
            <a:pPr eaLnBrk="1" hangingPunct="1"/>
            <a:r>
              <a:rPr lang="en-US" altLang="zh-CN" sz="1400" b="1" dirty="0"/>
              <a:t>}</a:t>
            </a:r>
          </a:p>
          <a:p>
            <a:pPr eaLnBrk="1" hangingPunct="1"/>
            <a:endParaRPr lang="en-US" altLang="zh-CN" sz="1200" b="1" dirty="0"/>
          </a:p>
        </p:txBody>
      </p:sp>
      <p:sp>
        <p:nvSpPr>
          <p:cNvPr id="25604" name="矩形 4"/>
          <p:cNvSpPr>
            <a:spLocks noChangeArrowheads="1"/>
          </p:cNvSpPr>
          <p:nvPr/>
        </p:nvSpPr>
        <p:spPr bwMode="auto">
          <a:xfrm>
            <a:off x="915583" y="2528207"/>
            <a:ext cx="4435475" cy="225425"/>
          </a:xfrm>
          <a:prstGeom prst="rect">
            <a:avLst/>
          </a:prstGeom>
          <a:solidFill>
            <a:srgbClr val="FF0000">
              <a:alpha val="2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200">
              <a:solidFill>
                <a:srgbClr val="FFFFFF"/>
              </a:solidFill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7778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跟踪程序执行</a:t>
            </a: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462597" y="974601"/>
            <a:ext cx="7426722" cy="5883399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400" b="1" dirty="0">
                <a:solidFill>
                  <a:srgbClr val="0000FF"/>
                </a:solidFill>
              </a:rPr>
              <a:t>import</a:t>
            </a:r>
            <a:r>
              <a:rPr lang="en-US" altLang="zh-CN" sz="1400" b="1" dirty="0"/>
              <a:t> </a:t>
            </a:r>
            <a:r>
              <a:rPr lang="en-US" altLang="zh-CN" sz="1400" b="1" dirty="0" err="1"/>
              <a:t>java.util.InputMismatchException</a:t>
            </a:r>
            <a:r>
              <a:rPr lang="en-US" altLang="zh-CN" sz="1400" b="1" dirty="0"/>
              <a:t>;</a:t>
            </a:r>
          </a:p>
          <a:p>
            <a:pPr eaLnBrk="1" hangingPunct="1"/>
            <a:r>
              <a:rPr lang="en-US" altLang="zh-CN" sz="1400" b="1" dirty="0">
                <a:solidFill>
                  <a:srgbClr val="0000FF"/>
                </a:solidFill>
              </a:rPr>
              <a:t>import</a:t>
            </a:r>
            <a:r>
              <a:rPr lang="en-US" altLang="zh-CN" sz="1400" b="1" dirty="0"/>
              <a:t> </a:t>
            </a:r>
            <a:r>
              <a:rPr lang="en-US" altLang="zh-CN" sz="1400" b="1" dirty="0" err="1"/>
              <a:t>java.util.Scanner</a:t>
            </a:r>
            <a:r>
              <a:rPr lang="en-US" altLang="zh-CN" sz="1400" b="1" dirty="0"/>
              <a:t>;</a:t>
            </a:r>
          </a:p>
          <a:p>
            <a:pPr eaLnBrk="1" hangingPunct="1"/>
            <a:endParaRPr lang="en-US" altLang="zh-CN" sz="1400" b="1" dirty="0"/>
          </a:p>
          <a:p>
            <a:pPr eaLnBrk="1" hangingPunct="1"/>
            <a:r>
              <a:rPr lang="en-US" altLang="zh-CN" sz="1400" b="1" dirty="0">
                <a:solidFill>
                  <a:srgbClr val="0000FF"/>
                </a:solidFill>
              </a:rPr>
              <a:t>public class </a:t>
            </a:r>
            <a:r>
              <a:rPr lang="en-US" altLang="zh-CN" sz="1400" b="1" dirty="0"/>
              <a:t>RuntimeExceptionDemo2 </a:t>
            </a:r>
          </a:p>
          <a:p>
            <a:pPr eaLnBrk="1" hangingPunct="1"/>
            <a:r>
              <a:rPr lang="en-US" altLang="zh-CN" sz="1400" b="1" dirty="0"/>
              <a:t>{</a:t>
            </a:r>
          </a:p>
          <a:p>
            <a:pPr eaLnBrk="1" hangingPunct="1"/>
            <a:r>
              <a:rPr lang="en-US" altLang="zh-CN" sz="1400" b="1" dirty="0"/>
              <a:t>    </a:t>
            </a:r>
            <a:r>
              <a:rPr lang="en-US" altLang="zh-CN" sz="1400" b="1" dirty="0">
                <a:solidFill>
                  <a:srgbClr val="0000FF"/>
                </a:solidFill>
              </a:rPr>
              <a:t>public static void </a:t>
            </a:r>
            <a:r>
              <a:rPr lang="en-US" altLang="zh-CN" sz="1400" b="1" dirty="0"/>
              <a:t>main(String[] </a:t>
            </a:r>
            <a:r>
              <a:rPr lang="en-US" altLang="zh-CN" sz="1400" b="1" dirty="0" err="1"/>
              <a:t>args</a:t>
            </a:r>
            <a:r>
              <a:rPr lang="en-US" altLang="zh-CN" sz="1400" b="1" dirty="0"/>
              <a:t>) </a:t>
            </a:r>
          </a:p>
          <a:p>
            <a:pPr eaLnBrk="1" hangingPunct="1"/>
            <a:r>
              <a:rPr lang="en-US" altLang="zh-CN" sz="1400" b="1" dirty="0"/>
              <a:t>    {</a:t>
            </a:r>
          </a:p>
          <a:p>
            <a:pPr eaLnBrk="1" hangingPunct="1"/>
            <a:r>
              <a:rPr lang="en-US" altLang="zh-CN" sz="1400" b="1" dirty="0"/>
              <a:t>        Scanner </a:t>
            </a:r>
            <a:r>
              <a:rPr lang="en-US" altLang="zh-CN" sz="1400" b="1" dirty="0" err="1"/>
              <a:t>scanner</a:t>
            </a:r>
            <a:r>
              <a:rPr lang="en-US" altLang="zh-CN" sz="1400" b="1" dirty="0"/>
              <a:t> = </a:t>
            </a:r>
            <a:r>
              <a:rPr lang="en-US" altLang="zh-CN" sz="1400" b="1" dirty="0">
                <a:solidFill>
                  <a:srgbClr val="0000FF"/>
                </a:solidFill>
              </a:rPr>
              <a:t>new</a:t>
            </a:r>
            <a:r>
              <a:rPr lang="en-US" altLang="zh-CN" sz="1400" b="1" dirty="0"/>
              <a:t> Scanner(System.in);</a:t>
            </a:r>
          </a:p>
          <a:p>
            <a:pPr eaLnBrk="1" hangingPunct="1"/>
            <a:r>
              <a:rPr lang="en-US" altLang="zh-CN" sz="1400" b="1" dirty="0"/>
              <a:t>        </a:t>
            </a:r>
            <a:r>
              <a:rPr lang="en-US" altLang="zh-CN" sz="1400" b="1" dirty="0" err="1">
                <a:solidFill>
                  <a:srgbClr val="0000FF"/>
                </a:solidFill>
              </a:rPr>
              <a:t>boolean</a:t>
            </a:r>
            <a:r>
              <a:rPr lang="en-US" altLang="zh-CN" sz="1400" b="1" dirty="0"/>
              <a:t> </a:t>
            </a:r>
            <a:r>
              <a:rPr lang="en-US" altLang="zh-CN" sz="1400" b="1" dirty="0" err="1"/>
              <a:t>inputIsValid</a:t>
            </a:r>
            <a:r>
              <a:rPr lang="en-US" altLang="zh-CN" sz="1400" b="1" dirty="0"/>
              <a:t> = false; </a:t>
            </a:r>
          </a:p>
          <a:p>
            <a:pPr eaLnBrk="1" hangingPunct="1"/>
            <a:r>
              <a:rPr lang="en-US" altLang="zh-CN" sz="1400" b="1" dirty="0"/>
              <a:t>        </a:t>
            </a:r>
          </a:p>
          <a:p>
            <a:pPr eaLnBrk="1" hangingPunct="1"/>
            <a:r>
              <a:rPr lang="en-US" altLang="zh-CN" sz="1400" b="1" dirty="0"/>
              <a:t>        </a:t>
            </a:r>
            <a:r>
              <a:rPr lang="en-US" altLang="zh-CN" sz="1400" b="1" dirty="0">
                <a:solidFill>
                  <a:srgbClr val="0000FF"/>
                </a:solidFill>
              </a:rPr>
              <a:t>while</a:t>
            </a:r>
            <a:r>
              <a:rPr lang="en-US" altLang="zh-CN" sz="1400" b="1" dirty="0"/>
              <a:t> (!</a:t>
            </a:r>
            <a:r>
              <a:rPr lang="en-US" altLang="zh-CN" sz="1400" b="1" dirty="0" err="1"/>
              <a:t>inputIsValid</a:t>
            </a:r>
            <a:r>
              <a:rPr lang="en-US" altLang="zh-CN" sz="1400" b="1" dirty="0"/>
              <a:t>)</a:t>
            </a:r>
          </a:p>
          <a:p>
            <a:pPr eaLnBrk="1" hangingPunct="1"/>
            <a:r>
              <a:rPr lang="en-US" altLang="zh-CN" sz="1400" b="1" dirty="0"/>
              <a:t>        {</a:t>
            </a:r>
          </a:p>
          <a:p>
            <a:pPr eaLnBrk="1" hangingPunct="1"/>
            <a:r>
              <a:rPr lang="en-US" altLang="zh-CN" sz="1400" b="1" dirty="0"/>
              <a:t>            </a:t>
            </a:r>
            <a:r>
              <a:rPr lang="en-US" altLang="zh-CN" sz="1400" b="1" dirty="0">
                <a:solidFill>
                  <a:srgbClr val="0000FF"/>
                </a:solidFill>
              </a:rPr>
              <a:t>try</a:t>
            </a:r>
          </a:p>
          <a:p>
            <a:pPr eaLnBrk="1" hangingPunct="1"/>
            <a:r>
              <a:rPr lang="en-US" altLang="zh-CN" sz="1400" b="1" dirty="0"/>
              <a:t>            {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System.out.println</a:t>
            </a:r>
            <a:r>
              <a:rPr lang="en-US" altLang="zh-CN" sz="1400" b="1" dirty="0"/>
              <a:t>("Please enter a integer:");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int</a:t>
            </a:r>
            <a:r>
              <a:rPr lang="en-US" altLang="zh-CN" sz="1400" b="1" dirty="0"/>
              <a:t> number = </a:t>
            </a:r>
            <a:r>
              <a:rPr lang="en-US" altLang="zh-CN" sz="1400" b="1" dirty="0" err="1"/>
              <a:t>scanner.nextInt</a:t>
            </a:r>
            <a:r>
              <a:rPr lang="en-US" altLang="zh-CN" sz="1400" b="1" dirty="0"/>
              <a:t>();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System.out.println</a:t>
            </a:r>
            <a:r>
              <a:rPr lang="en-US" altLang="zh-CN" sz="1400" b="1" dirty="0"/>
              <a:t>("Your input is: " + number);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inputIsValid</a:t>
            </a:r>
            <a:r>
              <a:rPr lang="en-US" altLang="zh-CN" sz="1400" b="1" dirty="0"/>
              <a:t> = true;</a:t>
            </a:r>
          </a:p>
          <a:p>
            <a:pPr eaLnBrk="1" hangingPunct="1"/>
            <a:r>
              <a:rPr lang="en-US" altLang="zh-CN" sz="1400" b="1" dirty="0"/>
              <a:t>            }</a:t>
            </a:r>
          </a:p>
          <a:p>
            <a:pPr eaLnBrk="1" hangingPunct="1"/>
            <a:r>
              <a:rPr lang="en-US" altLang="zh-CN" sz="1400" b="1" dirty="0"/>
              <a:t>            </a:t>
            </a:r>
            <a:r>
              <a:rPr lang="en-US" altLang="zh-CN" sz="1400" b="1" dirty="0">
                <a:solidFill>
                  <a:srgbClr val="0000FF"/>
                </a:solidFill>
              </a:rPr>
              <a:t>catch</a:t>
            </a:r>
            <a:r>
              <a:rPr lang="en-US" altLang="zh-CN" sz="1400" b="1" dirty="0"/>
              <a:t> (</a:t>
            </a:r>
            <a:r>
              <a:rPr lang="en-US" altLang="zh-CN" sz="1400" b="1" dirty="0" err="1"/>
              <a:t>InputMismatchException</a:t>
            </a:r>
            <a:r>
              <a:rPr lang="en-US" altLang="zh-CN" sz="1400" b="1" dirty="0"/>
              <a:t> ex)</a:t>
            </a:r>
          </a:p>
          <a:p>
            <a:pPr eaLnBrk="1" hangingPunct="1"/>
            <a:r>
              <a:rPr lang="en-US" altLang="zh-CN" sz="1400" b="1" dirty="0"/>
              <a:t>            {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System.out.println</a:t>
            </a:r>
            <a:r>
              <a:rPr lang="en-US" altLang="zh-CN" sz="1400" b="1" dirty="0"/>
              <a:t>("</a:t>
            </a:r>
            <a:r>
              <a:rPr lang="en-US" altLang="zh-CN" sz="1400" b="1" dirty="0" err="1"/>
              <a:t>Incorect</a:t>
            </a:r>
            <a:r>
              <a:rPr lang="en-US" altLang="zh-CN" sz="1400" b="1" dirty="0"/>
              <a:t> input, please try again.");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scanner.nextLine</a:t>
            </a:r>
            <a:r>
              <a:rPr lang="en-US" altLang="zh-CN" sz="1400" b="1" dirty="0"/>
              <a:t>();  </a:t>
            </a:r>
            <a:r>
              <a:rPr lang="en-US" altLang="zh-CN" sz="1400" b="1" dirty="0">
                <a:solidFill>
                  <a:srgbClr val="006600"/>
                </a:solidFill>
              </a:rPr>
              <a:t>// </a:t>
            </a:r>
            <a:r>
              <a:rPr lang="zh-CN" altLang="en-US" sz="1400" b="1" dirty="0">
                <a:solidFill>
                  <a:srgbClr val="006600"/>
                </a:solidFill>
              </a:rPr>
              <a:t>重新开始接受输入</a:t>
            </a:r>
          </a:p>
          <a:p>
            <a:pPr eaLnBrk="1" hangingPunct="1"/>
            <a:r>
              <a:rPr lang="zh-CN" altLang="en-US" sz="1400" b="1" dirty="0"/>
              <a:t>            </a:t>
            </a:r>
            <a:r>
              <a:rPr lang="en-US" altLang="zh-CN" sz="1400" b="1" dirty="0"/>
              <a:t>}</a:t>
            </a:r>
          </a:p>
          <a:p>
            <a:pPr eaLnBrk="1" hangingPunct="1"/>
            <a:r>
              <a:rPr lang="en-US" altLang="zh-CN" sz="1400" b="1" dirty="0"/>
              <a:t>        }</a:t>
            </a:r>
          </a:p>
          <a:p>
            <a:pPr eaLnBrk="1" hangingPunct="1"/>
            <a:r>
              <a:rPr lang="en-US" altLang="zh-CN" sz="1400" b="1" dirty="0"/>
              <a:t>    }</a:t>
            </a:r>
          </a:p>
          <a:p>
            <a:pPr eaLnBrk="1" hangingPunct="1"/>
            <a:r>
              <a:rPr lang="en-US" altLang="zh-CN" sz="1400" b="1" dirty="0"/>
              <a:t>}</a:t>
            </a:r>
          </a:p>
          <a:p>
            <a:pPr eaLnBrk="1" hangingPunct="1"/>
            <a:endParaRPr lang="en-US" altLang="zh-CN" sz="1200" b="1" dirty="0"/>
          </a:p>
        </p:txBody>
      </p:sp>
      <p:sp>
        <p:nvSpPr>
          <p:cNvPr id="25604" name="矩形 4"/>
          <p:cNvSpPr>
            <a:spLocks noChangeArrowheads="1"/>
          </p:cNvSpPr>
          <p:nvPr/>
        </p:nvSpPr>
        <p:spPr bwMode="auto">
          <a:xfrm>
            <a:off x="915583" y="2744231"/>
            <a:ext cx="4435475" cy="225425"/>
          </a:xfrm>
          <a:prstGeom prst="rect">
            <a:avLst/>
          </a:prstGeom>
          <a:solidFill>
            <a:srgbClr val="FF0000">
              <a:alpha val="2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200">
              <a:solidFill>
                <a:srgbClr val="FFFFFF"/>
              </a:solidFill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68771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跟踪程序执行</a:t>
            </a: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462597" y="974601"/>
            <a:ext cx="7426722" cy="5883399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400" b="1" dirty="0">
                <a:solidFill>
                  <a:srgbClr val="0000FF"/>
                </a:solidFill>
              </a:rPr>
              <a:t>import</a:t>
            </a:r>
            <a:r>
              <a:rPr lang="en-US" altLang="zh-CN" sz="1400" b="1" dirty="0"/>
              <a:t> </a:t>
            </a:r>
            <a:r>
              <a:rPr lang="en-US" altLang="zh-CN" sz="1400" b="1" dirty="0" err="1"/>
              <a:t>java.util.InputMismatchException</a:t>
            </a:r>
            <a:r>
              <a:rPr lang="en-US" altLang="zh-CN" sz="1400" b="1" dirty="0"/>
              <a:t>;</a:t>
            </a:r>
          </a:p>
          <a:p>
            <a:pPr eaLnBrk="1" hangingPunct="1"/>
            <a:r>
              <a:rPr lang="en-US" altLang="zh-CN" sz="1400" b="1" dirty="0">
                <a:solidFill>
                  <a:srgbClr val="0000FF"/>
                </a:solidFill>
              </a:rPr>
              <a:t>import</a:t>
            </a:r>
            <a:r>
              <a:rPr lang="en-US" altLang="zh-CN" sz="1400" b="1" dirty="0"/>
              <a:t> </a:t>
            </a:r>
            <a:r>
              <a:rPr lang="en-US" altLang="zh-CN" sz="1400" b="1" dirty="0" err="1"/>
              <a:t>java.util.Scanner</a:t>
            </a:r>
            <a:r>
              <a:rPr lang="en-US" altLang="zh-CN" sz="1400" b="1" dirty="0"/>
              <a:t>;</a:t>
            </a:r>
          </a:p>
          <a:p>
            <a:pPr eaLnBrk="1" hangingPunct="1"/>
            <a:endParaRPr lang="en-US" altLang="zh-CN" sz="1400" b="1" dirty="0"/>
          </a:p>
          <a:p>
            <a:pPr eaLnBrk="1" hangingPunct="1"/>
            <a:r>
              <a:rPr lang="en-US" altLang="zh-CN" sz="1400" b="1" dirty="0">
                <a:solidFill>
                  <a:srgbClr val="0000FF"/>
                </a:solidFill>
              </a:rPr>
              <a:t>public class </a:t>
            </a:r>
            <a:r>
              <a:rPr lang="en-US" altLang="zh-CN" sz="1400" b="1" dirty="0"/>
              <a:t>RuntimeExceptionDemo2 </a:t>
            </a:r>
          </a:p>
          <a:p>
            <a:pPr eaLnBrk="1" hangingPunct="1"/>
            <a:r>
              <a:rPr lang="en-US" altLang="zh-CN" sz="1400" b="1" dirty="0"/>
              <a:t>{</a:t>
            </a:r>
          </a:p>
          <a:p>
            <a:pPr eaLnBrk="1" hangingPunct="1"/>
            <a:r>
              <a:rPr lang="en-US" altLang="zh-CN" sz="1400" b="1" dirty="0"/>
              <a:t>    </a:t>
            </a:r>
            <a:r>
              <a:rPr lang="en-US" altLang="zh-CN" sz="1400" b="1" dirty="0">
                <a:solidFill>
                  <a:srgbClr val="0000FF"/>
                </a:solidFill>
              </a:rPr>
              <a:t>public static void </a:t>
            </a:r>
            <a:r>
              <a:rPr lang="en-US" altLang="zh-CN" sz="1400" b="1" dirty="0"/>
              <a:t>main(String[] </a:t>
            </a:r>
            <a:r>
              <a:rPr lang="en-US" altLang="zh-CN" sz="1400" b="1" dirty="0" err="1"/>
              <a:t>args</a:t>
            </a:r>
            <a:r>
              <a:rPr lang="en-US" altLang="zh-CN" sz="1400" b="1" dirty="0"/>
              <a:t>) </a:t>
            </a:r>
          </a:p>
          <a:p>
            <a:pPr eaLnBrk="1" hangingPunct="1"/>
            <a:r>
              <a:rPr lang="en-US" altLang="zh-CN" sz="1400" b="1" dirty="0"/>
              <a:t>    {</a:t>
            </a:r>
          </a:p>
          <a:p>
            <a:pPr eaLnBrk="1" hangingPunct="1"/>
            <a:r>
              <a:rPr lang="en-US" altLang="zh-CN" sz="1400" b="1" dirty="0"/>
              <a:t>        Scanner </a:t>
            </a:r>
            <a:r>
              <a:rPr lang="en-US" altLang="zh-CN" sz="1400" b="1" dirty="0" err="1"/>
              <a:t>scanner</a:t>
            </a:r>
            <a:r>
              <a:rPr lang="en-US" altLang="zh-CN" sz="1400" b="1" dirty="0"/>
              <a:t> = </a:t>
            </a:r>
            <a:r>
              <a:rPr lang="en-US" altLang="zh-CN" sz="1400" b="1" dirty="0">
                <a:solidFill>
                  <a:srgbClr val="0000FF"/>
                </a:solidFill>
              </a:rPr>
              <a:t>new</a:t>
            </a:r>
            <a:r>
              <a:rPr lang="en-US" altLang="zh-CN" sz="1400" b="1" dirty="0"/>
              <a:t> Scanner(System.in);</a:t>
            </a:r>
          </a:p>
          <a:p>
            <a:pPr eaLnBrk="1" hangingPunct="1"/>
            <a:r>
              <a:rPr lang="en-US" altLang="zh-CN" sz="1400" b="1" dirty="0"/>
              <a:t>        </a:t>
            </a:r>
            <a:r>
              <a:rPr lang="en-US" altLang="zh-CN" sz="1400" b="1" dirty="0" err="1">
                <a:solidFill>
                  <a:srgbClr val="0000FF"/>
                </a:solidFill>
              </a:rPr>
              <a:t>boolean</a:t>
            </a:r>
            <a:r>
              <a:rPr lang="en-US" altLang="zh-CN" sz="1400" b="1" dirty="0"/>
              <a:t> </a:t>
            </a:r>
            <a:r>
              <a:rPr lang="en-US" altLang="zh-CN" sz="1400" b="1" dirty="0" err="1"/>
              <a:t>inputIsValid</a:t>
            </a:r>
            <a:r>
              <a:rPr lang="en-US" altLang="zh-CN" sz="1400" b="1" dirty="0"/>
              <a:t> = false; </a:t>
            </a:r>
          </a:p>
          <a:p>
            <a:pPr eaLnBrk="1" hangingPunct="1"/>
            <a:r>
              <a:rPr lang="en-US" altLang="zh-CN" sz="1400" b="1" dirty="0"/>
              <a:t>        </a:t>
            </a:r>
          </a:p>
          <a:p>
            <a:pPr eaLnBrk="1" hangingPunct="1"/>
            <a:r>
              <a:rPr lang="en-US" altLang="zh-CN" sz="1400" b="1" dirty="0"/>
              <a:t>        </a:t>
            </a:r>
            <a:r>
              <a:rPr lang="en-US" altLang="zh-CN" sz="1400" b="1" dirty="0">
                <a:solidFill>
                  <a:srgbClr val="0000FF"/>
                </a:solidFill>
              </a:rPr>
              <a:t>while</a:t>
            </a:r>
            <a:r>
              <a:rPr lang="en-US" altLang="zh-CN" sz="1400" b="1" dirty="0"/>
              <a:t> (!</a:t>
            </a:r>
            <a:r>
              <a:rPr lang="en-US" altLang="zh-CN" sz="1400" b="1" dirty="0" err="1"/>
              <a:t>inputIsValid</a:t>
            </a:r>
            <a:r>
              <a:rPr lang="en-US" altLang="zh-CN" sz="1400" b="1" dirty="0"/>
              <a:t>)</a:t>
            </a:r>
          </a:p>
          <a:p>
            <a:pPr eaLnBrk="1" hangingPunct="1"/>
            <a:r>
              <a:rPr lang="en-US" altLang="zh-CN" sz="1400" b="1" dirty="0"/>
              <a:t>        {</a:t>
            </a:r>
          </a:p>
          <a:p>
            <a:pPr eaLnBrk="1" hangingPunct="1"/>
            <a:r>
              <a:rPr lang="en-US" altLang="zh-CN" sz="1400" b="1" dirty="0"/>
              <a:t>            </a:t>
            </a:r>
            <a:r>
              <a:rPr lang="en-US" altLang="zh-CN" sz="1400" b="1" dirty="0">
                <a:solidFill>
                  <a:srgbClr val="0000FF"/>
                </a:solidFill>
              </a:rPr>
              <a:t>try</a:t>
            </a:r>
          </a:p>
          <a:p>
            <a:pPr eaLnBrk="1" hangingPunct="1"/>
            <a:r>
              <a:rPr lang="en-US" altLang="zh-CN" sz="1400" b="1" dirty="0"/>
              <a:t>            {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System.out.println</a:t>
            </a:r>
            <a:r>
              <a:rPr lang="en-US" altLang="zh-CN" sz="1400" b="1" dirty="0"/>
              <a:t>("Please enter a integer:");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int</a:t>
            </a:r>
            <a:r>
              <a:rPr lang="en-US" altLang="zh-CN" sz="1400" b="1" dirty="0"/>
              <a:t> number = </a:t>
            </a:r>
            <a:r>
              <a:rPr lang="en-US" altLang="zh-CN" sz="1400" b="1" dirty="0" err="1"/>
              <a:t>scanner.nextInt</a:t>
            </a:r>
            <a:r>
              <a:rPr lang="en-US" altLang="zh-CN" sz="1400" b="1" dirty="0"/>
              <a:t>();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System.out.println</a:t>
            </a:r>
            <a:r>
              <a:rPr lang="en-US" altLang="zh-CN" sz="1400" b="1" dirty="0"/>
              <a:t>("Your input is: " + number);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inputIsValid</a:t>
            </a:r>
            <a:r>
              <a:rPr lang="en-US" altLang="zh-CN" sz="1400" b="1" dirty="0"/>
              <a:t> = true;</a:t>
            </a:r>
          </a:p>
          <a:p>
            <a:pPr eaLnBrk="1" hangingPunct="1"/>
            <a:r>
              <a:rPr lang="en-US" altLang="zh-CN" sz="1400" b="1" dirty="0"/>
              <a:t>            }</a:t>
            </a:r>
          </a:p>
          <a:p>
            <a:pPr eaLnBrk="1" hangingPunct="1"/>
            <a:r>
              <a:rPr lang="en-US" altLang="zh-CN" sz="1400" b="1" dirty="0"/>
              <a:t>            </a:t>
            </a:r>
            <a:r>
              <a:rPr lang="en-US" altLang="zh-CN" sz="1400" b="1" dirty="0">
                <a:solidFill>
                  <a:srgbClr val="0000FF"/>
                </a:solidFill>
              </a:rPr>
              <a:t>catch</a:t>
            </a:r>
            <a:r>
              <a:rPr lang="en-US" altLang="zh-CN" sz="1400" b="1" dirty="0"/>
              <a:t> (</a:t>
            </a:r>
            <a:r>
              <a:rPr lang="en-US" altLang="zh-CN" sz="1400" b="1" dirty="0" err="1"/>
              <a:t>InputMismatchException</a:t>
            </a:r>
            <a:r>
              <a:rPr lang="en-US" altLang="zh-CN" sz="1400" b="1" dirty="0"/>
              <a:t> ex)</a:t>
            </a:r>
          </a:p>
          <a:p>
            <a:pPr eaLnBrk="1" hangingPunct="1"/>
            <a:r>
              <a:rPr lang="en-US" altLang="zh-CN" sz="1400" b="1" dirty="0"/>
              <a:t>            {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System.out.println</a:t>
            </a:r>
            <a:r>
              <a:rPr lang="en-US" altLang="zh-CN" sz="1400" b="1" dirty="0"/>
              <a:t>("</a:t>
            </a:r>
            <a:r>
              <a:rPr lang="en-US" altLang="zh-CN" sz="1400" b="1" dirty="0" err="1"/>
              <a:t>Incorect</a:t>
            </a:r>
            <a:r>
              <a:rPr lang="en-US" altLang="zh-CN" sz="1400" b="1" dirty="0"/>
              <a:t> input, please try again.");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scanner.nextLine</a:t>
            </a:r>
            <a:r>
              <a:rPr lang="en-US" altLang="zh-CN" sz="1400" b="1" dirty="0"/>
              <a:t>();  </a:t>
            </a:r>
            <a:r>
              <a:rPr lang="en-US" altLang="zh-CN" sz="1400" b="1" dirty="0">
                <a:solidFill>
                  <a:srgbClr val="006600"/>
                </a:solidFill>
              </a:rPr>
              <a:t>// </a:t>
            </a:r>
            <a:r>
              <a:rPr lang="zh-CN" altLang="en-US" sz="1400" b="1" dirty="0">
                <a:solidFill>
                  <a:srgbClr val="006600"/>
                </a:solidFill>
              </a:rPr>
              <a:t>重新开始接受输入</a:t>
            </a:r>
          </a:p>
          <a:p>
            <a:pPr eaLnBrk="1" hangingPunct="1"/>
            <a:r>
              <a:rPr lang="zh-CN" altLang="en-US" sz="1400" b="1" dirty="0"/>
              <a:t>            </a:t>
            </a:r>
            <a:r>
              <a:rPr lang="en-US" altLang="zh-CN" sz="1400" b="1" dirty="0"/>
              <a:t>}</a:t>
            </a:r>
          </a:p>
          <a:p>
            <a:pPr eaLnBrk="1" hangingPunct="1"/>
            <a:r>
              <a:rPr lang="en-US" altLang="zh-CN" sz="1400" b="1" dirty="0"/>
              <a:t>        }</a:t>
            </a:r>
          </a:p>
          <a:p>
            <a:pPr eaLnBrk="1" hangingPunct="1"/>
            <a:r>
              <a:rPr lang="en-US" altLang="zh-CN" sz="1400" b="1" dirty="0"/>
              <a:t>    }</a:t>
            </a:r>
          </a:p>
          <a:p>
            <a:pPr eaLnBrk="1" hangingPunct="1"/>
            <a:r>
              <a:rPr lang="en-US" altLang="zh-CN" sz="1400" b="1" dirty="0"/>
              <a:t>}</a:t>
            </a:r>
          </a:p>
          <a:p>
            <a:pPr eaLnBrk="1" hangingPunct="1"/>
            <a:endParaRPr lang="en-US" altLang="zh-CN" sz="1200" b="1" dirty="0"/>
          </a:p>
        </p:txBody>
      </p:sp>
      <p:sp>
        <p:nvSpPr>
          <p:cNvPr id="25604" name="矩形 4"/>
          <p:cNvSpPr>
            <a:spLocks noChangeArrowheads="1"/>
          </p:cNvSpPr>
          <p:nvPr/>
        </p:nvSpPr>
        <p:spPr bwMode="auto">
          <a:xfrm>
            <a:off x="915583" y="3158863"/>
            <a:ext cx="4435475" cy="225425"/>
          </a:xfrm>
          <a:prstGeom prst="rect">
            <a:avLst/>
          </a:prstGeom>
          <a:solidFill>
            <a:srgbClr val="FF0000">
              <a:alpha val="2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200">
              <a:solidFill>
                <a:srgbClr val="FFFFFF"/>
              </a:solidFill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04315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跟踪程序执行</a:t>
            </a: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462597" y="974601"/>
            <a:ext cx="7426722" cy="5883399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400" b="1" dirty="0">
                <a:solidFill>
                  <a:srgbClr val="0000FF"/>
                </a:solidFill>
              </a:rPr>
              <a:t>import</a:t>
            </a:r>
            <a:r>
              <a:rPr lang="en-US" altLang="zh-CN" sz="1400" b="1" dirty="0"/>
              <a:t> </a:t>
            </a:r>
            <a:r>
              <a:rPr lang="en-US" altLang="zh-CN" sz="1400" b="1" dirty="0" err="1"/>
              <a:t>java.util.InputMismatchException</a:t>
            </a:r>
            <a:r>
              <a:rPr lang="en-US" altLang="zh-CN" sz="1400" b="1" dirty="0"/>
              <a:t>;</a:t>
            </a:r>
          </a:p>
          <a:p>
            <a:pPr eaLnBrk="1" hangingPunct="1"/>
            <a:r>
              <a:rPr lang="en-US" altLang="zh-CN" sz="1400" b="1" dirty="0">
                <a:solidFill>
                  <a:srgbClr val="0000FF"/>
                </a:solidFill>
              </a:rPr>
              <a:t>import</a:t>
            </a:r>
            <a:r>
              <a:rPr lang="en-US" altLang="zh-CN" sz="1400" b="1" dirty="0"/>
              <a:t> </a:t>
            </a:r>
            <a:r>
              <a:rPr lang="en-US" altLang="zh-CN" sz="1400" b="1" dirty="0" err="1"/>
              <a:t>java.util.Scanner</a:t>
            </a:r>
            <a:r>
              <a:rPr lang="en-US" altLang="zh-CN" sz="1400" b="1" dirty="0"/>
              <a:t>;</a:t>
            </a:r>
          </a:p>
          <a:p>
            <a:pPr eaLnBrk="1" hangingPunct="1"/>
            <a:endParaRPr lang="en-US" altLang="zh-CN" sz="1400" b="1" dirty="0"/>
          </a:p>
          <a:p>
            <a:pPr eaLnBrk="1" hangingPunct="1"/>
            <a:r>
              <a:rPr lang="en-US" altLang="zh-CN" sz="1400" b="1" dirty="0">
                <a:solidFill>
                  <a:srgbClr val="0000FF"/>
                </a:solidFill>
              </a:rPr>
              <a:t>public class </a:t>
            </a:r>
            <a:r>
              <a:rPr lang="en-US" altLang="zh-CN" sz="1400" b="1" dirty="0"/>
              <a:t>RuntimeExceptionDemo2 </a:t>
            </a:r>
          </a:p>
          <a:p>
            <a:pPr eaLnBrk="1" hangingPunct="1"/>
            <a:r>
              <a:rPr lang="en-US" altLang="zh-CN" sz="1400" b="1" dirty="0"/>
              <a:t>{</a:t>
            </a:r>
          </a:p>
          <a:p>
            <a:pPr eaLnBrk="1" hangingPunct="1"/>
            <a:r>
              <a:rPr lang="en-US" altLang="zh-CN" sz="1400" b="1" dirty="0"/>
              <a:t>    </a:t>
            </a:r>
            <a:r>
              <a:rPr lang="en-US" altLang="zh-CN" sz="1400" b="1" dirty="0">
                <a:solidFill>
                  <a:srgbClr val="0000FF"/>
                </a:solidFill>
              </a:rPr>
              <a:t>public static void </a:t>
            </a:r>
            <a:r>
              <a:rPr lang="en-US" altLang="zh-CN" sz="1400" b="1" dirty="0"/>
              <a:t>main(String[] </a:t>
            </a:r>
            <a:r>
              <a:rPr lang="en-US" altLang="zh-CN" sz="1400" b="1" dirty="0" err="1"/>
              <a:t>args</a:t>
            </a:r>
            <a:r>
              <a:rPr lang="en-US" altLang="zh-CN" sz="1400" b="1" dirty="0"/>
              <a:t>) </a:t>
            </a:r>
          </a:p>
          <a:p>
            <a:pPr eaLnBrk="1" hangingPunct="1"/>
            <a:r>
              <a:rPr lang="en-US" altLang="zh-CN" sz="1400" b="1" dirty="0"/>
              <a:t>    {</a:t>
            </a:r>
          </a:p>
          <a:p>
            <a:pPr eaLnBrk="1" hangingPunct="1"/>
            <a:r>
              <a:rPr lang="en-US" altLang="zh-CN" sz="1400" b="1" dirty="0"/>
              <a:t>        Scanner </a:t>
            </a:r>
            <a:r>
              <a:rPr lang="en-US" altLang="zh-CN" sz="1400" b="1" dirty="0" err="1"/>
              <a:t>scanner</a:t>
            </a:r>
            <a:r>
              <a:rPr lang="en-US" altLang="zh-CN" sz="1400" b="1" dirty="0"/>
              <a:t> = </a:t>
            </a:r>
            <a:r>
              <a:rPr lang="en-US" altLang="zh-CN" sz="1400" b="1" dirty="0">
                <a:solidFill>
                  <a:srgbClr val="0000FF"/>
                </a:solidFill>
              </a:rPr>
              <a:t>new</a:t>
            </a:r>
            <a:r>
              <a:rPr lang="en-US" altLang="zh-CN" sz="1400" b="1" dirty="0"/>
              <a:t> Scanner(System.in);</a:t>
            </a:r>
          </a:p>
          <a:p>
            <a:pPr eaLnBrk="1" hangingPunct="1"/>
            <a:r>
              <a:rPr lang="en-US" altLang="zh-CN" sz="1400" b="1" dirty="0"/>
              <a:t>        </a:t>
            </a:r>
            <a:r>
              <a:rPr lang="en-US" altLang="zh-CN" sz="1400" b="1" dirty="0" err="1">
                <a:solidFill>
                  <a:srgbClr val="0000FF"/>
                </a:solidFill>
              </a:rPr>
              <a:t>boolean</a:t>
            </a:r>
            <a:r>
              <a:rPr lang="en-US" altLang="zh-CN" sz="1400" b="1" dirty="0"/>
              <a:t> </a:t>
            </a:r>
            <a:r>
              <a:rPr lang="en-US" altLang="zh-CN" sz="1400" b="1" dirty="0" err="1"/>
              <a:t>inputIsValid</a:t>
            </a:r>
            <a:r>
              <a:rPr lang="en-US" altLang="zh-CN" sz="1400" b="1" dirty="0"/>
              <a:t> = false; </a:t>
            </a:r>
          </a:p>
          <a:p>
            <a:pPr eaLnBrk="1" hangingPunct="1"/>
            <a:r>
              <a:rPr lang="en-US" altLang="zh-CN" sz="1400" b="1" dirty="0"/>
              <a:t>        </a:t>
            </a:r>
          </a:p>
          <a:p>
            <a:pPr eaLnBrk="1" hangingPunct="1"/>
            <a:r>
              <a:rPr lang="en-US" altLang="zh-CN" sz="1400" b="1" dirty="0"/>
              <a:t>        </a:t>
            </a:r>
            <a:r>
              <a:rPr lang="en-US" altLang="zh-CN" sz="1400" b="1" dirty="0">
                <a:solidFill>
                  <a:srgbClr val="0000FF"/>
                </a:solidFill>
              </a:rPr>
              <a:t>while</a:t>
            </a:r>
            <a:r>
              <a:rPr lang="en-US" altLang="zh-CN" sz="1400" b="1" dirty="0"/>
              <a:t> (!</a:t>
            </a:r>
            <a:r>
              <a:rPr lang="en-US" altLang="zh-CN" sz="1400" b="1" dirty="0" err="1"/>
              <a:t>inputIsValid</a:t>
            </a:r>
            <a:r>
              <a:rPr lang="en-US" altLang="zh-CN" sz="1400" b="1" dirty="0"/>
              <a:t>)</a:t>
            </a:r>
          </a:p>
          <a:p>
            <a:pPr eaLnBrk="1" hangingPunct="1"/>
            <a:r>
              <a:rPr lang="en-US" altLang="zh-CN" sz="1400" b="1" dirty="0"/>
              <a:t>        {</a:t>
            </a:r>
          </a:p>
          <a:p>
            <a:pPr eaLnBrk="1" hangingPunct="1"/>
            <a:r>
              <a:rPr lang="en-US" altLang="zh-CN" sz="1400" b="1" dirty="0"/>
              <a:t>            </a:t>
            </a:r>
            <a:r>
              <a:rPr lang="en-US" altLang="zh-CN" sz="1400" b="1" dirty="0">
                <a:solidFill>
                  <a:srgbClr val="0000FF"/>
                </a:solidFill>
              </a:rPr>
              <a:t>try</a:t>
            </a:r>
          </a:p>
          <a:p>
            <a:pPr eaLnBrk="1" hangingPunct="1"/>
            <a:r>
              <a:rPr lang="en-US" altLang="zh-CN" sz="1400" b="1" dirty="0"/>
              <a:t>            {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System.out.println</a:t>
            </a:r>
            <a:r>
              <a:rPr lang="en-US" altLang="zh-CN" sz="1400" b="1" dirty="0"/>
              <a:t>("Please enter a integer:");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int</a:t>
            </a:r>
            <a:r>
              <a:rPr lang="en-US" altLang="zh-CN" sz="1400" b="1" dirty="0"/>
              <a:t> number = </a:t>
            </a:r>
            <a:r>
              <a:rPr lang="en-US" altLang="zh-CN" sz="1400" b="1" dirty="0" err="1"/>
              <a:t>scanner.nextInt</a:t>
            </a:r>
            <a:r>
              <a:rPr lang="en-US" altLang="zh-CN" sz="1400" b="1" dirty="0"/>
              <a:t>();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System.out.println</a:t>
            </a:r>
            <a:r>
              <a:rPr lang="en-US" altLang="zh-CN" sz="1400" b="1" dirty="0"/>
              <a:t>("Your input is: " + number);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inputIsValid</a:t>
            </a:r>
            <a:r>
              <a:rPr lang="en-US" altLang="zh-CN" sz="1400" b="1" dirty="0"/>
              <a:t> = true;</a:t>
            </a:r>
          </a:p>
          <a:p>
            <a:pPr eaLnBrk="1" hangingPunct="1"/>
            <a:r>
              <a:rPr lang="en-US" altLang="zh-CN" sz="1400" b="1" dirty="0"/>
              <a:t>            }</a:t>
            </a:r>
          </a:p>
          <a:p>
            <a:pPr eaLnBrk="1" hangingPunct="1"/>
            <a:r>
              <a:rPr lang="en-US" altLang="zh-CN" sz="1400" b="1" dirty="0"/>
              <a:t>            </a:t>
            </a:r>
            <a:r>
              <a:rPr lang="en-US" altLang="zh-CN" sz="1400" b="1" dirty="0">
                <a:solidFill>
                  <a:srgbClr val="0000FF"/>
                </a:solidFill>
              </a:rPr>
              <a:t>catch</a:t>
            </a:r>
            <a:r>
              <a:rPr lang="en-US" altLang="zh-CN" sz="1400" b="1" dirty="0"/>
              <a:t> (</a:t>
            </a:r>
            <a:r>
              <a:rPr lang="en-US" altLang="zh-CN" sz="1400" b="1" dirty="0" err="1"/>
              <a:t>InputMismatchException</a:t>
            </a:r>
            <a:r>
              <a:rPr lang="en-US" altLang="zh-CN" sz="1400" b="1" dirty="0"/>
              <a:t> ex)</a:t>
            </a:r>
          </a:p>
          <a:p>
            <a:pPr eaLnBrk="1" hangingPunct="1"/>
            <a:r>
              <a:rPr lang="en-US" altLang="zh-CN" sz="1400" b="1" dirty="0"/>
              <a:t>            {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System.out.println</a:t>
            </a:r>
            <a:r>
              <a:rPr lang="en-US" altLang="zh-CN" sz="1400" b="1" dirty="0"/>
              <a:t>("</a:t>
            </a:r>
            <a:r>
              <a:rPr lang="en-US" altLang="zh-CN" sz="1400" b="1" dirty="0" err="1"/>
              <a:t>Incorect</a:t>
            </a:r>
            <a:r>
              <a:rPr lang="en-US" altLang="zh-CN" sz="1400" b="1" dirty="0"/>
              <a:t> input, please try again.");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scanner.nextLine</a:t>
            </a:r>
            <a:r>
              <a:rPr lang="en-US" altLang="zh-CN" sz="1400" b="1" dirty="0"/>
              <a:t>();  </a:t>
            </a:r>
            <a:r>
              <a:rPr lang="en-US" altLang="zh-CN" sz="1400" b="1" dirty="0">
                <a:solidFill>
                  <a:srgbClr val="006600"/>
                </a:solidFill>
              </a:rPr>
              <a:t>// </a:t>
            </a:r>
            <a:r>
              <a:rPr lang="zh-CN" altLang="en-US" sz="1400" b="1" dirty="0">
                <a:solidFill>
                  <a:srgbClr val="006600"/>
                </a:solidFill>
              </a:rPr>
              <a:t>重新开始接受输入</a:t>
            </a:r>
          </a:p>
          <a:p>
            <a:pPr eaLnBrk="1" hangingPunct="1"/>
            <a:r>
              <a:rPr lang="zh-CN" altLang="en-US" sz="1400" b="1" dirty="0"/>
              <a:t>            </a:t>
            </a:r>
            <a:r>
              <a:rPr lang="en-US" altLang="zh-CN" sz="1400" b="1" dirty="0"/>
              <a:t>}</a:t>
            </a:r>
          </a:p>
          <a:p>
            <a:pPr eaLnBrk="1" hangingPunct="1"/>
            <a:r>
              <a:rPr lang="en-US" altLang="zh-CN" sz="1400" b="1" dirty="0"/>
              <a:t>        }</a:t>
            </a:r>
          </a:p>
          <a:p>
            <a:pPr eaLnBrk="1" hangingPunct="1"/>
            <a:r>
              <a:rPr lang="en-US" altLang="zh-CN" sz="1400" b="1" dirty="0"/>
              <a:t>    }</a:t>
            </a:r>
          </a:p>
          <a:p>
            <a:pPr eaLnBrk="1" hangingPunct="1"/>
            <a:r>
              <a:rPr lang="en-US" altLang="zh-CN" sz="1400" b="1" dirty="0"/>
              <a:t>}</a:t>
            </a:r>
          </a:p>
          <a:p>
            <a:pPr eaLnBrk="1" hangingPunct="1"/>
            <a:endParaRPr lang="en-US" altLang="zh-CN" sz="1200" b="1" dirty="0"/>
          </a:p>
        </p:txBody>
      </p:sp>
      <p:sp>
        <p:nvSpPr>
          <p:cNvPr id="25604" name="矩形 4"/>
          <p:cNvSpPr>
            <a:spLocks noChangeArrowheads="1"/>
          </p:cNvSpPr>
          <p:nvPr/>
        </p:nvSpPr>
        <p:spPr bwMode="auto">
          <a:xfrm>
            <a:off x="1297721" y="4013079"/>
            <a:ext cx="4435475" cy="225425"/>
          </a:xfrm>
          <a:prstGeom prst="rect">
            <a:avLst/>
          </a:prstGeom>
          <a:solidFill>
            <a:srgbClr val="FF0000">
              <a:alpha val="2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200">
              <a:solidFill>
                <a:srgbClr val="FFFFFF"/>
              </a:solidFill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66341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跟踪程序执行</a:t>
            </a: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462597" y="974601"/>
            <a:ext cx="7426722" cy="5883399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400" b="1" dirty="0">
                <a:solidFill>
                  <a:srgbClr val="0000FF"/>
                </a:solidFill>
              </a:rPr>
              <a:t>import</a:t>
            </a:r>
            <a:r>
              <a:rPr lang="en-US" altLang="zh-CN" sz="1400" b="1" dirty="0"/>
              <a:t> </a:t>
            </a:r>
            <a:r>
              <a:rPr lang="en-US" altLang="zh-CN" sz="1400" b="1" dirty="0" err="1"/>
              <a:t>java.util.InputMismatchException</a:t>
            </a:r>
            <a:r>
              <a:rPr lang="en-US" altLang="zh-CN" sz="1400" b="1" dirty="0"/>
              <a:t>;</a:t>
            </a:r>
          </a:p>
          <a:p>
            <a:pPr eaLnBrk="1" hangingPunct="1"/>
            <a:r>
              <a:rPr lang="en-US" altLang="zh-CN" sz="1400" b="1" dirty="0">
                <a:solidFill>
                  <a:srgbClr val="0000FF"/>
                </a:solidFill>
              </a:rPr>
              <a:t>import</a:t>
            </a:r>
            <a:r>
              <a:rPr lang="en-US" altLang="zh-CN" sz="1400" b="1" dirty="0"/>
              <a:t> </a:t>
            </a:r>
            <a:r>
              <a:rPr lang="en-US" altLang="zh-CN" sz="1400" b="1" dirty="0" err="1"/>
              <a:t>java.util.Scanner</a:t>
            </a:r>
            <a:r>
              <a:rPr lang="en-US" altLang="zh-CN" sz="1400" b="1" dirty="0"/>
              <a:t>;</a:t>
            </a:r>
          </a:p>
          <a:p>
            <a:pPr eaLnBrk="1" hangingPunct="1"/>
            <a:endParaRPr lang="en-US" altLang="zh-CN" sz="1400" b="1" dirty="0"/>
          </a:p>
          <a:p>
            <a:pPr eaLnBrk="1" hangingPunct="1"/>
            <a:r>
              <a:rPr lang="en-US" altLang="zh-CN" sz="1400" b="1" dirty="0">
                <a:solidFill>
                  <a:srgbClr val="0000FF"/>
                </a:solidFill>
              </a:rPr>
              <a:t>public class </a:t>
            </a:r>
            <a:r>
              <a:rPr lang="en-US" altLang="zh-CN" sz="1400" b="1" dirty="0"/>
              <a:t>RuntimeExceptionDemo2 </a:t>
            </a:r>
          </a:p>
          <a:p>
            <a:pPr eaLnBrk="1" hangingPunct="1"/>
            <a:r>
              <a:rPr lang="en-US" altLang="zh-CN" sz="1400" b="1" dirty="0"/>
              <a:t>{</a:t>
            </a:r>
          </a:p>
          <a:p>
            <a:pPr eaLnBrk="1" hangingPunct="1"/>
            <a:r>
              <a:rPr lang="en-US" altLang="zh-CN" sz="1400" b="1" dirty="0"/>
              <a:t>    </a:t>
            </a:r>
            <a:r>
              <a:rPr lang="en-US" altLang="zh-CN" sz="1400" b="1" dirty="0">
                <a:solidFill>
                  <a:srgbClr val="0000FF"/>
                </a:solidFill>
              </a:rPr>
              <a:t>public static void </a:t>
            </a:r>
            <a:r>
              <a:rPr lang="en-US" altLang="zh-CN" sz="1400" b="1" dirty="0"/>
              <a:t>main(String[] </a:t>
            </a:r>
            <a:r>
              <a:rPr lang="en-US" altLang="zh-CN" sz="1400" b="1" dirty="0" err="1"/>
              <a:t>args</a:t>
            </a:r>
            <a:r>
              <a:rPr lang="en-US" altLang="zh-CN" sz="1400" b="1" dirty="0"/>
              <a:t>) </a:t>
            </a:r>
          </a:p>
          <a:p>
            <a:pPr eaLnBrk="1" hangingPunct="1"/>
            <a:r>
              <a:rPr lang="en-US" altLang="zh-CN" sz="1400" b="1" dirty="0"/>
              <a:t>    {</a:t>
            </a:r>
          </a:p>
          <a:p>
            <a:pPr eaLnBrk="1" hangingPunct="1"/>
            <a:r>
              <a:rPr lang="en-US" altLang="zh-CN" sz="1400" b="1" dirty="0"/>
              <a:t>        Scanner </a:t>
            </a:r>
            <a:r>
              <a:rPr lang="en-US" altLang="zh-CN" sz="1400" b="1" dirty="0" err="1"/>
              <a:t>scanner</a:t>
            </a:r>
            <a:r>
              <a:rPr lang="en-US" altLang="zh-CN" sz="1400" b="1" dirty="0"/>
              <a:t> = </a:t>
            </a:r>
            <a:r>
              <a:rPr lang="en-US" altLang="zh-CN" sz="1400" b="1" dirty="0">
                <a:solidFill>
                  <a:srgbClr val="0000FF"/>
                </a:solidFill>
              </a:rPr>
              <a:t>new</a:t>
            </a:r>
            <a:r>
              <a:rPr lang="en-US" altLang="zh-CN" sz="1400" b="1" dirty="0"/>
              <a:t> Scanner(System.in);</a:t>
            </a:r>
          </a:p>
          <a:p>
            <a:pPr eaLnBrk="1" hangingPunct="1"/>
            <a:r>
              <a:rPr lang="en-US" altLang="zh-CN" sz="1400" b="1" dirty="0"/>
              <a:t>        </a:t>
            </a:r>
            <a:r>
              <a:rPr lang="en-US" altLang="zh-CN" sz="1400" b="1" dirty="0" err="1">
                <a:solidFill>
                  <a:srgbClr val="0000FF"/>
                </a:solidFill>
              </a:rPr>
              <a:t>boolean</a:t>
            </a:r>
            <a:r>
              <a:rPr lang="en-US" altLang="zh-CN" sz="1400" b="1" dirty="0"/>
              <a:t> </a:t>
            </a:r>
            <a:r>
              <a:rPr lang="en-US" altLang="zh-CN" sz="1400" b="1" dirty="0" err="1"/>
              <a:t>inputIsValid</a:t>
            </a:r>
            <a:r>
              <a:rPr lang="en-US" altLang="zh-CN" sz="1400" b="1" dirty="0"/>
              <a:t> = false; </a:t>
            </a:r>
          </a:p>
          <a:p>
            <a:pPr eaLnBrk="1" hangingPunct="1"/>
            <a:r>
              <a:rPr lang="en-US" altLang="zh-CN" sz="1400" b="1" dirty="0"/>
              <a:t>        </a:t>
            </a:r>
          </a:p>
          <a:p>
            <a:pPr eaLnBrk="1" hangingPunct="1"/>
            <a:r>
              <a:rPr lang="en-US" altLang="zh-CN" sz="1400" b="1" dirty="0"/>
              <a:t>        </a:t>
            </a:r>
            <a:r>
              <a:rPr lang="en-US" altLang="zh-CN" sz="1400" b="1" dirty="0">
                <a:solidFill>
                  <a:srgbClr val="0000FF"/>
                </a:solidFill>
              </a:rPr>
              <a:t>while</a:t>
            </a:r>
            <a:r>
              <a:rPr lang="en-US" altLang="zh-CN" sz="1400" b="1" dirty="0"/>
              <a:t> (!</a:t>
            </a:r>
            <a:r>
              <a:rPr lang="en-US" altLang="zh-CN" sz="1400" b="1" dirty="0" err="1"/>
              <a:t>inputIsValid</a:t>
            </a:r>
            <a:r>
              <a:rPr lang="en-US" altLang="zh-CN" sz="1400" b="1" dirty="0"/>
              <a:t>)</a:t>
            </a:r>
          </a:p>
          <a:p>
            <a:pPr eaLnBrk="1" hangingPunct="1"/>
            <a:r>
              <a:rPr lang="en-US" altLang="zh-CN" sz="1400" b="1" dirty="0"/>
              <a:t>        {</a:t>
            </a:r>
          </a:p>
          <a:p>
            <a:pPr eaLnBrk="1" hangingPunct="1"/>
            <a:r>
              <a:rPr lang="en-US" altLang="zh-CN" sz="1400" b="1" dirty="0"/>
              <a:t>            </a:t>
            </a:r>
            <a:r>
              <a:rPr lang="en-US" altLang="zh-CN" sz="1400" b="1" dirty="0">
                <a:solidFill>
                  <a:srgbClr val="0000FF"/>
                </a:solidFill>
              </a:rPr>
              <a:t>try</a:t>
            </a:r>
          </a:p>
          <a:p>
            <a:pPr eaLnBrk="1" hangingPunct="1"/>
            <a:r>
              <a:rPr lang="en-US" altLang="zh-CN" sz="1400" b="1" dirty="0"/>
              <a:t>            {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System.out.println</a:t>
            </a:r>
            <a:r>
              <a:rPr lang="en-US" altLang="zh-CN" sz="1400" b="1" dirty="0"/>
              <a:t>("Please enter a integer:");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int</a:t>
            </a:r>
            <a:r>
              <a:rPr lang="en-US" altLang="zh-CN" sz="1400" b="1" dirty="0"/>
              <a:t> number = </a:t>
            </a:r>
            <a:r>
              <a:rPr lang="en-US" altLang="zh-CN" sz="1400" b="1" dirty="0" err="1"/>
              <a:t>scanner.nextInt</a:t>
            </a:r>
            <a:r>
              <a:rPr lang="en-US" altLang="zh-CN" sz="1400" b="1" dirty="0"/>
              <a:t>();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System.out.println</a:t>
            </a:r>
            <a:r>
              <a:rPr lang="en-US" altLang="zh-CN" sz="1400" b="1" dirty="0"/>
              <a:t>("Your input is: " + number);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inputIsValid</a:t>
            </a:r>
            <a:r>
              <a:rPr lang="en-US" altLang="zh-CN" sz="1400" b="1" dirty="0"/>
              <a:t> = true;</a:t>
            </a:r>
          </a:p>
          <a:p>
            <a:pPr eaLnBrk="1" hangingPunct="1"/>
            <a:r>
              <a:rPr lang="en-US" altLang="zh-CN" sz="1400" b="1" dirty="0"/>
              <a:t>            }</a:t>
            </a:r>
          </a:p>
          <a:p>
            <a:pPr eaLnBrk="1" hangingPunct="1"/>
            <a:r>
              <a:rPr lang="en-US" altLang="zh-CN" sz="1400" b="1" dirty="0"/>
              <a:t>            </a:t>
            </a:r>
            <a:r>
              <a:rPr lang="en-US" altLang="zh-CN" sz="1400" b="1" dirty="0">
                <a:solidFill>
                  <a:srgbClr val="0000FF"/>
                </a:solidFill>
              </a:rPr>
              <a:t>catch</a:t>
            </a:r>
            <a:r>
              <a:rPr lang="en-US" altLang="zh-CN" sz="1400" b="1" dirty="0"/>
              <a:t> (</a:t>
            </a:r>
            <a:r>
              <a:rPr lang="en-US" altLang="zh-CN" sz="1400" b="1" dirty="0" err="1"/>
              <a:t>InputMismatchException</a:t>
            </a:r>
            <a:r>
              <a:rPr lang="en-US" altLang="zh-CN" sz="1400" b="1" dirty="0"/>
              <a:t> ex)</a:t>
            </a:r>
          </a:p>
          <a:p>
            <a:pPr eaLnBrk="1" hangingPunct="1"/>
            <a:r>
              <a:rPr lang="en-US" altLang="zh-CN" sz="1400" b="1" dirty="0"/>
              <a:t>            {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System.out.println</a:t>
            </a:r>
            <a:r>
              <a:rPr lang="en-US" altLang="zh-CN" sz="1400" b="1" dirty="0"/>
              <a:t>("</a:t>
            </a:r>
            <a:r>
              <a:rPr lang="en-US" altLang="zh-CN" sz="1400" b="1" dirty="0" err="1"/>
              <a:t>Incorect</a:t>
            </a:r>
            <a:r>
              <a:rPr lang="en-US" altLang="zh-CN" sz="1400" b="1" dirty="0"/>
              <a:t> input, please try again.");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scanner.nextLine</a:t>
            </a:r>
            <a:r>
              <a:rPr lang="en-US" altLang="zh-CN" sz="1400" b="1" dirty="0"/>
              <a:t>();  </a:t>
            </a:r>
            <a:r>
              <a:rPr lang="en-US" altLang="zh-CN" sz="1400" b="1" dirty="0">
                <a:solidFill>
                  <a:srgbClr val="006600"/>
                </a:solidFill>
              </a:rPr>
              <a:t>// </a:t>
            </a:r>
            <a:r>
              <a:rPr lang="zh-CN" altLang="en-US" sz="1400" b="1" dirty="0">
                <a:solidFill>
                  <a:srgbClr val="006600"/>
                </a:solidFill>
              </a:rPr>
              <a:t>重新开始接受输入</a:t>
            </a:r>
          </a:p>
          <a:p>
            <a:pPr eaLnBrk="1" hangingPunct="1"/>
            <a:r>
              <a:rPr lang="zh-CN" altLang="en-US" sz="1400" b="1" dirty="0"/>
              <a:t>            </a:t>
            </a:r>
            <a:r>
              <a:rPr lang="en-US" altLang="zh-CN" sz="1400" b="1" dirty="0"/>
              <a:t>}</a:t>
            </a:r>
          </a:p>
          <a:p>
            <a:pPr eaLnBrk="1" hangingPunct="1"/>
            <a:r>
              <a:rPr lang="en-US" altLang="zh-CN" sz="1400" b="1" dirty="0"/>
              <a:t>        }</a:t>
            </a:r>
          </a:p>
          <a:p>
            <a:pPr eaLnBrk="1" hangingPunct="1"/>
            <a:r>
              <a:rPr lang="en-US" altLang="zh-CN" sz="1400" b="1" dirty="0"/>
              <a:t>    }</a:t>
            </a:r>
          </a:p>
          <a:p>
            <a:pPr eaLnBrk="1" hangingPunct="1"/>
            <a:r>
              <a:rPr lang="en-US" altLang="zh-CN" sz="1400" b="1" dirty="0"/>
              <a:t>}</a:t>
            </a:r>
          </a:p>
          <a:p>
            <a:pPr eaLnBrk="1" hangingPunct="1"/>
            <a:endParaRPr lang="en-US" altLang="zh-CN" sz="1200" b="1" dirty="0"/>
          </a:p>
        </p:txBody>
      </p:sp>
      <p:sp>
        <p:nvSpPr>
          <p:cNvPr id="25604" name="矩形 4"/>
          <p:cNvSpPr>
            <a:spLocks noChangeArrowheads="1"/>
          </p:cNvSpPr>
          <p:nvPr/>
        </p:nvSpPr>
        <p:spPr bwMode="auto">
          <a:xfrm>
            <a:off x="1297721" y="4225335"/>
            <a:ext cx="4435475" cy="225425"/>
          </a:xfrm>
          <a:prstGeom prst="rect">
            <a:avLst/>
          </a:prstGeom>
          <a:solidFill>
            <a:srgbClr val="FF0000">
              <a:alpha val="2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200">
              <a:solidFill>
                <a:srgbClr val="FFFFFF"/>
              </a:solidFill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3995936" y="2967037"/>
            <a:ext cx="2430463" cy="923925"/>
          </a:xfrm>
          <a:prstGeom prst="rect">
            <a:avLst/>
          </a:prstGeom>
          <a:gradFill rotWithShape="1">
            <a:gsLst>
              <a:gs pos="0">
                <a:srgbClr val="B9DBDB"/>
              </a:gs>
              <a:gs pos="35001">
                <a:srgbClr val="CEE5E5"/>
              </a:gs>
              <a:gs pos="100000">
                <a:srgbClr val="ECF5F5"/>
              </a:gs>
            </a:gsLst>
            <a:lin ang="5400000" scaled="1"/>
          </a:gradFill>
          <a:ln w="9525">
            <a:solidFill>
              <a:srgbClr val="598888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开始接收用户输入。</a:t>
            </a:r>
            <a:endParaRPr lang="en-US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假设用户输入的不是整数，如 “</a:t>
            </a: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abc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”</a:t>
            </a:r>
          </a:p>
        </p:txBody>
      </p:sp>
      <p:cxnSp>
        <p:nvCxnSpPr>
          <p:cNvPr id="7" name="直接箭头连接符 7"/>
          <p:cNvCxnSpPr>
            <a:cxnSpLocks noChangeShapeType="1"/>
            <a:stCxn id="6" idx="1"/>
          </p:cNvCxnSpPr>
          <p:nvPr/>
        </p:nvCxnSpPr>
        <p:spPr bwMode="auto">
          <a:xfrm flipH="1">
            <a:off x="2987824" y="3429000"/>
            <a:ext cx="1008112" cy="79633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068914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跟踪程序执行</a:t>
            </a: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462597" y="974601"/>
            <a:ext cx="7426722" cy="5883399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400" b="1" dirty="0">
                <a:solidFill>
                  <a:srgbClr val="0000FF"/>
                </a:solidFill>
              </a:rPr>
              <a:t>import</a:t>
            </a:r>
            <a:r>
              <a:rPr lang="en-US" altLang="zh-CN" sz="1400" b="1" dirty="0"/>
              <a:t> </a:t>
            </a:r>
            <a:r>
              <a:rPr lang="en-US" altLang="zh-CN" sz="1400" b="1" dirty="0" err="1"/>
              <a:t>java.util.InputMismatchException</a:t>
            </a:r>
            <a:r>
              <a:rPr lang="en-US" altLang="zh-CN" sz="1400" b="1" dirty="0"/>
              <a:t>;</a:t>
            </a:r>
          </a:p>
          <a:p>
            <a:pPr eaLnBrk="1" hangingPunct="1"/>
            <a:r>
              <a:rPr lang="en-US" altLang="zh-CN" sz="1400" b="1" dirty="0">
                <a:solidFill>
                  <a:srgbClr val="0000FF"/>
                </a:solidFill>
              </a:rPr>
              <a:t>import</a:t>
            </a:r>
            <a:r>
              <a:rPr lang="en-US" altLang="zh-CN" sz="1400" b="1" dirty="0"/>
              <a:t> </a:t>
            </a:r>
            <a:r>
              <a:rPr lang="en-US" altLang="zh-CN" sz="1400" b="1" dirty="0" err="1"/>
              <a:t>java.util.Scanner</a:t>
            </a:r>
            <a:r>
              <a:rPr lang="en-US" altLang="zh-CN" sz="1400" b="1" dirty="0"/>
              <a:t>;</a:t>
            </a:r>
          </a:p>
          <a:p>
            <a:pPr eaLnBrk="1" hangingPunct="1"/>
            <a:endParaRPr lang="en-US" altLang="zh-CN" sz="1400" b="1" dirty="0"/>
          </a:p>
          <a:p>
            <a:pPr eaLnBrk="1" hangingPunct="1"/>
            <a:r>
              <a:rPr lang="en-US" altLang="zh-CN" sz="1400" b="1" dirty="0">
                <a:solidFill>
                  <a:srgbClr val="0000FF"/>
                </a:solidFill>
              </a:rPr>
              <a:t>public class </a:t>
            </a:r>
            <a:r>
              <a:rPr lang="en-US" altLang="zh-CN" sz="1400" b="1" dirty="0"/>
              <a:t>RuntimeExceptionDemo2 </a:t>
            </a:r>
          </a:p>
          <a:p>
            <a:pPr eaLnBrk="1" hangingPunct="1"/>
            <a:r>
              <a:rPr lang="en-US" altLang="zh-CN" sz="1400" b="1" dirty="0"/>
              <a:t>{</a:t>
            </a:r>
          </a:p>
          <a:p>
            <a:pPr eaLnBrk="1" hangingPunct="1"/>
            <a:r>
              <a:rPr lang="en-US" altLang="zh-CN" sz="1400" b="1" dirty="0"/>
              <a:t>    </a:t>
            </a:r>
            <a:r>
              <a:rPr lang="en-US" altLang="zh-CN" sz="1400" b="1" dirty="0">
                <a:solidFill>
                  <a:srgbClr val="0000FF"/>
                </a:solidFill>
              </a:rPr>
              <a:t>public static void </a:t>
            </a:r>
            <a:r>
              <a:rPr lang="en-US" altLang="zh-CN" sz="1400" b="1" dirty="0"/>
              <a:t>main(String[] </a:t>
            </a:r>
            <a:r>
              <a:rPr lang="en-US" altLang="zh-CN" sz="1400" b="1" dirty="0" err="1"/>
              <a:t>args</a:t>
            </a:r>
            <a:r>
              <a:rPr lang="en-US" altLang="zh-CN" sz="1400" b="1" dirty="0"/>
              <a:t>) </a:t>
            </a:r>
          </a:p>
          <a:p>
            <a:pPr eaLnBrk="1" hangingPunct="1"/>
            <a:r>
              <a:rPr lang="en-US" altLang="zh-CN" sz="1400" b="1" dirty="0"/>
              <a:t>    {</a:t>
            </a:r>
          </a:p>
          <a:p>
            <a:pPr eaLnBrk="1" hangingPunct="1"/>
            <a:r>
              <a:rPr lang="en-US" altLang="zh-CN" sz="1400" b="1" dirty="0"/>
              <a:t>        Scanner </a:t>
            </a:r>
            <a:r>
              <a:rPr lang="en-US" altLang="zh-CN" sz="1400" b="1" dirty="0" err="1"/>
              <a:t>scanner</a:t>
            </a:r>
            <a:r>
              <a:rPr lang="en-US" altLang="zh-CN" sz="1400" b="1" dirty="0"/>
              <a:t> = </a:t>
            </a:r>
            <a:r>
              <a:rPr lang="en-US" altLang="zh-CN" sz="1400" b="1" dirty="0">
                <a:solidFill>
                  <a:srgbClr val="0000FF"/>
                </a:solidFill>
              </a:rPr>
              <a:t>new</a:t>
            </a:r>
            <a:r>
              <a:rPr lang="en-US" altLang="zh-CN" sz="1400" b="1" dirty="0"/>
              <a:t> Scanner(System.in);</a:t>
            </a:r>
          </a:p>
          <a:p>
            <a:pPr eaLnBrk="1" hangingPunct="1"/>
            <a:r>
              <a:rPr lang="en-US" altLang="zh-CN" sz="1400" b="1" dirty="0"/>
              <a:t>        </a:t>
            </a:r>
            <a:r>
              <a:rPr lang="en-US" altLang="zh-CN" sz="1400" b="1" dirty="0" err="1">
                <a:solidFill>
                  <a:srgbClr val="0000FF"/>
                </a:solidFill>
              </a:rPr>
              <a:t>boolean</a:t>
            </a:r>
            <a:r>
              <a:rPr lang="en-US" altLang="zh-CN" sz="1400" b="1" dirty="0"/>
              <a:t> </a:t>
            </a:r>
            <a:r>
              <a:rPr lang="en-US" altLang="zh-CN" sz="1400" b="1" dirty="0" err="1"/>
              <a:t>inputIsValid</a:t>
            </a:r>
            <a:r>
              <a:rPr lang="en-US" altLang="zh-CN" sz="1400" b="1" dirty="0"/>
              <a:t> = false; </a:t>
            </a:r>
          </a:p>
          <a:p>
            <a:pPr eaLnBrk="1" hangingPunct="1"/>
            <a:r>
              <a:rPr lang="en-US" altLang="zh-CN" sz="1400" b="1" dirty="0"/>
              <a:t>        </a:t>
            </a:r>
          </a:p>
          <a:p>
            <a:pPr eaLnBrk="1" hangingPunct="1"/>
            <a:r>
              <a:rPr lang="en-US" altLang="zh-CN" sz="1400" b="1" dirty="0"/>
              <a:t>        </a:t>
            </a:r>
            <a:r>
              <a:rPr lang="en-US" altLang="zh-CN" sz="1400" b="1" dirty="0">
                <a:solidFill>
                  <a:srgbClr val="0000FF"/>
                </a:solidFill>
              </a:rPr>
              <a:t>while</a:t>
            </a:r>
            <a:r>
              <a:rPr lang="en-US" altLang="zh-CN" sz="1400" b="1" dirty="0"/>
              <a:t> (!</a:t>
            </a:r>
            <a:r>
              <a:rPr lang="en-US" altLang="zh-CN" sz="1400" b="1" dirty="0" err="1"/>
              <a:t>inputIsValid</a:t>
            </a:r>
            <a:r>
              <a:rPr lang="en-US" altLang="zh-CN" sz="1400" b="1" dirty="0"/>
              <a:t>)</a:t>
            </a:r>
          </a:p>
          <a:p>
            <a:pPr eaLnBrk="1" hangingPunct="1"/>
            <a:r>
              <a:rPr lang="en-US" altLang="zh-CN" sz="1400" b="1" dirty="0"/>
              <a:t>        {</a:t>
            </a:r>
          </a:p>
          <a:p>
            <a:pPr eaLnBrk="1" hangingPunct="1"/>
            <a:r>
              <a:rPr lang="en-US" altLang="zh-CN" sz="1400" b="1" dirty="0"/>
              <a:t>            </a:t>
            </a:r>
            <a:r>
              <a:rPr lang="en-US" altLang="zh-CN" sz="1400" b="1" dirty="0">
                <a:solidFill>
                  <a:srgbClr val="0000FF"/>
                </a:solidFill>
              </a:rPr>
              <a:t>try</a:t>
            </a:r>
          </a:p>
          <a:p>
            <a:pPr eaLnBrk="1" hangingPunct="1"/>
            <a:r>
              <a:rPr lang="en-US" altLang="zh-CN" sz="1400" b="1" dirty="0"/>
              <a:t>            {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System.out.println</a:t>
            </a:r>
            <a:r>
              <a:rPr lang="en-US" altLang="zh-CN" sz="1400" b="1" dirty="0"/>
              <a:t>("Please enter a integer:");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int</a:t>
            </a:r>
            <a:r>
              <a:rPr lang="en-US" altLang="zh-CN" sz="1400" b="1" dirty="0"/>
              <a:t> number = </a:t>
            </a:r>
            <a:r>
              <a:rPr lang="en-US" altLang="zh-CN" sz="1400" b="1" dirty="0" err="1"/>
              <a:t>scanner.nextInt</a:t>
            </a:r>
            <a:r>
              <a:rPr lang="en-US" altLang="zh-CN" sz="1400" b="1" dirty="0"/>
              <a:t>();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System.out.println</a:t>
            </a:r>
            <a:r>
              <a:rPr lang="en-US" altLang="zh-CN" sz="1400" b="1" dirty="0"/>
              <a:t>("Your input is: " + number);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inputIsValid</a:t>
            </a:r>
            <a:r>
              <a:rPr lang="en-US" altLang="zh-CN" sz="1400" b="1" dirty="0"/>
              <a:t> = true;</a:t>
            </a:r>
          </a:p>
          <a:p>
            <a:pPr eaLnBrk="1" hangingPunct="1"/>
            <a:r>
              <a:rPr lang="en-US" altLang="zh-CN" sz="1400" b="1" dirty="0"/>
              <a:t>            }</a:t>
            </a:r>
          </a:p>
          <a:p>
            <a:pPr eaLnBrk="1" hangingPunct="1"/>
            <a:r>
              <a:rPr lang="en-US" altLang="zh-CN" sz="1400" b="1" dirty="0"/>
              <a:t>            </a:t>
            </a:r>
            <a:r>
              <a:rPr lang="en-US" altLang="zh-CN" sz="1400" b="1" dirty="0">
                <a:solidFill>
                  <a:srgbClr val="0000FF"/>
                </a:solidFill>
              </a:rPr>
              <a:t>catch</a:t>
            </a:r>
            <a:r>
              <a:rPr lang="en-US" altLang="zh-CN" sz="1400" b="1" dirty="0"/>
              <a:t> (</a:t>
            </a:r>
            <a:r>
              <a:rPr lang="en-US" altLang="zh-CN" sz="1400" b="1" dirty="0" err="1"/>
              <a:t>InputMismatchException</a:t>
            </a:r>
            <a:r>
              <a:rPr lang="en-US" altLang="zh-CN" sz="1400" b="1" dirty="0"/>
              <a:t> ex)</a:t>
            </a:r>
          </a:p>
          <a:p>
            <a:pPr eaLnBrk="1" hangingPunct="1"/>
            <a:r>
              <a:rPr lang="en-US" altLang="zh-CN" sz="1400" b="1" dirty="0"/>
              <a:t>            {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System.out.println</a:t>
            </a:r>
            <a:r>
              <a:rPr lang="en-US" altLang="zh-CN" sz="1400" b="1" dirty="0"/>
              <a:t>("</a:t>
            </a:r>
            <a:r>
              <a:rPr lang="en-US" altLang="zh-CN" sz="1400" b="1" dirty="0" err="1"/>
              <a:t>Incorect</a:t>
            </a:r>
            <a:r>
              <a:rPr lang="en-US" altLang="zh-CN" sz="1400" b="1" dirty="0"/>
              <a:t> input, please try again.");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scanner.nextLine</a:t>
            </a:r>
            <a:r>
              <a:rPr lang="en-US" altLang="zh-CN" sz="1400" b="1" dirty="0"/>
              <a:t>();  </a:t>
            </a:r>
            <a:r>
              <a:rPr lang="en-US" altLang="zh-CN" sz="1400" b="1" dirty="0">
                <a:solidFill>
                  <a:srgbClr val="006600"/>
                </a:solidFill>
              </a:rPr>
              <a:t>// </a:t>
            </a:r>
            <a:r>
              <a:rPr lang="zh-CN" altLang="en-US" sz="1400" b="1" dirty="0">
                <a:solidFill>
                  <a:srgbClr val="006600"/>
                </a:solidFill>
              </a:rPr>
              <a:t>重新开始接受输入</a:t>
            </a:r>
          </a:p>
          <a:p>
            <a:pPr eaLnBrk="1" hangingPunct="1"/>
            <a:r>
              <a:rPr lang="zh-CN" altLang="en-US" sz="1400" b="1" dirty="0"/>
              <a:t>            </a:t>
            </a:r>
            <a:r>
              <a:rPr lang="en-US" altLang="zh-CN" sz="1400" b="1" dirty="0"/>
              <a:t>}</a:t>
            </a:r>
          </a:p>
          <a:p>
            <a:pPr eaLnBrk="1" hangingPunct="1"/>
            <a:r>
              <a:rPr lang="en-US" altLang="zh-CN" sz="1400" b="1" dirty="0"/>
              <a:t>        }</a:t>
            </a:r>
          </a:p>
          <a:p>
            <a:pPr eaLnBrk="1" hangingPunct="1"/>
            <a:r>
              <a:rPr lang="en-US" altLang="zh-CN" sz="1400" b="1" dirty="0"/>
              <a:t>    }</a:t>
            </a:r>
          </a:p>
          <a:p>
            <a:pPr eaLnBrk="1" hangingPunct="1"/>
            <a:r>
              <a:rPr lang="en-US" altLang="zh-CN" sz="1400" b="1" dirty="0"/>
              <a:t>}</a:t>
            </a:r>
          </a:p>
          <a:p>
            <a:pPr eaLnBrk="1" hangingPunct="1"/>
            <a:endParaRPr lang="en-US" altLang="zh-CN" sz="1200" b="1" dirty="0"/>
          </a:p>
        </p:txBody>
      </p:sp>
      <p:sp>
        <p:nvSpPr>
          <p:cNvPr id="25604" name="矩形 4"/>
          <p:cNvSpPr>
            <a:spLocks noChangeArrowheads="1"/>
          </p:cNvSpPr>
          <p:nvPr/>
        </p:nvSpPr>
        <p:spPr bwMode="auto">
          <a:xfrm>
            <a:off x="1297721" y="5472521"/>
            <a:ext cx="4786447" cy="288032"/>
          </a:xfrm>
          <a:prstGeom prst="rect">
            <a:avLst/>
          </a:prstGeom>
          <a:solidFill>
            <a:srgbClr val="FF0000">
              <a:alpha val="2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200">
              <a:solidFill>
                <a:srgbClr val="FFFFFF"/>
              </a:solidFill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5837092" y="4486932"/>
            <a:ext cx="1656184" cy="646331"/>
          </a:xfrm>
          <a:prstGeom prst="rect">
            <a:avLst/>
          </a:prstGeom>
          <a:gradFill rotWithShape="1">
            <a:gsLst>
              <a:gs pos="0">
                <a:srgbClr val="B9DBDB"/>
              </a:gs>
              <a:gs pos="35001">
                <a:srgbClr val="CEE5E5"/>
              </a:gs>
              <a:gs pos="100000">
                <a:srgbClr val="ECF5F5"/>
              </a:gs>
            </a:gsLst>
            <a:lin ang="5400000" scaled="1"/>
          </a:gradFill>
          <a:ln w="9525">
            <a:solidFill>
              <a:srgbClr val="598888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发生异常，并被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catch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捕获</a:t>
            </a:r>
          </a:p>
        </p:txBody>
      </p:sp>
      <p:cxnSp>
        <p:nvCxnSpPr>
          <p:cNvPr id="7" name="直接箭头连接符 7"/>
          <p:cNvCxnSpPr>
            <a:cxnSpLocks noChangeShapeType="1"/>
            <a:stCxn id="6" idx="1"/>
            <a:endCxn id="25604" idx="0"/>
          </p:cNvCxnSpPr>
          <p:nvPr/>
        </p:nvCxnSpPr>
        <p:spPr bwMode="auto">
          <a:xfrm flipH="1">
            <a:off x="3690945" y="4810098"/>
            <a:ext cx="2146147" cy="662423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直接箭头连接符 7"/>
          <p:cNvCxnSpPr>
            <a:cxnSpLocks noChangeShapeType="1"/>
          </p:cNvCxnSpPr>
          <p:nvPr/>
        </p:nvCxnSpPr>
        <p:spPr bwMode="auto">
          <a:xfrm flipH="1">
            <a:off x="5011095" y="4147674"/>
            <a:ext cx="825997" cy="314070"/>
          </a:xfrm>
          <a:prstGeom prst="straightConnector1">
            <a:avLst/>
          </a:prstGeom>
          <a:ln>
            <a:solidFill>
              <a:srgbClr val="FF0000"/>
            </a:solidFill>
            <a:headEnd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7"/>
          <p:cNvCxnSpPr>
            <a:cxnSpLocks noChangeShapeType="1"/>
          </p:cNvCxnSpPr>
          <p:nvPr/>
        </p:nvCxnSpPr>
        <p:spPr bwMode="auto">
          <a:xfrm flipH="1">
            <a:off x="2983924" y="4147674"/>
            <a:ext cx="2853168" cy="673821"/>
          </a:xfrm>
          <a:prstGeom prst="straightConnector1">
            <a:avLst/>
          </a:prstGeom>
          <a:ln>
            <a:solidFill>
              <a:srgbClr val="FF0000"/>
            </a:solidFill>
            <a:headEnd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7"/>
          <p:cNvCxnSpPr>
            <a:cxnSpLocks noChangeShapeType="1"/>
          </p:cNvCxnSpPr>
          <p:nvPr/>
        </p:nvCxnSpPr>
        <p:spPr bwMode="auto">
          <a:xfrm flipH="1">
            <a:off x="3414217" y="3821010"/>
            <a:ext cx="276727" cy="450425"/>
          </a:xfrm>
          <a:prstGeom prst="straightConnector1">
            <a:avLst/>
          </a:prstGeom>
          <a:noFill/>
          <a:ln w="25400">
            <a:solidFill>
              <a:srgbClr val="0000FF"/>
            </a:solidFill>
            <a:round/>
            <a:headEnd/>
            <a:tailEnd type="arrow" w="med" len="med"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" name="TextBox 12"/>
          <p:cNvSpPr txBox="1">
            <a:spLocks noChangeArrowheads="1"/>
          </p:cNvSpPr>
          <p:nvPr/>
        </p:nvSpPr>
        <p:spPr bwMode="auto">
          <a:xfrm>
            <a:off x="3363390" y="3457188"/>
            <a:ext cx="881973" cy="369332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出错点</a:t>
            </a:r>
          </a:p>
        </p:txBody>
      </p:sp>
      <p:sp>
        <p:nvSpPr>
          <p:cNvPr id="18" name="TextBox 12"/>
          <p:cNvSpPr txBox="1">
            <a:spLocks noChangeArrowheads="1"/>
          </p:cNvSpPr>
          <p:nvPr/>
        </p:nvSpPr>
        <p:spPr bwMode="auto">
          <a:xfrm>
            <a:off x="5849632" y="3625104"/>
            <a:ext cx="1631104" cy="646331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try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块中剩余代码没有被执行</a:t>
            </a:r>
          </a:p>
        </p:txBody>
      </p:sp>
    </p:spTree>
    <p:extLst>
      <p:ext uri="{BB962C8B-B14F-4D97-AF65-F5344CB8AC3E}">
        <p14:creationId xmlns:p14="http://schemas.microsoft.com/office/powerpoint/2010/main" val="41254833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跟踪程序执行</a:t>
            </a: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462597" y="974601"/>
            <a:ext cx="7426722" cy="5883399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400" b="1" dirty="0">
                <a:solidFill>
                  <a:srgbClr val="0000FF"/>
                </a:solidFill>
              </a:rPr>
              <a:t>import</a:t>
            </a:r>
            <a:r>
              <a:rPr lang="en-US" altLang="zh-CN" sz="1400" b="1" dirty="0"/>
              <a:t> </a:t>
            </a:r>
            <a:r>
              <a:rPr lang="en-US" altLang="zh-CN" sz="1400" b="1" dirty="0" err="1"/>
              <a:t>java.util.InputMismatchException</a:t>
            </a:r>
            <a:r>
              <a:rPr lang="en-US" altLang="zh-CN" sz="1400" b="1" dirty="0"/>
              <a:t>;</a:t>
            </a:r>
          </a:p>
          <a:p>
            <a:pPr eaLnBrk="1" hangingPunct="1"/>
            <a:r>
              <a:rPr lang="en-US" altLang="zh-CN" sz="1400" b="1" dirty="0">
                <a:solidFill>
                  <a:srgbClr val="0000FF"/>
                </a:solidFill>
              </a:rPr>
              <a:t>import</a:t>
            </a:r>
            <a:r>
              <a:rPr lang="en-US" altLang="zh-CN" sz="1400" b="1" dirty="0"/>
              <a:t> </a:t>
            </a:r>
            <a:r>
              <a:rPr lang="en-US" altLang="zh-CN" sz="1400" b="1" dirty="0" err="1"/>
              <a:t>java.util.Scanner</a:t>
            </a:r>
            <a:r>
              <a:rPr lang="en-US" altLang="zh-CN" sz="1400" b="1" dirty="0"/>
              <a:t>;</a:t>
            </a:r>
          </a:p>
          <a:p>
            <a:pPr eaLnBrk="1" hangingPunct="1"/>
            <a:endParaRPr lang="en-US" altLang="zh-CN" sz="1400" b="1" dirty="0"/>
          </a:p>
          <a:p>
            <a:pPr eaLnBrk="1" hangingPunct="1"/>
            <a:r>
              <a:rPr lang="en-US" altLang="zh-CN" sz="1400" b="1" dirty="0">
                <a:solidFill>
                  <a:srgbClr val="0000FF"/>
                </a:solidFill>
              </a:rPr>
              <a:t>public class </a:t>
            </a:r>
            <a:r>
              <a:rPr lang="en-US" altLang="zh-CN" sz="1400" b="1" dirty="0"/>
              <a:t>RuntimeExceptionDemo2 </a:t>
            </a:r>
          </a:p>
          <a:p>
            <a:pPr eaLnBrk="1" hangingPunct="1"/>
            <a:r>
              <a:rPr lang="en-US" altLang="zh-CN" sz="1400" b="1" dirty="0"/>
              <a:t>{</a:t>
            </a:r>
          </a:p>
          <a:p>
            <a:pPr eaLnBrk="1" hangingPunct="1"/>
            <a:r>
              <a:rPr lang="en-US" altLang="zh-CN" sz="1400" b="1" dirty="0"/>
              <a:t>    </a:t>
            </a:r>
            <a:r>
              <a:rPr lang="en-US" altLang="zh-CN" sz="1400" b="1" dirty="0">
                <a:solidFill>
                  <a:srgbClr val="0000FF"/>
                </a:solidFill>
              </a:rPr>
              <a:t>public static void </a:t>
            </a:r>
            <a:r>
              <a:rPr lang="en-US" altLang="zh-CN" sz="1400" b="1" dirty="0"/>
              <a:t>main(String[] </a:t>
            </a:r>
            <a:r>
              <a:rPr lang="en-US" altLang="zh-CN" sz="1400" b="1" dirty="0" err="1"/>
              <a:t>args</a:t>
            </a:r>
            <a:r>
              <a:rPr lang="en-US" altLang="zh-CN" sz="1400" b="1" dirty="0"/>
              <a:t>) </a:t>
            </a:r>
          </a:p>
          <a:p>
            <a:pPr eaLnBrk="1" hangingPunct="1"/>
            <a:r>
              <a:rPr lang="en-US" altLang="zh-CN" sz="1400" b="1" dirty="0"/>
              <a:t>    {</a:t>
            </a:r>
          </a:p>
          <a:p>
            <a:pPr eaLnBrk="1" hangingPunct="1"/>
            <a:r>
              <a:rPr lang="en-US" altLang="zh-CN" sz="1400" b="1" dirty="0"/>
              <a:t>        Scanner </a:t>
            </a:r>
            <a:r>
              <a:rPr lang="en-US" altLang="zh-CN" sz="1400" b="1" dirty="0" err="1"/>
              <a:t>scanner</a:t>
            </a:r>
            <a:r>
              <a:rPr lang="en-US" altLang="zh-CN" sz="1400" b="1" dirty="0"/>
              <a:t> = </a:t>
            </a:r>
            <a:r>
              <a:rPr lang="en-US" altLang="zh-CN" sz="1400" b="1" dirty="0">
                <a:solidFill>
                  <a:srgbClr val="0000FF"/>
                </a:solidFill>
              </a:rPr>
              <a:t>new</a:t>
            </a:r>
            <a:r>
              <a:rPr lang="en-US" altLang="zh-CN" sz="1400" b="1" dirty="0"/>
              <a:t> Scanner(System.in);</a:t>
            </a:r>
          </a:p>
          <a:p>
            <a:pPr eaLnBrk="1" hangingPunct="1"/>
            <a:r>
              <a:rPr lang="en-US" altLang="zh-CN" sz="1400" b="1" dirty="0"/>
              <a:t>        </a:t>
            </a:r>
            <a:r>
              <a:rPr lang="en-US" altLang="zh-CN" sz="1400" b="1" dirty="0" err="1">
                <a:solidFill>
                  <a:srgbClr val="0000FF"/>
                </a:solidFill>
              </a:rPr>
              <a:t>boolean</a:t>
            </a:r>
            <a:r>
              <a:rPr lang="en-US" altLang="zh-CN" sz="1400" b="1" dirty="0"/>
              <a:t> </a:t>
            </a:r>
            <a:r>
              <a:rPr lang="en-US" altLang="zh-CN" sz="1400" b="1" dirty="0" err="1"/>
              <a:t>inputIsValid</a:t>
            </a:r>
            <a:r>
              <a:rPr lang="en-US" altLang="zh-CN" sz="1400" b="1" dirty="0"/>
              <a:t> = false; </a:t>
            </a:r>
          </a:p>
          <a:p>
            <a:pPr eaLnBrk="1" hangingPunct="1"/>
            <a:r>
              <a:rPr lang="en-US" altLang="zh-CN" sz="1400" b="1" dirty="0"/>
              <a:t>        </a:t>
            </a:r>
          </a:p>
          <a:p>
            <a:pPr eaLnBrk="1" hangingPunct="1"/>
            <a:r>
              <a:rPr lang="en-US" altLang="zh-CN" sz="1400" b="1" dirty="0"/>
              <a:t>        </a:t>
            </a:r>
            <a:r>
              <a:rPr lang="en-US" altLang="zh-CN" sz="1400" b="1" dirty="0">
                <a:solidFill>
                  <a:srgbClr val="0000FF"/>
                </a:solidFill>
              </a:rPr>
              <a:t>while</a:t>
            </a:r>
            <a:r>
              <a:rPr lang="en-US" altLang="zh-CN" sz="1400" b="1" dirty="0"/>
              <a:t> (!</a:t>
            </a:r>
            <a:r>
              <a:rPr lang="en-US" altLang="zh-CN" sz="1400" b="1" dirty="0" err="1"/>
              <a:t>inputIsValid</a:t>
            </a:r>
            <a:r>
              <a:rPr lang="en-US" altLang="zh-CN" sz="1400" b="1" dirty="0"/>
              <a:t>)</a:t>
            </a:r>
          </a:p>
          <a:p>
            <a:pPr eaLnBrk="1" hangingPunct="1"/>
            <a:r>
              <a:rPr lang="en-US" altLang="zh-CN" sz="1400" b="1" dirty="0"/>
              <a:t>        {</a:t>
            </a:r>
          </a:p>
          <a:p>
            <a:pPr eaLnBrk="1" hangingPunct="1"/>
            <a:r>
              <a:rPr lang="en-US" altLang="zh-CN" sz="1400" b="1" dirty="0"/>
              <a:t>            </a:t>
            </a:r>
            <a:r>
              <a:rPr lang="en-US" altLang="zh-CN" sz="1400" b="1" dirty="0">
                <a:solidFill>
                  <a:srgbClr val="0000FF"/>
                </a:solidFill>
              </a:rPr>
              <a:t>try</a:t>
            </a:r>
          </a:p>
          <a:p>
            <a:pPr eaLnBrk="1" hangingPunct="1"/>
            <a:r>
              <a:rPr lang="en-US" altLang="zh-CN" sz="1400" b="1" dirty="0"/>
              <a:t>            {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System.out.println</a:t>
            </a:r>
            <a:r>
              <a:rPr lang="en-US" altLang="zh-CN" sz="1400" b="1" dirty="0"/>
              <a:t>("Please enter a integer:");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int</a:t>
            </a:r>
            <a:r>
              <a:rPr lang="en-US" altLang="zh-CN" sz="1400" b="1" dirty="0"/>
              <a:t> number = </a:t>
            </a:r>
            <a:r>
              <a:rPr lang="en-US" altLang="zh-CN" sz="1400" b="1" dirty="0" err="1"/>
              <a:t>scanner.nextInt</a:t>
            </a:r>
            <a:r>
              <a:rPr lang="en-US" altLang="zh-CN" sz="1400" b="1" dirty="0"/>
              <a:t>();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System.out.println</a:t>
            </a:r>
            <a:r>
              <a:rPr lang="en-US" altLang="zh-CN" sz="1400" b="1" dirty="0"/>
              <a:t>("Your input is: " + number);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inputIsValid</a:t>
            </a:r>
            <a:r>
              <a:rPr lang="en-US" altLang="zh-CN" sz="1400" b="1" dirty="0"/>
              <a:t> = true;</a:t>
            </a:r>
          </a:p>
          <a:p>
            <a:pPr eaLnBrk="1" hangingPunct="1"/>
            <a:r>
              <a:rPr lang="en-US" altLang="zh-CN" sz="1400" b="1" dirty="0"/>
              <a:t>            }</a:t>
            </a:r>
          </a:p>
          <a:p>
            <a:pPr eaLnBrk="1" hangingPunct="1"/>
            <a:r>
              <a:rPr lang="en-US" altLang="zh-CN" sz="1400" b="1" dirty="0"/>
              <a:t>            </a:t>
            </a:r>
            <a:r>
              <a:rPr lang="en-US" altLang="zh-CN" sz="1400" b="1" dirty="0">
                <a:solidFill>
                  <a:srgbClr val="0000FF"/>
                </a:solidFill>
              </a:rPr>
              <a:t>catch</a:t>
            </a:r>
            <a:r>
              <a:rPr lang="en-US" altLang="zh-CN" sz="1400" b="1" dirty="0"/>
              <a:t> (</a:t>
            </a:r>
            <a:r>
              <a:rPr lang="en-US" altLang="zh-CN" sz="1400" b="1" dirty="0" err="1"/>
              <a:t>InputMismatchException</a:t>
            </a:r>
            <a:r>
              <a:rPr lang="en-US" altLang="zh-CN" sz="1400" b="1" dirty="0"/>
              <a:t> ex)</a:t>
            </a:r>
          </a:p>
          <a:p>
            <a:pPr eaLnBrk="1" hangingPunct="1"/>
            <a:r>
              <a:rPr lang="en-US" altLang="zh-CN" sz="1400" b="1" dirty="0"/>
              <a:t>            {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System.out.println</a:t>
            </a:r>
            <a:r>
              <a:rPr lang="en-US" altLang="zh-CN" sz="1400" b="1" dirty="0"/>
              <a:t>("</a:t>
            </a:r>
            <a:r>
              <a:rPr lang="en-US" altLang="zh-CN" sz="1400" b="1" dirty="0" err="1"/>
              <a:t>Incorect</a:t>
            </a:r>
            <a:r>
              <a:rPr lang="en-US" altLang="zh-CN" sz="1400" b="1" dirty="0"/>
              <a:t> input, please try again.");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scanner.nextLine</a:t>
            </a:r>
            <a:r>
              <a:rPr lang="en-US" altLang="zh-CN" sz="1400" b="1" dirty="0"/>
              <a:t>();  </a:t>
            </a:r>
            <a:r>
              <a:rPr lang="en-US" altLang="zh-CN" sz="1400" b="1" dirty="0">
                <a:solidFill>
                  <a:srgbClr val="006600"/>
                </a:solidFill>
              </a:rPr>
              <a:t>// </a:t>
            </a:r>
            <a:r>
              <a:rPr lang="zh-CN" altLang="en-US" sz="1400" b="1" dirty="0">
                <a:solidFill>
                  <a:srgbClr val="006600"/>
                </a:solidFill>
              </a:rPr>
              <a:t>重新开始接受输入</a:t>
            </a:r>
          </a:p>
          <a:p>
            <a:pPr eaLnBrk="1" hangingPunct="1"/>
            <a:r>
              <a:rPr lang="zh-CN" altLang="en-US" sz="1400" b="1" dirty="0"/>
              <a:t>            </a:t>
            </a:r>
            <a:r>
              <a:rPr lang="en-US" altLang="zh-CN" sz="1400" b="1" dirty="0"/>
              <a:t>}</a:t>
            </a:r>
          </a:p>
          <a:p>
            <a:pPr eaLnBrk="1" hangingPunct="1"/>
            <a:r>
              <a:rPr lang="en-US" altLang="zh-CN" sz="1400" b="1" dirty="0"/>
              <a:t>        }</a:t>
            </a:r>
          </a:p>
          <a:p>
            <a:pPr eaLnBrk="1" hangingPunct="1"/>
            <a:r>
              <a:rPr lang="en-US" altLang="zh-CN" sz="1400" b="1" dirty="0"/>
              <a:t>    }</a:t>
            </a:r>
          </a:p>
          <a:p>
            <a:pPr eaLnBrk="1" hangingPunct="1"/>
            <a:r>
              <a:rPr lang="en-US" altLang="zh-CN" sz="1400" b="1" dirty="0"/>
              <a:t>}</a:t>
            </a:r>
          </a:p>
          <a:p>
            <a:pPr eaLnBrk="1" hangingPunct="1"/>
            <a:endParaRPr lang="en-US" altLang="zh-CN" sz="1200" b="1" dirty="0"/>
          </a:p>
        </p:txBody>
      </p:sp>
      <p:sp>
        <p:nvSpPr>
          <p:cNvPr id="25604" name="矩形 4"/>
          <p:cNvSpPr>
            <a:spLocks noChangeArrowheads="1"/>
          </p:cNvSpPr>
          <p:nvPr/>
        </p:nvSpPr>
        <p:spPr bwMode="auto">
          <a:xfrm>
            <a:off x="1297721" y="5715840"/>
            <a:ext cx="4435475" cy="225425"/>
          </a:xfrm>
          <a:prstGeom prst="rect">
            <a:avLst/>
          </a:prstGeom>
          <a:solidFill>
            <a:srgbClr val="FF0000">
              <a:alpha val="2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200">
              <a:solidFill>
                <a:srgbClr val="FFFFFF"/>
              </a:solidFill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72308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跟踪程序执行</a:t>
            </a: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462597" y="974601"/>
            <a:ext cx="7426722" cy="5883399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400" b="1" dirty="0">
                <a:solidFill>
                  <a:srgbClr val="0000FF"/>
                </a:solidFill>
              </a:rPr>
              <a:t>import</a:t>
            </a:r>
            <a:r>
              <a:rPr lang="en-US" altLang="zh-CN" sz="1400" b="1" dirty="0"/>
              <a:t> </a:t>
            </a:r>
            <a:r>
              <a:rPr lang="en-US" altLang="zh-CN" sz="1400" b="1" dirty="0" err="1"/>
              <a:t>java.util.InputMismatchException</a:t>
            </a:r>
            <a:r>
              <a:rPr lang="en-US" altLang="zh-CN" sz="1400" b="1" dirty="0"/>
              <a:t>;</a:t>
            </a:r>
          </a:p>
          <a:p>
            <a:pPr eaLnBrk="1" hangingPunct="1"/>
            <a:r>
              <a:rPr lang="en-US" altLang="zh-CN" sz="1400" b="1" dirty="0">
                <a:solidFill>
                  <a:srgbClr val="0000FF"/>
                </a:solidFill>
              </a:rPr>
              <a:t>import</a:t>
            </a:r>
            <a:r>
              <a:rPr lang="en-US" altLang="zh-CN" sz="1400" b="1" dirty="0"/>
              <a:t> </a:t>
            </a:r>
            <a:r>
              <a:rPr lang="en-US" altLang="zh-CN" sz="1400" b="1" dirty="0" err="1"/>
              <a:t>java.util.Scanner</a:t>
            </a:r>
            <a:r>
              <a:rPr lang="en-US" altLang="zh-CN" sz="1400" b="1" dirty="0"/>
              <a:t>;</a:t>
            </a:r>
          </a:p>
          <a:p>
            <a:pPr eaLnBrk="1" hangingPunct="1"/>
            <a:endParaRPr lang="en-US" altLang="zh-CN" sz="1400" b="1" dirty="0"/>
          </a:p>
          <a:p>
            <a:pPr eaLnBrk="1" hangingPunct="1"/>
            <a:r>
              <a:rPr lang="en-US" altLang="zh-CN" sz="1400" b="1" dirty="0">
                <a:solidFill>
                  <a:srgbClr val="0000FF"/>
                </a:solidFill>
              </a:rPr>
              <a:t>public class </a:t>
            </a:r>
            <a:r>
              <a:rPr lang="en-US" altLang="zh-CN" sz="1400" b="1" dirty="0"/>
              <a:t>RuntimeExceptionDemo2 </a:t>
            </a:r>
          </a:p>
          <a:p>
            <a:pPr eaLnBrk="1" hangingPunct="1"/>
            <a:r>
              <a:rPr lang="en-US" altLang="zh-CN" sz="1400" b="1" dirty="0"/>
              <a:t>{</a:t>
            </a:r>
          </a:p>
          <a:p>
            <a:pPr eaLnBrk="1" hangingPunct="1"/>
            <a:r>
              <a:rPr lang="en-US" altLang="zh-CN" sz="1400" b="1" dirty="0"/>
              <a:t>    </a:t>
            </a:r>
            <a:r>
              <a:rPr lang="en-US" altLang="zh-CN" sz="1400" b="1" dirty="0">
                <a:solidFill>
                  <a:srgbClr val="0000FF"/>
                </a:solidFill>
              </a:rPr>
              <a:t>public static void </a:t>
            </a:r>
            <a:r>
              <a:rPr lang="en-US" altLang="zh-CN" sz="1400" b="1" dirty="0"/>
              <a:t>main(String[] </a:t>
            </a:r>
            <a:r>
              <a:rPr lang="en-US" altLang="zh-CN" sz="1400" b="1" dirty="0" err="1"/>
              <a:t>args</a:t>
            </a:r>
            <a:r>
              <a:rPr lang="en-US" altLang="zh-CN" sz="1400" b="1" dirty="0"/>
              <a:t>) </a:t>
            </a:r>
          </a:p>
          <a:p>
            <a:pPr eaLnBrk="1" hangingPunct="1"/>
            <a:r>
              <a:rPr lang="en-US" altLang="zh-CN" sz="1400" b="1" dirty="0"/>
              <a:t>    {</a:t>
            </a:r>
          </a:p>
          <a:p>
            <a:pPr eaLnBrk="1" hangingPunct="1"/>
            <a:r>
              <a:rPr lang="en-US" altLang="zh-CN" sz="1400" b="1" dirty="0"/>
              <a:t>        Scanner </a:t>
            </a:r>
            <a:r>
              <a:rPr lang="en-US" altLang="zh-CN" sz="1400" b="1" dirty="0" err="1"/>
              <a:t>scanner</a:t>
            </a:r>
            <a:r>
              <a:rPr lang="en-US" altLang="zh-CN" sz="1400" b="1" dirty="0"/>
              <a:t> = </a:t>
            </a:r>
            <a:r>
              <a:rPr lang="en-US" altLang="zh-CN" sz="1400" b="1" dirty="0">
                <a:solidFill>
                  <a:srgbClr val="0000FF"/>
                </a:solidFill>
              </a:rPr>
              <a:t>new</a:t>
            </a:r>
            <a:r>
              <a:rPr lang="en-US" altLang="zh-CN" sz="1400" b="1" dirty="0"/>
              <a:t> Scanner(System.in);</a:t>
            </a:r>
          </a:p>
          <a:p>
            <a:pPr eaLnBrk="1" hangingPunct="1"/>
            <a:r>
              <a:rPr lang="en-US" altLang="zh-CN" sz="1400" b="1" dirty="0"/>
              <a:t>        </a:t>
            </a:r>
            <a:r>
              <a:rPr lang="en-US" altLang="zh-CN" sz="1400" b="1" dirty="0" err="1">
                <a:solidFill>
                  <a:srgbClr val="0000FF"/>
                </a:solidFill>
              </a:rPr>
              <a:t>boolean</a:t>
            </a:r>
            <a:r>
              <a:rPr lang="en-US" altLang="zh-CN" sz="1400" b="1" dirty="0"/>
              <a:t> </a:t>
            </a:r>
            <a:r>
              <a:rPr lang="en-US" altLang="zh-CN" sz="1400" b="1" dirty="0" err="1"/>
              <a:t>inputIsValid</a:t>
            </a:r>
            <a:r>
              <a:rPr lang="en-US" altLang="zh-CN" sz="1400" b="1" dirty="0"/>
              <a:t> = false; </a:t>
            </a:r>
          </a:p>
          <a:p>
            <a:pPr eaLnBrk="1" hangingPunct="1"/>
            <a:r>
              <a:rPr lang="en-US" altLang="zh-CN" sz="1400" b="1" dirty="0"/>
              <a:t>        </a:t>
            </a:r>
          </a:p>
          <a:p>
            <a:pPr eaLnBrk="1" hangingPunct="1"/>
            <a:r>
              <a:rPr lang="en-US" altLang="zh-CN" sz="1400" b="1" dirty="0"/>
              <a:t>        </a:t>
            </a:r>
            <a:r>
              <a:rPr lang="en-US" altLang="zh-CN" sz="1400" b="1" dirty="0">
                <a:solidFill>
                  <a:srgbClr val="0000FF"/>
                </a:solidFill>
              </a:rPr>
              <a:t>while</a:t>
            </a:r>
            <a:r>
              <a:rPr lang="en-US" altLang="zh-CN" sz="1400" b="1" dirty="0"/>
              <a:t> (!</a:t>
            </a:r>
            <a:r>
              <a:rPr lang="en-US" altLang="zh-CN" sz="1400" b="1" dirty="0" err="1"/>
              <a:t>inputIsValid</a:t>
            </a:r>
            <a:r>
              <a:rPr lang="en-US" altLang="zh-CN" sz="1400" b="1" dirty="0"/>
              <a:t>)</a:t>
            </a:r>
          </a:p>
          <a:p>
            <a:pPr eaLnBrk="1" hangingPunct="1"/>
            <a:r>
              <a:rPr lang="en-US" altLang="zh-CN" sz="1400" b="1" dirty="0"/>
              <a:t>        {</a:t>
            </a:r>
          </a:p>
          <a:p>
            <a:pPr eaLnBrk="1" hangingPunct="1"/>
            <a:r>
              <a:rPr lang="en-US" altLang="zh-CN" sz="1400" b="1" dirty="0"/>
              <a:t>            </a:t>
            </a:r>
            <a:r>
              <a:rPr lang="en-US" altLang="zh-CN" sz="1400" b="1" dirty="0">
                <a:solidFill>
                  <a:srgbClr val="0000FF"/>
                </a:solidFill>
              </a:rPr>
              <a:t>try</a:t>
            </a:r>
          </a:p>
          <a:p>
            <a:pPr eaLnBrk="1" hangingPunct="1"/>
            <a:r>
              <a:rPr lang="en-US" altLang="zh-CN" sz="1400" b="1" dirty="0"/>
              <a:t>            {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System.out.println</a:t>
            </a:r>
            <a:r>
              <a:rPr lang="en-US" altLang="zh-CN" sz="1400" b="1" dirty="0"/>
              <a:t>("Please enter a integer:");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int</a:t>
            </a:r>
            <a:r>
              <a:rPr lang="en-US" altLang="zh-CN" sz="1400" b="1" dirty="0"/>
              <a:t> number = </a:t>
            </a:r>
            <a:r>
              <a:rPr lang="en-US" altLang="zh-CN" sz="1400" b="1" dirty="0" err="1"/>
              <a:t>scanner.nextInt</a:t>
            </a:r>
            <a:r>
              <a:rPr lang="en-US" altLang="zh-CN" sz="1400" b="1" dirty="0"/>
              <a:t>();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System.out.println</a:t>
            </a:r>
            <a:r>
              <a:rPr lang="en-US" altLang="zh-CN" sz="1400" b="1" dirty="0"/>
              <a:t>("Your input is: " + number);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inputIsValid</a:t>
            </a:r>
            <a:r>
              <a:rPr lang="en-US" altLang="zh-CN" sz="1400" b="1" dirty="0"/>
              <a:t> = true;</a:t>
            </a:r>
          </a:p>
          <a:p>
            <a:pPr eaLnBrk="1" hangingPunct="1"/>
            <a:r>
              <a:rPr lang="en-US" altLang="zh-CN" sz="1400" b="1" dirty="0"/>
              <a:t>            }</a:t>
            </a:r>
          </a:p>
          <a:p>
            <a:pPr eaLnBrk="1" hangingPunct="1"/>
            <a:r>
              <a:rPr lang="en-US" altLang="zh-CN" sz="1400" b="1" dirty="0"/>
              <a:t>            </a:t>
            </a:r>
            <a:r>
              <a:rPr lang="en-US" altLang="zh-CN" sz="1400" b="1" dirty="0">
                <a:solidFill>
                  <a:srgbClr val="0000FF"/>
                </a:solidFill>
              </a:rPr>
              <a:t>catch</a:t>
            </a:r>
            <a:r>
              <a:rPr lang="en-US" altLang="zh-CN" sz="1400" b="1" dirty="0"/>
              <a:t> (</a:t>
            </a:r>
            <a:r>
              <a:rPr lang="en-US" altLang="zh-CN" sz="1400" b="1" dirty="0" err="1"/>
              <a:t>InputMismatchException</a:t>
            </a:r>
            <a:r>
              <a:rPr lang="en-US" altLang="zh-CN" sz="1400" b="1" dirty="0"/>
              <a:t> ex)</a:t>
            </a:r>
          </a:p>
          <a:p>
            <a:pPr eaLnBrk="1" hangingPunct="1"/>
            <a:r>
              <a:rPr lang="en-US" altLang="zh-CN" sz="1400" b="1" dirty="0"/>
              <a:t>            {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System.out.println</a:t>
            </a:r>
            <a:r>
              <a:rPr lang="en-US" altLang="zh-CN" sz="1400" b="1" dirty="0"/>
              <a:t>("</a:t>
            </a:r>
            <a:r>
              <a:rPr lang="en-US" altLang="zh-CN" sz="1400" b="1" dirty="0" err="1"/>
              <a:t>Incorect</a:t>
            </a:r>
            <a:r>
              <a:rPr lang="en-US" altLang="zh-CN" sz="1400" b="1" dirty="0"/>
              <a:t> input, please try again.");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scanner.nextLine</a:t>
            </a:r>
            <a:r>
              <a:rPr lang="en-US" altLang="zh-CN" sz="1400" b="1" dirty="0"/>
              <a:t>();  </a:t>
            </a:r>
            <a:r>
              <a:rPr lang="en-US" altLang="zh-CN" sz="1400" b="1" dirty="0">
                <a:solidFill>
                  <a:srgbClr val="006600"/>
                </a:solidFill>
              </a:rPr>
              <a:t>// </a:t>
            </a:r>
            <a:r>
              <a:rPr lang="zh-CN" altLang="en-US" sz="1400" b="1" dirty="0">
                <a:solidFill>
                  <a:srgbClr val="006600"/>
                </a:solidFill>
              </a:rPr>
              <a:t>重新开始接受输入</a:t>
            </a:r>
          </a:p>
          <a:p>
            <a:pPr eaLnBrk="1" hangingPunct="1"/>
            <a:r>
              <a:rPr lang="zh-CN" altLang="en-US" sz="1400" b="1" dirty="0"/>
              <a:t>            </a:t>
            </a:r>
            <a:r>
              <a:rPr lang="en-US" altLang="zh-CN" sz="1400" b="1" dirty="0"/>
              <a:t>}</a:t>
            </a:r>
          </a:p>
          <a:p>
            <a:pPr eaLnBrk="1" hangingPunct="1"/>
            <a:r>
              <a:rPr lang="en-US" altLang="zh-CN" sz="1400" b="1" dirty="0"/>
              <a:t>        }</a:t>
            </a:r>
          </a:p>
          <a:p>
            <a:pPr eaLnBrk="1" hangingPunct="1"/>
            <a:r>
              <a:rPr lang="en-US" altLang="zh-CN" sz="1400" b="1" dirty="0"/>
              <a:t>    }</a:t>
            </a:r>
          </a:p>
          <a:p>
            <a:pPr eaLnBrk="1" hangingPunct="1"/>
            <a:r>
              <a:rPr lang="en-US" altLang="zh-CN" sz="1400" b="1" dirty="0"/>
              <a:t>}</a:t>
            </a:r>
          </a:p>
          <a:p>
            <a:pPr eaLnBrk="1" hangingPunct="1"/>
            <a:endParaRPr lang="en-US" altLang="zh-CN" sz="1200" b="1" dirty="0"/>
          </a:p>
        </p:txBody>
      </p:sp>
      <p:sp>
        <p:nvSpPr>
          <p:cNvPr id="25604" name="矩形 4"/>
          <p:cNvSpPr>
            <a:spLocks noChangeArrowheads="1"/>
          </p:cNvSpPr>
          <p:nvPr/>
        </p:nvSpPr>
        <p:spPr bwMode="auto">
          <a:xfrm>
            <a:off x="899592" y="3140968"/>
            <a:ext cx="4435475" cy="225425"/>
          </a:xfrm>
          <a:prstGeom prst="rect">
            <a:avLst/>
          </a:prstGeom>
          <a:solidFill>
            <a:srgbClr val="FF0000">
              <a:alpha val="2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200">
              <a:solidFill>
                <a:srgbClr val="FFFFFF"/>
              </a:solidFill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8170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跟踪程序执行</a:t>
            </a: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462597" y="974601"/>
            <a:ext cx="7426722" cy="5883399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400" b="1" dirty="0">
                <a:solidFill>
                  <a:srgbClr val="0000FF"/>
                </a:solidFill>
              </a:rPr>
              <a:t>import</a:t>
            </a:r>
            <a:r>
              <a:rPr lang="en-US" altLang="zh-CN" sz="1400" b="1" dirty="0"/>
              <a:t> </a:t>
            </a:r>
            <a:r>
              <a:rPr lang="en-US" altLang="zh-CN" sz="1400" b="1" dirty="0" err="1"/>
              <a:t>java.util.InputMismatchException</a:t>
            </a:r>
            <a:r>
              <a:rPr lang="en-US" altLang="zh-CN" sz="1400" b="1" dirty="0"/>
              <a:t>;</a:t>
            </a:r>
          </a:p>
          <a:p>
            <a:pPr eaLnBrk="1" hangingPunct="1"/>
            <a:r>
              <a:rPr lang="en-US" altLang="zh-CN" sz="1400" b="1" dirty="0">
                <a:solidFill>
                  <a:srgbClr val="0000FF"/>
                </a:solidFill>
              </a:rPr>
              <a:t>import</a:t>
            </a:r>
            <a:r>
              <a:rPr lang="en-US" altLang="zh-CN" sz="1400" b="1" dirty="0"/>
              <a:t> </a:t>
            </a:r>
            <a:r>
              <a:rPr lang="en-US" altLang="zh-CN" sz="1400" b="1" dirty="0" err="1"/>
              <a:t>java.util.Scanner</a:t>
            </a:r>
            <a:r>
              <a:rPr lang="en-US" altLang="zh-CN" sz="1400" b="1" dirty="0"/>
              <a:t>;</a:t>
            </a:r>
          </a:p>
          <a:p>
            <a:pPr eaLnBrk="1" hangingPunct="1"/>
            <a:endParaRPr lang="en-US" altLang="zh-CN" sz="1400" b="1" dirty="0"/>
          </a:p>
          <a:p>
            <a:pPr eaLnBrk="1" hangingPunct="1"/>
            <a:r>
              <a:rPr lang="en-US" altLang="zh-CN" sz="1400" b="1" dirty="0">
                <a:solidFill>
                  <a:srgbClr val="0000FF"/>
                </a:solidFill>
              </a:rPr>
              <a:t>public class </a:t>
            </a:r>
            <a:r>
              <a:rPr lang="en-US" altLang="zh-CN" sz="1400" b="1" dirty="0"/>
              <a:t>RuntimeExceptionDemo2 </a:t>
            </a:r>
          </a:p>
          <a:p>
            <a:pPr eaLnBrk="1" hangingPunct="1"/>
            <a:r>
              <a:rPr lang="en-US" altLang="zh-CN" sz="1400" b="1" dirty="0"/>
              <a:t>{</a:t>
            </a:r>
          </a:p>
          <a:p>
            <a:pPr eaLnBrk="1" hangingPunct="1"/>
            <a:r>
              <a:rPr lang="en-US" altLang="zh-CN" sz="1400" b="1" dirty="0"/>
              <a:t>    </a:t>
            </a:r>
            <a:r>
              <a:rPr lang="en-US" altLang="zh-CN" sz="1400" b="1" dirty="0">
                <a:solidFill>
                  <a:srgbClr val="0000FF"/>
                </a:solidFill>
              </a:rPr>
              <a:t>public static void </a:t>
            </a:r>
            <a:r>
              <a:rPr lang="en-US" altLang="zh-CN" sz="1400" b="1" dirty="0"/>
              <a:t>main(String[] </a:t>
            </a:r>
            <a:r>
              <a:rPr lang="en-US" altLang="zh-CN" sz="1400" b="1" dirty="0" err="1"/>
              <a:t>args</a:t>
            </a:r>
            <a:r>
              <a:rPr lang="en-US" altLang="zh-CN" sz="1400" b="1" dirty="0"/>
              <a:t>) </a:t>
            </a:r>
          </a:p>
          <a:p>
            <a:pPr eaLnBrk="1" hangingPunct="1"/>
            <a:r>
              <a:rPr lang="en-US" altLang="zh-CN" sz="1400" b="1" dirty="0"/>
              <a:t>    {</a:t>
            </a:r>
          </a:p>
          <a:p>
            <a:pPr eaLnBrk="1" hangingPunct="1"/>
            <a:r>
              <a:rPr lang="en-US" altLang="zh-CN" sz="1400" b="1" dirty="0"/>
              <a:t>        Scanner </a:t>
            </a:r>
            <a:r>
              <a:rPr lang="en-US" altLang="zh-CN" sz="1400" b="1" dirty="0" err="1"/>
              <a:t>scanner</a:t>
            </a:r>
            <a:r>
              <a:rPr lang="en-US" altLang="zh-CN" sz="1400" b="1" dirty="0"/>
              <a:t> = </a:t>
            </a:r>
            <a:r>
              <a:rPr lang="en-US" altLang="zh-CN" sz="1400" b="1" dirty="0">
                <a:solidFill>
                  <a:srgbClr val="0000FF"/>
                </a:solidFill>
              </a:rPr>
              <a:t>new</a:t>
            </a:r>
            <a:r>
              <a:rPr lang="en-US" altLang="zh-CN" sz="1400" b="1" dirty="0"/>
              <a:t> Scanner(System.in);</a:t>
            </a:r>
          </a:p>
          <a:p>
            <a:pPr eaLnBrk="1" hangingPunct="1"/>
            <a:r>
              <a:rPr lang="en-US" altLang="zh-CN" sz="1400" b="1" dirty="0"/>
              <a:t>        </a:t>
            </a:r>
            <a:r>
              <a:rPr lang="en-US" altLang="zh-CN" sz="1400" b="1" dirty="0" err="1">
                <a:solidFill>
                  <a:srgbClr val="0000FF"/>
                </a:solidFill>
              </a:rPr>
              <a:t>boolean</a:t>
            </a:r>
            <a:r>
              <a:rPr lang="en-US" altLang="zh-CN" sz="1400" b="1" dirty="0"/>
              <a:t> </a:t>
            </a:r>
            <a:r>
              <a:rPr lang="en-US" altLang="zh-CN" sz="1400" b="1" dirty="0" err="1"/>
              <a:t>inputIsValid</a:t>
            </a:r>
            <a:r>
              <a:rPr lang="en-US" altLang="zh-CN" sz="1400" b="1" dirty="0"/>
              <a:t> = false; </a:t>
            </a:r>
          </a:p>
          <a:p>
            <a:pPr eaLnBrk="1" hangingPunct="1"/>
            <a:r>
              <a:rPr lang="en-US" altLang="zh-CN" sz="1400" b="1" dirty="0"/>
              <a:t>        </a:t>
            </a:r>
          </a:p>
          <a:p>
            <a:pPr eaLnBrk="1" hangingPunct="1"/>
            <a:r>
              <a:rPr lang="en-US" altLang="zh-CN" sz="1400" b="1" dirty="0"/>
              <a:t>        </a:t>
            </a:r>
            <a:r>
              <a:rPr lang="en-US" altLang="zh-CN" sz="1400" b="1" dirty="0">
                <a:solidFill>
                  <a:srgbClr val="0000FF"/>
                </a:solidFill>
              </a:rPr>
              <a:t>while</a:t>
            </a:r>
            <a:r>
              <a:rPr lang="en-US" altLang="zh-CN" sz="1400" b="1" dirty="0"/>
              <a:t> (!</a:t>
            </a:r>
            <a:r>
              <a:rPr lang="en-US" altLang="zh-CN" sz="1400" b="1" dirty="0" err="1"/>
              <a:t>inputIsValid</a:t>
            </a:r>
            <a:r>
              <a:rPr lang="en-US" altLang="zh-CN" sz="1400" b="1" dirty="0"/>
              <a:t>)</a:t>
            </a:r>
          </a:p>
          <a:p>
            <a:pPr eaLnBrk="1" hangingPunct="1"/>
            <a:r>
              <a:rPr lang="en-US" altLang="zh-CN" sz="1400" b="1" dirty="0"/>
              <a:t>        {</a:t>
            </a:r>
          </a:p>
          <a:p>
            <a:pPr eaLnBrk="1" hangingPunct="1"/>
            <a:r>
              <a:rPr lang="en-US" altLang="zh-CN" sz="1400" b="1" dirty="0"/>
              <a:t>            </a:t>
            </a:r>
            <a:r>
              <a:rPr lang="en-US" altLang="zh-CN" sz="1400" b="1" dirty="0">
                <a:solidFill>
                  <a:srgbClr val="0000FF"/>
                </a:solidFill>
              </a:rPr>
              <a:t>try</a:t>
            </a:r>
          </a:p>
          <a:p>
            <a:pPr eaLnBrk="1" hangingPunct="1"/>
            <a:r>
              <a:rPr lang="en-US" altLang="zh-CN" sz="1400" b="1" dirty="0"/>
              <a:t>            {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System.out.println</a:t>
            </a:r>
            <a:r>
              <a:rPr lang="en-US" altLang="zh-CN" sz="1400" b="1" dirty="0"/>
              <a:t>("Please enter a integer:");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int</a:t>
            </a:r>
            <a:r>
              <a:rPr lang="en-US" altLang="zh-CN" sz="1400" b="1" dirty="0"/>
              <a:t> number = </a:t>
            </a:r>
            <a:r>
              <a:rPr lang="en-US" altLang="zh-CN" sz="1400" b="1" dirty="0" err="1"/>
              <a:t>scanner.nextInt</a:t>
            </a:r>
            <a:r>
              <a:rPr lang="en-US" altLang="zh-CN" sz="1400" b="1" dirty="0"/>
              <a:t>();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System.out.println</a:t>
            </a:r>
            <a:r>
              <a:rPr lang="en-US" altLang="zh-CN" sz="1400" b="1" dirty="0"/>
              <a:t>("Your input is: " + number);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inputIsValid</a:t>
            </a:r>
            <a:r>
              <a:rPr lang="en-US" altLang="zh-CN" sz="1400" b="1" dirty="0"/>
              <a:t> = true;</a:t>
            </a:r>
          </a:p>
          <a:p>
            <a:pPr eaLnBrk="1" hangingPunct="1"/>
            <a:r>
              <a:rPr lang="en-US" altLang="zh-CN" sz="1400" b="1" dirty="0"/>
              <a:t>            }</a:t>
            </a:r>
          </a:p>
          <a:p>
            <a:pPr eaLnBrk="1" hangingPunct="1"/>
            <a:r>
              <a:rPr lang="en-US" altLang="zh-CN" sz="1400" b="1" dirty="0"/>
              <a:t>            </a:t>
            </a:r>
            <a:r>
              <a:rPr lang="en-US" altLang="zh-CN" sz="1400" b="1" dirty="0">
                <a:solidFill>
                  <a:srgbClr val="0000FF"/>
                </a:solidFill>
              </a:rPr>
              <a:t>catch</a:t>
            </a:r>
            <a:r>
              <a:rPr lang="en-US" altLang="zh-CN" sz="1400" b="1" dirty="0"/>
              <a:t> (</a:t>
            </a:r>
            <a:r>
              <a:rPr lang="en-US" altLang="zh-CN" sz="1400" b="1" dirty="0" err="1"/>
              <a:t>InputMismatchException</a:t>
            </a:r>
            <a:r>
              <a:rPr lang="en-US" altLang="zh-CN" sz="1400" b="1" dirty="0"/>
              <a:t> ex)</a:t>
            </a:r>
          </a:p>
          <a:p>
            <a:pPr eaLnBrk="1" hangingPunct="1"/>
            <a:r>
              <a:rPr lang="en-US" altLang="zh-CN" sz="1400" b="1" dirty="0"/>
              <a:t>            {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System.out.println</a:t>
            </a:r>
            <a:r>
              <a:rPr lang="en-US" altLang="zh-CN" sz="1400" b="1" dirty="0"/>
              <a:t>("</a:t>
            </a:r>
            <a:r>
              <a:rPr lang="en-US" altLang="zh-CN" sz="1400" b="1" dirty="0" err="1"/>
              <a:t>Incorect</a:t>
            </a:r>
            <a:r>
              <a:rPr lang="en-US" altLang="zh-CN" sz="1400" b="1" dirty="0"/>
              <a:t> input, please try again.");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scanner.nextLine</a:t>
            </a:r>
            <a:r>
              <a:rPr lang="en-US" altLang="zh-CN" sz="1400" b="1" dirty="0"/>
              <a:t>();  </a:t>
            </a:r>
            <a:r>
              <a:rPr lang="en-US" altLang="zh-CN" sz="1400" b="1" dirty="0">
                <a:solidFill>
                  <a:srgbClr val="006600"/>
                </a:solidFill>
              </a:rPr>
              <a:t>// </a:t>
            </a:r>
            <a:r>
              <a:rPr lang="zh-CN" altLang="en-US" sz="1400" b="1" dirty="0">
                <a:solidFill>
                  <a:srgbClr val="006600"/>
                </a:solidFill>
              </a:rPr>
              <a:t>重新开始接受输入</a:t>
            </a:r>
          </a:p>
          <a:p>
            <a:pPr eaLnBrk="1" hangingPunct="1"/>
            <a:r>
              <a:rPr lang="zh-CN" altLang="en-US" sz="1400" b="1" dirty="0"/>
              <a:t>            </a:t>
            </a:r>
            <a:r>
              <a:rPr lang="en-US" altLang="zh-CN" sz="1400" b="1" dirty="0"/>
              <a:t>}</a:t>
            </a:r>
          </a:p>
          <a:p>
            <a:pPr eaLnBrk="1" hangingPunct="1"/>
            <a:r>
              <a:rPr lang="en-US" altLang="zh-CN" sz="1400" b="1" dirty="0"/>
              <a:t>        }</a:t>
            </a:r>
          </a:p>
          <a:p>
            <a:pPr eaLnBrk="1" hangingPunct="1"/>
            <a:r>
              <a:rPr lang="en-US" altLang="zh-CN" sz="1400" b="1" dirty="0"/>
              <a:t>    }</a:t>
            </a:r>
          </a:p>
          <a:p>
            <a:pPr eaLnBrk="1" hangingPunct="1"/>
            <a:r>
              <a:rPr lang="en-US" altLang="zh-CN" sz="1400" b="1" dirty="0"/>
              <a:t>}</a:t>
            </a:r>
          </a:p>
          <a:p>
            <a:pPr eaLnBrk="1" hangingPunct="1"/>
            <a:endParaRPr lang="en-US" altLang="zh-CN" sz="1200" b="1" dirty="0"/>
          </a:p>
        </p:txBody>
      </p:sp>
      <p:sp>
        <p:nvSpPr>
          <p:cNvPr id="25604" name="矩形 4"/>
          <p:cNvSpPr>
            <a:spLocks noChangeArrowheads="1"/>
          </p:cNvSpPr>
          <p:nvPr/>
        </p:nvSpPr>
        <p:spPr bwMode="auto">
          <a:xfrm>
            <a:off x="1251477" y="4009311"/>
            <a:ext cx="4435475" cy="225425"/>
          </a:xfrm>
          <a:prstGeom prst="rect">
            <a:avLst/>
          </a:prstGeom>
          <a:solidFill>
            <a:srgbClr val="FF0000">
              <a:alpha val="2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200">
              <a:solidFill>
                <a:srgbClr val="FFFFFF"/>
              </a:solidFill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20700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跟踪程序执行</a:t>
            </a: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462597" y="974601"/>
            <a:ext cx="7426722" cy="5883399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400" b="1" dirty="0">
                <a:solidFill>
                  <a:srgbClr val="0000FF"/>
                </a:solidFill>
              </a:rPr>
              <a:t>import</a:t>
            </a:r>
            <a:r>
              <a:rPr lang="en-US" altLang="zh-CN" sz="1400" b="1" dirty="0"/>
              <a:t> </a:t>
            </a:r>
            <a:r>
              <a:rPr lang="en-US" altLang="zh-CN" sz="1400" b="1" dirty="0" err="1"/>
              <a:t>java.util.InputMismatchException</a:t>
            </a:r>
            <a:r>
              <a:rPr lang="en-US" altLang="zh-CN" sz="1400" b="1" dirty="0"/>
              <a:t>;</a:t>
            </a:r>
          </a:p>
          <a:p>
            <a:pPr eaLnBrk="1" hangingPunct="1"/>
            <a:r>
              <a:rPr lang="en-US" altLang="zh-CN" sz="1400" b="1" dirty="0">
                <a:solidFill>
                  <a:srgbClr val="0000FF"/>
                </a:solidFill>
              </a:rPr>
              <a:t>import</a:t>
            </a:r>
            <a:r>
              <a:rPr lang="en-US" altLang="zh-CN" sz="1400" b="1" dirty="0"/>
              <a:t> </a:t>
            </a:r>
            <a:r>
              <a:rPr lang="en-US" altLang="zh-CN" sz="1400" b="1" dirty="0" err="1"/>
              <a:t>java.util.Scanner</a:t>
            </a:r>
            <a:r>
              <a:rPr lang="en-US" altLang="zh-CN" sz="1400" b="1" dirty="0"/>
              <a:t>;</a:t>
            </a:r>
          </a:p>
          <a:p>
            <a:pPr eaLnBrk="1" hangingPunct="1"/>
            <a:endParaRPr lang="en-US" altLang="zh-CN" sz="1400" b="1" dirty="0"/>
          </a:p>
          <a:p>
            <a:pPr eaLnBrk="1" hangingPunct="1"/>
            <a:r>
              <a:rPr lang="en-US" altLang="zh-CN" sz="1400" b="1" dirty="0">
                <a:solidFill>
                  <a:srgbClr val="0000FF"/>
                </a:solidFill>
              </a:rPr>
              <a:t>public class </a:t>
            </a:r>
            <a:r>
              <a:rPr lang="en-US" altLang="zh-CN" sz="1400" b="1" dirty="0"/>
              <a:t>RuntimeExceptionDemo2 </a:t>
            </a:r>
          </a:p>
          <a:p>
            <a:pPr eaLnBrk="1" hangingPunct="1"/>
            <a:r>
              <a:rPr lang="en-US" altLang="zh-CN" sz="1400" b="1" dirty="0"/>
              <a:t>{</a:t>
            </a:r>
          </a:p>
          <a:p>
            <a:pPr eaLnBrk="1" hangingPunct="1"/>
            <a:r>
              <a:rPr lang="en-US" altLang="zh-CN" sz="1400" b="1" dirty="0"/>
              <a:t>    </a:t>
            </a:r>
            <a:r>
              <a:rPr lang="en-US" altLang="zh-CN" sz="1400" b="1" dirty="0">
                <a:solidFill>
                  <a:srgbClr val="0000FF"/>
                </a:solidFill>
              </a:rPr>
              <a:t>public static void </a:t>
            </a:r>
            <a:r>
              <a:rPr lang="en-US" altLang="zh-CN" sz="1400" b="1" dirty="0"/>
              <a:t>main(String[] </a:t>
            </a:r>
            <a:r>
              <a:rPr lang="en-US" altLang="zh-CN" sz="1400" b="1" dirty="0" err="1"/>
              <a:t>args</a:t>
            </a:r>
            <a:r>
              <a:rPr lang="en-US" altLang="zh-CN" sz="1400" b="1" dirty="0"/>
              <a:t>) </a:t>
            </a:r>
          </a:p>
          <a:p>
            <a:pPr eaLnBrk="1" hangingPunct="1"/>
            <a:r>
              <a:rPr lang="en-US" altLang="zh-CN" sz="1400" b="1" dirty="0"/>
              <a:t>    {</a:t>
            </a:r>
          </a:p>
          <a:p>
            <a:pPr eaLnBrk="1" hangingPunct="1"/>
            <a:r>
              <a:rPr lang="en-US" altLang="zh-CN" sz="1400" b="1" dirty="0"/>
              <a:t>        Scanner </a:t>
            </a:r>
            <a:r>
              <a:rPr lang="en-US" altLang="zh-CN" sz="1400" b="1" dirty="0" err="1"/>
              <a:t>scanner</a:t>
            </a:r>
            <a:r>
              <a:rPr lang="en-US" altLang="zh-CN" sz="1400" b="1" dirty="0"/>
              <a:t> = </a:t>
            </a:r>
            <a:r>
              <a:rPr lang="en-US" altLang="zh-CN" sz="1400" b="1" dirty="0">
                <a:solidFill>
                  <a:srgbClr val="0000FF"/>
                </a:solidFill>
              </a:rPr>
              <a:t>new</a:t>
            </a:r>
            <a:r>
              <a:rPr lang="en-US" altLang="zh-CN" sz="1400" b="1" dirty="0"/>
              <a:t> Scanner(System.in);</a:t>
            </a:r>
          </a:p>
          <a:p>
            <a:pPr eaLnBrk="1" hangingPunct="1"/>
            <a:r>
              <a:rPr lang="en-US" altLang="zh-CN" sz="1400" b="1" dirty="0"/>
              <a:t>        </a:t>
            </a:r>
            <a:r>
              <a:rPr lang="en-US" altLang="zh-CN" sz="1400" b="1" dirty="0" err="1">
                <a:solidFill>
                  <a:srgbClr val="0000FF"/>
                </a:solidFill>
              </a:rPr>
              <a:t>boolean</a:t>
            </a:r>
            <a:r>
              <a:rPr lang="en-US" altLang="zh-CN" sz="1400" b="1" dirty="0"/>
              <a:t> </a:t>
            </a:r>
            <a:r>
              <a:rPr lang="en-US" altLang="zh-CN" sz="1400" b="1" dirty="0" err="1"/>
              <a:t>inputIsValid</a:t>
            </a:r>
            <a:r>
              <a:rPr lang="en-US" altLang="zh-CN" sz="1400" b="1" dirty="0"/>
              <a:t> = false; </a:t>
            </a:r>
          </a:p>
          <a:p>
            <a:pPr eaLnBrk="1" hangingPunct="1"/>
            <a:r>
              <a:rPr lang="en-US" altLang="zh-CN" sz="1400" b="1" dirty="0"/>
              <a:t>        </a:t>
            </a:r>
          </a:p>
          <a:p>
            <a:pPr eaLnBrk="1" hangingPunct="1"/>
            <a:r>
              <a:rPr lang="en-US" altLang="zh-CN" sz="1400" b="1" dirty="0"/>
              <a:t>        </a:t>
            </a:r>
            <a:r>
              <a:rPr lang="en-US" altLang="zh-CN" sz="1400" b="1" dirty="0">
                <a:solidFill>
                  <a:srgbClr val="0000FF"/>
                </a:solidFill>
              </a:rPr>
              <a:t>while</a:t>
            </a:r>
            <a:r>
              <a:rPr lang="en-US" altLang="zh-CN" sz="1400" b="1" dirty="0"/>
              <a:t> (!</a:t>
            </a:r>
            <a:r>
              <a:rPr lang="en-US" altLang="zh-CN" sz="1400" b="1" dirty="0" err="1"/>
              <a:t>inputIsValid</a:t>
            </a:r>
            <a:r>
              <a:rPr lang="en-US" altLang="zh-CN" sz="1400" b="1" dirty="0"/>
              <a:t>)</a:t>
            </a:r>
          </a:p>
          <a:p>
            <a:pPr eaLnBrk="1" hangingPunct="1"/>
            <a:r>
              <a:rPr lang="en-US" altLang="zh-CN" sz="1400" b="1" dirty="0"/>
              <a:t>        {</a:t>
            </a:r>
          </a:p>
          <a:p>
            <a:pPr eaLnBrk="1" hangingPunct="1"/>
            <a:r>
              <a:rPr lang="en-US" altLang="zh-CN" sz="1400" b="1" dirty="0"/>
              <a:t>            </a:t>
            </a:r>
            <a:r>
              <a:rPr lang="en-US" altLang="zh-CN" sz="1400" b="1" dirty="0">
                <a:solidFill>
                  <a:srgbClr val="0000FF"/>
                </a:solidFill>
              </a:rPr>
              <a:t>try</a:t>
            </a:r>
          </a:p>
          <a:p>
            <a:pPr eaLnBrk="1" hangingPunct="1"/>
            <a:r>
              <a:rPr lang="en-US" altLang="zh-CN" sz="1400" b="1" dirty="0"/>
              <a:t>            {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System.out.println</a:t>
            </a:r>
            <a:r>
              <a:rPr lang="en-US" altLang="zh-CN" sz="1400" b="1" dirty="0"/>
              <a:t>("Please enter a integer:");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int</a:t>
            </a:r>
            <a:r>
              <a:rPr lang="en-US" altLang="zh-CN" sz="1400" b="1" dirty="0"/>
              <a:t> number = </a:t>
            </a:r>
            <a:r>
              <a:rPr lang="en-US" altLang="zh-CN" sz="1400" b="1" dirty="0" err="1"/>
              <a:t>scanner.nextInt</a:t>
            </a:r>
            <a:r>
              <a:rPr lang="en-US" altLang="zh-CN" sz="1400" b="1" dirty="0"/>
              <a:t>();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System.out.println</a:t>
            </a:r>
            <a:r>
              <a:rPr lang="en-US" altLang="zh-CN" sz="1400" b="1" dirty="0"/>
              <a:t>("Your input is: " + number);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inputIsValid</a:t>
            </a:r>
            <a:r>
              <a:rPr lang="en-US" altLang="zh-CN" sz="1400" b="1" dirty="0"/>
              <a:t> = true;</a:t>
            </a:r>
          </a:p>
          <a:p>
            <a:pPr eaLnBrk="1" hangingPunct="1"/>
            <a:r>
              <a:rPr lang="en-US" altLang="zh-CN" sz="1400" b="1" dirty="0"/>
              <a:t>            }</a:t>
            </a:r>
          </a:p>
          <a:p>
            <a:pPr eaLnBrk="1" hangingPunct="1"/>
            <a:r>
              <a:rPr lang="en-US" altLang="zh-CN" sz="1400" b="1" dirty="0"/>
              <a:t>            </a:t>
            </a:r>
            <a:r>
              <a:rPr lang="en-US" altLang="zh-CN" sz="1400" b="1" dirty="0">
                <a:solidFill>
                  <a:srgbClr val="0000FF"/>
                </a:solidFill>
              </a:rPr>
              <a:t>catch</a:t>
            </a:r>
            <a:r>
              <a:rPr lang="en-US" altLang="zh-CN" sz="1400" b="1" dirty="0"/>
              <a:t> (</a:t>
            </a:r>
            <a:r>
              <a:rPr lang="en-US" altLang="zh-CN" sz="1400" b="1" dirty="0" err="1"/>
              <a:t>InputMismatchException</a:t>
            </a:r>
            <a:r>
              <a:rPr lang="en-US" altLang="zh-CN" sz="1400" b="1" dirty="0"/>
              <a:t> ex)</a:t>
            </a:r>
          </a:p>
          <a:p>
            <a:pPr eaLnBrk="1" hangingPunct="1"/>
            <a:r>
              <a:rPr lang="en-US" altLang="zh-CN" sz="1400" b="1" dirty="0"/>
              <a:t>            {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System.out.println</a:t>
            </a:r>
            <a:r>
              <a:rPr lang="en-US" altLang="zh-CN" sz="1400" b="1" dirty="0"/>
              <a:t>("</a:t>
            </a:r>
            <a:r>
              <a:rPr lang="en-US" altLang="zh-CN" sz="1400" b="1" dirty="0" err="1"/>
              <a:t>Incorect</a:t>
            </a:r>
            <a:r>
              <a:rPr lang="en-US" altLang="zh-CN" sz="1400" b="1" dirty="0"/>
              <a:t> input, please try again.");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scanner.nextLine</a:t>
            </a:r>
            <a:r>
              <a:rPr lang="en-US" altLang="zh-CN" sz="1400" b="1" dirty="0"/>
              <a:t>();  </a:t>
            </a:r>
            <a:r>
              <a:rPr lang="en-US" altLang="zh-CN" sz="1400" b="1" dirty="0">
                <a:solidFill>
                  <a:srgbClr val="006600"/>
                </a:solidFill>
              </a:rPr>
              <a:t>// </a:t>
            </a:r>
            <a:r>
              <a:rPr lang="zh-CN" altLang="en-US" sz="1400" b="1" dirty="0">
                <a:solidFill>
                  <a:srgbClr val="006600"/>
                </a:solidFill>
              </a:rPr>
              <a:t>重新开始接受输入</a:t>
            </a:r>
          </a:p>
          <a:p>
            <a:pPr eaLnBrk="1" hangingPunct="1"/>
            <a:r>
              <a:rPr lang="zh-CN" altLang="en-US" sz="1400" b="1" dirty="0"/>
              <a:t>            </a:t>
            </a:r>
            <a:r>
              <a:rPr lang="en-US" altLang="zh-CN" sz="1400" b="1" dirty="0"/>
              <a:t>}</a:t>
            </a:r>
          </a:p>
          <a:p>
            <a:pPr eaLnBrk="1" hangingPunct="1"/>
            <a:r>
              <a:rPr lang="en-US" altLang="zh-CN" sz="1400" b="1" dirty="0"/>
              <a:t>        }</a:t>
            </a:r>
          </a:p>
          <a:p>
            <a:pPr eaLnBrk="1" hangingPunct="1"/>
            <a:r>
              <a:rPr lang="en-US" altLang="zh-CN" sz="1400" b="1" dirty="0"/>
              <a:t>    }</a:t>
            </a:r>
          </a:p>
          <a:p>
            <a:pPr eaLnBrk="1" hangingPunct="1"/>
            <a:r>
              <a:rPr lang="en-US" altLang="zh-CN" sz="1400" b="1" dirty="0"/>
              <a:t>}</a:t>
            </a:r>
          </a:p>
          <a:p>
            <a:pPr eaLnBrk="1" hangingPunct="1"/>
            <a:endParaRPr lang="en-US" altLang="zh-CN" sz="1200" b="1" dirty="0"/>
          </a:p>
        </p:txBody>
      </p:sp>
      <p:sp>
        <p:nvSpPr>
          <p:cNvPr id="25604" name="矩形 4"/>
          <p:cNvSpPr>
            <a:spLocks noChangeArrowheads="1"/>
          </p:cNvSpPr>
          <p:nvPr/>
        </p:nvSpPr>
        <p:spPr bwMode="auto">
          <a:xfrm>
            <a:off x="1297721" y="4225335"/>
            <a:ext cx="4435475" cy="225425"/>
          </a:xfrm>
          <a:prstGeom prst="rect">
            <a:avLst/>
          </a:prstGeom>
          <a:solidFill>
            <a:srgbClr val="FF0000">
              <a:alpha val="2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200">
              <a:solidFill>
                <a:srgbClr val="FFFFFF"/>
              </a:solidFill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3995936" y="2967037"/>
            <a:ext cx="2430463" cy="923925"/>
          </a:xfrm>
          <a:prstGeom prst="rect">
            <a:avLst/>
          </a:prstGeom>
          <a:gradFill rotWithShape="1">
            <a:gsLst>
              <a:gs pos="0">
                <a:srgbClr val="B9DBDB"/>
              </a:gs>
              <a:gs pos="35001">
                <a:srgbClr val="CEE5E5"/>
              </a:gs>
              <a:gs pos="100000">
                <a:srgbClr val="ECF5F5"/>
              </a:gs>
            </a:gsLst>
            <a:lin ang="5400000" scaled="1"/>
          </a:gradFill>
          <a:ln w="9525">
            <a:solidFill>
              <a:srgbClr val="598888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接收用户输入。</a:t>
            </a:r>
            <a:endParaRPr lang="en-US" altLang="zh-CN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假设用户输入的是整数，如 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100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7" name="直接箭头连接符 7"/>
          <p:cNvCxnSpPr>
            <a:cxnSpLocks noChangeShapeType="1"/>
            <a:stCxn id="6" idx="1"/>
          </p:cNvCxnSpPr>
          <p:nvPr/>
        </p:nvCxnSpPr>
        <p:spPr bwMode="auto">
          <a:xfrm flipH="1">
            <a:off x="2987824" y="3429000"/>
            <a:ext cx="1008112" cy="79633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0881639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跟踪程序执行</a:t>
            </a: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462597" y="974601"/>
            <a:ext cx="7426722" cy="5883399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400" b="1" dirty="0">
                <a:solidFill>
                  <a:srgbClr val="0000FF"/>
                </a:solidFill>
              </a:rPr>
              <a:t>import</a:t>
            </a:r>
            <a:r>
              <a:rPr lang="en-US" altLang="zh-CN" sz="1400" b="1" dirty="0"/>
              <a:t> </a:t>
            </a:r>
            <a:r>
              <a:rPr lang="en-US" altLang="zh-CN" sz="1400" b="1" dirty="0" err="1"/>
              <a:t>java.util.InputMismatchException</a:t>
            </a:r>
            <a:r>
              <a:rPr lang="en-US" altLang="zh-CN" sz="1400" b="1" dirty="0"/>
              <a:t>;</a:t>
            </a:r>
          </a:p>
          <a:p>
            <a:pPr eaLnBrk="1" hangingPunct="1"/>
            <a:r>
              <a:rPr lang="en-US" altLang="zh-CN" sz="1400" b="1" dirty="0">
                <a:solidFill>
                  <a:srgbClr val="0000FF"/>
                </a:solidFill>
              </a:rPr>
              <a:t>import</a:t>
            </a:r>
            <a:r>
              <a:rPr lang="en-US" altLang="zh-CN" sz="1400" b="1" dirty="0"/>
              <a:t> </a:t>
            </a:r>
            <a:r>
              <a:rPr lang="en-US" altLang="zh-CN" sz="1400" b="1" dirty="0" err="1"/>
              <a:t>java.util.Scanner</a:t>
            </a:r>
            <a:r>
              <a:rPr lang="en-US" altLang="zh-CN" sz="1400" b="1" dirty="0"/>
              <a:t>;</a:t>
            </a:r>
          </a:p>
          <a:p>
            <a:pPr eaLnBrk="1" hangingPunct="1"/>
            <a:endParaRPr lang="en-US" altLang="zh-CN" sz="1400" b="1" dirty="0"/>
          </a:p>
          <a:p>
            <a:pPr eaLnBrk="1" hangingPunct="1"/>
            <a:r>
              <a:rPr lang="en-US" altLang="zh-CN" sz="1400" b="1" dirty="0">
                <a:solidFill>
                  <a:srgbClr val="0000FF"/>
                </a:solidFill>
              </a:rPr>
              <a:t>public class </a:t>
            </a:r>
            <a:r>
              <a:rPr lang="en-US" altLang="zh-CN" sz="1400" b="1" dirty="0"/>
              <a:t>RuntimeExceptionDemo2 </a:t>
            </a:r>
          </a:p>
          <a:p>
            <a:pPr eaLnBrk="1" hangingPunct="1"/>
            <a:r>
              <a:rPr lang="en-US" altLang="zh-CN" sz="1400" b="1" dirty="0"/>
              <a:t>{</a:t>
            </a:r>
          </a:p>
          <a:p>
            <a:pPr eaLnBrk="1" hangingPunct="1"/>
            <a:r>
              <a:rPr lang="en-US" altLang="zh-CN" sz="1400" b="1" dirty="0"/>
              <a:t>    </a:t>
            </a:r>
            <a:r>
              <a:rPr lang="en-US" altLang="zh-CN" sz="1400" b="1" dirty="0">
                <a:solidFill>
                  <a:srgbClr val="0000FF"/>
                </a:solidFill>
              </a:rPr>
              <a:t>public static void </a:t>
            </a:r>
            <a:r>
              <a:rPr lang="en-US" altLang="zh-CN" sz="1400" b="1" dirty="0"/>
              <a:t>main(String[] </a:t>
            </a:r>
            <a:r>
              <a:rPr lang="en-US" altLang="zh-CN" sz="1400" b="1" dirty="0" err="1"/>
              <a:t>args</a:t>
            </a:r>
            <a:r>
              <a:rPr lang="en-US" altLang="zh-CN" sz="1400" b="1" dirty="0"/>
              <a:t>) </a:t>
            </a:r>
          </a:p>
          <a:p>
            <a:pPr eaLnBrk="1" hangingPunct="1"/>
            <a:r>
              <a:rPr lang="en-US" altLang="zh-CN" sz="1400" b="1" dirty="0"/>
              <a:t>    {</a:t>
            </a:r>
          </a:p>
          <a:p>
            <a:pPr eaLnBrk="1" hangingPunct="1"/>
            <a:r>
              <a:rPr lang="en-US" altLang="zh-CN" sz="1400" b="1" dirty="0"/>
              <a:t>        Scanner </a:t>
            </a:r>
            <a:r>
              <a:rPr lang="en-US" altLang="zh-CN" sz="1400" b="1" dirty="0" err="1"/>
              <a:t>scanner</a:t>
            </a:r>
            <a:r>
              <a:rPr lang="en-US" altLang="zh-CN" sz="1400" b="1" dirty="0"/>
              <a:t> = </a:t>
            </a:r>
            <a:r>
              <a:rPr lang="en-US" altLang="zh-CN" sz="1400" b="1" dirty="0">
                <a:solidFill>
                  <a:srgbClr val="0000FF"/>
                </a:solidFill>
              </a:rPr>
              <a:t>new</a:t>
            </a:r>
            <a:r>
              <a:rPr lang="en-US" altLang="zh-CN" sz="1400" b="1" dirty="0"/>
              <a:t> Scanner(System.in);</a:t>
            </a:r>
          </a:p>
          <a:p>
            <a:pPr eaLnBrk="1" hangingPunct="1"/>
            <a:r>
              <a:rPr lang="en-US" altLang="zh-CN" sz="1400" b="1" dirty="0"/>
              <a:t>        </a:t>
            </a:r>
            <a:r>
              <a:rPr lang="en-US" altLang="zh-CN" sz="1400" b="1" dirty="0" err="1">
                <a:solidFill>
                  <a:srgbClr val="0000FF"/>
                </a:solidFill>
              </a:rPr>
              <a:t>boolean</a:t>
            </a:r>
            <a:r>
              <a:rPr lang="en-US" altLang="zh-CN" sz="1400" b="1" dirty="0"/>
              <a:t> </a:t>
            </a:r>
            <a:r>
              <a:rPr lang="en-US" altLang="zh-CN" sz="1400" b="1" dirty="0" err="1"/>
              <a:t>inputIsValid</a:t>
            </a:r>
            <a:r>
              <a:rPr lang="en-US" altLang="zh-CN" sz="1400" b="1" dirty="0"/>
              <a:t> = false; </a:t>
            </a:r>
          </a:p>
          <a:p>
            <a:pPr eaLnBrk="1" hangingPunct="1"/>
            <a:r>
              <a:rPr lang="en-US" altLang="zh-CN" sz="1400" b="1" dirty="0"/>
              <a:t>        </a:t>
            </a:r>
          </a:p>
          <a:p>
            <a:pPr eaLnBrk="1" hangingPunct="1"/>
            <a:r>
              <a:rPr lang="en-US" altLang="zh-CN" sz="1400" b="1" dirty="0"/>
              <a:t>        </a:t>
            </a:r>
            <a:r>
              <a:rPr lang="en-US" altLang="zh-CN" sz="1400" b="1" dirty="0">
                <a:solidFill>
                  <a:srgbClr val="0000FF"/>
                </a:solidFill>
              </a:rPr>
              <a:t>while</a:t>
            </a:r>
            <a:r>
              <a:rPr lang="en-US" altLang="zh-CN" sz="1400" b="1" dirty="0"/>
              <a:t> (!</a:t>
            </a:r>
            <a:r>
              <a:rPr lang="en-US" altLang="zh-CN" sz="1400" b="1" dirty="0" err="1"/>
              <a:t>inputIsValid</a:t>
            </a:r>
            <a:r>
              <a:rPr lang="en-US" altLang="zh-CN" sz="1400" b="1" dirty="0"/>
              <a:t>)</a:t>
            </a:r>
          </a:p>
          <a:p>
            <a:pPr eaLnBrk="1" hangingPunct="1"/>
            <a:r>
              <a:rPr lang="en-US" altLang="zh-CN" sz="1400" b="1" dirty="0"/>
              <a:t>        {</a:t>
            </a:r>
          </a:p>
          <a:p>
            <a:pPr eaLnBrk="1" hangingPunct="1"/>
            <a:r>
              <a:rPr lang="en-US" altLang="zh-CN" sz="1400" b="1" dirty="0"/>
              <a:t>            </a:t>
            </a:r>
            <a:r>
              <a:rPr lang="en-US" altLang="zh-CN" sz="1400" b="1" dirty="0">
                <a:solidFill>
                  <a:srgbClr val="0000FF"/>
                </a:solidFill>
              </a:rPr>
              <a:t>try</a:t>
            </a:r>
          </a:p>
          <a:p>
            <a:pPr eaLnBrk="1" hangingPunct="1"/>
            <a:r>
              <a:rPr lang="en-US" altLang="zh-CN" sz="1400" b="1" dirty="0"/>
              <a:t>            {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System.out.println</a:t>
            </a:r>
            <a:r>
              <a:rPr lang="en-US" altLang="zh-CN" sz="1400" b="1" dirty="0"/>
              <a:t>("Please enter a integer:");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int</a:t>
            </a:r>
            <a:r>
              <a:rPr lang="en-US" altLang="zh-CN" sz="1400" b="1" dirty="0"/>
              <a:t> number = </a:t>
            </a:r>
            <a:r>
              <a:rPr lang="en-US" altLang="zh-CN" sz="1400" b="1" dirty="0" err="1"/>
              <a:t>scanner.nextInt</a:t>
            </a:r>
            <a:r>
              <a:rPr lang="en-US" altLang="zh-CN" sz="1400" b="1" dirty="0"/>
              <a:t>();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System.out.println</a:t>
            </a:r>
            <a:r>
              <a:rPr lang="en-US" altLang="zh-CN" sz="1400" b="1" dirty="0"/>
              <a:t>("Your input is: " + number);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inputIsValid</a:t>
            </a:r>
            <a:r>
              <a:rPr lang="en-US" altLang="zh-CN" sz="1400" b="1" dirty="0"/>
              <a:t> = true;</a:t>
            </a:r>
          </a:p>
          <a:p>
            <a:pPr eaLnBrk="1" hangingPunct="1"/>
            <a:r>
              <a:rPr lang="en-US" altLang="zh-CN" sz="1400" b="1" dirty="0"/>
              <a:t>            }</a:t>
            </a:r>
          </a:p>
          <a:p>
            <a:pPr eaLnBrk="1" hangingPunct="1"/>
            <a:r>
              <a:rPr lang="en-US" altLang="zh-CN" sz="1400" b="1" dirty="0"/>
              <a:t>            </a:t>
            </a:r>
            <a:r>
              <a:rPr lang="en-US" altLang="zh-CN" sz="1400" b="1" dirty="0">
                <a:solidFill>
                  <a:srgbClr val="0000FF"/>
                </a:solidFill>
              </a:rPr>
              <a:t>catch</a:t>
            </a:r>
            <a:r>
              <a:rPr lang="en-US" altLang="zh-CN" sz="1400" b="1" dirty="0"/>
              <a:t> (</a:t>
            </a:r>
            <a:r>
              <a:rPr lang="en-US" altLang="zh-CN" sz="1400" b="1" dirty="0" err="1"/>
              <a:t>InputMismatchException</a:t>
            </a:r>
            <a:r>
              <a:rPr lang="en-US" altLang="zh-CN" sz="1400" b="1" dirty="0"/>
              <a:t> ex)</a:t>
            </a:r>
          </a:p>
          <a:p>
            <a:pPr eaLnBrk="1" hangingPunct="1"/>
            <a:r>
              <a:rPr lang="en-US" altLang="zh-CN" sz="1400" b="1" dirty="0"/>
              <a:t>            {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System.out.println</a:t>
            </a:r>
            <a:r>
              <a:rPr lang="en-US" altLang="zh-CN" sz="1400" b="1" dirty="0"/>
              <a:t>("</a:t>
            </a:r>
            <a:r>
              <a:rPr lang="en-US" altLang="zh-CN" sz="1400" b="1" dirty="0" err="1"/>
              <a:t>Incorect</a:t>
            </a:r>
            <a:r>
              <a:rPr lang="en-US" altLang="zh-CN" sz="1400" b="1" dirty="0"/>
              <a:t> input, please try again.");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scanner.nextLine</a:t>
            </a:r>
            <a:r>
              <a:rPr lang="en-US" altLang="zh-CN" sz="1400" b="1" dirty="0"/>
              <a:t>();  </a:t>
            </a:r>
            <a:r>
              <a:rPr lang="en-US" altLang="zh-CN" sz="1400" b="1" dirty="0">
                <a:solidFill>
                  <a:srgbClr val="006600"/>
                </a:solidFill>
              </a:rPr>
              <a:t>// </a:t>
            </a:r>
            <a:r>
              <a:rPr lang="zh-CN" altLang="en-US" sz="1400" b="1" dirty="0">
                <a:solidFill>
                  <a:srgbClr val="006600"/>
                </a:solidFill>
              </a:rPr>
              <a:t>重新开始接受输入</a:t>
            </a:r>
          </a:p>
          <a:p>
            <a:pPr eaLnBrk="1" hangingPunct="1"/>
            <a:r>
              <a:rPr lang="zh-CN" altLang="en-US" sz="1400" b="1" dirty="0"/>
              <a:t>            </a:t>
            </a:r>
            <a:r>
              <a:rPr lang="en-US" altLang="zh-CN" sz="1400" b="1" dirty="0"/>
              <a:t>}</a:t>
            </a:r>
          </a:p>
          <a:p>
            <a:pPr eaLnBrk="1" hangingPunct="1"/>
            <a:r>
              <a:rPr lang="en-US" altLang="zh-CN" sz="1400" b="1" dirty="0"/>
              <a:t>        }</a:t>
            </a:r>
          </a:p>
          <a:p>
            <a:pPr eaLnBrk="1" hangingPunct="1"/>
            <a:r>
              <a:rPr lang="en-US" altLang="zh-CN" sz="1400" b="1" dirty="0"/>
              <a:t>    }</a:t>
            </a:r>
          </a:p>
          <a:p>
            <a:pPr eaLnBrk="1" hangingPunct="1"/>
            <a:r>
              <a:rPr lang="en-US" altLang="zh-CN" sz="1400" b="1" dirty="0"/>
              <a:t>}</a:t>
            </a:r>
          </a:p>
          <a:p>
            <a:pPr eaLnBrk="1" hangingPunct="1"/>
            <a:endParaRPr lang="en-US" altLang="zh-CN" sz="1200" b="1" dirty="0"/>
          </a:p>
        </p:txBody>
      </p:sp>
      <p:sp>
        <p:nvSpPr>
          <p:cNvPr id="25604" name="矩形 4"/>
          <p:cNvSpPr>
            <a:spLocks noChangeArrowheads="1"/>
          </p:cNvSpPr>
          <p:nvPr/>
        </p:nvSpPr>
        <p:spPr bwMode="auto">
          <a:xfrm>
            <a:off x="1251477" y="4437112"/>
            <a:ext cx="4435475" cy="225425"/>
          </a:xfrm>
          <a:prstGeom prst="rect">
            <a:avLst/>
          </a:prstGeom>
          <a:solidFill>
            <a:srgbClr val="FF0000">
              <a:alpha val="2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200">
              <a:solidFill>
                <a:srgbClr val="FFFFFF"/>
              </a:solidFill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56379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跟踪程序执行</a:t>
            </a: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462597" y="974601"/>
            <a:ext cx="7426722" cy="5883399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400" b="1" dirty="0">
                <a:solidFill>
                  <a:srgbClr val="0000FF"/>
                </a:solidFill>
              </a:rPr>
              <a:t>import</a:t>
            </a:r>
            <a:r>
              <a:rPr lang="en-US" altLang="zh-CN" sz="1400" b="1" dirty="0"/>
              <a:t> </a:t>
            </a:r>
            <a:r>
              <a:rPr lang="en-US" altLang="zh-CN" sz="1400" b="1" dirty="0" err="1"/>
              <a:t>java.util.InputMismatchException</a:t>
            </a:r>
            <a:r>
              <a:rPr lang="en-US" altLang="zh-CN" sz="1400" b="1" dirty="0"/>
              <a:t>;</a:t>
            </a:r>
          </a:p>
          <a:p>
            <a:pPr eaLnBrk="1" hangingPunct="1"/>
            <a:r>
              <a:rPr lang="en-US" altLang="zh-CN" sz="1400" b="1" dirty="0">
                <a:solidFill>
                  <a:srgbClr val="0000FF"/>
                </a:solidFill>
              </a:rPr>
              <a:t>import</a:t>
            </a:r>
            <a:r>
              <a:rPr lang="en-US" altLang="zh-CN" sz="1400" b="1" dirty="0"/>
              <a:t> </a:t>
            </a:r>
            <a:r>
              <a:rPr lang="en-US" altLang="zh-CN" sz="1400" b="1" dirty="0" err="1"/>
              <a:t>java.util.Scanner</a:t>
            </a:r>
            <a:r>
              <a:rPr lang="en-US" altLang="zh-CN" sz="1400" b="1" dirty="0"/>
              <a:t>;</a:t>
            </a:r>
          </a:p>
          <a:p>
            <a:pPr eaLnBrk="1" hangingPunct="1"/>
            <a:endParaRPr lang="en-US" altLang="zh-CN" sz="1400" b="1" dirty="0"/>
          </a:p>
          <a:p>
            <a:pPr eaLnBrk="1" hangingPunct="1"/>
            <a:r>
              <a:rPr lang="en-US" altLang="zh-CN" sz="1400" b="1" dirty="0">
                <a:solidFill>
                  <a:srgbClr val="0000FF"/>
                </a:solidFill>
              </a:rPr>
              <a:t>public class </a:t>
            </a:r>
            <a:r>
              <a:rPr lang="en-US" altLang="zh-CN" sz="1400" b="1" dirty="0"/>
              <a:t>RuntimeExceptionDemo2 </a:t>
            </a:r>
          </a:p>
          <a:p>
            <a:pPr eaLnBrk="1" hangingPunct="1"/>
            <a:r>
              <a:rPr lang="en-US" altLang="zh-CN" sz="1400" b="1" dirty="0"/>
              <a:t>{</a:t>
            </a:r>
          </a:p>
          <a:p>
            <a:pPr eaLnBrk="1" hangingPunct="1"/>
            <a:r>
              <a:rPr lang="en-US" altLang="zh-CN" sz="1400" b="1" dirty="0"/>
              <a:t>    </a:t>
            </a:r>
            <a:r>
              <a:rPr lang="en-US" altLang="zh-CN" sz="1400" b="1" dirty="0">
                <a:solidFill>
                  <a:srgbClr val="0000FF"/>
                </a:solidFill>
              </a:rPr>
              <a:t>public static void </a:t>
            </a:r>
            <a:r>
              <a:rPr lang="en-US" altLang="zh-CN" sz="1400" b="1" dirty="0"/>
              <a:t>main(String[] </a:t>
            </a:r>
            <a:r>
              <a:rPr lang="en-US" altLang="zh-CN" sz="1400" b="1" dirty="0" err="1"/>
              <a:t>args</a:t>
            </a:r>
            <a:r>
              <a:rPr lang="en-US" altLang="zh-CN" sz="1400" b="1" dirty="0"/>
              <a:t>) </a:t>
            </a:r>
          </a:p>
          <a:p>
            <a:pPr eaLnBrk="1" hangingPunct="1"/>
            <a:r>
              <a:rPr lang="en-US" altLang="zh-CN" sz="1400" b="1" dirty="0"/>
              <a:t>    {</a:t>
            </a:r>
          </a:p>
          <a:p>
            <a:pPr eaLnBrk="1" hangingPunct="1"/>
            <a:r>
              <a:rPr lang="en-US" altLang="zh-CN" sz="1400" b="1" dirty="0"/>
              <a:t>        Scanner </a:t>
            </a:r>
            <a:r>
              <a:rPr lang="en-US" altLang="zh-CN" sz="1400" b="1" dirty="0" err="1"/>
              <a:t>scanner</a:t>
            </a:r>
            <a:r>
              <a:rPr lang="en-US" altLang="zh-CN" sz="1400" b="1" dirty="0"/>
              <a:t> = </a:t>
            </a:r>
            <a:r>
              <a:rPr lang="en-US" altLang="zh-CN" sz="1400" b="1" dirty="0">
                <a:solidFill>
                  <a:srgbClr val="0000FF"/>
                </a:solidFill>
              </a:rPr>
              <a:t>new</a:t>
            </a:r>
            <a:r>
              <a:rPr lang="en-US" altLang="zh-CN" sz="1400" b="1" dirty="0"/>
              <a:t> Scanner(System.in);</a:t>
            </a:r>
          </a:p>
          <a:p>
            <a:pPr eaLnBrk="1" hangingPunct="1"/>
            <a:r>
              <a:rPr lang="en-US" altLang="zh-CN" sz="1400" b="1" dirty="0"/>
              <a:t>        </a:t>
            </a:r>
            <a:r>
              <a:rPr lang="en-US" altLang="zh-CN" sz="1400" b="1" dirty="0" err="1">
                <a:solidFill>
                  <a:srgbClr val="0000FF"/>
                </a:solidFill>
              </a:rPr>
              <a:t>boolean</a:t>
            </a:r>
            <a:r>
              <a:rPr lang="en-US" altLang="zh-CN" sz="1400" b="1" dirty="0"/>
              <a:t> </a:t>
            </a:r>
            <a:r>
              <a:rPr lang="en-US" altLang="zh-CN" sz="1400" b="1" dirty="0" err="1"/>
              <a:t>inputIsValid</a:t>
            </a:r>
            <a:r>
              <a:rPr lang="en-US" altLang="zh-CN" sz="1400" b="1" dirty="0"/>
              <a:t> = false; </a:t>
            </a:r>
          </a:p>
          <a:p>
            <a:pPr eaLnBrk="1" hangingPunct="1"/>
            <a:r>
              <a:rPr lang="en-US" altLang="zh-CN" sz="1400" b="1" dirty="0"/>
              <a:t>        </a:t>
            </a:r>
          </a:p>
          <a:p>
            <a:pPr eaLnBrk="1" hangingPunct="1"/>
            <a:r>
              <a:rPr lang="en-US" altLang="zh-CN" sz="1400" b="1" dirty="0"/>
              <a:t>        </a:t>
            </a:r>
            <a:r>
              <a:rPr lang="en-US" altLang="zh-CN" sz="1400" b="1" dirty="0">
                <a:solidFill>
                  <a:srgbClr val="0000FF"/>
                </a:solidFill>
              </a:rPr>
              <a:t>while</a:t>
            </a:r>
            <a:r>
              <a:rPr lang="en-US" altLang="zh-CN" sz="1400" b="1" dirty="0"/>
              <a:t> (!</a:t>
            </a:r>
            <a:r>
              <a:rPr lang="en-US" altLang="zh-CN" sz="1400" b="1" dirty="0" err="1"/>
              <a:t>inputIsValid</a:t>
            </a:r>
            <a:r>
              <a:rPr lang="en-US" altLang="zh-CN" sz="1400" b="1" dirty="0"/>
              <a:t>)</a:t>
            </a:r>
          </a:p>
          <a:p>
            <a:pPr eaLnBrk="1" hangingPunct="1"/>
            <a:r>
              <a:rPr lang="en-US" altLang="zh-CN" sz="1400" b="1" dirty="0"/>
              <a:t>        {</a:t>
            </a:r>
          </a:p>
          <a:p>
            <a:pPr eaLnBrk="1" hangingPunct="1"/>
            <a:r>
              <a:rPr lang="en-US" altLang="zh-CN" sz="1400" b="1" dirty="0"/>
              <a:t>            </a:t>
            </a:r>
            <a:r>
              <a:rPr lang="en-US" altLang="zh-CN" sz="1400" b="1" dirty="0">
                <a:solidFill>
                  <a:srgbClr val="0000FF"/>
                </a:solidFill>
              </a:rPr>
              <a:t>try</a:t>
            </a:r>
          </a:p>
          <a:p>
            <a:pPr eaLnBrk="1" hangingPunct="1"/>
            <a:r>
              <a:rPr lang="en-US" altLang="zh-CN" sz="1400" b="1" dirty="0"/>
              <a:t>            {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System.out.println</a:t>
            </a:r>
            <a:r>
              <a:rPr lang="en-US" altLang="zh-CN" sz="1400" b="1" dirty="0"/>
              <a:t>("Please enter a integer:");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int</a:t>
            </a:r>
            <a:r>
              <a:rPr lang="en-US" altLang="zh-CN" sz="1400" b="1" dirty="0"/>
              <a:t> number = </a:t>
            </a:r>
            <a:r>
              <a:rPr lang="en-US" altLang="zh-CN" sz="1400" b="1" dirty="0" err="1"/>
              <a:t>scanner.nextInt</a:t>
            </a:r>
            <a:r>
              <a:rPr lang="en-US" altLang="zh-CN" sz="1400" b="1" dirty="0"/>
              <a:t>();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System.out.println</a:t>
            </a:r>
            <a:r>
              <a:rPr lang="en-US" altLang="zh-CN" sz="1400" b="1" dirty="0"/>
              <a:t>("Your input is: " + number);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inputIsValid</a:t>
            </a:r>
            <a:r>
              <a:rPr lang="en-US" altLang="zh-CN" sz="1400" b="1" dirty="0"/>
              <a:t> = true;</a:t>
            </a:r>
          </a:p>
          <a:p>
            <a:pPr eaLnBrk="1" hangingPunct="1"/>
            <a:r>
              <a:rPr lang="en-US" altLang="zh-CN" sz="1400" b="1" dirty="0"/>
              <a:t>            }</a:t>
            </a:r>
          </a:p>
          <a:p>
            <a:pPr eaLnBrk="1" hangingPunct="1"/>
            <a:r>
              <a:rPr lang="en-US" altLang="zh-CN" sz="1400" b="1" dirty="0"/>
              <a:t>            </a:t>
            </a:r>
            <a:r>
              <a:rPr lang="en-US" altLang="zh-CN" sz="1400" b="1" dirty="0">
                <a:solidFill>
                  <a:srgbClr val="0000FF"/>
                </a:solidFill>
              </a:rPr>
              <a:t>catch</a:t>
            </a:r>
            <a:r>
              <a:rPr lang="en-US" altLang="zh-CN" sz="1400" b="1" dirty="0"/>
              <a:t> (</a:t>
            </a:r>
            <a:r>
              <a:rPr lang="en-US" altLang="zh-CN" sz="1400" b="1" dirty="0" err="1"/>
              <a:t>InputMismatchException</a:t>
            </a:r>
            <a:r>
              <a:rPr lang="en-US" altLang="zh-CN" sz="1400" b="1" dirty="0"/>
              <a:t> ex)</a:t>
            </a:r>
          </a:p>
          <a:p>
            <a:pPr eaLnBrk="1" hangingPunct="1"/>
            <a:r>
              <a:rPr lang="en-US" altLang="zh-CN" sz="1400" b="1" dirty="0"/>
              <a:t>            {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System.out.println</a:t>
            </a:r>
            <a:r>
              <a:rPr lang="en-US" altLang="zh-CN" sz="1400" b="1" dirty="0"/>
              <a:t>("</a:t>
            </a:r>
            <a:r>
              <a:rPr lang="en-US" altLang="zh-CN" sz="1400" b="1" dirty="0" err="1"/>
              <a:t>Incorect</a:t>
            </a:r>
            <a:r>
              <a:rPr lang="en-US" altLang="zh-CN" sz="1400" b="1" dirty="0"/>
              <a:t> input, please try again.");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scanner.nextLine</a:t>
            </a:r>
            <a:r>
              <a:rPr lang="en-US" altLang="zh-CN" sz="1400" b="1" dirty="0"/>
              <a:t>();  </a:t>
            </a:r>
            <a:r>
              <a:rPr lang="en-US" altLang="zh-CN" sz="1400" b="1" dirty="0">
                <a:solidFill>
                  <a:srgbClr val="006600"/>
                </a:solidFill>
              </a:rPr>
              <a:t>// </a:t>
            </a:r>
            <a:r>
              <a:rPr lang="zh-CN" altLang="en-US" sz="1400" b="1" dirty="0">
                <a:solidFill>
                  <a:srgbClr val="006600"/>
                </a:solidFill>
              </a:rPr>
              <a:t>重新开始接受输入</a:t>
            </a:r>
          </a:p>
          <a:p>
            <a:pPr eaLnBrk="1" hangingPunct="1"/>
            <a:r>
              <a:rPr lang="zh-CN" altLang="en-US" sz="1400" b="1" dirty="0"/>
              <a:t>            </a:t>
            </a:r>
            <a:r>
              <a:rPr lang="en-US" altLang="zh-CN" sz="1400" b="1" dirty="0"/>
              <a:t>}</a:t>
            </a:r>
          </a:p>
          <a:p>
            <a:pPr eaLnBrk="1" hangingPunct="1"/>
            <a:r>
              <a:rPr lang="en-US" altLang="zh-CN" sz="1400" b="1" dirty="0"/>
              <a:t>        }</a:t>
            </a:r>
          </a:p>
          <a:p>
            <a:pPr eaLnBrk="1" hangingPunct="1"/>
            <a:r>
              <a:rPr lang="en-US" altLang="zh-CN" sz="1400" b="1" dirty="0"/>
              <a:t>    }</a:t>
            </a:r>
          </a:p>
          <a:p>
            <a:pPr eaLnBrk="1" hangingPunct="1"/>
            <a:r>
              <a:rPr lang="en-US" altLang="zh-CN" sz="1400" b="1" dirty="0"/>
              <a:t>}</a:t>
            </a:r>
          </a:p>
          <a:p>
            <a:pPr eaLnBrk="1" hangingPunct="1"/>
            <a:endParaRPr lang="en-US" altLang="zh-CN" sz="1200" b="1" dirty="0"/>
          </a:p>
        </p:txBody>
      </p:sp>
      <p:sp>
        <p:nvSpPr>
          <p:cNvPr id="25604" name="矩形 4"/>
          <p:cNvSpPr>
            <a:spLocks noChangeArrowheads="1"/>
          </p:cNvSpPr>
          <p:nvPr/>
        </p:nvSpPr>
        <p:spPr bwMode="auto">
          <a:xfrm>
            <a:off x="1251477" y="4657383"/>
            <a:ext cx="4435475" cy="225425"/>
          </a:xfrm>
          <a:prstGeom prst="rect">
            <a:avLst/>
          </a:prstGeom>
          <a:solidFill>
            <a:srgbClr val="FF0000">
              <a:alpha val="2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200">
              <a:solidFill>
                <a:srgbClr val="FFFFFF"/>
              </a:solidFill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80274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跟踪程序执行</a:t>
            </a: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462597" y="974601"/>
            <a:ext cx="7426722" cy="5883399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400" b="1" dirty="0">
                <a:solidFill>
                  <a:srgbClr val="0000FF"/>
                </a:solidFill>
              </a:rPr>
              <a:t>import</a:t>
            </a:r>
            <a:r>
              <a:rPr lang="en-US" altLang="zh-CN" sz="1400" b="1" dirty="0"/>
              <a:t> </a:t>
            </a:r>
            <a:r>
              <a:rPr lang="en-US" altLang="zh-CN" sz="1400" b="1" dirty="0" err="1"/>
              <a:t>java.util.InputMismatchException</a:t>
            </a:r>
            <a:r>
              <a:rPr lang="en-US" altLang="zh-CN" sz="1400" b="1" dirty="0"/>
              <a:t>;</a:t>
            </a:r>
          </a:p>
          <a:p>
            <a:pPr eaLnBrk="1" hangingPunct="1"/>
            <a:r>
              <a:rPr lang="en-US" altLang="zh-CN" sz="1400" b="1" dirty="0">
                <a:solidFill>
                  <a:srgbClr val="0000FF"/>
                </a:solidFill>
              </a:rPr>
              <a:t>import</a:t>
            </a:r>
            <a:r>
              <a:rPr lang="en-US" altLang="zh-CN" sz="1400" b="1" dirty="0"/>
              <a:t> </a:t>
            </a:r>
            <a:r>
              <a:rPr lang="en-US" altLang="zh-CN" sz="1400" b="1" dirty="0" err="1"/>
              <a:t>java.util.Scanner</a:t>
            </a:r>
            <a:r>
              <a:rPr lang="en-US" altLang="zh-CN" sz="1400" b="1" dirty="0"/>
              <a:t>;</a:t>
            </a:r>
          </a:p>
          <a:p>
            <a:pPr eaLnBrk="1" hangingPunct="1"/>
            <a:endParaRPr lang="en-US" altLang="zh-CN" sz="1400" b="1" dirty="0"/>
          </a:p>
          <a:p>
            <a:pPr eaLnBrk="1" hangingPunct="1"/>
            <a:r>
              <a:rPr lang="en-US" altLang="zh-CN" sz="1400" b="1" dirty="0">
                <a:solidFill>
                  <a:srgbClr val="0000FF"/>
                </a:solidFill>
              </a:rPr>
              <a:t>public class </a:t>
            </a:r>
            <a:r>
              <a:rPr lang="en-US" altLang="zh-CN" sz="1400" b="1" dirty="0"/>
              <a:t>RuntimeExceptionDemo2 </a:t>
            </a:r>
          </a:p>
          <a:p>
            <a:pPr eaLnBrk="1" hangingPunct="1"/>
            <a:r>
              <a:rPr lang="en-US" altLang="zh-CN" sz="1400" b="1" dirty="0"/>
              <a:t>{</a:t>
            </a:r>
          </a:p>
          <a:p>
            <a:pPr eaLnBrk="1" hangingPunct="1"/>
            <a:r>
              <a:rPr lang="en-US" altLang="zh-CN" sz="1400" b="1" dirty="0"/>
              <a:t>    </a:t>
            </a:r>
            <a:r>
              <a:rPr lang="en-US" altLang="zh-CN" sz="1400" b="1" dirty="0">
                <a:solidFill>
                  <a:srgbClr val="0000FF"/>
                </a:solidFill>
              </a:rPr>
              <a:t>public static void </a:t>
            </a:r>
            <a:r>
              <a:rPr lang="en-US" altLang="zh-CN" sz="1400" b="1" dirty="0"/>
              <a:t>main(String[] </a:t>
            </a:r>
            <a:r>
              <a:rPr lang="en-US" altLang="zh-CN" sz="1400" b="1" dirty="0" err="1"/>
              <a:t>args</a:t>
            </a:r>
            <a:r>
              <a:rPr lang="en-US" altLang="zh-CN" sz="1400" b="1" dirty="0"/>
              <a:t>) </a:t>
            </a:r>
          </a:p>
          <a:p>
            <a:pPr eaLnBrk="1" hangingPunct="1"/>
            <a:r>
              <a:rPr lang="en-US" altLang="zh-CN" sz="1400" b="1" dirty="0"/>
              <a:t>    {</a:t>
            </a:r>
          </a:p>
          <a:p>
            <a:pPr eaLnBrk="1" hangingPunct="1"/>
            <a:r>
              <a:rPr lang="en-US" altLang="zh-CN" sz="1400" b="1" dirty="0"/>
              <a:t>        Scanner </a:t>
            </a:r>
            <a:r>
              <a:rPr lang="en-US" altLang="zh-CN" sz="1400" b="1" dirty="0" err="1"/>
              <a:t>scanner</a:t>
            </a:r>
            <a:r>
              <a:rPr lang="en-US" altLang="zh-CN" sz="1400" b="1" dirty="0"/>
              <a:t> = </a:t>
            </a:r>
            <a:r>
              <a:rPr lang="en-US" altLang="zh-CN" sz="1400" b="1" dirty="0">
                <a:solidFill>
                  <a:srgbClr val="0000FF"/>
                </a:solidFill>
              </a:rPr>
              <a:t>new</a:t>
            </a:r>
            <a:r>
              <a:rPr lang="en-US" altLang="zh-CN" sz="1400" b="1" dirty="0"/>
              <a:t> Scanner(System.in);</a:t>
            </a:r>
          </a:p>
          <a:p>
            <a:pPr eaLnBrk="1" hangingPunct="1"/>
            <a:r>
              <a:rPr lang="en-US" altLang="zh-CN" sz="1400" b="1" dirty="0"/>
              <a:t>        </a:t>
            </a:r>
            <a:r>
              <a:rPr lang="en-US" altLang="zh-CN" sz="1400" b="1" dirty="0" err="1">
                <a:solidFill>
                  <a:srgbClr val="0000FF"/>
                </a:solidFill>
              </a:rPr>
              <a:t>boolean</a:t>
            </a:r>
            <a:r>
              <a:rPr lang="en-US" altLang="zh-CN" sz="1400" b="1" dirty="0"/>
              <a:t> </a:t>
            </a:r>
            <a:r>
              <a:rPr lang="en-US" altLang="zh-CN" sz="1400" b="1" dirty="0" err="1"/>
              <a:t>inputIsValid</a:t>
            </a:r>
            <a:r>
              <a:rPr lang="en-US" altLang="zh-CN" sz="1400" b="1" dirty="0"/>
              <a:t> = false; </a:t>
            </a:r>
          </a:p>
          <a:p>
            <a:pPr eaLnBrk="1" hangingPunct="1"/>
            <a:r>
              <a:rPr lang="en-US" altLang="zh-CN" sz="1400" b="1" dirty="0"/>
              <a:t>        </a:t>
            </a:r>
          </a:p>
          <a:p>
            <a:pPr eaLnBrk="1" hangingPunct="1"/>
            <a:r>
              <a:rPr lang="en-US" altLang="zh-CN" sz="1400" b="1" dirty="0"/>
              <a:t>        </a:t>
            </a:r>
            <a:r>
              <a:rPr lang="en-US" altLang="zh-CN" sz="1400" b="1" dirty="0">
                <a:solidFill>
                  <a:srgbClr val="0000FF"/>
                </a:solidFill>
              </a:rPr>
              <a:t>while</a:t>
            </a:r>
            <a:r>
              <a:rPr lang="en-US" altLang="zh-CN" sz="1400" b="1" dirty="0"/>
              <a:t> (!</a:t>
            </a:r>
            <a:r>
              <a:rPr lang="en-US" altLang="zh-CN" sz="1400" b="1" dirty="0" err="1"/>
              <a:t>inputIsValid</a:t>
            </a:r>
            <a:r>
              <a:rPr lang="en-US" altLang="zh-CN" sz="1400" b="1" dirty="0"/>
              <a:t>)</a:t>
            </a:r>
          </a:p>
          <a:p>
            <a:pPr eaLnBrk="1" hangingPunct="1"/>
            <a:r>
              <a:rPr lang="en-US" altLang="zh-CN" sz="1400" b="1" dirty="0"/>
              <a:t>        {</a:t>
            </a:r>
          </a:p>
          <a:p>
            <a:pPr eaLnBrk="1" hangingPunct="1"/>
            <a:r>
              <a:rPr lang="en-US" altLang="zh-CN" sz="1400" b="1" dirty="0"/>
              <a:t>            </a:t>
            </a:r>
            <a:r>
              <a:rPr lang="en-US" altLang="zh-CN" sz="1400" b="1" dirty="0">
                <a:solidFill>
                  <a:srgbClr val="0000FF"/>
                </a:solidFill>
              </a:rPr>
              <a:t>try</a:t>
            </a:r>
          </a:p>
          <a:p>
            <a:pPr eaLnBrk="1" hangingPunct="1"/>
            <a:r>
              <a:rPr lang="en-US" altLang="zh-CN" sz="1400" b="1" dirty="0"/>
              <a:t>            {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System.out.println</a:t>
            </a:r>
            <a:r>
              <a:rPr lang="en-US" altLang="zh-CN" sz="1400" b="1" dirty="0"/>
              <a:t>("Please enter a integer:");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int</a:t>
            </a:r>
            <a:r>
              <a:rPr lang="en-US" altLang="zh-CN" sz="1400" b="1" dirty="0"/>
              <a:t> number = </a:t>
            </a:r>
            <a:r>
              <a:rPr lang="en-US" altLang="zh-CN" sz="1400" b="1" dirty="0" err="1"/>
              <a:t>scanner.nextInt</a:t>
            </a:r>
            <a:r>
              <a:rPr lang="en-US" altLang="zh-CN" sz="1400" b="1" dirty="0"/>
              <a:t>();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System.out.println</a:t>
            </a:r>
            <a:r>
              <a:rPr lang="en-US" altLang="zh-CN" sz="1400" b="1" dirty="0"/>
              <a:t>("Your input is: " + number);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inputIsValid</a:t>
            </a:r>
            <a:r>
              <a:rPr lang="en-US" altLang="zh-CN" sz="1400" b="1" dirty="0"/>
              <a:t> = true;</a:t>
            </a:r>
          </a:p>
          <a:p>
            <a:pPr eaLnBrk="1" hangingPunct="1"/>
            <a:r>
              <a:rPr lang="en-US" altLang="zh-CN" sz="1400" b="1" dirty="0"/>
              <a:t>            }</a:t>
            </a:r>
          </a:p>
          <a:p>
            <a:pPr eaLnBrk="1" hangingPunct="1"/>
            <a:r>
              <a:rPr lang="en-US" altLang="zh-CN" sz="1400" b="1" dirty="0"/>
              <a:t>            </a:t>
            </a:r>
            <a:r>
              <a:rPr lang="en-US" altLang="zh-CN" sz="1400" b="1" dirty="0">
                <a:solidFill>
                  <a:srgbClr val="0000FF"/>
                </a:solidFill>
              </a:rPr>
              <a:t>catch</a:t>
            </a:r>
            <a:r>
              <a:rPr lang="en-US" altLang="zh-CN" sz="1400" b="1" dirty="0"/>
              <a:t> (</a:t>
            </a:r>
            <a:r>
              <a:rPr lang="en-US" altLang="zh-CN" sz="1400" b="1" dirty="0" err="1"/>
              <a:t>InputMismatchException</a:t>
            </a:r>
            <a:r>
              <a:rPr lang="en-US" altLang="zh-CN" sz="1400" b="1" dirty="0"/>
              <a:t> ex)</a:t>
            </a:r>
          </a:p>
          <a:p>
            <a:pPr eaLnBrk="1" hangingPunct="1"/>
            <a:r>
              <a:rPr lang="en-US" altLang="zh-CN" sz="1400" b="1" dirty="0"/>
              <a:t>            {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System.out.println</a:t>
            </a:r>
            <a:r>
              <a:rPr lang="en-US" altLang="zh-CN" sz="1400" b="1" dirty="0"/>
              <a:t>("</a:t>
            </a:r>
            <a:r>
              <a:rPr lang="en-US" altLang="zh-CN" sz="1400" b="1" dirty="0" err="1"/>
              <a:t>Incorect</a:t>
            </a:r>
            <a:r>
              <a:rPr lang="en-US" altLang="zh-CN" sz="1400" b="1" dirty="0"/>
              <a:t> input, please try again.");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scanner.nextLine</a:t>
            </a:r>
            <a:r>
              <a:rPr lang="en-US" altLang="zh-CN" sz="1400" b="1" dirty="0"/>
              <a:t>();  </a:t>
            </a:r>
            <a:r>
              <a:rPr lang="en-US" altLang="zh-CN" sz="1400" b="1" dirty="0">
                <a:solidFill>
                  <a:srgbClr val="006600"/>
                </a:solidFill>
              </a:rPr>
              <a:t>// </a:t>
            </a:r>
            <a:r>
              <a:rPr lang="zh-CN" altLang="en-US" sz="1400" b="1" dirty="0">
                <a:solidFill>
                  <a:srgbClr val="006600"/>
                </a:solidFill>
              </a:rPr>
              <a:t>重新开始接受输入</a:t>
            </a:r>
          </a:p>
          <a:p>
            <a:pPr eaLnBrk="1" hangingPunct="1"/>
            <a:r>
              <a:rPr lang="zh-CN" altLang="en-US" sz="1400" b="1" dirty="0"/>
              <a:t>            </a:t>
            </a:r>
            <a:r>
              <a:rPr lang="en-US" altLang="zh-CN" sz="1400" b="1" dirty="0"/>
              <a:t>}</a:t>
            </a:r>
          </a:p>
          <a:p>
            <a:pPr eaLnBrk="1" hangingPunct="1"/>
            <a:r>
              <a:rPr lang="en-US" altLang="zh-CN" sz="1400" b="1" dirty="0"/>
              <a:t>        }</a:t>
            </a:r>
          </a:p>
          <a:p>
            <a:pPr eaLnBrk="1" hangingPunct="1"/>
            <a:r>
              <a:rPr lang="en-US" altLang="zh-CN" sz="1400" b="1" dirty="0"/>
              <a:t>    }</a:t>
            </a:r>
          </a:p>
          <a:p>
            <a:pPr eaLnBrk="1" hangingPunct="1"/>
            <a:r>
              <a:rPr lang="en-US" altLang="zh-CN" sz="1400" b="1" dirty="0"/>
              <a:t>}</a:t>
            </a:r>
          </a:p>
          <a:p>
            <a:pPr eaLnBrk="1" hangingPunct="1"/>
            <a:endParaRPr lang="en-US" altLang="zh-CN" sz="1200" b="1" dirty="0"/>
          </a:p>
        </p:txBody>
      </p:sp>
      <p:sp>
        <p:nvSpPr>
          <p:cNvPr id="25604" name="矩形 4"/>
          <p:cNvSpPr>
            <a:spLocks noChangeArrowheads="1"/>
          </p:cNvSpPr>
          <p:nvPr/>
        </p:nvSpPr>
        <p:spPr bwMode="auto">
          <a:xfrm>
            <a:off x="899592" y="3140968"/>
            <a:ext cx="4435475" cy="225425"/>
          </a:xfrm>
          <a:prstGeom prst="rect">
            <a:avLst/>
          </a:prstGeom>
          <a:solidFill>
            <a:srgbClr val="FF0000">
              <a:alpha val="2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200">
              <a:solidFill>
                <a:srgbClr val="FFFFFF"/>
              </a:solidFill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88929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跟踪程序执行</a:t>
            </a: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462597" y="974601"/>
            <a:ext cx="7426722" cy="5883399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400" b="1" dirty="0">
                <a:solidFill>
                  <a:srgbClr val="0000FF"/>
                </a:solidFill>
              </a:rPr>
              <a:t>import</a:t>
            </a:r>
            <a:r>
              <a:rPr lang="en-US" altLang="zh-CN" sz="1400" b="1" dirty="0"/>
              <a:t> </a:t>
            </a:r>
            <a:r>
              <a:rPr lang="en-US" altLang="zh-CN" sz="1400" b="1" dirty="0" err="1"/>
              <a:t>java.util.InputMismatchException</a:t>
            </a:r>
            <a:r>
              <a:rPr lang="en-US" altLang="zh-CN" sz="1400" b="1" dirty="0"/>
              <a:t>;</a:t>
            </a:r>
          </a:p>
          <a:p>
            <a:pPr eaLnBrk="1" hangingPunct="1"/>
            <a:r>
              <a:rPr lang="en-US" altLang="zh-CN" sz="1400" b="1" dirty="0">
                <a:solidFill>
                  <a:srgbClr val="0000FF"/>
                </a:solidFill>
              </a:rPr>
              <a:t>import</a:t>
            </a:r>
            <a:r>
              <a:rPr lang="en-US" altLang="zh-CN" sz="1400" b="1" dirty="0"/>
              <a:t> </a:t>
            </a:r>
            <a:r>
              <a:rPr lang="en-US" altLang="zh-CN" sz="1400" b="1" dirty="0" err="1"/>
              <a:t>java.util.Scanner</a:t>
            </a:r>
            <a:r>
              <a:rPr lang="en-US" altLang="zh-CN" sz="1400" b="1" dirty="0"/>
              <a:t>;</a:t>
            </a:r>
          </a:p>
          <a:p>
            <a:pPr eaLnBrk="1" hangingPunct="1"/>
            <a:endParaRPr lang="en-US" altLang="zh-CN" sz="1400" b="1" dirty="0"/>
          </a:p>
          <a:p>
            <a:pPr eaLnBrk="1" hangingPunct="1"/>
            <a:r>
              <a:rPr lang="en-US" altLang="zh-CN" sz="1400" b="1" dirty="0">
                <a:solidFill>
                  <a:srgbClr val="0000FF"/>
                </a:solidFill>
              </a:rPr>
              <a:t>public class </a:t>
            </a:r>
            <a:r>
              <a:rPr lang="en-US" altLang="zh-CN" sz="1400" b="1" dirty="0"/>
              <a:t>RuntimeExceptionDemo2 </a:t>
            </a:r>
          </a:p>
          <a:p>
            <a:pPr eaLnBrk="1" hangingPunct="1"/>
            <a:r>
              <a:rPr lang="en-US" altLang="zh-CN" sz="1400" b="1" dirty="0"/>
              <a:t>{</a:t>
            </a:r>
          </a:p>
          <a:p>
            <a:pPr eaLnBrk="1" hangingPunct="1"/>
            <a:r>
              <a:rPr lang="en-US" altLang="zh-CN" sz="1400" b="1" dirty="0"/>
              <a:t>    </a:t>
            </a:r>
            <a:r>
              <a:rPr lang="en-US" altLang="zh-CN" sz="1400" b="1" dirty="0">
                <a:solidFill>
                  <a:srgbClr val="0000FF"/>
                </a:solidFill>
              </a:rPr>
              <a:t>public static void </a:t>
            </a:r>
            <a:r>
              <a:rPr lang="en-US" altLang="zh-CN" sz="1400" b="1" dirty="0"/>
              <a:t>main(String[] </a:t>
            </a:r>
            <a:r>
              <a:rPr lang="en-US" altLang="zh-CN" sz="1400" b="1" dirty="0" err="1"/>
              <a:t>args</a:t>
            </a:r>
            <a:r>
              <a:rPr lang="en-US" altLang="zh-CN" sz="1400" b="1" dirty="0"/>
              <a:t>) </a:t>
            </a:r>
          </a:p>
          <a:p>
            <a:pPr eaLnBrk="1" hangingPunct="1"/>
            <a:r>
              <a:rPr lang="en-US" altLang="zh-CN" sz="1400" b="1" dirty="0"/>
              <a:t>    {</a:t>
            </a:r>
          </a:p>
          <a:p>
            <a:pPr eaLnBrk="1" hangingPunct="1"/>
            <a:r>
              <a:rPr lang="en-US" altLang="zh-CN" sz="1400" b="1" dirty="0"/>
              <a:t>        Scanner </a:t>
            </a:r>
            <a:r>
              <a:rPr lang="en-US" altLang="zh-CN" sz="1400" b="1" dirty="0" err="1"/>
              <a:t>scanner</a:t>
            </a:r>
            <a:r>
              <a:rPr lang="en-US" altLang="zh-CN" sz="1400" b="1" dirty="0"/>
              <a:t> = </a:t>
            </a:r>
            <a:r>
              <a:rPr lang="en-US" altLang="zh-CN" sz="1400" b="1" dirty="0">
                <a:solidFill>
                  <a:srgbClr val="0000FF"/>
                </a:solidFill>
              </a:rPr>
              <a:t>new</a:t>
            </a:r>
            <a:r>
              <a:rPr lang="en-US" altLang="zh-CN" sz="1400" b="1" dirty="0"/>
              <a:t> Scanner(System.in);</a:t>
            </a:r>
          </a:p>
          <a:p>
            <a:pPr eaLnBrk="1" hangingPunct="1"/>
            <a:r>
              <a:rPr lang="en-US" altLang="zh-CN" sz="1400" b="1" dirty="0"/>
              <a:t>        </a:t>
            </a:r>
            <a:r>
              <a:rPr lang="en-US" altLang="zh-CN" sz="1400" b="1" dirty="0" err="1">
                <a:solidFill>
                  <a:srgbClr val="0000FF"/>
                </a:solidFill>
              </a:rPr>
              <a:t>boolean</a:t>
            </a:r>
            <a:r>
              <a:rPr lang="en-US" altLang="zh-CN" sz="1400" b="1" dirty="0"/>
              <a:t> </a:t>
            </a:r>
            <a:r>
              <a:rPr lang="en-US" altLang="zh-CN" sz="1400" b="1" dirty="0" err="1"/>
              <a:t>inputIsValid</a:t>
            </a:r>
            <a:r>
              <a:rPr lang="en-US" altLang="zh-CN" sz="1400" b="1" dirty="0"/>
              <a:t> = false; </a:t>
            </a:r>
          </a:p>
          <a:p>
            <a:pPr eaLnBrk="1" hangingPunct="1"/>
            <a:r>
              <a:rPr lang="en-US" altLang="zh-CN" sz="1400" b="1" dirty="0"/>
              <a:t>        </a:t>
            </a:r>
          </a:p>
          <a:p>
            <a:pPr eaLnBrk="1" hangingPunct="1"/>
            <a:r>
              <a:rPr lang="en-US" altLang="zh-CN" sz="1400" b="1" dirty="0"/>
              <a:t>        </a:t>
            </a:r>
            <a:r>
              <a:rPr lang="en-US" altLang="zh-CN" sz="1400" b="1" dirty="0">
                <a:solidFill>
                  <a:srgbClr val="0000FF"/>
                </a:solidFill>
              </a:rPr>
              <a:t>while</a:t>
            </a:r>
            <a:r>
              <a:rPr lang="en-US" altLang="zh-CN" sz="1400" b="1" dirty="0"/>
              <a:t> (!</a:t>
            </a:r>
            <a:r>
              <a:rPr lang="en-US" altLang="zh-CN" sz="1400" b="1" dirty="0" err="1"/>
              <a:t>inputIsValid</a:t>
            </a:r>
            <a:r>
              <a:rPr lang="en-US" altLang="zh-CN" sz="1400" b="1" dirty="0"/>
              <a:t>)</a:t>
            </a:r>
          </a:p>
          <a:p>
            <a:pPr eaLnBrk="1" hangingPunct="1"/>
            <a:r>
              <a:rPr lang="en-US" altLang="zh-CN" sz="1400" b="1" dirty="0"/>
              <a:t>        {</a:t>
            </a:r>
          </a:p>
          <a:p>
            <a:pPr eaLnBrk="1" hangingPunct="1"/>
            <a:r>
              <a:rPr lang="en-US" altLang="zh-CN" sz="1400" b="1" dirty="0"/>
              <a:t>            </a:t>
            </a:r>
            <a:r>
              <a:rPr lang="en-US" altLang="zh-CN" sz="1400" b="1" dirty="0">
                <a:solidFill>
                  <a:srgbClr val="0000FF"/>
                </a:solidFill>
              </a:rPr>
              <a:t>try</a:t>
            </a:r>
          </a:p>
          <a:p>
            <a:pPr eaLnBrk="1" hangingPunct="1"/>
            <a:r>
              <a:rPr lang="en-US" altLang="zh-CN" sz="1400" b="1" dirty="0"/>
              <a:t>            {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System.out.println</a:t>
            </a:r>
            <a:r>
              <a:rPr lang="en-US" altLang="zh-CN" sz="1400" b="1" dirty="0"/>
              <a:t>("Please enter a integer:");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int</a:t>
            </a:r>
            <a:r>
              <a:rPr lang="en-US" altLang="zh-CN" sz="1400" b="1" dirty="0"/>
              <a:t> number = </a:t>
            </a:r>
            <a:r>
              <a:rPr lang="en-US" altLang="zh-CN" sz="1400" b="1" dirty="0" err="1"/>
              <a:t>scanner.nextInt</a:t>
            </a:r>
            <a:r>
              <a:rPr lang="en-US" altLang="zh-CN" sz="1400" b="1" dirty="0"/>
              <a:t>();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System.out.println</a:t>
            </a:r>
            <a:r>
              <a:rPr lang="en-US" altLang="zh-CN" sz="1400" b="1" dirty="0"/>
              <a:t>("Your input is: " + number);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inputIsValid</a:t>
            </a:r>
            <a:r>
              <a:rPr lang="en-US" altLang="zh-CN" sz="1400" b="1" dirty="0"/>
              <a:t> = true;</a:t>
            </a:r>
          </a:p>
          <a:p>
            <a:pPr eaLnBrk="1" hangingPunct="1"/>
            <a:r>
              <a:rPr lang="en-US" altLang="zh-CN" sz="1400" b="1" dirty="0"/>
              <a:t>            }</a:t>
            </a:r>
          </a:p>
          <a:p>
            <a:pPr eaLnBrk="1" hangingPunct="1"/>
            <a:r>
              <a:rPr lang="en-US" altLang="zh-CN" sz="1400" b="1" dirty="0"/>
              <a:t>            </a:t>
            </a:r>
            <a:r>
              <a:rPr lang="en-US" altLang="zh-CN" sz="1400" b="1" dirty="0">
                <a:solidFill>
                  <a:srgbClr val="0000FF"/>
                </a:solidFill>
              </a:rPr>
              <a:t>catch</a:t>
            </a:r>
            <a:r>
              <a:rPr lang="en-US" altLang="zh-CN" sz="1400" b="1" dirty="0"/>
              <a:t> (</a:t>
            </a:r>
            <a:r>
              <a:rPr lang="en-US" altLang="zh-CN" sz="1400" b="1" dirty="0" err="1"/>
              <a:t>InputMismatchException</a:t>
            </a:r>
            <a:r>
              <a:rPr lang="en-US" altLang="zh-CN" sz="1400" b="1" dirty="0"/>
              <a:t> ex)</a:t>
            </a:r>
          </a:p>
          <a:p>
            <a:pPr eaLnBrk="1" hangingPunct="1"/>
            <a:r>
              <a:rPr lang="en-US" altLang="zh-CN" sz="1400" b="1" dirty="0"/>
              <a:t>            {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System.out.println</a:t>
            </a:r>
            <a:r>
              <a:rPr lang="en-US" altLang="zh-CN" sz="1400" b="1" dirty="0"/>
              <a:t>("</a:t>
            </a:r>
            <a:r>
              <a:rPr lang="en-US" altLang="zh-CN" sz="1400" b="1" dirty="0" err="1"/>
              <a:t>Incorect</a:t>
            </a:r>
            <a:r>
              <a:rPr lang="en-US" altLang="zh-CN" sz="1400" b="1" dirty="0"/>
              <a:t> input, please try again.");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scanner.nextLine</a:t>
            </a:r>
            <a:r>
              <a:rPr lang="en-US" altLang="zh-CN" sz="1400" b="1" dirty="0"/>
              <a:t>();  </a:t>
            </a:r>
            <a:r>
              <a:rPr lang="en-US" altLang="zh-CN" sz="1400" b="1" dirty="0">
                <a:solidFill>
                  <a:srgbClr val="006600"/>
                </a:solidFill>
              </a:rPr>
              <a:t>// </a:t>
            </a:r>
            <a:r>
              <a:rPr lang="zh-CN" altLang="en-US" sz="1400" b="1" dirty="0">
                <a:solidFill>
                  <a:srgbClr val="006600"/>
                </a:solidFill>
              </a:rPr>
              <a:t>重新开始接受输入</a:t>
            </a:r>
          </a:p>
          <a:p>
            <a:pPr eaLnBrk="1" hangingPunct="1"/>
            <a:r>
              <a:rPr lang="zh-CN" altLang="en-US" sz="1400" b="1" dirty="0"/>
              <a:t>            </a:t>
            </a:r>
            <a:r>
              <a:rPr lang="en-US" altLang="zh-CN" sz="1400" b="1" dirty="0"/>
              <a:t>}</a:t>
            </a:r>
          </a:p>
          <a:p>
            <a:pPr eaLnBrk="1" hangingPunct="1"/>
            <a:r>
              <a:rPr lang="en-US" altLang="zh-CN" sz="1400" b="1" dirty="0"/>
              <a:t>        }</a:t>
            </a:r>
          </a:p>
          <a:p>
            <a:pPr eaLnBrk="1" hangingPunct="1"/>
            <a:r>
              <a:rPr lang="en-US" altLang="zh-CN" sz="1400" b="1" dirty="0"/>
              <a:t>    }</a:t>
            </a:r>
          </a:p>
          <a:p>
            <a:pPr eaLnBrk="1" hangingPunct="1"/>
            <a:r>
              <a:rPr lang="en-US" altLang="zh-CN" sz="1400" b="1" dirty="0"/>
              <a:t>}</a:t>
            </a:r>
          </a:p>
          <a:p>
            <a:pPr eaLnBrk="1" hangingPunct="1"/>
            <a:endParaRPr lang="en-US" altLang="zh-CN" sz="1200" b="1" dirty="0"/>
          </a:p>
        </p:txBody>
      </p:sp>
      <p:sp>
        <p:nvSpPr>
          <p:cNvPr id="25604" name="矩形 4"/>
          <p:cNvSpPr>
            <a:spLocks noChangeArrowheads="1"/>
          </p:cNvSpPr>
          <p:nvPr/>
        </p:nvSpPr>
        <p:spPr bwMode="auto">
          <a:xfrm>
            <a:off x="899592" y="6155903"/>
            <a:ext cx="4435475" cy="225425"/>
          </a:xfrm>
          <a:prstGeom prst="rect">
            <a:avLst/>
          </a:prstGeom>
          <a:solidFill>
            <a:srgbClr val="FF0000">
              <a:alpha val="2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200">
              <a:solidFill>
                <a:srgbClr val="FFFFFF"/>
              </a:solidFill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74806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跟踪程序执行</a:t>
            </a: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462597" y="974601"/>
            <a:ext cx="7426722" cy="5883399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400" b="1" dirty="0">
                <a:solidFill>
                  <a:srgbClr val="0000FF"/>
                </a:solidFill>
              </a:rPr>
              <a:t>import</a:t>
            </a:r>
            <a:r>
              <a:rPr lang="en-US" altLang="zh-CN" sz="1400" b="1" dirty="0"/>
              <a:t> </a:t>
            </a:r>
            <a:r>
              <a:rPr lang="en-US" altLang="zh-CN" sz="1400" b="1" dirty="0" err="1"/>
              <a:t>java.util.InputMismatchException</a:t>
            </a:r>
            <a:r>
              <a:rPr lang="en-US" altLang="zh-CN" sz="1400" b="1" dirty="0"/>
              <a:t>;</a:t>
            </a:r>
          </a:p>
          <a:p>
            <a:pPr eaLnBrk="1" hangingPunct="1"/>
            <a:r>
              <a:rPr lang="en-US" altLang="zh-CN" sz="1400" b="1" dirty="0">
                <a:solidFill>
                  <a:srgbClr val="0000FF"/>
                </a:solidFill>
              </a:rPr>
              <a:t>import</a:t>
            </a:r>
            <a:r>
              <a:rPr lang="en-US" altLang="zh-CN" sz="1400" b="1" dirty="0"/>
              <a:t> </a:t>
            </a:r>
            <a:r>
              <a:rPr lang="en-US" altLang="zh-CN" sz="1400" b="1" dirty="0" err="1"/>
              <a:t>java.util.Scanner</a:t>
            </a:r>
            <a:r>
              <a:rPr lang="en-US" altLang="zh-CN" sz="1400" b="1" dirty="0"/>
              <a:t>;</a:t>
            </a:r>
          </a:p>
          <a:p>
            <a:pPr eaLnBrk="1" hangingPunct="1"/>
            <a:endParaRPr lang="en-US" altLang="zh-CN" sz="1400" b="1" dirty="0"/>
          </a:p>
          <a:p>
            <a:pPr eaLnBrk="1" hangingPunct="1"/>
            <a:r>
              <a:rPr lang="en-US" altLang="zh-CN" sz="1400" b="1" dirty="0">
                <a:solidFill>
                  <a:srgbClr val="0000FF"/>
                </a:solidFill>
              </a:rPr>
              <a:t>public class </a:t>
            </a:r>
            <a:r>
              <a:rPr lang="en-US" altLang="zh-CN" sz="1400" b="1" dirty="0"/>
              <a:t>RuntimeExceptionDemo2 </a:t>
            </a:r>
          </a:p>
          <a:p>
            <a:pPr eaLnBrk="1" hangingPunct="1"/>
            <a:r>
              <a:rPr lang="en-US" altLang="zh-CN" sz="1400" b="1" dirty="0"/>
              <a:t>{</a:t>
            </a:r>
          </a:p>
          <a:p>
            <a:pPr eaLnBrk="1" hangingPunct="1"/>
            <a:r>
              <a:rPr lang="en-US" altLang="zh-CN" sz="1400" b="1" dirty="0"/>
              <a:t>    </a:t>
            </a:r>
            <a:r>
              <a:rPr lang="en-US" altLang="zh-CN" sz="1400" b="1" dirty="0">
                <a:solidFill>
                  <a:srgbClr val="0000FF"/>
                </a:solidFill>
              </a:rPr>
              <a:t>public static void </a:t>
            </a:r>
            <a:r>
              <a:rPr lang="en-US" altLang="zh-CN" sz="1400" b="1" dirty="0"/>
              <a:t>main(String[] </a:t>
            </a:r>
            <a:r>
              <a:rPr lang="en-US" altLang="zh-CN" sz="1400" b="1" dirty="0" err="1"/>
              <a:t>args</a:t>
            </a:r>
            <a:r>
              <a:rPr lang="en-US" altLang="zh-CN" sz="1400" b="1" dirty="0"/>
              <a:t>) </a:t>
            </a:r>
          </a:p>
          <a:p>
            <a:pPr eaLnBrk="1" hangingPunct="1"/>
            <a:r>
              <a:rPr lang="en-US" altLang="zh-CN" sz="1400" b="1" dirty="0"/>
              <a:t>    {</a:t>
            </a:r>
          </a:p>
          <a:p>
            <a:pPr eaLnBrk="1" hangingPunct="1"/>
            <a:r>
              <a:rPr lang="en-US" altLang="zh-CN" sz="1400" b="1" dirty="0"/>
              <a:t>        Scanner </a:t>
            </a:r>
            <a:r>
              <a:rPr lang="en-US" altLang="zh-CN" sz="1400" b="1" dirty="0" err="1"/>
              <a:t>scanner</a:t>
            </a:r>
            <a:r>
              <a:rPr lang="en-US" altLang="zh-CN" sz="1400" b="1" dirty="0"/>
              <a:t> = </a:t>
            </a:r>
            <a:r>
              <a:rPr lang="en-US" altLang="zh-CN" sz="1400" b="1" dirty="0">
                <a:solidFill>
                  <a:srgbClr val="0000FF"/>
                </a:solidFill>
              </a:rPr>
              <a:t>new</a:t>
            </a:r>
            <a:r>
              <a:rPr lang="en-US" altLang="zh-CN" sz="1400" b="1" dirty="0"/>
              <a:t> Scanner(System.in);</a:t>
            </a:r>
          </a:p>
          <a:p>
            <a:pPr eaLnBrk="1" hangingPunct="1"/>
            <a:r>
              <a:rPr lang="en-US" altLang="zh-CN" sz="1400" b="1" dirty="0"/>
              <a:t>        </a:t>
            </a:r>
            <a:r>
              <a:rPr lang="en-US" altLang="zh-CN" sz="1400" b="1" dirty="0" err="1">
                <a:solidFill>
                  <a:srgbClr val="0000FF"/>
                </a:solidFill>
              </a:rPr>
              <a:t>boolean</a:t>
            </a:r>
            <a:r>
              <a:rPr lang="en-US" altLang="zh-CN" sz="1400" b="1" dirty="0"/>
              <a:t> </a:t>
            </a:r>
            <a:r>
              <a:rPr lang="en-US" altLang="zh-CN" sz="1400" b="1" dirty="0" err="1"/>
              <a:t>inputIsValid</a:t>
            </a:r>
            <a:r>
              <a:rPr lang="en-US" altLang="zh-CN" sz="1400" b="1" dirty="0"/>
              <a:t> = false; </a:t>
            </a:r>
          </a:p>
          <a:p>
            <a:pPr eaLnBrk="1" hangingPunct="1"/>
            <a:r>
              <a:rPr lang="en-US" altLang="zh-CN" sz="1400" b="1" dirty="0"/>
              <a:t>        </a:t>
            </a:r>
          </a:p>
          <a:p>
            <a:pPr eaLnBrk="1" hangingPunct="1"/>
            <a:r>
              <a:rPr lang="en-US" altLang="zh-CN" sz="1400" b="1" dirty="0"/>
              <a:t>        </a:t>
            </a:r>
            <a:r>
              <a:rPr lang="en-US" altLang="zh-CN" sz="1400" b="1" dirty="0">
                <a:solidFill>
                  <a:srgbClr val="0000FF"/>
                </a:solidFill>
              </a:rPr>
              <a:t>while</a:t>
            </a:r>
            <a:r>
              <a:rPr lang="en-US" altLang="zh-CN" sz="1400" b="1" dirty="0"/>
              <a:t> (!</a:t>
            </a:r>
            <a:r>
              <a:rPr lang="en-US" altLang="zh-CN" sz="1400" b="1" dirty="0" err="1"/>
              <a:t>inputIsValid</a:t>
            </a:r>
            <a:r>
              <a:rPr lang="en-US" altLang="zh-CN" sz="1400" b="1" dirty="0"/>
              <a:t>)</a:t>
            </a:r>
          </a:p>
          <a:p>
            <a:pPr eaLnBrk="1" hangingPunct="1"/>
            <a:r>
              <a:rPr lang="en-US" altLang="zh-CN" sz="1400" b="1" dirty="0"/>
              <a:t>        {</a:t>
            </a:r>
          </a:p>
          <a:p>
            <a:pPr eaLnBrk="1" hangingPunct="1"/>
            <a:r>
              <a:rPr lang="en-US" altLang="zh-CN" sz="1400" b="1" dirty="0"/>
              <a:t>            </a:t>
            </a:r>
            <a:r>
              <a:rPr lang="en-US" altLang="zh-CN" sz="1400" b="1" dirty="0">
                <a:solidFill>
                  <a:srgbClr val="0000FF"/>
                </a:solidFill>
              </a:rPr>
              <a:t>try</a:t>
            </a:r>
          </a:p>
          <a:p>
            <a:pPr eaLnBrk="1" hangingPunct="1"/>
            <a:r>
              <a:rPr lang="en-US" altLang="zh-CN" sz="1400" b="1" dirty="0"/>
              <a:t>            {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System.out.println</a:t>
            </a:r>
            <a:r>
              <a:rPr lang="en-US" altLang="zh-CN" sz="1400" b="1" dirty="0"/>
              <a:t>("Please enter a integer:");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int</a:t>
            </a:r>
            <a:r>
              <a:rPr lang="en-US" altLang="zh-CN" sz="1400" b="1" dirty="0"/>
              <a:t> number = </a:t>
            </a:r>
            <a:r>
              <a:rPr lang="en-US" altLang="zh-CN" sz="1400" b="1" dirty="0" err="1"/>
              <a:t>scanner.nextInt</a:t>
            </a:r>
            <a:r>
              <a:rPr lang="en-US" altLang="zh-CN" sz="1400" b="1" dirty="0"/>
              <a:t>();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System.out.println</a:t>
            </a:r>
            <a:r>
              <a:rPr lang="en-US" altLang="zh-CN" sz="1400" b="1" dirty="0"/>
              <a:t>("Your input is: " + number);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inputIsValid</a:t>
            </a:r>
            <a:r>
              <a:rPr lang="en-US" altLang="zh-CN" sz="1400" b="1" dirty="0"/>
              <a:t> = true;</a:t>
            </a:r>
          </a:p>
          <a:p>
            <a:pPr eaLnBrk="1" hangingPunct="1"/>
            <a:r>
              <a:rPr lang="en-US" altLang="zh-CN" sz="1400" b="1" dirty="0"/>
              <a:t>            }</a:t>
            </a:r>
          </a:p>
          <a:p>
            <a:pPr eaLnBrk="1" hangingPunct="1"/>
            <a:r>
              <a:rPr lang="en-US" altLang="zh-CN" sz="1400" b="1" dirty="0"/>
              <a:t>            </a:t>
            </a:r>
            <a:r>
              <a:rPr lang="en-US" altLang="zh-CN" sz="1400" b="1" dirty="0">
                <a:solidFill>
                  <a:srgbClr val="0000FF"/>
                </a:solidFill>
              </a:rPr>
              <a:t>catch</a:t>
            </a:r>
            <a:r>
              <a:rPr lang="en-US" altLang="zh-CN" sz="1400" b="1" dirty="0"/>
              <a:t> (</a:t>
            </a:r>
            <a:r>
              <a:rPr lang="en-US" altLang="zh-CN" sz="1400" b="1" dirty="0" err="1"/>
              <a:t>InputMismatchException</a:t>
            </a:r>
            <a:r>
              <a:rPr lang="en-US" altLang="zh-CN" sz="1400" b="1" dirty="0"/>
              <a:t> ex)</a:t>
            </a:r>
          </a:p>
          <a:p>
            <a:pPr eaLnBrk="1" hangingPunct="1"/>
            <a:r>
              <a:rPr lang="en-US" altLang="zh-CN" sz="1400" b="1" dirty="0"/>
              <a:t>            {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System.out.println</a:t>
            </a:r>
            <a:r>
              <a:rPr lang="en-US" altLang="zh-CN" sz="1400" b="1" dirty="0"/>
              <a:t>("</a:t>
            </a:r>
            <a:r>
              <a:rPr lang="en-US" altLang="zh-CN" sz="1400" b="1" dirty="0" err="1"/>
              <a:t>Incorect</a:t>
            </a:r>
            <a:r>
              <a:rPr lang="en-US" altLang="zh-CN" sz="1400" b="1" dirty="0"/>
              <a:t> input, please try again.");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scanner.nextLine</a:t>
            </a:r>
            <a:r>
              <a:rPr lang="en-US" altLang="zh-CN" sz="1400" b="1" dirty="0"/>
              <a:t>();  </a:t>
            </a:r>
            <a:r>
              <a:rPr lang="en-US" altLang="zh-CN" sz="1400" b="1" dirty="0">
                <a:solidFill>
                  <a:srgbClr val="006600"/>
                </a:solidFill>
              </a:rPr>
              <a:t>// </a:t>
            </a:r>
            <a:r>
              <a:rPr lang="zh-CN" altLang="en-US" sz="1400" b="1" dirty="0">
                <a:solidFill>
                  <a:srgbClr val="006600"/>
                </a:solidFill>
              </a:rPr>
              <a:t>重新开始接受输入</a:t>
            </a:r>
          </a:p>
          <a:p>
            <a:pPr eaLnBrk="1" hangingPunct="1"/>
            <a:r>
              <a:rPr lang="zh-CN" altLang="en-US" sz="1400" b="1" dirty="0"/>
              <a:t>            </a:t>
            </a:r>
            <a:r>
              <a:rPr lang="en-US" altLang="zh-CN" sz="1400" b="1" dirty="0"/>
              <a:t>}</a:t>
            </a:r>
          </a:p>
          <a:p>
            <a:pPr eaLnBrk="1" hangingPunct="1"/>
            <a:r>
              <a:rPr lang="en-US" altLang="zh-CN" sz="1400" b="1" dirty="0"/>
              <a:t>        }</a:t>
            </a:r>
          </a:p>
          <a:p>
            <a:pPr eaLnBrk="1" hangingPunct="1"/>
            <a:r>
              <a:rPr lang="en-US" altLang="zh-CN" sz="1400" b="1" dirty="0"/>
              <a:t>    }</a:t>
            </a:r>
          </a:p>
          <a:p>
            <a:pPr eaLnBrk="1" hangingPunct="1"/>
            <a:r>
              <a:rPr lang="en-US" altLang="zh-CN" sz="1400" b="1" dirty="0"/>
              <a:t>}</a:t>
            </a:r>
          </a:p>
          <a:p>
            <a:pPr eaLnBrk="1" hangingPunct="1"/>
            <a:endParaRPr lang="en-US" altLang="zh-CN" sz="1200" b="1" dirty="0"/>
          </a:p>
        </p:txBody>
      </p:sp>
      <p:sp>
        <p:nvSpPr>
          <p:cNvPr id="25604" name="矩形 4"/>
          <p:cNvSpPr>
            <a:spLocks noChangeArrowheads="1"/>
          </p:cNvSpPr>
          <p:nvPr/>
        </p:nvSpPr>
        <p:spPr bwMode="auto">
          <a:xfrm>
            <a:off x="683568" y="6371927"/>
            <a:ext cx="4435475" cy="225425"/>
          </a:xfrm>
          <a:prstGeom prst="rect">
            <a:avLst/>
          </a:prstGeom>
          <a:solidFill>
            <a:srgbClr val="FF0000">
              <a:alpha val="2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200">
              <a:solidFill>
                <a:srgbClr val="FFFFFF"/>
              </a:solidFill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56865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32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nextInt</a:t>
            </a:r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() 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与 </a:t>
            </a:r>
            <a:r>
              <a:rPr lang="en-US" altLang="zh-CN" sz="32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nextLine</a:t>
            </a:r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()</a:t>
            </a:r>
            <a:endParaRPr lang="zh-CN" altLang="en-US" sz="32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462597" y="974601"/>
            <a:ext cx="7426722" cy="5883399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400" b="1" dirty="0">
                <a:solidFill>
                  <a:srgbClr val="0000FF"/>
                </a:solidFill>
              </a:rPr>
              <a:t>import</a:t>
            </a:r>
            <a:r>
              <a:rPr lang="en-US" altLang="zh-CN" sz="1400" b="1" dirty="0"/>
              <a:t> </a:t>
            </a:r>
            <a:r>
              <a:rPr lang="en-US" altLang="zh-CN" sz="1400" b="1" dirty="0" err="1"/>
              <a:t>java.util.InputMismatchException</a:t>
            </a:r>
            <a:r>
              <a:rPr lang="en-US" altLang="zh-CN" sz="1400" b="1" dirty="0"/>
              <a:t>;</a:t>
            </a:r>
          </a:p>
          <a:p>
            <a:pPr eaLnBrk="1" hangingPunct="1"/>
            <a:r>
              <a:rPr lang="en-US" altLang="zh-CN" sz="1400" b="1" dirty="0">
                <a:solidFill>
                  <a:srgbClr val="0000FF"/>
                </a:solidFill>
              </a:rPr>
              <a:t>import</a:t>
            </a:r>
            <a:r>
              <a:rPr lang="en-US" altLang="zh-CN" sz="1400" b="1" dirty="0"/>
              <a:t> </a:t>
            </a:r>
            <a:r>
              <a:rPr lang="en-US" altLang="zh-CN" sz="1400" b="1" dirty="0" err="1"/>
              <a:t>java.util.Scanner</a:t>
            </a:r>
            <a:r>
              <a:rPr lang="en-US" altLang="zh-CN" sz="1400" b="1" dirty="0"/>
              <a:t>;</a:t>
            </a:r>
          </a:p>
          <a:p>
            <a:pPr eaLnBrk="1" hangingPunct="1"/>
            <a:endParaRPr lang="en-US" altLang="zh-CN" sz="1400" b="1" dirty="0"/>
          </a:p>
          <a:p>
            <a:pPr eaLnBrk="1" hangingPunct="1"/>
            <a:r>
              <a:rPr lang="en-US" altLang="zh-CN" sz="1400" b="1" dirty="0">
                <a:solidFill>
                  <a:srgbClr val="0000FF"/>
                </a:solidFill>
              </a:rPr>
              <a:t>public class </a:t>
            </a:r>
            <a:r>
              <a:rPr lang="en-US" altLang="zh-CN" sz="1400" b="1" dirty="0"/>
              <a:t>RuntimeExceptionDemo2 </a:t>
            </a:r>
          </a:p>
          <a:p>
            <a:pPr eaLnBrk="1" hangingPunct="1"/>
            <a:r>
              <a:rPr lang="en-US" altLang="zh-CN" sz="1400" b="1" dirty="0"/>
              <a:t>{</a:t>
            </a:r>
          </a:p>
          <a:p>
            <a:pPr eaLnBrk="1" hangingPunct="1"/>
            <a:r>
              <a:rPr lang="en-US" altLang="zh-CN" sz="1400" b="1" dirty="0"/>
              <a:t>    </a:t>
            </a:r>
            <a:r>
              <a:rPr lang="en-US" altLang="zh-CN" sz="1400" b="1" dirty="0">
                <a:solidFill>
                  <a:srgbClr val="0000FF"/>
                </a:solidFill>
              </a:rPr>
              <a:t>public static void </a:t>
            </a:r>
            <a:r>
              <a:rPr lang="en-US" altLang="zh-CN" sz="1400" b="1" dirty="0"/>
              <a:t>main(String[] </a:t>
            </a:r>
            <a:r>
              <a:rPr lang="en-US" altLang="zh-CN" sz="1400" b="1" dirty="0" err="1"/>
              <a:t>args</a:t>
            </a:r>
            <a:r>
              <a:rPr lang="en-US" altLang="zh-CN" sz="1400" b="1" dirty="0"/>
              <a:t>) </a:t>
            </a:r>
          </a:p>
          <a:p>
            <a:pPr eaLnBrk="1" hangingPunct="1"/>
            <a:r>
              <a:rPr lang="en-US" altLang="zh-CN" sz="1400" b="1" dirty="0"/>
              <a:t>    {</a:t>
            </a:r>
          </a:p>
          <a:p>
            <a:pPr eaLnBrk="1" hangingPunct="1"/>
            <a:r>
              <a:rPr lang="en-US" altLang="zh-CN" sz="1400" b="1" dirty="0"/>
              <a:t>        Scanner </a:t>
            </a:r>
            <a:r>
              <a:rPr lang="en-US" altLang="zh-CN" sz="1400" b="1" dirty="0" err="1"/>
              <a:t>scanner</a:t>
            </a:r>
            <a:r>
              <a:rPr lang="en-US" altLang="zh-CN" sz="1400" b="1" dirty="0"/>
              <a:t> = </a:t>
            </a:r>
            <a:r>
              <a:rPr lang="en-US" altLang="zh-CN" sz="1400" b="1" dirty="0">
                <a:solidFill>
                  <a:srgbClr val="0000FF"/>
                </a:solidFill>
              </a:rPr>
              <a:t>new</a:t>
            </a:r>
            <a:r>
              <a:rPr lang="en-US" altLang="zh-CN" sz="1400" b="1" dirty="0"/>
              <a:t> Scanner(System.in);</a:t>
            </a:r>
          </a:p>
          <a:p>
            <a:pPr eaLnBrk="1" hangingPunct="1"/>
            <a:r>
              <a:rPr lang="en-US" altLang="zh-CN" sz="1400" b="1" dirty="0"/>
              <a:t>        </a:t>
            </a:r>
            <a:r>
              <a:rPr lang="en-US" altLang="zh-CN" sz="1400" b="1" dirty="0" err="1">
                <a:solidFill>
                  <a:srgbClr val="0000FF"/>
                </a:solidFill>
              </a:rPr>
              <a:t>boolean</a:t>
            </a:r>
            <a:r>
              <a:rPr lang="en-US" altLang="zh-CN" sz="1400" b="1" dirty="0"/>
              <a:t> </a:t>
            </a:r>
            <a:r>
              <a:rPr lang="en-US" altLang="zh-CN" sz="1400" b="1" dirty="0" err="1"/>
              <a:t>inputIsValid</a:t>
            </a:r>
            <a:r>
              <a:rPr lang="en-US" altLang="zh-CN" sz="1400" b="1" dirty="0"/>
              <a:t> = false; </a:t>
            </a:r>
          </a:p>
          <a:p>
            <a:pPr eaLnBrk="1" hangingPunct="1"/>
            <a:r>
              <a:rPr lang="en-US" altLang="zh-CN" sz="1400" b="1" dirty="0"/>
              <a:t>        </a:t>
            </a:r>
          </a:p>
          <a:p>
            <a:pPr eaLnBrk="1" hangingPunct="1"/>
            <a:r>
              <a:rPr lang="en-US" altLang="zh-CN" sz="1400" b="1" dirty="0"/>
              <a:t>        </a:t>
            </a:r>
            <a:r>
              <a:rPr lang="en-US" altLang="zh-CN" sz="1400" b="1" dirty="0">
                <a:solidFill>
                  <a:srgbClr val="0000FF"/>
                </a:solidFill>
              </a:rPr>
              <a:t>while</a:t>
            </a:r>
            <a:r>
              <a:rPr lang="en-US" altLang="zh-CN" sz="1400" b="1" dirty="0"/>
              <a:t> (!</a:t>
            </a:r>
            <a:r>
              <a:rPr lang="en-US" altLang="zh-CN" sz="1400" b="1" dirty="0" err="1"/>
              <a:t>inputIsValid</a:t>
            </a:r>
            <a:r>
              <a:rPr lang="en-US" altLang="zh-CN" sz="1400" b="1" dirty="0"/>
              <a:t>)</a:t>
            </a:r>
          </a:p>
          <a:p>
            <a:pPr eaLnBrk="1" hangingPunct="1"/>
            <a:r>
              <a:rPr lang="en-US" altLang="zh-CN" sz="1400" b="1" dirty="0"/>
              <a:t>        {</a:t>
            </a:r>
          </a:p>
          <a:p>
            <a:pPr eaLnBrk="1" hangingPunct="1"/>
            <a:r>
              <a:rPr lang="en-US" altLang="zh-CN" sz="1400" b="1" dirty="0"/>
              <a:t>            </a:t>
            </a:r>
            <a:r>
              <a:rPr lang="en-US" altLang="zh-CN" sz="1400" b="1" dirty="0">
                <a:solidFill>
                  <a:srgbClr val="0000FF"/>
                </a:solidFill>
              </a:rPr>
              <a:t>try</a:t>
            </a:r>
          </a:p>
          <a:p>
            <a:pPr eaLnBrk="1" hangingPunct="1"/>
            <a:r>
              <a:rPr lang="en-US" altLang="zh-CN" sz="1400" b="1" dirty="0"/>
              <a:t>            {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System.out.println</a:t>
            </a:r>
            <a:r>
              <a:rPr lang="en-US" altLang="zh-CN" sz="1400" b="1" dirty="0"/>
              <a:t>("Please enter a integer:");</a:t>
            </a:r>
          </a:p>
          <a:p>
            <a:pPr eaLnBrk="1" hangingPunct="1"/>
            <a:r>
              <a:rPr lang="en-US" altLang="zh-CN" sz="1400" b="1" dirty="0"/>
              <a:t>                // int number = </a:t>
            </a:r>
            <a:r>
              <a:rPr lang="en-US" altLang="zh-CN" sz="1400" b="1" dirty="0" err="1"/>
              <a:t>scanner.nextInt</a:t>
            </a:r>
            <a:r>
              <a:rPr lang="en-US" altLang="zh-CN" sz="1400" b="1" dirty="0"/>
              <a:t>();</a:t>
            </a:r>
          </a:p>
          <a:p>
            <a:pPr eaLnBrk="1" hangingPunct="1"/>
            <a:r>
              <a:rPr lang="en-US" altLang="zh-CN" sz="1400" b="1" dirty="0">
                <a:solidFill>
                  <a:srgbClr val="009900"/>
                </a:solidFill>
              </a:rPr>
              <a:t>                int number = </a:t>
            </a:r>
            <a:r>
              <a:rPr lang="en-US" altLang="zh-CN" sz="1400" b="1" dirty="0" err="1">
                <a:solidFill>
                  <a:srgbClr val="009900"/>
                </a:solidFill>
              </a:rPr>
              <a:t>Integer.parseInt</a:t>
            </a:r>
            <a:r>
              <a:rPr lang="en-US" altLang="zh-CN" sz="1400" b="1" dirty="0">
                <a:solidFill>
                  <a:srgbClr val="009900"/>
                </a:solidFill>
              </a:rPr>
              <a:t>(</a:t>
            </a:r>
            <a:r>
              <a:rPr lang="en-US" altLang="zh-CN" sz="1400" b="1" dirty="0" err="1">
                <a:solidFill>
                  <a:srgbClr val="009900"/>
                </a:solidFill>
              </a:rPr>
              <a:t>scanner.nextLine</a:t>
            </a:r>
            <a:r>
              <a:rPr lang="en-US" altLang="zh-CN" sz="1400" b="1" dirty="0">
                <a:solidFill>
                  <a:srgbClr val="009900"/>
                </a:solidFill>
              </a:rPr>
              <a:t>());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System.out.println</a:t>
            </a:r>
            <a:r>
              <a:rPr lang="en-US" altLang="zh-CN" sz="1400" b="1" dirty="0"/>
              <a:t>("Your input is: " + number);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inputIsValid</a:t>
            </a:r>
            <a:r>
              <a:rPr lang="en-US" altLang="zh-CN" sz="1400" b="1" dirty="0"/>
              <a:t> = true;</a:t>
            </a:r>
          </a:p>
          <a:p>
            <a:pPr eaLnBrk="1" hangingPunct="1"/>
            <a:r>
              <a:rPr lang="en-US" altLang="zh-CN" sz="1400" b="1" dirty="0"/>
              <a:t>            }</a:t>
            </a:r>
          </a:p>
          <a:p>
            <a:pPr eaLnBrk="1" hangingPunct="1"/>
            <a:r>
              <a:rPr lang="en-US" altLang="zh-CN" sz="1400" b="1" dirty="0"/>
              <a:t>            </a:t>
            </a:r>
            <a:r>
              <a:rPr lang="en-US" altLang="zh-CN" sz="1400" b="1" dirty="0">
                <a:solidFill>
                  <a:srgbClr val="0000FF"/>
                </a:solidFill>
              </a:rPr>
              <a:t>catch</a:t>
            </a:r>
            <a:r>
              <a:rPr lang="en-US" altLang="zh-CN" sz="1400" b="1" dirty="0"/>
              <a:t> (</a:t>
            </a:r>
            <a:r>
              <a:rPr lang="en-US" altLang="zh-CN" sz="1400" b="1" dirty="0" err="1">
                <a:solidFill>
                  <a:srgbClr val="009900"/>
                </a:solidFill>
              </a:rPr>
              <a:t>NumberFormatException</a:t>
            </a:r>
            <a:r>
              <a:rPr lang="en-US" altLang="zh-CN" sz="1400" b="1" dirty="0"/>
              <a:t> ex)</a:t>
            </a:r>
          </a:p>
          <a:p>
            <a:pPr eaLnBrk="1" hangingPunct="1"/>
            <a:r>
              <a:rPr lang="en-US" altLang="zh-CN" sz="1400" b="1" dirty="0"/>
              <a:t>            {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 err="1"/>
              <a:t>System.out.println</a:t>
            </a:r>
            <a:r>
              <a:rPr lang="en-US" altLang="zh-CN" sz="1400" b="1" dirty="0"/>
              <a:t>("</a:t>
            </a:r>
            <a:r>
              <a:rPr lang="en-US" altLang="zh-CN" sz="1400" b="1" dirty="0" err="1"/>
              <a:t>Incorect</a:t>
            </a:r>
            <a:r>
              <a:rPr lang="en-US" altLang="zh-CN" sz="1400" b="1" dirty="0"/>
              <a:t> input, please try again.");</a:t>
            </a:r>
          </a:p>
          <a:p>
            <a:pPr eaLnBrk="1" hangingPunct="1"/>
            <a:r>
              <a:rPr lang="en-US" altLang="zh-CN" sz="1400" b="1" dirty="0"/>
              <a:t>                </a:t>
            </a:r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</a:t>
            </a:r>
            <a:r>
              <a:rPr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sz="1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scanner.nextLine</a:t>
            </a:r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();  // </a:t>
            </a:r>
            <a:r>
              <a:rPr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重新开始接受输入</a:t>
            </a:r>
          </a:p>
          <a:p>
            <a:pPr eaLnBrk="1" hangingPunct="1"/>
            <a:endParaRPr lang="en-US" altLang="zh-CN" sz="1400" b="1" dirty="0"/>
          </a:p>
          <a:p>
            <a:pPr eaLnBrk="1" hangingPunct="1"/>
            <a:r>
              <a:rPr lang="en-US" altLang="zh-CN" sz="1400" b="1" dirty="0"/>
              <a:t>          }</a:t>
            </a:r>
          </a:p>
          <a:p>
            <a:pPr eaLnBrk="1" hangingPunct="1"/>
            <a:r>
              <a:rPr lang="en-US" altLang="zh-CN" sz="1400" b="1" dirty="0"/>
              <a:t>        }</a:t>
            </a:r>
          </a:p>
          <a:p>
            <a:pPr eaLnBrk="1" hangingPunct="1"/>
            <a:r>
              <a:rPr lang="en-US" altLang="zh-CN" sz="1400" b="1" dirty="0"/>
              <a:t>    }</a:t>
            </a:r>
          </a:p>
          <a:p>
            <a:pPr eaLnBrk="1" hangingPunct="1"/>
            <a:r>
              <a:rPr lang="en-US" altLang="zh-CN" sz="1400" b="1" dirty="0"/>
              <a:t>}</a:t>
            </a:r>
          </a:p>
          <a:p>
            <a:pPr eaLnBrk="1" hangingPunct="1"/>
            <a:endParaRPr lang="en-US" altLang="zh-CN" sz="1200" b="1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E2F6727A-DB01-4FD1-A87F-8563D6A4A2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1" y="3454896"/>
            <a:ext cx="7448933" cy="333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276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3200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5.2 Java</a:t>
            </a:r>
            <a:r>
              <a:rPr lang="zh-CN" altLang="en-US" sz="3200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的异常处理机制</a:t>
            </a:r>
            <a:endParaRPr lang="zh-CN" altLang="en-US" sz="3200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1987" name="内容占位符 2"/>
          <p:cNvSpPr>
            <a:spLocks noGrp="1"/>
          </p:cNvSpPr>
          <p:nvPr>
            <p:ph idx="4294967295"/>
          </p:nvPr>
        </p:nvSpPr>
        <p:spPr>
          <a:xfrm>
            <a:off x="468313" y="981075"/>
            <a:ext cx="7488063" cy="2807965"/>
          </a:xfrm>
        </p:spPr>
        <p:txBody>
          <a:bodyPr/>
          <a:lstStyle/>
          <a:p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异常处理的目的是依据实际情况提供不同的错误应对策略与手段，使程序更稳定，更安全。</a:t>
            </a:r>
          </a:p>
          <a:p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异常处理的主要用途是提供准确的错误消息，解释失败的原因、位置和错误类型等，同时提供一定的恢复能力，尽可能地保证数据完整性不被破坏，并让程序能继续运行。</a:t>
            </a:r>
            <a:endParaRPr lang="en-US" altLang="zh-CN" sz="24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Java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使用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try/catch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结构来捕获异常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3"/>
          <p:cNvSpPr txBox="1">
            <a:spLocks noChangeArrowheads="1"/>
          </p:cNvSpPr>
          <p:nvPr/>
        </p:nvSpPr>
        <p:spPr bwMode="auto">
          <a:xfrm>
            <a:off x="2455069" y="4005064"/>
            <a:ext cx="3557091" cy="258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/>
              <a:t>try</a:t>
            </a:r>
          </a:p>
          <a:p>
            <a:pPr eaLnBrk="1" hangingPunct="1"/>
            <a:r>
              <a:rPr lang="en-US" altLang="zh-CN" b="1" dirty="0"/>
              <a:t>{</a:t>
            </a:r>
          </a:p>
          <a:p>
            <a:pPr eaLnBrk="1" hangingPunct="1"/>
            <a:endParaRPr lang="en-US" altLang="zh-CN" b="1" dirty="0"/>
          </a:p>
          <a:p>
            <a:pPr eaLnBrk="1" hangingPunct="1"/>
            <a:r>
              <a:rPr lang="en-US" altLang="zh-CN" b="1" dirty="0"/>
              <a:t>}</a:t>
            </a:r>
          </a:p>
          <a:p>
            <a:pPr eaLnBrk="1" hangingPunct="1"/>
            <a:r>
              <a:rPr lang="en-US" altLang="zh-CN" b="1" dirty="0"/>
              <a:t>catch (...)</a:t>
            </a:r>
          </a:p>
          <a:p>
            <a:pPr eaLnBrk="1" hangingPunct="1"/>
            <a:r>
              <a:rPr lang="en-US" altLang="zh-CN" b="1" dirty="0"/>
              <a:t>{</a:t>
            </a:r>
          </a:p>
          <a:p>
            <a:pPr eaLnBrk="1" hangingPunct="1"/>
            <a:endParaRPr lang="en-US" altLang="zh-CN" b="1" dirty="0"/>
          </a:p>
          <a:p>
            <a:pPr eaLnBrk="1" hangingPunct="1"/>
            <a:endParaRPr lang="en-US" altLang="zh-CN" b="1" dirty="0"/>
          </a:p>
          <a:p>
            <a:pPr eaLnBrk="1" hangingPunct="1"/>
            <a:r>
              <a:rPr lang="en-US" altLang="zh-CN" b="1" dirty="0"/>
              <a:t>}</a:t>
            </a:r>
            <a:endParaRPr lang="zh-CN" altLang="en-US" b="1" dirty="0"/>
          </a:p>
        </p:txBody>
      </p:sp>
      <p:sp>
        <p:nvSpPr>
          <p:cNvPr id="10" name="TextBox 4"/>
          <p:cNvSpPr txBox="1">
            <a:spLocks noChangeArrowheads="1"/>
          </p:cNvSpPr>
          <p:nvPr/>
        </p:nvSpPr>
        <p:spPr bwMode="auto">
          <a:xfrm>
            <a:off x="3203848" y="4509120"/>
            <a:ext cx="2430462" cy="369332"/>
          </a:xfrm>
          <a:prstGeom prst="rect">
            <a:avLst/>
          </a:prstGeom>
          <a:gradFill rotWithShape="1">
            <a:gsLst>
              <a:gs pos="0">
                <a:srgbClr val="B9DBDB"/>
              </a:gs>
              <a:gs pos="35001">
                <a:srgbClr val="CEE5E5"/>
              </a:gs>
              <a:gs pos="100000">
                <a:srgbClr val="ECF5F5"/>
              </a:gs>
            </a:gsLst>
            <a:lin ang="5400000" scaled="1"/>
          </a:gradFill>
          <a:ln w="9525">
            <a:solidFill>
              <a:srgbClr val="598888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程序正常逻辑</a:t>
            </a:r>
          </a:p>
        </p:txBody>
      </p:sp>
      <p:sp>
        <p:nvSpPr>
          <p:cNvPr id="11" name="TextBox 5"/>
          <p:cNvSpPr txBox="1">
            <a:spLocks noChangeArrowheads="1"/>
          </p:cNvSpPr>
          <p:nvPr/>
        </p:nvSpPr>
        <p:spPr bwMode="auto">
          <a:xfrm>
            <a:off x="3203848" y="5760124"/>
            <a:ext cx="2430462" cy="369332"/>
          </a:xfrm>
          <a:prstGeom prst="rect">
            <a:avLst/>
          </a:prstGeom>
          <a:gradFill rotWithShape="1">
            <a:gsLst>
              <a:gs pos="0">
                <a:srgbClr val="FFFF90"/>
              </a:gs>
              <a:gs pos="35001">
                <a:srgbClr val="FFFFB2"/>
              </a:gs>
              <a:gs pos="100000">
                <a:srgbClr val="FFFFE0"/>
              </a:gs>
            </a:gsLst>
            <a:lin ang="5400000" scaled="1"/>
          </a:gradFill>
          <a:ln w="9525">
            <a:solidFill>
              <a:srgbClr val="CCCC00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异常处理代码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标题 1"/>
          <p:cNvSpPr>
            <a:spLocks noGrp="1"/>
          </p:cNvSpPr>
          <p:nvPr>
            <p:ph type="title" idx="4294967295"/>
          </p:nvPr>
        </p:nvSpPr>
        <p:spPr>
          <a:xfrm>
            <a:off x="468313" y="116632"/>
            <a:ext cx="7543800" cy="719137"/>
          </a:xfrm>
        </p:spPr>
        <p:txBody>
          <a:bodyPr/>
          <a:lstStyle/>
          <a:p>
            <a:r>
              <a:rPr lang="zh-CN" altLang="en-US" sz="3200" b="0" dirty="0">
                <a:latin typeface="黑体" panose="02010609060101010101" pitchFamily="49" charset="-122"/>
                <a:ea typeface="黑体" panose="02010609060101010101" pitchFamily="49" charset="-122"/>
              </a:rPr>
              <a:t>异常类继承结构图</a:t>
            </a:r>
          </a:p>
        </p:txBody>
      </p:sp>
      <p:sp>
        <p:nvSpPr>
          <p:cNvPr id="43011" name="矩形 3"/>
          <p:cNvSpPr>
            <a:spLocks noChangeArrowheads="1"/>
          </p:cNvSpPr>
          <p:nvPr/>
        </p:nvSpPr>
        <p:spPr bwMode="auto">
          <a:xfrm>
            <a:off x="77788" y="3232150"/>
            <a:ext cx="862012" cy="387350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Object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grpSp>
        <p:nvGrpSpPr>
          <p:cNvPr id="43012" name="Group 4"/>
          <p:cNvGrpSpPr>
            <a:grpSpLocks/>
          </p:cNvGrpSpPr>
          <p:nvPr/>
        </p:nvGrpSpPr>
        <p:grpSpPr bwMode="auto">
          <a:xfrm>
            <a:off x="946150" y="3275013"/>
            <a:ext cx="406400" cy="314325"/>
            <a:chOff x="0" y="0"/>
            <a:chExt cx="407096" cy="313150"/>
          </a:xfrm>
        </p:grpSpPr>
        <p:sp>
          <p:nvSpPr>
            <p:cNvPr id="43052" name="等腰三角形 4"/>
            <p:cNvSpPr>
              <a:spLocks noChangeArrowheads="1"/>
            </p:cNvSpPr>
            <p:nvPr/>
          </p:nvSpPr>
          <p:spPr bwMode="auto">
            <a:xfrm rot="-5400000">
              <a:off x="-93761" y="93761"/>
              <a:ext cx="313150" cy="125628"/>
            </a:xfrm>
            <a:prstGeom prst="triangle">
              <a:avLst>
                <a:gd name="adj" fmla="val 50000"/>
              </a:avLst>
            </a:prstGeom>
            <a:noFill/>
            <a:ln w="63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</a:endParaRPr>
            </a:p>
          </p:txBody>
        </p:sp>
        <p:cxnSp>
          <p:nvCxnSpPr>
            <p:cNvPr id="43053" name="直接连接符 6"/>
            <p:cNvCxnSpPr>
              <a:cxnSpLocks noChangeShapeType="1"/>
              <a:stCxn id="43052" idx="3"/>
            </p:cNvCxnSpPr>
            <p:nvPr/>
          </p:nvCxnSpPr>
          <p:spPr bwMode="auto">
            <a:xfrm>
              <a:off x="125628" y="156575"/>
              <a:ext cx="281468" cy="158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3013" name="矩形 7"/>
          <p:cNvSpPr>
            <a:spLocks noChangeArrowheads="1"/>
          </p:cNvSpPr>
          <p:nvPr/>
        </p:nvSpPr>
        <p:spPr bwMode="auto">
          <a:xfrm>
            <a:off x="1166813" y="3232150"/>
            <a:ext cx="1125537" cy="387350"/>
          </a:xfrm>
          <a:prstGeom prst="rect">
            <a:avLst/>
          </a:prstGeom>
          <a:gradFill rotWithShape="1">
            <a:gsLst>
              <a:gs pos="0">
                <a:srgbClr val="447676"/>
              </a:gs>
              <a:gs pos="80000">
                <a:srgbClr val="5B9B9B"/>
              </a:gs>
              <a:gs pos="100000">
                <a:srgbClr val="5A9D9D"/>
              </a:gs>
            </a:gsLst>
            <a:lin ang="5400000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3000" dir="5400000" algn="ctr" rotWithShape="0">
              <a:srgbClr val="000000">
                <a:alpha val="34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solidFill>
                  <a:srgbClr val="FFFFFF"/>
                </a:solidFill>
                <a:cs typeface="Courier New" panose="02070309020205020404" pitchFamily="49" charset="0"/>
              </a:rPr>
              <a:t>Throwable</a:t>
            </a:r>
            <a:endParaRPr lang="zh-CN" altLang="en-US" sz="1200" b="1">
              <a:solidFill>
                <a:srgbClr val="FFFFFF"/>
              </a:solidFill>
              <a:cs typeface="Courier New" panose="02070309020205020404" pitchFamily="49" charset="0"/>
            </a:endParaRPr>
          </a:p>
        </p:txBody>
      </p:sp>
      <p:sp>
        <p:nvSpPr>
          <p:cNvPr id="43014" name="矩形 8"/>
          <p:cNvSpPr>
            <a:spLocks noChangeArrowheads="1"/>
          </p:cNvSpPr>
          <p:nvPr/>
        </p:nvSpPr>
        <p:spPr bwMode="auto">
          <a:xfrm>
            <a:off x="2668588" y="1741488"/>
            <a:ext cx="1093787" cy="387350"/>
          </a:xfrm>
          <a:prstGeom prst="rect">
            <a:avLst/>
          </a:prstGeom>
          <a:gradFill rotWithShape="1">
            <a:gsLst>
              <a:gs pos="0">
                <a:srgbClr val="FFFF90"/>
              </a:gs>
              <a:gs pos="35001">
                <a:srgbClr val="FFFFB2"/>
              </a:gs>
              <a:gs pos="100000">
                <a:srgbClr val="FFFFE0"/>
              </a:gs>
            </a:gsLst>
            <a:lin ang="5400000" scaled="1"/>
          </a:gradFill>
          <a:ln w="9525">
            <a:solidFill>
              <a:srgbClr val="CCCC00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Exception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3015" name="矩形 9"/>
          <p:cNvSpPr>
            <a:spLocks noChangeArrowheads="1"/>
          </p:cNvSpPr>
          <p:nvPr/>
        </p:nvSpPr>
        <p:spPr bwMode="auto">
          <a:xfrm>
            <a:off x="2668588" y="4735513"/>
            <a:ext cx="1054100" cy="387350"/>
          </a:xfrm>
          <a:prstGeom prst="rect">
            <a:avLst/>
          </a:prstGeom>
          <a:gradFill rotWithShape="1">
            <a:gsLst>
              <a:gs pos="0">
                <a:srgbClr val="FFFF90"/>
              </a:gs>
              <a:gs pos="35001">
                <a:srgbClr val="FFFFB2"/>
              </a:gs>
              <a:gs pos="100000">
                <a:srgbClr val="FFFFE0"/>
              </a:gs>
            </a:gsLst>
            <a:lin ang="5400000" scaled="1"/>
          </a:gradFill>
          <a:ln w="9525">
            <a:solidFill>
              <a:srgbClr val="CCCC00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Error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3016" name="矩形 10"/>
          <p:cNvSpPr>
            <a:spLocks noChangeArrowheads="1"/>
          </p:cNvSpPr>
          <p:nvPr/>
        </p:nvSpPr>
        <p:spPr bwMode="auto">
          <a:xfrm>
            <a:off x="4108450" y="2605088"/>
            <a:ext cx="1690688" cy="388937"/>
          </a:xfrm>
          <a:prstGeom prst="rect">
            <a:avLst/>
          </a:prstGeom>
          <a:gradFill rotWithShape="1">
            <a:gsLst>
              <a:gs pos="0">
                <a:srgbClr val="FFFF90"/>
              </a:gs>
              <a:gs pos="35001">
                <a:srgbClr val="FFFFB2"/>
              </a:gs>
              <a:gs pos="100000">
                <a:srgbClr val="FFFFE0"/>
              </a:gs>
            </a:gsLst>
            <a:lin ang="5400000" scaled="1"/>
          </a:gradFill>
          <a:ln w="9525">
            <a:solidFill>
              <a:srgbClr val="CCCC00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RuntimeException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3017" name="矩形 11"/>
          <p:cNvSpPr>
            <a:spLocks noChangeArrowheads="1"/>
          </p:cNvSpPr>
          <p:nvPr/>
        </p:nvSpPr>
        <p:spPr bwMode="auto">
          <a:xfrm>
            <a:off x="6300788" y="2692400"/>
            <a:ext cx="2454275" cy="388938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IndexOutOfBoundException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3018" name="矩形 12"/>
          <p:cNvSpPr>
            <a:spLocks noChangeArrowheads="1"/>
          </p:cNvSpPr>
          <p:nvPr/>
        </p:nvSpPr>
        <p:spPr bwMode="auto">
          <a:xfrm>
            <a:off x="4108450" y="2041525"/>
            <a:ext cx="1690688" cy="388938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AWTException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3019" name="矩形 13"/>
          <p:cNvSpPr>
            <a:spLocks noChangeArrowheads="1"/>
          </p:cNvSpPr>
          <p:nvPr/>
        </p:nvSpPr>
        <p:spPr bwMode="auto">
          <a:xfrm>
            <a:off x="4108450" y="1477963"/>
            <a:ext cx="1690688" cy="388937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IOException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3020" name="矩形 14"/>
          <p:cNvSpPr>
            <a:spLocks noChangeArrowheads="1"/>
          </p:cNvSpPr>
          <p:nvPr/>
        </p:nvSpPr>
        <p:spPr bwMode="auto">
          <a:xfrm>
            <a:off x="4108450" y="901700"/>
            <a:ext cx="2266950" cy="388938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ClassNotFoundException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3021" name="矩形 15"/>
          <p:cNvSpPr>
            <a:spLocks noChangeArrowheads="1"/>
          </p:cNvSpPr>
          <p:nvPr/>
        </p:nvSpPr>
        <p:spPr bwMode="auto">
          <a:xfrm>
            <a:off x="4183063" y="4171950"/>
            <a:ext cx="1692275" cy="387350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LinkageError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3022" name="矩形 16"/>
          <p:cNvSpPr>
            <a:spLocks noChangeArrowheads="1"/>
          </p:cNvSpPr>
          <p:nvPr/>
        </p:nvSpPr>
        <p:spPr bwMode="auto">
          <a:xfrm>
            <a:off x="4183063" y="4697413"/>
            <a:ext cx="1941512" cy="388937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VirtualMachineError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3023" name="矩形 17"/>
          <p:cNvSpPr>
            <a:spLocks noChangeArrowheads="1"/>
          </p:cNvSpPr>
          <p:nvPr/>
        </p:nvSpPr>
        <p:spPr bwMode="auto">
          <a:xfrm>
            <a:off x="4183063" y="5248275"/>
            <a:ext cx="1692275" cy="388938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AWTError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3024" name="矩形 18"/>
          <p:cNvSpPr>
            <a:spLocks noChangeArrowheads="1"/>
          </p:cNvSpPr>
          <p:nvPr/>
        </p:nvSpPr>
        <p:spPr bwMode="auto">
          <a:xfrm>
            <a:off x="6300788" y="3143250"/>
            <a:ext cx="2454275" cy="388938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IllegalArgumentException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3025" name="矩形 19"/>
          <p:cNvSpPr>
            <a:spLocks noChangeArrowheads="1"/>
          </p:cNvSpPr>
          <p:nvPr/>
        </p:nvSpPr>
        <p:spPr bwMode="auto">
          <a:xfrm>
            <a:off x="6300788" y="2228850"/>
            <a:ext cx="2454275" cy="388938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NullPointerException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3026" name="矩形 20"/>
          <p:cNvSpPr>
            <a:spLocks noChangeArrowheads="1"/>
          </p:cNvSpPr>
          <p:nvPr/>
        </p:nvSpPr>
        <p:spPr bwMode="auto">
          <a:xfrm>
            <a:off x="6300788" y="1766888"/>
            <a:ext cx="2454275" cy="387350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ArithmeticException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grpSp>
        <p:nvGrpSpPr>
          <p:cNvPr id="43027" name="Group 21"/>
          <p:cNvGrpSpPr>
            <a:grpSpLocks/>
          </p:cNvGrpSpPr>
          <p:nvPr/>
        </p:nvGrpSpPr>
        <p:grpSpPr bwMode="auto">
          <a:xfrm>
            <a:off x="2273300" y="3275013"/>
            <a:ext cx="269875" cy="314325"/>
            <a:chOff x="0" y="0"/>
            <a:chExt cx="269310" cy="313150"/>
          </a:xfrm>
        </p:grpSpPr>
        <p:sp>
          <p:nvSpPr>
            <p:cNvPr id="43050" name="等腰三角形 23"/>
            <p:cNvSpPr>
              <a:spLocks noChangeArrowheads="1"/>
            </p:cNvSpPr>
            <p:nvPr/>
          </p:nvSpPr>
          <p:spPr bwMode="auto">
            <a:xfrm rot="-5400000">
              <a:off x="-94000" y="94000"/>
              <a:ext cx="313150" cy="125150"/>
            </a:xfrm>
            <a:prstGeom prst="triangle">
              <a:avLst>
                <a:gd name="adj" fmla="val 50000"/>
              </a:avLst>
            </a:prstGeom>
            <a:noFill/>
            <a:ln w="63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</a:endParaRPr>
            </a:p>
          </p:txBody>
        </p:sp>
        <p:cxnSp>
          <p:nvCxnSpPr>
            <p:cNvPr id="43051" name="直接连接符 24"/>
            <p:cNvCxnSpPr>
              <a:cxnSpLocks noChangeShapeType="1"/>
              <a:stCxn id="43050" idx="3"/>
            </p:cNvCxnSpPr>
            <p:nvPr/>
          </p:nvCxnSpPr>
          <p:spPr bwMode="auto">
            <a:xfrm>
              <a:off x="125150" y="156575"/>
              <a:ext cx="144160" cy="158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43028" name="AutoShape 24"/>
          <p:cNvCxnSpPr>
            <a:cxnSpLocks noChangeShapeType="1"/>
            <a:stCxn id="43014" idx="1"/>
            <a:endCxn id="43015" idx="1"/>
          </p:cNvCxnSpPr>
          <p:nvPr/>
        </p:nvCxnSpPr>
        <p:spPr bwMode="auto">
          <a:xfrm rot="10800000" flipV="1">
            <a:off x="2668588" y="1935163"/>
            <a:ext cx="3175" cy="2994025"/>
          </a:xfrm>
          <a:prstGeom prst="bentConnector3">
            <a:avLst>
              <a:gd name="adj1" fmla="val 4180000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3029" name="Group 25"/>
          <p:cNvGrpSpPr>
            <a:grpSpLocks/>
          </p:cNvGrpSpPr>
          <p:nvPr/>
        </p:nvGrpSpPr>
        <p:grpSpPr bwMode="auto">
          <a:xfrm>
            <a:off x="3762045" y="1796578"/>
            <a:ext cx="224168" cy="357660"/>
            <a:chOff x="0" y="0"/>
            <a:chExt cx="269310" cy="313150"/>
          </a:xfrm>
        </p:grpSpPr>
        <p:sp>
          <p:nvSpPr>
            <p:cNvPr id="43048" name="等腰三角形 34"/>
            <p:cNvSpPr>
              <a:spLocks noChangeArrowheads="1"/>
            </p:cNvSpPr>
            <p:nvPr/>
          </p:nvSpPr>
          <p:spPr bwMode="auto">
            <a:xfrm rot="-5400000">
              <a:off x="-93629" y="93629"/>
              <a:ext cx="313150" cy="125891"/>
            </a:xfrm>
            <a:prstGeom prst="triangle">
              <a:avLst>
                <a:gd name="adj" fmla="val 50000"/>
              </a:avLst>
            </a:prstGeom>
            <a:noFill/>
            <a:ln w="63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</a:endParaRPr>
            </a:p>
          </p:txBody>
        </p:sp>
        <p:cxnSp>
          <p:nvCxnSpPr>
            <p:cNvPr id="43049" name="直接连接符 35"/>
            <p:cNvCxnSpPr>
              <a:cxnSpLocks noChangeShapeType="1"/>
              <a:stCxn id="43048" idx="3"/>
            </p:cNvCxnSpPr>
            <p:nvPr/>
          </p:nvCxnSpPr>
          <p:spPr bwMode="auto">
            <a:xfrm>
              <a:off x="125891" y="156575"/>
              <a:ext cx="143419" cy="1581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43030" name="肘形连接符 37"/>
          <p:cNvCxnSpPr>
            <a:cxnSpLocks noChangeShapeType="1"/>
            <a:stCxn id="43020" idx="1"/>
            <a:endCxn id="43033" idx="1"/>
          </p:cNvCxnSpPr>
          <p:nvPr/>
        </p:nvCxnSpPr>
        <p:spPr bwMode="auto">
          <a:xfrm rot="10800000" flipH="1" flipV="1">
            <a:off x="4108450" y="1095375"/>
            <a:ext cx="25400" cy="2330450"/>
          </a:xfrm>
          <a:prstGeom prst="bentConnector3">
            <a:avLst>
              <a:gd name="adj1" fmla="val -562500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3032" name="Group 30"/>
          <p:cNvGrpSpPr>
            <a:grpSpLocks/>
          </p:cNvGrpSpPr>
          <p:nvPr/>
        </p:nvGrpSpPr>
        <p:grpSpPr bwMode="auto">
          <a:xfrm>
            <a:off x="3716338" y="4743450"/>
            <a:ext cx="269875" cy="312738"/>
            <a:chOff x="0" y="0"/>
            <a:chExt cx="269310" cy="313150"/>
          </a:xfrm>
        </p:grpSpPr>
        <p:sp>
          <p:nvSpPr>
            <p:cNvPr id="43046" name="等腰三角形 46"/>
            <p:cNvSpPr>
              <a:spLocks noChangeArrowheads="1"/>
            </p:cNvSpPr>
            <p:nvPr/>
          </p:nvSpPr>
          <p:spPr bwMode="auto">
            <a:xfrm rot="-5400000">
              <a:off x="-94000" y="93999"/>
              <a:ext cx="313150" cy="125149"/>
            </a:xfrm>
            <a:prstGeom prst="triangle">
              <a:avLst>
                <a:gd name="adj" fmla="val 50000"/>
              </a:avLst>
            </a:prstGeom>
            <a:noFill/>
            <a:ln w="63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</a:endParaRPr>
            </a:p>
          </p:txBody>
        </p:sp>
        <p:cxnSp>
          <p:nvCxnSpPr>
            <p:cNvPr id="43047" name="直接连接符 47"/>
            <p:cNvCxnSpPr>
              <a:cxnSpLocks noChangeShapeType="1"/>
              <a:stCxn id="43046" idx="3"/>
            </p:cNvCxnSpPr>
            <p:nvPr/>
          </p:nvCxnSpPr>
          <p:spPr bwMode="auto">
            <a:xfrm>
              <a:off x="125149" y="157370"/>
              <a:ext cx="144161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3033" name="矩形 49"/>
          <p:cNvSpPr>
            <a:spLocks noChangeArrowheads="1"/>
          </p:cNvSpPr>
          <p:nvPr/>
        </p:nvSpPr>
        <p:spPr bwMode="auto">
          <a:xfrm>
            <a:off x="4133850" y="3168650"/>
            <a:ext cx="1690688" cy="514350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Other Exception classes...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3034" name="矩形 50"/>
          <p:cNvSpPr>
            <a:spLocks noChangeArrowheads="1"/>
          </p:cNvSpPr>
          <p:nvPr/>
        </p:nvSpPr>
        <p:spPr bwMode="auto">
          <a:xfrm>
            <a:off x="4183063" y="5799138"/>
            <a:ext cx="1692275" cy="527050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Other Error classes...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cxnSp>
        <p:nvCxnSpPr>
          <p:cNvPr id="43036" name="肘形连接符 57"/>
          <p:cNvCxnSpPr>
            <a:cxnSpLocks noChangeShapeType="1"/>
            <a:stCxn id="43021" idx="1"/>
            <a:endCxn id="43034" idx="1"/>
          </p:cNvCxnSpPr>
          <p:nvPr/>
        </p:nvCxnSpPr>
        <p:spPr bwMode="auto">
          <a:xfrm rot="10800000" flipV="1">
            <a:off x="4183063" y="4365625"/>
            <a:ext cx="1587" cy="1697038"/>
          </a:xfrm>
          <a:prstGeom prst="bentConnector3">
            <a:avLst>
              <a:gd name="adj1" fmla="val 14395468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37" name="肘形连接符 59"/>
          <p:cNvCxnSpPr>
            <a:cxnSpLocks noChangeShapeType="1"/>
            <a:stCxn id="43022" idx="1"/>
            <a:endCxn id="43023" idx="1"/>
          </p:cNvCxnSpPr>
          <p:nvPr/>
        </p:nvCxnSpPr>
        <p:spPr bwMode="auto">
          <a:xfrm rot="10800000" flipV="1">
            <a:off x="4183063" y="4891088"/>
            <a:ext cx="1587" cy="550862"/>
          </a:xfrm>
          <a:prstGeom prst="bentConnector3">
            <a:avLst>
              <a:gd name="adj1" fmla="val 14395468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3038" name="Group 38"/>
          <p:cNvGrpSpPr>
            <a:grpSpLocks/>
          </p:cNvGrpSpPr>
          <p:nvPr/>
        </p:nvGrpSpPr>
        <p:grpSpPr bwMode="auto">
          <a:xfrm>
            <a:off x="5830888" y="2636838"/>
            <a:ext cx="269875" cy="312737"/>
            <a:chOff x="0" y="0"/>
            <a:chExt cx="269310" cy="313150"/>
          </a:xfrm>
        </p:grpSpPr>
        <p:sp>
          <p:nvSpPr>
            <p:cNvPr id="43044" name="等腰三角形 61"/>
            <p:cNvSpPr>
              <a:spLocks noChangeArrowheads="1"/>
            </p:cNvSpPr>
            <p:nvPr/>
          </p:nvSpPr>
          <p:spPr bwMode="auto">
            <a:xfrm rot="-5400000">
              <a:off x="-94000" y="94000"/>
              <a:ext cx="313150" cy="125149"/>
            </a:xfrm>
            <a:prstGeom prst="triangle">
              <a:avLst>
                <a:gd name="adj" fmla="val 50000"/>
              </a:avLst>
            </a:prstGeom>
            <a:noFill/>
            <a:ln w="63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</a:endParaRPr>
            </a:p>
          </p:txBody>
        </p:sp>
        <p:cxnSp>
          <p:nvCxnSpPr>
            <p:cNvPr id="43045" name="直接连接符 62"/>
            <p:cNvCxnSpPr>
              <a:cxnSpLocks noChangeShapeType="1"/>
              <a:stCxn id="43044" idx="3"/>
            </p:cNvCxnSpPr>
            <p:nvPr/>
          </p:nvCxnSpPr>
          <p:spPr bwMode="auto">
            <a:xfrm>
              <a:off x="125149" y="157370"/>
              <a:ext cx="144161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3039" name="矩形 63"/>
          <p:cNvSpPr>
            <a:spLocks noChangeArrowheads="1"/>
          </p:cNvSpPr>
          <p:nvPr/>
        </p:nvSpPr>
        <p:spPr bwMode="auto">
          <a:xfrm>
            <a:off x="6300788" y="4083050"/>
            <a:ext cx="2454275" cy="527050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Other Runtime Exception classes ...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cxnSp>
        <p:nvCxnSpPr>
          <p:cNvPr id="43040" name="肘形连接符 70"/>
          <p:cNvCxnSpPr>
            <a:cxnSpLocks noChangeShapeType="1"/>
            <a:stCxn id="43026" idx="1"/>
            <a:endCxn id="43039" idx="1"/>
          </p:cNvCxnSpPr>
          <p:nvPr/>
        </p:nvCxnSpPr>
        <p:spPr bwMode="auto">
          <a:xfrm rot="10800000" flipV="1">
            <a:off x="6300788" y="1960563"/>
            <a:ext cx="1587" cy="2386012"/>
          </a:xfrm>
          <a:prstGeom prst="bentConnector3">
            <a:avLst>
              <a:gd name="adj1" fmla="val 14395468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41" name="肘形连接符 72"/>
          <p:cNvCxnSpPr>
            <a:cxnSpLocks noChangeShapeType="1"/>
            <a:stCxn id="43025" idx="1"/>
            <a:endCxn id="43024" idx="1"/>
          </p:cNvCxnSpPr>
          <p:nvPr/>
        </p:nvCxnSpPr>
        <p:spPr bwMode="auto">
          <a:xfrm rot="10800000" flipV="1">
            <a:off x="6300788" y="2424113"/>
            <a:ext cx="1587" cy="914400"/>
          </a:xfrm>
          <a:prstGeom prst="bentConnector3">
            <a:avLst>
              <a:gd name="adj1" fmla="val 14395468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42" name="肘形连接符 74"/>
          <p:cNvCxnSpPr>
            <a:cxnSpLocks noChangeShapeType="1"/>
            <a:stCxn id="43043" idx="1"/>
            <a:endCxn id="43017" idx="1"/>
          </p:cNvCxnSpPr>
          <p:nvPr/>
        </p:nvCxnSpPr>
        <p:spPr bwMode="auto">
          <a:xfrm rot="10800000">
            <a:off x="6300788" y="2887663"/>
            <a:ext cx="1587" cy="914400"/>
          </a:xfrm>
          <a:prstGeom prst="bentConnector3">
            <a:avLst>
              <a:gd name="adj1" fmla="val 14395468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043" name="矩形 76"/>
          <p:cNvSpPr>
            <a:spLocks noChangeArrowheads="1"/>
          </p:cNvSpPr>
          <p:nvPr/>
        </p:nvSpPr>
        <p:spPr bwMode="auto">
          <a:xfrm>
            <a:off x="6300788" y="3606800"/>
            <a:ext cx="2454275" cy="388938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/>
              <a:t>InputMismatchException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cxnSp>
        <p:nvCxnSpPr>
          <p:cNvPr id="46" name="直接连接符 45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>
            <a:endCxn id="43019" idx="1"/>
          </p:cNvCxnSpPr>
          <p:nvPr/>
        </p:nvCxnSpPr>
        <p:spPr>
          <a:xfrm>
            <a:off x="3978188" y="1672431"/>
            <a:ext cx="130262" cy="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3971954" y="2249977"/>
            <a:ext cx="143288" cy="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3969770" y="2812595"/>
            <a:ext cx="143288" cy="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矩形 45"/>
          <p:cNvSpPr>
            <a:spLocks noChangeArrowheads="1"/>
          </p:cNvSpPr>
          <p:nvPr/>
        </p:nvSpPr>
        <p:spPr bwMode="auto">
          <a:xfrm>
            <a:off x="2228850" y="3595688"/>
            <a:ext cx="4021138" cy="2641600"/>
          </a:xfrm>
          <a:prstGeom prst="rect">
            <a:avLst/>
          </a:prstGeom>
          <a:solidFill>
            <a:srgbClr val="AD5CFF">
              <a:alpha val="39999"/>
            </a:srgbClr>
          </a:solidFill>
          <a:ln w="25400">
            <a:solidFill>
              <a:srgbClr val="E6E6E6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4035" name="标题 1"/>
          <p:cNvSpPr>
            <a:spLocks noGrp="1"/>
          </p:cNvSpPr>
          <p:nvPr>
            <p:ph type="title" idx="4294967295"/>
          </p:nvPr>
        </p:nvSpPr>
        <p:spPr>
          <a:xfrm>
            <a:off x="395536" y="192188"/>
            <a:ext cx="7543800" cy="644524"/>
          </a:xfrm>
        </p:spPr>
        <p:txBody>
          <a:bodyPr/>
          <a:lstStyle/>
          <a:p>
            <a:r>
              <a:rPr lang="zh-CN" altLang="en-US" sz="3200" b="0" dirty="0">
                <a:latin typeface="黑体" panose="02010609060101010101" pitchFamily="49" charset="-122"/>
                <a:ea typeface="黑体" panose="02010609060101010101" pitchFamily="49" charset="-122"/>
              </a:rPr>
              <a:t>系统错误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  <p:sp>
        <p:nvSpPr>
          <p:cNvPr id="44036" name="矩形 3"/>
          <p:cNvSpPr>
            <a:spLocks noChangeArrowheads="1"/>
          </p:cNvSpPr>
          <p:nvPr/>
        </p:nvSpPr>
        <p:spPr bwMode="auto">
          <a:xfrm>
            <a:off x="212725" y="2794000"/>
            <a:ext cx="739775" cy="387350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Object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grpSp>
        <p:nvGrpSpPr>
          <p:cNvPr id="44037" name="Group 5"/>
          <p:cNvGrpSpPr>
            <a:grpSpLocks/>
          </p:cNvGrpSpPr>
          <p:nvPr/>
        </p:nvGrpSpPr>
        <p:grpSpPr bwMode="auto">
          <a:xfrm>
            <a:off x="958850" y="2836863"/>
            <a:ext cx="406400" cy="312737"/>
            <a:chOff x="0" y="0"/>
            <a:chExt cx="407096" cy="313150"/>
          </a:xfrm>
        </p:grpSpPr>
        <p:sp>
          <p:nvSpPr>
            <p:cNvPr id="44078" name="等腰三角形 4"/>
            <p:cNvSpPr>
              <a:spLocks noChangeArrowheads="1"/>
            </p:cNvSpPr>
            <p:nvPr/>
          </p:nvSpPr>
          <p:spPr bwMode="auto">
            <a:xfrm rot="-5400000">
              <a:off x="-93761" y="93761"/>
              <a:ext cx="313150" cy="125628"/>
            </a:xfrm>
            <a:prstGeom prst="triangle">
              <a:avLst>
                <a:gd name="adj" fmla="val 50000"/>
              </a:avLst>
            </a:prstGeom>
            <a:noFill/>
            <a:ln w="63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</a:endParaRPr>
            </a:p>
          </p:txBody>
        </p:sp>
        <p:cxnSp>
          <p:nvCxnSpPr>
            <p:cNvPr id="44079" name="直接连接符 6"/>
            <p:cNvCxnSpPr>
              <a:cxnSpLocks noChangeShapeType="1"/>
              <a:stCxn id="44078" idx="3"/>
            </p:cNvCxnSpPr>
            <p:nvPr/>
          </p:nvCxnSpPr>
          <p:spPr bwMode="auto">
            <a:xfrm>
              <a:off x="125628" y="157370"/>
              <a:ext cx="281468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4038" name="矩形 7"/>
          <p:cNvSpPr>
            <a:spLocks noChangeArrowheads="1"/>
          </p:cNvSpPr>
          <p:nvPr/>
        </p:nvSpPr>
        <p:spPr bwMode="auto">
          <a:xfrm>
            <a:off x="1239838" y="2794000"/>
            <a:ext cx="1014412" cy="387350"/>
          </a:xfrm>
          <a:prstGeom prst="rect">
            <a:avLst/>
          </a:prstGeom>
          <a:gradFill rotWithShape="1">
            <a:gsLst>
              <a:gs pos="0">
                <a:srgbClr val="447676"/>
              </a:gs>
              <a:gs pos="80000">
                <a:srgbClr val="5B9B9B"/>
              </a:gs>
              <a:gs pos="100000">
                <a:srgbClr val="5A9D9D"/>
              </a:gs>
            </a:gsLst>
            <a:lin ang="5400000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3000" dir="5400000" algn="ctr" rotWithShape="0">
              <a:srgbClr val="000000">
                <a:alpha val="34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solidFill>
                  <a:srgbClr val="FFFFFF"/>
                </a:solidFill>
                <a:cs typeface="Courier New" panose="02070309020205020404" pitchFamily="49" charset="0"/>
              </a:rPr>
              <a:t>Throwable</a:t>
            </a:r>
            <a:endParaRPr lang="zh-CN" altLang="en-US" sz="1200" b="1">
              <a:solidFill>
                <a:srgbClr val="FFFFFF"/>
              </a:solidFill>
              <a:cs typeface="Courier New" panose="02070309020205020404" pitchFamily="49" charset="0"/>
            </a:endParaRPr>
          </a:p>
        </p:txBody>
      </p:sp>
      <p:sp>
        <p:nvSpPr>
          <p:cNvPr id="44039" name="矩形 8"/>
          <p:cNvSpPr>
            <a:spLocks noChangeArrowheads="1"/>
          </p:cNvSpPr>
          <p:nvPr/>
        </p:nvSpPr>
        <p:spPr bwMode="auto">
          <a:xfrm>
            <a:off x="2681288" y="1303338"/>
            <a:ext cx="1014412" cy="387350"/>
          </a:xfrm>
          <a:prstGeom prst="rect">
            <a:avLst/>
          </a:prstGeom>
          <a:gradFill rotWithShape="1">
            <a:gsLst>
              <a:gs pos="0">
                <a:srgbClr val="FFFF90"/>
              </a:gs>
              <a:gs pos="35001">
                <a:srgbClr val="FFFFB2"/>
              </a:gs>
              <a:gs pos="100000">
                <a:srgbClr val="FFFFE0"/>
              </a:gs>
            </a:gsLst>
            <a:lin ang="5400000" scaled="1"/>
          </a:gradFill>
          <a:ln w="9525">
            <a:solidFill>
              <a:srgbClr val="CCCC00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Exception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4040" name="矩形 9"/>
          <p:cNvSpPr>
            <a:spLocks noChangeArrowheads="1"/>
          </p:cNvSpPr>
          <p:nvPr/>
        </p:nvSpPr>
        <p:spPr bwMode="auto">
          <a:xfrm>
            <a:off x="2681288" y="4295775"/>
            <a:ext cx="1014412" cy="388938"/>
          </a:xfrm>
          <a:prstGeom prst="rect">
            <a:avLst/>
          </a:prstGeom>
          <a:gradFill rotWithShape="1">
            <a:gsLst>
              <a:gs pos="0">
                <a:srgbClr val="FFFF90"/>
              </a:gs>
              <a:gs pos="35001">
                <a:srgbClr val="FFFFB2"/>
              </a:gs>
              <a:gs pos="100000">
                <a:srgbClr val="FFFFE0"/>
              </a:gs>
            </a:gsLst>
            <a:lin ang="5400000" scaled="1"/>
          </a:gradFill>
          <a:ln w="9525">
            <a:solidFill>
              <a:srgbClr val="CCCC00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Error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4041" name="矩形 10"/>
          <p:cNvSpPr>
            <a:spLocks noChangeArrowheads="1"/>
          </p:cNvSpPr>
          <p:nvPr/>
        </p:nvSpPr>
        <p:spPr bwMode="auto">
          <a:xfrm>
            <a:off x="4121150" y="2166938"/>
            <a:ext cx="1690688" cy="388937"/>
          </a:xfrm>
          <a:prstGeom prst="rect">
            <a:avLst/>
          </a:prstGeom>
          <a:gradFill rotWithShape="1">
            <a:gsLst>
              <a:gs pos="0">
                <a:srgbClr val="FFFF90"/>
              </a:gs>
              <a:gs pos="35001">
                <a:srgbClr val="FFFFB2"/>
              </a:gs>
              <a:gs pos="100000">
                <a:srgbClr val="FFFFE0"/>
              </a:gs>
            </a:gsLst>
            <a:lin ang="5400000" scaled="1"/>
          </a:gradFill>
          <a:ln w="9525">
            <a:solidFill>
              <a:srgbClr val="CCCC00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RuntimeException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4042" name="矩形 11"/>
          <p:cNvSpPr>
            <a:spLocks noChangeArrowheads="1"/>
          </p:cNvSpPr>
          <p:nvPr/>
        </p:nvSpPr>
        <p:spPr bwMode="auto">
          <a:xfrm>
            <a:off x="6313488" y="2254250"/>
            <a:ext cx="2454275" cy="388938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IndexOutOfBoundException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4043" name="矩形 12"/>
          <p:cNvSpPr>
            <a:spLocks noChangeArrowheads="1"/>
          </p:cNvSpPr>
          <p:nvPr/>
        </p:nvSpPr>
        <p:spPr bwMode="auto">
          <a:xfrm>
            <a:off x="4121150" y="1603375"/>
            <a:ext cx="1690688" cy="388938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AWTException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4044" name="矩形 13"/>
          <p:cNvSpPr>
            <a:spLocks noChangeArrowheads="1"/>
          </p:cNvSpPr>
          <p:nvPr/>
        </p:nvSpPr>
        <p:spPr bwMode="auto">
          <a:xfrm>
            <a:off x="4121150" y="1039813"/>
            <a:ext cx="1690688" cy="388937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IOException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4045" name="矩形 14"/>
          <p:cNvSpPr>
            <a:spLocks noChangeArrowheads="1"/>
          </p:cNvSpPr>
          <p:nvPr/>
        </p:nvSpPr>
        <p:spPr bwMode="auto">
          <a:xfrm>
            <a:off x="4121150" y="463550"/>
            <a:ext cx="2266950" cy="388938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ClassNotFoundException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4046" name="矩形 15"/>
          <p:cNvSpPr>
            <a:spLocks noChangeArrowheads="1"/>
          </p:cNvSpPr>
          <p:nvPr/>
        </p:nvSpPr>
        <p:spPr bwMode="auto">
          <a:xfrm>
            <a:off x="4195763" y="3732213"/>
            <a:ext cx="1690687" cy="388937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LinkageError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4047" name="矩形 16"/>
          <p:cNvSpPr>
            <a:spLocks noChangeArrowheads="1"/>
          </p:cNvSpPr>
          <p:nvPr/>
        </p:nvSpPr>
        <p:spPr bwMode="auto">
          <a:xfrm>
            <a:off x="4195763" y="4259263"/>
            <a:ext cx="1941512" cy="387350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VirtualMachineError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4048" name="矩形 17"/>
          <p:cNvSpPr>
            <a:spLocks noChangeArrowheads="1"/>
          </p:cNvSpPr>
          <p:nvPr/>
        </p:nvSpPr>
        <p:spPr bwMode="auto">
          <a:xfrm>
            <a:off x="4195763" y="4810125"/>
            <a:ext cx="1690687" cy="388938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AWTError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4049" name="矩形 18"/>
          <p:cNvSpPr>
            <a:spLocks noChangeArrowheads="1"/>
          </p:cNvSpPr>
          <p:nvPr/>
        </p:nvSpPr>
        <p:spPr bwMode="auto">
          <a:xfrm>
            <a:off x="6313488" y="2705100"/>
            <a:ext cx="2454275" cy="388938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IllegalArgumentException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4050" name="矩形 19"/>
          <p:cNvSpPr>
            <a:spLocks noChangeArrowheads="1"/>
          </p:cNvSpPr>
          <p:nvPr/>
        </p:nvSpPr>
        <p:spPr bwMode="auto">
          <a:xfrm>
            <a:off x="6313488" y="1790700"/>
            <a:ext cx="2454275" cy="388938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NullPointerException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4051" name="矩形 20"/>
          <p:cNvSpPr>
            <a:spLocks noChangeArrowheads="1"/>
          </p:cNvSpPr>
          <p:nvPr/>
        </p:nvSpPr>
        <p:spPr bwMode="auto">
          <a:xfrm>
            <a:off x="6313488" y="1327150"/>
            <a:ext cx="2454275" cy="388938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ArithmeticException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grpSp>
        <p:nvGrpSpPr>
          <p:cNvPr id="44052" name="Group 22"/>
          <p:cNvGrpSpPr>
            <a:grpSpLocks/>
          </p:cNvGrpSpPr>
          <p:nvPr/>
        </p:nvGrpSpPr>
        <p:grpSpPr bwMode="auto">
          <a:xfrm>
            <a:off x="2247900" y="2836863"/>
            <a:ext cx="269875" cy="312737"/>
            <a:chOff x="0" y="0"/>
            <a:chExt cx="269310" cy="313150"/>
          </a:xfrm>
        </p:grpSpPr>
        <p:sp>
          <p:nvSpPr>
            <p:cNvPr id="44076" name="等腰三角形 23"/>
            <p:cNvSpPr>
              <a:spLocks noChangeArrowheads="1"/>
            </p:cNvSpPr>
            <p:nvPr/>
          </p:nvSpPr>
          <p:spPr bwMode="auto">
            <a:xfrm rot="-5400000">
              <a:off x="-94000" y="94000"/>
              <a:ext cx="313150" cy="125150"/>
            </a:xfrm>
            <a:prstGeom prst="triangle">
              <a:avLst>
                <a:gd name="adj" fmla="val 50000"/>
              </a:avLst>
            </a:prstGeom>
            <a:noFill/>
            <a:ln w="63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</a:endParaRPr>
            </a:p>
          </p:txBody>
        </p:sp>
        <p:cxnSp>
          <p:nvCxnSpPr>
            <p:cNvPr id="44077" name="直接连接符 24"/>
            <p:cNvCxnSpPr>
              <a:cxnSpLocks noChangeShapeType="1"/>
              <a:stCxn id="44076" idx="3"/>
            </p:cNvCxnSpPr>
            <p:nvPr/>
          </p:nvCxnSpPr>
          <p:spPr bwMode="auto">
            <a:xfrm>
              <a:off x="125150" y="157370"/>
              <a:ext cx="14416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44053" name="肘形连接符 29"/>
          <p:cNvCxnSpPr>
            <a:cxnSpLocks noChangeShapeType="1"/>
            <a:stCxn id="44039" idx="1"/>
            <a:endCxn id="44040" idx="1"/>
          </p:cNvCxnSpPr>
          <p:nvPr/>
        </p:nvCxnSpPr>
        <p:spPr bwMode="auto">
          <a:xfrm rot="10800000" flipV="1">
            <a:off x="2681288" y="1497013"/>
            <a:ext cx="1587" cy="2994025"/>
          </a:xfrm>
          <a:prstGeom prst="bentConnector3">
            <a:avLst>
              <a:gd name="adj1" fmla="val 10451454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4054" name="Group 26"/>
          <p:cNvGrpSpPr>
            <a:grpSpLocks/>
          </p:cNvGrpSpPr>
          <p:nvPr/>
        </p:nvGrpSpPr>
        <p:grpSpPr bwMode="auto">
          <a:xfrm>
            <a:off x="3714750" y="1346200"/>
            <a:ext cx="268288" cy="312738"/>
            <a:chOff x="0" y="0"/>
            <a:chExt cx="269310" cy="313150"/>
          </a:xfrm>
        </p:grpSpPr>
        <p:sp>
          <p:nvSpPr>
            <p:cNvPr id="44074" name="等腰三角形 34"/>
            <p:cNvSpPr>
              <a:spLocks noChangeArrowheads="1"/>
            </p:cNvSpPr>
            <p:nvPr/>
          </p:nvSpPr>
          <p:spPr bwMode="auto">
            <a:xfrm rot="-5400000">
              <a:off x="-93629" y="93628"/>
              <a:ext cx="313150" cy="125891"/>
            </a:xfrm>
            <a:prstGeom prst="triangle">
              <a:avLst>
                <a:gd name="adj" fmla="val 50000"/>
              </a:avLst>
            </a:prstGeom>
            <a:noFill/>
            <a:ln w="63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</a:endParaRPr>
            </a:p>
          </p:txBody>
        </p:sp>
        <p:cxnSp>
          <p:nvCxnSpPr>
            <p:cNvPr id="44075" name="直接连接符 35"/>
            <p:cNvCxnSpPr>
              <a:cxnSpLocks noChangeShapeType="1"/>
              <a:stCxn id="44074" idx="3"/>
            </p:cNvCxnSpPr>
            <p:nvPr/>
          </p:nvCxnSpPr>
          <p:spPr bwMode="auto">
            <a:xfrm>
              <a:off x="125891" y="157370"/>
              <a:ext cx="143419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44055" name="肘形连接符 37"/>
          <p:cNvCxnSpPr>
            <a:cxnSpLocks noChangeShapeType="1"/>
            <a:stCxn id="44045" idx="1"/>
            <a:endCxn id="44058" idx="1"/>
          </p:cNvCxnSpPr>
          <p:nvPr/>
        </p:nvCxnSpPr>
        <p:spPr bwMode="auto">
          <a:xfrm rot="10800000" flipH="1" flipV="1">
            <a:off x="4121150" y="657225"/>
            <a:ext cx="25400" cy="2330450"/>
          </a:xfrm>
          <a:prstGeom prst="bentConnector3">
            <a:avLst>
              <a:gd name="adj1" fmla="val -562500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56" name="肘形连接符 42"/>
          <p:cNvCxnSpPr>
            <a:cxnSpLocks noChangeShapeType="1"/>
            <a:stCxn id="44044" idx="1"/>
            <a:endCxn id="44043" idx="1"/>
          </p:cNvCxnSpPr>
          <p:nvPr/>
        </p:nvCxnSpPr>
        <p:spPr bwMode="auto">
          <a:xfrm rot="10800000" flipV="1">
            <a:off x="4121150" y="1233488"/>
            <a:ext cx="1588" cy="563562"/>
          </a:xfrm>
          <a:prstGeom prst="bentConnector3">
            <a:avLst>
              <a:gd name="adj1" fmla="val 8873931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4057" name="Group 31"/>
          <p:cNvGrpSpPr>
            <a:grpSpLocks/>
          </p:cNvGrpSpPr>
          <p:nvPr/>
        </p:nvGrpSpPr>
        <p:grpSpPr bwMode="auto">
          <a:xfrm>
            <a:off x="3690938" y="4329113"/>
            <a:ext cx="269875" cy="314325"/>
            <a:chOff x="0" y="0"/>
            <a:chExt cx="269310" cy="313150"/>
          </a:xfrm>
        </p:grpSpPr>
        <p:sp>
          <p:nvSpPr>
            <p:cNvPr id="44072" name="等腰三角形 46"/>
            <p:cNvSpPr>
              <a:spLocks noChangeArrowheads="1"/>
            </p:cNvSpPr>
            <p:nvPr/>
          </p:nvSpPr>
          <p:spPr bwMode="auto">
            <a:xfrm rot="-5400000">
              <a:off x="-94000" y="94000"/>
              <a:ext cx="313150" cy="125149"/>
            </a:xfrm>
            <a:prstGeom prst="triangle">
              <a:avLst>
                <a:gd name="adj" fmla="val 50000"/>
              </a:avLst>
            </a:prstGeom>
            <a:noFill/>
            <a:ln w="63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</a:endParaRPr>
            </a:p>
          </p:txBody>
        </p:sp>
        <p:cxnSp>
          <p:nvCxnSpPr>
            <p:cNvPr id="44073" name="直接连接符 47"/>
            <p:cNvCxnSpPr>
              <a:cxnSpLocks noChangeShapeType="1"/>
              <a:stCxn id="44072" idx="3"/>
            </p:cNvCxnSpPr>
            <p:nvPr/>
          </p:nvCxnSpPr>
          <p:spPr bwMode="auto">
            <a:xfrm>
              <a:off x="125149" y="156575"/>
              <a:ext cx="144161" cy="158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4058" name="矩形 49"/>
          <p:cNvSpPr>
            <a:spLocks noChangeArrowheads="1"/>
          </p:cNvSpPr>
          <p:nvPr/>
        </p:nvSpPr>
        <p:spPr bwMode="auto">
          <a:xfrm>
            <a:off x="4146550" y="2730500"/>
            <a:ext cx="1690688" cy="514350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Other Exception classes...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4059" name="矩形 50"/>
          <p:cNvSpPr>
            <a:spLocks noChangeArrowheads="1"/>
          </p:cNvSpPr>
          <p:nvPr/>
        </p:nvSpPr>
        <p:spPr bwMode="auto">
          <a:xfrm>
            <a:off x="4195763" y="5360988"/>
            <a:ext cx="1690687" cy="525462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Other Error classes...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cxnSp>
        <p:nvCxnSpPr>
          <p:cNvPr id="44060" name="肘形连接符 54"/>
          <p:cNvCxnSpPr>
            <a:cxnSpLocks noChangeShapeType="1"/>
            <a:stCxn id="44041" idx="1"/>
            <a:endCxn id="44043" idx="1"/>
          </p:cNvCxnSpPr>
          <p:nvPr/>
        </p:nvCxnSpPr>
        <p:spPr bwMode="auto">
          <a:xfrm rot="10800000">
            <a:off x="4121150" y="1797050"/>
            <a:ext cx="1588" cy="563563"/>
          </a:xfrm>
          <a:prstGeom prst="bentConnector3">
            <a:avLst>
              <a:gd name="adj1" fmla="val 8873866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61" name="肘形连接符 57"/>
          <p:cNvCxnSpPr>
            <a:cxnSpLocks noChangeShapeType="1"/>
            <a:stCxn id="44046" idx="1"/>
            <a:endCxn id="44059" idx="1"/>
          </p:cNvCxnSpPr>
          <p:nvPr/>
        </p:nvCxnSpPr>
        <p:spPr bwMode="auto">
          <a:xfrm rot="10800000" flipV="1">
            <a:off x="4195763" y="3927475"/>
            <a:ext cx="1587" cy="1697038"/>
          </a:xfrm>
          <a:prstGeom prst="bentConnector3">
            <a:avLst>
              <a:gd name="adj1" fmla="val 14395468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62" name="肘形连接符 59"/>
          <p:cNvCxnSpPr>
            <a:cxnSpLocks noChangeShapeType="1"/>
            <a:stCxn id="44047" idx="1"/>
            <a:endCxn id="44048" idx="1"/>
          </p:cNvCxnSpPr>
          <p:nvPr/>
        </p:nvCxnSpPr>
        <p:spPr bwMode="auto">
          <a:xfrm rot="10800000" flipV="1">
            <a:off x="4195763" y="4452938"/>
            <a:ext cx="1587" cy="550862"/>
          </a:xfrm>
          <a:prstGeom prst="bentConnector3">
            <a:avLst>
              <a:gd name="adj1" fmla="val 14395468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4063" name="Group 39"/>
          <p:cNvGrpSpPr>
            <a:grpSpLocks/>
          </p:cNvGrpSpPr>
          <p:nvPr/>
        </p:nvGrpSpPr>
        <p:grpSpPr bwMode="auto">
          <a:xfrm>
            <a:off x="5818188" y="2198688"/>
            <a:ext cx="269875" cy="312737"/>
            <a:chOff x="0" y="0"/>
            <a:chExt cx="269310" cy="313150"/>
          </a:xfrm>
        </p:grpSpPr>
        <p:sp>
          <p:nvSpPr>
            <p:cNvPr id="44070" name="等腰三角形 61"/>
            <p:cNvSpPr>
              <a:spLocks noChangeArrowheads="1"/>
            </p:cNvSpPr>
            <p:nvPr/>
          </p:nvSpPr>
          <p:spPr bwMode="auto">
            <a:xfrm rot="-5400000">
              <a:off x="-94000" y="94000"/>
              <a:ext cx="313150" cy="125149"/>
            </a:xfrm>
            <a:prstGeom prst="triangle">
              <a:avLst>
                <a:gd name="adj" fmla="val 50000"/>
              </a:avLst>
            </a:prstGeom>
            <a:noFill/>
            <a:ln w="63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</a:endParaRPr>
            </a:p>
          </p:txBody>
        </p:sp>
        <p:cxnSp>
          <p:nvCxnSpPr>
            <p:cNvPr id="44071" name="直接连接符 62"/>
            <p:cNvCxnSpPr>
              <a:cxnSpLocks noChangeShapeType="1"/>
              <a:stCxn id="44070" idx="3"/>
            </p:cNvCxnSpPr>
            <p:nvPr/>
          </p:nvCxnSpPr>
          <p:spPr bwMode="auto">
            <a:xfrm>
              <a:off x="125149" y="157370"/>
              <a:ext cx="144161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4064" name="矩形 63"/>
          <p:cNvSpPr>
            <a:spLocks noChangeArrowheads="1"/>
          </p:cNvSpPr>
          <p:nvPr/>
        </p:nvSpPr>
        <p:spPr bwMode="auto">
          <a:xfrm>
            <a:off x="6313488" y="3644900"/>
            <a:ext cx="2454275" cy="527050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Other Runtime Exception classes ...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cxnSp>
        <p:nvCxnSpPr>
          <p:cNvPr id="44065" name="肘形连接符 70"/>
          <p:cNvCxnSpPr>
            <a:cxnSpLocks noChangeShapeType="1"/>
            <a:stCxn id="44051" idx="1"/>
            <a:endCxn id="44064" idx="1"/>
          </p:cNvCxnSpPr>
          <p:nvPr/>
        </p:nvCxnSpPr>
        <p:spPr bwMode="auto">
          <a:xfrm rot="10800000" flipV="1">
            <a:off x="6313488" y="1522413"/>
            <a:ext cx="1587" cy="2386012"/>
          </a:xfrm>
          <a:prstGeom prst="bentConnector3">
            <a:avLst>
              <a:gd name="adj1" fmla="val 14395468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66" name="肘形连接符 72"/>
          <p:cNvCxnSpPr>
            <a:cxnSpLocks noChangeShapeType="1"/>
            <a:stCxn id="44050" idx="1"/>
            <a:endCxn id="44049" idx="1"/>
          </p:cNvCxnSpPr>
          <p:nvPr/>
        </p:nvCxnSpPr>
        <p:spPr bwMode="auto">
          <a:xfrm rot="10800000" flipV="1">
            <a:off x="6313488" y="1985963"/>
            <a:ext cx="1587" cy="914400"/>
          </a:xfrm>
          <a:prstGeom prst="bentConnector3">
            <a:avLst>
              <a:gd name="adj1" fmla="val 14395468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67" name="肘形连接符 74"/>
          <p:cNvCxnSpPr>
            <a:cxnSpLocks noChangeShapeType="1"/>
            <a:stCxn id="44068" idx="1"/>
            <a:endCxn id="44042" idx="1"/>
          </p:cNvCxnSpPr>
          <p:nvPr/>
        </p:nvCxnSpPr>
        <p:spPr bwMode="auto">
          <a:xfrm rot="10800000">
            <a:off x="6313488" y="2449513"/>
            <a:ext cx="1587" cy="914400"/>
          </a:xfrm>
          <a:prstGeom prst="bentConnector3">
            <a:avLst>
              <a:gd name="adj1" fmla="val 14395468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4068" name="矩形 76"/>
          <p:cNvSpPr>
            <a:spLocks noChangeArrowheads="1"/>
          </p:cNvSpPr>
          <p:nvPr/>
        </p:nvSpPr>
        <p:spPr bwMode="auto">
          <a:xfrm>
            <a:off x="6313488" y="3168650"/>
            <a:ext cx="2454275" cy="388938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/>
              <a:t>InputMismatchException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4069" name="TextBox 48"/>
          <p:cNvSpPr txBox="1">
            <a:spLocks noChangeArrowheads="1"/>
          </p:cNvSpPr>
          <p:nvPr/>
        </p:nvSpPr>
        <p:spPr bwMode="auto">
          <a:xfrm>
            <a:off x="86520" y="4752975"/>
            <a:ext cx="3690937" cy="2031325"/>
          </a:xfrm>
          <a:prstGeom prst="rect">
            <a:avLst/>
          </a:prstGeom>
          <a:gradFill rotWithShape="1">
            <a:gsLst>
              <a:gs pos="0">
                <a:srgbClr val="BCBCBC"/>
              </a:gs>
              <a:gs pos="35001">
                <a:srgbClr val="D0D0D0"/>
              </a:gs>
              <a:gs pos="100000">
                <a:srgbClr val="EDEDED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系统错误（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system error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）是由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Java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虚拟机抛出并在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Error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类中描述的。</a:t>
            </a:r>
            <a:endParaRPr lang="en-US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Error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类描述内部的系统错误。这种错误很少发生，如果发生，除了通知用户以及尽量稳妥地结束程序外，几乎什么也不能做。</a:t>
            </a:r>
          </a:p>
        </p:txBody>
      </p:sp>
      <p:cxnSp>
        <p:nvCxnSpPr>
          <p:cNvPr id="48" name="直接连接符 47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任意多边形 52"/>
          <p:cNvSpPr>
            <a:spLocks noChangeArrowheads="1"/>
          </p:cNvSpPr>
          <p:nvPr/>
        </p:nvSpPr>
        <p:spPr bwMode="auto">
          <a:xfrm>
            <a:off x="2366963" y="914400"/>
            <a:ext cx="6564312" cy="3970338"/>
          </a:xfrm>
          <a:custGeom>
            <a:avLst/>
            <a:gdLst>
              <a:gd name="T0" fmla="*/ 0 w 6563638"/>
              <a:gd name="T1" fmla="*/ 0 h 3970750"/>
              <a:gd name="T2" fmla="*/ 6554478 w 6563638"/>
              <a:gd name="T3" fmla="*/ 0 h 3970750"/>
              <a:gd name="T4" fmla="*/ 6567010 w 6563638"/>
              <a:gd name="T5" fmla="*/ 3968690 h 3970750"/>
              <a:gd name="T6" fmla="*/ 3985323 w 6563638"/>
              <a:gd name="T7" fmla="*/ 3968690 h 3970750"/>
              <a:gd name="T8" fmla="*/ 3471491 w 6563638"/>
              <a:gd name="T9" fmla="*/ 3092322 h 3970750"/>
              <a:gd name="T10" fmla="*/ 1441233 w 6563638"/>
              <a:gd name="T11" fmla="*/ 3092322 h 3970750"/>
              <a:gd name="T12" fmla="*/ 12531 w 6563638"/>
              <a:gd name="T13" fmla="*/ 1402187 h 3970750"/>
              <a:gd name="T14" fmla="*/ 0 w 6563638"/>
              <a:gd name="T15" fmla="*/ 0 h 397075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563638"/>
              <a:gd name="T25" fmla="*/ 0 h 3970750"/>
              <a:gd name="T26" fmla="*/ 6563638 w 6563638"/>
              <a:gd name="T27" fmla="*/ 3970750 h 397075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563638" h="3970750">
                <a:moveTo>
                  <a:pt x="0" y="0"/>
                </a:moveTo>
                <a:lnTo>
                  <a:pt x="6551112" y="0"/>
                </a:lnTo>
                <a:cubicBezTo>
                  <a:pt x="6555287" y="1323583"/>
                  <a:pt x="6559463" y="2647167"/>
                  <a:pt x="6563638" y="3970750"/>
                </a:cubicBezTo>
                <a:lnTo>
                  <a:pt x="3983277" y="3970750"/>
                </a:lnTo>
                <a:lnTo>
                  <a:pt x="3469710" y="3093929"/>
                </a:lnTo>
                <a:lnTo>
                  <a:pt x="1440493" y="3093929"/>
                </a:lnTo>
                <a:lnTo>
                  <a:pt x="12526" y="1402915"/>
                </a:lnTo>
                <a:lnTo>
                  <a:pt x="0" y="0"/>
                </a:lnTo>
                <a:close/>
              </a:path>
            </a:pathLst>
          </a:custGeom>
          <a:solidFill>
            <a:srgbClr val="AD5CFF">
              <a:alpha val="29803"/>
            </a:srgbClr>
          </a:solidFill>
          <a:ln w="25400">
            <a:solidFill>
              <a:srgbClr val="959500"/>
            </a:solidFill>
            <a:miter lim="800000"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45059" name="标题 1"/>
          <p:cNvSpPr>
            <a:spLocks noGrp="1"/>
          </p:cNvSpPr>
          <p:nvPr>
            <p:ph type="title" idx="4294967295"/>
          </p:nvPr>
        </p:nvSpPr>
        <p:spPr>
          <a:xfrm>
            <a:off x="468313" y="116632"/>
            <a:ext cx="7543800" cy="719137"/>
          </a:xfrm>
        </p:spPr>
        <p:txBody>
          <a:bodyPr/>
          <a:lstStyle/>
          <a:p>
            <a:r>
              <a:rPr lang="zh-CN" altLang="en-US" sz="3200" b="0" dirty="0">
                <a:latin typeface="黑体" panose="02010609060101010101" pitchFamily="49" charset="-122"/>
                <a:ea typeface="黑体" panose="02010609060101010101" pitchFamily="49" charset="-122"/>
              </a:rPr>
              <a:t>异常类继承结构图</a:t>
            </a:r>
            <a:r>
              <a:rPr lang="en-US" altLang="zh-CN" sz="3200" b="0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3200" b="0" dirty="0">
                <a:latin typeface="黑体" panose="02010609060101010101" pitchFamily="49" charset="-122"/>
                <a:ea typeface="黑体" panose="02010609060101010101" pitchFamily="49" charset="-122"/>
              </a:rPr>
              <a:t>异常</a:t>
            </a:r>
          </a:p>
        </p:txBody>
      </p:sp>
      <p:sp>
        <p:nvSpPr>
          <p:cNvPr id="45060" name="矩形 3"/>
          <p:cNvSpPr>
            <a:spLocks noChangeArrowheads="1"/>
          </p:cNvSpPr>
          <p:nvPr/>
        </p:nvSpPr>
        <p:spPr bwMode="auto">
          <a:xfrm>
            <a:off x="250825" y="3344863"/>
            <a:ext cx="738188" cy="387350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Object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grpSp>
        <p:nvGrpSpPr>
          <p:cNvPr id="45061" name="Group 5"/>
          <p:cNvGrpSpPr>
            <a:grpSpLocks/>
          </p:cNvGrpSpPr>
          <p:nvPr/>
        </p:nvGrpSpPr>
        <p:grpSpPr bwMode="auto">
          <a:xfrm>
            <a:off x="995363" y="3387725"/>
            <a:ext cx="407987" cy="314325"/>
            <a:chOff x="0" y="0"/>
            <a:chExt cx="407096" cy="313150"/>
          </a:xfrm>
        </p:grpSpPr>
        <p:sp>
          <p:nvSpPr>
            <p:cNvPr id="45102" name="等腰三角形 4"/>
            <p:cNvSpPr>
              <a:spLocks noChangeArrowheads="1"/>
            </p:cNvSpPr>
            <p:nvPr/>
          </p:nvSpPr>
          <p:spPr bwMode="auto">
            <a:xfrm rot="-5400000">
              <a:off x="-94006" y="94006"/>
              <a:ext cx="313150" cy="125138"/>
            </a:xfrm>
            <a:prstGeom prst="triangle">
              <a:avLst>
                <a:gd name="adj" fmla="val 50000"/>
              </a:avLst>
            </a:prstGeom>
            <a:noFill/>
            <a:ln w="63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</a:endParaRPr>
            </a:p>
          </p:txBody>
        </p:sp>
        <p:cxnSp>
          <p:nvCxnSpPr>
            <p:cNvPr id="45103" name="直接连接符 6"/>
            <p:cNvCxnSpPr>
              <a:cxnSpLocks noChangeShapeType="1"/>
              <a:stCxn id="45102" idx="3"/>
            </p:cNvCxnSpPr>
            <p:nvPr/>
          </p:nvCxnSpPr>
          <p:spPr bwMode="auto">
            <a:xfrm>
              <a:off x="125138" y="156575"/>
              <a:ext cx="281958" cy="1581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5062" name="矩形 7"/>
          <p:cNvSpPr>
            <a:spLocks noChangeArrowheads="1"/>
          </p:cNvSpPr>
          <p:nvPr/>
        </p:nvSpPr>
        <p:spPr bwMode="auto">
          <a:xfrm>
            <a:off x="1277938" y="3344863"/>
            <a:ext cx="1014412" cy="387350"/>
          </a:xfrm>
          <a:prstGeom prst="rect">
            <a:avLst/>
          </a:prstGeom>
          <a:gradFill rotWithShape="1">
            <a:gsLst>
              <a:gs pos="0">
                <a:srgbClr val="447676"/>
              </a:gs>
              <a:gs pos="80000">
                <a:srgbClr val="5B9B9B"/>
              </a:gs>
              <a:gs pos="100000">
                <a:srgbClr val="5A9D9D"/>
              </a:gs>
            </a:gsLst>
            <a:lin ang="5400000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3000" dir="5400000" algn="ctr" rotWithShape="0">
              <a:srgbClr val="000000">
                <a:alpha val="34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solidFill>
                  <a:srgbClr val="FFFFFF"/>
                </a:solidFill>
                <a:cs typeface="Courier New" panose="02070309020205020404" pitchFamily="49" charset="0"/>
              </a:rPr>
              <a:t>Throwable</a:t>
            </a:r>
            <a:endParaRPr lang="zh-CN" altLang="en-US" sz="1200" b="1">
              <a:solidFill>
                <a:srgbClr val="FFFFFF"/>
              </a:solidFill>
              <a:cs typeface="Courier New" panose="02070309020205020404" pitchFamily="49" charset="0"/>
            </a:endParaRPr>
          </a:p>
        </p:txBody>
      </p:sp>
      <p:sp>
        <p:nvSpPr>
          <p:cNvPr id="45063" name="矩形 8"/>
          <p:cNvSpPr>
            <a:spLocks noChangeArrowheads="1"/>
          </p:cNvSpPr>
          <p:nvPr/>
        </p:nvSpPr>
        <p:spPr bwMode="auto">
          <a:xfrm>
            <a:off x="2717800" y="1854200"/>
            <a:ext cx="1014413" cy="387350"/>
          </a:xfrm>
          <a:prstGeom prst="rect">
            <a:avLst/>
          </a:prstGeom>
          <a:gradFill rotWithShape="1">
            <a:gsLst>
              <a:gs pos="0">
                <a:srgbClr val="FFFF90"/>
              </a:gs>
              <a:gs pos="35001">
                <a:srgbClr val="FFFFB2"/>
              </a:gs>
              <a:gs pos="100000">
                <a:srgbClr val="FFFFE0"/>
              </a:gs>
            </a:gsLst>
            <a:lin ang="5400000" scaled="1"/>
          </a:gradFill>
          <a:ln w="9525">
            <a:solidFill>
              <a:srgbClr val="CCCC00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Exception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5064" name="矩形 9"/>
          <p:cNvSpPr>
            <a:spLocks noChangeArrowheads="1"/>
          </p:cNvSpPr>
          <p:nvPr/>
        </p:nvSpPr>
        <p:spPr bwMode="auto">
          <a:xfrm>
            <a:off x="2717800" y="4848225"/>
            <a:ext cx="1014413" cy="387350"/>
          </a:xfrm>
          <a:prstGeom prst="rect">
            <a:avLst/>
          </a:prstGeom>
          <a:gradFill rotWithShape="1">
            <a:gsLst>
              <a:gs pos="0">
                <a:srgbClr val="FFFF90"/>
              </a:gs>
              <a:gs pos="35001">
                <a:srgbClr val="FFFFB2"/>
              </a:gs>
              <a:gs pos="100000">
                <a:srgbClr val="FFFFE0"/>
              </a:gs>
            </a:gsLst>
            <a:lin ang="5400000" scaled="1"/>
          </a:gradFill>
          <a:ln w="9525">
            <a:solidFill>
              <a:srgbClr val="CCCC00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Error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5065" name="矩形 10"/>
          <p:cNvSpPr>
            <a:spLocks noChangeArrowheads="1"/>
          </p:cNvSpPr>
          <p:nvPr/>
        </p:nvSpPr>
        <p:spPr bwMode="auto">
          <a:xfrm>
            <a:off x="4159250" y="2717800"/>
            <a:ext cx="1690688" cy="388938"/>
          </a:xfrm>
          <a:prstGeom prst="rect">
            <a:avLst/>
          </a:prstGeom>
          <a:gradFill rotWithShape="1">
            <a:gsLst>
              <a:gs pos="0">
                <a:srgbClr val="FFFF90"/>
              </a:gs>
              <a:gs pos="35001">
                <a:srgbClr val="FFFFB2"/>
              </a:gs>
              <a:gs pos="100000">
                <a:srgbClr val="FFFFE0"/>
              </a:gs>
            </a:gsLst>
            <a:lin ang="5400000" scaled="1"/>
          </a:gradFill>
          <a:ln w="9525">
            <a:solidFill>
              <a:srgbClr val="CCCC00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RuntimeException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5066" name="矩形 11"/>
          <p:cNvSpPr>
            <a:spLocks noChangeArrowheads="1"/>
          </p:cNvSpPr>
          <p:nvPr/>
        </p:nvSpPr>
        <p:spPr bwMode="auto">
          <a:xfrm>
            <a:off x="6350000" y="2805113"/>
            <a:ext cx="2455863" cy="388937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IndexOutOfBoundException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5067" name="矩形 12"/>
          <p:cNvSpPr>
            <a:spLocks noChangeArrowheads="1"/>
          </p:cNvSpPr>
          <p:nvPr/>
        </p:nvSpPr>
        <p:spPr bwMode="auto">
          <a:xfrm>
            <a:off x="4159250" y="2154238"/>
            <a:ext cx="1690688" cy="388937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AWTException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5068" name="矩形 13"/>
          <p:cNvSpPr>
            <a:spLocks noChangeArrowheads="1"/>
          </p:cNvSpPr>
          <p:nvPr/>
        </p:nvSpPr>
        <p:spPr bwMode="auto">
          <a:xfrm>
            <a:off x="4159250" y="1590675"/>
            <a:ext cx="1690688" cy="388938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IOException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5069" name="矩形 14"/>
          <p:cNvSpPr>
            <a:spLocks noChangeArrowheads="1"/>
          </p:cNvSpPr>
          <p:nvPr/>
        </p:nvSpPr>
        <p:spPr bwMode="auto">
          <a:xfrm>
            <a:off x="4159250" y="1014413"/>
            <a:ext cx="2266950" cy="388937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ClassNotFoundException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5070" name="矩形 15"/>
          <p:cNvSpPr>
            <a:spLocks noChangeArrowheads="1"/>
          </p:cNvSpPr>
          <p:nvPr/>
        </p:nvSpPr>
        <p:spPr bwMode="auto">
          <a:xfrm>
            <a:off x="4233863" y="4284663"/>
            <a:ext cx="1690687" cy="387350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LinkageError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5071" name="矩形 16"/>
          <p:cNvSpPr>
            <a:spLocks noChangeArrowheads="1"/>
          </p:cNvSpPr>
          <p:nvPr/>
        </p:nvSpPr>
        <p:spPr bwMode="auto">
          <a:xfrm>
            <a:off x="4233863" y="4810125"/>
            <a:ext cx="1941512" cy="388938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VirtualMachineError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5072" name="矩形 17"/>
          <p:cNvSpPr>
            <a:spLocks noChangeArrowheads="1"/>
          </p:cNvSpPr>
          <p:nvPr/>
        </p:nvSpPr>
        <p:spPr bwMode="auto">
          <a:xfrm>
            <a:off x="4233863" y="5360988"/>
            <a:ext cx="1690687" cy="388937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AWTError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5073" name="矩形 18"/>
          <p:cNvSpPr>
            <a:spLocks noChangeArrowheads="1"/>
          </p:cNvSpPr>
          <p:nvPr/>
        </p:nvSpPr>
        <p:spPr bwMode="auto">
          <a:xfrm>
            <a:off x="6350000" y="3257550"/>
            <a:ext cx="2455863" cy="387350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IllegalArgumentException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5074" name="矩形 19"/>
          <p:cNvSpPr>
            <a:spLocks noChangeArrowheads="1"/>
          </p:cNvSpPr>
          <p:nvPr/>
        </p:nvSpPr>
        <p:spPr bwMode="auto">
          <a:xfrm>
            <a:off x="6350000" y="2343150"/>
            <a:ext cx="2455863" cy="387350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NullPointerException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5075" name="矩形 20"/>
          <p:cNvSpPr>
            <a:spLocks noChangeArrowheads="1"/>
          </p:cNvSpPr>
          <p:nvPr/>
        </p:nvSpPr>
        <p:spPr bwMode="auto">
          <a:xfrm>
            <a:off x="6350000" y="1879600"/>
            <a:ext cx="2455863" cy="387350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ArithmeticException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grpSp>
        <p:nvGrpSpPr>
          <p:cNvPr id="45076" name="Group 22"/>
          <p:cNvGrpSpPr>
            <a:grpSpLocks/>
          </p:cNvGrpSpPr>
          <p:nvPr/>
        </p:nvGrpSpPr>
        <p:grpSpPr bwMode="auto">
          <a:xfrm>
            <a:off x="2286000" y="3387725"/>
            <a:ext cx="269875" cy="314325"/>
            <a:chOff x="0" y="0"/>
            <a:chExt cx="269310" cy="313150"/>
          </a:xfrm>
        </p:grpSpPr>
        <p:sp>
          <p:nvSpPr>
            <p:cNvPr id="45100" name="等腰三角形 23"/>
            <p:cNvSpPr>
              <a:spLocks noChangeArrowheads="1"/>
            </p:cNvSpPr>
            <p:nvPr/>
          </p:nvSpPr>
          <p:spPr bwMode="auto">
            <a:xfrm rot="-5400000">
              <a:off x="-94000" y="94000"/>
              <a:ext cx="313150" cy="125150"/>
            </a:xfrm>
            <a:prstGeom prst="triangle">
              <a:avLst>
                <a:gd name="adj" fmla="val 50000"/>
              </a:avLst>
            </a:prstGeom>
            <a:noFill/>
            <a:ln w="63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</a:endParaRPr>
            </a:p>
          </p:txBody>
        </p:sp>
        <p:cxnSp>
          <p:nvCxnSpPr>
            <p:cNvPr id="45101" name="直接连接符 24"/>
            <p:cNvCxnSpPr>
              <a:cxnSpLocks noChangeShapeType="1"/>
              <a:stCxn id="45100" idx="3"/>
            </p:cNvCxnSpPr>
            <p:nvPr/>
          </p:nvCxnSpPr>
          <p:spPr bwMode="auto">
            <a:xfrm>
              <a:off x="125150" y="156575"/>
              <a:ext cx="144160" cy="1581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45077" name="肘形连接符 29"/>
          <p:cNvCxnSpPr>
            <a:cxnSpLocks noChangeShapeType="1"/>
            <a:stCxn id="45063" idx="1"/>
            <a:endCxn id="45064" idx="1"/>
          </p:cNvCxnSpPr>
          <p:nvPr/>
        </p:nvCxnSpPr>
        <p:spPr bwMode="auto">
          <a:xfrm rot="10800000" flipV="1">
            <a:off x="2717800" y="2047875"/>
            <a:ext cx="1588" cy="2994025"/>
          </a:xfrm>
          <a:prstGeom prst="bentConnector3">
            <a:avLst>
              <a:gd name="adj1" fmla="val 10451454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5078" name="Group 26"/>
          <p:cNvGrpSpPr>
            <a:grpSpLocks/>
          </p:cNvGrpSpPr>
          <p:nvPr/>
        </p:nvGrpSpPr>
        <p:grpSpPr bwMode="auto">
          <a:xfrm>
            <a:off x="3751263" y="1897063"/>
            <a:ext cx="269875" cy="314325"/>
            <a:chOff x="0" y="0"/>
            <a:chExt cx="269310" cy="313150"/>
          </a:xfrm>
        </p:grpSpPr>
        <p:sp>
          <p:nvSpPr>
            <p:cNvPr id="45098" name="等腰三角形 34"/>
            <p:cNvSpPr>
              <a:spLocks noChangeArrowheads="1"/>
            </p:cNvSpPr>
            <p:nvPr/>
          </p:nvSpPr>
          <p:spPr bwMode="auto">
            <a:xfrm rot="-5400000">
              <a:off x="-94000" y="94000"/>
              <a:ext cx="313150" cy="125149"/>
            </a:xfrm>
            <a:prstGeom prst="triangle">
              <a:avLst>
                <a:gd name="adj" fmla="val 50000"/>
              </a:avLst>
            </a:prstGeom>
            <a:noFill/>
            <a:ln w="63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</a:endParaRPr>
            </a:p>
          </p:txBody>
        </p:sp>
        <p:cxnSp>
          <p:nvCxnSpPr>
            <p:cNvPr id="45099" name="直接连接符 35"/>
            <p:cNvCxnSpPr>
              <a:cxnSpLocks noChangeShapeType="1"/>
              <a:stCxn id="45098" idx="3"/>
            </p:cNvCxnSpPr>
            <p:nvPr/>
          </p:nvCxnSpPr>
          <p:spPr bwMode="auto">
            <a:xfrm>
              <a:off x="125149" y="156575"/>
              <a:ext cx="144161" cy="158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45079" name="肘形连接符 37"/>
          <p:cNvCxnSpPr>
            <a:cxnSpLocks noChangeShapeType="1"/>
            <a:stCxn id="45069" idx="1"/>
            <a:endCxn id="45082" idx="1"/>
          </p:cNvCxnSpPr>
          <p:nvPr/>
        </p:nvCxnSpPr>
        <p:spPr bwMode="auto">
          <a:xfrm rot="10800000" flipH="1" flipV="1">
            <a:off x="4159250" y="1208088"/>
            <a:ext cx="23813" cy="2330450"/>
          </a:xfrm>
          <a:prstGeom prst="bentConnector3">
            <a:avLst>
              <a:gd name="adj1" fmla="val -562500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80" name="肘形连接符 42"/>
          <p:cNvCxnSpPr>
            <a:cxnSpLocks noChangeShapeType="1"/>
            <a:stCxn id="45068" idx="1"/>
            <a:endCxn id="45067" idx="1"/>
          </p:cNvCxnSpPr>
          <p:nvPr/>
        </p:nvCxnSpPr>
        <p:spPr bwMode="auto">
          <a:xfrm rot="10800000" flipV="1">
            <a:off x="4159250" y="1784350"/>
            <a:ext cx="1588" cy="563563"/>
          </a:xfrm>
          <a:prstGeom prst="bentConnector3">
            <a:avLst>
              <a:gd name="adj1" fmla="val 8873931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5081" name="Group 31"/>
          <p:cNvGrpSpPr>
            <a:grpSpLocks/>
          </p:cNvGrpSpPr>
          <p:nvPr/>
        </p:nvGrpSpPr>
        <p:grpSpPr bwMode="auto">
          <a:xfrm>
            <a:off x="3729038" y="4881563"/>
            <a:ext cx="268287" cy="312737"/>
            <a:chOff x="0" y="0"/>
            <a:chExt cx="269310" cy="313150"/>
          </a:xfrm>
        </p:grpSpPr>
        <p:sp>
          <p:nvSpPr>
            <p:cNvPr id="45096" name="等腰三角形 46"/>
            <p:cNvSpPr>
              <a:spLocks noChangeArrowheads="1"/>
            </p:cNvSpPr>
            <p:nvPr/>
          </p:nvSpPr>
          <p:spPr bwMode="auto">
            <a:xfrm rot="-5400000">
              <a:off x="-93630" y="93630"/>
              <a:ext cx="313150" cy="125890"/>
            </a:xfrm>
            <a:prstGeom prst="triangle">
              <a:avLst>
                <a:gd name="adj" fmla="val 50000"/>
              </a:avLst>
            </a:prstGeom>
            <a:noFill/>
            <a:ln w="63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</a:endParaRPr>
            </a:p>
          </p:txBody>
        </p:sp>
        <p:cxnSp>
          <p:nvCxnSpPr>
            <p:cNvPr id="45097" name="直接连接符 47"/>
            <p:cNvCxnSpPr>
              <a:cxnSpLocks noChangeShapeType="1"/>
              <a:stCxn id="45096" idx="3"/>
            </p:cNvCxnSpPr>
            <p:nvPr/>
          </p:nvCxnSpPr>
          <p:spPr bwMode="auto">
            <a:xfrm>
              <a:off x="125890" y="157370"/>
              <a:ext cx="14342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5082" name="矩形 49"/>
          <p:cNvSpPr>
            <a:spLocks noChangeArrowheads="1"/>
          </p:cNvSpPr>
          <p:nvPr/>
        </p:nvSpPr>
        <p:spPr bwMode="auto">
          <a:xfrm>
            <a:off x="4183063" y="3281363"/>
            <a:ext cx="1692275" cy="514350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Other Exception classes...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5083" name="矩形 50"/>
          <p:cNvSpPr>
            <a:spLocks noChangeArrowheads="1"/>
          </p:cNvSpPr>
          <p:nvPr/>
        </p:nvSpPr>
        <p:spPr bwMode="auto">
          <a:xfrm>
            <a:off x="4233863" y="5911850"/>
            <a:ext cx="1690687" cy="527050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Other Error classes...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cxnSp>
        <p:nvCxnSpPr>
          <p:cNvPr id="45084" name="肘形连接符 54"/>
          <p:cNvCxnSpPr>
            <a:cxnSpLocks noChangeShapeType="1"/>
            <a:stCxn id="45065" idx="1"/>
            <a:endCxn id="45067" idx="1"/>
          </p:cNvCxnSpPr>
          <p:nvPr/>
        </p:nvCxnSpPr>
        <p:spPr bwMode="auto">
          <a:xfrm rot="10800000">
            <a:off x="4159250" y="2347913"/>
            <a:ext cx="1588" cy="565150"/>
          </a:xfrm>
          <a:prstGeom prst="bentConnector3">
            <a:avLst>
              <a:gd name="adj1" fmla="val 8873866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85" name="肘形连接符 57"/>
          <p:cNvCxnSpPr>
            <a:cxnSpLocks noChangeShapeType="1"/>
            <a:stCxn id="45070" idx="1"/>
            <a:endCxn id="45083" idx="1"/>
          </p:cNvCxnSpPr>
          <p:nvPr/>
        </p:nvCxnSpPr>
        <p:spPr bwMode="auto">
          <a:xfrm rot="10800000" flipV="1">
            <a:off x="4233863" y="4478338"/>
            <a:ext cx="1587" cy="1697037"/>
          </a:xfrm>
          <a:prstGeom prst="bentConnector3">
            <a:avLst>
              <a:gd name="adj1" fmla="val 14395468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86" name="肘形连接符 59"/>
          <p:cNvCxnSpPr>
            <a:cxnSpLocks noChangeShapeType="1"/>
            <a:stCxn id="45071" idx="1"/>
            <a:endCxn id="45072" idx="1"/>
          </p:cNvCxnSpPr>
          <p:nvPr/>
        </p:nvCxnSpPr>
        <p:spPr bwMode="auto">
          <a:xfrm rot="10800000" flipV="1">
            <a:off x="4233863" y="5003800"/>
            <a:ext cx="1587" cy="550863"/>
          </a:xfrm>
          <a:prstGeom prst="bentConnector3">
            <a:avLst>
              <a:gd name="adj1" fmla="val 14395468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5087" name="Group 39"/>
          <p:cNvGrpSpPr>
            <a:grpSpLocks/>
          </p:cNvGrpSpPr>
          <p:nvPr/>
        </p:nvGrpSpPr>
        <p:grpSpPr bwMode="auto">
          <a:xfrm>
            <a:off x="5856288" y="2749550"/>
            <a:ext cx="268287" cy="312738"/>
            <a:chOff x="0" y="0"/>
            <a:chExt cx="269310" cy="313150"/>
          </a:xfrm>
        </p:grpSpPr>
        <p:sp>
          <p:nvSpPr>
            <p:cNvPr id="45094" name="等腰三角形 61"/>
            <p:cNvSpPr>
              <a:spLocks noChangeArrowheads="1"/>
            </p:cNvSpPr>
            <p:nvPr/>
          </p:nvSpPr>
          <p:spPr bwMode="auto">
            <a:xfrm rot="-5400000">
              <a:off x="-93630" y="93630"/>
              <a:ext cx="313150" cy="125890"/>
            </a:xfrm>
            <a:prstGeom prst="triangle">
              <a:avLst>
                <a:gd name="adj" fmla="val 50000"/>
              </a:avLst>
            </a:prstGeom>
            <a:noFill/>
            <a:ln w="63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</a:endParaRPr>
            </a:p>
          </p:txBody>
        </p:sp>
        <p:cxnSp>
          <p:nvCxnSpPr>
            <p:cNvPr id="45095" name="直接连接符 62"/>
            <p:cNvCxnSpPr>
              <a:cxnSpLocks noChangeShapeType="1"/>
              <a:stCxn id="45094" idx="3"/>
            </p:cNvCxnSpPr>
            <p:nvPr/>
          </p:nvCxnSpPr>
          <p:spPr bwMode="auto">
            <a:xfrm>
              <a:off x="125890" y="157370"/>
              <a:ext cx="14342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5088" name="矩形 63"/>
          <p:cNvSpPr>
            <a:spLocks noChangeArrowheads="1"/>
          </p:cNvSpPr>
          <p:nvPr/>
        </p:nvSpPr>
        <p:spPr bwMode="auto">
          <a:xfrm>
            <a:off x="6350000" y="4195763"/>
            <a:ext cx="2455863" cy="527050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Other Runtime Exception classes ...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cxnSp>
        <p:nvCxnSpPr>
          <p:cNvPr id="45089" name="肘形连接符 70"/>
          <p:cNvCxnSpPr>
            <a:cxnSpLocks noChangeShapeType="1"/>
            <a:stCxn id="45075" idx="1"/>
            <a:endCxn id="45088" idx="1"/>
          </p:cNvCxnSpPr>
          <p:nvPr/>
        </p:nvCxnSpPr>
        <p:spPr bwMode="auto">
          <a:xfrm rot="10800000" flipV="1">
            <a:off x="6350000" y="2073275"/>
            <a:ext cx="1588" cy="2386013"/>
          </a:xfrm>
          <a:prstGeom prst="bentConnector3">
            <a:avLst>
              <a:gd name="adj1" fmla="val 14395468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90" name="肘形连接符 72"/>
          <p:cNvCxnSpPr>
            <a:cxnSpLocks noChangeShapeType="1"/>
            <a:stCxn id="45074" idx="1"/>
            <a:endCxn id="45073" idx="1"/>
          </p:cNvCxnSpPr>
          <p:nvPr/>
        </p:nvCxnSpPr>
        <p:spPr bwMode="auto">
          <a:xfrm rot="10800000" flipV="1">
            <a:off x="6350000" y="2536825"/>
            <a:ext cx="1588" cy="914400"/>
          </a:xfrm>
          <a:prstGeom prst="bentConnector3">
            <a:avLst>
              <a:gd name="adj1" fmla="val 14395468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91" name="肘形连接符 74"/>
          <p:cNvCxnSpPr>
            <a:cxnSpLocks noChangeShapeType="1"/>
            <a:stCxn id="45092" idx="1"/>
            <a:endCxn id="45066" idx="1"/>
          </p:cNvCxnSpPr>
          <p:nvPr/>
        </p:nvCxnSpPr>
        <p:spPr bwMode="auto">
          <a:xfrm rot="10800000">
            <a:off x="6350000" y="3000375"/>
            <a:ext cx="1588" cy="914400"/>
          </a:xfrm>
          <a:prstGeom prst="bentConnector3">
            <a:avLst>
              <a:gd name="adj1" fmla="val 14395468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092" name="矩形 76"/>
          <p:cNvSpPr>
            <a:spLocks noChangeArrowheads="1"/>
          </p:cNvSpPr>
          <p:nvPr/>
        </p:nvSpPr>
        <p:spPr bwMode="auto">
          <a:xfrm>
            <a:off x="6350000" y="3719513"/>
            <a:ext cx="2455863" cy="388937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/>
              <a:t>InputMismatchException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5093" name="TextBox 48"/>
          <p:cNvSpPr txBox="1">
            <a:spLocks noChangeArrowheads="1"/>
          </p:cNvSpPr>
          <p:nvPr/>
        </p:nvSpPr>
        <p:spPr bwMode="auto">
          <a:xfrm>
            <a:off x="125413" y="1303338"/>
            <a:ext cx="2330450" cy="1477962"/>
          </a:xfrm>
          <a:prstGeom prst="rect">
            <a:avLst/>
          </a:prstGeom>
          <a:gradFill rotWithShape="1">
            <a:gsLst>
              <a:gs pos="0">
                <a:srgbClr val="BCBCBC"/>
              </a:gs>
              <a:gs pos="35001">
                <a:srgbClr val="D0D0D0"/>
              </a:gs>
              <a:gs pos="100000">
                <a:srgbClr val="EDEDED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异常（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Exception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）描述由程序和外部环境引起的错误，这些错误能够通过程序捕获和处理。</a:t>
            </a:r>
          </a:p>
        </p:txBody>
      </p:sp>
      <p:cxnSp>
        <p:nvCxnSpPr>
          <p:cNvPr id="48" name="直接连接符 47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任意多边形 51"/>
          <p:cNvSpPr>
            <a:spLocks noChangeArrowheads="1"/>
          </p:cNvSpPr>
          <p:nvPr/>
        </p:nvSpPr>
        <p:spPr bwMode="auto">
          <a:xfrm>
            <a:off x="3908425" y="1941513"/>
            <a:ext cx="4997450" cy="3019425"/>
          </a:xfrm>
          <a:custGeom>
            <a:avLst/>
            <a:gdLst>
              <a:gd name="T0" fmla="*/ 0 w 4997884"/>
              <a:gd name="T1" fmla="*/ 865231 h 3018773"/>
              <a:gd name="T2" fmla="*/ 2090936 w 4997884"/>
              <a:gd name="T3" fmla="*/ 865231 h 3018773"/>
              <a:gd name="T4" fmla="*/ 2090936 w 4997884"/>
              <a:gd name="T5" fmla="*/ 0 h 3018773"/>
              <a:gd name="T6" fmla="*/ 4995712 w 4997884"/>
              <a:gd name="T7" fmla="*/ 0 h 3018773"/>
              <a:gd name="T8" fmla="*/ 4995712 w 4997884"/>
              <a:gd name="T9" fmla="*/ 3022034 h 3018773"/>
              <a:gd name="T10" fmla="*/ 2103456 w 4997884"/>
              <a:gd name="T11" fmla="*/ 2984415 h 3018773"/>
              <a:gd name="T12" fmla="*/ 2103456 w 4997884"/>
              <a:gd name="T13" fmla="*/ 1416971 h 3018773"/>
              <a:gd name="T14" fmla="*/ 12521 w 4997884"/>
              <a:gd name="T15" fmla="*/ 1416971 h 3018773"/>
              <a:gd name="T16" fmla="*/ 0 w 4997884"/>
              <a:gd name="T17" fmla="*/ 865231 h 301877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997884"/>
              <a:gd name="T28" fmla="*/ 0 h 3018773"/>
              <a:gd name="T29" fmla="*/ 4997884 w 4997884"/>
              <a:gd name="T30" fmla="*/ 3018773 h 301877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997884" h="3018773">
                <a:moveTo>
                  <a:pt x="0" y="864296"/>
                </a:moveTo>
                <a:lnTo>
                  <a:pt x="2091846" y="864296"/>
                </a:lnTo>
                <a:lnTo>
                  <a:pt x="2091846" y="0"/>
                </a:lnTo>
                <a:lnTo>
                  <a:pt x="4997884" y="0"/>
                </a:lnTo>
                <a:lnTo>
                  <a:pt x="4997884" y="3018773"/>
                </a:lnTo>
                <a:lnTo>
                  <a:pt x="2104372" y="2981195"/>
                </a:lnTo>
                <a:lnTo>
                  <a:pt x="2104372" y="1415441"/>
                </a:lnTo>
                <a:lnTo>
                  <a:pt x="12526" y="1415441"/>
                </a:lnTo>
                <a:lnTo>
                  <a:pt x="0" y="864296"/>
                </a:lnTo>
                <a:close/>
              </a:path>
            </a:pathLst>
          </a:custGeom>
          <a:solidFill>
            <a:srgbClr val="AD5CFF">
              <a:alpha val="29803"/>
            </a:srgbClr>
          </a:solidFill>
          <a:ln w="25400">
            <a:solidFill>
              <a:srgbClr val="959500"/>
            </a:solidFill>
            <a:miter lim="800000"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46083" name="标题 1"/>
          <p:cNvSpPr>
            <a:spLocks noGrp="1"/>
          </p:cNvSpPr>
          <p:nvPr>
            <p:ph type="title" idx="4294967295"/>
          </p:nvPr>
        </p:nvSpPr>
        <p:spPr>
          <a:xfrm>
            <a:off x="323528" y="116632"/>
            <a:ext cx="6191919" cy="719137"/>
          </a:xfrm>
        </p:spPr>
        <p:txBody>
          <a:bodyPr/>
          <a:lstStyle/>
          <a:p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运行时异常（</a:t>
            </a:r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Runtime Exception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46084" name="矩形 3"/>
          <p:cNvSpPr>
            <a:spLocks noChangeArrowheads="1"/>
          </p:cNvSpPr>
          <p:nvPr/>
        </p:nvSpPr>
        <p:spPr bwMode="auto">
          <a:xfrm>
            <a:off x="250825" y="3506788"/>
            <a:ext cx="738188" cy="388937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Object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grpSp>
        <p:nvGrpSpPr>
          <p:cNvPr id="46085" name="Group 5"/>
          <p:cNvGrpSpPr>
            <a:grpSpLocks/>
          </p:cNvGrpSpPr>
          <p:nvPr/>
        </p:nvGrpSpPr>
        <p:grpSpPr bwMode="auto">
          <a:xfrm>
            <a:off x="995363" y="3551238"/>
            <a:ext cx="407987" cy="312737"/>
            <a:chOff x="0" y="0"/>
            <a:chExt cx="407096" cy="313150"/>
          </a:xfrm>
        </p:grpSpPr>
        <p:sp>
          <p:nvSpPr>
            <p:cNvPr id="46126" name="等腰三角形 4"/>
            <p:cNvSpPr>
              <a:spLocks noChangeArrowheads="1"/>
            </p:cNvSpPr>
            <p:nvPr/>
          </p:nvSpPr>
          <p:spPr bwMode="auto">
            <a:xfrm rot="-5400000">
              <a:off x="-94006" y="94006"/>
              <a:ext cx="313150" cy="125138"/>
            </a:xfrm>
            <a:prstGeom prst="triangle">
              <a:avLst>
                <a:gd name="adj" fmla="val 50000"/>
              </a:avLst>
            </a:prstGeom>
            <a:noFill/>
            <a:ln w="63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</a:endParaRPr>
            </a:p>
          </p:txBody>
        </p:sp>
        <p:cxnSp>
          <p:nvCxnSpPr>
            <p:cNvPr id="46127" name="直接连接符 6"/>
            <p:cNvCxnSpPr>
              <a:cxnSpLocks noChangeShapeType="1"/>
              <a:stCxn id="46126" idx="3"/>
            </p:cNvCxnSpPr>
            <p:nvPr/>
          </p:nvCxnSpPr>
          <p:spPr bwMode="auto">
            <a:xfrm>
              <a:off x="125138" y="157370"/>
              <a:ext cx="281958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6086" name="矩形 7"/>
          <p:cNvSpPr>
            <a:spLocks noChangeArrowheads="1"/>
          </p:cNvSpPr>
          <p:nvPr/>
        </p:nvSpPr>
        <p:spPr bwMode="auto">
          <a:xfrm>
            <a:off x="1277938" y="3506788"/>
            <a:ext cx="1014412" cy="388937"/>
          </a:xfrm>
          <a:prstGeom prst="rect">
            <a:avLst/>
          </a:prstGeom>
          <a:gradFill rotWithShape="1">
            <a:gsLst>
              <a:gs pos="0">
                <a:srgbClr val="447676"/>
              </a:gs>
              <a:gs pos="80000">
                <a:srgbClr val="5B9B9B"/>
              </a:gs>
              <a:gs pos="100000">
                <a:srgbClr val="5A9D9D"/>
              </a:gs>
            </a:gsLst>
            <a:lin ang="5400000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3000" dir="5400000" algn="ctr" rotWithShape="0">
              <a:srgbClr val="000000">
                <a:alpha val="34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solidFill>
                  <a:srgbClr val="FFFFFF"/>
                </a:solidFill>
                <a:cs typeface="Courier New" panose="02070309020205020404" pitchFamily="49" charset="0"/>
              </a:rPr>
              <a:t>Throwable</a:t>
            </a:r>
            <a:endParaRPr lang="zh-CN" altLang="en-US" sz="1200" b="1">
              <a:solidFill>
                <a:srgbClr val="FFFFFF"/>
              </a:solidFill>
              <a:cs typeface="Courier New" panose="02070309020205020404" pitchFamily="49" charset="0"/>
            </a:endParaRPr>
          </a:p>
        </p:txBody>
      </p:sp>
      <p:sp>
        <p:nvSpPr>
          <p:cNvPr id="46087" name="矩形 8"/>
          <p:cNvSpPr>
            <a:spLocks noChangeArrowheads="1"/>
          </p:cNvSpPr>
          <p:nvPr/>
        </p:nvSpPr>
        <p:spPr bwMode="auto">
          <a:xfrm>
            <a:off x="2717800" y="2016125"/>
            <a:ext cx="1014413" cy="388938"/>
          </a:xfrm>
          <a:prstGeom prst="rect">
            <a:avLst/>
          </a:prstGeom>
          <a:gradFill rotWithShape="1">
            <a:gsLst>
              <a:gs pos="0">
                <a:srgbClr val="FFFF90"/>
              </a:gs>
              <a:gs pos="35001">
                <a:srgbClr val="FFFFB2"/>
              </a:gs>
              <a:gs pos="100000">
                <a:srgbClr val="FFFFE0"/>
              </a:gs>
            </a:gsLst>
            <a:lin ang="5400000" scaled="1"/>
          </a:gradFill>
          <a:ln w="9525">
            <a:solidFill>
              <a:srgbClr val="CCCC00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Exception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6088" name="矩形 9"/>
          <p:cNvSpPr>
            <a:spLocks noChangeArrowheads="1"/>
          </p:cNvSpPr>
          <p:nvPr/>
        </p:nvSpPr>
        <p:spPr bwMode="auto">
          <a:xfrm>
            <a:off x="2717800" y="5010150"/>
            <a:ext cx="1014413" cy="388938"/>
          </a:xfrm>
          <a:prstGeom prst="rect">
            <a:avLst/>
          </a:prstGeom>
          <a:gradFill rotWithShape="1">
            <a:gsLst>
              <a:gs pos="0">
                <a:srgbClr val="FFFF90"/>
              </a:gs>
              <a:gs pos="35001">
                <a:srgbClr val="FFFFB2"/>
              </a:gs>
              <a:gs pos="100000">
                <a:srgbClr val="FFFFE0"/>
              </a:gs>
            </a:gsLst>
            <a:lin ang="5400000" scaled="1"/>
          </a:gradFill>
          <a:ln w="9525">
            <a:solidFill>
              <a:srgbClr val="CCCC00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Error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6089" name="矩形 10"/>
          <p:cNvSpPr>
            <a:spLocks noChangeArrowheads="1"/>
          </p:cNvSpPr>
          <p:nvPr/>
        </p:nvSpPr>
        <p:spPr bwMode="auto">
          <a:xfrm>
            <a:off x="4159250" y="2881313"/>
            <a:ext cx="1690688" cy="387350"/>
          </a:xfrm>
          <a:prstGeom prst="rect">
            <a:avLst/>
          </a:prstGeom>
          <a:gradFill rotWithShape="1">
            <a:gsLst>
              <a:gs pos="0">
                <a:srgbClr val="FFFF90"/>
              </a:gs>
              <a:gs pos="35001">
                <a:srgbClr val="FFFFB2"/>
              </a:gs>
              <a:gs pos="100000">
                <a:srgbClr val="FFFFE0"/>
              </a:gs>
            </a:gsLst>
            <a:lin ang="5400000" scaled="1"/>
          </a:gradFill>
          <a:ln w="9525">
            <a:solidFill>
              <a:srgbClr val="CCCC00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RuntimeException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6090" name="矩形 11"/>
          <p:cNvSpPr>
            <a:spLocks noChangeArrowheads="1"/>
          </p:cNvSpPr>
          <p:nvPr/>
        </p:nvSpPr>
        <p:spPr bwMode="auto">
          <a:xfrm>
            <a:off x="6350000" y="2968625"/>
            <a:ext cx="2455863" cy="388938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IndexOutOfBoundException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6091" name="矩形 12"/>
          <p:cNvSpPr>
            <a:spLocks noChangeArrowheads="1"/>
          </p:cNvSpPr>
          <p:nvPr/>
        </p:nvSpPr>
        <p:spPr bwMode="auto">
          <a:xfrm>
            <a:off x="4159250" y="2317750"/>
            <a:ext cx="1690688" cy="387350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AWTException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6092" name="矩形 13"/>
          <p:cNvSpPr>
            <a:spLocks noChangeArrowheads="1"/>
          </p:cNvSpPr>
          <p:nvPr/>
        </p:nvSpPr>
        <p:spPr bwMode="auto">
          <a:xfrm>
            <a:off x="4159250" y="1754188"/>
            <a:ext cx="1690688" cy="387350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IOException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6093" name="矩形 14"/>
          <p:cNvSpPr>
            <a:spLocks noChangeArrowheads="1"/>
          </p:cNvSpPr>
          <p:nvPr/>
        </p:nvSpPr>
        <p:spPr bwMode="auto">
          <a:xfrm>
            <a:off x="4159250" y="1177925"/>
            <a:ext cx="2266950" cy="387350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ClassNotFoundException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6094" name="矩形 15"/>
          <p:cNvSpPr>
            <a:spLocks noChangeArrowheads="1"/>
          </p:cNvSpPr>
          <p:nvPr/>
        </p:nvSpPr>
        <p:spPr bwMode="auto">
          <a:xfrm>
            <a:off x="4233863" y="4446588"/>
            <a:ext cx="1690687" cy="388937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LinkageError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6095" name="矩形 16"/>
          <p:cNvSpPr>
            <a:spLocks noChangeArrowheads="1"/>
          </p:cNvSpPr>
          <p:nvPr/>
        </p:nvSpPr>
        <p:spPr bwMode="auto">
          <a:xfrm>
            <a:off x="4233863" y="4972050"/>
            <a:ext cx="1941512" cy="388938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VirtualMachineError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6096" name="矩形 17"/>
          <p:cNvSpPr>
            <a:spLocks noChangeArrowheads="1"/>
          </p:cNvSpPr>
          <p:nvPr/>
        </p:nvSpPr>
        <p:spPr bwMode="auto">
          <a:xfrm>
            <a:off x="4233863" y="5524500"/>
            <a:ext cx="1690687" cy="387350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AWTError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6097" name="矩形 18"/>
          <p:cNvSpPr>
            <a:spLocks noChangeArrowheads="1"/>
          </p:cNvSpPr>
          <p:nvPr/>
        </p:nvSpPr>
        <p:spPr bwMode="auto">
          <a:xfrm>
            <a:off x="6350000" y="3419475"/>
            <a:ext cx="2455863" cy="388938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IllegalArgumentException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6098" name="矩形 19"/>
          <p:cNvSpPr>
            <a:spLocks noChangeArrowheads="1"/>
          </p:cNvSpPr>
          <p:nvPr/>
        </p:nvSpPr>
        <p:spPr bwMode="auto">
          <a:xfrm>
            <a:off x="6350000" y="2505075"/>
            <a:ext cx="2455863" cy="388938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NullPointerException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6099" name="矩形 20"/>
          <p:cNvSpPr>
            <a:spLocks noChangeArrowheads="1"/>
          </p:cNvSpPr>
          <p:nvPr/>
        </p:nvSpPr>
        <p:spPr bwMode="auto">
          <a:xfrm>
            <a:off x="6350000" y="2041525"/>
            <a:ext cx="2455863" cy="388938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ArithmeticException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grpSp>
        <p:nvGrpSpPr>
          <p:cNvPr id="46100" name="Group 22"/>
          <p:cNvGrpSpPr>
            <a:grpSpLocks/>
          </p:cNvGrpSpPr>
          <p:nvPr/>
        </p:nvGrpSpPr>
        <p:grpSpPr bwMode="auto">
          <a:xfrm>
            <a:off x="2286000" y="3551238"/>
            <a:ext cx="269875" cy="312737"/>
            <a:chOff x="0" y="0"/>
            <a:chExt cx="269310" cy="313150"/>
          </a:xfrm>
        </p:grpSpPr>
        <p:sp>
          <p:nvSpPr>
            <p:cNvPr id="46124" name="等腰三角形 23"/>
            <p:cNvSpPr>
              <a:spLocks noChangeArrowheads="1"/>
            </p:cNvSpPr>
            <p:nvPr/>
          </p:nvSpPr>
          <p:spPr bwMode="auto">
            <a:xfrm rot="-5400000">
              <a:off x="-94000" y="94000"/>
              <a:ext cx="313150" cy="125150"/>
            </a:xfrm>
            <a:prstGeom prst="triangle">
              <a:avLst>
                <a:gd name="adj" fmla="val 50000"/>
              </a:avLst>
            </a:prstGeom>
            <a:noFill/>
            <a:ln w="63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</a:endParaRPr>
            </a:p>
          </p:txBody>
        </p:sp>
        <p:cxnSp>
          <p:nvCxnSpPr>
            <p:cNvPr id="46125" name="直接连接符 24"/>
            <p:cNvCxnSpPr>
              <a:cxnSpLocks noChangeShapeType="1"/>
              <a:stCxn id="46124" idx="3"/>
            </p:cNvCxnSpPr>
            <p:nvPr/>
          </p:nvCxnSpPr>
          <p:spPr bwMode="auto">
            <a:xfrm>
              <a:off x="125150" y="157370"/>
              <a:ext cx="14416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46101" name="肘形连接符 29"/>
          <p:cNvCxnSpPr>
            <a:cxnSpLocks noChangeShapeType="1"/>
            <a:stCxn id="46087" idx="1"/>
            <a:endCxn id="46088" idx="1"/>
          </p:cNvCxnSpPr>
          <p:nvPr/>
        </p:nvCxnSpPr>
        <p:spPr bwMode="auto">
          <a:xfrm rot="10800000" flipV="1">
            <a:off x="2717800" y="2211388"/>
            <a:ext cx="1588" cy="2992437"/>
          </a:xfrm>
          <a:prstGeom prst="bentConnector3">
            <a:avLst>
              <a:gd name="adj1" fmla="val 10451454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6102" name="Group 26"/>
          <p:cNvGrpSpPr>
            <a:grpSpLocks/>
          </p:cNvGrpSpPr>
          <p:nvPr/>
        </p:nvGrpSpPr>
        <p:grpSpPr bwMode="auto">
          <a:xfrm>
            <a:off x="3751263" y="2060575"/>
            <a:ext cx="269875" cy="312738"/>
            <a:chOff x="0" y="0"/>
            <a:chExt cx="269310" cy="313150"/>
          </a:xfrm>
        </p:grpSpPr>
        <p:sp>
          <p:nvSpPr>
            <p:cNvPr id="46122" name="等腰三角形 34"/>
            <p:cNvSpPr>
              <a:spLocks noChangeArrowheads="1"/>
            </p:cNvSpPr>
            <p:nvPr/>
          </p:nvSpPr>
          <p:spPr bwMode="auto">
            <a:xfrm rot="-5400000">
              <a:off x="-94000" y="93999"/>
              <a:ext cx="313150" cy="125149"/>
            </a:xfrm>
            <a:prstGeom prst="triangle">
              <a:avLst>
                <a:gd name="adj" fmla="val 50000"/>
              </a:avLst>
            </a:prstGeom>
            <a:noFill/>
            <a:ln w="63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</a:endParaRPr>
            </a:p>
          </p:txBody>
        </p:sp>
        <p:cxnSp>
          <p:nvCxnSpPr>
            <p:cNvPr id="46123" name="直接连接符 35"/>
            <p:cNvCxnSpPr>
              <a:cxnSpLocks noChangeShapeType="1"/>
              <a:stCxn id="46122" idx="3"/>
            </p:cNvCxnSpPr>
            <p:nvPr/>
          </p:nvCxnSpPr>
          <p:spPr bwMode="auto">
            <a:xfrm>
              <a:off x="125149" y="157370"/>
              <a:ext cx="144161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46103" name="肘形连接符 37"/>
          <p:cNvCxnSpPr>
            <a:cxnSpLocks noChangeShapeType="1"/>
            <a:stCxn id="46093" idx="1"/>
            <a:endCxn id="46106" idx="1"/>
          </p:cNvCxnSpPr>
          <p:nvPr/>
        </p:nvCxnSpPr>
        <p:spPr bwMode="auto">
          <a:xfrm rot="10800000" flipH="1" flipV="1">
            <a:off x="4159250" y="1371600"/>
            <a:ext cx="23813" cy="2330450"/>
          </a:xfrm>
          <a:prstGeom prst="bentConnector3">
            <a:avLst>
              <a:gd name="adj1" fmla="val -562500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104" name="肘形连接符 42"/>
          <p:cNvCxnSpPr>
            <a:cxnSpLocks noChangeShapeType="1"/>
            <a:stCxn id="46092" idx="1"/>
            <a:endCxn id="46091" idx="1"/>
          </p:cNvCxnSpPr>
          <p:nvPr/>
        </p:nvCxnSpPr>
        <p:spPr bwMode="auto">
          <a:xfrm rot="10800000" flipV="1">
            <a:off x="4159250" y="1947863"/>
            <a:ext cx="1588" cy="563562"/>
          </a:xfrm>
          <a:prstGeom prst="bentConnector3">
            <a:avLst>
              <a:gd name="adj1" fmla="val 8873931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6105" name="Group 31"/>
          <p:cNvGrpSpPr>
            <a:grpSpLocks/>
          </p:cNvGrpSpPr>
          <p:nvPr/>
        </p:nvGrpSpPr>
        <p:grpSpPr bwMode="auto">
          <a:xfrm>
            <a:off x="3729038" y="5043488"/>
            <a:ext cx="268287" cy="312737"/>
            <a:chOff x="0" y="0"/>
            <a:chExt cx="269310" cy="313150"/>
          </a:xfrm>
        </p:grpSpPr>
        <p:sp>
          <p:nvSpPr>
            <p:cNvPr id="46120" name="等腰三角形 46"/>
            <p:cNvSpPr>
              <a:spLocks noChangeArrowheads="1"/>
            </p:cNvSpPr>
            <p:nvPr/>
          </p:nvSpPr>
          <p:spPr bwMode="auto">
            <a:xfrm rot="-5400000">
              <a:off x="-93630" y="93630"/>
              <a:ext cx="313150" cy="125890"/>
            </a:xfrm>
            <a:prstGeom prst="triangle">
              <a:avLst>
                <a:gd name="adj" fmla="val 50000"/>
              </a:avLst>
            </a:prstGeom>
            <a:noFill/>
            <a:ln w="63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</a:endParaRPr>
            </a:p>
          </p:txBody>
        </p:sp>
        <p:cxnSp>
          <p:nvCxnSpPr>
            <p:cNvPr id="46121" name="直接连接符 47"/>
            <p:cNvCxnSpPr>
              <a:cxnSpLocks noChangeShapeType="1"/>
              <a:stCxn id="46120" idx="3"/>
            </p:cNvCxnSpPr>
            <p:nvPr/>
          </p:nvCxnSpPr>
          <p:spPr bwMode="auto">
            <a:xfrm>
              <a:off x="125890" y="157370"/>
              <a:ext cx="14342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6106" name="矩形 49"/>
          <p:cNvSpPr>
            <a:spLocks noChangeArrowheads="1"/>
          </p:cNvSpPr>
          <p:nvPr/>
        </p:nvSpPr>
        <p:spPr bwMode="auto">
          <a:xfrm>
            <a:off x="4183063" y="3444875"/>
            <a:ext cx="1692275" cy="512763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Other Exception classes...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6107" name="矩形 50"/>
          <p:cNvSpPr>
            <a:spLocks noChangeArrowheads="1"/>
          </p:cNvSpPr>
          <p:nvPr/>
        </p:nvSpPr>
        <p:spPr bwMode="auto">
          <a:xfrm>
            <a:off x="4233863" y="6075363"/>
            <a:ext cx="1690687" cy="525462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Other Error classes...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cxnSp>
        <p:nvCxnSpPr>
          <p:cNvPr id="46108" name="肘形连接符 54"/>
          <p:cNvCxnSpPr>
            <a:cxnSpLocks noChangeShapeType="1"/>
            <a:stCxn id="46089" idx="1"/>
            <a:endCxn id="46091" idx="1"/>
          </p:cNvCxnSpPr>
          <p:nvPr/>
        </p:nvCxnSpPr>
        <p:spPr bwMode="auto">
          <a:xfrm rot="10800000">
            <a:off x="4159250" y="2511425"/>
            <a:ext cx="1588" cy="563563"/>
          </a:xfrm>
          <a:prstGeom prst="bentConnector3">
            <a:avLst>
              <a:gd name="adj1" fmla="val 8873866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109" name="肘形连接符 57"/>
          <p:cNvCxnSpPr>
            <a:cxnSpLocks noChangeShapeType="1"/>
            <a:stCxn id="46094" idx="1"/>
            <a:endCxn id="46107" idx="1"/>
          </p:cNvCxnSpPr>
          <p:nvPr/>
        </p:nvCxnSpPr>
        <p:spPr bwMode="auto">
          <a:xfrm rot="10800000" flipV="1">
            <a:off x="4233863" y="4640263"/>
            <a:ext cx="1587" cy="1698625"/>
          </a:xfrm>
          <a:prstGeom prst="bentConnector3">
            <a:avLst>
              <a:gd name="adj1" fmla="val 14395468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110" name="肘形连接符 59"/>
          <p:cNvCxnSpPr>
            <a:cxnSpLocks noChangeShapeType="1"/>
            <a:stCxn id="46095" idx="1"/>
            <a:endCxn id="46096" idx="1"/>
          </p:cNvCxnSpPr>
          <p:nvPr/>
        </p:nvCxnSpPr>
        <p:spPr bwMode="auto">
          <a:xfrm rot="10800000" flipV="1">
            <a:off x="4233863" y="5167313"/>
            <a:ext cx="1587" cy="550862"/>
          </a:xfrm>
          <a:prstGeom prst="bentConnector3">
            <a:avLst>
              <a:gd name="adj1" fmla="val 14395468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6111" name="Group 39"/>
          <p:cNvGrpSpPr>
            <a:grpSpLocks/>
          </p:cNvGrpSpPr>
          <p:nvPr/>
        </p:nvGrpSpPr>
        <p:grpSpPr bwMode="auto">
          <a:xfrm>
            <a:off x="5856288" y="2913063"/>
            <a:ext cx="268287" cy="312737"/>
            <a:chOff x="0" y="0"/>
            <a:chExt cx="269310" cy="313150"/>
          </a:xfrm>
        </p:grpSpPr>
        <p:sp>
          <p:nvSpPr>
            <p:cNvPr id="46118" name="等腰三角形 61"/>
            <p:cNvSpPr>
              <a:spLocks noChangeArrowheads="1"/>
            </p:cNvSpPr>
            <p:nvPr/>
          </p:nvSpPr>
          <p:spPr bwMode="auto">
            <a:xfrm rot="-5400000">
              <a:off x="-93630" y="93630"/>
              <a:ext cx="313150" cy="125890"/>
            </a:xfrm>
            <a:prstGeom prst="triangle">
              <a:avLst>
                <a:gd name="adj" fmla="val 50000"/>
              </a:avLst>
            </a:prstGeom>
            <a:noFill/>
            <a:ln w="63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</a:endParaRPr>
            </a:p>
          </p:txBody>
        </p:sp>
        <p:cxnSp>
          <p:nvCxnSpPr>
            <p:cNvPr id="46119" name="直接连接符 62"/>
            <p:cNvCxnSpPr>
              <a:cxnSpLocks noChangeShapeType="1"/>
              <a:stCxn id="46118" idx="3"/>
            </p:cNvCxnSpPr>
            <p:nvPr/>
          </p:nvCxnSpPr>
          <p:spPr bwMode="auto">
            <a:xfrm>
              <a:off x="125890" y="157370"/>
              <a:ext cx="14342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6112" name="矩形 63"/>
          <p:cNvSpPr>
            <a:spLocks noChangeArrowheads="1"/>
          </p:cNvSpPr>
          <p:nvPr/>
        </p:nvSpPr>
        <p:spPr bwMode="auto">
          <a:xfrm>
            <a:off x="6350000" y="4359275"/>
            <a:ext cx="2455863" cy="525463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Other Runtime Exception classes ...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cxnSp>
        <p:nvCxnSpPr>
          <p:cNvPr id="46113" name="肘形连接符 70"/>
          <p:cNvCxnSpPr>
            <a:cxnSpLocks noChangeShapeType="1"/>
            <a:stCxn id="46099" idx="1"/>
            <a:endCxn id="46112" idx="1"/>
          </p:cNvCxnSpPr>
          <p:nvPr/>
        </p:nvCxnSpPr>
        <p:spPr bwMode="auto">
          <a:xfrm rot="10800000" flipV="1">
            <a:off x="6350000" y="2235200"/>
            <a:ext cx="1588" cy="2387600"/>
          </a:xfrm>
          <a:prstGeom prst="bentConnector3">
            <a:avLst>
              <a:gd name="adj1" fmla="val 14395468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114" name="肘形连接符 72"/>
          <p:cNvCxnSpPr>
            <a:cxnSpLocks noChangeShapeType="1"/>
            <a:stCxn id="46098" idx="1"/>
            <a:endCxn id="46097" idx="1"/>
          </p:cNvCxnSpPr>
          <p:nvPr/>
        </p:nvCxnSpPr>
        <p:spPr bwMode="auto">
          <a:xfrm rot="10800000" flipV="1">
            <a:off x="6350000" y="2698750"/>
            <a:ext cx="1588" cy="914400"/>
          </a:xfrm>
          <a:prstGeom prst="bentConnector3">
            <a:avLst>
              <a:gd name="adj1" fmla="val 14395468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115" name="肘形连接符 74"/>
          <p:cNvCxnSpPr>
            <a:cxnSpLocks noChangeShapeType="1"/>
            <a:stCxn id="46116" idx="1"/>
            <a:endCxn id="46090" idx="1"/>
          </p:cNvCxnSpPr>
          <p:nvPr/>
        </p:nvCxnSpPr>
        <p:spPr bwMode="auto">
          <a:xfrm rot="10800000">
            <a:off x="6350000" y="3162300"/>
            <a:ext cx="1588" cy="914400"/>
          </a:xfrm>
          <a:prstGeom prst="bentConnector3">
            <a:avLst>
              <a:gd name="adj1" fmla="val 14395468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6116" name="矩形 76"/>
          <p:cNvSpPr>
            <a:spLocks noChangeArrowheads="1"/>
          </p:cNvSpPr>
          <p:nvPr/>
        </p:nvSpPr>
        <p:spPr bwMode="auto">
          <a:xfrm>
            <a:off x="6350000" y="3883025"/>
            <a:ext cx="2455863" cy="388938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/>
              <a:t>InputMismatchException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6117" name="TextBox 48"/>
          <p:cNvSpPr txBox="1">
            <a:spLocks noChangeArrowheads="1"/>
          </p:cNvSpPr>
          <p:nvPr/>
        </p:nvSpPr>
        <p:spPr bwMode="auto">
          <a:xfrm>
            <a:off x="4448175" y="5043488"/>
            <a:ext cx="4511676" cy="1754326"/>
          </a:xfrm>
          <a:prstGeom prst="rect">
            <a:avLst/>
          </a:prstGeom>
          <a:gradFill rotWithShape="1">
            <a:gsLst>
              <a:gs pos="0">
                <a:srgbClr val="BCBCBC"/>
              </a:gs>
              <a:gs pos="35001">
                <a:srgbClr val="D0D0D0"/>
              </a:gs>
              <a:gs pos="100000">
                <a:srgbClr val="EDEDED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运行时异常：运行异常可以不做处理，运行时系统会把生成的运行时异常对象交给默认的异常处理程序，在标准输出上显示异常的内容及发生异常的位置。</a:t>
            </a:r>
          </a:p>
        </p:txBody>
      </p:sp>
      <p:cxnSp>
        <p:nvCxnSpPr>
          <p:cNvPr id="48" name="直接连接符 47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标题 1"/>
          <p:cNvSpPr>
            <a:spLocks noGrp="1"/>
          </p:cNvSpPr>
          <p:nvPr>
            <p:ph type="title" idx="4294967295"/>
          </p:nvPr>
        </p:nvSpPr>
        <p:spPr>
          <a:xfrm>
            <a:off x="468313" y="116632"/>
            <a:ext cx="7543800" cy="719137"/>
          </a:xfrm>
        </p:spPr>
        <p:txBody>
          <a:bodyPr/>
          <a:lstStyle/>
          <a:p>
            <a:r>
              <a:rPr lang="zh-CN" altLang="en-US" sz="3200" b="0" dirty="0">
                <a:latin typeface="黑体" panose="02010609060101010101" pitchFamily="49" charset="-122"/>
                <a:ea typeface="黑体" panose="02010609060101010101" pitchFamily="49" charset="-122"/>
              </a:rPr>
              <a:t>异常类</a:t>
            </a:r>
            <a:r>
              <a:rPr lang="en-US" altLang="zh-CN" sz="3200" b="0" dirty="0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3200" b="0" dirty="0">
                <a:latin typeface="黑体" panose="02010609060101010101" pitchFamily="49" charset="-122"/>
                <a:ea typeface="黑体" panose="02010609060101010101" pitchFamily="49" charset="-122"/>
              </a:rPr>
              <a:t>运行异常</a:t>
            </a:r>
            <a:r>
              <a:rPr lang="en-US" altLang="zh-CN" sz="3200" b="0" dirty="0">
                <a:latin typeface="黑体" panose="02010609060101010101" pitchFamily="49" charset="-122"/>
                <a:ea typeface="黑体" panose="02010609060101010101" pitchFamily="49" charset="-122"/>
              </a:rPr>
              <a:t>&amp;</a:t>
            </a:r>
            <a:r>
              <a:rPr lang="zh-CN" altLang="en-US" sz="3200" b="0" dirty="0">
                <a:latin typeface="黑体" panose="02010609060101010101" pitchFamily="49" charset="-122"/>
                <a:ea typeface="黑体" panose="02010609060101010101" pitchFamily="49" charset="-122"/>
              </a:rPr>
              <a:t>编译异常</a:t>
            </a:r>
          </a:p>
        </p:txBody>
      </p:sp>
      <p:cxnSp>
        <p:nvCxnSpPr>
          <p:cNvPr id="46" name="直接连接符 45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4D294C73-3559-4AC2-8914-EB802622A1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52735"/>
            <a:ext cx="9144000" cy="4680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7602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标题 1"/>
          <p:cNvSpPr>
            <a:spLocks noGrp="1"/>
          </p:cNvSpPr>
          <p:nvPr>
            <p:ph type="title" idx="4294967295"/>
          </p:nvPr>
        </p:nvSpPr>
        <p:spPr>
          <a:xfrm>
            <a:off x="468313" y="116632"/>
            <a:ext cx="7543800" cy="719137"/>
          </a:xfrm>
        </p:spPr>
        <p:txBody>
          <a:bodyPr/>
          <a:lstStyle/>
          <a:p>
            <a:r>
              <a:rPr lang="zh-CN" altLang="en-US" sz="3200" b="0" dirty="0">
                <a:latin typeface="黑体" panose="02010609060101010101" pitchFamily="49" charset="-122"/>
                <a:ea typeface="黑体" panose="02010609060101010101" pitchFamily="49" charset="-122"/>
              </a:rPr>
              <a:t>异常类</a:t>
            </a:r>
            <a:r>
              <a:rPr lang="en-US" altLang="zh-CN" sz="3200" b="0" dirty="0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3200" b="0" dirty="0">
                <a:latin typeface="黑体" panose="02010609060101010101" pitchFamily="49" charset="-122"/>
                <a:ea typeface="黑体" panose="02010609060101010101" pitchFamily="49" charset="-122"/>
              </a:rPr>
              <a:t>运行异常</a:t>
            </a:r>
            <a:r>
              <a:rPr lang="en-US" altLang="zh-CN" sz="3200" b="0" dirty="0" err="1">
                <a:latin typeface="Comic Sans MS" panose="030F0702030302020204" pitchFamily="66" charset="0"/>
                <a:ea typeface="黑体" panose="02010609060101010101" pitchFamily="49" charset="-122"/>
              </a:rPr>
              <a:t>RuntimeException</a:t>
            </a:r>
            <a:endParaRPr lang="zh-CN" altLang="en-US" sz="3200" b="0" dirty="0">
              <a:latin typeface="Comic Sans MS" panose="030F0702030302020204" pitchFamily="66" charset="0"/>
              <a:ea typeface="黑体" panose="02010609060101010101" pitchFamily="49" charset="-122"/>
            </a:endParaRPr>
          </a:p>
        </p:txBody>
      </p:sp>
      <p:cxnSp>
        <p:nvCxnSpPr>
          <p:cNvPr id="46" name="直接连接符 45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403AE20B-6929-4152-8036-ED2EC13637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08891"/>
            <a:ext cx="8947375" cy="4352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1952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标题 1"/>
          <p:cNvSpPr>
            <a:spLocks noGrp="1"/>
          </p:cNvSpPr>
          <p:nvPr>
            <p:ph type="title" idx="4294967295"/>
          </p:nvPr>
        </p:nvSpPr>
        <p:spPr>
          <a:xfrm>
            <a:off x="468313" y="116632"/>
            <a:ext cx="7543800" cy="719137"/>
          </a:xfrm>
        </p:spPr>
        <p:txBody>
          <a:bodyPr/>
          <a:lstStyle/>
          <a:p>
            <a:r>
              <a:rPr lang="zh-CN" altLang="en-US" sz="3200" b="0" dirty="0">
                <a:latin typeface="黑体" panose="02010609060101010101" pitchFamily="49" charset="-122"/>
                <a:ea typeface="黑体" panose="02010609060101010101" pitchFamily="49" charset="-122"/>
              </a:rPr>
              <a:t>异常学什么</a:t>
            </a:r>
            <a:endParaRPr lang="zh-CN" altLang="en-US" sz="3200" b="0" dirty="0">
              <a:latin typeface="Comic Sans MS" panose="030F0702030302020204" pitchFamily="66" charset="0"/>
              <a:ea typeface="黑体" panose="02010609060101010101" pitchFamily="49" charset="-122"/>
            </a:endParaRPr>
          </a:p>
        </p:txBody>
      </p:sp>
      <p:cxnSp>
        <p:nvCxnSpPr>
          <p:cNvPr id="46" name="直接连接符 45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90A0D4E-1C64-4FB1-BA3F-EB48C3C14C9E}"/>
              </a:ext>
            </a:extLst>
          </p:cNvPr>
          <p:cNvSpPr/>
          <p:nvPr/>
        </p:nvSpPr>
        <p:spPr>
          <a:xfrm>
            <a:off x="1043608" y="1757981"/>
            <a:ext cx="3641267" cy="560424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能够看懂异常信息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5348232B-59E1-4BBB-9ED0-8158807F6900}"/>
              </a:ext>
            </a:extLst>
          </p:cNvPr>
          <p:cNvSpPr/>
          <p:nvPr/>
        </p:nvSpPr>
        <p:spPr>
          <a:xfrm>
            <a:off x="1043608" y="3371827"/>
            <a:ext cx="3664400" cy="560424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掌握异常的两种处理方式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3E965EE9-1F1C-48F7-820F-74785BF349C1}"/>
              </a:ext>
            </a:extLst>
          </p:cNvPr>
          <p:cNvSpPr/>
          <p:nvPr/>
        </p:nvSpPr>
        <p:spPr>
          <a:xfrm>
            <a:off x="1043608" y="4178749"/>
            <a:ext cx="3664400" cy="560424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自定义异常</a:t>
            </a:r>
            <a:endParaRPr lang="en-US" altLang="zh-CN" sz="12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D8085C9-CD8D-4A0D-B9F4-32920916F21C}"/>
              </a:ext>
            </a:extLst>
          </p:cNvPr>
          <p:cNvSpPr/>
          <p:nvPr/>
        </p:nvSpPr>
        <p:spPr>
          <a:xfrm>
            <a:off x="1043608" y="2564904"/>
            <a:ext cx="3641267" cy="560424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了解异常体系结构和分类</a:t>
            </a:r>
          </a:p>
        </p:txBody>
      </p:sp>
    </p:spTree>
    <p:extLst>
      <p:ext uri="{BB962C8B-B14F-4D97-AF65-F5344CB8AC3E}">
        <p14:creationId xmlns:p14="http://schemas.microsoft.com/office/powerpoint/2010/main" val="15605350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标题 1"/>
          <p:cNvSpPr>
            <a:spLocks noGrp="1"/>
          </p:cNvSpPr>
          <p:nvPr>
            <p:ph type="title" idx="4294967295"/>
          </p:nvPr>
        </p:nvSpPr>
        <p:spPr>
          <a:xfrm>
            <a:off x="468313" y="116632"/>
            <a:ext cx="7543800" cy="719137"/>
          </a:xfrm>
        </p:spPr>
        <p:txBody>
          <a:bodyPr/>
          <a:lstStyle/>
          <a:p>
            <a:r>
              <a:rPr lang="en-US" altLang="zh-CN" sz="3200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5.2 Java</a:t>
            </a:r>
            <a:r>
              <a:rPr lang="zh-CN" altLang="en-US" sz="3200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的异常处理机制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  <p:sp>
        <p:nvSpPr>
          <p:cNvPr id="47107" name="内容占位符 2"/>
          <p:cNvSpPr>
            <a:spLocks noGrp="1"/>
          </p:cNvSpPr>
          <p:nvPr>
            <p:ph idx="4294967295"/>
          </p:nvPr>
        </p:nvSpPr>
        <p:spPr>
          <a:xfrm>
            <a:off x="468313" y="981075"/>
            <a:ext cx="8064127" cy="3168005"/>
          </a:xfrm>
        </p:spPr>
        <p:txBody>
          <a:bodyPr/>
          <a:lstStyle/>
          <a:p>
            <a:r>
              <a:rPr lang="zh-CN" altLang="en-US" b="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免检异常</a:t>
            </a:r>
            <a:r>
              <a:rPr lang="en-US" altLang="zh-CN" b="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(Unchecked Exception):</a:t>
            </a:r>
          </a:p>
          <a:p>
            <a:pPr lvl="1"/>
            <a:r>
              <a:rPr lang="en-US" altLang="zh-CN" b="0" dirty="0" err="1">
                <a:ea typeface="黑体" panose="02010609060101010101" pitchFamily="49" charset="-122"/>
                <a:cs typeface="Times New Roman" panose="02020603050405020304" pitchFamily="18" charset="0"/>
              </a:rPr>
              <a:t>RuntimeException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Error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以及它们的子类都称为免检异常（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unchecked exception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）。</a:t>
            </a:r>
            <a:endParaRPr lang="en-US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b="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必检异常</a:t>
            </a:r>
            <a:r>
              <a:rPr lang="en-US" altLang="zh-CN" b="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(Checked Exception):</a:t>
            </a:r>
          </a:p>
          <a:p>
            <a:pPr lvl="1"/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所有其他异常都称为必检异常（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checked exception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），意思是指编译器会强制程序员检查并处理它们。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任意多边形 52"/>
          <p:cNvSpPr>
            <a:spLocks noChangeArrowheads="1"/>
          </p:cNvSpPr>
          <p:nvPr/>
        </p:nvSpPr>
        <p:spPr bwMode="auto">
          <a:xfrm>
            <a:off x="2366963" y="1954213"/>
            <a:ext cx="6526212" cy="4759325"/>
          </a:xfrm>
          <a:custGeom>
            <a:avLst/>
            <a:gdLst>
              <a:gd name="T0" fmla="*/ 1565934 w 6526060"/>
              <a:gd name="T1" fmla="*/ 863783 h 4759891"/>
              <a:gd name="T2" fmla="*/ 3670550 w 6526060"/>
              <a:gd name="T3" fmla="*/ 863783 h 4759891"/>
              <a:gd name="T4" fmla="*/ 3670550 w 6526060"/>
              <a:gd name="T5" fmla="*/ 0 h 4759891"/>
              <a:gd name="T6" fmla="*/ 6526820 w 6526060"/>
              <a:gd name="T7" fmla="*/ 0 h 4759891"/>
              <a:gd name="T8" fmla="*/ 6526820 w 6526060"/>
              <a:gd name="T9" fmla="*/ 3042018 h 4759891"/>
              <a:gd name="T10" fmla="*/ 3983740 w 6526060"/>
              <a:gd name="T11" fmla="*/ 3029499 h 4759891"/>
              <a:gd name="T12" fmla="*/ 3983740 w 6526060"/>
              <a:gd name="T13" fmla="*/ 4757063 h 4759891"/>
              <a:gd name="T14" fmla="*/ 0 w 6526060"/>
              <a:gd name="T15" fmla="*/ 4757063 h 4759891"/>
              <a:gd name="T16" fmla="*/ 0 w 6526060"/>
              <a:gd name="T17" fmla="*/ 2328457 h 4759891"/>
              <a:gd name="T18" fmla="*/ 3683082 w 6526060"/>
              <a:gd name="T19" fmla="*/ 2328457 h 4759891"/>
              <a:gd name="T20" fmla="*/ 3683082 w 6526060"/>
              <a:gd name="T21" fmla="*/ 1402082 h 4759891"/>
              <a:gd name="T22" fmla="*/ 1565934 w 6526060"/>
              <a:gd name="T23" fmla="*/ 1402082 h 4759891"/>
              <a:gd name="T24" fmla="*/ 1565934 w 6526060"/>
              <a:gd name="T25" fmla="*/ 863783 h 4759891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6526060"/>
              <a:gd name="T40" fmla="*/ 0 h 4759891"/>
              <a:gd name="T41" fmla="*/ 6526060 w 6526060"/>
              <a:gd name="T42" fmla="*/ 4759891 h 4759891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6526060" h="4759891">
                <a:moveTo>
                  <a:pt x="1565754" y="864296"/>
                </a:moveTo>
                <a:lnTo>
                  <a:pt x="3670126" y="864296"/>
                </a:lnTo>
                <a:lnTo>
                  <a:pt x="3670126" y="0"/>
                </a:lnTo>
                <a:lnTo>
                  <a:pt x="6526060" y="0"/>
                </a:lnTo>
                <a:lnTo>
                  <a:pt x="6526060" y="3043825"/>
                </a:lnTo>
                <a:lnTo>
                  <a:pt x="3983277" y="3031299"/>
                </a:lnTo>
                <a:lnTo>
                  <a:pt x="3983277" y="4759891"/>
                </a:lnTo>
                <a:lnTo>
                  <a:pt x="0" y="4759891"/>
                </a:lnTo>
                <a:lnTo>
                  <a:pt x="0" y="2329841"/>
                </a:lnTo>
                <a:lnTo>
                  <a:pt x="3682652" y="2329841"/>
                </a:lnTo>
                <a:lnTo>
                  <a:pt x="3682652" y="1402915"/>
                </a:lnTo>
                <a:lnTo>
                  <a:pt x="1565754" y="1402915"/>
                </a:lnTo>
                <a:lnTo>
                  <a:pt x="1565754" y="864296"/>
                </a:lnTo>
                <a:close/>
              </a:path>
            </a:pathLst>
          </a:custGeom>
          <a:solidFill>
            <a:srgbClr val="AD5CFF">
              <a:alpha val="39999"/>
            </a:srgbClr>
          </a:solidFill>
          <a:ln w="25400">
            <a:solidFill>
              <a:srgbClr val="959500"/>
            </a:solidFill>
            <a:miter lim="800000"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48131" name="标题 1"/>
          <p:cNvSpPr>
            <a:spLocks noGrp="1"/>
          </p:cNvSpPr>
          <p:nvPr>
            <p:ph type="title" idx="4294967295"/>
          </p:nvPr>
        </p:nvSpPr>
        <p:spPr>
          <a:xfrm>
            <a:off x="468313" y="116632"/>
            <a:ext cx="7543800" cy="719137"/>
          </a:xfrm>
        </p:spPr>
        <p:txBody>
          <a:bodyPr/>
          <a:lstStyle/>
          <a:p>
            <a:r>
              <a:rPr lang="en-US" altLang="zh-CN" sz="3200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5.2 Java</a:t>
            </a:r>
            <a:r>
              <a:rPr lang="zh-CN" altLang="en-US" sz="3200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的异常处理机制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  <p:sp>
        <p:nvSpPr>
          <p:cNvPr id="48132" name="矩形 3"/>
          <p:cNvSpPr>
            <a:spLocks noChangeArrowheads="1"/>
          </p:cNvSpPr>
          <p:nvPr/>
        </p:nvSpPr>
        <p:spPr bwMode="auto">
          <a:xfrm>
            <a:off x="250825" y="3506788"/>
            <a:ext cx="738188" cy="388937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Object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grpSp>
        <p:nvGrpSpPr>
          <p:cNvPr id="48133" name="Group 5"/>
          <p:cNvGrpSpPr>
            <a:grpSpLocks/>
          </p:cNvGrpSpPr>
          <p:nvPr/>
        </p:nvGrpSpPr>
        <p:grpSpPr bwMode="auto">
          <a:xfrm>
            <a:off x="995363" y="3551238"/>
            <a:ext cx="407987" cy="312737"/>
            <a:chOff x="0" y="0"/>
            <a:chExt cx="407096" cy="313150"/>
          </a:xfrm>
        </p:grpSpPr>
        <p:sp>
          <p:nvSpPr>
            <p:cNvPr id="48174" name="等腰三角形 4"/>
            <p:cNvSpPr>
              <a:spLocks noChangeArrowheads="1"/>
            </p:cNvSpPr>
            <p:nvPr/>
          </p:nvSpPr>
          <p:spPr bwMode="auto">
            <a:xfrm rot="-5400000">
              <a:off x="-94006" y="94006"/>
              <a:ext cx="313150" cy="125138"/>
            </a:xfrm>
            <a:prstGeom prst="triangle">
              <a:avLst>
                <a:gd name="adj" fmla="val 50000"/>
              </a:avLst>
            </a:prstGeom>
            <a:noFill/>
            <a:ln w="63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</a:endParaRPr>
            </a:p>
          </p:txBody>
        </p:sp>
        <p:cxnSp>
          <p:nvCxnSpPr>
            <p:cNvPr id="48175" name="直接连接符 6"/>
            <p:cNvCxnSpPr>
              <a:cxnSpLocks noChangeShapeType="1"/>
              <a:stCxn id="48174" idx="3"/>
            </p:cNvCxnSpPr>
            <p:nvPr/>
          </p:nvCxnSpPr>
          <p:spPr bwMode="auto">
            <a:xfrm>
              <a:off x="125138" y="157370"/>
              <a:ext cx="281958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8134" name="矩形 7"/>
          <p:cNvSpPr>
            <a:spLocks noChangeArrowheads="1"/>
          </p:cNvSpPr>
          <p:nvPr/>
        </p:nvSpPr>
        <p:spPr bwMode="auto">
          <a:xfrm>
            <a:off x="1277938" y="3506788"/>
            <a:ext cx="1014412" cy="388937"/>
          </a:xfrm>
          <a:prstGeom prst="rect">
            <a:avLst/>
          </a:prstGeom>
          <a:gradFill rotWithShape="1">
            <a:gsLst>
              <a:gs pos="0">
                <a:srgbClr val="447676"/>
              </a:gs>
              <a:gs pos="80000">
                <a:srgbClr val="5B9B9B"/>
              </a:gs>
              <a:gs pos="100000">
                <a:srgbClr val="5A9D9D"/>
              </a:gs>
            </a:gsLst>
            <a:lin ang="5400000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3000" dir="5400000" algn="ctr" rotWithShape="0">
              <a:srgbClr val="000000">
                <a:alpha val="34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solidFill>
                  <a:srgbClr val="FFFFFF"/>
                </a:solidFill>
                <a:cs typeface="Courier New" panose="02070309020205020404" pitchFamily="49" charset="0"/>
              </a:rPr>
              <a:t>Throwable</a:t>
            </a:r>
            <a:endParaRPr lang="zh-CN" altLang="en-US" sz="1200" b="1">
              <a:solidFill>
                <a:srgbClr val="FFFFFF"/>
              </a:solidFill>
              <a:cs typeface="Courier New" panose="02070309020205020404" pitchFamily="49" charset="0"/>
            </a:endParaRPr>
          </a:p>
        </p:txBody>
      </p:sp>
      <p:sp>
        <p:nvSpPr>
          <p:cNvPr id="48135" name="矩形 8"/>
          <p:cNvSpPr>
            <a:spLocks noChangeArrowheads="1"/>
          </p:cNvSpPr>
          <p:nvPr/>
        </p:nvSpPr>
        <p:spPr bwMode="auto">
          <a:xfrm>
            <a:off x="2717800" y="2016125"/>
            <a:ext cx="1014413" cy="388938"/>
          </a:xfrm>
          <a:prstGeom prst="rect">
            <a:avLst/>
          </a:prstGeom>
          <a:gradFill rotWithShape="1">
            <a:gsLst>
              <a:gs pos="0">
                <a:srgbClr val="FFFF90"/>
              </a:gs>
              <a:gs pos="35001">
                <a:srgbClr val="FFFFB2"/>
              </a:gs>
              <a:gs pos="100000">
                <a:srgbClr val="FFFFE0"/>
              </a:gs>
            </a:gsLst>
            <a:lin ang="5400000" scaled="1"/>
          </a:gradFill>
          <a:ln w="9525">
            <a:solidFill>
              <a:srgbClr val="CCCC00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Exception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8136" name="矩形 9"/>
          <p:cNvSpPr>
            <a:spLocks noChangeArrowheads="1"/>
          </p:cNvSpPr>
          <p:nvPr/>
        </p:nvSpPr>
        <p:spPr bwMode="auto">
          <a:xfrm>
            <a:off x="2717800" y="5010150"/>
            <a:ext cx="1014413" cy="388938"/>
          </a:xfrm>
          <a:prstGeom prst="rect">
            <a:avLst/>
          </a:prstGeom>
          <a:gradFill rotWithShape="1">
            <a:gsLst>
              <a:gs pos="0">
                <a:srgbClr val="FFFF90"/>
              </a:gs>
              <a:gs pos="35001">
                <a:srgbClr val="FFFFB2"/>
              </a:gs>
              <a:gs pos="100000">
                <a:srgbClr val="FFFFE0"/>
              </a:gs>
            </a:gsLst>
            <a:lin ang="5400000" scaled="1"/>
          </a:gradFill>
          <a:ln w="9525">
            <a:solidFill>
              <a:srgbClr val="CCCC00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Error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8137" name="矩形 10"/>
          <p:cNvSpPr>
            <a:spLocks noChangeArrowheads="1"/>
          </p:cNvSpPr>
          <p:nvPr/>
        </p:nvSpPr>
        <p:spPr bwMode="auto">
          <a:xfrm>
            <a:off x="4159250" y="2881313"/>
            <a:ext cx="1690688" cy="387350"/>
          </a:xfrm>
          <a:prstGeom prst="rect">
            <a:avLst/>
          </a:prstGeom>
          <a:gradFill rotWithShape="1">
            <a:gsLst>
              <a:gs pos="0">
                <a:srgbClr val="FFFF90"/>
              </a:gs>
              <a:gs pos="35001">
                <a:srgbClr val="FFFFB2"/>
              </a:gs>
              <a:gs pos="100000">
                <a:srgbClr val="FFFFE0"/>
              </a:gs>
            </a:gsLst>
            <a:lin ang="5400000" scaled="1"/>
          </a:gradFill>
          <a:ln w="9525">
            <a:solidFill>
              <a:srgbClr val="CCCC00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RuntimeException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8138" name="矩形 11"/>
          <p:cNvSpPr>
            <a:spLocks noChangeArrowheads="1"/>
          </p:cNvSpPr>
          <p:nvPr/>
        </p:nvSpPr>
        <p:spPr bwMode="auto">
          <a:xfrm>
            <a:off x="6350000" y="2968625"/>
            <a:ext cx="2455863" cy="388938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IndexOutOfBoundException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8139" name="矩形 12"/>
          <p:cNvSpPr>
            <a:spLocks noChangeArrowheads="1"/>
          </p:cNvSpPr>
          <p:nvPr/>
        </p:nvSpPr>
        <p:spPr bwMode="auto">
          <a:xfrm>
            <a:off x="4159250" y="2317750"/>
            <a:ext cx="1690688" cy="387350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AWTException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8140" name="矩形 13"/>
          <p:cNvSpPr>
            <a:spLocks noChangeArrowheads="1"/>
          </p:cNvSpPr>
          <p:nvPr/>
        </p:nvSpPr>
        <p:spPr bwMode="auto">
          <a:xfrm>
            <a:off x="4159250" y="1754188"/>
            <a:ext cx="1690688" cy="387350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IOException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8141" name="矩形 14"/>
          <p:cNvSpPr>
            <a:spLocks noChangeArrowheads="1"/>
          </p:cNvSpPr>
          <p:nvPr/>
        </p:nvSpPr>
        <p:spPr bwMode="auto">
          <a:xfrm>
            <a:off x="4159250" y="1177925"/>
            <a:ext cx="2266950" cy="387350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ClassNotFoundException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8142" name="矩形 15"/>
          <p:cNvSpPr>
            <a:spLocks noChangeArrowheads="1"/>
          </p:cNvSpPr>
          <p:nvPr/>
        </p:nvSpPr>
        <p:spPr bwMode="auto">
          <a:xfrm>
            <a:off x="4233863" y="4446588"/>
            <a:ext cx="1690687" cy="388937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LinkageError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8143" name="矩形 16"/>
          <p:cNvSpPr>
            <a:spLocks noChangeArrowheads="1"/>
          </p:cNvSpPr>
          <p:nvPr/>
        </p:nvSpPr>
        <p:spPr bwMode="auto">
          <a:xfrm>
            <a:off x="4233863" y="4972050"/>
            <a:ext cx="1941512" cy="388938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VirtualMachineError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8144" name="矩形 17"/>
          <p:cNvSpPr>
            <a:spLocks noChangeArrowheads="1"/>
          </p:cNvSpPr>
          <p:nvPr/>
        </p:nvSpPr>
        <p:spPr bwMode="auto">
          <a:xfrm>
            <a:off x="4233863" y="5524500"/>
            <a:ext cx="1690687" cy="387350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AWTError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8145" name="矩形 18"/>
          <p:cNvSpPr>
            <a:spLocks noChangeArrowheads="1"/>
          </p:cNvSpPr>
          <p:nvPr/>
        </p:nvSpPr>
        <p:spPr bwMode="auto">
          <a:xfrm>
            <a:off x="6350000" y="3419475"/>
            <a:ext cx="2455863" cy="388938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IllegalArgumentException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8146" name="矩形 19"/>
          <p:cNvSpPr>
            <a:spLocks noChangeArrowheads="1"/>
          </p:cNvSpPr>
          <p:nvPr/>
        </p:nvSpPr>
        <p:spPr bwMode="auto">
          <a:xfrm>
            <a:off x="6350000" y="2505075"/>
            <a:ext cx="2455863" cy="388938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NullPointerException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8147" name="矩形 20"/>
          <p:cNvSpPr>
            <a:spLocks noChangeArrowheads="1"/>
          </p:cNvSpPr>
          <p:nvPr/>
        </p:nvSpPr>
        <p:spPr bwMode="auto">
          <a:xfrm>
            <a:off x="6350000" y="2041525"/>
            <a:ext cx="2455863" cy="388938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ArithmeticException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grpSp>
        <p:nvGrpSpPr>
          <p:cNvPr id="48148" name="Group 22"/>
          <p:cNvGrpSpPr>
            <a:grpSpLocks/>
          </p:cNvGrpSpPr>
          <p:nvPr/>
        </p:nvGrpSpPr>
        <p:grpSpPr bwMode="auto">
          <a:xfrm>
            <a:off x="2286000" y="3551238"/>
            <a:ext cx="269875" cy="312737"/>
            <a:chOff x="0" y="0"/>
            <a:chExt cx="269310" cy="313150"/>
          </a:xfrm>
        </p:grpSpPr>
        <p:sp>
          <p:nvSpPr>
            <p:cNvPr id="48172" name="等腰三角形 23"/>
            <p:cNvSpPr>
              <a:spLocks noChangeArrowheads="1"/>
            </p:cNvSpPr>
            <p:nvPr/>
          </p:nvSpPr>
          <p:spPr bwMode="auto">
            <a:xfrm rot="-5400000">
              <a:off x="-94000" y="94000"/>
              <a:ext cx="313150" cy="125150"/>
            </a:xfrm>
            <a:prstGeom prst="triangle">
              <a:avLst>
                <a:gd name="adj" fmla="val 50000"/>
              </a:avLst>
            </a:prstGeom>
            <a:noFill/>
            <a:ln w="63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</a:endParaRPr>
            </a:p>
          </p:txBody>
        </p:sp>
        <p:cxnSp>
          <p:nvCxnSpPr>
            <p:cNvPr id="48173" name="直接连接符 24"/>
            <p:cNvCxnSpPr>
              <a:cxnSpLocks noChangeShapeType="1"/>
              <a:stCxn id="48172" idx="3"/>
            </p:cNvCxnSpPr>
            <p:nvPr/>
          </p:nvCxnSpPr>
          <p:spPr bwMode="auto">
            <a:xfrm>
              <a:off x="125150" y="157370"/>
              <a:ext cx="14416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48149" name="肘形连接符 29"/>
          <p:cNvCxnSpPr>
            <a:cxnSpLocks noChangeShapeType="1"/>
            <a:stCxn id="48135" idx="1"/>
            <a:endCxn id="48136" idx="1"/>
          </p:cNvCxnSpPr>
          <p:nvPr/>
        </p:nvCxnSpPr>
        <p:spPr bwMode="auto">
          <a:xfrm rot="10800000" flipV="1">
            <a:off x="2717800" y="2211388"/>
            <a:ext cx="1588" cy="2992437"/>
          </a:xfrm>
          <a:prstGeom prst="bentConnector3">
            <a:avLst>
              <a:gd name="adj1" fmla="val 10451454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8150" name="Group 26"/>
          <p:cNvGrpSpPr>
            <a:grpSpLocks/>
          </p:cNvGrpSpPr>
          <p:nvPr/>
        </p:nvGrpSpPr>
        <p:grpSpPr bwMode="auto">
          <a:xfrm>
            <a:off x="3751263" y="2060575"/>
            <a:ext cx="269875" cy="312738"/>
            <a:chOff x="0" y="0"/>
            <a:chExt cx="269310" cy="313150"/>
          </a:xfrm>
        </p:grpSpPr>
        <p:sp>
          <p:nvSpPr>
            <p:cNvPr id="48170" name="等腰三角形 34"/>
            <p:cNvSpPr>
              <a:spLocks noChangeArrowheads="1"/>
            </p:cNvSpPr>
            <p:nvPr/>
          </p:nvSpPr>
          <p:spPr bwMode="auto">
            <a:xfrm rot="-5400000">
              <a:off x="-94000" y="93999"/>
              <a:ext cx="313150" cy="125149"/>
            </a:xfrm>
            <a:prstGeom prst="triangle">
              <a:avLst>
                <a:gd name="adj" fmla="val 50000"/>
              </a:avLst>
            </a:prstGeom>
            <a:noFill/>
            <a:ln w="63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</a:endParaRPr>
            </a:p>
          </p:txBody>
        </p:sp>
        <p:cxnSp>
          <p:nvCxnSpPr>
            <p:cNvPr id="48171" name="直接连接符 35"/>
            <p:cNvCxnSpPr>
              <a:cxnSpLocks noChangeShapeType="1"/>
              <a:stCxn id="48170" idx="3"/>
            </p:cNvCxnSpPr>
            <p:nvPr/>
          </p:nvCxnSpPr>
          <p:spPr bwMode="auto">
            <a:xfrm>
              <a:off x="125149" y="157370"/>
              <a:ext cx="144161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48151" name="肘形连接符 37"/>
          <p:cNvCxnSpPr>
            <a:cxnSpLocks noChangeShapeType="1"/>
            <a:stCxn id="48141" idx="1"/>
            <a:endCxn id="48154" idx="1"/>
          </p:cNvCxnSpPr>
          <p:nvPr/>
        </p:nvCxnSpPr>
        <p:spPr bwMode="auto">
          <a:xfrm rot="10800000" flipH="1" flipV="1">
            <a:off x="4159250" y="1371600"/>
            <a:ext cx="23813" cy="2330450"/>
          </a:xfrm>
          <a:prstGeom prst="bentConnector3">
            <a:avLst>
              <a:gd name="adj1" fmla="val -562500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52" name="肘形连接符 42"/>
          <p:cNvCxnSpPr>
            <a:cxnSpLocks noChangeShapeType="1"/>
            <a:stCxn id="48140" idx="1"/>
            <a:endCxn id="48139" idx="1"/>
          </p:cNvCxnSpPr>
          <p:nvPr/>
        </p:nvCxnSpPr>
        <p:spPr bwMode="auto">
          <a:xfrm rot="10800000" flipV="1">
            <a:off x="4159250" y="1947863"/>
            <a:ext cx="1588" cy="563562"/>
          </a:xfrm>
          <a:prstGeom prst="bentConnector3">
            <a:avLst>
              <a:gd name="adj1" fmla="val 8873931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8153" name="Group 31"/>
          <p:cNvGrpSpPr>
            <a:grpSpLocks/>
          </p:cNvGrpSpPr>
          <p:nvPr/>
        </p:nvGrpSpPr>
        <p:grpSpPr bwMode="auto">
          <a:xfrm>
            <a:off x="3729038" y="5043488"/>
            <a:ext cx="268287" cy="312737"/>
            <a:chOff x="0" y="0"/>
            <a:chExt cx="269310" cy="313150"/>
          </a:xfrm>
        </p:grpSpPr>
        <p:sp>
          <p:nvSpPr>
            <p:cNvPr id="48168" name="等腰三角形 46"/>
            <p:cNvSpPr>
              <a:spLocks noChangeArrowheads="1"/>
            </p:cNvSpPr>
            <p:nvPr/>
          </p:nvSpPr>
          <p:spPr bwMode="auto">
            <a:xfrm rot="-5400000">
              <a:off x="-93630" y="93630"/>
              <a:ext cx="313150" cy="125890"/>
            </a:xfrm>
            <a:prstGeom prst="triangle">
              <a:avLst>
                <a:gd name="adj" fmla="val 50000"/>
              </a:avLst>
            </a:prstGeom>
            <a:noFill/>
            <a:ln w="63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</a:endParaRPr>
            </a:p>
          </p:txBody>
        </p:sp>
        <p:cxnSp>
          <p:nvCxnSpPr>
            <p:cNvPr id="48169" name="直接连接符 47"/>
            <p:cNvCxnSpPr>
              <a:cxnSpLocks noChangeShapeType="1"/>
              <a:stCxn id="48168" idx="3"/>
            </p:cNvCxnSpPr>
            <p:nvPr/>
          </p:nvCxnSpPr>
          <p:spPr bwMode="auto">
            <a:xfrm>
              <a:off x="125890" y="157370"/>
              <a:ext cx="14342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8154" name="矩形 49"/>
          <p:cNvSpPr>
            <a:spLocks noChangeArrowheads="1"/>
          </p:cNvSpPr>
          <p:nvPr/>
        </p:nvSpPr>
        <p:spPr bwMode="auto">
          <a:xfrm>
            <a:off x="4183063" y="3444875"/>
            <a:ext cx="1692275" cy="512763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Other Exception classes...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8155" name="矩形 50"/>
          <p:cNvSpPr>
            <a:spLocks noChangeArrowheads="1"/>
          </p:cNvSpPr>
          <p:nvPr/>
        </p:nvSpPr>
        <p:spPr bwMode="auto">
          <a:xfrm>
            <a:off x="4233863" y="6075363"/>
            <a:ext cx="1690687" cy="525462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Other Error classes...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cxnSp>
        <p:nvCxnSpPr>
          <p:cNvPr id="48156" name="肘形连接符 54"/>
          <p:cNvCxnSpPr>
            <a:cxnSpLocks noChangeShapeType="1"/>
            <a:stCxn id="48137" idx="1"/>
            <a:endCxn id="48139" idx="1"/>
          </p:cNvCxnSpPr>
          <p:nvPr/>
        </p:nvCxnSpPr>
        <p:spPr bwMode="auto">
          <a:xfrm rot="10800000">
            <a:off x="4159250" y="2511425"/>
            <a:ext cx="1588" cy="563563"/>
          </a:xfrm>
          <a:prstGeom prst="bentConnector3">
            <a:avLst>
              <a:gd name="adj1" fmla="val 8873866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57" name="肘形连接符 57"/>
          <p:cNvCxnSpPr>
            <a:cxnSpLocks noChangeShapeType="1"/>
            <a:stCxn id="48142" idx="1"/>
            <a:endCxn id="48155" idx="1"/>
          </p:cNvCxnSpPr>
          <p:nvPr/>
        </p:nvCxnSpPr>
        <p:spPr bwMode="auto">
          <a:xfrm rot="10800000" flipV="1">
            <a:off x="4233863" y="4640263"/>
            <a:ext cx="1587" cy="1698625"/>
          </a:xfrm>
          <a:prstGeom prst="bentConnector3">
            <a:avLst>
              <a:gd name="adj1" fmla="val 14395468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58" name="肘形连接符 59"/>
          <p:cNvCxnSpPr>
            <a:cxnSpLocks noChangeShapeType="1"/>
            <a:stCxn id="48143" idx="1"/>
            <a:endCxn id="48144" idx="1"/>
          </p:cNvCxnSpPr>
          <p:nvPr/>
        </p:nvCxnSpPr>
        <p:spPr bwMode="auto">
          <a:xfrm rot="10800000" flipV="1">
            <a:off x="4233863" y="5167313"/>
            <a:ext cx="1587" cy="550862"/>
          </a:xfrm>
          <a:prstGeom prst="bentConnector3">
            <a:avLst>
              <a:gd name="adj1" fmla="val 14395468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8159" name="Group 39"/>
          <p:cNvGrpSpPr>
            <a:grpSpLocks/>
          </p:cNvGrpSpPr>
          <p:nvPr/>
        </p:nvGrpSpPr>
        <p:grpSpPr bwMode="auto">
          <a:xfrm>
            <a:off x="5856288" y="2913063"/>
            <a:ext cx="268287" cy="312737"/>
            <a:chOff x="0" y="0"/>
            <a:chExt cx="269310" cy="313150"/>
          </a:xfrm>
        </p:grpSpPr>
        <p:sp>
          <p:nvSpPr>
            <p:cNvPr id="48166" name="等腰三角形 61"/>
            <p:cNvSpPr>
              <a:spLocks noChangeArrowheads="1"/>
            </p:cNvSpPr>
            <p:nvPr/>
          </p:nvSpPr>
          <p:spPr bwMode="auto">
            <a:xfrm rot="-5400000">
              <a:off x="-93630" y="93630"/>
              <a:ext cx="313150" cy="125890"/>
            </a:xfrm>
            <a:prstGeom prst="triangle">
              <a:avLst>
                <a:gd name="adj" fmla="val 50000"/>
              </a:avLst>
            </a:prstGeom>
            <a:noFill/>
            <a:ln w="63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</a:endParaRPr>
            </a:p>
          </p:txBody>
        </p:sp>
        <p:cxnSp>
          <p:nvCxnSpPr>
            <p:cNvPr id="48167" name="直接连接符 62"/>
            <p:cNvCxnSpPr>
              <a:cxnSpLocks noChangeShapeType="1"/>
              <a:stCxn id="48166" idx="3"/>
            </p:cNvCxnSpPr>
            <p:nvPr/>
          </p:nvCxnSpPr>
          <p:spPr bwMode="auto">
            <a:xfrm>
              <a:off x="125890" y="157370"/>
              <a:ext cx="14342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8160" name="矩形 63"/>
          <p:cNvSpPr>
            <a:spLocks noChangeArrowheads="1"/>
          </p:cNvSpPr>
          <p:nvPr/>
        </p:nvSpPr>
        <p:spPr bwMode="auto">
          <a:xfrm>
            <a:off x="6350000" y="4359275"/>
            <a:ext cx="2455863" cy="525463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cs typeface="Courier New" panose="02070309020205020404" pitchFamily="49" charset="0"/>
              </a:rPr>
              <a:t>Other Runtime Exception classes ...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cxnSp>
        <p:nvCxnSpPr>
          <p:cNvPr id="48161" name="肘形连接符 70"/>
          <p:cNvCxnSpPr>
            <a:cxnSpLocks noChangeShapeType="1"/>
            <a:stCxn id="48147" idx="1"/>
            <a:endCxn id="48160" idx="1"/>
          </p:cNvCxnSpPr>
          <p:nvPr/>
        </p:nvCxnSpPr>
        <p:spPr bwMode="auto">
          <a:xfrm rot="10800000" flipV="1">
            <a:off x="6350000" y="2235200"/>
            <a:ext cx="1588" cy="2387600"/>
          </a:xfrm>
          <a:prstGeom prst="bentConnector3">
            <a:avLst>
              <a:gd name="adj1" fmla="val 14395468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62" name="肘形连接符 72"/>
          <p:cNvCxnSpPr>
            <a:cxnSpLocks noChangeShapeType="1"/>
            <a:stCxn id="48146" idx="1"/>
            <a:endCxn id="48145" idx="1"/>
          </p:cNvCxnSpPr>
          <p:nvPr/>
        </p:nvCxnSpPr>
        <p:spPr bwMode="auto">
          <a:xfrm rot="10800000" flipV="1">
            <a:off x="6350000" y="2698750"/>
            <a:ext cx="1588" cy="914400"/>
          </a:xfrm>
          <a:prstGeom prst="bentConnector3">
            <a:avLst>
              <a:gd name="adj1" fmla="val 14395468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63" name="肘形连接符 74"/>
          <p:cNvCxnSpPr>
            <a:cxnSpLocks noChangeShapeType="1"/>
            <a:stCxn id="48164" idx="1"/>
            <a:endCxn id="48138" idx="1"/>
          </p:cNvCxnSpPr>
          <p:nvPr/>
        </p:nvCxnSpPr>
        <p:spPr bwMode="auto">
          <a:xfrm rot="10800000">
            <a:off x="6350000" y="3162300"/>
            <a:ext cx="1588" cy="914400"/>
          </a:xfrm>
          <a:prstGeom prst="bentConnector3">
            <a:avLst>
              <a:gd name="adj1" fmla="val 14395468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8164" name="矩形 76"/>
          <p:cNvSpPr>
            <a:spLocks noChangeArrowheads="1"/>
          </p:cNvSpPr>
          <p:nvPr/>
        </p:nvSpPr>
        <p:spPr bwMode="auto">
          <a:xfrm>
            <a:off x="6350000" y="3883025"/>
            <a:ext cx="2455863" cy="388938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/>
              <a:t>InputMismatchException</a:t>
            </a:r>
            <a:endParaRPr lang="zh-CN" altLang="en-US" sz="1200" b="1">
              <a:cs typeface="Courier New" panose="02070309020205020404" pitchFamily="49" charset="0"/>
            </a:endParaRPr>
          </a:p>
        </p:txBody>
      </p:sp>
      <p:sp>
        <p:nvSpPr>
          <p:cNvPr id="48165" name="TextBox 48"/>
          <p:cNvSpPr txBox="1">
            <a:spLocks noChangeArrowheads="1"/>
          </p:cNvSpPr>
          <p:nvPr/>
        </p:nvSpPr>
        <p:spPr bwMode="auto">
          <a:xfrm>
            <a:off x="69850" y="4572000"/>
            <a:ext cx="2630488" cy="1015663"/>
          </a:xfrm>
          <a:prstGeom prst="rect">
            <a:avLst/>
          </a:prstGeom>
          <a:noFill/>
          <a:ln>
            <a:noFill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免检异常：</a:t>
            </a:r>
            <a:endParaRPr lang="en-US" sz="200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 sz="200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RuntimeException</a:t>
            </a:r>
            <a:r>
              <a:rPr lang="zh-CN" altLang="en-US" sz="2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Error</a:t>
            </a:r>
            <a:r>
              <a:rPr lang="zh-CN" altLang="en-US" sz="2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及其子类</a:t>
            </a:r>
          </a:p>
        </p:txBody>
      </p:sp>
      <p:cxnSp>
        <p:nvCxnSpPr>
          <p:cNvPr id="48" name="直接连接符 47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内容占位符 2"/>
          <p:cNvSpPr>
            <a:spLocks noGrp="1"/>
          </p:cNvSpPr>
          <p:nvPr>
            <p:ph idx="4294967295"/>
          </p:nvPr>
        </p:nvSpPr>
        <p:spPr>
          <a:xfrm>
            <a:off x="468313" y="981075"/>
            <a:ext cx="8208144" cy="5112221"/>
          </a:xfrm>
        </p:spPr>
        <p:txBody>
          <a:bodyPr/>
          <a:lstStyle/>
          <a:p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免检异常</a:t>
            </a:r>
            <a:endParaRPr lang="en-US" altLang="zh-CN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大多数情况下，免检异常反映程序设计中不可捕获的</a:t>
            </a:r>
            <a:r>
              <a:rPr lang="zh-CN" altLang="en-US" sz="2400" b="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逻辑错误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sz="24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例如，通过一个未赋值的引用变量访问一个对象，会抛出</a:t>
            </a:r>
            <a:r>
              <a:rPr lang="en-US" altLang="zh-CN" b="0" dirty="0" err="1">
                <a:ea typeface="黑体" panose="02010609060101010101" pitchFamily="49" charset="-122"/>
                <a:cs typeface="Times New Roman" panose="02020603050405020304" pitchFamily="18" charset="0"/>
              </a:rPr>
              <a:t>NullPointerException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异常，</a:t>
            </a:r>
            <a:endParaRPr lang="en-US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越界访问一个数组的元素就会抛出</a:t>
            </a:r>
            <a:r>
              <a:rPr lang="en-US" altLang="zh-CN" b="0" dirty="0" err="1">
                <a:ea typeface="黑体" panose="02010609060101010101" pitchFamily="49" charset="-122"/>
                <a:cs typeface="Times New Roman" panose="02020603050405020304" pitchFamily="18" charset="0"/>
              </a:rPr>
              <a:t>IndexOutOfBoundsException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异常，这些都是程序中必须纠正的逻辑错误。</a:t>
            </a:r>
            <a:endParaRPr lang="en-US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免检异常可能在程序任何地方出现。</a:t>
            </a:r>
            <a:endParaRPr lang="en-US" altLang="zh-CN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zh-CN" altLang="en-US" b="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为避免过多地使用</a:t>
            </a:r>
            <a:r>
              <a:rPr lang="en-US" altLang="zh-CN" b="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try-catch</a:t>
            </a:r>
            <a:r>
              <a:rPr lang="zh-CN" altLang="en-US" b="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块，</a:t>
            </a:r>
            <a:r>
              <a:rPr lang="en-US" altLang="zh-CN" b="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Java</a:t>
            </a:r>
            <a:r>
              <a:rPr lang="zh-CN" altLang="en-US" b="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语言不建议编写捕获或声明免检异常的代码。</a:t>
            </a:r>
            <a:endParaRPr lang="zh-CN" altLang="en-US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"/>
          <p:cNvSpPr txBox="1">
            <a:spLocks/>
          </p:cNvSpPr>
          <p:nvPr/>
        </p:nvSpPr>
        <p:spPr bwMode="auto">
          <a:xfrm>
            <a:off x="468313" y="116632"/>
            <a:ext cx="75438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5.2 Java</a:t>
            </a:r>
            <a:r>
              <a:rPr lang="zh-CN" altLang="en-US" sz="3200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的异常处理机制</a:t>
            </a:r>
            <a:endParaRPr lang="zh-CN" altLang="en-US" sz="3200" kern="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标题 1"/>
          <p:cNvSpPr>
            <a:spLocks noGrp="1"/>
          </p:cNvSpPr>
          <p:nvPr>
            <p:ph type="title" idx="4294967295"/>
          </p:nvPr>
        </p:nvSpPr>
        <p:spPr>
          <a:xfrm>
            <a:off x="412576" y="941875"/>
            <a:ext cx="7543800" cy="738663"/>
          </a:xfrm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2800" b="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奇怪的现象</a:t>
            </a:r>
          </a:p>
        </p:txBody>
      </p:sp>
      <p:sp>
        <p:nvSpPr>
          <p:cNvPr id="50179" name="Rectangle 4"/>
          <p:cNvSpPr>
            <a:spLocks noChangeArrowheads="1"/>
          </p:cNvSpPr>
          <p:nvPr/>
        </p:nvSpPr>
        <p:spPr bwMode="auto">
          <a:xfrm>
            <a:off x="829084" y="1916832"/>
            <a:ext cx="6911269" cy="165717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TestThrows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static void main(String[]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FileInputStream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fis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new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FileInputStream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("a.txt");</a:t>
            </a:r>
          </a:p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标题 1"/>
          <p:cNvSpPr txBox="1">
            <a:spLocks/>
          </p:cNvSpPr>
          <p:nvPr/>
        </p:nvSpPr>
        <p:spPr bwMode="auto">
          <a:xfrm>
            <a:off x="468313" y="116632"/>
            <a:ext cx="75438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5.2 Java</a:t>
            </a:r>
            <a:r>
              <a:rPr lang="zh-CN" altLang="en-US" sz="3200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的异常处理机制</a:t>
            </a:r>
            <a:endParaRPr lang="zh-CN" altLang="en-US" sz="3200" kern="0" dirty="0">
              <a:ea typeface="宋体" panose="02010600030101010101" pitchFamily="2" charset="-122"/>
            </a:endParaRPr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829085" y="3845417"/>
            <a:ext cx="6911268" cy="51968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为什么“完全正确”的代码不能编译？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31329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标题 1"/>
          <p:cNvSpPr>
            <a:spLocks noGrp="1"/>
          </p:cNvSpPr>
          <p:nvPr>
            <p:ph type="title" idx="4294967295"/>
          </p:nvPr>
        </p:nvSpPr>
        <p:spPr>
          <a:xfrm>
            <a:off x="412576" y="941875"/>
            <a:ext cx="7543800" cy="738663"/>
          </a:xfrm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2800" b="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修正错误</a:t>
            </a:r>
          </a:p>
        </p:txBody>
      </p:sp>
      <p:sp>
        <p:nvSpPr>
          <p:cNvPr id="50179" name="Rectangle 4"/>
          <p:cNvSpPr>
            <a:spLocks noChangeArrowheads="1"/>
          </p:cNvSpPr>
          <p:nvPr/>
        </p:nvSpPr>
        <p:spPr bwMode="auto">
          <a:xfrm>
            <a:off x="727480" y="1767027"/>
            <a:ext cx="6911269" cy="223224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TestThrows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public static void main(String[]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throws </a:t>
            </a:r>
            <a:r>
              <a:rPr lang="en-US" altLang="zh-CN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FileNotFoundException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{</a:t>
            </a:r>
          </a:p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FileInputStream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fis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new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FileInputStream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(“a.txt”);</a:t>
            </a:r>
          </a:p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}</a:t>
            </a:r>
          </a:p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标题 1"/>
          <p:cNvSpPr txBox="1">
            <a:spLocks/>
          </p:cNvSpPr>
          <p:nvPr/>
        </p:nvSpPr>
        <p:spPr bwMode="auto">
          <a:xfrm>
            <a:off x="468313" y="116632"/>
            <a:ext cx="75438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5.2 Java</a:t>
            </a:r>
            <a:r>
              <a:rPr lang="zh-CN" altLang="en-US" sz="3200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的异常处理机制</a:t>
            </a:r>
            <a:endParaRPr lang="zh-CN" altLang="en-US" sz="3200" kern="0" dirty="0">
              <a:ea typeface="宋体" panose="02010600030101010101" pitchFamily="2" charset="-122"/>
            </a:endParaRPr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2411760" y="4365104"/>
            <a:ext cx="3312368" cy="51968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000" b="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必检异常</a:t>
            </a:r>
            <a:endParaRPr lang="en-US" altLang="zh-CN" sz="20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3" name="直接箭头连接符 2"/>
          <p:cNvCxnSpPr/>
          <p:nvPr/>
        </p:nvCxnSpPr>
        <p:spPr>
          <a:xfrm>
            <a:off x="3851920" y="2780928"/>
            <a:ext cx="0" cy="151216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66952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标题 1"/>
          <p:cNvSpPr>
            <a:spLocks noGrp="1"/>
          </p:cNvSpPr>
          <p:nvPr>
            <p:ph type="title" idx="4294967295"/>
          </p:nvPr>
        </p:nvSpPr>
        <p:spPr>
          <a:xfrm>
            <a:off x="412576" y="908720"/>
            <a:ext cx="7543800" cy="663626"/>
          </a:xfrm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2800" b="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声明、抛出和捕获异常</a:t>
            </a:r>
          </a:p>
        </p:txBody>
      </p:sp>
      <p:sp>
        <p:nvSpPr>
          <p:cNvPr id="50179" name="Rectangle 4"/>
          <p:cNvSpPr>
            <a:spLocks noChangeArrowheads="1"/>
          </p:cNvSpPr>
          <p:nvPr/>
        </p:nvSpPr>
        <p:spPr bwMode="auto">
          <a:xfrm>
            <a:off x="1190625" y="2347888"/>
            <a:ext cx="3017838" cy="2881312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400" b="1" dirty="0"/>
              <a:t>method1()</a:t>
            </a:r>
          </a:p>
          <a:p>
            <a:pPr eaLnBrk="1" hangingPunct="1"/>
            <a:r>
              <a:rPr lang="en-US" altLang="zh-CN" sz="1400" b="1" dirty="0"/>
              <a:t>{</a:t>
            </a:r>
          </a:p>
          <a:p>
            <a:pPr eaLnBrk="1" hangingPunct="1"/>
            <a:r>
              <a:rPr lang="en-US" altLang="zh-CN" sz="1400" b="1" dirty="0"/>
              <a:t>    </a:t>
            </a:r>
            <a:r>
              <a:rPr lang="en-US" altLang="zh-CN" sz="1400" b="1" dirty="0">
                <a:solidFill>
                  <a:srgbClr val="0000FF"/>
                </a:solidFill>
              </a:rPr>
              <a:t>try</a:t>
            </a:r>
          </a:p>
          <a:p>
            <a:pPr eaLnBrk="1" hangingPunct="1"/>
            <a:r>
              <a:rPr lang="en-US" altLang="zh-CN" sz="1400" b="1" dirty="0"/>
              <a:t>    {</a:t>
            </a:r>
          </a:p>
          <a:p>
            <a:pPr eaLnBrk="1" hangingPunct="1"/>
            <a:r>
              <a:rPr lang="en-US" altLang="zh-CN" sz="1400" b="1" dirty="0"/>
              <a:t>        invoke method2();</a:t>
            </a:r>
          </a:p>
          <a:p>
            <a:pPr eaLnBrk="1" hangingPunct="1"/>
            <a:r>
              <a:rPr lang="en-US" altLang="zh-CN" sz="1400" b="1" dirty="0"/>
              <a:t>    }</a:t>
            </a:r>
          </a:p>
          <a:p>
            <a:pPr eaLnBrk="1" hangingPunct="1"/>
            <a:r>
              <a:rPr lang="en-US" altLang="zh-CN" sz="1400" b="1" dirty="0"/>
              <a:t>    </a:t>
            </a:r>
            <a:r>
              <a:rPr lang="en-US" altLang="zh-CN" sz="1400" b="1" dirty="0">
                <a:solidFill>
                  <a:srgbClr val="0000FF"/>
                </a:solidFill>
              </a:rPr>
              <a:t>catch</a:t>
            </a:r>
            <a:r>
              <a:rPr lang="en-US" altLang="zh-CN" sz="1400" b="1" dirty="0"/>
              <a:t> (Exception ex)</a:t>
            </a:r>
          </a:p>
          <a:p>
            <a:pPr eaLnBrk="1" hangingPunct="1"/>
            <a:r>
              <a:rPr lang="en-US" altLang="zh-CN" sz="1400" b="1" dirty="0"/>
              <a:t>    {</a:t>
            </a:r>
          </a:p>
          <a:p>
            <a:pPr eaLnBrk="1" hangingPunct="1"/>
            <a:r>
              <a:rPr lang="en-US" altLang="zh-CN" sz="1400" b="1" dirty="0"/>
              <a:t>        process Exception;</a:t>
            </a:r>
          </a:p>
          <a:p>
            <a:pPr eaLnBrk="1" hangingPunct="1"/>
            <a:r>
              <a:rPr lang="en-US" altLang="zh-CN" sz="1400" b="1" dirty="0"/>
              <a:t>    }</a:t>
            </a:r>
          </a:p>
          <a:p>
            <a:pPr eaLnBrk="1" hangingPunct="1"/>
            <a:r>
              <a:rPr lang="en-US" altLang="zh-CN" sz="1400" b="1" dirty="0"/>
              <a:t>}</a:t>
            </a:r>
          </a:p>
          <a:p>
            <a:pPr eaLnBrk="1" hangingPunct="1"/>
            <a:endParaRPr lang="en-US" altLang="zh-CN" sz="1400" b="1" dirty="0"/>
          </a:p>
        </p:txBody>
      </p:sp>
      <p:sp>
        <p:nvSpPr>
          <p:cNvPr id="50180" name="Rectangle 4"/>
          <p:cNvSpPr>
            <a:spLocks noChangeArrowheads="1"/>
          </p:cNvSpPr>
          <p:nvPr/>
        </p:nvSpPr>
        <p:spPr bwMode="auto">
          <a:xfrm>
            <a:off x="4759325" y="2347888"/>
            <a:ext cx="3444875" cy="2881312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400" b="1" dirty="0"/>
              <a:t>method2() </a:t>
            </a:r>
            <a:r>
              <a:rPr lang="en-US" altLang="zh-CN" sz="1400" b="1" dirty="0">
                <a:solidFill>
                  <a:srgbClr val="0000FF"/>
                </a:solidFill>
              </a:rPr>
              <a:t>throws</a:t>
            </a:r>
            <a:r>
              <a:rPr lang="en-US" altLang="zh-CN" sz="1400" b="1" dirty="0"/>
              <a:t> Exception</a:t>
            </a:r>
          </a:p>
          <a:p>
            <a:pPr eaLnBrk="1" hangingPunct="1"/>
            <a:r>
              <a:rPr lang="en-US" altLang="zh-CN" sz="1400" b="1" dirty="0"/>
              <a:t>{</a:t>
            </a:r>
          </a:p>
          <a:p>
            <a:pPr eaLnBrk="1" hangingPunct="1"/>
            <a:r>
              <a:rPr lang="en-US" altLang="zh-CN" sz="1400" b="1" dirty="0"/>
              <a:t>    do something;</a:t>
            </a:r>
          </a:p>
          <a:p>
            <a:pPr eaLnBrk="1" hangingPunct="1"/>
            <a:endParaRPr lang="en-US" altLang="zh-CN" sz="1400" b="1" dirty="0"/>
          </a:p>
          <a:p>
            <a:pPr eaLnBrk="1" hangingPunct="1"/>
            <a:r>
              <a:rPr lang="en-US" altLang="zh-CN" sz="1400" b="1" dirty="0"/>
              <a:t>    </a:t>
            </a:r>
            <a:r>
              <a:rPr lang="en-US" altLang="zh-CN" sz="1400" b="1" dirty="0">
                <a:solidFill>
                  <a:srgbClr val="0000FF"/>
                </a:solidFill>
              </a:rPr>
              <a:t>if </a:t>
            </a:r>
            <a:r>
              <a:rPr lang="en-US" altLang="zh-CN" sz="1400" b="1" dirty="0"/>
              <a:t>(an error </a:t>
            </a:r>
            <a:r>
              <a:rPr lang="en-US" altLang="zh-CN" sz="1400" b="1" dirty="0" err="1"/>
              <a:t>occours</a:t>
            </a:r>
            <a:r>
              <a:rPr lang="en-US" altLang="zh-CN" sz="1400" b="1" dirty="0"/>
              <a:t>)</a:t>
            </a:r>
          </a:p>
          <a:p>
            <a:pPr eaLnBrk="1" hangingPunct="1"/>
            <a:r>
              <a:rPr lang="en-US" altLang="zh-CN" sz="1400" b="1" dirty="0"/>
              <a:t>    {</a:t>
            </a:r>
          </a:p>
          <a:p>
            <a:pPr eaLnBrk="1" hangingPunct="1"/>
            <a:r>
              <a:rPr lang="en-US" altLang="zh-CN" sz="1400" b="1" dirty="0"/>
              <a:t>        </a:t>
            </a:r>
            <a:r>
              <a:rPr lang="en-US" altLang="zh-CN" sz="1400" b="1" dirty="0">
                <a:solidFill>
                  <a:srgbClr val="0000FF"/>
                </a:solidFill>
              </a:rPr>
              <a:t>throw new </a:t>
            </a:r>
            <a:r>
              <a:rPr lang="en-US" altLang="zh-CN" sz="1400" b="1" dirty="0"/>
              <a:t>Exception();</a:t>
            </a:r>
          </a:p>
          <a:p>
            <a:pPr eaLnBrk="1" hangingPunct="1"/>
            <a:r>
              <a:rPr lang="en-US" altLang="zh-CN" sz="1400" b="1" dirty="0"/>
              <a:t>    }</a:t>
            </a:r>
          </a:p>
          <a:p>
            <a:pPr eaLnBrk="1" hangingPunct="1"/>
            <a:r>
              <a:rPr lang="en-US" altLang="zh-CN" sz="1400" b="1" dirty="0"/>
              <a:t>}</a:t>
            </a:r>
          </a:p>
          <a:p>
            <a:pPr eaLnBrk="1" hangingPunct="1"/>
            <a:endParaRPr lang="en-US" altLang="zh-CN" sz="1400" b="1" dirty="0"/>
          </a:p>
        </p:txBody>
      </p:sp>
      <p:cxnSp>
        <p:nvCxnSpPr>
          <p:cNvPr id="50181" name="直接箭头连接符 6"/>
          <p:cNvCxnSpPr>
            <a:cxnSpLocks noChangeShapeType="1"/>
          </p:cNvCxnSpPr>
          <p:nvPr/>
        </p:nvCxnSpPr>
        <p:spPr bwMode="auto">
          <a:xfrm flipV="1">
            <a:off x="3883025" y="2524100"/>
            <a:ext cx="939800" cy="72707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822" name="矩形 7"/>
          <p:cNvSpPr>
            <a:spLocks noChangeArrowheads="1"/>
          </p:cNvSpPr>
          <p:nvPr/>
        </p:nvSpPr>
        <p:spPr bwMode="auto">
          <a:xfrm>
            <a:off x="1403350" y="2849538"/>
            <a:ext cx="2617788" cy="1703387"/>
          </a:xfrm>
          <a:prstGeom prst="rect">
            <a:avLst/>
          </a:prstGeom>
          <a:solidFill>
            <a:srgbClr val="CD9BFF">
              <a:alpha val="29803"/>
            </a:srgbClr>
          </a:solidFill>
          <a:ln w="3175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cxnSp>
        <p:nvCxnSpPr>
          <p:cNvPr id="34823" name="直接连接符 9"/>
          <p:cNvCxnSpPr>
            <a:cxnSpLocks noChangeShapeType="1"/>
          </p:cNvCxnSpPr>
          <p:nvPr/>
        </p:nvCxnSpPr>
        <p:spPr bwMode="auto">
          <a:xfrm flipV="1">
            <a:off x="1476375" y="3892525"/>
            <a:ext cx="2098675" cy="952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824" name="矩形 15"/>
          <p:cNvSpPr>
            <a:spLocks noChangeArrowheads="1"/>
          </p:cNvSpPr>
          <p:nvPr/>
        </p:nvSpPr>
        <p:spPr bwMode="auto">
          <a:xfrm>
            <a:off x="5724525" y="2385988"/>
            <a:ext cx="1954213" cy="276225"/>
          </a:xfrm>
          <a:prstGeom prst="rect">
            <a:avLst/>
          </a:prstGeom>
          <a:solidFill>
            <a:srgbClr val="CD9BFF">
              <a:alpha val="29803"/>
            </a:srgbClr>
          </a:solidFill>
          <a:ln w="3175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4825" name="TextBox 16"/>
          <p:cNvSpPr txBox="1">
            <a:spLocks noChangeArrowheads="1"/>
          </p:cNvSpPr>
          <p:nvPr/>
        </p:nvSpPr>
        <p:spPr bwMode="auto">
          <a:xfrm>
            <a:off x="6388100" y="1684313"/>
            <a:ext cx="111440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声明异常</a:t>
            </a:r>
          </a:p>
        </p:txBody>
      </p:sp>
      <p:sp>
        <p:nvSpPr>
          <p:cNvPr id="34826" name="矩形 17"/>
          <p:cNvSpPr>
            <a:spLocks noChangeArrowheads="1"/>
          </p:cNvSpPr>
          <p:nvPr/>
        </p:nvSpPr>
        <p:spPr bwMode="auto">
          <a:xfrm>
            <a:off x="5219700" y="3638525"/>
            <a:ext cx="2392363" cy="276225"/>
          </a:xfrm>
          <a:prstGeom prst="rect">
            <a:avLst/>
          </a:prstGeom>
          <a:solidFill>
            <a:srgbClr val="CD9BFF">
              <a:alpha val="29803"/>
            </a:srgbClr>
          </a:solidFill>
          <a:ln w="3175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cxnSp>
        <p:nvCxnSpPr>
          <p:cNvPr id="34827" name="直接箭头连接符 19"/>
          <p:cNvCxnSpPr>
            <a:cxnSpLocks noChangeShapeType="1"/>
            <a:stCxn id="34825" idx="2"/>
            <a:endCxn id="34824" idx="0"/>
          </p:cNvCxnSpPr>
          <p:nvPr/>
        </p:nvCxnSpPr>
        <p:spPr bwMode="auto">
          <a:xfrm flipH="1">
            <a:off x="6701632" y="2053645"/>
            <a:ext cx="243672" cy="332343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828" name="TextBox 20"/>
          <p:cNvSpPr txBox="1">
            <a:spLocks noChangeArrowheads="1"/>
          </p:cNvSpPr>
          <p:nvPr/>
        </p:nvSpPr>
        <p:spPr bwMode="auto">
          <a:xfrm>
            <a:off x="6175375" y="3976663"/>
            <a:ext cx="111440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抛出异常</a:t>
            </a:r>
          </a:p>
        </p:txBody>
      </p:sp>
      <p:sp>
        <p:nvSpPr>
          <p:cNvPr id="34829" name="TextBox 21"/>
          <p:cNvSpPr txBox="1">
            <a:spLocks noChangeArrowheads="1"/>
          </p:cNvSpPr>
          <p:nvPr/>
        </p:nvSpPr>
        <p:spPr bwMode="auto">
          <a:xfrm>
            <a:off x="107504" y="4052863"/>
            <a:ext cx="111440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捕获异常</a:t>
            </a:r>
          </a:p>
        </p:txBody>
      </p:sp>
      <p:cxnSp>
        <p:nvCxnSpPr>
          <p:cNvPr id="34830" name="直接箭头连接符 23"/>
          <p:cNvCxnSpPr>
            <a:cxnSpLocks noChangeShapeType="1"/>
            <a:stCxn id="34829" idx="0"/>
          </p:cNvCxnSpPr>
          <p:nvPr/>
        </p:nvCxnSpPr>
        <p:spPr bwMode="auto">
          <a:xfrm flipV="1">
            <a:off x="664708" y="3863951"/>
            <a:ext cx="958859" cy="1889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直接连接符 14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标题 1"/>
          <p:cNvSpPr txBox="1">
            <a:spLocks/>
          </p:cNvSpPr>
          <p:nvPr/>
        </p:nvSpPr>
        <p:spPr bwMode="auto">
          <a:xfrm>
            <a:off x="468313" y="116632"/>
            <a:ext cx="75438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5.2 Java</a:t>
            </a:r>
            <a:r>
              <a:rPr lang="zh-CN" altLang="en-US" sz="3200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的异常处理机制</a:t>
            </a:r>
            <a:endParaRPr lang="zh-CN" altLang="en-US" sz="3200" kern="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2" grpId="0" animBg="1" autoUpdateAnimBg="0"/>
      <p:bldP spid="34824" grpId="0" animBg="1" autoUpdateAnimBg="0"/>
      <p:bldP spid="34825" grpId="0" autoUpdateAnimBg="0"/>
      <p:bldP spid="34826" grpId="0" animBg="1" autoUpdateAnimBg="0"/>
      <p:bldP spid="34828" grpId="0" autoUpdateAnimBg="0"/>
      <p:bldP spid="34829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内容占位符 2"/>
          <p:cNvSpPr>
            <a:spLocks noGrp="1"/>
          </p:cNvSpPr>
          <p:nvPr>
            <p:ph idx="4294967295"/>
          </p:nvPr>
        </p:nvSpPr>
        <p:spPr>
          <a:xfrm>
            <a:off x="468313" y="1844824"/>
            <a:ext cx="8280152" cy="324036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throws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语句表明某方法中可能出现某种（或多种）异常，但它自己不能处理这些异常，而由调用者来处理。</a:t>
            </a:r>
            <a:endParaRPr lang="en-US" altLang="zh-CN" sz="24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当一个方法包含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throws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子句时，需要在调用此方法的代码中使用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try/catch/finally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进行捕获，或者是重新对其进行声明，否则编译时报错。</a:t>
            </a:r>
          </a:p>
        </p:txBody>
      </p:sp>
      <p:sp>
        <p:nvSpPr>
          <p:cNvPr id="72709" name="标题 1"/>
          <p:cNvSpPr txBox="1">
            <a:spLocks/>
          </p:cNvSpPr>
          <p:nvPr/>
        </p:nvSpPr>
        <p:spPr bwMode="auto">
          <a:xfrm>
            <a:off x="468313" y="188913"/>
            <a:ext cx="7543800" cy="647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5.2 </a:t>
            </a:r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使用</a:t>
            </a:r>
            <a:r>
              <a:rPr lang="en-US" altLang="zh-CN" sz="32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Java</a:t>
            </a:r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异常处理机制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"/>
          <p:cNvSpPr txBox="1">
            <a:spLocks/>
          </p:cNvSpPr>
          <p:nvPr/>
        </p:nvSpPr>
        <p:spPr bwMode="auto">
          <a:xfrm>
            <a:off x="468313" y="981199"/>
            <a:ext cx="75438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28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throws</a:t>
            </a:r>
            <a:r>
              <a:rPr lang="zh-CN" altLang="en-US" sz="28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语句</a:t>
            </a:r>
          </a:p>
        </p:txBody>
      </p:sp>
    </p:spTree>
    <p:extLst>
      <p:ext uri="{BB962C8B-B14F-4D97-AF65-F5344CB8AC3E}">
        <p14:creationId xmlns:p14="http://schemas.microsoft.com/office/powerpoint/2010/main" val="50788100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标题 1"/>
          <p:cNvSpPr>
            <a:spLocks noGrp="1"/>
          </p:cNvSpPr>
          <p:nvPr>
            <p:ph type="title" idx="4294967295"/>
          </p:nvPr>
        </p:nvSpPr>
        <p:spPr>
          <a:xfrm>
            <a:off x="463958" y="189310"/>
            <a:ext cx="7543800" cy="647402"/>
          </a:xfrm>
        </p:spPr>
        <p:txBody>
          <a:bodyPr/>
          <a:lstStyle/>
          <a:p>
            <a:r>
              <a:rPr lang="en-US" altLang="zh-CN" sz="3200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5.2 Java</a:t>
            </a:r>
            <a:r>
              <a:rPr lang="zh-CN" altLang="en-US" sz="3200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的异常处理机制</a:t>
            </a:r>
            <a:endParaRPr lang="zh-CN" altLang="en-US" sz="3200" kern="0" dirty="0">
              <a:ea typeface="宋体" panose="02010600030101010101" pitchFamily="2" charset="-122"/>
            </a:endParaRPr>
          </a:p>
        </p:txBody>
      </p:sp>
      <p:sp>
        <p:nvSpPr>
          <p:cNvPr id="51203" name="内容占位符 2"/>
          <p:cNvSpPr>
            <a:spLocks noGrp="1"/>
          </p:cNvSpPr>
          <p:nvPr>
            <p:ph idx="4294967295"/>
          </p:nvPr>
        </p:nvSpPr>
        <p:spPr>
          <a:xfrm>
            <a:off x="468313" y="981075"/>
            <a:ext cx="8229600" cy="1439813"/>
          </a:xfrm>
        </p:spPr>
        <p:txBody>
          <a:bodyPr/>
          <a:lstStyle/>
          <a:p>
            <a:r>
              <a:rPr lang="zh-CN" altLang="en-US" b="0" dirty="0">
                <a:latin typeface="黑体" panose="02010609060101010101" pitchFamily="49" charset="-122"/>
                <a:ea typeface="黑体" panose="02010609060101010101" pitchFamily="49" charset="-122"/>
              </a:rPr>
              <a:t>声明异常 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每个方法都必须说明它可能抛出的</a:t>
            </a:r>
            <a:r>
              <a:rPr lang="zh-CN" altLang="en-US" b="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必检异常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的类型，这称为</a:t>
            </a:r>
            <a:r>
              <a:rPr lang="zh-CN" altLang="en-US" b="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声明异常（</a:t>
            </a:r>
            <a:r>
              <a:rPr lang="zh-CN" altLang="en-US" b="0" i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declaring exception</a:t>
            </a:r>
            <a:r>
              <a:rPr lang="zh-CN" altLang="en-US" b="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en-US" b="0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声明异常时，使用关键字：</a:t>
            </a:r>
            <a:r>
              <a:rPr lang="en-US" altLang="zh-CN" b="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throws</a:t>
            </a:r>
            <a:endParaRPr lang="zh-CN" altLang="en-US" b="0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1204" name="Rectangle 4"/>
          <p:cNvSpPr>
            <a:spLocks noChangeArrowheads="1"/>
          </p:cNvSpPr>
          <p:nvPr/>
        </p:nvSpPr>
        <p:spPr bwMode="auto">
          <a:xfrm>
            <a:off x="515605" y="3140968"/>
            <a:ext cx="7683500" cy="339407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rgbClr val="006600"/>
                </a:solidFill>
              </a:rPr>
              <a:t>// </a:t>
            </a:r>
            <a:r>
              <a:rPr lang="zh-CN" altLang="en-US" b="1" dirty="0">
                <a:solidFill>
                  <a:srgbClr val="006600"/>
                </a:solidFill>
              </a:rPr>
              <a:t>这里声明的都是“必检异常”</a:t>
            </a:r>
            <a:endParaRPr lang="en-US" b="1" dirty="0">
              <a:solidFill>
                <a:srgbClr val="006600"/>
              </a:solidFill>
            </a:endParaRPr>
          </a:p>
          <a:p>
            <a:pPr eaLnBrk="1" hangingPunct="1"/>
            <a:r>
              <a:rPr lang="en-US" altLang="zh-CN" b="1" dirty="0">
                <a:solidFill>
                  <a:srgbClr val="0000FF"/>
                </a:solidFill>
              </a:rPr>
              <a:t>public void </a:t>
            </a:r>
            <a:r>
              <a:rPr lang="en-US" altLang="zh-CN" b="1" dirty="0" err="1"/>
              <a:t>readFile</a:t>
            </a:r>
            <a:r>
              <a:rPr lang="en-US" altLang="zh-CN" b="1" dirty="0"/>
              <a:t>(String filename) </a:t>
            </a:r>
            <a:r>
              <a:rPr lang="en-US" altLang="zh-CN" b="1" dirty="0">
                <a:solidFill>
                  <a:srgbClr val="0000FF"/>
                </a:solidFill>
              </a:rPr>
              <a:t>throws</a:t>
            </a:r>
            <a:r>
              <a:rPr lang="en-US" altLang="zh-CN" b="1" dirty="0"/>
              <a:t> </a:t>
            </a:r>
            <a:r>
              <a:rPr lang="en-US" altLang="zh-CN" b="1" dirty="0" err="1"/>
              <a:t>FileNotFoundException</a:t>
            </a:r>
            <a:endParaRPr lang="en-US" altLang="zh-CN" b="1" dirty="0"/>
          </a:p>
          <a:p>
            <a:pPr eaLnBrk="1" hangingPunct="1"/>
            <a:r>
              <a:rPr lang="en-US" altLang="zh-CN" b="1" dirty="0"/>
              <a:t>{</a:t>
            </a:r>
          </a:p>
          <a:p>
            <a:pPr eaLnBrk="1" hangingPunct="1"/>
            <a:r>
              <a:rPr lang="en-US" altLang="zh-CN" b="1" dirty="0"/>
              <a:t>    // ... ...</a:t>
            </a:r>
          </a:p>
          <a:p>
            <a:pPr eaLnBrk="1" hangingPunct="1"/>
            <a:r>
              <a:rPr lang="en-US" altLang="zh-CN" b="1" dirty="0"/>
              <a:t>}</a:t>
            </a:r>
          </a:p>
          <a:p>
            <a:pPr eaLnBrk="1" hangingPunct="1"/>
            <a:endParaRPr lang="en-US" altLang="zh-CN" b="1" dirty="0"/>
          </a:p>
          <a:p>
            <a:pPr eaLnBrk="1" hangingPunct="1"/>
            <a:r>
              <a:rPr lang="en-US" altLang="zh-CN" b="1" dirty="0">
                <a:solidFill>
                  <a:srgbClr val="006600"/>
                </a:solidFill>
              </a:rPr>
              <a:t>// </a:t>
            </a:r>
            <a:r>
              <a:rPr lang="zh-CN" altLang="en-US" b="1" dirty="0">
                <a:solidFill>
                  <a:srgbClr val="006600"/>
                </a:solidFill>
              </a:rPr>
              <a:t>可以声明多个异常，用逗号分开</a:t>
            </a:r>
            <a:endParaRPr lang="en-US" b="1" dirty="0">
              <a:solidFill>
                <a:srgbClr val="006600"/>
              </a:solidFill>
            </a:endParaRPr>
          </a:p>
          <a:p>
            <a:pPr eaLnBrk="1" hangingPunct="1"/>
            <a:r>
              <a:rPr lang="en-US" altLang="zh-CN" b="1" dirty="0">
                <a:solidFill>
                  <a:srgbClr val="006600"/>
                </a:solidFill>
              </a:rPr>
              <a:t>// </a:t>
            </a:r>
            <a:r>
              <a:rPr lang="zh-CN" altLang="en-US" b="1" dirty="0">
                <a:solidFill>
                  <a:srgbClr val="006600"/>
                </a:solidFill>
              </a:rPr>
              <a:t>也可以声明自定义异常，如</a:t>
            </a:r>
            <a:r>
              <a:rPr lang="en-US" b="1" dirty="0">
                <a:solidFill>
                  <a:srgbClr val="006600"/>
                </a:solidFill>
              </a:rPr>
              <a:t> </a:t>
            </a:r>
            <a:r>
              <a:rPr lang="en-US" altLang="zh-CN" b="1" dirty="0" err="1">
                <a:solidFill>
                  <a:srgbClr val="006600"/>
                </a:solidFill>
              </a:rPr>
              <a:t>MyException</a:t>
            </a:r>
            <a:endParaRPr lang="en-US" altLang="zh-CN" b="1" dirty="0"/>
          </a:p>
          <a:p>
            <a:pPr eaLnBrk="1" hangingPunct="1"/>
            <a:r>
              <a:rPr lang="en-US" altLang="zh-CN" b="1" dirty="0">
                <a:solidFill>
                  <a:srgbClr val="0000FF"/>
                </a:solidFill>
              </a:rPr>
              <a:t>public void </a:t>
            </a:r>
            <a:r>
              <a:rPr lang="en-US" altLang="zh-CN" b="1" dirty="0" err="1"/>
              <a:t>writeFile</a:t>
            </a:r>
            <a:r>
              <a:rPr lang="en-US" altLang="zh-CN" b="1" dirty="0"/>
              <a:t>() </a:t>
            </a:r>
            <a:r>
              <a:rPr lang="en-US" altLang="zh-CN" b="1" dirty="0">
                <a:solidFill>
                  <a:srgbClr val="0000FF"/>
                </a:solidFill>
              </a:rPr>
              <a:t>throws</a:t>
            </a:r>
            <a:r>
              <a:rPr lang="en-US" altLang="zh-CN" b="1" dirty="0"/>
              <a:t> </a:t>
            </a:r>
            <a:r>
              <a:rPr lang="en-US" altLang="zh-CN" b="1" dirty="0" err="1"/>
              <a:t>IOException</a:t>
            </a:r>
            <a:r>
              <a:rPr lang="en-US" altLang="zh-CN" b="1" dirty="0"/>
              <a:t>, </a:t>
            </a:r>
            <a:r>
              <a:rPr lang="en-US" altLang="zh-CN" b="1" dirty="0" err="1"/>
              <a:t>MyException</a:t>
            </a:r>
            <a:endParaRPr lang="en-US" altLang="zh-CN" b="1" dirty="0"/>
          </a:p>
          <a:p>
            <a:pPr eaLnBrk="1" hangingPunct="1"/>
            <a:r>
              <a:rPr lang="en-US" altLang="zh-CN" b="1" dirty="0"/>
              <a:t>{</a:t>
            </a:r>
          </a:p>
          <a:p>
            <a:pPr eaLnBrk="1" hangingPunct="1"/>
            <a:r>
              <a:rPr lang="en-US" altLang="zh-CN" b="1" dirty="0"/>
              <a:t>    // ... ...</a:t>
            </a:r>
          </a:p>
          <a:p>
            <a:pPr eaLnBrk="1" hangingPunct="1"/>
            <a:r>
              <a:rPr lang="en-US" altLang="zh-CN" b="1" dirty="0"/>
              <a:t>}</a:t>
            </a:r>
          </a:p>
          <a:p>
            <a:pPr eaLnBrk="1" hangingPunct="1"/>
            <a:endParaRPr lang="en-US" altLang="zh-CN" sz="1400" b="1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内容占位符 2"/>
          <p:cNvSpPr>
            <a:spLocks noGrp="1"/>
          </p:cNvSpPr>
          <p:nvPr>
            <p:ph idx="4294967295"/>
          </p:nvPr>
        </p:nvSpPr>
        <p:spPr>
          <a:xfrm>
            <a:off x="468313" y="1844824"/>
            <a:ext cx="8280152" cy="324036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声明抛出多个异常的方法 </a:t>
            </a:r>
            <a:endParaRPr lang="en-US" altLang="zh-CN" sz="24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en-US" altLang="zh-CN" sz="2400" b="0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g(float h) throws </a:t>
            </a:r>
            <a:r>
              <a:rPr lang="en-US" altLang="zh-CN" sz="2400" b="0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OneException,TwoException</a:t>
            </a:r>
            <a:r>
              <a:rPr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{ …… }</a:t>
            </a:r>
          </a:p>
          <a:p>
            <a:pPr>
              <a:lnSpc>
                <a:spcPct val="150000"/>
              </a:lnSpc>
            </a:pP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测试示例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:ThrowMultiExceptionsDemo.java</a:t>
            </a:r>
          </a:p>
          <a:p>
            <a:pPr>
              <a:lnSpc>
                <a:spcPct val="150000"/>
              </a:lnSpc>
            </a:pP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注意一个奇特的地方：</a:t>
            </a:r>
          </a:p>
          <a:p>
            <a:pPr>
              <a:lnSpc>
                <a:spcPct val="150000"/>
              </a:lnSpc>
            </a:pP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当一个方法</a:t>
            </a:r>
            <a:r>
              <a:rPr lang="zh-CN" altLang="en-US" sz="2400" b="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声明抛出多个异常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时，在此方法调用语句处</a:t>
            </a:r>
            <a:r>
              <a:rPr lang="zh-CN" altLang="en-US" sz="2400" b="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只要</a:t>
            </a:r>
            <a:r>
              <a:rPr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catch</a:t>
            </a:r>
            <a:r>
              <a:rPr lang="zh-CN" altLang="en-US" sz="2400" b="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其中任何一个异常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，代码就可以顺利编译。</a:t>
            </a:r>
          </a:p>
        </p:txBody>
      </p:sp>
      <p:sp>
        <p:nvSpPr>
          <p:cNvPr id="72709" name="标题 1"/>
          <p:cNvSpPr txBox="1">
            <a:spLocks/>
          </p:cNvSpPr>
          <p:nvPr/>
        </p:nvSpPr>
        <p:spPr bwMode="auto">
          <a:xfrm>
            <a:off x="468313" y="188913"/>
            <a:ext cx="7543800" cy="647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5.2 </a:t>
            </a:r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使用</a:t>
            </a:r>
            <a:r>
              <a:rPr lang="en-US" altLang="zh-CN" sz="32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Java</a:t>
            </a:r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异常处理机制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"/>
          <p:cNvSpPr txBox="1">
            <a:spLocks/>
          </p:cNvSpPr>
          <p:nvPr/>
        </p:nvSpPr>
        <p:spPr bwMode="auto">
          <a:xfrm>
            <a:off x="468313" y="981199"/>
            <a:ext cx="75438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endParaRPr lang="zh-CN" altLang="en-US" sz="2800" b="0" dirty="0"/>
          </a:p>
          <a:p>
            <a:r>
              <a:rPr lang="zh-CN" altLang="en-US" sz="2800" dirty="0"/>
              <a:t>抛出多个受控异常的方法 </a:t>
            </a:r>
            <a:endParaRPr lang="zh-CN" altLang="en-US" sz="28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92398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标题 1"/>
          <p:cNvSpPr>
            <a:spLocks noGrp="1"/>
          </p:cNvSpPr>
          <p:nvPr>
            <p:ph type="title" idx="4294967295"/>
          </p:nvPr>
        </p:nvSpPr>
        <p:spPr>
          <a:xfrm>
            <a:off x="463958" y="189310"/>
            <a:ext cx="7543800" cy="647402"/>
          </a:xfrm>
        </p:spPr>
        <p:txBody>
          <a:bodyPr/>
          <a:lstStyle/>
          <a:p>
            <a:r>
              <a:rPr lang="en-US" altLang="zh-CN" sz="3200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5.2 Java</a:t>
            </a:r>
            <a:r>
              <a:rPr lang="zh-CN" altLang="en-US" sz="3200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的异常处理机制</a:t>
            </a:r>
            <a:endParaRPr lang="zh-CN" altLang="en-US" sz="3200" kern="0" dirty="0">
              <a:ea typeface="宋体" panose="02010600030101010101" pitchFamily="2" charset="-122"/>
            </a:endParaRPr>
          </a:p>
        </p:txBody>
      </p:sp>
      <p:sp>
        <p:nvSpPr>
          <p:cNvPr id="51203" name="内容占位符 2"/>
          <p:cNvSpPr>
            <a:spLocks noGrp="1"/>
          </p:cNvSpPr>
          <p:nvPr>
            <p:ph idx="4294967295"/>
          </p:nvPr>
        </p:nvSpPr>
        <p:spPr>
          <a:xfrm>
            <a:off x="468313" y="981075"/>
            <a:ext cx="8229600" cy="863749"/>
          </a:xfrm>
        </p:spPr>
        <p:txBody>
          <a:bodyPr/>
          <a:lstStyle/>
          <a:p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throws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语句中声明的异常称为必检异常（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checked exception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），通常直接派生自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Exception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类。</a:t>
            </a:r>
            <a:endParaRPr lang="en-US" altLang="zh-CN" sz="24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1204" name="Rectangle 4"/>
          <p:cNvSpPr>
            <a:spLocks noChangeArrowheads="1"/>
          </p:cNvSpPr>
          <p:nvPr/>
        </p:nvSpPr>
        <p:spPr bwMode="auto">
          <a:xfrm>
            <a:off x="730250" y="1844825"/>
            <a:ext cx="7683500" cy="1944216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rgbClr val="006600"/>
                </a:solidFill>
              </a:rPr>
              <a:t>// </a:t>
            </a:r>
            <a:r>
              <a:rPr lang="zh-CN" altLang="en-US" b="1" dirty="0">
                <a:solidFill>
                  <a:srgbClr val="006600"/>
                </a:solidFill>
              </a:rPr>
              <a:t>可以声明多个异常，用逗号分开</a:t>
            </a:r>
            <a:endParaRPr lang="en-US" b="1" dirty="0">
              <a:solidFill>
                <a:srgbClr val="006600"/>
              </a:solidFill>
            </a:endParaRPr>
          </a:p>
          <a:p>
            <a:pPr eaLnBrk="1" hangingPunct="1"/>
            <a:r>
              <a:rPr lang="en-US" altLang="zh-CN" b="1" dirty="0">
                <a:solidFill>
                  <a:srgbClr val="006600"/>
                </a:solidFill>
              </a:rPr>
              <a:t>// </a:t>
            </a:r>
            <a:r>
              <a:rPr lang="zh-CN" altLang="en-US" b="1" dirty="0">
                <a:solidFill>
                  <a:srgbClr val="006600"/>
                </a:solidFill>
              </a:rPr>
              <a:t>也可以声明自定义异常，如</a:t>
            </a:r>
            <a:r>
              <a:rPr lang="en-US" b="1" dirty="0">
                <a:solidFill>
                  <a:srgbClr val="006600"/>
                </a:solidFill>
              </a:rPr>
              <a:t> </a:t>
            </a:r>
            <a:r>
              <a:rPr lang="en-US" altLang="zh-CN" b="1" dirty="0" err="1">
                <a:solidFill>
                  <a:srgbClr val="006600"/>
                </a:solidFill>
              </a:rPr>
              <a:t>MyException</a:t>
            </a:r>
            <a:endParaRPr lang="en-US" altLang="zh-CN" b="1" dirty="0"/>
          </a:p>
          <a:p>
            <a:pPr eaLnBrk="1" hangingPunct="1"/>
            <a:r>
              <a:rPr lang="en-US" altLang="zh-CN" b="1" dirty="0">
                <a:solidFill>
                  <a:srgbClr val="0000FF"/>
                </a:solidFill>
              </a:rPr>
              <a:t>public void </a:t>
            </a:r>
            <a:r>
              <a:rPr lang="en-US" altLang="zh-CN" b="1" dirty="0" err="1"/>
              <a:t>writeFile</a:t>
            </a:r>
            <a:r>
              <a:rPr lang="en-US" altLang="zh-CN" b="1" dirty="0"/>
              <a:t>() </a:t>
            </a:r>
            <a:r>
              <a:rPr lang="en-US" altLang="zh-CN" b="1" dirty="0">
                <a:solidFill>
                  <a:srgbClr val="0000FF"/>
                </a:solidFill>
              </a:rPr>
              <a:t>throws</a:t>
            </a:r>
            <a:r>
              <a:rPr lang="en-US" altLang="zh-CN" b="1" dirty="0"/>
              <a:t> </a:t>
            </a:r>
            <a:r>
              <a:rPr lang="en-US" altLang="zh-CN" b="1" dirty="0" err="1"/>
              <a:t>IOException</a:t>
            </a:r>
            <a:r>
              <a:rPr lang="en-US" altLang="zh-CN" b="1" dirty="0"/>
              <a:t>, </a:t>
            </a:r>
            <a:r>
              <a:rPr lang="en-US" altLang="zh-CN" b="1" dirty="0" err="1"/>
              <a:t>MyException</a:t>
            </a:r>
            <a:endParaRPr lang="en-US" altLang="zh-CN" b="1" dirty="0"/>
          </a:p>
          <a:p>
            <a:pPr eaLnBrk="1" hangingPunct="1"/>
            <a:r>
              <a:rPr lang="en-US" altLang="zh-CN" b="1" dirty="0"/>
              <a:t>{</a:t>
            </a:r>
          </a:p>
          <a:p>
            <a:pPr eaLnBrk="1" hangingPunct="1"/>
            <a:r>
              <a:rPr lang="en-US" altLang="zh-CN" b="1" dirty="0"/>
              <a:t>    // ... ...</a:t>
            </a:r>
          </a:p>
          <a:p>
            <a:pPr eaLnBrk="1" hangingPunct="1"/>
            <a:r>
              <a:rPr lang="en-US" altLang="zh-CN" b="1" dirty="0"/>
              <a:t>}</a:t>
            </a:r>
          </a:p>
          <a:p>
            <a:pPr eaLnBrk="1" hangingPunct="1"/>
            <a:endParaRPr lang="en-US" altLang="zh-CN" sz="1400" b="1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468313" y="4077072"/>
            <a:ext cx="8229600" cy="863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1" charset="-122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+mn-lt"/>
                <a:ea typeface="楷体_GB2312" pitchFamily="1" charset="-122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楷体_GB2312" pitchFamily="1" charset="-122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1" charset="-122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1" charset="-122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1" charset="-122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1" charset="-122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1" charset="-122"/>
              </a:defRPr>
            </a:lvl9pPr>
          </a:lstStyle>
          <a:p>
            <a:r>
              <a:rPr lang="zh-CN" altLang="en-US" sz="2400" b="0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注意：当一个方法</a:t>
            </a:r>
            <a:r>
              <a:rPr lang="zh-CN" altLang="en-US" sz="2400" b="0" kern="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声明抛出多个异常</a:t>
            </a:r>
            <a:r>
              <a:rPr lang="zh-CN" altLang="en-US" sz="2400" b="0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时，在此方法调用语句处</a:t>
            </a:r>
            <a:r>
              <a:rPr lang="zh-CN" altLang="en-US" sz="2400" b="0" kern="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只要</a:t>
            </a:r>
            <a:r>
              <a:rPr lang="en-US" altLang="zh-CN" sz="2400" b="0" kern="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catch</a:t>
            </a:r>
            <a:r>
              <a:rPr lang="zh-CN" altLang="en-US" sz="2400" b="0" kern="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其中任何一个异常</a:t>
            </a:r>
            <a:r>
              <a:rPr lang="zh-CN" altLang="en-US" sz="2400" b="0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，代码就可以顺利编译。</a:t>
            </a:r>
            <a:endParaRPr lang="en-US" altLang="zh-CN" sz="2400" b="0" kern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74037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标题 1"/>
          <p:cNvSpPr>
            <a:spLocks noGrp="1"/>
          </p:cNvSpPr>
          <p:nvPr>
            <p:ph type="title" idx="4294967295"/>
          </p:nvPr>
        </p:nvSpPr>
        <p:spPr>
          <a:xfrm>
            <a:off x="468313" y="116632"/>
            <a:ext cx="7543800" cy="719137"/>
          </a:xfrm>
        </p:spPr>
        <p:txBody>
          <a:bodyPr/>
          <a:lstStyle/>
          <a:p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抛出异常</a:t>
            </a:r>
          </a:p>
        </p:txBody>
      </p:sp>
      <p:sp>
        <p:nvSpPr>
          <p:cNvPr id="52227" name="内容占位符 2"/>
          <p:cNvSpPr>
            <a:spLocks noGrp="1"/>
          </p:cNvSpPr>
          <p:nvPr>
            <p:ph idx="4294967295"/>
          </p:nvPr>
        </p:nvSpPr>
        <p:spPr>
          <a:xfrm>
            <a:off x="92076" y="980728"/>
            <a:ext cx="7920037" cy="1439813"/>
          </a:xfrm>
        </p:spPr>
        <p:txBody>
          <a:bodyPr/>
          <a:lstStyle/>
          <a:p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程序检查到一个错误后，</a:t>
            </a:r>
            <a:r>
              <a:rPr lang="zh-CN" altLang="en-US" sz="2400" b="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创建一个适当异常类型的实例并抛出它，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这就称为抛出异常（</a:t>
            </a:r>
            <a:r>
              <a:rPr lang="zh-CN" altLang="en-US" sz="2400" b="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throwing exception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）。</a:t>
            </a:r>
            <a:endParaRPr lang="en-US" sz="24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抛出异常使用关键字 </a:t>
            </a:r>
            <a:r>
              <a:rPr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throw</a:t>
            </a:r>
            <a:endParaRPr lang="zh-CN" altLang="en-US" sz="2400" b="0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2228" name="Rectangle 4"/>
          <p:cNvSpPr>
            <a:spLocks noChangeArrowheads="1"/>
          </p:cNvSpPr>
          <p:nvPr/>
        </p:nvSpPr>
        <p:spPr bwMode="auto">
          <a:xfrm>
            <a:off x="468313" y="2423572"/>
            <a:ext cx="7702550" cy="3462337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rgbClr val="0000FF"/>
                </a:solidFill>
              </a:rPr>
              <a:t>public void </a:t>
            </a:r>
            <a:r>
              <a:rPr lang="en-US" altLang="zh-CN" b="1" dirty="0" err="1"/>
              <a:t>readFile</a:t>
            </a:r>
            <a:r>
              <a:rPr lang="en-US" altLang="zh-CN" b="1" dirty="0"/>
              <a:t>(String filename) </a:t>
            </a:r>
            <a:r>
              <a:rPr lang="en-US" altLang="zh-CN" b="1" dirty="0">
                <a:solidFill>
                  <a:srgbClr val="0000FF"/>
                </a:solidFill>
              </a:rPr>
              <a:t>throws</a:t>
            </a:r>
            <a:r>
              <a:rPr lang="en-US" altLang="zh-CN" b="1" dirty="0"/>
              <a:t> </a:t>
            </a:r>
            <a:r>
              <a:rPr lang="en-US" altLang="zh-CN" b="1" dirty="0" err="1"/>
              <a:t>FileNotFoundException</a:t>
            </a:r>
            <a:endParaRPr lang="en-US" altLang="zh-CN" b="1" dirty="0"/>
          </a:p>
          <a:p>
            <a:pPr eaLnBrk="1" hangingPunct="1"/>
            <a:r>
              <a:rPr lang="en-US" altLang="zh-CN" b="1" dirty="0"/>
              <a:t>{</a:t>
            </a:r>
          </a:p>
          <a:p>
            <a:pPr eaLnBrk="1" hangingPunct="1"/>
            <a:r>
              <a:rPr lang="en-US" altLang="zh-CN" b="1" dirty="0"/>
              <a:t>    </a:t>
            </a:r>
            <a:r>
              <a:rPr lang="en-US" altLang="zh-CN" b="1" dirty="0">
                <a:solidFill>
                  <a:srgbClr val="0000FF"/>
                </a:solidFill>
              </a:rPr>
              <a:t>if</a:t>
            </a:r>
            <a:r>
              <a:rPr lang="en-US" altLang="zh-CN" b="1" dirty="0"/>
              <a:t> (file "filename" not found)</a:t>
            </a:r>
          </a:p>
          <a:p>
            <a:pPr eaLnBrk="1" hangingPunct="1"/>
            <a:r>
              <a:rPr lang="en-US" altLang="zh-CN" b="1" dirty="0"/>
              <a:t>    {</a:t>
            </a:r>
          </a:p>
          <a:p>
            <a:pPr eaLnBrk="1" hangingPunct="1"/>
            <a:r>
              <a:rPr lang="en-US" altLang="zh-CN" b="1" dirty="0"/>
              <a:t>        </a:t>
            </a:r>
            <a:r>
              <a:rPr lang="en-US" altLang="zh-CN" b="1" dirty="0">
                <a:solidFill>
                  <a:srgbClr val="008000"/>
                </a:solidFill>
              </a:rPr>
              <a:t>// </a:t>
            </a:r>
            <a:r>
              <a:rPr lang="zh-CN" altLang="en-US" b="1" dirty="0">
                <a:solidFill>
                  <a:srgbClr val="008000"/>
                </a:solidFill>
              </a:rPr>
              <a:t>方法</a:t>
            </a:r>
            <a:r>
              <a:rPr lang="en-US" altLang="zh-CN" b="1" dirty="0">
                <a:solidFill>
                  <a:srgbClr val="008000"/>
                </a:solidFill>
              </a:rPr>
              <a:t>1</a:t>
            </a:r>
            <a:r>
              <a:rPr lang="zh-CN" altLang="en-US" b="1" dirty="0">
                <a:solidFill>
                  <a:srgbClr val="008000"/>
                </a:solidFill>
              </a:rPr>
              <a:t>：</a:t>
            </a:r>
            <a:endParaRPr lang="en-US" b="1" dirty="0">
              <a:solidFill>
                <a:srgbClr val="008000"/>
              </a:solidFill>
            </a:endParaRPr>
          </a:p>
          <a:p>
            <a:pPr eaLnBrk="1" hangingPunct="1"/>
            <a:r>
              <a:rPr lang="en-US" b="1" dirty="0"/>
              <a:t>        </a:t>
            </a:r>
            <a:r>
              <a:rPr lang="en-US" altLang="zh-CN" b="1" dirty="0">
                <a:solidFill>
                  <a:srgbClr val="0000FF"/>
                </a:solidFill>
              </a:rPr>
              <a:t>throw new</a:t>
            </a:r>
            <a:r>
              <a:rPr lang="en-US" altLang="zh-CN" b="1" dirty="0"/>
              <a:t> </a:t>
            </a:r>
            <a:r>
              <a:rPr lang="en-US" altLang="zh-CN" b="1" dirty="0" err="1"/>
              <a:t>FileNotFoundException</a:t>
            </a:r>
            <a:r>
              <a:rPr lang="en-US" altLang="zh-CN" b="1" dirty="0"/>
              <a:t>();</a:t>
            </a:r>
          </a:p>
          <a:p>
            <a:pPr eaLnBrk="1" hangingPunct="1"/>
            <a:endParaRPr lang="en-US" altLang="zh-CN" b="1" dirty="0"/>
          </a:p>
          <a:p>
            <a:pPr eaLnBrk="1" hangingPunct="1"/>
            <a:r>
              <a:rPr lang="en-US" altLang="zh-CN" b="1" dirty="0"/>
              <a:t>        </a:t>
            </a:r>
            <a:r>
              <a:rPr lang="en-US" altLang="zh-CN" b="1" dirty="0">
                <a:solidFill>
                  <a:srgbClr val="008000"/>
                </a:solidFill>
              </a:rPr>
              <a:t>// </a:t>
            </a:r>
            <a:r>
              <a:rPr lang="zh-CN" altLang="en-US" b="1" dirty="0">
                <a:solidFill>
                  <a:srgbClr val="008000"/>
                </a:solidFill>
              </a:rPr>
              <a:t>方法</a:t>
            </a:r>
            <a:r>
              <a:rPr lang="en-US" altLang="zh-CN" b="1" dirty="0">
                <a:solidFill>
                  <a:srgbClr val="008000"/>
                </a:solidFill>
              </a:rPr>
              <a:t>2</a:t>
            </a:r>
            <a:r>
              <a:rPr lang="zh-CN" altLang="en-US" b="1" dirty="0">
                <a:solidFill>
                  <a:srgbClr val="008000"/>
                </a:solidFill>
              </a:rPr>
              <a:t>：</a:t>
            </a:r>
            <a:endParaRPr lang="en-US" b="1" dirty="0">
              <a:solidFill>
                <a:srgbClr val="008000"/>
              </a:solidFill>
            </a:endParaRPr>
          </a:p>
          <a:p>
            <a:pPr eaLnBrk="1" hangingPunct="1"/>
            <a:r>
              <a:rPr lang="en-US" b="1" dirty="0"/>
              <a:t>        </a:t>
            </a:r>
            <a:r>
              <a:rPr lang="en-US" altLang="zh-CN" b="1" dirty="0" err="1"/>
              <a:t>FileNotFoundException</a:t>
            </a:r>
            <a:r>
              <a:rPr lang="en-US" altLang="zh-CN" b="1" dirty="0"/>
              <a:t> ex = </a:t>
            </a:r>
            <a:r>
              <a:rPr lang="en-US" altLang="zh-CN" b="1" dirty="0">
                <a:solidFill>
                  <a:srgbClr val="0000FF"/>
                </a:solidFill>
              </a:rPr>
              <a:t>new</a:t>
            </a:r>
            <a:r>
              <a:rPr lang="en-US" altLang="zh-CN" b="1" dirty="0"/>
              <a:t> </a:t>
            </a:r>
            <a:r>
              <a:rPr lang="en-US" altLang="zh-CN" b="1" dirty="0" err="1"/>
              <a:t>FileNotFoundException</a:t>
            </a:r>
            <a:r>
              <a:rPr lang="en-US" altLang="zh-CN" b="1" dirty="0"/>
              <a:t>();</a:t>
            </a:r>
          </a:p>
          <a:p>
            <a:pPr eaLnBrk="1" hangingPunct="1"/>
            <a:r>
              <a:rPr lang="en-US" altLang="zh-CN" b="1" dirty="0"/>
              <a:t>        </a:t>
            </a:r>
            <a:r>
              <a:rPr lang="en-US" altLang="zh-CN" b="1" dirty="0">
                <a:solidFill>
                  <a:srgbClr val="0000FF"/>
                </a:solidFill>
              </a:rPr>
              <a:t>throw</a:t>
            </a:r>
            <a:r>
              <a:rPr lang="en-US" altLang="zh-CN" b="1" dirty="0"/>
              <a:t> ex;</a:t>
            </a:r>
          </a:p>
          <a:p>
            <a:pPr eaLnBrk="1" hangingPunct="1"/>
            <a:r>
              <a:rPr lang="en-US" altLang="zh-CN" b="1" dirty="0"/>
              <a:t>    }</a:t>
            </a:r>
          </a:p>
          <a:p>
            <a:pPr eaLnBrk="1" hangingPunct="1"/>
            <a:r>
              <a:rPr lang="en-US" altLang="zh-CN" b="1" dirty="0"/>
              <a:t>}</a:t>
            </a:r>
            <a:endParaRPr lang="en-US" altLang="zh-CN" sz="1400" b="1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标题 1"/>
          <p:cNvSpPr>
            <a:spLocks noGrp="1"/>
          </p:cNvSpPr>
          <p:nvPr>
            <p:ph type="title" idx="4294967295"/>
          </p:nvPr>
        </p:nvSpPr>
        <p:spPr>
          <a:xfrm>
            <a:off x="468313" y="116632"/>
            <a:ext cx="7543800" cy="719137"/>
          </a:xfrm>
        </p:spPr>
        <p:txBody>
          <a:bodyPr/>
          <a:lstStyle/>
          <a:p>
            <a:r>
              <a:rPr lang="zh-CN" altLang="en-US" sz="3200" b="0" dirty="0">
                <a:latin typeface="黑体" panose="02010609060101010101" pitchFamily="49" charset="-122"/>
                <a:ea typeface="黑体" panose="02010609060101010101" pitchFamily="49" charset="-122"/>
              </a:rPr>
              <a:t>抛出异常举例</a:t>
            </a:r>
          </a:p>
        </p:txBody>
      </p:sp>
      <p:sp>
        <p:nvSpPr>
          <p:cNvPr id="53251" name="Rectangle 4"/>
          <p:cNvSpPr>
            <a:spLocks noChangeArrowheads="1"/>
          </p:cNvSpPr>
          <p:nvPr/>
        </p:nvSpPr>
        <p:spPr bwMode="auto">
          <a:xfrm>
            <a:off x="275977" y="893564"/>
            <a:ext cx="8472487" cy="31115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rgbClr val="0000FF"/>
                </a:solidFill>
              </a:rPr>
              <a:t>public void </a:t>
            </a:r>
            <a:r>
              <a:rPr lang="en-US" altLang="zh-CN" b="1" dirty="0" err="1"/>
              <a:t>setRadius</a:t>
            </a:r>
            <a:r>
              <a:rPr lang="en-US" altLang="zh-CN" b="1" dirty="0"/>
              <a:t>(</a:t>
            </a:r>
            <a:r>
              <a:rPr lang="en-US" altLang="zh-CN" b="1" dirty="0">
                <a:solidFill>
                  <a:srgbClr val="0000FF"/>
                </a:solidFill>
              </a:rPr>
              <a:t>double</a:t>
            </a:r>
            <a:r>
              <a:rPr lang="en-US" altLang="zh-CN" b="1" dirty="0"/>
              <a:t> </a:t>
            </a:r>
            <a:r>
              <a:rPr lang="en-US" altLang="zh-CN" b="1" dirty="0" err="1"/>
              <a:t>newRadius</a:t>
            </a:r>
            <a:r>
              <a:rPr lang="en-US" altLang="zh-CN" b="1" dirty="0"/>
              <a:t>) </a:t>
            </a:r>
            <a:r>
              <a:rPr lang="en-US" altLang="zh-CN" b="1" dirty="0">
                <a:solidFill>
                  <a:srgbClr val="0000FF"/>
                </a:solidFill>
              </a:rPr>
              <a:t>throws</a:t>
            </a:r>
            <a:r>
              <a:rPr lang="en-US" altLang="zh-CN" b="1" dirty="0"/>
              <a:t> </a:t>
            </a:r>
            <a:r>
              <a:rPr lang="en-US" altLang="zh-CN" b="1" dirty="0" err="1">
                <a:solidFill>
                  <a:srgbClr val="FF0000"/>
                </a:solidFill>
              </a:rPr>
              <a:t>IllegalArgumentException</a:t>
            </a:r>
            <a:endParaRPr lang="en-US" altLang="zh-CN" b="1" dirty="0">
              <a:solidFill>
                <a:srgbClr val="FF0000"/>
              </a:solidFill>
            </a:endParaRPr>
          </a:p>
          <a:p>
            <a:pPr eaLnBrk="1" hangingPunct="1"/>
            <a:r>
              <a:rPr lang="en-US" altLang="zh-CN" b="1" dirty="0"/>
              <a:t>{</a:t>
            </a:r>
          </a:p>
          <a:p>
            <a:pPr eaLnBrk="1" hangingPunct="1"/>
            <a:r>
              <a:rPr lang="en-US" altLang="zh-CN" b="1" dirty="0"/>
              <a:t>    </a:t>
            </a:r>
            <a:r>
              <a:rPr lang="en-US" altLang="zh-CN" b="1" dirty="0">
                <a:solidFill>
                  <a:srgbClr val="0000FF"/>
                </a:solidFill>
              </a:rPr>
              <a:t>if</a:t>
            </a:r>
            <a:r>
              <a:rPr lang="en-US" altLang="zh-CN" b="1" dirty="0"/>
              <a:t> (</a:t>
            </a:r>
            <a:r>
              <a:rPr lang="en-US" altLang="zh-CN" b="1" dirty="0" err="1"/>
              <a:t>newRadius</a:t>
            </a:r>
            <a:r>
              <a:rPr lang="en-US" altLang="zh-CN" b="1" dirty="0"/>
              <a:t> &gt;= 0)</a:t>
            </a:r>
          </a:p>
          <a:p>
            <a:pPr eaLnBrk="1" hangingPunct="1"/>
            <a:r>
              <a:rPr lang="en-US" altLang="zh-CN" b="1" dirty="0"/>
              <a:t>    {</a:t>
            </a:r>
          </a:p>
          <a:p>
            <a:pPr eaLnBrk="1" hangingPunct="1"/>
            <a:r>
              <a:rPr lang="en-US" altLang="zh-CN" b="1" dirty="0"/>
              <a:t>        radius = </a:t>
            </a:r>
            <a:r>
              <a:rPr lang="en-US" altLang="zh-CN" b="1" dirty="0" err="1"/>
              <a:t>newRadius</a:t>
            </a:r>
            <a:r>
              <a:rPr lang="en-US" altLang="zh-CN" b="1" dirty="0"/>
              <a:t>;</a:t>
            </a:r>
          </a:p>
          <a:p>
            <a:pPr eaLnBrk="1" hangingPunct="1"/>
            <a:r>
              <a:rPr lang="en-US" altLang="zh-CN" b="1" dirty="0"/>
              <a:t>    }</a:t>
            </a:r>
          </a:p>
          <a:p>
            <a:pPr eaLnBrk="1" hangingPunct="1"/>
            <a:r>
              <a:rPr lang="en-US" altLang="zh-CN" b="1" dirty="0"/>
              <a:t>    </a:t>
            </a:r>
            <a:r>
              <a:rPr lang="en-US" altLang="zh-CN" b="1" dirty="0">
                <a:solidFill>
                  <a:srgbClr val="0000FF"/>
                </a:solidFill>
              </a:rPr>
              <a:t>else</a:t>
            </a:r>
          </a:p>
          <a:p>
            <a:pPr eaLnBrk="1" hangingPunct="1"/>
            <a:r>
              <a:rPr lang="en-US" altLang="zh-CN" b="1" dirty="0"/>
              <a:t>    {</a:t>
            </a:r>
          </a:p>
          <a:p>
            <a:pPr eaLnBrk="1" hangingPunct="1"/>
            <a:r>
              <a:rPr lang="en-US" altLang="zh-CN" b="1" dirty="0">
                <a:solidFill>
                  <a:srgbClr val="0000FF"/>
                </a:solidFill>
              </a:rPr>
              <a:t>        throw new</a:t>
            </a:r>
            <a:r>
              <a:rPr lang="en-US" altLang="zh-CN" b="1" dirty="0"/>
              <a:t> </a:t>
            </a:r>
            <a:r>
              <a:rPr lang="en-US" altLang="zh-CN" b="1" dirty="0" err="1"/>
              <a:t>IllegalArgumentException</a:t>
            </a:r>
            <a:r>
              <a:rPr lang="en-US" altLang="zh-CN" b="1" dirty="0"/>
              <a:t>("Radius must &gt;= 0");</a:t>
            </a:r>
          </a:p>
          <a:p>
            <a:pPr eaLnBrk="1" hangingPunct="1"/>
            <a:r>
              <a:rPr lang="en-US" altLang="zh-CN" b="1" dirty="0"/>
              <a:t>    }</a:t>
            </a:r>
          </a:p>
          <a:p>
            <a:pPr eaLnBrk="1" hangingPunct="1"/>
            <a:r>
              <a:rPr lang="en-US" altLang="zh-CN" b="1" dirty="0"/>
              <a:t>}</a:t>
            </a:r>
          </a:p>
          <a:p>
            <a:pPr eaLnBrk="1" hangingPunct="1"/>
            <a:endParaRPr lang="en-US" altLang="zh-CN" sz="1400" b="1" dirty="0"/>
          </a:p>
          <a:p>
            <a:pPr eaLnBrk="1" hangingPunct="1"/>
            <a:endParaRPr lang="en-US" altLang="zh-CN" sz="1400" b="1" dirty="0"/>
          </a:p>
        </p:txBody>
      </p:sp>
      <p:sp>
        <p:nvSpPr>
          <p:cNvPr id="53252" name="TextBox 4"/>
          <p:cNvSpPr txBox="1">
            <a:spLocks noChangeArrowheads="1"/>
          </p:cNvSpPr>
          <p:nvPr/>
        </p:nvSpPr>
        <p:spPr bwMode="auto">
          <a:xfrm>
            <a:off x="727075" y="4019550"/>
            <a:ext cx="5946051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20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IllegalArgumentException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JDK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中定义的一个异常。</a:t>
            </a:r>
            <a:endParaRPr lang="en-US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它有一个带有字符串参数的构造方法。</a:t>
            </a:r>
            <a:endParaRPr lang="en-US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Java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中，异常的命名方式是：</a:t>
            </a:r>
            <a:r>
              <a:rPr lang="en-US" altLang="zh-CN" sz="20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XXXException</a:t>
            </a:r>
            <a:endParaRPr lang="zh-CN" altLang="en-US" b="1" dirty="0"/>
          </a:p>
        </p:txBody>
      </p:sp>
      <p:sp>
        <p:nvSpPr>
          <p:cNvPr id="53253" name="TextBox 5"/>
          <p:cNvSpPr txBox="1">
            <a:spLocks noChangeArrowheads="1"/>
          </p:cNvSpPr>
          <p:nvPr/>
        </p:nvSpPr>
        <p:spPr bwMode="auto">
          <a:xfrm>
            <a:off x="611560" y="5467623"/>
            <a:ext cx="8442325" cy="1201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注：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IllegalArgumentException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Java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中的一个“免检异常”，是不需要进行声明的。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这里为了举例，使用了这个异常。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这种做法是不推荐的。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标题 1"/>
          <p:cNvSpPr>
            <a:spLocks noGrp="1"/>
          </p:cNvSpPr>
          <p:nvPr>
            <p:ph type="title" idx="4294967295"/>
          </p:nvPr>
        </p:nvSpPr>
        <p:spPr>
          <a:xfrm>
            <a:off x="395191" y="908720"/>
            <a:ext cx="7543800" cy="483106"/>
          </a:xfrm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2800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捕获异常</a:t>
            </a:r>
          </a:p>
        </p:txBody>
      </p:sp>
      <p:sp>
        <p:nvSpPr>
          <p:cNvPr id="54275" name="Rectangle 4"/>
          <p:cNvSpPr>
            <a:spLocks noChangeArrowheads="1"/>
          </p:cNvSpPr>
          <p:nvPr/>
        </p:nvSpPr>
        <p:spPr bwMode="auto">
          <a:xfrm>
            <a:off x="839788" y="1590675"/>
            <a:ext cx="7277100" cy="4862513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rgbClr val="0000FF"/>
                </a:solidFill>
              </a:rPr>
              <a:t>try</a:t>
            </a:r>
          </a:p>
          <a:p>
            <a:pPr eaLnBrk="1" hangingPunct="1"/>
            <a:r>
              <a:rPr lang="en-US" altLang="zh-CN" b="1" dirty="0"/>
              <a:t>{</a:t>
            </a:r>
          </a:p>
          <a:p>
            <a:pPr eaLnBrk="1" hangingPunct="1"/>
            <a:r>
              <a:rPr lang="en-US" altLang="zh-CN" b="1" dirty="0"/>
              <a:t>        statements.   // statements may throw exceptions.</a:t>
            </a:r>
          </a:p>
          <a:p>
            <a:pPr eaLnBrk="1" hangingPunct="1"/>
            <a:r>
              <a:rPr lang="en-US" altLang="zh-CN" b="1" dirty="0"/>
              <a:t>}</a:t>
            </a:r>
          </a:p>
          <a:p>
            <a:pPr eaLnBrk="1" hangingPunct="1"/>
            <a:r>
              <a:rPr lang="en-US" altLang="zh-CN" b="1" dirty="0">
                <a:solidFill>
                  <a:srgbClr val="0000FF"/>
                </a:solidFill>
              </a:rPr>
              <a:t>catch</a:t>
            </a:r>
            <a:r>
              <a:rPr lang="en-US" altLang="zh-CN" b="1" dirty="0"/>
              <a:t> (Exception1 ex1)</a:t>
            </a:r>
          </a:p>
          <a:p>
            <a:pPr eaLnBrk="1" hangingPunct="1"/>
            <a:r>
              <a:rPr lang="en-US" altLang="zh-CN" b="1" dirty="0"/>
              <a:t>{</a:t>
            </a:r>
          </a:p>
          <a:p>
            <a:pPr eaLnBrk="1" hangingPunct="1"/>
            <a:r>
              <a:rPr lang="en-US" altLang="zh-CN" b="1" dirty="0"/>
              <a:t>    handle for Exception1</a:t>
            </a:r>
          </a:p>
          <a:p>
            <a:pPr eaLnBrk="1" hangingPunct="1"/>
            <a:r>
              <a:rPr lang="en-US" altLang="zh-CN" b="1" dirty="0"/>
              <a:t>}</a:t>
            </a:r>
          </a:p>
          <a:p>
            <a:pPr eaLnBrk="1" hangingPunct="1"/>
            <a:r>
              <a:rPr lang="en-US" altLang="zh-CN" b="1" dirty="0">
                <a:solidFill>
                  <a:srgbClr val="0000FF"/>
                </a:solidFill>
              </a:rPr>
              <a:t>catch</a:t>
            </a:r>
            <a:r>
              <a:rPr lang="en-US" altLang="zh-CN" b="1" dirty="0"/>
              <a:t> (Exception2 ex2)</a:t>
            </a:r>
          </a:p>
          <a:p>
            <a:pPr eaLnBrk="1" hangingPunct="1"/>
            <a:r>
              <a:rPr lang="en-US" altLang="zh-CN" b="1" dirty="0"/>
              <a:t>{</a:t>
            </a:r>
          </a:p>
          <a:p>
            <a:pPr eaLnBrk="1" hangingPunct="1"/>
            <a:r>
              <a:rPr lang="en-US" altLang="zh-CN" b="1" dirty="0"/>
              <a:t>    handle for Exception2</a:t>
            </a:r>
          </a:p>
          <a:p>
            <a:pPr eaLnBrk="1" hangingPunct="1"/>
            <a:r>
              <a:rPr lang="en-US" altLang="zh-CN" b="1" dirty="0"/>
              <a:t>}</a:t>
            </a:r>
          </a:p>
          <a:p>
            <a:pPr eaLnBrk="1" hangingPunct="1"/>
            <a:r>
              <a:rPr lang="en-US" altLang="zh-CN" b="1" dirty="0"/>
              <a:t>...</a:t>
            </a:r>
          </a:p>
          <a:p>
            <a:pPr eaLnBrk="1" hangingPunct="1"/>
            <a:r>
              <a:rPr lang="en-US" altLang="zh-CN" b="1" dirty="0">
                <a:solidFill>
                  <a:srgbClr val="0000FF"/>
                </a:solidFill>
              </a:rPr>
              <a:t>catch</a:t>
            </a:r>
            <a:r>
              <a:rPr lang="en-US" altLang="zh-CN" b="1" dirty="0"/>
              <a:t> (</a:t>
            </a:r>
            <a:r>
              <a:rPr lang="en-US" altLang="zh-CN" b="1" dirty="0" err="1"/>
              <a:t>ExceptionN</a:t>
            </a:r>
            <a:r>
              <a:rPr lang="en-US" altLang="zh-CN" b="1" dirty="0"/>
              <a:t> </a:t>
            </a:r>
            <a:r>
              <a:rPr lang="en-US" altLang="zh-CN" b="1" dirty="0" err="1"/>
              <a:t>exN</a:t>
            </a:r>
            <a:r>
              <a:rPr lang="en-US" altLang="zh-CN" b="1" dirty="0"/>
              <a:t>)</a:t>
            </a:r>
          </a:p>
          <a:p>
            <a:pPr eaLnBrk="1" hangingPunct="1"/>
            <a:r>
              <a:rPr lang="en-US" altLang="zh-CN" b="1" dirty="0"/>
              <a:t>{</a:t>
            </a:r>
          </a:p>
          <a:p>
            <a:pPr eaLnBrk="1" hangingPunct="1"/>
            <a:r>
              <a:rPr lang="en-US" altLang="zh-CN" b="1" dirty="0"/>
              <a:t>    handle for </a:t>
            </a:r>
            <a:r>
              <a:rPr lang="en-US" altLang="zh-CN" b="1" dirty="0" err="1"/>
              <a:t>ExceptionN</a:t>
            </a:r>
            <a:endParaRPr lang="en-US" altLang="zh-CN" b="1" dirty="0"/>
          </a:p>
          <a:p>
            <a:pPr eaLnBrk="1" hangingPunct="1"/>
            <a:r>
              <a:rPr lang="en-US" altLang="zh-CN" b="1" dirty="0"/>
              <a:t>}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"/>
          <p:cNvSpPr txBox="1">
            <a:spLocks/>
          </p:cNvSpPr>
          <p:nvPr/>
        </p:nvSpPr>
        <p:spPr bwMode="auto">
          <a:xfrm>
            <a:off x="468313" y="116632"/>
            <a:ext cx="75438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5.2 Java</a:t>
            </a:r>
            <a:r>
              <a:rPr lang="zh-CN" altLang="en-US" sz="3200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的异常处理机制</a:t>
            </a:r>
            <a:endParaRPr lang="zh-CN" altLang="en-US" sz="3200" kern="0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4729543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标题 1"/>
          <p:cNvSpPr>
            <a:spLocks noGrp="1"/>
          </p:cNvSpPr>
          <p:nvPr>
            <p:ph type="title" idx="4294967295"/>
          </p:nvPr>
        </p:nvSpPr>
        <p:spPr>
          <a:xfrm>
            <a:off x="395191" y="908720"/>
            <a:ext cx="7543800" cy="483106"/>
          </a:xfrm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2800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捕获异常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"/>
          <p:cNvSpPr txBox="1">
            <a:spLocks/>
          </p:cNvSpPr>
          <p:nvPr/>
        </p:nvSpPr>
        <p:spPr bwMode="auto">
          <a:xfrm>
            <a:off x="468313" y="116632"/>
            <a:ext cx="75438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5.2 Java</a:t>
            </a:r>
            <a:r>
              <a:rPr lang="zh-CN" altLang="en-US" sz="3200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的异常处理机制</a:t>
            </a:r>
            <a:endParaRPr lang="zh-CN" altLang="en-US" sz="3200" kern="0" dirty="0">
              <a:ea typeface="宋体" panose="02010600030101010101" pitchFamily="2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386063" y="1345805"/>
            <a:ext cx="8362746" cy="3955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1" charset="-122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+mn-lt"/>
                <a:ea typeface="楷体_GB2312" pitchFamily="1" charset="-122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楷体_GB2312" pitchFamily="1" charset="-122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1" charset="-122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1" charset="-122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1" charset="-122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1" charset="-122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1" charset="-122"/>
              </a:defRPr>
            </a:lvl9pPr>
          </a:lstStyle>
          <a:p>
            <a:r>
              <a:rPr lang="zh-CN" altLang="en-US" b="0" kern="0" dirty="0">
                <a:ea typeface="黑体" panose="02010609060101010101" pitchFamily="49" charset="-122"/>
                <a:cs typeface="Times New Roman" panose="02020603050405020304" pitchFamily="18" charset="0"/>
              </a:rPr>
              <a:t>异常的“多态”特性</a:t>
            </a:r>
            <a:endParaRPr lang="en-US" altLang="zh-CN" b="0" kern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US" b="0" kern="0" dirty="0">
                <a:ea typeface="黑体" panose="02010609060101010101" pitchFamily="49" charset="-122"/>
                <a:cs typeface="Times New Roman" panose="02020603050405020304" pitchFamily="18" charset="0"/>
              </a:rPr>
              <a:t>可以有多个</a:t>
            </a:r>
            <a:r>
              <a:rPr lang="en-US" altLang="zh-CN" b="0" kern="0" dirty="0">
                <a:ea typeface="黑体" panose="02010609060101010101" pitchFamily="49" charset="-122"/>
                <a:cs typeface="Times New Roman" panose="02020603050405020304" pitchFamily="18" charset="0"/>
              </a:rPr>
              <a:t>catch</a:t>
            </a:r>
            <a:r>
              <a:rPr lang="zh-CN" altLang="en-US" b="0" kern="0" dirty="0">
                <a:ea typeface="黑体" panose="02010609060101010101" pitchFamily="49" charset="-122"/>
                <a:cs typeface="Times New Roman" panose="02020603050405020304" pitchFamily="18" charset="0"/>
              </a:rPr>
              <a:t>语句块，每个代码块捕获一种异常。</a:t>
            </a:r>
            <a:endParaRPr lang="en-US" altLang="zh-CN" b="0" kern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US" b="0" kern="0" dirty="0">
                <a:ea typeface="黑体" panose="02010609060101010101" pitchFamily="49" charset="-122"/>
                <a:cs typeface="Times New Roman" panose="02020603050405020304" pitchFamily="18" charset="0"/>
              </a:rPr>
              <a:t>在某个</a:t>
            </a:r>
            <a:r>
              <a:rPr lang="en-US" altLang="zh-CN" b="0" kern="0" dirty="0">
                <a:ea typeface="黑体" panose="02010609060101010101" pitchFamily="49" charset="-122"/>
                <a:cs typeface="Times New Roman" panose="02020603050405020304" pitchFamily="18" charset="0"/>
              </a:rPr>
              <a:t>try</a:t>
            </a:r>
            <a:r>
              <a:rPr lang="zh-CN" altLang="en-US" b="0" kern="0" dirty="0">
                <a:ea typeface="黑体" panose="02010609060101010101" pitchFamily="49" charset="-122"/>
                <a:cs typeface="Times New Roman" panose="02020603050405020304" pitchFamily="18" charset="0"/>
              </a:rPr>
              <a:t>块后有两个不同的</a:t>
            </a:r>
            <a:r>
              <a:rPr lang="en-US" altLang="zh-CN" b="0" kern="0" dirty="0">
                <a:ea typeface="黑体" panose="02010609060101010101" pitchFamily="49" charset="-122"/>
                <a:cs typeface="Times New Roman" panose="02020603050405020304" pitchFamily="18" charset="0"/>
              </a:rPr>
              <a:t>catch</a:t>
            </a:r>
            <a:r>
              <a:rPr lang="zh-CN" altLang="en-US" b="0" kern="0" dirty="0">
                <a:ea typeface="黑体" panose="02010609060101010101" pitchFamily="49" charset="-122"/>
                <a:cs typeface="Times New Roman" panose="02020603050405020304" pitchFamily="18" charset="0"/>
              </a:rPr>
              <a:t>块捕获两个相同类型的异常是语法错误。</a:t>
            </a:r>
            <a:endParaRPr lang="en-US" altLang="zh-CN" b="0" kern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US" b="0" kern="0" dirty="0">
                <a:ea typeface="黑体" panose="02010609060101010101" pitchFamily="49" charset="-122"/>
                <a:cs typeface="Times New Roman" panose="02020603050405020304" pitchFamily="18" charset="0"/>
              </a:rPr>
              <a:t>使用</a:t>
            </a:r>
            <a:r>
              <a:rPr lang="en-US" altLang="zh-CN" b="0" kern="0" dirty="0">
                <a:ea typeface="黑体" panose="02010609060101010101" pitchFamily="49" charset="-122"/>
                <a:cs typeface="Times New Roman" panose="02020603050405020304" pitchFamily="18" charset="0"/>
              </a:rPr>
              <a:t>catch</a:t>
            </a:r>
            <a:r>
              <a:rPr lang="zh-CN" altLang="en-US" b="0" kern="0" dirty="0">
                <a:ea typeface="黑体" panose="02010609060101010101" pitchFamily="49" charset="-122"/>
                <a:cs typeface="Times New Roman" panose="02020603050405020304" pitchFamily="18" charset="0"/>
              </a:rPr>
              <a:t>语句，只能捕获</a:t>
            </a:r>
            <a:r>
              <a:rPr lang="en-US" altLang="zh-CN" b="0" kern="0" dirty="0">
                <a:ea typeface="黑体" panose="02010609060101010101" pitchFamily="49" charset="-122"/>
                <a:cs typeface="Times New Roman" panose="02020603050405020304" pitchFamily="18" charset="0"/>
              </a:rPr>
              <a:t>Exception</a:t>
            </a:r>
            <a:r>
              <a:rPr lang="zh-CN" altLang="en-US" b="0" kern="0" dirty="0">
                <a:ea typeface="黑体" panose="02010609060101010101" pitchFamily="49" charset="-122"/>
                <a:cs typeface="Times New Roman" panose="02020603050405020304" pitchFamily="18" charset="0"/>
              </a:rPr>
              <a:t>类及其子类的对象。因此，一个捕获</a:t>
            </a:r>
            <a:r>
              <a:rPr lang="en-US" altLang="zh-CN" b="0" kern="0" dirty="0">
                <a:ea typeface="黑体" panose="02010609060101010101" pitchFamily="49" charset="-122"/>
                <a:cs typeface="Times New Roman" panose="02020603050405020304" pitchFamily="18" charset="0"/>
              </a:rPr>
              <a:t>Exception</a:t>
            </a:r>
            <a:r>
              <a:rPr lang="zh-CN" altLang="en-US" b="0" kern="0" dirty="0">
                <a:ea typeface="黑体" panose="02010609060101010101" pitchFamily="49" charset="-122"/>
                <a:cs typeface="Times New Roman" panose="02020603050405020304" pitchFamily="18" charset="0"/>
              </a:rPr>
              <a:t>对象的</a:t>
            </a:r>
            <a:r>
              <a:rPr lang="en-US" altLang="zh-CN" b="0" kern="0" dirty="0">
                <a:ea typeface="黑体" panose="02010609060101010101" pitchFamily="49" charset="-122"/>
                <a:cs typeface="Times New Roman" panose="02020603050405020304" pitchFamily="18" charset="0"/>
              </a:rPr>
              <a:t>catch</a:t>
            </a:r>
            <a:r>
              <a:rPr lang="zh-CN" altLang="en-US" b="0" kern="0" dirty="0">
                <a:ea typeface="黑体" panose="02010609060101010101" pitchFamily="49" charset="-122"/>
                <a:cs typeface="Times New Roman" panose="02020603050405020304" pitchFamily="18" charset="0"/>
              </a:rPr>
              <a:t>语句块可以捕获所有“可捕获”的异常。</a:t>
            </a:r>
            <a:endParaRPr lang="en-US" altLang="zh-CN" b="0" kern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US" b="0" kern="0" dirty="0">
                <a:ea typeface="黑体" panose="02010609060101010101" pitchFamily="49" charset="-122"/>
                <a:cs typeface="Times New Roman" panose="02020603050405020304" pitchFamily="18" charset="0"/>
              </a:rPr>
              <a:t>将</a:t>
            </a:r>
            <a:r>
              <a:rPr lang="en-US" altLang="zh-CN" b="0" kern="0" dirty="0">
                <a:ea typeface="黑体" panose="02010609060101010101" pitchFamily="49" charset="-122"/>
                <a:cs typeface="Times New Roman" panose="02020603050405020304" pitchFamily="18" charset="0"/>
              </a:rPr>
              <a:t>catch (Exception e)</a:t>
            </a:r>
            <a:r>
              <a:rPr lang="zh-CN" altLang="en-US" b="0" kern="0" dirty="0">
                <a:ea typeface="黑体" panose="02010609060101010101" pitchFamily="49" charset="-122"/>
                <a:cs typeface="Times New Roman" panose="02020603050405020304" pitchFamily="18" charset="0"/>
              </a:rPr>
              <a:t>放在别的</a:t>
            </a:r>
            <a:r>
              <a:rPr lang="en-US" altLang="zh-CN" b="0" kern="0" dirty="0">
                <a:ea typeface="黑体" panose="02010609060101010101" pitchFamily="49" charset="-122"/>
                <a:cs typeface="Times New Roman" panose="02020603050405020304" pitchFamily="18" charset="0"/>
              </a:rPr>
              <a:t>catch</a:t>
            </a:r>
            <a:r>
              <a:rPr lang="zh-CN" altLang="en-US" b="0" kern="0" dirty="0">
                <a:ea typeface="黑体" panose="02010609060101010101" pitchFamily="49" charset="-122"/>
                <a:cs typeface="Times New Roman" panose="02020603050405020304" pitchFamily="18" charset="0"/>
              </a:rPr>
              <a:t>块前面会使这些</a:t>
            </a:r>
            <a:r>
              <a:rPr lang="en-US" altLang="zh-CN" b="0" kern="0" dirty="0">
                <a:ea typeface="黑体" panose="02010609060101010101" pitchFamily="49" charset="-122"/>
                <a:cs typeface="Times New Roman" panose="02020603050405020304" pitchFamily="18" charset="0"/>
              </a:rPr>
              <a:t>catch</a:t>
            </a:r>
            <a:r>
              <a:rPr lang="zh-CN" altLang="en-US" b="0" kern="0" dirty="0">
                <a:ea typeface="黑体" panose="02010609060101010101" pitchFamily="49" charset="-122"/>
                <a:cs typeface="Times New Roman" panose="02020603050405020304" pitchFamily="18" charset="0"/>
              </a:rPr>
              <a:t>块都不执行，因此，</a:t>
            </a:r>
            <a:r>
              <a:rPr lang="en-US" altLang="zh-CN" b="0" kern="0" dirty="0">
                <a:ea typeface="黑体" panose="02010609060101010101" pitchFamily="49" charset="-122"/>
                <a:cs typeface="Times New Roman" panose="02020603050405020304" pitchFamily="18" charset="0"/>
              </a:rPr>
              <a:t>Java</a:t>
            </a:r>
            <a:r>
              <a:rPr lang="zh-CN" altLang="en-US" b="0" kern="0" dirty="0">
                <a:ea typeface="黑体" panose="02010609060101010101" pitchFamily="49" charset="-122"/>
                <a:cs typeface="Times New Roman" panose="02020603050405020304" pitchFamily="18" charset="0"/>
              </a:rPr>
              <a:t>不会编译这个程序。</a:t>
            </a:r>
          </a:p>
        </p:txBody>
      </p:sp>
    </p:spTree>
    <p:extLst>
      <p:ext uri="{BB962C8B-B14F-4D97-AF65-F5344CB8AC3E}">
        <p14:creationId xmlns:p14="http://schemas.microsoft.com/office/powerpoint/2010/main" val="122854558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标题 1"/>
          <p:cNvSpPr>
            <a:spLocks noGrp="1"/>
          </p:cNvSpPr>
          <p:nvPr>
            <p:ph type="title" idx="4294967295"/>
          </p:nvPr>
        </p:nvSpPr>
        <p:spPr>
          <a:xfrm>
            <a:off x="468313" y="-26988"/>
            <a:ext cx="7543800" cy="719138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举例：声明、抛出和捕获异常</a:t>
            </a:r>
          </a:p>
        </p:txBody>
      </p:sp>
      <p:sp>
        <p:nvSpPr>
          <p:cNvPr id="56323" name="Rectangle 4"/>
          <p:cNvSpPr>
            <a:spLocks noChangeArrowheads="1"/>
          </p:cNvSpPr>
          <p:nvPr/>
        </p:nvSpPr>
        <p:spPr bwMode="auto">
          <a:xfrm>
            <a:off x="-36513" y="-26988"/>
            <a:ext cx="9577388" cy="6884988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 class 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CircleWithException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{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private double 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radius;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private static </a:t>
            </a:r>
            <a:r>
              <a:rPr lang="en-US" altLang="zh-CN" sz="1600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numberOfObjects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0;</a:t>
            </a:r>
          </a:p>
          <a:p>
            <a:pPr eaLnBrk="1" hangingPunct="1"/>
            <a:endParaRPr lang="en-US" altLang="zh-CN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CircleWithException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() {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this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(1.0);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pPr eaLnBrk="1" hangingPunct="1"/>
            <a:endParaRPr lang="en-US" altLang="zh-CN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CircleWithException</a:t>
            </a:r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(double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newRadius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) {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setRadius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newRadius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numberOfObjects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++;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pPr eaLnBrk="1" hangingPunct="1"/>
            <a:endParaRPr lang="en-US" altLang="zh-CN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 double 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getRadius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() {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radius;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pPr eaLnBrk="1" hangingPunct="1"/>
            <a:endParaRPr lang="en-US" altLang="zh-CN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 void 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setRadius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double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newRadius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throws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IllegalArgumentException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if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(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newRadius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&gt;= 0)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radius = 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newRadius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else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</a:t>
            </a:r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throw new 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IllegalArgumentException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("Radius cannot be negative");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pPr eaLnBrk="1" hangingPunct="1"/>
            <a:endParaRPr lang="en-US" altLang="zh-CN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 static </a:t>
            </a:r>
            <a:r>
              <a:rPr lang="en-US" altLang="zh-CN" sz="1600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getNumberOfObjects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(){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numberOfObjects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/>
          <p:cNvSpPr>
            <a:spLocks noChangeArrowheads="1"/>
          </p:cNvSpPr>
          <p:nvPr/>
        </p:nvSpPr>
        <p:spPr bwMode="auto">
          <a:xfrm>
            <a:off x="34925" y="260350"/>
            <a:ext cx="8964613" cy="4681538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 class 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TestCircleWithException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 static void main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(String[] 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args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{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try 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{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CircleWithException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c1 = </a:t>
            </a:r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new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CircleWithException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(5);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CircleWithException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c2 = </a:t>
            </a:r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new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CircleWithException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(-5);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CircleWithException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c3 = </a:t>
            </a:r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new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CircleWithException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(0);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}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catch 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IllegalArgumentException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ex) 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{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System.out.println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(ex);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}</a:t>
            </a:r>
          </a:p>
          <a:p>
            <a:pPr eaLnBrk="1" hangingPunct="1"/>
            <a:endParaRPr lang="en-US" altLang="zh-CN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System.out.println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("Number of objects created: " +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          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CircleWithException.getNumberOfObjects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());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57347" name="TextBox 4"/>
          <p:cNvSpPr txBox="1">
            <a:spLocks noChangeArrowheads="1"/>
          </p:cNvSpPr>
          <p:nvPr/>
        </p:nvSpPr>
        <p:spPr bwMode="auto">
          <a:xfrm>
            <a:off x="715168" y="5229200"/>
            <a:ext cx="77136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执行程序后，输出结果为：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/>
          <p:cNvSpPr>
            <a:spLocks noChangeArrowheads="1"/>
          </p:cNvSpPr>
          <p:nvPr/>
        </p:nvSpPr>
        <p:spPr bwMode="auto">
          <a:xfrm>
            <a:off x="34925" y="260350"/>
            <a:ext cx="8964613" cy="4681538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 class 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TestCircleWithException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 static void main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(String[] 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args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{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try 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{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CircleWithException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c1 = </a:t>
            </a:r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new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CircleWithException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(5);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CircleWithException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c2 = </a:t>
            </a:r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new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CircleWithException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(-5);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CircleWithException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c3 = </a:t>
            </a:r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new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CircleWithException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(0);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}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catch 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IllegalArgumentException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ex) 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{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System.out.println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(ex);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}</a:t>
            </a:r>
          </a:p>
          <a:p>
            <a:pPr eaLnBrk="1" hangingPunct="1"/>
            <a:endParaRPr lang="en-US" altLang="zh-CN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System.out.println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("Number of objects created: " +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          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CircleWithException.getNumberOfObjects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());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57347" name="TextBox 4"/>
          <p:cNvSpPr txBox="1">
            <a:spLocks noChangeArrowheads="1"/>
          </p:cNvSpPr>
          <p:nvPr/>
        </p:nvSpPr>
        <p:spPr bwMode="auto">
          <a:xfrm>
            <a:off x="715168" y="5229200"/>
            <a:ext cx="7713663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执行程序后，输出结果为：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 sz="2000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java.lang.IllegalArgumentException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Radius cannot be negative</a:t>
            </a:r>
          </a:p>
          <a:p>
            <a:pPr eaLnBrk="1" hangingPunct="1"/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Number of objects created: 1</a:t>
            </a: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440373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标题 1"/>
          <p:cNvSpPr>
            <a:spLocks noGrp="1"/>
          </p:cNvSpPr>
          <p:nvPr>
            <p:ph type="title" idx="4294967295"/>
          </p:nvPr>
        </p:nvSpPr>
        <p:spPr>
          <a:xfrm>
            <a:off x="395536" y="189310"/>
            <a:ext cx="7543800" cy="647402"/>
          </a:xfrm>
        </p:spPr>
        <p:txBody>
          <a:bodyPr/>
          <a:lstStyle/>
          <a:p>
            <a:r>
              <a:rPr lang="zh-CN" altLang="en-US" sz="3200" b="0" dirty="0">
                <a:latin typeface="黑体" panose="02010609060101010101" pitchFamily="49" charset="-122"/>
                <a:ea typeface="黑体" panose="02010609060101010101" pitchFamily="49" charset="-122"/>
              </a:rPr>
              <a:t>捕获或声明必检异常</a:t>
            </a:r>
          </a:p>
        </p:txBody>
      </p:sp>
      <p:sp>
        <p:nvSpPr>
          <p:cNvPr id="55299" name="内容占位符 2"/>
          <p:cNvSpPr>
            <a:spLocks noGrp="1"/>
          </p:cNvSpPr>
          <p:nvPr>
            <p:ph idx="4294967295"/>
          </p:nvPr>
        </p:nvSpPr>
        <p:spPr>
          <a:xfrm>
            <a:off x="468313" y="981075"/>
            <a:ext cx="7471023" cy="2159893"/>
          </a:xfrm>
        </p:spPr>
        <p:txBody>
          <a:bodyPr/>
          <a:lstStyle/>
          <a:p>
            <a:r>
              <a:rPr lang="en-US" altLang="zh-CN" sz="2000" b="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Java</a:t>
            </a:r>
            <a:r>
              <a:rPr lang="zh-CN" altLang="en-US" sz="2000" b="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强迫程序员处理必检异常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。如果方法声明了一个必检异常（即</a:t>
            </a:r>
            <a:r>
              <a:rPr lang="en-US" altLang="zh-CN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Error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Runtime-Exception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之外的异常），必须</a:t>
            </a:r>
            <a:r>
              <a:rPr lang="en-US" altLang="zh-CN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zh-CN" altLang="en-US" sz="2000" b="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000" b="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try-catch</a:t>
            </a:r>
            <a:r>
              <a:rPr lang="zh-CN" altLang="en-US" sz="2000" b="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块中捕获它</a:t>
            </a:r>
            <a:endParaRPr lang="en-US" sz="2000" b="0" dirty="0">
              <a:solidFill>
                <a:srgbClr val="0000FF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US" sz="2000" b="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或者在调用它的方法中再次声明该异常</a:t>
            </a:r>
            <a:endParaRPr lang="en-US" sz="2000" b="0" dirty="0">
              <a:solidFill>
                <a:srgbClr val="0000FF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例，假定方法</a:t>
            </a:r>
            <a:r>
              <a:rPr lang="en-US" altLang="zh-CN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p1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调用方法</a:t>
            </a:r>
            <a:r>
              <a:rPr lang="en-US" altLang="zh-CN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p2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p2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可能抛出一个必检异常（比如：</a:t>
            </a:r>
            <a:r>
              <a:rPr lang="en-US" altLang="zh-CN" sz="2000" b="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IOException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）：</a:t>
            </a:r>
          </a:p>
          <a:p>
            <a:endParaRPr lang="zh-CN" altLang="en-US" sz="2400" dirty="0">
              <a:ea typeface="宋体" panose="02010600030101010101" pitchFamily="2" charset="-122"/>
            </a:endParaRPr>
          </a:p>
        </p:txBody>
      </p:sp>
      <p:sp>
        <p:nvSpPr>
          <p:cNvPr id="55300" name="Rectangle 4"/>
          <p:cNvSpPr>
            <a:spLocks noChangeArrowheads="1"/>
          </p:cNvSpPr>
          <p:nvPr/>
        </p:nvSpPr>
        <p:spPr bwMode="auto">
          <a:xfrm>
            <a:off x="483466" y="3285330"/>
            <a:ext cx="3960813" cy="316865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sz="1600" b="1" dirty="0">
                <a:solidFill>
                  <a:srgbClr val="006600"/>
                </a:solidFill>
              </a:rPr>
              <a:t>// </a:t>
            </a:r>
            <a:r>
              <a:rPr lang="zh-CN" altLang="en-US" sz="1600" b="1" dirty="0">
                <a:solidFill>
                  <a:srgbClr val="006600"/>
                </a:solidFill>
              </a:rPr>
              <a:t>写法一：</a:t>
            </a:r>
            <a:endParaRPr lang="en-US" sz="1600" b="1" dirty="0">
              <a:solidFill>
                <a:srgbClr val="0066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1600" b="1" dirty="0">
                <a:solidFill>
                  <a:srgbClr val="006600"/>
                </a:solidFill>
              </a:rPr>
              <a:t>// </a:t>
            </a:r>
            <a:r>
              <a:rPr lang="zh-CN" altLang="en-US" sz="1600" b="1" dirty="0">
                <a:solidFill>
                  <a:srgbClr val="006600"/>
                </a:solidFill>
              </a:rPr>
              <a:t>在 </a:t>
            </a:r>
            <a:r>
              <a:rPr lang="en-US" altLang="zh-CN" sz="1600" b="1" dirty="0">
                <a:solidFill>
                  <a:srgbClr val="006600"/>
                </a:solidFill>
              </a:rPr>
              <a:t>p1 </a:t>
            </a:r>
            <a:r>
              <a:rPr lang="zh-CN" altLang="en-US" sz="1600" b="1" dirty="0">
                <a:solidFill>
                  <a:srgbClr val="006600"/>
                </a:solidFill>
              </a:rPr>
              <a:t>中，使用 </a:t>
            </a:r>
            <a:r>
              <a:rPr lang="en-US" altLang="zh-CN" sz="1600" b="1" dirty="0">
                <a:solidFill>
                  <a:srgbClr val="006600"/>
                </a:solidFill>
              </a:rPr>
              <a:t>try...catch </a:t>
            </a:r>
            <a:r>
              <a:rPr lang="zh-CN" altLang="en-US" sz="1600" b="1" dirty="0">
                <a:solidFill>
                  <a:srgbClr val="006600"/>
                </a:solidFill>
              </a:rPr>
              <a:t>捕获异常</a:t>
            </a:r>
            <a:endParaRPr lang="en-US" sz="1600" b="1" dirty="0">
              <a:solidFill>
                <a:srgbClr val="0066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1600" b="1" dirty="0">
                <a:solidFill>
                  <a:srgbClr val="006600"/>
                </a:solidFill>
              </a:rPr>
              <a:t>// </a:t>
            </a:r>
            <a:r>
              <a:rPr lang="zh-CN" altLang="en-US" sz="1600" b="1" dirty="0">
                <a:solidFill>
                  <a:srgbClr val="006600"/>
                </a:solidFill>
              </a:rPr>
              <a:t>并处理之</a:t>
            </a:r>
            <a:endParaRPr lang="en-US" sz="1600" b="1" dirty="0">
              <a:solidFill>
                <a:srgbClr val="0066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1600" b="1" dirty="0">
                <a:solidFill>
                  <a:srgbClr val="0000FF"/>
                </a:solidFill>
              </a:rPr>
              <a:t>void</a:t>
            </a:r>
            <a:r>
              <a:rPr lang="en-US" altLang="zh-CN" sz="1600" b="1" dirty="0"/>
              <a:t> p1()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1600" b="1" dirty="0"/>
              <a:t>{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1600" b="1" dirty="0"/>
              <a:t>    </a:t>
            </a:r>
            <a:r>
              <a:rPr lang="en-US" altLang="zh-CN" sz="1600" b="1" dirty="0">
                <a:solidFill>
                  <a:srgbClr val="0000FF"/>
                </a:solidFill>
              </a:rPr>
              <a:t>try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1600" b="1" dirty="0"/>
              <a:t>    {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1600" b="1" dirty="0"/>
              <a:t>        p2();  </a:t>
            </a:r>
            <a:r>
              <a:rPr lang="en-US" altLang="zh-CN" sz="1600" b="1" dirty="0">
                <a:solidFill>
                  <a:srgbClr val="006600"/>
                </a:solidFill>
              </a:rPr>
              <a:t>// </a:t>
            </a:r>
            <a:r>
              <a:rPr lang="zh-CN" altLang="en-US" sz="1600" b="1" dirty="0">
                <a:solidFill>
                  <a:srgbClr val="006600"/>
                </a:solidFill>
              </a:rPr>
              <a:t>调用 </a:t>
            </a:r>
            <a:r>
              <a:rPr lang="en-US" altLang="zh-CN" sz="1600" b="1" dirty="0">
                <a:solidFill>
                  <a:srgbClr val="006600"/>
                </a:solidFill>
              </a:rPr>
              <a:t>p2() </a:t>
            </a:r>
            <a:r>
              <a:rPr lang="zh-CN" altLang="en-US" sz="1600" b="1" dirty="0">
                <a:solidFill>
                  <a:srgbClr val="006600"/>
                </a:solidFill>
              </a:rPr>
              <a:t>这个方法</a:t>
            </a:r>
            <a:endParaRPr lang="en-US" sz="1600" b="1" dirty="0">
              <a:solidFill>
                <a:srgbClr val="0066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sz="1600" b="1" dirty="0"/>
              <a:t>    </a:t>
            </a:r>
            <a:r>
              <a:rPr lang="en-US" altLang="zh-CN" sz="1600" b="1" dirty="0"/>
              <a:t>}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b="1" dirty="0"/>
              <a:t>    </a:t>
            </a:r>
            <a:r>
              <a:rPr lang="en-US" altLang="zh-CN" sz="1600" b="1" dirty="0">
                <a:solidFill>
                  <a:srgbClr val="0000FF"/>
                </a:solidFill>
              </a:rPr>
              <a:t>catch</a:t>
            </a:r>
            <a:r>
              <a:rPr lang="en-US" altLang="zh-CN" sz="1600" b="1" dirty="0"/>
              <a:t> (</a:t>
            </a:r>
            <a:r>
              <a:rPr lang="en-US" altLang="zh-CN" sz="1600" b="1" dirty="0" err="1"/>
              <a:t>IOException</a:t>
            </a:r>
            <a:r>
              <a:rPr lang="en-US" altLang="zh-CN" sz="1600" b="1" dirty="0"/>
              <a:t> ex)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1600" b="1" dirty="0"/>
              <a:t>    {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1600" b="1" dirty="0"/>
              <a:t>        // process ex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1600" b="1" dirty="0"/>
              <a:t>    }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1600" b="1" dirty="0"/>
              <a:t>}</a:t>
            </a:r>
          </a:p>
          <a:p>
            <a:pPr eaLnBrk="1" hangingPunct="1"/>
            <a:endParaRPr lang="en-US" altLang="zh-CN" sz="1200" b="1" dirty="0"/>
          </a:p>
        </p:txBody>
      </p:sp>
      <p:sp>
        <p:nvSpPr>
          <p:cNvPr id="55301" name="Rectangle 4"/>
          <p:cNvSpPr>
            <a:spLocks noChangeArrowheads="1"/>
          </p:cNvSpPr>
          <p:nvPr/>
        </p:nvSpPr>
        <p:spPr bwMode="auto">
          <a:xfrm>
            <a:off x="4788024" y="3284984"/>
            <a:ext cx="3983037" cy="158432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006600"/>
                </a:solidFill>
              </a:rPr>
              <a:t>// </a:t>
            </a:r>
            <a:r>
              <a:rPr lang="zh-CN" altLang="en-US" sz="1600" b="1" dirty="0">
                <a:solidFill>
                  <a:srgbClr val="006600"/>
                </a:solidFill>
              </a:rPr>
              <a:t>写法二：</a:t>
            </a:r>
            <a:endParaRPr lang="en-US" sz="1600" b="1" dirty="0">
              <a:solidFill>
                <a:srgbClr val="006600"/>
              </a:solidFill>
            </a:endParaRPr>
          </a:p>
          <a:p>
            <a:pPr eaLnBrk="1" hangingPunct="1"/>
            <a:r>
              <a:rPr lang="en-US" altLang="zh-CN" sz="1600" b="1" dirty="0">
                <a:solidFill>
                  <a:srgbClr val="006600"/>
                </a:solidFill>
              </a:rPr>
              <a:t>// </a:t>
            </a:r>
            <a:r>
              <a:rPr lang="zh-CN" altLang="en-US" sz="1600" b="1" dirty="0">
                <a:solidFill>
                  <a:srgbClr val="006600"/>
                </a:solidFill>
              </a:rPr>
              <a:t>在 </a:t>
            </a:r>
            <a:r>
              <a:rPr lang="en-US" altLang="zh-CN" sz="1600" b="1" dirty="0">
                <a:solidFill>
                  <a:srgbClr val="006600"/>
                </a:solidFill>
              </a:rPr>
              <a:t>p1 </a:t>
            </a:r>
            <a:r>
              <a:rPr lang="zh-CN" altLang="en-US" sz="1600" b="1" dirty="0">
                <a:solidFill>
                  <a:srgbClr val="006600"/>
                </a:solidFill>
              </a:rPr>
              <a:t>中，不捕获异常，再次声明该异常</a:t>
            </a:r>
            <a:endParaRPr lang="en-US" sz="1600" b="1" dirty="0">
              <a:solidFill>
                <a:srgbClr val="006600"/>
              </a:solidFill>
            </a:endParaRPr>
          </a:p>
          <a:p>
            <a:pPr eaLnBrk="1" hangingPunct="1"/>
            <a:r>
              <a:rPr lang="en-US" altLang="zh-CN" sz="1600" b="1" dirty="0">
                <a:solidFill>
                  <a:srgbClr val="0000FF"/>
                </a:solidFill>
              </a:rPr>
              <a:t>void</a:t>
            </a:r>
            <a:r>
              <a:rPr lang="en-US" altLang="zh-CN" sz="1600" b="1" dirty="0"/>
              <a:t> p1() </a:t>
            </a:r>
            <a:r>
              <a:rPr lang="en-US" altLang="zh-CN" sz="1600" b="1" dirty="0">
                <a:solidFill>
                  <a:srgbClr val="0000FF"/>
                </a:solidFill>
              </a:rPr>
              <a:t>throws</a:t>
            </a:r>
            <a:r>
              <a:rPr lang="en-US" altLang="zh-CN" sz="1600" b="1" dirty="0"/>
              <a:t> </a:t>
            </a:r>
            <a:r>
              <a:rPr lang="en-US" altLang="zh-CN" sz="1600" b="1" dirty="0" err="1"/>
              <a:t>IOException</a:t>
            </a:r>
            <a:endParaRPr lang="en-US" altLang="zh-CN" sz="1600" b="1" dirty="0"/>
          </a:p>
          <a:p>
            <a:pPr eaLnBrk="1" hangingPunct="1"/>
            <a:r>
              <a:rPr lang="en-US" altLang="zh-CN" sz="1600" b="1" dirty="0"/>
              <a:t>{</a:t>
            </a:r>
          </a:p>
          <a:p>
            <a:pPr eaLnBrk="1" hangingPunct="1"/>
            <a:r>
              <a:rPr lang="en-US" altLang="zh-CN" sz="1600" b="1" dirty="0"/>
              <a:t>    p2(); </a:t>
            </a:r>
            <a:r>
              <a:rPr lang="en-US" altLang="zh-CN" sz="1600" b="1" dirty="0">
                <a:solidFill>
                  <a:srgbClr val="006600"/>
                </a:solidFill>
              </a:rPr>
              <a:t>// </a:t>
            </a:r>
            <a:r>
              <a:rPr lang="zh-CN" altLang="en-US" sz="1600" b="1" dirty="0">
                <a:solidFill>
                  <a:srgbClr val="006600"/>
                </a:solidFill>
              </a:rPr>
              <a:t>调用 </a:t>
            </a:r>
            <a:r>
              <a:rPr lang="en-US" altLang="zh-CN" sz="1600" b="1" dirty="0">
                <a:solidFill>
                  <a:srgbClr val="006600"/>
                </a:solidFill>
              </a:rPr>
              <a:t>p2() </a:t>
            </a:r>
            <a:r>
              <a:rPr lang="zh-CN" altLang="en-US" sz="1600" b="1" dirty="0">
                <a:solidFill>
                  <a:srgbClr val="006600"/>
                </a:solidFill>
              </a:rPr>
              <a:t>这个方法</a:t>
            </a:r>
            <a:endParaRPr lang="en-US" sz="1600" b="1" dirty="0"/>
          </a:p>
          <a:p>
            <a:pPr eaLnBrk="1" hangingPunct="1"/>
            <a:r>
              <a:rPr lang="en-US" altLang="zh-CN" sz="1600" b="1" dirty="0"/>
              <a:t>}</a:t>
            </a:r>
          </a:p>
        </p:txBody>
      </p:sp>
      <p:sp>
        <p:nvSpPr>
          <p:cNvPr id="55302" name="Rectangle 4"/>
          <p:cNvSpPr>
            <a:spLocks noChangeArrowheads="1"/>
          </p:cNvSpPr>
          <p:nvPr/>
        </p:nvSpPr>
        <p:spPr bwMode="auto">
          <a:xfrm>
            <a:off x="4800724" y="5013325"/>
            <a:ext cx="3970337" cy="144065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006600"/>
                </a:solidFill>
              </a:rPr>
              <a:t>// p2 </a:t>
            </a:r>
            <a:r>
              <a:rPr lang="zh-CN" altLang="en-US" sz="1600" b="1" dirty="0">
                <a:solidFill>
                  <a:srgbClr val="006600"/>
                </a:solidFill>
              </a:rPr>
              <a:t>声明了一个 </a:t>
            </a:r>
            <a:r>
              <a:rPr lang="en-US" altLang="zh-CN" sz="1600" b="1" dirty="0" err="1">
                <a:solidFill>
                  <a:srgbClr val="006600"/>
                </a:solidFill>
              </a:rPr>
              <a:t>IOException</a:t>
            </a:r>
            <a:r>
              <a:rPr lang="en-US" altLang="zh-CN" sz="1600" b="1" dirty="0">
                <a:solidFill>
                  <a:srgbClr val="006600"/>
                </a:solidFill>
              </a:rPr>
              <a:t> </a:t>
            </a:r>
            <a:r>
              <a:rPr lang="zh-CN" altLang="en-US" sz="1600" b="1" dirty="0">
                <a:solidFill>
                  <a:srgbClr val="006600"/>
                </a:solidFill>
              </a:rPr>
              <a:t>异常</a:t>
            </a:r>
            <a:endParaRPr lang="en-US" sz="1600" b="1" dirty="0">
              <a:solidFill>
                <a:srgbClr val="006600"/>
              </a:solidFill>
            </a:endParaRPr>
          </a:p>
          <a:p>
            <a:pPr eaLnBrk="1" hangingPunct="1"/>
            <a:r>
              <a:rPr lang="en-US" altLang="zh-CN" sz="1600" b="1" dirty="0">
                <a:solidFill>
                  <a:srgbClr val="0000FF"/>
                </a:solidFill>
              </a:rPr>
              <a:t>void</a:t>
            </a:r>
            <a:r>
              <a:rPr lang="en-US" altLang="zh-CN" sz="1600" b="1" dirty="0"/>
              <a:t> p2() </a:t>
            </a:r>
            <a:r>
              <a:rPr lang="en-US" altLang="zh-CN" sz="1600" b="1" dirty="0">
                <a:solidFill>
                  <a:srgbClr val="0000FF"/>
                </a:solidFill>
              </a:rPr>
              <a:t>throws</a:t>
            </a:r>
            <a:r>
              <a:rPr lang="en-US" altLang="zh-CN" sz="1600" b="1" dirty="0"/>
              <a:t> </a:t>
            </a:r>
            <a:r>
              <a:rPr lang="en-US" altLang="zh-CN" sz="1600" b="1" dirty="0" err="1"/>
              <a:t>IOException</a:t>
            </a:r>
            <a:endParaRPr lang="en-US" altLang="zh-CN" sz="1600" b="1" dirty="0"/>
          </a:p>
          <a:p>
            <a:pPr eaLnBrk="1" hangingPunct="1"/>
            <a:r>
              <a:rPr lang="en-US" altLang="zh-CN" sz="1600" b="1" dirty="0"/>
              <a:t>{</a:t>
            </a:r>
          </a:p>
          <a:p>
            <a:pPr eaLnBrk="1" hangingPunct="1"/>
            <a:r>
              <a:rPr lang="en-US" altLang="zh-CN" sz="1600" b="1" dirty="0"/>
              <a:t>}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标题 1"/>
          <p:cNvSpPr>
            <a:spLocks noGrp="1"/>
          </p:cNvSpPr>
          <p:nvPr>
            <p:ph type="title" idx="4294967295"/>
          </p:nvPr>
        </p:nvSpPr>
        <p:spPr>
          <a:xfrm>
            <a:off x="468313" y="116632"/>
            <a:ext cx="7543800" cy="647402"/>
          </a:xfrm>
        </p:spPr>
        <p:txBody>
          <a:bodyPr/>
          <a:lstStyle/>
          <a:p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Finally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子句</a:t>
            </a:r>
          </a:p>
        </p:txBody>
      </p:sp>
      <p:sp>
        <p:nvSpPr>
          <p:cNvPr id="58371" name="内容占位符 2"/>
          <p:cNvSpPr>
            <a:spLocks noGrp="1"/>
          </p:cNvSpPr>
          <p:nvPr>
            <p:ph idx="4294967295"/>
          </p:nvPr>
        </p:nvSpPr>
        <p:spPr>
          <a:xfrm>
            <a:off x="323528" y="981075"/>
            <a:ext cx="7704087" cy="1007765"/>
          </a:xfrm>
        </p:spPr>
        <p:txBody>
          <a:bodyPr/>
          <a:lstStyle/>
          <a:p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不论异常是否出现</a:t>
            </a:r>
            <a:r>
              <a:rPr lang="zh-CN" altLang="en-US" sz="2400" b="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或者是否被捕获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，都希望执行某些代码。Java有一个finally子句可以用来达到这一目的。</a:t>
            </a:r>
          </a:p>
        </p:txBody>
      </p:sp>
      <p:sp>
        <p:nvSpPr>
          <p:cNvPr id="58372" name="Rectangle 4"/>
          <p:cNvSpPr>
            <a:spLocks noChangeArrowheads="1"/>
          </p:cNvSpPr>
          <p:nvPr/>
        </p:nvSpPr>
        <p:spPr bwMode="auto">
          <a:xfrm>
            <a:off x="1187624" y="2006956"/>
            <a:ext cx="6240463" cy="388937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try 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{  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statements;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catch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TheException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ex) 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{ 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handling ex; 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finally 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{ 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finalStatements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; 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endParaRPr lang="en-US" altLang="zh-CN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标题 1"/>
          <p:cNvSpPr>
            <a:spLocks noGrp="1"/>
          </p:cNvSpPr>
          <p:nvPr>
            <p:ph type="title" idx="4294967295"/>
          </p:nvPr>
        </p:nvSpPr>
        <p:spPr>
          <a:xfrm>
            <a:off x="468313" y="188913"/>
            <a:ext cx="7543800" cy="647799"/>
          </a:xfrm>
        </p:spPr>
        <p:txBody>
          <a:bodyPr/>
          <a:lstStyle/>
          <a:p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例子</a:t>
            </a:r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59395" name="Rectangle 4"/>
          <p:cNvSpPr>
            <a:spLocks noChangeArrowheads="1"/>
          </p:cNvSpPr>
          <p:nvPr/>
        </p:nvSpPr>
        <p:spPr bwMode="auto">
          <a:xfrm>
            <a:off x="1339850" y="1903413"/>
            <a:ext cx="3770313" cy="352107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>
                <a:solidFill>
                  <a:srgbClr val="0000FF"/>
                </a:solidFill>
                <a:latin typeface="Courier New" panose="02070309020205020404" pitchFamily="49" charset="0"/>
              </a:rPr>
              <a:t>try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{ 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statements;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r>
              <a:rPr lang="en-US" altLang="zh-CN" sz="1600" b="1">
                <a:solidFill>
                  <a:srgbClr val="0000FF"/>
                </a:solidFill>
                <a:latin typeface="Courier New" panose="02070309020205020404" pitchFamily="49" charset="0"/>
              </a:rPr>
              <a:t>catch</a:t>
            </a:r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(TheException ex)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{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handling ex;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r>
              <a:rPr lang="en-US" altLang="zh-CN" sz="1600" b="1">
                <a:solidFill>
                  <a:srgbClr val="0000FF"/>
                </a:solidFill>
                <a:latin typeface="Courier New" panose="02070309020205020404" pitchFamily="49" charset="0"/>
              </a:rPr>
              <a:t>finally</a:t>
            </a:r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{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finalStatements;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endParaRPr lang="en-US" altLang="zh-CN" sz="16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Next statetments</a:t>
            </a:r>
          </a:p>
          <a:p>
            <a:pPr eaLnBrk="1" hangingPunct="1"/>
            <a:endParaRPr lang="en-US" altLang="zh-CN" sz="1600" b="1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59396" name="矩形 4"/>
          <p:cNvSpPr>
            <a:spLocks noChangeArrowheads="1"/>
          </p:cNvSpPr>
          <p:nvPr/>
        </p:nvSpPr>
        <p:spPr bwMode="auto">
          <a:xfrm>
            <a:off x="1677988" y="2379663"/>
            <a:ext cx="2706687" cy="338137"/>
          </a:xfrm>
          <a:prstGeom prst="rect">
            <a:avLst/>
          </a:prstGeom>
          <a:solidFill>
            <a:srgbClr val="FF0000">
              <a:alpha val="2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600">
              <a:solidFill>
                <a:srgbClr val="FFFFFF"/>
              </a:solidFill>
            </a:endParaRPr>
          </a:p>
        </p:txBody>
      </p:sp>
      <p:sp>
        <p:nvSpPr>
          <p:cNvPr id="59397" name="TextBox 5"/>
          <p:cNvSpPr txBox="1">
            <a:spLocks noChangeArrowheads="1"/>
          </p:cNvSpPr>
          <p:nvPr/>
        </p:nvSpPr>
        <p:spPr bwMode="auto">
          <a:xfrm>
            <a:off x="5360987" y="1641475"/>
            <a:ext cx="2651125" cy="400110"/>
          </a:xfrm>
          <a:prstGeom prst="rect">
            <a:avLst/>
          </a:prstGeom>
          <a:gradFill rotWithShape="1">
            <a:gsLst>
              <a:gs pos="0">
                <a:srgbClr val="B9DBDB"/>
              </a:gs>
              <a:gs pos="35001">
                <a:srgbClr val="CEE5E5"/>
              </a:gs>
              <a:gs pos="100000">
                <a:srgbClr val="ECF5F5"/>
              </a:gs>
            </a:gsLst>
            <a:lin ang="5400000" scaled="1"/>
          </a:gradFill>
          <a:ln w="9525">
            <a:solidFill>
              <a:srgbClr val="598888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假设语句中没有异常</a:t>
            </a:r>
          </a:p>
        </p:txBody>
      </p:sp>
      <p:cxnSp>
        <p:nvCxnSpPr>
          <p:cNvPr id="59398" name="直接箭头连接符 6"/>
          <p:cNvCxnSpPr>
            <a:cxnSpLocks noChangeShapeType="1"/>
            <a:stCxn id="59397" idx="1"/>
            <a:endCxn id="59396" idx="3"/>
          </p:cNvCxnSpPr>
          <p:nvPr/>
        </p:nvCxnSpPr>
        <p:spPr bwMode="auto">
          <a:xfrm flipH="1">
            <a:off x="4384675" y="1841530"/>
            <a:ext cx="976312" cy="707202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" name="直接连接符 6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标题 1"/>
          <p:cNvSpPr>
            <a:spLocks noGrp="1"/>
          </p:cNvSpPr>
          <p:nvPr>
            <p:ph type="title" idx="4294967295"/>
          </p:nvPr>
        </p:nvSpPr>
        <p:spPr>
          <a:xfrm>
            <a:off x="468313" y="188913"/>
            <a:ext cx="7543800" cy="647799"/>
          </a:xfrm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例子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60419" name="Rectangle 4"/>
          <p:cNvSpPr>
            <a:spLocks noChangeArrowheads="1"/>
          </p:cNvSpPr>
          <p:nvPr/>
        </p:nvSpPr>
        <p:spPr bwMode="auto">
          <a:xfrm>
            <a:off x="1339850" y="1903413"/>
            <a:ext cx="3770313" cy="352107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>
                <a:solidFill>
                  <a:srgbClr val="0000FF"/>
                </a:solidFill>
                <a:latin typeface="Courier New" panose="02070309020205020404" pitchFamily="49" charset="0"/>
              </a:rPr>
              <a:t>try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{ 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statements;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r>
              <a:rPr lang="en-US" altLang="zh-CN" sz="1600" b="1">
                <a:solidFill>
                  <a:srgbClr val="0000FF"/>
                </a:solidFill>
                <a:latin typeface="Courier New" panose="02070309020205020404" pitchFamily="49" charset="0"/>
              </a:rPr>
              <a:t>catch</a:t>
            </a:r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(TheException ex)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{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handling ex;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r>
              <a:rPr lang="en-US" altLang="zh-CN" sz="1600" b="1">
                <a:solidFill>
                  <a:srgbClr val="0000FF"/>
                </a:solidFill>
                <a:latin typeface="Courier New" panose="02070309020205020404" pitchFamily="49" charset="0"/>
              </a:rPr>
              <a:t>finally</a:t>
            </a:r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{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finalStatements;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endParaRPr lang="en-US" altLang="zh-CN" sz="16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Next statetments</a:t>
            </a:r>
          </a:p>
          <a:p>
            <a:pPr eaLnBrk="1" hangingPunct="1"/>
            <a:endParaRPr lang="en-US" altLang="zh-CN" sz="1600" b="1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60420" name="矩形 4"/>
          <p:cNvSpPr>
            <a:spLocks noChangeArrowheads="1"/>
          </p:cNvSpPr>
          <p:nvPr/>
        </p:nvSpPr>
        <p:spPr bwMode="auto">
          <a:xfrm>
            <a:off x="1677988" y="4333875"/>
            <a:ext cx="2706687" cy="338138"/>
          </a:xfrm>
          <a:prstGeom prst="rect">
            <a:avLst/>
          </a:prstGeom>
          <a:solidFill>
            <a:srgbClr val="FF0000">
              <a:alpha val="2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600">
              <a:solidFill>
                <a:srgbClr val="FFFFFF"/>
              </a:solidFill>
            </a:endParaRPr>
          </a:p>
        </p:txBody>
      </p:sp>
      <p:sp>
        <p:nvSpPr>
          <p:cNvPr id="60421" name="TextBox 5"/>
          <p:cNvSpPr txBox="1">
            <a:spLocks noChangeArrowheads="1"/>
          </p:cNvSpPr>
          <p:nvPr/>
        </p:nvSpPr>
        <p:spPr bwMode="auto">
          <a:xfrm>
            <a:off x="5360987" y="3808413"/>
            <a:ext cx="2651125" cy="400110"/>
          </a:xfrm>
          <a:prstGeom prst="rect">
            <a:avLst/>
          </a:prstGeom>
          <a:gradFill rotWithShape="1">
            <a:gsLst>
              <a:gs pos="0">
                <a:srgbClr val="B9DBDB"/>
              </a:gs>
              <a:gs pos="35001">
                <a:srgbClr val="CEE5E5"/>
              </a:gs>
              <a:gs pos="100000">
                <a:srgbClr val="ECF5F5"/>
              </a:gs>
            </a:gsLst>
            <a:lin ang="5400000" scaled="1"/>
          </a:gradFill>
          <a:ln w="9525">
            <a:solidFill>
              <a:srgbClr val="598888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finally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语句总是被执行</a:t>
            </a:r>
          </a:p>
        </p:txBody>
      </p:sp>
      <p:cxnSp>
        <p:nvCxnSpPr>
          <p:cNvPr id="60422" name="直接箭头连接符 6"/>
          <p:cNvCxnSpPr>
            <a:cxnSpLocks noChangeShapeType="1"/>
            <a:stCxn id="60421" idx="1"/>
            <a:endCxn id="60420" idx="3"/>
          </p:cNvCxnSpPr>
          <p:nvPr/>
        </p:nvCxnSpPr>
        <p:spPr bwMode="auto">
          <a:xfrm flipH="1">
            <a:off x="4384675" y="4008468"/>
            <a:ext cx="976312" cy="494476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" name="直接连接符 6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1"/>
          <p:cNvSpPr>
            <a:spLocks noGrp="1"/>
          </p:cNvSpPr>
          <p:nvPr>
            <p:ph type="title" idx="4294967295"/>
          </p:nvPr>
        </p:nvSpPr>
        <p:spPr>
          <a:xfrm>
            <a:off x="468313" y="188914"/>
            <a:ext cx="7488063" cy="647798"/>
          </a:xfrm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例子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61443" name="Rectangle 4"/>
          <p:cNvSpPr>
            <a:spLocks noChangeArrowheads="1"/>
          </p:cNvSpPr>
          <p:nvPr/>
        </p:nvSpPr>
        <p:spPr bwMode="auto">
          <a:xfrm>
            <a:off x="1339850" y="1903413"/>
            <a:ext cx="3770313" cy="352107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>
                <a:solidFill>
                  <a:srgbClr val="0000FF"/>
                </a:solidFill>
                <a:latin typeface="Courier New" panose="02070309020205020404" pitchFamily="49" charset="0"/>
              </a:rPr>
              <a:t>try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{ 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statements;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r>
              <a:rPr lang="en-US" altLang="zh-CN" sz="1600" b="1">
                <a:solidFill>
                  <a:srgbClr val="0000FF"/>
                </a:solidFill>
                <a:latin typeface="Courier New" panose="02070309020205020404" pitchFamily="49" charset="0"/>
              </a:rPr>
              <a:t>catch</a:t>
            </a:r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(TheException ex)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{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handling ex;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r>
              <a:rPr lang="en-US" altLang="zh-CN" sz="1600" b="1">
                <a:solidFill>
                  <a:srgbClr val="0000FF"/>
                </a:solidFill>
                <a:latin typeface="Courier New" panose="02070309020205020404" pitchFamily="49" charset="0"/>
              </a:rPr>
              <a:t>finally</a:t>
            </a:r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{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finalStatements;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endParaRPr lang="en-US" altLang="zh-CN" sz="16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Next statetments</a:t>
            </a:r>
          </a:p>
          <a:p>
            <a:pPr eaLnBrk="1" hangingPunct="1"/>
            <a:endParaRPr lang="en-US" altLang="zh-CN" sz="1600" b="1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61444" name="矩形 4"/>
          <p:cNvSpPr>
            <a:spLocks noChangeArrowheads="1"/>
          </p:cNvSpPr>
          <p:nvPr/>
        </p:nvSpPr>
        <p:spPr bwMode="auto">
          <a:xfrm>
            <a:off x="1390650" y="5048250"/>
            <a:ext cx="2705100" cy="338138"/>
          </a:xfrm>
          <a:prstGeom prst="rect">
            <a:avLst/>
          </a:prstGeom>
          <a:solidFill>
            <a:srgbClr val="FF0000">
              <a:alpha val="2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600">
              <a:solidFill>
                <a:srgbClr val="FFFFFF"/>
              </a:solidFill>
            </a:endParaRPr>
          </a:p>
        </p:txBody>
      </p:sp>
      <p:sp>
        <p:nvSpPr>
          <p:cNvPr id="61445" name="TextBox 5"/>
          <p:cNvSpPr txBox="1">
            <a:spLocks noChangeArrowheads="1"/>
          </p:cNvSpPr>
          <p:nvPr/>
        </p:nvSpPr>
        <p:spPr bwMode="auto">
          <a:xfrm>
            <a:off x="5360988" y="3808413"/>
            <a:ext cx="2430462" cy="400110"/>
          </a:xfrm>
          <a:prstGeom prst="rect">
            <a:avLst/>
          </a:prstGeom>
          <a:gradFill rotWithShape="1">
            <a:gsLst>
              <a:gs pos="0">
                <a:srgbClr val="B9DBDB"/>
              </a:gs>
              <a:gs pos="35001">
                <a:srgbClr val="CEE5E5"/>
              </a:gs>
              <a:gs pos="100000">
                <a:srgbClr val="ECF5F5"/>
              </a:gs>
            </a:gsLst>
            <a:lin ang="5400000" scaled="1"/>
          </a:gradFill>
          <a:ln w="9525">
            <a:solidFill>
              <a:srgbClr val="598888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继续执行</a:t>
            </a:r>
          </a:p>
        </p:txBody>
      </p:sp>
      <p:cxnSp>
        <p:nvCxnSpPr>
          <p:cNvPr id="61446" name="直接箭头连接符 6"/>
          <p:cNvCxnSpPr>
            <a:cxnSpLocks noChangeShapeType="1"/>
            <a:stCxn id="61445" idx="1"/>
            <a:endCxn id="61444" idx="3"/>
          </p:cNvCxnSpPr>
          <p:nvPr/>
        </p:nvCxnSpPr>
        <p:spPr bwMode="auto">
          <a:xfrm flipH="1">
            <a:off x="4095750" y="4008468"/>
            <a:ext cx="1265238" cy="1208851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" name="直接连接符 6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标题 1"/>
          <p:cNvSpPr>
            <a:spLocks noGrp="1"/>
          </p:cNvSpPr>
          <p:nvPr>
            <p:ph type="title" idx="4294967295"/>
          </p:nvPr>
        </p:nvSpPr>
        <p:spPr>
          <a:xfrm>
            <a:off x="468313" y="188913"/>
            <a:ext cx="7543800" cy="647799"/>
          </a:xfrm>
        </p:spPr>
        <p:txBody>
          <a:bodyPr/>
          <a:lstStyle/>
          <a:p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例子</a:t>
            </a:r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62467" name="Rectangle 4"/>
          <p:cNvSpPr>
            <a:spLocks noChangeArrowheads="1"/>
          </p:cNvSpPr>
          <p:nvPr/>
        </p:nvSpPr>
        <p:spPr bwMode="auto">
          <a:xfrm>
            <a:off x="1339850" y="1903413"/>
            <a:ext cx="3770313" cy="4021137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>
                <a:solidFill>
                  <a:srgbClr val="0000FF"/>
                </a:solidFill>
                <a:latin typeface="Courier New" panose="02070309020205020404" pitchFamily="49" charset="0"/>
              </a:rPr>
              <a:t>try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{ 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statement1;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statement2;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statement3;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r>
              <a:rPr lang="en-US" altLang="zh-CN" sz="1600" b="1">
                <a:solidFill>
                  <a:srgbClr val="0000FF"/>
                </a:solidFill>
                <a:latin typeface="Courier New" panose="02070309020205020404" pitchFamily="49" charset="0"/>
              </a:rPr>
              <a:t>catch</a:t>
            </a:r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(Exception1 ex)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{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handling ex;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r>
              <a:rPr lang="en-US" altLang="zh-CN" sz="1600" b="1">
                <a:solidFill>
                  <a:srgbClr val="0000FF"/>
                </a:solidFill>
                <a:latin typeface="Courier New" panose="02070309020205020404" pitchFamily="49" charset="0"/>
              </a:rPr>
              <a:t>finally</a:t>
            </a:r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{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finalStatements;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endParaRPr lang="en-US" altLang="zh-CN" sz="16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Next statetments</a:t>
            </a:r>
          </a:p>
          <a:p>
            <a:pPr eaLnBrk="1" hangingPunct="1"/>
            <a:endParaRPr lang="en-US" altLang="zh-CN" sz="1600" b="1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62468" name="矩形 4"/>
          <p:cNvSpPr>
            <a:spLocks noChangeArrowheads="1"/>
          </p:cNvSpPr>
          <p:nvPr/>
        </p:nvSpPr>
        <p:spPr bwMode="auto">
          <a:xfrm>
            <a:off x="1754188" y="2405063"/>
            <a:ext cx="2705100" cy="300037"/>
          </a:xfrm>
          <a:prstGeom prst="rect">
            <a:avLst/>
          </a:prstGeom>
          <a:solidFill>
            <a:srgbClr val="FF0000">
              <a:alpha val="2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600">
              <a:solidFill>
                <a:srgbClr val="FFFFFF"/>
              </a:solidFill>
            </a:endParaRPr>
          </a:p>
        </p:txBody>
      </p:sp>
      <p:sp>
        <p:nvSpPr>
          <p:cNvPr id="62469" name="TextBox 5"/>
          <p:cNvSpPr txBox="1">
            <a:spLocks noChangeArrowheads="1"/>
          </p:cNvSpPr>
          <p:nvPr/>
        </p:nvSpPr>
        <p:spPr bwMode="auto">
          <a:xfrm>
            <a:off x="5373687" y="2054225"/>
            <a:ext cx="2638425" cy="400110"/>
          </a:xfrm>
          <a:prstGeom prst="rect">
            <a:avLst/>
          </a:prstGeom>
          <a:gradFill rotWithShape="1">
            <a:gsLst>
              <a:gs pos="0">
                <a:srgbClr val="B9DBDB"/>
              </a:gs>
              <a:gs pos="35001">
                <a:srgbClr val="CEE5E5"/>
              </a:gs>
              <a:gs pos="100000">
                <a:srgbClr val="ECF5F5"/>
              </a:gs>
            </a:gsLst>
            <a:lin ang="5400000" scaled="1"/>
          </a:gradFill>
          <a:ln w="9525">
            <a:solidFill>
              <a:srgbClr val="598888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statement1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中没有异常</a:t>
            </a:r>
          </a:p>
        </p:txBody>
      </p:sp>
      <p:cxnSp>
        <p:nvCxnSpPr>
          <p:cNvPr id="62470" name="直接箭头连接符 6"/>
          <p:cNvCxnSpPr>
            <a:cxnSpLocks noChangeShapeType="1"/>
            <a:stCxn id="62469" idx="1"/>
            <a:endCxn id="62468" idx="3"/>
          </p:cNvCxnSpPr>
          <p:nvPr/>
        </p:nvCxnSpPr>
        <p:spPr bwMode="auto">
          <a:xfrm flipH="1">
            <a:off x="4459288" y="2254280"/>
            <a:ext cx="914399" cy="300802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" name="直接连接符 6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标题 1"/>
          <p:cNvSpPr>
            <a:spLocks noGrp="1"/>
          </p:cNvSpPr>
          <p:nvPr>
            <p:ph type="title" idx="4294967295"/>
          </p:nvPr>
        </p:nvSpPr>
        <p:spPr>
          <a:xfrm>
            <a:off x="468313" y="188913"/>
            <a:ext cx="7543800" cy="647799"/>
          </a:xfrm>
        </p:spPr>
        <p:txBody>
          <a:bodyPr/>
          <a:lstStyle/>
          <a:p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例子</a:t>
            </a:r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63491" name="Rectangle 4"/>
          <p:cNvSpPr>
            <a:spLocks noChangeArrowheads="1"/>
          </p:cNvSpPr>
          <p:nvPr/>
        </p:nvSpPr>
        <p:spPr bwMode="auto">
          <a:xfrm>
            <a:off x="1339850" y="1903413"/>
            <a:ext cx="3770313" cy="4021137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>
                <a:solidFill>
                  <a:srgbClr val="0000FF"/>
                </a:solidFill>
                <a:latin typeface="Courier New" panose="02070309020205020404" pitchFamily="49" charset="0"/>
              </a:rPr>
              <a:t>try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{ 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statement1;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statement2;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statement3;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r>
              <a:rPr lang="en-US" altLang="zh-CN" sz="1600" b="1">
                <a:solidFill>
                  <a:srgbClr val="0000FF"/>
                </a:solidFill>
                <a:latin typeface="Courier New" panose="02070309020205020404" pitchFamily="49" charset="0"/>
              </a:rPr>
              <a:t>catch</a:t>
            </a:r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(Exception1 ex)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{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handling ex;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r>
              <a:rPr lang="en-US" altLang="zh-CN" sz="1600" b="1">
                <a:solidFill>
                  <a:srgbClr val="0000FF"/>
                </a:solidFill>
                <a:latin typeface="Courier New" panose="02070309020205020404" pitchFamily="49" charset="0"/>
              </a:rPr>
              <a:t>finally</a:t>
            </a:r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{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finalStatements;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endParaRPr lang="en-US" altLang="zh-CN" sz="16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Next statetments</a:t>
            </a:r>
          </a:p>
          <a:p>
            <a:pPr eaLnBrk="1" hangingPunct="1"/>
            <a:endParaRPr lang="en-US" altLang="zh-CN" sz="1600" b="1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63492" name="矩形 4"/>
          <p:cNvSpPr>
            <a:spLocks noChangeArrowheads="1"/>
          </p:cNvSpPr>
          <p:nvPr/>
        </p:nvSpPr>
        <p:spPr bwMode="auto">
          <a:xfrm>
            <a:off x="1754188" y="2668588"/>
            <a:ext cx="2705100" cy="300037"/>
          </a:xfrm>
          <a:prstGeom prst="rect">
            <a:avLst/>
          </a:prstGeom>
          <a:solidFill>
            <a:srgbClr val="FF0000">
              <a:alpha val="2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600">
              <a:solidFill>
                <a:srgbClr val="FFFFFF"/>
              </a:solidFill>
            </a:endParaRPr>
          </a:p>
        </p:txBody>
      </p:sp>
      <p:sp>
        <p:nvSpPr>
          <p:cNvPr id="63493" name="TextBox 5"/>
          <p:cNvSpPr txBox="1">
            <a:spLocks noChangeArrowheads="1"/>
          </p:cNvSpPr>
          <p:nvPr/>
        </p:nvSpPr>
        <p:spPr bwMode="auto">
          <a:xfrm>
            <a:off x="5373688" y="2054225"/>
            <a:ext cx="2870720" cy="1015663"/>
          </a:xfrm>
          <a:prstGeom prst="rect">
            <a:avLst/>
          </a:prstGeom>
          <a:gradFill rotWithShape="1">
            <a:gsLst>
              <a:gs pos="0">
                <a:srgbClr val="B9DBDB"/>
              </a:gs>
              <a:gs pos="35001">
                <a:srgbClr val="CEE5E5"/>
              </a:gs>
              <a:gs pos="100000">
                <a:srgbClr val="ECF5F5"/>
              </a:gs>
            </a:gsLst>
            <a:lin ang="5400000" scaled="1"/>
          </a:gradFill>
          <a:ln w="9525">
            <a:solidFill>
              <a:srgbClr val="598888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假设在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statement2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中发生了一个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Exception1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类型的异常</a:t>
            </a:r>
          </a:p>
        </p:txBody>
      </p:sp>
      <p:cxnSp>
        <p:nvCxnSpPr>
          <p:cNvPr id="63494" name="直接箭头连接符 6"/>
          <p:cNvCxnSpPr>
            <a:cxnSpLocks noChangeShapeType="1"/>
            <a:stCxn id="63493" idx="1"/>
            <a:endCxn id="63492" idx="3"/>
          </p:cNvCxnSpPr>
          <p:nvPr/>
        </p:nvCxnSpPr>
        <p:spPr bwMode="auto">
          <a:xfrm flipH="1">
            <a:off x="4459288" y="2562057"/>
            <a:ext cx="914400" cy="25655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" name="直接连接符 6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标题 1"/>
          <p:cNvSpPr>
            <a:spLocks noGrp="1"/>
          </p:cNvSpPr>
          <p:nvPr>
            <p:ph type="title" idx="4294967295"/>
          </p:nvPr>
        </p:nvSpPr>
        <p:spPr>
          <a:xfrm>
            <a:off x="468313" y="188913"/>
            <a:ext cx="7543800" cy="647799"/>
          </a:xfrm>
        </p:spPr>
        <p:txBody>
          <a:bodyPr/>
          <a:lstStyle/>
          <a:p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例子</a:t>
            </a:r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64515" name="Rectangle 4"/>
          <p:cNvSpPr>
            <a:spLocks noChangeArrowheads="1"/>
          </p:cNvSpPr>
          <p:nvPr/>
        </p:nvSpPr>
        <p:spPr bwMode="auto">
          <a:xfrm>
            <a:off x="1339850" y="1903413"/>
            <a:ext cx="3770313" cy="4021137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>
                <a:solidFill>
                  <a:srgbClr val="0000FF"/>
                </a:solidFill>
                <a:latin typeface="Courier New" panose="02070309020205020404" pitchFamily="49" charset="0"/>
              </a:rPr>
              <a:t>try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{ 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statement1;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statement2;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statement3;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r>
              <a:rPr lang="en-US" altLang="zh-CN" sz="1600" b="1">
                <a:solidFill>
                  <a:srgbClr val="0000FF"/>
                </a:solidFill>
                <a:latin typeface="Courier New" panose="02070309020205020404" pitchFamily="49" charset="0"/>
              </a:rPr>
              <a:t>catch</a:t>
            </a:r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(Exception1 ex)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{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handling ex;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r>
              <a:rPr lang="en-US" altLang="zh-CN" sz="1600" b="1">
                <a:solidFill>
                  <a:srgbClr val="0000FF"/>
                </a:solidFill>
                <a:latin typeface="Courier New" panose="02070309020205020404" pitchFamily="49" charset="0"/>
              </a:rPr>
              <a:t>finally</a:t>
            </a:r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{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finalStatements;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endParaRPr lang="en-US" altLang="zh-CN" sz="16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Next statetments</a:t>
            </a:r>
          </a:p>
          <a:p>
            <a:pPr eaLnBrk="1" hangingPunct="1"/>
            <a:endParaRPr lang="en-US" altLang="zh-CN" sz="1600" b="1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64516" name="矩形 4"/>
          <p:cNvSpPr>
            <a:spLocks noChangeArrowheads="1"/>
          </p:cNvSpPr>
          <p:nvPr/>
        </p:nvSpPr>
        <p:spPr bwMode="auto">
          <a:xfrm>
            <a:off x="1754188" y="3857625"/>
            <a:ext cx="2705100" cy="301625"/>
          </a:xfrm>
          <a:prstGeom prst="rect">
            <a:avLst/>
          </a:prstGeom>
          <a:solidFill>
            <a:srgbClr val="FF0000">
              <a:alpha val="2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600">
              <a:solidFill>
                <a:srgbClr val="FFFFFF"/>
              </a:solidFill>
            </a:endParaRPr>
          </a:p>
        </p:txBody>
      </p:sp>
      <p:sp>
        <p:nvSpPr>
          <p:cNvPr id="64517" name="TextBox 5"/>
          <p:cNvSpPr txBox="1">
            <a:spLocks noChangeArrowheads="1"/>
          </p:cNvSpPr>
          <p:nvPr/>
        </p:nvSpPr>
        <p:spPr bwMode="auto">
          <a:xfrm>
            <a:off x="5373688" y="2479675"/>
            <a:ext cx="2430462" cy="400110"/>
          </a:xfrm>
          <a:prstGeom prst="rect">
            <a:avLst/>
          </a:prstGeom>
          <a:gradFill rotWithShape="1">
            <a:gsLst>
              <a:gs pos="0">
                <a:srgbClr val="B9DBDB"/>
              </a:gs>
              <a:gs pos="35001">
                <a:srgbClr val="CEE5E5"/>
              </a:gs>
              <a:gs pos="100000">
                <a:srgbClr val="ECF5F5"/>
              </a:gs>
            </a:gsLst>
            <a:lin ang="5400000" scaled="1"/>
          </a:gradFill>
          <a:ln w="9525">
            <a:solidFill>
              <a:srgbClr val="598888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处理异常</a:t>
            </a:r>
          </a:p>
        </p:txBody>
      </p:sp>
      <p:cxnSp>
        <p:nvCxnSpPr>
          <p:cNvPr id="64518" name="直接箭头连接符 6"/>
          <p:cNvCxnSpPr>
            <a:cxnSpLocks noChangeShapeType="1"/>
            <a:stCxn id="64517" idx="1"/>
            <a:endCxn id="64516" idx="3"/>
          </p:cNvCxnSpPr>
          <p:nvPr/>
        </p:nvCxnSpPr>
        <p:spPr bwMode="auto">
          <a:xfrm flipH="1">
            <a:off x="4459288" y="2679730"/>
            <a:ext cx="914400" cy="1328708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" name="直接连接符 6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标题 1"/>
          <p:cNvSpPr>
            <a:spLocks noGrp="1"/>
          </p:cNvSpPr>
          <p:nvPr>
            <p:ph type="title" idx="4294967295"/>
          </p:nvPr>
        </p:nvSpPr>
        <p:spPr>
          <a:xfrm>
            <a:off x="468313" y="188913"/>
            <a:ext cx="7543800" cy="625475"/>
          </a:xfrm>
        </p:spPr>
        <p:txBody>
          <a:bodyPr/>
          <a:lstStyle/>
          <a:p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例子</a:t>
            </a:r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65539" name="Rectangle 4"/>
          <p:cNvSpPr>
            <a:spLocks noChangeArrowheads="1"/>
          </p:cNvSpPr>
          <p:nvPr/>
        </p:nvSpPr>
        <p:spPr bwMode="auto">
          <a:xfrm>
            <a:off x="1339850" y="1903413"/>
            <a:ext cx="3770313" cy="4021137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>
                <a:solidFill>
                  <a:srgbClr val="0000FF"/>
                </a:solidFill>
                <a:latin typeface="Courier New" panose="02070309020205020404" pitchFamily="49" charset="0"/>
              </a:rPr>
              <a:t>try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{ 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statement1;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statement2;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statement3;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r>
              <a:rPr lang="en-US" altLang="zh-CN" sz="1600" b="1">
                <a:solidFill>
                  <a:srgbClr val="0000FF"/>
                </a:solidFill>
                <a:latin typeface="Courier New" panose="02070309020205020404" pitchFamily="49" charset="0"/>
              </a:rPr>
              <a:t>catch</a:t>
            </a:r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(Exception1 ex)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{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handling ex;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r>
              <a:rPr lang="en-US" altLang="zh-CN" sz="1600" b="1">
                <a:solidFill>
                  <a:srgbClr val="0000FF"/>
                </a:solidFill>
                <a:latin typeface="Courier New" panose="02070309020205020404" pitchFamily="49" charset="0"/>
              </a:rPr>
              <a:t>finally</a:t>
            </a:r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{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finalStatements;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endParaRPr lang="en-US" altLang="zh-CN" sz="16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Next statetments</a:t>
            </a:r>
          </a:p>
          <a:p>
            <a:pPr eaLnBrk="1" hangingPunct="1"/>
            <a:endParaRPr lang="en-US" altLang="zh-CN" sz="1600" b="1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65540" name="矩形 4"/>
          <p:cNvSpPr>
            <a:spLocks noChangeArrowheads="1"/>
          </p:cNvSpPr>
          <p:nvPr/>
        </p:nvSpPr>
        <p:spPr bwMode="auto">
          <a:xfrm>
            <a:off x="1754188" y="4822825"/>
            <a:ext cx="2705100" cy="300038"/>
          </a:xfrm>
          <a:prstGeom prst="rect">
            <a:avLst/>
          </a:prstGeom>
          <a:solidFill>
            <a:srgbClr val="FF0000">
              <a:alpha val="2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600">
              <a:solidFill>
                <a:srgbClr val="FFFFFF"/>
              </a:solidFill>
            </a:endParaRPr>
          </a:p>
        </p:txBody>
      </p:sp>
      <p:sp>
        <p:nvSpPr>
          <p:cNvPr id="65541" name="TextBox 5"/>
          <p:cNvSpPr txBox="1">
            <a:spLocks noChangeArrowheads="1"/>
          </p:cNvSpPr>
          <p:nvPr/>
        </p:nvSpPr>
        <p:spPr bwMode="auto">
          <a:xfrm>
            <a:off x="5373687" y="3544888"/>
            <a:ext cx="2638425" cy="400110"/>
          </a:xfrm>
          <a:prstGeom prst="rect">
            <a:avLst/>
          </a:prstGeom>
          <a:gradFill rotWithShape="1">
            <a:gsLst>
              <a:gs pos="0">
                <a:srgbClr val="B9DBDB"/>
              </a:gs>
              <a:gs pos="35001">
                <a:srgbClr val="CEE5E5"/>
              </a:gs>
              <a:gs pos="100000">
                <a:srgbClr val="ECF5F5"/>
              </a:gs>
            </a:gsLst>
            <a:lin ang="5400000" scaled="1"/>
          </a:gradFill>
          <a:ln w="9525">
            <a:solidFill>
              <a:srgbClr val="598888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finally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语句总是被执行</a:t>
            </a:r>
          </a:p>
        </p:txBody>
      </p:sp>
      <p:cxnSp>
        <p:nvCxnSpPr>
          <p:cNvPr id="65542" name="直接箭头连接符 6"/>
          <p:cNvCxnSpPr>
            <a:cxnSpLocks noChangeShapeType="1"/>
            <a:stCxn id="65541" idx="1"/>
            <a:endCxn id="65540" idx="3"/>
          </p:cNvCxnSpPr>
          <p:nvPr/>
        </p:nvCxnSpPr>
        <p:spPr bwMode="auto">
          <a:xfrm flipH="1">
            <a:off x="4459288" y="3744943"/>
            <a:ext cx="914399" cy="1227901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" name="直接连接符 6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标题 1"/>
          <p:cNvSpPr>
            <a:spLocks noGrp="1"/>
          </p:cNvSpPr>
          <p:nvPr>
            <p:ph type="title" idx="4294967295"/>
          </p:nvPr>
        </p:nvSpPr>
        <p:spPr>
          <a:xfrm>
            <a:off x="468313" y="188913"/>
            <a:ext cx="7488063" cy="585887"/>
          </a:xfrm>
        </p:spPr>
        <p:txBody>
          <a:bodyPr/>
          <a:lstStyle/>
          <a:p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例子</a:t>
            </a:r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66563" name="Rectangle 4"/>
          <p:cNvSpPr>
            <a:spLocks noChangeArrowheads="1"/>
          </p:cNvSpPr>
          <p:nvPr/>
        </p:nvSpPr>
        <p:spPr bwMode="auto">
          <a:xfrm>
            <a:off x="1339850" y="1903413"/>
            <a:ext cx="3770313" cy="4021137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>
                <a:solidFill>
                  <a:srgbClr val="0000FF"/>
                </a:solidFill>
                <a:latin typeface="Courier New" panose="02070309020205020404" pitchFamily="49" charset="0"/>
              </a:rPr>
              <a:t>try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{ 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statement1;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statement2;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statement3;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r>
              <a:rPr lang="en-US" altLang="zh-CN" sz="1600" b="1">
                <a:solidFill>
                  <a:srgbClr val="0000FF"/>
                </a:solidFill>
                <a:latin typeface="Courier New" panose="02070309020205020404" pitchFamily="49" charset="0"/>
              </a:rPr>
              <a:t>catch</a:t>
            </a:r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(Exception1 ex)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{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handling ex;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r>
              <a:rPr lang="en-US" altLang="zh-CN" sz="1600" b="1">
                <a:solidFill>
                  <a:srgbClr val="0000FF"/>
                </a:solidFill>
                <a:latin typeface="Courier New" panose="02070309020205020404" pitchFamily="49" charset="0"/>
              </a:rPr>
              <a:t>finally</a:t>
            </a:r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{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finalStatements;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endParaRPr lang="en-US" altLang="zh-CN" sz="16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Next statetments</a:t>
            </a:r>
          </a:p>
          <a:p>
            <a:pPr eaLnBrk="1" hangingPunct="1"/>
            <a:endParaRPr lang="en-US" altLang="zh-CN" sz="1600" b="1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66564" name="矩形 4"/>
          <p:cNvSpPr>
            <a:spLocks noChangeArrowheads="1"/>
          </p:cNvSpPr>
          <p:nvPr/>
        </p:nvSpPr>
        <p:spPr bwMode="auto">
          <a:xfrm>
            <a:off x="1377950" y="5561013"/>
            <a:ext cx="2705100" cy="301625"/>
          </a:xfrm>
          <a:prstGeom prst="rect">
            <a:avLst/>
          </a:prstGeom>
          <a:solidFill>
            <a:srgbClr val="FF0000">
              <a:alpha val="2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600">
              <a:solidFill>
                <a:srgbClr val="FFFFFF"/>
              </a:solidFill>
            </a:endParaRPr>
          </a:p>
        </p:txBody>
      </p:sp>
      <p:sp>
        <p:nvSpPr>
          <p:cNvPr id="66565" name="TextBox 5"/>
          <p:cNvSpPr txBox="1">
            <a:spLocks noChangeArrowheads="1"/>
          </p:cNvSpPr>
          <p:nvPr/>
        </p:nvSpPr>
        <p:spPr bwMode="auto">
          <a:xfrm>
            <a:off x="5373688" y="4884738"/>
            <a:ext cx="2430462" cy="400110"/>
          </a:xfrm>
          <a:prstGeom prst="rect">
            <a:avLst/>
          </a:prstGeom>
          <a:gradFill rotWithShape="1">
            <a:gsLst>
              <a:gs pos="0">
                <a:srgbClr val="B9DBDB"/>
              </a:gs>
              <a:gs pos="35001">
                <a:srgbClr val="CEE5E5"/>
              </a:gs>
              <a:gs pos="100000">
                <a:srgbClr val="ECF5F5"/>
              </a:gs>
            </a:gsLst>
            <a:lin ang="5400000" scaled="1"/>
          </a:gradFill>
          <a:ln w="9525">
            <a:solidFill>
              <a:srgbClr val="598888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继续执行执行</a:t>
            </a:r>
          </a:p>
        </p:txBody>
      </p:sp>
      <p:cxnSp>
        <p:nvCxnSpPr>
          <p:cNvPr id="66566" name="直接箭头连接符 6"/>
          <p:cNvCxnSpPr>
            <a:cxnSpLocks noChangeShapeType="1"/>
            <a:stCxn id="66565" idx="1"/>
            <a:endCxn id="66564" idx="3"/>
          </p:cNvCxnSpPr>
          <p:nvPr/>
        </p:nvCxnSpPr>
        <p:spPr bwMode="auto">
          <a:xfrm flipH="1">
            <a:off x="4083050" y="5084793"/>
            <a:ext cx="1290638" cy="627033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" name="直接连接符 6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标题 1"/>
          <p:cNvSpPr>
            <a:spLocks noGrp="1"/>
          </p:cNvSpPr>
          <p:nvPr>
            <p:ph type="title" idx="4294967295"/>
          </p:nvPr>
        </p:nvSpPr>
        <p:spPr>
          <a:xfrm>
            <a:off x="468313" y="188914"/>
            <a:ext cx="7543800" cy="590788"/>
          </a:xfrm>
        </p:spPr>
        <p:txBody>
          <a:bodyPr/>
          <a:lstStyle/>
          <a:p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例子</a:t>
            </a:r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67587" name="Rectangle 4"/>
          <p:cNvSpPr>
            <a:spLocks noChangeArrowheads="1"/>
          </p:cNvSpPr>
          <p:nvPr/>
        </p:nvSpPr>
        <p:spPr bwMode="auto">
          <a:xfrm>
            <a:off x="1339850" y="1290638"/>
            <a:ext cx="3770313" cy="499745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>
                <a:solidFill>
                  <a:srgbClr val="0000FF"/>
                </a:solidFill>
                <a:latin typeface="Courier New" panose="02070309020205020404" pitchFamily="49" charset="0"/>
              </a:rPr>
              <a:t>try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{ 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statement1;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statement2;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statement3;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r>
              <a:rPr lang="en-US" altLang="zh-CN" sz="1600" b="1">
                <a:solidFill>
                  <a:srgbClr val="0000FF"/>
                </a:solidFill>
                <a:latin typeface="Courier New" panose="02070309020205020404" pitchFamily="49" charset="0"/>
              </a:rPr>
              <a:t>catch </a:t>
            </a:r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(Exception1 ex1)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{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handling ex1;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r>
              <a:rPr lang="en-US" altLang="zh-CN" sz="1600" b="1">
                <a:solidFill>
                  <a:srgbClr val="0000FF"/>
                </a:solidFill>
                <a:latin typeface="Courier New" panose="02070309020205020404" pitchFamily="49" charset="0"/>
              </a:rPr>
              <a:t>catch</a:t>
            </a:r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(Exception2 ex2)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handling ex2;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r>
              <a:rPr lang="en-US" altLang="zh-CN" sz="1600" b="1">
                <a:solidFill>
                  <a:srgbClr val="0000FF"/>
                </a:solidFill>
                <a:latin typeface="Courier New" panose="02070309020205020404" pitchFamily="49" charset="0"/>
              </a:rPr>
              <a:t>finally</a:t>
            </a:r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{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finalStatements;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endParaRPr lang="en-US" altLang="zh-CN" sz="16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Next statetments</a:t>
            </a:r>
          </a:p>
          <a:p>
            <a:pPr eaLnBrk="1" hangingPunct="1"/>
            <a:endParaRPr lang="en-US" altLang="zh-CN" sz="1600" b="1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67588" name="矩形 4"/>
          <p:cNvSpPr>
            <a:spLocks noChangeArrowheads="1"/>
          </p:cNvSpPr>
          <p:nvPr/>
        </p:nvSpPr>
        <p:spPr bwMode="auto">
          <a:xfrm>
            <a:off x="1816100" y="2041525"/>
            <a:ext cx="2705100" cy="301625"/>
          </a:xfrm>
          <a:prstGeom prst="rect">
            <a:avLst/>
          </a:prstGeom>
          <a:solidFill>
            <a:srgbClr val="FF0000">
              <a:alpha val="2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600">
              <a:solidFill>
                <a:srgbClr val="FFFFFF"/>
              </a:solidFill>
            </a:endParaRPr>
          </a:p>
        </p:txBody>
      </p:sp>
      <p:sp>
        <p:nvSpPr>
          <p:cNvPr id="67589" name="TextBox 5"/>
          <p:cNvSpPr txBox="1">
            <a:spLocks noChangeArrowheads="1"/>
          </p:cNvSpPr>
          <p:nvPr/>
        </p:nvSpPr>
        <p:spPr bwMode="auto">
          <a:xfrm>
            <a:off x="5511800" y="1541463"/>
            <a:ext cx="2430463" cy="707886"/>
          </a:xfrm>
          <a:prstGeom prst="rect">
            <a:avLst/>
          </a:prstGeom>
          <a:gradFill rotWithShape="1">
            <a:gsLst>
              <a:gs pos="0">
                <a:srgbClr val="B9DBDB"/>
              </a:gs>
              <a:gs pos="35001">
                <a:srgbClr val="CEE5E5"/>
              </a:gs>
              <a:gs pos="100000">
                <a:srgbClr val="ECF5F5"/>
              </a:gs>
            </a:gsLst>
            <a:lin ang="5400000" scaled="1"/>
          </a:gradFill>
          <a:ln w="9525">
            <a:solidFill>
              <a:srgbClr val="598888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statement2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抛出类型为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Exception2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的异常</a:t>
            </a:r>
          </a:p>
        </p:txBody>
      </p:sp>
      <p:cxnSp>
        <p:nvCxnSpPr>
          <p:cNvPr id="67590" name="直接箭头连接符 6"/>
          <p:cNvCxnSpPr>
            <a:cxnSpLocks noChangeShapeType="1"/>
            <a:stCxn id="67589" idx="1"/>
            <a:endCxn id="67588" idx="3"/>
          </p:cNvCxnSpPr>
          <p:nvPr/>
        </p:nvCxnSpPr>
        <p:spPr bwMode="auto">
          <a:xfrm flipH="1">
            <a:off x="4521200" y="1895406"/>
            <a:ext cx="990600" cy="296932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" name="直接连接符 6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标题 1"/>
          <p:cNvSpPr>
            <a:spLocks noGrp="1"/>
          </p:cNvSpPr>
          <p:nvPr>
            <p:ph type="title" idx="4294967295"/>
          </p:nvPr>
        </p:nvSpPr>
        <p:spPr>
          <a:xfrm>
            <a:off x="468313" y="188913"/>
            <a:ext cx="7473950" cy="647799"/>
          </a:xfrm>
        </p:spPr>
        <p:txBody>
          <a:bodyPr/>
          <a:lstStyle/>
          <a:p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例子</a:t>
            </a:r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68611" name="Rectangle 4"/>
          <p:cNvSpPr>
            <a:spLocks noChangeArrowheads="1"/>
          </p:cNvSpPr>
          <p:nvPr/>
        </p:nvSpPr>
        <p:spPr bwMode="auto">
          <a:xfrm>
            <a:off x="1339850" y="1290638"/>
            <a:ext cx="3770313" cy="499745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>
                <a:solidFill>
                  <a:srgbClr val="0000FF"/>
                </a:solidFill>
                <a:latin typeface="Courier New" panose="02070309020205020404" pitchFamily="49" charset="0"/>
              </a:rPr>
              <a:t>try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{ 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statement1;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statement2;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statement3;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r>
              <a:rPr lang="en-US" altLang="zh-CN" sz="1600" b="1">
                <a:solidFill>
                  <a:srgbClr val="0000FF"/>
                </a:solidFill>
                <a:latin typeface="Courier New" panose="02070309020205020404" pitchFamily="49" charset="0"/>
              </a:rPr>
              <a:t>catch </a:t>
            </a:r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(Exception1 ex1)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{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handling ex1;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r>
              <a:rPr lang="en-US" altLang="zh-CN" sz="1600" b="1">
                <a:solidFill>
                  <a:srgbClr val="0000FF"/>
                </a:solidFill>
                <a:latin typeface="Courier New" panose="02070309020205020404" pitchFamily="49" charset="0"/>
              </a:rPr>
              <a:t>catch</a:t>
            </a:r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(Exception2 ex2)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handling ex2;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r>
              <a:rPr lang="en-US" altLang="zh-CN" sz="1600" b="1">
                <a:solidFill>
                  <a:srgbClr val="0000FF"/>
                </a:solidFill>
                <a:latin typeface="Courier New" panose="02070309020205020404" pitchFamily="49" charset="0"/>
              </a:rPr>
              <a:t>finally</a:t>
            </a:r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{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finalStatements;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endParaRPr lang="en-US" altLang="zh-CN" sz="16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Next statetments</a:t>
            </a:r>
          </a:p>
          <a:p>
            <a:pPr eaLnBrk="1" hangingPunct="1"/>
            <a:endParaRPr lang="en-US" altLang="zh-CN" sz="1600" b="1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68612" name="矩形 4"/>
          <p:cNvSpPr>
            <a:spLocks noChangeArrowheads="1"/>
          </p:cNvSpPr>
          <p:nvPr/>
        </p:nvSpPr>
        <p:spPr bwMode="auto">
          <a:xfrm>
            <a:off x="1816100" y="4233863"/>
            <a:ext cx="2705100" cy="300037"/>
          </a:xfrm>
          <a:prstGeom prst="rect">
            <a:avLst/>
          </a:prstGeom>
          <a:solidFill>
            <a:srgbClr val="FF0000">
              <a:alpha val="2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600">
              <a:solidFill>
                <a:srgbClr val="FFFFFF"/>
              </a:solidFill>
            </a:endParaRPr>
          </a:p>
        </p:txBody>
      </p:sp>
      <p:sp>
        <p:nvSpPr>
          <p:cNvPr id="68613" name="TextBox 5"/>
          <p:cNvSpPr txBox="1">
            <a:spLocks noChangeArrowheads="1"/>
          </p:cNvSpPr>
          <p:nvPr/>
        </p:nvSpPr>
        <p:spPr bwMode="auto">
          <a:xfrm>
            <a:off x="5511800" y="3081338"/>
            <a:ext cx="2430463" cy="400110"/>
          </a:xfrm>
          <a:prstGeom prst="rect">
            <a:avLst/>
          </a:prstGeom>
          <a:gradFill rotWithShape="1">
            <a:gsLst>
              <a:gs pos="0">
                <a:srgbClr val="B9DBDB"/>
              </a:gs>
              <a:gs pos="35001">
                <a:srgbClr val="CEE5E5"/>
              </a:gs>
              <a:gs pos="100000">
                <a:srgbClr val="ECF5F5"/>
              </a:gs>
            </a:gsLst>
            <a:lin ang="5400000" scaled="1"/>
          </a:gradFill>
          <a:ln w="9525">
            <a:solidFill>
              <a:srgbClr val="598888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处理异常</a:t>
            </a:r>
          </a:p>
        </p:txBody>
      </p:sp>
      <p:cxnSp>
        <p:nvCxnSpPr>
          <p:cNvPr id="68614" name="直接箭头连接符 6"/>
          <p:cNvCxnSpPr>
            <a:cxnSpLocks noChangeShapeType="1"/>
            <a:stCxn id="68613" idx="1"/>
            <a:endCxn id="68612" idx="3"/>
          </p:cNvCxnSpPr>
          <p:nvPr/>
        </p:nvCxnSpPr>
        <p:spPr bwMode="auto">
          <a:xfrm flipH="1">
            <a:off x="4521200" y="3281393"/>
            <a:ext cx="990600" cy="1102489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" name="直接连接符 6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标题 1"/>
          <p:cNvSpPr>
            <a:spLocks noGrp="1"/>
          </p:cNvSpPr>
          <p:nvPr>
            <p:ph type="title" idx="4294967295"/>
          </p:nvPr>
        </p:nvSpPr>
        <p:spPr>
          <a:xfrm>
            <a:off x="468313" y="188913"/>
            <a:ext cx="7473950" cy="647799"/>
          </a:xfrm>
        </p:spPr>
        <p:txBody>
          <a:bodyPr/>
          <a:lstStyle/>
          <a:p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例子</a:t>
            </a:r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69635" name="Rectangle 4"/>
          <p:cNvSpPr>
            <a:spLocks noChangeArrowheads="1"/>
          </p:cNvSpPr>
          <p:nvPr/>
        </p:nvSpPr>
        <p:spPr bwMode="auto">
          <a:xfrm>
            <a:off x="1339850" y="1290638"/>
            <a:ext cx="3770313" cy="499745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>
                <a:solidFill>
                  <a:srgbClr val="0000FF"/>
                </a:solidFill>
                <a:latin typeface="Courier New" panose="02070309020205020404" pitchFamily="49" charset="0"/>
              </a:rPr>
              <a:t>try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{ 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statement1;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statement2;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statement3;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r>
              <a:rPr lang="en-US" altLang="zh-CN" sz="1600" b="1">
                <a:solidFill>
                  <a:srgbClr val="0000FF"/>
                </a:solidFill>
                <a:latin typeface="Courier New" panose="02070309020205020404" pitchFamily="49" charset="0"/>
              </a:rPr>
              <a:t>catch </a:t>
            </a:r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(Exception1 ex1)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{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handling ex1;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r>
              <a:rPr lang="en-US" altLang="zh-CN" sz="1600" b="1">
                <a:solidFill>
                  <a:srgbClr val="0000FF"/>
                </a:solidFill>
                <a:latin typeface="Courier New" panose="02070309020205020404" pitchFamily="49" charset="0"/>
              </a:rPr>
              <a:t>catch</a:t>
            </a:r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(Exception2 ex2)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handling ex2;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r>
              <a:rPr lang="en-US" altLang="zh-CN" sz="1600" b="1">
                <a:solidFill>
                  <a:srgbClr val="0000FF"/>
                </a:solidFill>
                <a:latin typeface="Courier New" panose="02070309020205020404" pitchFamily="49" charset="0"/>
              </a:rPr>
              <a:t>finally</a:t>
            </a:r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{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finalStatements;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endParaRPr lang="en-US" altLang="zh-CN" sz="16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Next statetments</a:t>
            </a:r>
          </a:p>
          <a:p>
            <a:pPr eaLnBrk="1" hangingPunct="1"/>
            <a:endParaRPr lang="en-US" altLang="zh-CN" sz="1600" b="1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69636" name="矩形 4"/>
          <p:cNvSpPr>
            <a:spLocks noChangeArrowheads="1"/>
          </p:cNvSpPr>
          <p:nvPr/>
        </p:nvSpPr>
        <p:spPr bwMode="auto">
          <a:xfrm>
            <a:off x="1816100" y="5210175"/>
            <a:ext cx="2705100" cy="301625"/>
          </a:xfrm>
          <a:prstGeom prst="rect">
            <a:avLst/>
          </a:prstGeom>
          <a:solidFill>
            <a:srgbClr val="FF0000">
              <a:alpha val="2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600">
              <a:solidFill>
                <a:srgbClr val="FFFFFF"/>
              </a:solidFill>
            </a:endParaRPr>
          </a:p>
        </p:txBody>
      </p:sp>
      <p:sp>
        <p:nvSpPr>
          <p:cNvPr id="69637" name="TextBox 5"/>
          <p:cNvSpPr txBox="1">
            <a:spLocks noChangeArrowheads="1"/>
          </p:cNvSpPr>
          <p:nvPr/>
        </p:nvSpPr>
        <p:spPr bwMode="auto">
          <a:xfrm>
            <a:off x="5511800" y="4146550"/>
            <a:ext cx="2430463" cy="400110"/>
          </a:xfrm>
          <a:prstGeom prst="rect">
            <a:avLst/>
          </a:prstGeom>
          <a:gradFill rotWithShape="1">
            <a:gsLst>
              <a:gs pos="0">
                <a:srgbClr val="B9DBDB"/>
              </a:gs>
              <a:gs pos="35001">
                <a:srgbClr val="CEE5E5"/>
              </a:gs>
              <a:gs pos="100000">
                <a:srgbClr val="ECF5F5"/>
              </a:gs>
            </a:gsLst>
            <a:lin ang="5400000" scaled="1"/>
          </a:gradFill>
          <a:ln w="9525">
            <a:solidFill>
              <a:srgbClr val="598888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finally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总是被执行</a:t>
            </a:r>
          </a:p>
        </p:txBody>
      </p:sp>
      <p:cxnSp>
        <p:nvCxnSpPr>
          <p:cNvPr id="69638" name="直接箭头连接符 6"/>
          <p:cNvCxnSpPr>
            <a:cxnSpLocks noChangeShapeType="1"/>
            <a:stCxn id="69637" idx="1"/>
            <a:endCxn id="69636" idx="3"/>
          </p:cNvCxnSpPr>
          <p:nvPr/>
        </p:nvCxnSpPr>
        <p:spPr bwMode="auto">
          <a:xfrm flipH="1">
            <a:off x="4521200" y="4346605"/>
            <a:ext cx="990600" cy="1014383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" name="直接连接符 6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标题 1"/>
          <p:cNvSpPr>
            <a:spLocks noGrp="1"/>
          </p:cNvSpPr>
          <p:nvPr>
            <p:ph type="title" idx="4294967295"/>
          </p:nvPr>
        </p:nvSpPr>
        <p:spPr>
          <a:xfrm>
            <a:off x="468313" y="188913"/>
            <a:ext cx="7543800" cy="647799"/>
          </a:xfrm>
        </p:spPr>
        <p:txBody>
          <a:bodyPr/>
          <a:lstStyle/>
          <a:p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例子</a:t>
            </a:r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70659" name="Rectangle 4"/>
          <p:cNvSpPr>
            <a:spLocks noChangeArrowheads="1"/>
          </p:cNvSpPr>
          <p:nvPr/>
        </p:nvSpPr>
        <p:spPr bwMode="auto">
          <a:xfrm>
            <a:off x="1339850" y="1290638"/>
            <a:ext cx="3770313" cy="499745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>
                <a:solidFill>
                  <a:srgbClr val="0000FF"/>
                </a:solidFill>
                <a:latin typeface="Courier New" panose="02070309020205020404" pitchFamily="49" charset="0"/>
              </a:rPr>
              <a:t>try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{ 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statement1;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statement2;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statement3;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r>
              <a:rPr lang="en-US" altLang="zh-CN" sz="1600" b="1">
                <a:solidFill>
                  <a:srgbClr val="0000FF"/>
                </a:solidFill>
                <a:latin typeface="Courier New" panose="02070309020205020404" pitchFamily="49" charset="0"/>
              </a:rPr>
              <a:t>catch </a:t>
            </a:r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(Exception1 ex1)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{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handling ex1;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r>
              <a:rPr lang="en-US" altLang="zh-CN" sz="1600" b="1">
                <a:solidFill>
                  <a:srgbClr val="0000FF"/>
                </a:solidFill>
                <a:latin typeface="Courier New" panose="02070309020205020404" pitchFamily="49" charset="0"/>
              </a:rPr>
              <a:t>catch</a:t>
            </a:r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(Exception2 ex2)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handling ex2;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r>
              <a:rPr lang="en-US" altLang="zh-CN" sz="1600" b="1">
                <a:solidFill>
                  <a:srgbClr val="0000FF"/>
                </a:solidFill>
                <a:latin typeface="Courier New" panose="02070309020205020404" pitchFamily="49" charset="0"/>
              </a:rPr>
              <a:t>finally</a:t>
            </a:r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{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finalStatements;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endParaRPr lang="en-US" altLang="zh-CN" sz="16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Next statetments</a:t>
            </a:r>
          </a:p>
          <a:p>
            <a:pPr eaLnBrk="1" hangingPunct="1"/>
            <a:endParaRPr lang="en-US" altLang="zh-CN" sz="1600" b="1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70660" name="矩形 4"/>
          <p:cNvSpPr>
            <a:spLocks noChangeArrowheads="1"/>
          </p:cNvSpPr>
          <p:nvPr/>
        </p:nvSpPr>
        <p:spPr bwMode="auto">
          <a:xfrm>
            <a:off x="1377950" y="5937250"/>
            <a:ext cx="2705100" cy="300038"/>
          </a:xfrm>
          <a:prstGeom prst="rect">
            <a:avLst/>
          </a:prstGeom>
          <a:solidFill>
            <a:srgbClr val="FF0000">
              <a:alpha val="2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600">
              <a:solidFill>
                <a:srgbClr val="FFFFFF"/>
              </a:solidFill>
            </a:endParaRPr>
          </a:p>
        </p:txBody>
      </p:sp>
      <p:sp>
        <p:nvSpPr>
          <p:cNvPr id="70661" name="TextBox 5"/>
          <p:cNvSpPr txBox="1">
            <a:spLocks noChangeArrowheads="1"/>
          </p:cNvSpPr>
          <p:nvPr/>
        </p:nvSpPr>
        <p:spPr bwMode="auto">
          <a:xfrm>
            <a:off x="5511800" y="5022850"/>
            <a:ext cx="2430463" cy="400110"/>
          </a:xfrm>
          <a:prstGeom prst="rect">
            <a:avLst/>
          </a:prstGeom>
          <a:gradFill rotWithShape="1">
            <a:gsLst>
              <a:gs pos="0">
                <a:srgbClr val="B9DBDB"/>
              </a:gs>
              <a:gs pos="35001">
                <a:srgbClr val="CEE5E5"/>
              </a:gs>
              <a:gs pos="100000">
                <a:srgbClr val="ECF5F5"/>
              </a:gs>
            </a:gsLst>
            <a:lin ang="5400000" scaled="1"/>
          </a:gradFill>
          <a:ln w="9525">
            <a:solidFill>
              <a:srgbClr val="598888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继续执行</a:t>
            </a:r>
          </a:p>
        </p:txBody>
      </p:sp>
      <p:cxnSp>
        <p:nvCxnSpPr>
          <p:cNvPr id="70662" name="直接箭头连接符 6"/>
          <p:cNvCxnSpPr>
            <a:cxnSpLocks noChangeShapeType="1"/>
            <a:stCxn id="70661" idx="1"/>
            <a:endCxn id="70660" idx="3"/>
          </p:cNvCxnSpPr>
          <p:nvPr/>
        </p:nvCxnSpPr>
        <p:spPr bwMode="auto">
          <a:xfrm flipH="1">
            <a:off x="4083050" y="5222905"/>
            <a:ext cx="1428750" cy="864364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" name="直接连接符 6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标题 1"/>
          <p:cNvSpPr>
            <a:spLocks noGrp="1"/>
          </p:cNvSpPr>
          <p:nvPr>
            <p:ph type="title" idx="4294967295"/>
          </p:nvPr>
        </p:nvSpPr>
        <p:spPr>
          <a:xfrm>
            <a:off x="468313" y="188914"/>
            <a:ext cx="7543800" cy="590788"/>
          </a:xfrm>
        </p:spPr>
        <p:txBody>
          <a:bodyPr/>
          <a:lstStyle/>
          <a:p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例子</a:t>
            </a:r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67587" name="Rectangle 4"/>
          <p:cNvSpPr>
            <a:spLocks noChangeArrowheads="1"/>
          </p:cNvSpPr>
          <p:nvPr/>
        </p:nvSpPr>
        <p:spPr bwMode="auto">
          <a:xfrm>
            <a:off x="1339850" y="1290638"/>
            <a:ext cx="3770313" cy="499745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>
                <a:solidFill>
                  <a:srgbClr val="0000FF"/>
                </a:solidFill>
                <a:latin typeface="Courier New" panose="02070309020205020404" pitchFamily="49" charset="0"/>
              </a:rPr>
              <a:t>try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{ 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statement1;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statement2;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statement3;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r>
              <a:rPr lang="en-US" altLang="zh-CN" sz="1600" b="1">
                <a:solidFill>
                  <a:srgbClr val="0000FF"/>
                </a:solidFill>
                <a:latin typeface="Courier New" panose="02070309020205020404" pitchFamily="49" charset="0"/>
              </a:rPr>
              <a:t>catch </a:t>
            </a:r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(Exception1 ex1)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{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handling ex1;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r>
              <a:rPr lang="en-US" altLang="zh-CN" sz="1600" b="1">
                <a:solidFill>
                  <a:srgbClr val="0000FF"/>
                </a:solidFill>
                <a:latin typeface="Courier New" panose="02070309020205020404" pitchFamily="49" charset="0"/>
              </a:rPr>
              <a:t>catch</a:t>
            </a:r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(Exception2 ex2)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handling ex2;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r>
              <a:rPr lang="en-US" altLang="zh-CN" sz="1600" b="1">
                <a:solidFill>
                  <a:srgbClr val="0000FF"/>
                </a:solidFill>
                <a:latin typeface="Courier New" panose="02070309020205020404" pitchFamily="49" charset="0"/>
              </a:rPr>
              <a:t>finally</a:t>
            </a:r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{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finalStatements;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endParaRPr lang="en-US" altLang="zh-CN" sz="16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Next statetments</a:t>
            </a:r>
          </a:p>
          <a:p>
            <a:pPr eaLnBrk="1" hangingPunct="1"/>
            <a:endParaRPr lang="en-US" altLang="zh-CN" sz="1600" b="1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67588" name="矩形 4"/>
          <p:cNvSpPr>
            <a:spLocks noChangeArrowheads="1"/>
          </p:cNvSpPr>
          <p:nvPr/>
        </p:nvSpPr>
        <p:spPr bwMode="auto">
          <a:xfrm>
            <a:off x="1691680" y="2276872"/>
            <a:ext cx="2705100" cy="301625"/>
          </a:xfrm>
          <a:prstGeom prst="rect">
            <a:avLst/>
          </a:prstGeom>
          <a:solidFill>
            <a:srgbClr val="FF0000">
              <a:alpha val="2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600">
              <a:solidFill>
                <a:srgbClr val="FFFFFF"/>
              </a:solidFill>
            </a:endParaRPr>
          </a:p>
        </p:txBody>
      </p:sp>
      <p:sp>
        <p:nvSpPr>
          <p:cNvPr id="67589" name="TextBox 5"/>
          <p:cNvSpPr txBox="1">
            <a:spLocks noChangeArrowheads="1"/>
          </p:cNvSpPr>
          <p:nvPr/>
        </p:nvSpPr>
        <p:spPr bwMode="auto">
          <a:xfrm>
            <a:off x="5511800" y="1541463"/>
            <a:ext cx="2430463" cy="707886"/>
          </a:xfrm>
          <a:prstGeom prst="rect">
            <a:avLst/>
          </a:prstGeom>
          <a:gradFill rotWithShape="1">
            <a:gsLst>
              <a:gs pos="0">
                <a:srgbClr val="B9DBDB"/>
              </a:gs>
              <a:gs pos="35001">
                <a:srgbClr val="CEE5E5"/>
              </a:gs>
              <a:gs pos="100000">
                <a:srgbClr val="ECF5F5"/>
              </a:gs>
            </a:gsLst>
            <a:lin ang="5400000" scaled="1"/>
          </a:gradFill>
          <a:ln w="9525">
            <a:solidFill>
              <a:srgbClr val="598888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statement3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抛出类型为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Exception3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的异常</a:t>
            </a:r>
          </a:p>
        </p:txBody>
      </p:sp>
      <p:cxnSp>
        <p:nvCxnSpPr>
          <p:cNvPr id="67590" name="直接箭头连接符 6"/>
          <p:cNvCxnSpPr>
            <a:cxnSpLocks noChangeShapeType="1"/>
            <a:stCxn id="67589" idx="1"/>
            <a:endCxn id="67588" idx="3"/>
          </p:cNvCxnSpPr>
          <p:nvPr/>
        </p:nvCxnSpPr>
        <p:spPr bwMode="auto">
          <a:xfrm flipH="1">
            <a:off x="4396780" y="1895406"/>
            <a:ext cx="1115020" cy="532279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" name="直接连接符 6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501104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标题 1"/>
          <p:cNvSpPr>
            <a:spLocks noGrp="1"/>
          </p:cNvSpPr>
          <p:nvPr>
            <p:ph type="title" idx="4294967295"/>
          </p:nvPr>
        </p:nvSpPr>
        <p:spPr>
          <a:xfrm>
            <a:off x="468313" y="188913"/>
            <a:ext cx="7473950" cy="647799"/>
          </a:xfrm>
        </p:spPr>
        <p:txBody>
          <a:bodyPr/>
          <a:lstStyle/>
          <a:p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例子</a:t>
            </a:r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69635" name="Rectangle 4"/>
          <p:cNvSpPr>
            <a:spLocks noChangeArrowheads="1"/>
          </p:cNvSpPr>
          <p:nvPr/>
        </p:nvSpPr>
        <p:spPr bwMode="auto">
          <a:xfrm>
            <a:off x="1339850" y="1290638"/>
            <a:ext cx="3770313" cy="499745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try 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{  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statement1;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statement2;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statement3;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catch 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(Exception1 ex1) 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{ 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handling ex1; 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catch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(Exception2 ex2)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handling ex2;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finally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{ 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finalStatements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; 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endParaRPr lang="en-US" altLang="zh-CN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Next 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statetments</a:t>
            </a:r>
            <a:endParaRPr lang="en-US" altLang="zh-CN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endParaRPr lang="en-US" altLang="zh-CN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69636" name="矩形 4"/>
          <p:cNvSpPr>
            <a:spLocks noChangeArrowheads="1"/>
          </p:cNvSpPr>
          <p:nvPr/>
        </p:nvSpPr>
        <p:spPr bwMode="auto">
          <a:xfrm>
            <a:off x="1816100" y="5210175"/>
            <a:ext cx="2705100" cy="301625"/>
          </a:xfrm>
          <a:prstGeom prst="rect">
            <a:avLst/>
          </a:prstGeom>
          <a:solidFill>
            <a:srgbClr val="FF0000">
              <a:alpha val="2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600">
              <a:solidFill>
                <a:srgbClr val="FFFFFF"/>
              </a:solidFill>
            </a:endParaRPr>
          </a:p>
        </p:txBody>
      </p:sp>
      <p:sp>
        <p:nvSpPr>
          <p:cNvPr id="69637" name="TextBox 5"/>
          <p:cNvSpPr txBox="1">
            <a:spLocks noChangeArrowheads="1"/>
          </p:cNvSpPr>
          <p:nvPr/>
        </p:nvSpPr>
        <p:spPr bwMode="auto">
          <a:xfrm>
            <a:off x="5511800" y="4146550"/>
            <a:ext cx="2430463" cy="400110"/>
          </a:xfrm>
          <a:prstGeom prst="rect">
            <a:avLst/>
          </a:prstGeom>
          <a:gradFill rotWithShape="1">
            <a:gsLst>
              <a:gs pos="0">
                <a:srgbClr val="B9DBDB"/>
              </a:gs>
              <a:gs pos="35001">
                <a:srgbClr val="CEE5E5"/>
              </a:gs>
              <a:gs pos="100000">
                <a:srgbClr val="ECF5F5"/>
              </a:gs>
            </a:gsLst>
            <a:lin ang="5400000" scaled="1"/>
          </a:gradFill>
          <a:ln w="9525">
            <a:solidFill>
              <a:srgbClr val="598888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finally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总是被执行</a:t>
            </a:r>
          </a:p>
        </p:txBody>
      </p:sp>
      <p:cxnSp>
        <p:nvCxnSpPr>
          <p:cNvPr id="69638" name="直接箭头连接符 6"/>
          <p:cNvCxnSpPr>
            <a:cxnSpLocks noChangeShapeType="1"/>
            <a:stCxn id="69637" idx="1"/>
            <a:endCxn id="69636" idx="3"/>
          </p:cNvCxnSpPr>
          <p:nvPr/>
        </p:nvCxnSpPr>
        <p:spPr bwMode="auto">
          <a:xfrm flipH="1">
            <a:off x="4521200" y="4346605"/>
            <a:ext cx="990600" cy="1014383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" name="直接连接符 6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626132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标题 1"/>
          <p:cNvSpPr>
            <a:spLocks noGrp="1"/>
          </p:cNvSpPr>
          <p:nvPr>
            <p:ph type="title" idx="4294967295"/>
          </p:nvPr>
        </p:nvSpPr>
        <p:spPr>
          <a:xfrm>
            <a:off x="468313" y="188913"/>
            <a:ext cx="7543800" cy="647799"/>
          </a:xfrm>
        </p:spPr>
        <p:txBody>
          <a:bodyPr/>
          <a:lstStyle/>
          <a:p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例子</a:t>
            </a:r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70659" name="Rectangle 4"/>
          <p:cNvSpPr>
            <a:spLocks noChangeArrowheads="1"/>
          </p:cNvSpPr>
          <p:nvPr/>
        </p:nvSpPr>
        <p:spPr bwMode="auto">
          <a:xfrm>
            <a:off x="1339850" y="1290638"/>
            <a:ext cx="3770313" cy="499745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try 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{  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statement1;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statement2;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statement3;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catch 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(Exception1 ex1) 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{ 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handling ex1; 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catch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(Exception2 ex2)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handling ex2;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finally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{ 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finalStatements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; 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endParaRPr lang="en-US" altLang="zh-CN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Next 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statetments</a:t>
            </a:r>
            <a:endParaRPr lang="en-US" altLang="zh-CN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endParaRPr lang="en-US" altLang="zh-CN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70660" name="矩形 4"/>
          <p:cNvSpPr>
            <a:spLocks noChangeArrowheads="1"/>
          </p:cNvSpPr>
          <p:nvPr/>
        </p:nvSpPr>
        <p:spPr bwMode="auto">
          <a:xfrm>
            <a:off x="1377950" y="5937250"/>
            <a:ext cx="2705100" cy="300038"/>
          </a:xfrm>
          <a:prstGeom prst="rect">
            <a:avLst/>
          </a:prstGeom>
          <a:solidFill>
            <a:srgbClr val="FF0000">
              <a:alpha val="2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600">
              <a:solidFill>
                <a:srgbClr val="FFFFFF"/>
              </a:solidFill>
            </a:endParaRPr>
          </a:p>
        </p:txBody>
      </p:sp>
      <p:sp>
        <p:nvSpPr>
          <p:cNvPr id="70661" name="TextBox 5"/>
          <p:cNvSpPr txBox="1">
            <a:spLocks noChangeArrowheads="1"/>
          </p:cNvSpPr>
          <p:nvPr/>
        </p:nvSpPr>
        <p:spPr bwMode="auto">
          <a:xfrm>
            <a:off x="5511800" y="5022850"/>
            <a:ext cx="2430463" cy="400110"/>
          </a:xfrm>
          <a:prstGeom prst="rect">
            <a:avLst/>
          </a:prstGeom>
          <a:gradFill rotWithShape="1">
            <a:gsLst>
              <a:gs pos="0">
                <a:srgbClr val="B9DBDB"/>
              </a:gs>
              <a:gs pos="35001">
                <a:srgbClr val="CEE5E5"/>
              </a:gs>
              <a:gs pos="100000">
                <a:srgbClr val="ECF5F5"/>
              </a:gs>
            </a:gsLst>
            <a:lin ang="5400000" scaled="1"/>
          </a:gradFill>
          <a:ln w="9525">
            <a:solidFill>
              <a:srgbClr val="598888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不会被执行，终止</a:t>
            </a:r>
          </a:p>
        </p:txBody>
      </p:sp>
      <p:cxnSp>
        <p:nvCxnSpPr>
          <p:cNvPr id="70662" name="直接箭头连接符 6"/>
          <p:cNvCxnSpPr>
            <a:cxnSpLocks noChangeShapeType="1"/>
            <a:stCxn id="70661" idx="1"/>
            <a:endCxn id="70660" idx="3"/>
          </p:cNvCxnSpPr>
          <p:nvPr/>
        </p:nvCxnSpPr>
        <p:spPr bwMode="auto">
          <a:xfrm flipH="1">
            <a:off x="4083050" y="5222905"/>
            <a:ext cx="1428750" cy="864364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" name="直接连接符 6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73230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内容占位符 2"/>
          <p:cNvSpPr>
            <a:spLocks noGrp="1"/>
          </p:cNvSpPr>
          <p:nvPr>
            <p:ph idx="4294967295"/>
          </p:nvPr>
        </p:nvSpPr>
        <p:spPr>
          <a:xfrm>
            <a:off x="232852" y="1196752"/>
            <a:ext cx="7956376" cy="4608512"/>
          </a:xfrm>
        </p:spPr>
        <p:txBody>
          <a:bodyPr/>
          <a:lstStyle/>
          <a:p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 </a:t>
            </a:r>
            <a:r>
              <a:rPr lang="zh-CN" altLang="en-US" sz="2000" b="0" dirty="0">
                <a:solidFill>
                  <a:srgbClr val="0099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不抛出异常</a:t>
            </a:r>
            <a:r>
              <a:rPr lang="zh-CN" altLang="en-US" sz="20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0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try</a:t>
            </a:r>
            <a:r>
              <a:rPr lang="zh-CN" altLang="en-US" sz="20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里面的代码、</a:t>
            </a:r>
            <a:r>
              <a:rPr lang="en-US" altLang="zh-CN" sz="20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finally</a:t>
            </a:r>
            <a:r>
              <a:rPr lang="zh-CN" altLang="en-US" sz="20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里面的代码、</a:t>
            </a:r>
            <a:r>
              <a:rPr lang="en-US" altLang="zh-CN" sz="20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finally</a:t>
            </a:r>
            <a:r>
              <a:rPr lang="zh-CN" altLang="en-US" sz="20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以后的代码都将正常执行，而</a:t>
            </a:r>
            <a:r>
              <a:rPr lang="en-US" altLang="zh-CN" sz="20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catch</a:t>
            </a:r>
            <a:r>
              <a:rPr lang="zh-CN" altLang="en-US" sz="20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里面的代码不会执行</a:t>
            </a:r>
            <a:endParaRPr lang="en-US" altLang="zh-CN" sz="2000" b="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sz="2000" b="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0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lang="zh-CN" altLang="en-US" sz="2000" b="0" dirty="0">
                <a:solidFill>
                  <a:srgbClr val="0099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抛出异常且被</a:t>
            </a:r>
            <a:r>
              <a:rPr lang="en-US" altLang="zh-CN" sz="2000" b="0" dirty="0">
                <a:solidFill>
                  <a:srgbClr val="0099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catch</a:t>
            </a:r>
            <a:r>
              <a:rPr lang="zh-CN" altLang="en-US" sz="2000" b="0" dirty="0">
                <a:solidFill>
                  <a:srgbClr val="0099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捕获</a:t>
            </a:r>
            <a:r>
              <a:rPr lang="zh-CN" altLang="en-US" sz="20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0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try</a:t>
            </a:r>
            <a:r>
              <a:rPr lang="zh-CN" altLang="en-US" sz="20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里面的代码部分执行，</a:t>
            </a:r>
            <a:r>
              <a:rPr lang="en-US" altLang="zh-CN" sz="20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catch</a:t>
            </a:r>
            <a:r>
              <a:rPr lang="zh-CN" altLang="en-US" sz="20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里面的代码、</a:t>
            </a:r>
            <a:r>
              <a:rPr lang="en-US" altLang="zh-CN" sz="20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finally</a:t>
            </a:r>
            <a:r>
              <a:rPr lang="zh-CN" altLang="en-US" sz="20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里面的代码、</a:t>
            </a:r>
            <a:r>
              <a:rPr lang="en-US" altLang="zh-CN" sz="20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finally</a:t>
            </a:r>
            <a:r>
              <a:rPr lang="zh-CN" altLang="en-US" sz="20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以后的代码都将正常执行。</a:t>
            </a:r>
            <a:endParaRPr lang="en-US" altLang="zh-CN" sz="2000" b="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sz="2000" b="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</a:t>
            </a:r>
            <a:r>
              <a:rPr lang="zh-CN" altLang="en-US" sz="2000" b="0" dirty="0">
                <a:solidFill>
                  <a:srgbClr val="0099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抛出异常，未被</a:t>
            </a:r>
            <a:r>
              <a:rPr lang="en-US" altLang="zh-CN" sz="2000" b="0" dirty="0">
                <a:solidFill>
                  <a:srgbClr val="0099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catch</a:t>
            </a:r>
            <a:r>
              <a:rPr lang="zh-CN" altLang="en-US" sz="2000" b="0" dirty="0">
                <a:solidFill>
                  <a:srgbClr val="0099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捕获</a:t>
            </a:r>
            <a:r>
              <a:rPr lang="zh-CN" altLang="en-US" sz="20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，但是</a:t>
            </a:r>
            <a:r>
              <a:rPr lang="en-US" altLang="zh-CN" sz="20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finally</a:t>
            </a:r>
            <a:r>
              <a:rPr lang="zh-CN" altLang="en-US" sz="20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仍然会执行，在</a:t>
            </a:r>
            <a:r>
              <a:rPr lang="en-US" altLang="zh-CN" sz="20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finally</a:t>
            </a:r>
            <a:r>
              <a:rPr lang="zh-CN" altLang="en-US" sz="20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后面的语句由于程序已经报错停止，故将不会执行。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">
            <a:extLst>
              <a:ext uri="{FF2B5EF4-FFF2-40B4-BE49-F238E27FC236}">
                <a16:creationId xmlns:a16="http://schemas.microsoft.com/office/drawing/2014/main" id="{F5F159D3-A79C-4E18-93CF-E9A8409BA493}"/>
              </a:ext>
            </a:extLst>
          </p:cNvPr>
          <p:cNvSpPr txBox="1">
            <a:spLocks/>
          </p:cNvSpPr>
          <p:nvPr/>
        </p:nvSpPr>
        <p:spPr bwMode="auto">
          <a:xfrm>
            <a:off x="468313" y="188913"/>
            <a:ext cx="7543800" cy="647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5.2 </a:t>
            </a:r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关于</a:t>
            </a:r>
            <a:r>
              <a:rPr lang="en-US" altLang="zh-CN" sz="32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try catch finally</a:t>
            </a:r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语句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A75DE3C-D500-492F-80D9-F8AB759A44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4252160"/>
            <a:ext cx="5697851" cy="2458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19965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">
            <a:extLst>
              <a:ext uri="{FF2B5EF4-FFF2-40B4-BE49-F238E27FC236}">
                <a16:creationId xmlns:a16="http://schemas.microsoft.com/office/drawing/2014/main" id="{F5F159D3-A79C-4E18-93CF-E9A8409BA493}"/>
              </a:ext>
            </a:extLst>
          </p:cNvPr>
          <p:cNvSpPr txBox="1">
            <a:spLocks/>
          </p:cNvSpPr>
          <p:nvPr/>
        </p:nvSpPr>
        <p:spPr bwMode="auto">
          <a:xfrm>
            <a:off x="468313" y="188913"/>
            <a:ext cx="7543800" cy="647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5.2 </a:t>
            </a:r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关于</a:t>
            </a:r>
            <a:r>
              <a:rPr lang="en-US" altLang="zh-CN" sz="32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try catch finally</a:t>
            </a:r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语句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AF184A9-519F-4337-9180-47F0EE8B2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768" y="1052736"/>
            <a:ext cx="7560840" cy="5359464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public class Tests {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public static void main(String[] 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args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) {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System.out.println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(method1());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System.out.println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(method2());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pPr eaLnBrk="1" hangingPunct="1"/>
            <a:endParaRPr lang="en-US" altLang="zh-CN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public static int method1() {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int num = 10;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try {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System.out.println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(1 / 0);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} catch (Exception e) {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num = 20;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return num;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} finally {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num = 30;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return num;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}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pPr eaLnBrk="1" hangingPunct="1"/>
            <a:endParaRPr lang="en-US" altLang="zh-CN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endParaRPr lang="en-US" altLang="zh-CN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047799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">
            <a:extLst>
              <a:ext uri="{FF2B5EF4-FFF2-40B4-BE49-F238E27FC236}">
                <a16:creationId xmlns:a16="http://schemas.microsoft.com/office/drawing/2014/main" id="{F5F159D3-A79C-4E18-93CF-E9A8409BA493}"/>
              </a:ext>
            </a:extLst>
          </p:cNvPr>
          <p:cNvSpPr txBox="1">
            <a:spLocks/>
          </p:cNvSpPr>
          <p:nvPr/>
        </p:nvSpPr>
        <p:spPr bwMode="auto">
          <a:xfrm>
            <a:off x="468313" y="188913"/>
            <a:ext cx="7543800" cy="647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5.2 </a:t>
            </a:r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关于</a:t>
            </a:r>
            <a:r>
              <a:rPr lang="en-US" altLang="zh-CN" sz="32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try catch finally</a:t>
            </a:r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语句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AF184A9-519F-4337-9180-47F0EE8B2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052736"/>
            <a:ext cx="7560840" cy="4968552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zh-CN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public static int method2() {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int num = 10;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try {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System.out.println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(1 / 0);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} catch (Exception e) {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num = 20;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return num; </a:t>
            </a:r>
            <a:r>
              <a:rPr lang="en-US" altLang="zh-CN" sz="1600" b="1" dirty="0">
                <a:solidFill>
                  <a:srgbClr val="008000"/>
                </a:solidFill>
                <a:latin typeface="Courier New" panose="02070309020205020404" pitchFamily="49" charset="0"/>
              </a:rPr>
              <a:t>// catch</a:t>
            </a:r>
            <a:r>
              <a:rPr lang="zh-CN" altLang="en-US" sz="1600" b="1" dirty="0">
                <a:solidFill>
                  <a:srgbClr val="008000"/>
                </a:solidFill>
                <a:latin typeface="Courier New" panose="02070309020205020404" pitchFamily="49" charset="0"/>
              </a:rPr>
              <a:t>中的</a:t>
            </a:r>
            <a:r>
              <a:rPr lang="en-US" altLang="zh-CN" sz="1600" b="1" dirty="0">
                <a:solidFill>
                  <a:srgbClr val="008000"/>
                </a:solidFill>
                <a:latin typeface="Courier New" panose="02070309020205020404" pitchFamily="49" charset="0"/>
              </a:rPr>
              <a:t>return</a:t>
            </a:r>
            <a:r>
              <a:rPr lang="zh-CN" altLang="en-US" sz="1600" b="1" dirty="0">
                <a:solidFill>
                  <a:srgbClr val="008000"/>
                </a:solidFill>
                <a:latin typeface="Courier New" panose="02070309020205020404" pitchFamily="49" charset="0"/>
              </a:rPr>
              <a:t>会做两个事情：</a:t>
            </a:r>
            <a:endParaRPr lang="en-US" altLang="zh-CN" sz="1600" b="1" dirty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sz="1600" b="1" dirty="0">
                <a:solidFill>
                  <a:srgbClr val="008000"/>
                </a:solidFill>
                <a:latin typeface="Courier New" panose="02070309020205020404" pitchFamily="49" charset="0"/>
              </a:rPr>
              <a:t>                 // 1</a:t>
            </a:r>
            <a:r>
              <a:rPr lang="zh-CN" altLang="en-US" sz="1600" b="1" dirty="0">
                <a:solidFill>
                  <a:srgbClr val="008000"/>
                </a:solidFill>
                <a:latin typeface="Courier New" panose="02070309020205020404" pitchFamily="49" charset="0"/>
              </a:rPr>
              <a:t>、先记录要返回的值，在执行</a:t>
            </a:r>
            <a:r>
              <a:rPr lang="en-US" altLang="zh-CN" sz="1600" b="1" dirty="0">
                <a:solidFill>
                  <a:srgbClr val="008000"/>
                </a:solidFill>
                <a:latin typeface="Courier New" panose="02070309020205020404" pitchFamily="49" charset="0"/>
              </a:rPr>
              <a:t>finally</a:t>
            </a:r>
            <a:r>
              <a:rPr lang="zh-CN" altLang="en-US" sz="1600" b="1" dirty="0">
                <a:solidFill>
                  <a:srgbClr val="008000"/>
                </a:solidFill>
                <a:latin typeface="Courier New" panose="02070309020205020404" pitchFamily="49" charset="0"/>
              </a:rPr>
              <a:t>中的代码。</a:t>
            </a:r>
            <a:endParaRPr lang="en-US" altLang="zh-CN" sz="1600" b="1" dirty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sz="1600" b="1" dirty="0">
                <a:solidFill>
                  <a:srgbClr val="008000"/>
                </a:solidFill>
                <a:latin typeface="Courier New" panose="02070309020205020404" pitchFamily="49" charset="0"/>
              </a:rPr>
              <a:t>                 // 2</a:t>
            </a:r>
            <a:r>
              <a:rPr lang="zh-CN" altLang="en-US" sz="1600" b="1" dirty="0">
                <a:solidFill>
                  <a:srgbClr val="008000"/>
                </a:solidFill>
                <a:latin typeface="Courier New" panose="02070309020205020404" pitchFamily="49" charset="0"/>
              </a:rPr>
              <a:t>、最后把记录的值返回</a:t>
            </a:r>
          </a:p>
          <a:p>
            <a:pPr eaLnBrk="1" hangingPunct="1"/>
            <a:r>
              <a:rPr lang="zh-CN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} finally {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num = 30;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}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return num;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B237AD4-D06F-4D45-923E-9617EBA7A5A8}"/>
              </a:ext>
            </a:extLst>
          </p:cNvPr>
          <p:cNvSpPr txBox="1"/>
          <p:nvPr/>
        </p:nvSpPr>
        <p:spPr>
          <a:xfrm>
            <a:off x="-4682" y="5009385"/>
            <a:ext cx="8609456" cy="168937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30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20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(1)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无论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try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中是否产生异常，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finally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中的代码总在当前方法返回之前无条件执行，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(2)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即使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catch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中包含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return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finally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依然会执行，并且在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return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语句执行之前执行。</a:t>
            </a:r>
          </a:p>
        </p:txBody>
      </p:sp>
    </p:spTree>
    <p:extLst>
      <p:ext uri="{BB962C8B-B14F-4D97-AF65-F5344CB8AC3E}">
        <p14:creationId xmlns:p14="http://schemas.microsoft.com/office/powerpoint/2010/main" val="740810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内容占位符 2"/>
          <p:cNvSpPr>
            <a:spLocks noGrp="1"/>
          </p:cNvSpPr>
          <p:nvPr>
            <p:ph idx="4294967295"/>
          </p:nvPr>
        </p:nvSpPr>
        <p:spPr>
          <a:xfrm>
            <a:off x="445712" y="1196752"/>
            <a:ext cx="8014720" cy="4608512"/>
          </a:xfrm>
        </p:spPr>
        <p:txBody>
          <a:bodyPr/>
          <a:lstStyle/>
          <a:p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把可能会发生错误的代码放进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try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语句块中。</a:t>
            </a:r>
            <a:endParaRPr lang="en-US" altLang="zh-CN" sz="24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当程序检测到出现了一个错误时会抛出一个异常对象。异常处理代码会捕获并处理这个错误。</a:t>
            </a:r>
            <a:endParaRPr lang="en-US" altLang="zh-CN" sz="24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400" b="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catch</a:t>
            </a:r>
            <a:r>
              <a:rPr lang="zh-CN" altLang="en-US" sz="2400" b="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语句块中的代码用于处理错误。</a:t>
            </a:r>
            <a:endParaRPr lang="en-US" altLang="zh-CN" sz="2400" b="0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当异常发生时，程序控制流程由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try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语句块跳转到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catch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语句块。</a:t>
            </a:r>
            <a:endParaRPr lang="en-US" altLang="zh-CN" sz="24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不管是否有异常发生，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finally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语句块中的语句始终保证被执行。</a:t>
            </a:r>
            <a:endParaRPr lang="en-US" altLang="zh-CN" sz="24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如果没有提供合适的异常处理代码，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JVM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将会结束掉整个应用程序。</a:t>
            </a:r>
          </a:p>
        </p:txBody>
      </p:sp>
      <p:sp>
        <p:nvSpPr>
          <p:cNvPr id="72709" name="标题 1"/>
          <p:cNvSpPr txBox="1">
            <a:spLocks/>
          </p:cNvSpPr>
          <p:nvPr/>
        </p:nvSpPr>
        <p:spPr bwMode="auto">
          <a:xfrm>
            <a:off x="468313" y="188913"/>
            <a:ext cx="7543800" cy="647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5.2 </a:t>
            </a:r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使用</a:t>
            </a:r>
            <a:r>
              <a:rPr lang="en-US" altLang="zh-CN" sz="32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Java</a:t>
            </a:r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异常处理机制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406074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内容占位符 2"/>
          <p:cNvSpPr>
            <a:spLocks noGrp="1"/>
          </p:cNvSpPr>
          <p:nvPr>
            <p:ph idx="4294967295"/>
          </p:nvPr>
        </p:nvSpPr>
        <p:spPr>
          <a:xfrm>
            <a:off x="468312" y="1844824"/>
            <a:ext cx="8424167" cy="4608512"/>
          </a:xfrm>
        </p:spPr>
        <p:txBody>
          <a:bodyPr/>
          <a:lstStyle/>
          <a:p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当存在方法调用时，经常出现“嵌套”的异常捕获结构。</a:t>
            </a:r>
            <a:endParaRPr lang="en-US" altLang="zh-CN" sz="24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400" b="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Demo: CatchWho.java</a:t>
            </a:r>
          </a:p>
          <a:p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要注意哪个异常由哪个进行捕获</a:t>
            </a:r>
            <a:endParaRPr lang="en-US" altLang="zh-CN" sz="24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400" b="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CatchWho2.java</a:t>
            </a:r>
            <a:r>
              <a:rPr lang="zh-CN" altLang="en-US" sz="2400" b="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程序运行的结果</a:t>
            </a:r>
          </a:p>
        </p:txBody>
      </p:sp>
      <p:sp>
        <p:nvSpPr>
          <p:cNvPr id="72709" name="标题 1"/>
          <p:cNvSpPr txBox="1">
            <a:spLocks/>
          </p:cNvSpPr>
          <p:nvPr/>
        </p:nvSpPr>
        <p:spPr bwMode="auto">
          <a:xfrm>
            <a:off x="468313" y="188913"/>
            <a:ext cx="7543800" cy="647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5.2 </a:t>
            </a:r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使用</a:t>
            </a:r>
            <a:r>
              <a:rPr lang="en-US" altLang="zh-CN" sz="32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Java</a:t>
            </a:r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异常处理机制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"/>
          <p:cNvSpPr txBox="1">
            <a:spLocks/>
          </p:cNvSpPr>
          <p:nvPr/>
        </p:nvSpPr>
        <p:spPr bwMode="auto">
          <a:xfrm>
            <a:off x="468313" y="981199"/>
            <a:ext cx="75438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zh-CN" altLang="en-US" kern="0" dirty="0">
                <a:ea typeface="宋体" panose="02010600030101010101" pitchFamily="2" charset="-122"/>
              </a:rPr>
              <a:t> </a:t>
            </a:r>
            <a:r>
              <a:rPr lang="zh-CN" altLang="en-US" sz="2800" b="0" dirty="0">
                <a:latin typeface="黑体" panose="02010609060101010101" pitchFamily="49" charset="-122"/>
                <a:ea typeface="黑体" panose="02010609060101010101" pitchFamily="49" charset="-122"/>
              </a:rPr>
              <a:t>多层次嵌套的异常捕获</a:t>
            </a:r>
          </a:p>
        </p:txBody>
      </p:sp>
    </p:spTree>
    <p:extLst>
      <p:ext uri="{BB962C8B-B14F-4D97-AF65-F5344CB8AC3E}">
        <p14:creationId xmlns:p14="http://schemas.microsoft.com/office/powerpoint/2010/main" val="38794058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内容占位符 2"/>
          <p:cNvSpPr>
            <a:spLocks noGrp="1"/>
          </p:cNvSpPr>
          <p:nvPr>
            <p:ph idx="4294967295"/>
          </p:nvPr>
        </p:nvSpPr>
        <p:spPr>
          <a:xfrm>
            <a:off x="468312" y="1844824"/>
            <a:ext cx="8424167" cy="4608512"/>
          </a:xfrm>
        </p:spPr>
        <p:txBody>
          <a:bodyPr/>
          <a:lstStyle/>
          <a:p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当有多个嵌套的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try…catch…finally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时，要特别注意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finally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的执行时机。</a:t>
            </a:r>
            <a:endParaRPr lang="en-US" altLang="zh-CN" sz="24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400" b="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Demo: EmbedFinally.java</a:t>
            </a:r>
          </a:p>
          <a:p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特别注意：</a:t>
            </a:r>
          </a:p>
          <a:p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当有多层嵌套的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finally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时，异常在不同的层次抛出，在不同的位置抛出，可能会导致不同的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finally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语句块执行顺序。</a:t>
            </a:r>
            <a:endParaRPr lang="zh-CN" altLang="en-US" sz="2400" b="0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2709" name="标题 1"/>
          <p:cNvSpPr txBox="1">
            <a:spLocks/>
          </p:cNvSpPr>
          <p:nvPr/>
        </p:nvSpPr>
        <p:spPr bwMode="auto">
          <a:xfrm>
            <a:off x="468313" y="188913"/>
            <a:ext cx="7543800" cy="647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5.2 </a:t>
            </a:r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使用</a:t>
            </a:r>
            <a:r>
              <a:rPr lang="en-US" altLang="zh-CN" sz="32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Java</a:t>
            </a:r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异常处理机制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"/>
          <p:cNvSpPr txBox="1">
            <a:spLocks/>
          </p:cNvSpPr>
          <p:nvPr/>
        </p:nvSpPr>
        <p:spPr bwMode="auto">
          <a:xfrm>
            <a:off x="468313" y="981199"/>
            <a:ext cx="75438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zh-CN" altLang="en-US" kern="0" dirty="0">
                <a:ea typeface="宋体" panose="02010600030101010101" pitchFamily="2" charset="-122"/>
              </a:rPr>
              <a:t> </a:t>
            </a:r>
            <a:r>
              <a:rPr lang="zh-CN" altLang="en-US" sz="2800" b="0" dirty="0">
                <a:latin typeface="黑体" panose="02010609060101010101" pitchFamily="49" charset="-122"/>
                <a:ea typeface="黑体" panose="02010609060101010101" pitchFamily="49" charset="-122"/>
              </a:rPr>
              <a:t>多层次嵌套的</a:t>
            </a:r>
            <a:r>
              <a:rPr lang="en-US" altLang="zh-CN" sz="28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finally</a:t>
            </a:r>
            <a:endParaRPr lang="zh-CN" altLang="en-US" sz="28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091433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内容占位符 2"/>
          <p:cNvSpPr>
            <a:spLocks noGrp="1"/>
          </p:cNvSpPr>
          <p:nvPr>
            <p:ph idx="4294967295"/>
          </p:nvPr>
        </p:nvSpPr>
        <p:spPr>
          <a:xfrm>
            <a:off x="468312" y="1844824"/>
            <a:ext cx="8424167" cy="4608512"/>
          </a:xfrm>
        </p:spPr>
        <p:txBody>
          <a:bodyPr/>
          <a:lstStyle/>
          <a:p>
            <a:r>
              <a:rPr lang="en-US" altLang="zh-CN" sz="2400" b="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System.exit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()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方法可能会导致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finally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语句块不执行。</a:t>
            </a:r>
            <a:endParaRPr lang="en-US" altLang="zh-CN" sz="24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400" b="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Demo: SystemExitAndFianlly.java</a:t>
            </a:r>
            <a:endParaRPr lang="zh-CN" altLang="en-US" sz="2400" b="0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2709" name="标题 1"/>
          <p:cNvSpPr txBox="1">
            <a:spLocks/>
          </p:cNvSpPr>
          <p:nvPr/>
        </p:nvSpPr>
        <p:spPr bwMode="auto">
          <a:xfrm>
            <a:off x="468313" y="188913"/>
            <a:ext cx="7543800" cy="647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5.2 </a:t>
            </a:r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使用</a:t>
            </a:r>
            <a:r>
              <a:rPr lang="en-US" altLang="zh-CN" sz="32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Java</a:t>
            </a:r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异常处理机制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"/>
          <p:cNvSpPr txBox="1">
            <a:spLocks/>
          </p:cNvSpPr>
          <p:nvPr/>
        </p:nvSpPr>
        <p:spPr bwMode="auto">
          <a:xfrm>
            <a:off x="468313" y="981199"/>
            <a:ext cx="75438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28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finally</a:t>
            </a:r>
            <a:r>
              <a:rPr lang="zh-CN" altLang="en-US" sz="28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语句块一定会执行吗？</a:t>
            </a:r>
          </a:p>
        </p:txBody>
      </p:sp>
    </p:spTree>
    <p:extLst>
      <p:ext uri="{BB962C8B-B14F-4D97-AF65-F5344CB8AC3E}">
        <p14:creationId xmlns:p14="http://schemas.microsoft.com/office/powerpoint/2010/main" val="2174325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内容占位符 2"/>
          <p:cNvSpPr>
            <a:spLocks noGrp="1"/>
          </p:cNvSpPr>
          <p:nvPr>
            <p:ph idx="4294967295"/>
          </p:nvPr>
        </p:nvSpPr>
        <p:spPr>
          <a:xfrm>
            <a:off x="468313" y="1844824"/>
            <a:ext cx="8208144" cy="4608512"/>
          </a:xfrm>
        </p:spPr>
        <p:txBody>
          <a:bodyPr/>
          <a:lstStyle/>
          <a:p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当程序中出现异常时，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JVM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会依据方法调用顺序依次查找有关的错误处理程序。</a:t>
            </a:r>
            <a:endParaRPr lang="en-US" altLang="zh-CN" sz="24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可使用</a:t>
            </a:r>
            <a:r>
              <a:rPr lang="en-US" altLang="zh-CN" sz="2400" b="0" dirty="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printStackTrace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 </a:t>
            </a:r>
            <a:r>
              <a:rPr lang="en-US" altLang="zh-CN" sz="2400" b="0" dirty="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getMessage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方法了解异常发生的情况：</a:t>
            </a:r>
            <a:endParaRPr lang="en-US" altLang="zh-CN" sz="24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0" dirty="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printStackTrace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：打印方法调用堆栈。</a:t>
            </a:r>
            <a:endParaRPr lang="en-US" altLang="zh-CN" sz="24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、每个</a:t>
            </a:r>
            <a:r>
              <a:rPr lang="en-US" altLang="zh-CN" sz="2400" b="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Throwable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类的对象都有一个</a:t>
            </a:r>
            <a:r>
              <a:rPr lang="en-US" altLang="zh-CN" sz="2400" b="0" dirty="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getMessage</a:t>
            </a:r>
            <a:r>
              <a:rPr lang="en-US" altLang="zh-CN" sz="2400" b="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方法，它返回一个字串，这个字串是在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Exception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构造函数中传入的，通常让这一字串包含特定异常的相关信息。</a:t>
            </a:r>
            <a:endParaRPr lang="en-US" altLang="zh-CN" sz="24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Demo: PrintExpressionStack.java</a:t>
            </a:r>
            <a:endParaRPr lang="zh-CN" altLang="en-US" sz="2400" b="0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2709" name="标题 1"/>
          <p:cNvSpPr txBox="1">
            <a:spLocks/>
          </p:cNvSpPr>
          <p:nvPr/>
        </p:nvSpPr>
        <p:spPr bwMode="auto">
          <a:xfrm>
            <a:off x="468313" y="188913"/>
            <a:ext cx="7543800" cy="647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5.2 </a:t>
            </a:r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使用</a:t>
            </a:r>
            <a:r>
              <a:rPr lang="en-US" altLang="zh-CN" sz="32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Java</a:t>
            </a:r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异常处理机制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"/>
          <p:cNvSpPr txBox="1">
            <a:spLocks/>
          </p:cNvSpPr>
          <p:nvPr/>
        </p:nvSpPr>
        <p:spPr bwMode="auto">
          <a:xfrm>
            <a:off x="468313" y="981199"/>
            <a:ext cx="75438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endParaRPr lang="zh-CN" altLang="en-US" sz="2800" b="0" dirty="0"/>
          </a:p>
          <a:p>
            <a:r>
              <a:rPr lang="zh-CN" altLang="en-US" sz="2800" dirty="0"/>
              <a:t>跟踪异常的传播路径 </a:t>
            </a:r>
            <a:endParaRPr lang="zh-CN" altLang="en-US" sz="28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71375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88640"/>
            <a:ext cx="6858000" cy="720427"/>
          </a:xfrm>
        </p:spPr>
        <p:txBody>
          <a:bodyPr/>
          <a:lstStyle/>
          <a:p>
            <a:pPr marL="838200" indent="-838200" eaLnBrk="1" hangingPunct="1"/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第五章 异常处理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295400"/>
            <a:ext cx="7467600" cy="3285728"/>
          </a:xfrm>
        </p:spPr>
        <p:txBody>
          <a:bodyPr/>
          <a:lstStyle/>
          <a:p>
            <a:pPr marL="609600" indent="-609600" eaLnBrk="1" hangingPunct="1">
              <a:lnSpc>
                <a:spcPct val="150000"/>
              </a:lnSpc>
              <a:buFontTx/>
              <a:buNone/>
            </a:pP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5.1 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错误处理的方法概述</a:t>
            </a:r>
          </a:p>
          <a:p>
            <a:pPr marL="609600" indent="-609600" eaLnBrk="1" hangingPunct="1">
              <a:lnSpc>
                <a:spcPct val="150000"/>
              </a:lnSpc>
              <a:buFontTx/>
              <a:buNone/>
            </a:pP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5.2 Java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的异常处理机制</a:t>
            </a:r>
          </a:p>
          <a:p>
            <a:pPr marL="609600" indent="-609600" eaLnBrk="1" hangingPunct="1">
              <a:lnSpc>
                <a:spcPct val="150000"/>
              </a:lnSpc>
              <a:buFontTx/>
              <a:buNone/>
            </a:pPr>
            <a:r>
              <a:rPr lang="en-US" altLang="zh-CN" b="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5.3 </a:t>
            </a:r>
            <a:r>
              <a:rPr lang="zh-CN" altLang="en-US" b="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创建自己的异常类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53299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标题 1"/>
          <p:cNvSpPr>
            <a:spLocks noGrp="1"/>
          </p:cNvSpPr>
          <p:nvPr>
            <p:ph type="title" idx="4294967295"/>
          </p:nvPr>
        </p:nvSpPr>
        <p:spPr>
          <a:xfrm>
            <a:off x="468313" y="909638"/>
            <a:ext cx="7543800" cy="719137"/>
          </a:xfrm>
        </p:spPr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 </a:t>
            </a:r>
            <a:r>
              <a:rPr lang="zh-CN" altLang="en-US" sz="2800" b="0" dirty="0">
                <a:latin typeface="黑体" panose="02010609060101010101" pitchFamily="49" charset="-122"/>
                <a:ea typeface="黑体" panose="02010609060101010101" pitchFamily="49" charset="-122"/>
              </a:rPr>
              <a:t>何时使用异常</a:t>
            </a:r>
          </a:p>
        </p:txBody>
      </p:sp>
      <p:sp>
        <p:nvSpPr>
          <p:cNvPr id="72707" name="内容占位符 2"/>
          <p:cNvSpPr>
            <a:spLocks noGrp="1"/>
          </p:cNvSpPr>
          <p:nvPr>
            <p:ph idx="4294967295"/>
          </p:nvPr>
        </p:nvSpPr>
        <p:spPr>
          <a:xfrm>
            <a:off x="468313" y="1628775"/>
            <a:ext cx="7776095" cy="1800225"/>
          </a:xfrm>
        </p:spPr>
        <p:txBody>
          <a:bodyPr/>
          <a:lstStyle/>
          <a:p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一个方法出现异常时，如果想让该方法的调用者处理异常，应该创建一个异常对象并将其抛出。</a:t>
            </a:r>
            <a:endParaRPr lang="en-US" sz="24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如果能在发生异常的方法中处理异常，那么就不需要抛出异常</a:t>
            </a:r>
          </a:p>
        </p:txBody>
      </p:sp>
      <p:sp>
        <p:nvSpPr>
          <p:cNvPr id="72708" name="TextBox 3"/>
          <p:cNvSpPr txBox="1">
            <a:spLocks noChangeArrowheads="1"/>
          </p:cNvSpPr>
          <p:nvPr/>
        </p:nvSpPr>
        <p:spPr bwMode="auto">
          <a:xfrm>
            <a:off x="344487" y="3645024"/>
            <a:ext cx="845502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即：自己（本方法）的事情（发生了异常），尽量自己解决。</a:t>
            </a:r>
            <a:endParaRPr lang="en-US" sz="2400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endParaRPr lang="en-US" sz="2400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自己解决不了，才将问题丢出来（抛出异常）。</a:t>
            </a:r>
          </a:p>
        </p:txBody>
      </p:sp>
      <p:sp>
        <p:nvSpPr>
          <p:cNvPr id="72709" name="标题 1"/>
          <p:cNvSpPr txBox="1">
            <a:spLocks/>
          </p:cNvSpPr>
          <p:nvPr/>
        </p:nvSpPr>
        <p:spPr bwMode="auto">
          <a:xfrm>
            <a:off x="468313" y="188913"/>
            <a:ext cx="7543800" cy="647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5.3 </a:t>
            </a:r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创建自己的异常类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标题 1"/>
          <p:cNvSpPr>
            <a:spLocks noGrp="1"/>
          </p:cNvSpPr>
          <p:nvPr>
            <p:ph type="title" idx="4294967295"/>
          </p:nvPr>
        </p:nvSpPr>
        <p:spPr>
          <a:xfrm>
            <a:off x="468313" y="188640"/>
            <a:ext cx="7543800" cy="621083"/>
          </a:xfrm>
        </p:spPr>
        <p:txBody>
          <a:bodyPr/>
          <a:lstStyle/>
          <a:p>
            <a:r>
              <a:rPr lang="zh-CN" altLang="en-US" sz="3200" b="0" dirty="0">
                <a:latin typeface="黑体" panose="02010609060101010101" pitchFamily="49" charset="-122"/>
                <a:ea typeface="黑体" panose="02010609060101010101" pitchFamily="49" charset="-122"/>
              </a:rPr>
              <a:t>何时使用异常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  <p:sp>
        <p:nvSpPr>
          <p:cNvPr id="73731" name="内容占位符 2"/>
          <p:cNvSpPr>
            <a:spLocks noGrp="1"/>
          </p:cNvSpPr>
          <p:nvPr>
            <p:ph idx="4294967295"/>
          </p:nvPr>
        </p:nvSpPr>
        <p:spPr>
          <a:xfrm>
            <a:off x="468313" y="981075"/>
            <a:ext cx="8229600" cy="2000250"/>
          </a:xfrm>
        </p:spPr>
        <p:txBody>
          <a:bodyPr/>
          <a:lstStyle/>
          <a:p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在代码中，应该什么时候使用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try-catch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块呢？</a:t>
            </a:r>
          </a:p>
          <a:p>
            <a:pPr lvl="1"/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当必须处理不可预料的错误时应该使用它。</a:t>
            </a:r>
          </a:p>
          <a:p>
            <a:pPr lvl="1"/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不要用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try-catch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块处理简单的、可预料的情况。例如下述代码：</a:t>
            </a:r>
          </a:p>
        </p:txBody>
      </p:sp>
      <p:sp>
        <p:nvSpPr>
          <p:cNvPr id="73732" name="Rectangle 4"/>
          <p:cNvSpPr>
            <a:spLocks noChangeArrowheads="1"/>
          </p:cNvSpPr>
          <p:nvPr/>
        </p:nvSpPr>
        <p:spPr bwMode="auto">
          <a:xfrm>
            <a:off x="1190625" y="2781300"/>
            <a:ext cx="6913563" cy="201612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try 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{  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System.out.println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ref.toString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());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catch 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NullPointerException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npe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{ 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System.out.println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("ref is null");</a:t>
            </a:r>
          </a:p>
          <a:p>
            <a:pPr eaLnBrk="1" hangingPunct="1"/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73733" name="Rectangle 4"/>
          <p:cNvSpPr>
            <a:spLocks noChangeArrowheads="1"/>
          </p:cNvSpPr>
          <p:nvPr/>
        </p:nvSpPr>
        <p:spPr bwMode="auto">
          <a:xfrm>
            <a:off x="1190625" y="5422900"/>
            <a:ext cx="6913563" cy="117475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if 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(ref != null)</a:t>
            </a:r>
          </a:p>
          <a:p>
            <a:pPr eaLnBrk="1" hangingPunct="1"/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System.out.println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ref.toString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());</a:t>
            </a:r>
          </a:p>
          <a:p>
            <a:pPr eaLnBrk="1" hangingPunct="1"/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else</a:t>
            </a:r>
          </a:p>
          <a:p>
            <a:pPr eaLnBrk="1" hangingPunct="1"/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System.out.println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("ref is null");</a:t>
            </a:r>
          </a:p>
        </p:txBody>
      </p:sp>
      <p:sp>
        <p:nvSpPr>
          <p:cNvPr id="73734" name="TextBox 5"/>
          <p:cNvSpPr txBox="1">
            <a:spLocks noChangeArrowheads="1"/>
          </p:cNvSpPr>
          <p:nvPr/>
        </p:nvSpPr>
        <p:spPr bwMode="auto">
          <a:xfrm>
            <a:off x="2794000" y="4922838"/>
            <a:ext cx="148470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建议替换为</a:t>
            </a:r>
            <a:r>
              <a:rPr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lang="zh-CN" altLang="en-US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3735" name="下箭头 6"/>
          <p:cNvSpPr>
            <a:spLocks noChangeArrowheads="1"/>
          </p:cNvSpPr>
          <p:nvPr/>
        </p:nvSpPr>
        <p:spPr bwMode="auto">
          <a:xfrm>
            <a:off x="4221163" y="4797425"/>
            <a:ext cx="425450" cy="576263"/>
          </a:xfrm>
          <a:prstGeom prst="downArrow">
            <a:avLst>
              <a:gd name="adj1" fmla="val 50000"/>
              <a:gd name="adj2" fmla="val 50003"/>
            </a:avLst>
          </a:prstGeom>
          <a:gradFill rotWithShape="1">
            <a:gsLst>
              <a:gs pos="0">
                <a:srgbClr val="447676"/>
              </a:gs>
              <a:gs pos="80000">
                <a:srgbClr val="5B9B9B"/>
              </a:gs>
              <a:gs pos="100000">
                <a:srgbClr val="5A9D9D"/>
              </a:gs>
            </a:gsLst>
            <a:lin ang="5400000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3000" dir="5400000" algn="ctr" rotWithShape="0">
              <a:srgbClr val="000000">
                <a:alpha val="34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600">
              <a:solidFill>
                <a:srgbClr val="FFFFFF"/>
              </a:solidFill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标题 1"/>
          <p:cNvSpPr>
            <a:spLocks noGrp="1"/>
          </p:cNvSpPr>
          <p:nvPr>
            <p:ph type="title" idx="4294967295"/>
          </p:nvPr>
        </p:nvSpPr>
        <p:spPr>
          <a:xfrm>
            <a:off x="468313" y="188913"/>
            <a:ext cx="7543800" cy="647799"/>
          </a:xfrm>
        </p:spPr>
        <p:txBody>
          <a:bodyPr/>
          <a:lstStyle/>
          <a:p>
            <a:r>
              <a:rPr lang="zh-CN" altLang="en-US" sz="3200" b="0" dirty="0">
                <a:latin typeface="黑体" panose="02010609060101010101" pitchFamily="49" charset="-122"/>
                <a:ea typeface="黑体" panose="02010609060101010101" pitchFamily="49" charset="-122"/>
              </a:rPr>
              <a:t>创建自定义异常类</a:t>
            </a:r>
          </a:p>
        </p:txBody>
      </p:sp>
      <p:sp>
        <p:nvSpPr>
          <p:cNvPr id="74755" name="内容占位符 2"/>
          <p:cNvSpPr>
            <a:spLocks noGrp="1"/>
          </p:cNvSpPr>
          <p:nvPr>
            <p:ph idx="4294967295"/>
          </p:nvPr>
        </p:nvSpPr>
        <p:spPr>
          <a:xfrm>
            <a:off x="468313" y="981075"/>
            <a:ext cx="7488063" cy="5184775"/>
          </a:xfrm>
        </p:spPr>
        <p:txBody>
          <a:bodyPr/>
          <a:lstStyle/>
          <a:p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尽量使用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JDK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中的异常类。</a:t>
            </a:r>
          </a:p>
          <a:p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如果预先定义的类不够的话就该创建自定义异常类。</a:t>
            </a:r>
          </a:p>
          <a:p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扩展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Exception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Exception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子类来声明自定义异常类。</a:t>
            </a:r>
          </a:p>
          <a:p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标题 1"/>
          <p:cNvSpPr>
            <a:spLocks noGrp="1"/>
          </p:cNvSpPr>
          <p:nvPr>
            <p:ph type="title"/>
          </p:nvPr>
        </p:nvSpPr>
        <p:spPr>
          <a:xfrm>
            <a:off x="468313" y="188913"/>
            <a:ext cx="7543800" cy="647799"/>
          </a:xfrm>
        </p:spPr>
        <p:txBody>
          <a:bodyPr/>
          <a:lstStyle/>
          <a:p>
            <a:r>
              <a:rPr lang="zh-CN" altLang="en-US" sz="3200" b="0" dirty="0">
                <a:latin typeface="黑体" panose="02010609060101010101" pitchFamily="49" charset="-122"/>
                <a:ea typeface="黑体" panose="02010609060101010101" pitchFamily="49" charset="-122"/>
              </a:rPr>
              <a:t>创建自定义异常类</a:t>
            </a:r>
            <a:endParaRPr lang="zh-CN" altLang="en-US" sz="3200" b="0" dirty="0">
              <a:ea typeface="宋体" panose="02010600030101010101" pitchFamily="2" charset="-122"/>
            </a:endParaRPr>
          </a:p>
        </p:txBody>
      </p:sp>
      <p:sp>
        <p:nvSpPr>
          <p:cNvPr id="7577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继承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Exception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及其子类，多数情况下为非运行时异常。</a:t>
            </a:r>
            <a:endParaRPr lang="en-US" altLang="zh-CN" sz="24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class </a:t>
            </a:r>
            <a:r>
              <a:rPr lang="en-US" altLang="zh-CN" sz="2400" b="0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MyException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extends </a:t>
            </a:r>
            <a:r>
              <a:rPr lang="en-US" altLang="zh-CN" sz="2400" b="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Exception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{</a:t>
            </a:r>
          </a:p>
          <a:p>
            <a:pPr eaLnBrk="1" hangingPunct="1">
              <a:buFontTx/>
              <a:buNone/>
            </a:pP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			…	String say(){…}    	</a:t>
            </a:r>
          </a:p>
          <a:p>
            <a:pPr eaLnBrk="1" hangingPunct="1">
              <a:buFontTx/>
              <a:buNone/>
            </a:pP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}</a:t>
            </a:r>
            <a:endParaRPr lang="en-US" altLang="zh-CN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在程序中使用自己的异常类</a:t>
            </a:r>
          </a:p>
          <a:p>
            <a:pPr eaLnBrk="1" hangingPunct="1">
              <a:buFontTx/>
              <a:buNone/>
            </a:pP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class </a:t>
            </a:r>
            <a:r>
              <a:rPr lang="en-US" altLang="zh-CN" sz="2400" b="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UseMyException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{</a:t>
            </a:r>
          </a:p>
          <a:p>
            <a:pPr eaLnBrk="1" hangingPunct="1">
              <a:buFontTx/>
              <a:buNone/>
            </a:pP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		…    </a:t>
            </a:r>
          </a:p>
          <a:p>
            <a:pPr eaLnBrk="1" hangingPunct="1">
              <a:buFontTx/>
              <a:buNone/>
            </a:pP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try  </a:t>
            </a:r>
          </a:p>
          <a:p>
            <a:pPr eaLnBrk="1" hangingPunct="1">
              <a:buFontTx/>
              <a:buNone/>
            </a:pP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  { throw </a:t>
            </a:r>
            <a:r>
              <a:rPr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new </a:t>
            </a:r>
            <a:r>
              <a:rPr lang="en-US" altLang="zh-CN" sz="2400" b="0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MyException</a:t>
            </a:r>
            <a:r>
              <a:rPr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()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;}</a:t>
            </a:r>
          </a:p>
          <a:p>
            <a:pPr eaLnBrk="1" hangingPunct="1">
              <a:buFontTx/>
              <a:buNone/>
            </a:pP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catch(</a:t>
            </a:r>
            <a:r>
              <a:rPr lang="en-US" altLang="zh-CN" sz="2400" b="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MyException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e)</a:t>
            </a:r>
          </a:p>
          <a:p>
            <a:pPr eaLnBrk="1" hangingPunct="1">
              <a:buFontTx/>
              <a:buNone/>
            </a:pP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    {</a:t>
            </a:r>
            <a:r>
              <a:rPr lang="en-US" altLang="zh-CN" sz="2400" b="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System.out.println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e.say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());}</a:t>
            </a:r>
          </a:p>
          <a:p>
            <a:pPr eaLnBrk="1" hangingPunct="1">
              <a:buFontTx/>
              <a:buNone/>
            </a:pP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}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	</a:t>
            </a:r>
            <a:endParaRPr lang="zh-CN" altLang="en-US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标题 1"/>
          <p:cNvSpPr>
            <a:spLocks noGrp="1"/>
          </p:cNvSpPr>
          <p:nvPr>
            <p:ph type="title"/>
          </p:nvPr>
        </p:nvSpPr>
        <p:spPr>
          <a:xfrm>
            <a:off x="468313" y="188913"/>
            <a:ext cx="7543800" cy="647799"/>
          </a:xfrm>
        </p:spPr>
        <p:txBody>
          <a:bodyPr/>
          <a:lstStyle/>
          <a:p>
            <a:r>
              <a:rPr lang="zh-CN" altLang="en-US" sz="3200" b="0" dirty="0">
                <a:latin typeface="黑体" panose="02010609060101010101" pitchFamily="49" charset="-122"/>
                <a:ea typeface="黑体" panose="02010609060101010101" pitchFamily="49" charset="-122"/>
              </a:rPr>
              <a:t>创建自定义异常类</a:t>
            </a:r>
            <a:endParaRPr lang="zh-CN" altLang="en-US" sz="3200" b="0" dirty="0">
              <a:ea typeface="宋体" panose="02010600030101010101" pitchFamily="2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198F571A-A3B4-44ED-B62E-991F8548EDFA}"/>
              </a:ext>
            </a:extLst>
          </p:cNvPr>
          <p:cNvSpPr txBox="1"/>
          <p:nvPr/>
        </p:nvSpPr>
        <p:spPr>
          <a:xfrm>
            <a:off x="323528" y="1052736"/>
            <a:ext cx="8130540" cy="719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 eaLnBrk="0" hangingPunct="0">
              <a:lnSpc>
                <a:spcPct val="200000"/>
              </a:lnSpc>
            </a:pPr>
            <a:r>
              <a:rPr kumimoji="0" lang="zh-CN" altLang="en-US" sz="2400" b="1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自定义异常的分类</a:t>
            </a:r>
            <a:endParaRPr kumimoji="0" lang="en-US" altLang="zh-CN" sz="2400" b="1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27A3D28-C92A-4BBC-918C-7B160E787AF7}"/>
              </a:ext>
            </a:extLst>
          </p:cNvPr>
          <p:cNvSpPr txBox="1"/>
          <p:nvPr/>
        </p:nvSpPr>
        <p:spPr>
          <a:xfrm>
            <a:off x="827584" y="1916832"/>
            <a:ext cx="4858113" cy="3588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、自定义编译时异常</a:t>
            </a:r>
            <a:r>
              <a:rPr lang="zh-CN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14313" indent="-214313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定义一个异常类继承Exception.</a:t>
            </a:r>
            <a:endParaRPr lang="en-US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14313" indent="-214313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重写构造器</a:t>
            </a:r>
            <a:endParaRPr lang="en-US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</a:pP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、自定义运行时异常</a:t>
            </a:r>
            <a:endParaRPr lang="en-US" altLang="zh-CN" b="1" dirty="0">
              <a:solidFill>
                <a:schemeClr val="tx1">
                  <a:lumMod val="95000"/>
                  <a:lumOff val="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14313" indent="-214313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定义一个异常类继承RuntimeException.</a:t>
            </a:r>
            <a:endParaRPr lang="en-US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14313" indent="-214313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重写构造器。</a:t>
            </a:r>
            <a:endParaRPr lang="en-US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01599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4902396-1194-1B6C-66B1-9F4F2BC489DB}"/>
              </a:ext>
            </a:extLst>
          </p:cNvPr>
          <p:cNvSpPr txBox="1"/>
          <p:nvPr/>
        </p:nvSpPr>
        <p:spPr>
          <a:xfrm>
            <a:off x="628649" y="1315368"/>
            <a:ext cx="8130540" cy="719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 eaLnBrk="0" hangingPunct="0">
              <a:lnSpc>
                <a:spcPct val="200000"/>
              </a:lnSpc>
            </a:pPr>
            <a:r>
              <a:rPr kumimoji="0" lang="zh-CN" altLang="en-US" sz="2400" b="1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异常的细节</a:t>
            </a:r>
            <a:endParaRPr kumimoji="0" lang="en-US" altLang="zh-CN" sz="2400" b="1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DF75F65-C30F-A4DC-485E-9503C49A031C}"/>
              </a:ext>
            </a:extLst>
          </p:cNvPr>
          <p:cNvSpPr txBox="1"/>
          <p:nvPr/>
        </p:nvSpPr>
        <p:spPr>
          <a:xfrm>
            <a:off x="628650" y="2214325"/>
            <a:ext cx="7391944" cy="510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Throwable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的常用方法 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C5E5EA-85DF-4720-A59F-17DDF9576733}"/>
              </a:ext>
            </a:extLst>
          </p:cNvPr>
          <p:cNvSpPr txBox="1"/>
          <p:nvPr/>
        </p:nvSpPr>
        <p:spPr>
          <a:xfrm>
            <a:off x="628649" y="4052048"/>
            <a:ext cx="7391944" cy="510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子类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重写父类方法时，不能抛出父类没有的异常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或者比父类更大的异常</a:t>
            </a: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DB60A2FB-F20F-B8CC-BE0A-E341B762BF56}"/>
              </a:ext>
            </a:extLst>
          </p:cNvPr>
          <p:cNvGraphicFramePr>
            <a:graphicFrameLocks noGrp="1"/>
          </p:cNvGraphicFramePr>
          <p:nvPr/>
        </p:nvGraphicFramePr>
        <p:xfrm>
          <a:off x="1006540" y="2810355"/>
          <a:ext cx="6096000" cy="106229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72872704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951763360"/>
                    </a:ext>
                  </a:extLst>
                </a:gridCol>
              </a:tblGrid>
              <a:tr h="34342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400" dirty="0"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方法名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400" dirty="0"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说明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069006827"/>
                  </a:ext>
                </a:extLst>
              </a:tr>
              <a:tr h="34413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400" dirty="0"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String </a:t>
                      </a:r>
                      <a:r>
                        <a:rPr lang="en-US" altLang="zh-CN" sz="1400" dirty="0" err="1"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getMessage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()</a:t>
                      </a:r>
                      <a:endParaRPr lang="zh-CN" altLang="en-US" sz="1400" dirty="0"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400" dirty="0"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获取异常的错误原因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7839594"/>
                  </a:ext>
                </a:extLst>
              </a:tr>
              <a:tr h="34413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400" dirty="0"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void </a:t>
                      </a:r>
                      <a:r>
                        <a:rPr lang="en-US" altLang="zh-CN" sz="1400" dirty="0" err="1"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printStackTrace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()</a:t>
                      </a:r>
                      <a:endParaRPr lang="zh-CN" altLang="en-US" sz="1400" dirty="0"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400" dirty="0"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展示完整的异常错误信息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869630676"/>
                  </a:ext>
                </a:extLst>
              </a:tr>
            </a:tbl>
          </a:graphicData>
        </a:graphic>
      </p:graphicFrame>
      <p:sp>
        <p:nvSpPr>
          <p:cNvPr id="6" name="标题 1">
            <a:extLst>
              <a:ext uri="{FF2B5EF4-FFF2-40B4-BE49-F238E27FC236}">
                <a16:creationId xmlns:a16="http://schemas.microsoft.com/office/drawing/2014/main" id="{1871DBF7-671D-457C-A5A8-0CEAA5D213D0}"/>
              </a:ext>
            </a:extLst>
          </p:cNvPr>
          <p:cNvSpPr txBox="1">
            <a:spLocks/>
          </p:cNvSpPr>
          <p:nvPr/>
        </p:nvSpPr>
        <p:spPr>
          <a:xfrm>
            <a:off x="468313" y="188913"/>
            <a:ext cx="7543800" cy="647799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zh-CN" altLang="en-US" sz="3200" b="0" kern="0">
                <a:latin typeface="黑体" panose="02010609060101010101" pitchFamily="49" charset="-122"/>
                <a:ea typeface="黑体" panose="02010609060101010101" pitchFamily="49" charset="-122"/>
              </a:rPr>
              <a:t>创建自定义异常类</a:t>
            </a:r>
            <a:endParaRPr lang="zh-CN" altLang="en-US" sz="3200" b="0" kern="0" dirty="0">
              <a:ea typeface="宋体" panose="02010600030101010101" pitchFamily="2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FDFE01B-CBB8-4B99-BE85-C481CB4CBA54}"/>
              </a:ext>
            </a:extLst>
          </p:cNvPr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881327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1871DBF7-671D-457C-A5A8-0CEAA5D213D0}"/>
              </a:ext>
            </a:extLst>
          </p:cNvPr>
          <p:cNvSpPr txBox="1">
            <a:spLocks/>
          </p:cNvSpPr>
          <p:nvPr/>
        </p:nvSpPr>
        <p:spPr>
          <a:xfrm>
            <a:off x="468313" y="188913"/>
            <a:ext cx="7543800" cy="647799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zh-CN" altLang="en-US" sz="3200" b="0" kern="0">
                <a:latin typeface="黑体" panose="02010609060101010101" pitchFamily="49" charset="-122"/>
                <a:ea typeface="黑体" panose="02010609060101010101" pitchFamily="49" charset="-122"/>
              </a:rPr>
              <a:t>创建自定义异常类</a:t>
            </a:r>
            <a:endParaRPr lang="zh-CN" altLang="en-US" sz="3200" b="0" kern="0" dirty="0">
              <a:ea typeface="宋体" panose="02010600030101010101" pitchFamily="2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FDFE01B-CBB8-4B99-BE85-C481CB4CBA54}"/>
              </a:ext>
            </a:extLst>
          </p:cNvPr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4">
            <a:extLst>
              <a:ext uri="{FF2B5EF4-FFF2-40B4-BE49-F238E27FC236}">
                <a16:creationId xmlns:a16="http://schemas.microsoft.com/office/drawing/2014/main" id="{F1183162-8A7D-4750-86E6-0ED444E8C8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362" y="170984"/>
            <a:ext cx="8569325" cy="68580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rgbClr val="CB6B23"/>
                </a:solidFill>
                <a:latin typeface="Courier New" panose="02070309020205020404" pitchFamily="49" charset="0"/>
              </a:rPr>
              <a:t>public class </a:t>
            </a:r>
            <a:r>
              <a:rPr lang="en-US" altLang="zh-CN" b="1" dirty="0">
                <a:solidFill>
                  <a:srgbClr val="00B0F0"/>
                </a:solidFill>
                <a:latin typeface="Courier New" panose="02070309020205020404" pitchFamily="49" charset="0"/>
              </a:rPr>
              <a:t>Father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{</a:t>
            </a:r>
          </a:p>
          <a:p>
            <a:pPr eaLnBrk="1" hangingPunct="1"/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	public void 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father_function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() </a:t>
            </a:r>
            <a:r>
              <a:rPr lang="en-US" altLang="zh-CN" b="1" dirty="0">
                <a:solidFill>
                  <a:srgbClr val="00B0F0"/>
                </a:solidFill>
                <a:latin typeface="Courier New" panose="02070309020205020404" pitchFamily="49" charset="0"/>
              </a:rPr>
              <a:t>throws </a:t>
            </a:r>
            <a:r>
              <a:rPr lang="en-US" altLang="zh-CN" b="1" dirty="0" err="1">
                <a:solidFill>
                  <a:srgbClr val="00B0F0"/>
                </a:solidFill>
                <a:latin typeface="Courier New" panose="02070309020205020404" pitchFamily="49" charset="0"/>
              </a:rPr>
              <a:t>IOException</a:t>
            </a:r>
            <a:r>
              <a:rPr lang="en-US" altLang="zh-CN" b="1" dirty="0">
                <a:solidFill>
                  <a:srgbClr val="00B0F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</a:p>
          <a:p>
            <a:pPr eaLnBrk="1" hangingPunct="1"/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		new File("a.txt");</a:t>
            </a:r>
          </a:p>
          <a:p>
            <a:pPr eaLnBrk="1" hangingPunct="1"/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	}</a:t>
            </a:r>
          </a:p>
          <a:p>
            <a:pPr eaLnBrk="1" hangingPunct="1"/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eaLnBrk="1" hangingPunct="1"/>
            <a:r>
              <a:rPr lang="en-US" altLang="zh-CN" b="1" dirty="0">
                <a:solidFill>
                  <a:srgbClr val="CB6B23"/>
                </a:solidFill>
                <a:latin typeface="Courier New" panose="02070309020205020404" pitchFamily="49" charset="0"/>
              </a:rPr>
              <a:t>class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B0F0"/>
                </a:solidFill>
                <a:latin typeface="Courier New" panose="02070309020205020404" pitchFamily="49" charset="0"/>
              </a:rPr>
              <a:t>Son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extends Father {</a:t>
            </a:r>
          </a:p>
          <a:p>
            <a:pPr eaLnBrk="1" hangingPunct="1"/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	@Override</a:t>
            </a:r>
          </a:p>
          <a:p>
            <a:pPr eaLnBrk="1" hangingPunct="1"/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	public void 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father_function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() </a:t>
            </a:r>
            <a:r>
              <a:rPr lang="en-US" altLang="zh-CN" b="1" dirty="0">
                <a:solidFill>
                  <a:srgbClr val="00B0F0"/>
                </a:solidFill>
                <a:latin typeface="Courier New" panose="02070309020205020404" pitchFamily="49" charset="0"/>
              </a:rPr>
              <a:t>throws Exception 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</a:p>
          <a:p>
            <a:pPr eaLnBrk="1" hangingPunct="1"/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		new File("b.txt");</a:t>
            </a:r>
          </a:p>
          <a:p>
            <a:pPr eaLnBrk="1" hangingPunct="1"/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	}</a:t>
            </a:r>
          </a:p>
          <a:p>
            <a:pPr eaLnBrk="1" hangingPunct="1"/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eaLnBrk="1" hangingPunct="1"/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class Test {</a:t>
            </a:r>
          </a:p>
          <a:p>
            <a:pPr eaLnBrk="1" hangingPunct="1"/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	public static void main(String[] 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args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) {</a:t>
            </a:r>
          </a:p>
          <a:p>
            <a:pPr eaLnBrk="1" hangingPunct="1"/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		Father fs = new Son(); </a:t>
            </a:r>
          </a:p>
          <a:p>
            <a:pPr eaLnBrk="1" hangingPunct="1"/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		try {</a:t>
            </a:r>
          </a:p>
          <a:p>
            <a:pPr eaLnBrk="1" hangingPunct="1"/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			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fs.father_function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();</a:t>
            </a:r>
          </a:p>
          <a:p>
            <a:pPr eaLnBrk="1" hangingPunct="1"/>
            <a:endParaRPr lang="en-US" altLang="zh-CN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		}catch (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IOException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ie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) {</a:t>
            </a:r>
          </a:p>
          <a:p>
            <a:pPr eaLnBrk="1" hangingPunct="1"/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			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System.out.println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("</a:t>
            </a:r>
            <a:r>
              <a:rPr lang="zh-CN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发生了异常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");</a:t>
            </a:r>
          </a:p>
          <a:p>
            <a:pPr eaLnBrk="1" hangingPunct="1"/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		}</a:t>
            </a:r>
          </a:p>
          <a:p>
            <a:pPr eaLnBrk="1" hangingPunct="1"/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	}</a:t>
            </a:r>
          </a:p>
          <a:p>
            <a:pPr eaLnBrk="1" hangingPunct="1"/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endParaRPr lang="en-US" altLang="zh-CN" sz="12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0A2A0DE-2D32-49D6-8F5C-49C5476B86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39" y="6046186"/>
            <a:ext cx="7633990" cy="763399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038F1973-A027-4AE3-A343-4ECBA3722E7F}"/>
              </a:ext>
            </a:extLst>
          </p:cNvPr>
          <p:cNvSpPr txBox="1"/>
          <p:nvPr/>
        </p:nvSpPr>
        <p:spPr>
          <a:xfrm>
            <a:off x="86296" y="6024355"/>
            <a:ext cx="8609456" cy="8583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(1)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子类重写父类方法要抛出与父类一致的异常，或者不抛出异常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(2)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子类重写父类方法所抛出的异常不能超过父类的范畴</a:t>
            </a:r>
          </a:p>
        </p:txBody>
      </p:sp>
    </p:spTree>
    <p:extLst>
      <p:ext uri="{BB962C8B-B14F-4D97-AF65-F5344CB8AC3E}">
        <p14:creationId xmlns:p14="http://schemas.microsoft.com/office/powerpoint/2010/main" val="2870514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标题 1"/>
          <p:cNvSpPr>
            <a:spLocks noGrp="1"/>
          </p:cNvSpPr>
          <p:nvPr>
            <p:ph type="title" idx="4294967295"/>
          </p:nvPr>
        </p:nvSpPr>
        <p:spPr>
          <a:xfrm>
            <a:off x="468313" y="188913"/>
            <a:ext cx="7543800" cy="647799"/>
          </a:xfrm>
        </p:spPr>
        <p:txBody>
          <a:bodyPr/>
          <a:lstStyle/>
          <a:p>
            <a:r>
              <a:rPr lang="zh-CN" altLang="en-US" sz="3200" b="0" dirty="0">
                <a:latin typeface="黑体" panose="02010609060101010101" pitchFamily="49" charset="-122"/>
                <a:ea typeface="黑体" panose="02010609060101010101" pitchFamily="49" charset="-122"/>
              </a:rPr>
              <a:t>自定义异常类举例</a:t>
            </a:r>
          </a:p>
        </p:txBody>
      </p:sp>
      <p:sp>
        <p:nvSpPr>
          <p:cNvPr id="58371" name="内容占位符 2"/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pPr>
              <a:defRPr/>
            </a:pP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创建一个自定义异常类：</a:t>
            </a:r>
            <a:r>
              <a:rPr lang="en-US" altLang="zh-CN" sz="2400" b="0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InvalidRadiusException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endParaRPr lang="en-US" altLang="zh-CN" sz="24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表示半径值非法</a:t>
            </a:r>
            <a:endParaRPr lang="en-US" sz="24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defRPr/>
            </a:pP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Java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中，异常类的命名方式一般是：</a:t>
            </a:r>
            <a:r>
              <a:rPr lang="en-US" altLang="zh-CN" sz="2000" b="0" dirty="0" err="1">
                <a:ea typeface="黑体" panose="02010609060101010101" pitchFamily="49" charset="-122"/>
                <a:cs typeface="Times New Roman" panose="02020603050405020304" pitchFamily="18" charset="0"/>
              </a:rPr>
              <a:t>XXXException</a:t>
            </a:r>
            <a:endParaRPr lang="zh-CN" altLang="en-US" sz="2000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6804" name="Rectangle 4"/>
          <p:cNvSpPr>
            <a:spLocks noChangeArrowheads="1"/>
          </p:cNvSpPr>
          <p:nvPr/>
        </p:nvSpPr>
        <p:spPr bwMode="auto">
          <a:xfrm>
            <a:off x="250825" y="2276475"/>
            <a:ext cx="8569325" cy="4320877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 class </a:t>
            </a:r>
            <a:r>
              <a:rPr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InvalidRadiusException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extends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Exception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private double 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radius;</a:t>
            </a:r>
          </a:p>
          <a:p>
            <a:pPr eaLnBrk="1" hangingPunct="1"/>
            <a:endParaRPr lang="en-US" altLang="zh-CN" sz="20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    public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InvalidRadiusException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double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radius)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{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super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("Invalid radius " + radius);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2000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this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.radius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radius;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pPr eaLnBrk="1" hangingPunct="1"/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    public double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getRadius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()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{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radius;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endParaRPr lang="en-US" altLang="zh-CN" sz="12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标题 1"/>
          <p:cNvSpPr>
            <a:spLocks noGrp="1"/>
          </p:cNvSpPr>
          <p:nvPr>
            <p:ph type="title" idx="4294967295"/>
          </p:nvPr>
        </p:nvSpPr>
        <p:spPr>
          <a:xfrm>
            <a:off x="468313" y="188913"/>
            <a:ext cx="7543800" cy="647799"/>
          </a:xfrm>
        </p:spPr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JAVA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关键字：</a:t>
            </a:r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this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与 </a:t>
            </a:r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super</a:t>
            </a:r>
            <a:endParaRPr lang="zh-CN" altLang="en-US" sz="32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32E56524-FC00-4F5F-9114-EF9794A1AA22}"/>
              </a:ext>
            </a:extLst>
          </p:cNvPr>
          <p:cNvSpPr txBox="1">
            <a:spLocks/>
          </p:cNvSpPr>
          <p:nvPr/>
        </p:nvSpPr>
        <p:spPr bwMode="auto">
          <a:xfrm>
            <a:off x="232852" y="1196752"/>
            <a:ext cx="8227580" cy="460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楷体_GB2312" pitchFamily="49" charset="-122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49" charset="-122"/>
              </a:defRPr>
            </a:lvl5pPr>
            <a:lvl6pPr marL="20558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25130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29702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34274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indent="0">
              <a:buNone/>
            </a:pPr>
            <a:r>
              <a:rPr lang="en-US" altLang="zh-CN" sz="3200" b="0" kern="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this </a:t>
            </a:r>
            <a:r>
              <a:rPr lang="zh-CN" altLang="en-US" sz="3200" b="0" kern="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关键字</a:t>
            </a:r>
            <a:endParaRPr lang="en-US" altLang="zh-CN" sz="3200" b="0" kern="0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0" kern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this</a:t>
            </a:r>
            <a:r>
              <a:rPr lang="zh-CN" altLang="en-US" sz="2400" b="0" kern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理解为：当前对象或当前正在创建的对象</a:t>
            </a:r>
            <a:endParaRPr lang="en-US" altLang="zh-CN" sz="2400" b="0" kern="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0" kern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在类的方法中，可以使用</a:t>
            </a:r>
            <a:r>
              <a:rPr lang="en-US" altLang="zh-CN" sz="2400" b="0" kern="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this.</a:t>
            </a:r>
            <a:r>
              <a:rPr lang="zh-CN" altLang="en-US" sz="2400" b="0" kern="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属性</a:t>
            </a:r>
            <a:r>
              <a:rPr lang="zh-CN" altLang="en-US" sz="2400" b="0" kern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400" b="0" kern="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this.</a:t>
            </a:r>
            <a:r>
              <a:rPr lang="zh-CN" altLang="en-US" sz="2400" b="0" kern="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方法</a:t>
            </a:r>
            <a:r>
              <a:rPr lang="zh-CN" altLang="en-US" sz="2400" b="0" kern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的方式，调用当前对象属性或方法。</a:t>
            </a:r>
            <a:endParaRPr lang="en-US" altLang="zh-CN" sz="2400" b="0" kern="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0" kern="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如果</a:t>
            </a:r>
            <a:r>
              <a:rPr lang="zh-CN" altLang="en-US" sz="2400" b="0" kern="0" dirty="0">
                <a:solidFill>
                  <a:srgbClr val="3366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方法的形参</a:t>
            </a:r>
            <a:r>
              <a:rPr lang="zh-CN" altLang="en-US" sz="2400" b="0" kern="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zh-CN" altLang="en-US" sz="2400" b="0" kern="0" dirty="0">
                <a:solidFill>
                  <a:srgbClr val="3366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类的属性</a:t>
            </a:r>
            <a:r>
              <a:rPr lang="zh-CN" altLang="en-US" sz="2400" b="0" kern="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同名时</a:t>
            </a:r>
            <a:r>
              <a:rPr lang="zh-CN" altLang="en-US" sz="2400" b="0" kern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，我们必须显式的使用</a:t>
            </a:r>
            <a:r>
              <a:rPr lang="en-US" altLang="zh-CN" sz="2400" b="0" kern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this.</a:t>
            </a:r>
            <a:r>
              <a:rPr lang="zh-CN" altLang="en-US" sz="2400" b="0" kern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变量的方式，表明此变量是属性，而非形参。</a:t>
            </a:r>
            <a:endParaRPr lang="en-US" altLang="zh-CN" sz="2400" b="0" kern="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0" kern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使用</a:t>
            </a:r>
            <a:r>
              <a:rPr lang="en-US" altLang="zh-CN" sz="2400" b="0" kern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this</a:t>
            </a:r>
            <a:r>
              <a:rPr lang="zh-CN" altLang="en-US" sz="2400" b="0" kern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访问属性和方法时，如果在本类中未找到，会从父类中查找。</a:t>
            </a:r>
          </a:p>
        </p:txBody>
      </p:sp>
    </p:spTree>
    <p:extLst>
      <p:ext uri="{BB962C8B-B14F-4D97-AF65-F5344CB8AC3E}">
        <p14:creationId xmlns:p14="http://schemas.microsoft.com/office/powerpoint/2010/main" val="317339578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标题 1"/>
          <p:cNvSpPr>
            <a:spLocks noGrp="1"/>
          </p:cNvSpPr>
          <p:nvPr>
            <p:ph type="title" idx="4294967295"/>
          </p:nvPr>
        </p:nvSpPr>
        <p:spPr>
          <a:xfrm>
            <a:off x="468313" y="188913"/>
            <a:ext cx="7543800" cy="647799"/>
          </a:xfrm>
        </p:spPr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JAVA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关键字：</a:t>
            </a:r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this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与 </a:t>
            </a:r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super</a:t>
            </a:r>
            <a:endParaRPr lang="zh-CN" altLang="en-US" sz="32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6804" name="Rectangle 4"/>
          <p:cNvSpPr>
            <a:spLocks noChangeArrowheads="1"/>
          </p:cNvSpPr>
          <p:nvPr/>
        </p:nvSpPr>
        <p:spPr bwMode="auto">
          <a:xfrm>
            <a:off x="129378" y="980728"/>
            <a:ext cx="7848872" cy="5805264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class Person{ // </a:t>
            </a:r>
            <a:r>
              <a:rPr lang="zh-CN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定义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Person</a:t>
            </a:r>
            <a:r>
              <a:rPr lang="zh-CN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类</a:t>
            </a:r>
          </a:p>
          <a:p>
            <a:pPr eaLnBrk="1" hangingPunct="1"/>
            <a:r>
              <a:rPr lang="zh-CN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private String name ;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private int age ;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public Person(){ // </a:t>
            </a:r>
            <a:r>
              <a:rPr lang="zh-CN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无参构造器</a:t>
            </a:r>
          </a:p>
          <a:p>
            <a:pPr eaLnBrk="1" hangingPunct="1"/>
            <a:r>
              <a:rPr lang="zh-CN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System.out.println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("</a:t>
            </a:r>
            <a:r>
              <a:rPr lang="zh-CN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新对象实例化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") ;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}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public Person(String name){</a:t>
            </a:r>
          </a:p>
          <a:p>
            <a:pPr eaLnBrk="1" hangingPunct="1"/>
            <a:r>
              <a:rPr lang="en-US" altLang="zh-CN" sz="2000" b="1" dirty="0">
                <a:solidFill>
                  <a:srgbClr val="3366FF"/>
                </a:solidFill>
                <a:latin typeface="Courier New" panose="02070309020205020404" pitchFamily="49" charset="0"/>
              </a:rPr>
              <a:t>     this(); 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// </a:t>
            </a:r>
            <a:r>
              <a:rPr lang="zh-CN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调用本类中的无参构造器</a:t>
            </a:r>
          </a:p>
          <a:p>
            <a:pPr eaLnBrk="1" hangingPunct="1"/>
            <a:r>
              <a:rPr lang="zh-CN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</a:t>
            </a:r>
            <a:r>
              <a:rPr lang="en-US" altLang="zh-CN" sz="2000" b="1" dirty="0">
                <a:solidFill>
                  <a:srgbClr val="3366FF"/>
                </a:solidFill>
                <a:latin typeface="Courier New" panose="02070309020205020404" pitchFamily="49" charset="0"/>
              </a:rPr>
              <a:t>this.name = name 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}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public Person(String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name,int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age){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</a:t>
            </a:r>
            <a:r>
              <a:rPr lang="en-US" altLang="zh-CN" sz="2000" b="1" dirty="0">
                <a:solidFill>
                  <a:srgbClr val="3366FF"/>
                </a:solidFill>
                <a:latin typeface="Courier New" panose="02070309020205020404" pitchFamily="49" charset="0"/>
              </a:rPr>
              <a:t>this(name) 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; // </a:t>
            </a:r>
            <a:r>
              <a:rPr lang="zh-CN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调用有一个参数的构造器</a:t>
            </a:r>
          </a:p>
          <a:p>
            <a:pPr eaLnBrk="1" hangingPunct="1"/>
            <a:r>
              <a:rPr lang="zh-CN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</a:t>
            </a:r>
            <a:r>
              <a:rPr lang="en-US" altLang="zh-CN" sz="2000" b="1" dirty="0" err="1">
                <a:solidFill>
                  <a:srgbClr val="3366FF"/>
                </a:solidFill>
                <a:latin typeface="Courier New" panose="02070309020205020404" pitchFamily="49" charset="0"/>
              </a:rPr>
              <a:t>this.age</a:t>
            </a:r>
            <a:r>
              <a:rPr lang="en-US" altLang="zh-CN" sz="2000" b="1" dirty="0">
                <a:solidFill>
                  <a:srgbClr val="3366FF"/>
                </a:solidFill>
                <a:latin typeface="Courier New" panose="02070309020205020404" pitchFamily="49" charset="0"/>
              </a:rPr>
              <a:t> = age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}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public String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getInfo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(){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return "</a:t>
            </a:r>
            <a:r>
              <a:rPr lang="zh-CN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姓名：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" + name + "</a:t>
            </a:r>
            <a:r>
              <a:rPr lang="zh-CN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，年龄：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" + age ;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} 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endParaRPr lang="en-US" altLang="zh-CN" sz="12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80106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标题 1"/>
          <p:cNvSpPr>
            <a:spLocks noGrp="1"/>
          </p:cNvSpPr>
          <p:nvPr>
            <p:ph type="title" idx="4294967295"/>
          </p:nvPr>
        </p:nvSpPr>
        <p:spPr>
          <a:xfrm>
            <a:off x="468313" y="188913"/>
            <a:ext cx="7543800" cy="647799"/>
          </a:xfrm>
        </p:spPr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JAVA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关键字：</a:t>
            </a:r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this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与 </a:t>
            </a:r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super</a:t>
            </a:r>
            <a:endParaRPr lang="zh-CN" altLang="en-US" sz="32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32E56524-FC00-4F5F-9114-EF9794A1AA22}"/>
              </a:ext>
            </a:extLst>
          </p:cNvPr>
          <p:cNvSpPr txBox="1">
            <a:spLocks/>
          </p:cNvSpPr>
          <p:nvPr/>
        </p:nvSpPr>
        <p:spPr bwMode="auto">
          <a:xfrm>
            <a:off x="232852" y="1196752"/>
            <a:ext cx="8587620" cy="460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楷体_GB2312" pitchFamily="49" charset="-122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49" charset="-122"/>
              </a:defRPr>
            </a:lvl5pPr>
            <a:lvl6pPr marL="20558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25130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29702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34274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indent="0">
              <a:buNone/>
            </a:pPr>
            <a:r>
              <a:rPr lang="en-US" altLang="zh-CN" sz="3200" b="0" kern="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super </a:t>
            </a:r>
            <a:r>
              <a:rPr lang="zh-CN" altLang="en-US" sz="3200" b="0" kern="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关键字</a:t>
            </a:r>
            <a:endParaRPr lang="en-US" altLang="zh-CN" sz="3200" b="0" kern="0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0" kern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super</a:t>
            </a:r>
            <a:r>
              <a:rPr lang="zh-CN" altLang="en-US" sz="2400" b="0" kern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理解为：父类的</a:t>
            </a:r>
            <a:endParaRPr lang="en-US" altLang="zh-CN" sz="2400" b="0" kern="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0" kern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在子类的方法或构造器中。通过使用</a:t>
            </a:r>
            <a:r>
              <a:rPr lang="en-US" altLang="zh-CN" sz="2400" b="0" kern="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"super.</a:t>
            </a:r>
            <a:r>
              <a:rPr lang="zh-CN" altLang="en-US" sz="2400" b="0" kern="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属性</a:t>
            </a:r>
            <a:r>
              <a:rPr lang="en-US" altLang="zh-CN" sz="2400" b="0" kern="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"</a:t>
            </a:r>
            <a:r>
              <a:rPr lang="zh-CN" altLang="en-US" sz="2400" b="0" kern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400" b="0" kern="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"super.</a:t>
            </a:r>
            <a:r>
              <a:rPr lang="zh-CN" altLang="en-US" sz="2400" b="0" kern="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方法</a:t>
            </a:r>
            <a:r>
              <a:rPr lang="en-US" altLang="zh-CN" sz="2400" b="0" kern="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"</a:t>
            </a:r>
            <a:r>
              <a:rPr lang="zh-CN" altLang="en-US" sz="2400" b="0" kern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的方式，显式的调用父类中声明的属性或方法</a:t>
            </a:r>
            <a:endParaRPr lang="en-US" altLang="zh-CN" sz="2400" b="0" kern="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0" kern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当子类和父类中定义了同名的属性时，必须显式的使用</a:t>
            </a:r>
            <a:r>
              <a:rPr lang="en-US" altLang="zh-CN" sz="2400" b="0" kern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"super.</a:t>
            </a:r>
            <a:r>
              <a:rPr lang="zh-CN" altLang="en-US" sz="2400" b="0" kern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属性</a:t>
            </a:r>
            <a:r>
              <a:rPr lang="en-US" altLang="zh-CN" sz="2400" b="0" kern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"</a:t>
            </a:r>
            <a:r>
              <a:rPr lang="zh-CN" altLang="en-US" sz="2400" b="0" kern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的方式，表明调用的是父类中声明的属性。</a:t>
            </a:r>
            <a:endParaRPr lang="en-US" altLang="zh-CN" sz="2400" b="0" kern="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0" kern="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当子类重写了父类中的方法以后</a:t>
            </a:r>
            <a:r>
              <a:rPr lang="zh-CN" altLang="en-US" sz="2400" b="0" kern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，必须显式的使用</a:t>
            </a:r>
            <a:r>
              <a:rPr lang="en-US" altLang="zh-CN" sz="2400" b="0" kern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"super.</a:t>
            </a:r>
            <a:r>
              <a:rPr lang="zh-CN" altLang="en-US" sz="2400" b="0" kern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方法</a:t>
            </a:r>
            <a:r>
              <a:rPr lang="en-US" altLang="zh-CN" sz="2400" b="0" kern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"</a:t>
            </a:r>
            <a:r>
              <a:rPr lang="zh-CN" altLang="en-US" sz="2400" b="0" kern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调用父类中被重写的方法。</a:t>
            </a:r>
          </a:p>
        </p:txBody>
      </p:sp>
    </p:spTree>
    <p:extLst>
      <p:ext uri="{BB962C8B-B14F-4D97-AF65-F5344CB8AC3E}">
        <p14:creationId xmlns:p14="http://schemas.microsoft.com/office/powerpoint/2010/main" val="427107731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标题 1"/>
          <p:cNvSpPr>
            <a:spLocks noGrp="1"/>
          </p:cNvSpPr>
          <p:nvPr>
            <p:ph type="title" idx="4294967295"/>
          </p:nvPr>
        </p:nvSpPr>
        <p:spPr>
          <a:xfrm>
            <a:off x="468313" y="188913"/>
            <a:ext cx="7543800" cy="647799"/>
          </a:xfrm>
        </p:spPr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JAVA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关键字：</a:t>
            </a:r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this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与 </a:t>
            </a:r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super</a:t>
            </a:r>
            <a:endParaRPr lang="zh-CN" altLang="en-US" sz="32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6804" name="Rectangle 4"/>
          <p:cNvSpPr>
            <a:spLocks noChangeArrowheads="1"/>
          </p:cNvSpPr>
          <p:nvPr/>
        </p:nvSpPr>
        <p:spPr bwMode="auto">
          <a:xfrm>
            <a:off x="106362" y="836712"/>
            <a:ext cx="8569325" cy="5832373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dirty="0">
                <a:solidFill>
                  <a:srgbClr val="CB6B23"/>
                </a:solidFill>
                <a:latin typeface="Courier New" panose="02070309020205020404" pitchFamily="49" charset="0"/>
              </a:rPr>
              <a:t>public class </a:t>
            </a:r>
            <a:r>
              <a:rPr lang="en-US" altLang="zh-CN" sz="2000" b="1" dirty="0">
                <a:solidFill>
                  <a:srgbClr val="00B0F0"/>
                </a:solidFill>
                <a:latin typeface="Courier New" panose="02070309020205020404" pitchFamily="49" charset="0"/>
              </a:rPr>
              <a:t>Person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{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private String name;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private int age;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private Date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birthDate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eaLnBrk="1" hangingPunct="1"/>
            <a:endParaRPr lang="en-US" altLang="zh-CN" sz="20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public Person(String name, int age, Date d) {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this.name = name;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this.age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age;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this.birthDate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d; }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public Person(String name, int age) {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this(name, age, null);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public Person(String name, Date d) {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this(name, 30, d);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public Person(String name) {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this(name, 30);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} 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endParaRPr lang="en-US" altLang="zh-CN" sz="12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540109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标题 1"/>
          <p:cNvSpPr>
            <a:spLocks noGrp="1"/>
          </p:cNvSpPr>
          <p:nvPr>
            <p:ph type="title" idx="4294967295"/>
          </p:nvPr>
        </p:nvSpPr>
        <p:spPr>
          <a:xfrm>
            <a:off x="468313" y="188913"/>
            <a:ext cx="7543800" cy="647799"/>
          </a:xfrm>
        </p:spPr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JAVA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关键字：</a:t>
            </a:r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this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与 </a:t>
            </a:r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super</a:t>
            </a:r>
            <a:endParaRPr lang="zh-CN" altLang="en-US" sz="32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6804" name="Rectangle 4"/>
          <p:cNvSpPr>
            <a:spLocks noChangeArrowheads="1"/>
          </p:cNvSpPr>
          <p:nvPr/>
        </p:nvSpPr>
        <p:spPr bwMode="auto">
          <a:xfrm>
            <a:off x="106362" y="836712"/>
            <a:ext cx="8569325" cy="5832373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zh-CN" sz="2000" b="1" dirty="0">
              <a:solidFill>
                <a:srgbClr val="0070C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sz="2000" b="1" dirty="0">
                <a:solidFill>
                  <a:srgbClr val="CB6B23"/>
                </a:solidFill>
                <a:latin typeface="Courier New" panose="02070309020205020404" pitchFamily="49" charset="0"/>
              </a:rPr>
              <a:t>public class </a:t>
            </a:r>
            <a:r>
              <a:rPr lang="en-US" altLang="zh-CN" sz="2000" b="1" dirty="0">
                <a:solidFill>
                  <a:srgbClr val="00B0F0"/>
                </a:solidFill>
                <a:latin typeface="Courier New" panose="02070309020205020404" pitchFamily="49" charset="0"/>
              </a:rPr>
              <a:t>Student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extends Person 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private String school;</a:t>
            </a:r>
          </a:p>
          <a:p>
            <a:pPr eaLnBrk="1" hangingPunct="1"/>
            <a:endParaRPr lang="en-US" altLang="zh-CN" sz="20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public Student(String name, int age, String s) {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super(name, age);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school = s; 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public Student(String name, String s) {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super(name);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school = s; 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pPr eaLnBrk="1" hangingPunct="1"/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// </a:t>
            </a:r>
            <a:r>
              <a:rPr lang="zh-CN" altLang="en-US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编译出错</a:t>
            </a:r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: no super(),</a:t>
            </a:r>
            <a:r>
              <a:rPr lang="zh-CN" altLang="en-US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系统将调用父类无参数的构造器。</a:t>
            </a:r>
          </a:p>
          <a:p>
            <a:pPr eaLnBrk="1" hangingPunct="1"/>
            <a:r>
              <a:rPr lang="zh-CN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public Student(String s) { 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school = s; 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} 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endParaRPr lang="en-US" altLang="zh-CN" sz="20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endParaRPr lang="en-US" altLang="zh-CN" sz="12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569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680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680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680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标题 1"/>
          <p:cNvSpPr>
            <a:spLocks noGrp="1"/>
          </p:cNvSpPr>
          <p:nvPr>
            <p:ph type="title" idx="4294967295"/>
          </p:nvPr>
        </p:nvSpPr>
        <p:spPr>
          <a:xfrm>
            <a:off x="468313" y="188913"/>
            <a:ext cx="7543800" cy="647799"/>
          </a:xfrm>
        </p:spPr>
        <p:txBody>
          <a:bodyPr/>
          <a:lstStyle/>
          <a:p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子类对象实例化的全过程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1915B626-FB2A-4A7B-A7D8-8729FD3F9667}"/>
              </a:ext>
            </a:extLst>
          </p:cNvPr>
          <p:cNvSpPr txBox="1">
            <a:spLocks/>
          </p:cNvSpPr>
          <p:nvPr/>
        </p:nvSpPr>
        <p:spPr bwMode="auto">
          <a:xfrm>
            <a:off x="107504" y="846928"/>
            <a:ext cx="8443604" cy="5534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楷体_GB2312" pitchFamily="49" charset="-122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49" charset="-122"/>
              </a:defRPr>
            </a:lvl5pPr>
            <a:lvl6pPr marL="20558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25130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29702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34274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indent="0">
              <a:buNone/>
            </a:pPr>
            <a:endParaRPr lang="en-US" altLang="zh-CN" sz="2400" b="0" kern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0" kern="0" dirty="0">
                <a:solidFill>
                  <a:srgbClr val="0099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从结果上来看：（继承性）</a:t>
            </a:r>
            <a:endParaRPr lang="en-US" altLang="zh-CN" sz="2000" b="0" kern="0" dirty="0">
              <a:solidFill>
                <a:srgbClr val="0099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0" kern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子类继承父类以后，就获取了父类中声明的属性或方法。</a:t>
            </a:r>
            <a:endParaRPr lang="en-US" altLang="zh-CN" sz="2000" b="0" kern="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0" kern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创建子类的对象，在堆空间中，就会加载所有父类中声明的属性。</a:t>
            </a:r>
            <a:endParaRPr lang="en-US" altLang="zh-CN" sz="2000" b="0" kern="0" dirty="0">
              <a:solidFill>
                <a:srgbClr val="0099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0" kern="0" dirty="0">
                <a:solidFill>
                  <a:srgbClr val="0099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从过程上来看：</a:t>
            </a:r>
            <a:endParaRPr lang="en-US" altLang="zh-CN" sz="2000" b="0" kern="0" dirty="0">
              <a:solidFill>
                <a:srgbClr val="0099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lvl="1" indent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000" b="0" kern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通过子类的构造器创建子类对象时，一定会直接或间接的</a:t>
            </a:r>
            <a:r>
              <a:rPr lang="zh-CN" altLang="en-US" sz="2000" b="0" kern="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调用其父类的构造器</a:t>
            </a:r>
            <a:r>
              <a:rPr lang="zh-CN" altLang="en-US" sz="2000" b="0" kern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，进而调用父类的父类的构造器，</a:t>
            </a:r>
            <a:r>
              <a:rPr lang="en-US" altLang="zh-CN" sz="2000" b="0" kern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…</a:t>
            </a:r>
            <a:r>
              <a:rPr lang="zh-CN" altLang="en-US" sz="2000" b="0" kern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2000" b="0" kern="0" dirty="0">
              <a:solidFill>
                <a:srgbClr val="0099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0" kern="0" dirty="0">
                <a:solidFill>
                  <a:srgbClr val="0099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明确：</a:t>
            </a:r>
            <a:endParaRPr lang="en-US" altLang="zh-CN" sz="2000" b="0" kern="0" dirty="0">
              <a:solidFill>
                <a:srgbClr val="0099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0" kern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虽然创建子类对象时，调用了父类的构造器，但是自始至终就创建过一个对象，即为</a:t>
            </a:r>
            <a:r>
              <a:rPr lang="en-US" altLang="zh-CN" sz="2000" b="0" kern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new</a:t>
            </a:r>
            <a:r>
              <a:rPr lang="zh-CN" altLang="en-US" sz="2000" b="0" kern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的子类对象。</a:t>
            </a:r>
            <a:endParaRPr lang="en-US" altLang="zh-CN" sz="2000" b="0" kern="0" dirty="0">
              <a:solidFill>
                <a:srgbClr val="0099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altLang="zh-CN" sz="1600" b="0" kern="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274299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标题 1"/>
          <p:cNvSpPr>
            <a:spLocks noGrp="1"/>
          </p:cNvSpPr>
          <p:nvPr>
            <p:ph type="title" idx="4294967295"/>
          </p:nvPr>
        </p:nvSpPr>
        <p:spPr>
          <a:xfrm>
            <a:off x="468313" y="188913"/>
            <a:ext cx="7543800" cy="647799"/>
          </a:xfrm>
        </p:spPr>
        <p:txBody>
          <a:bodyPr/>
          <a:lstStyle/>
          <a:p>
            <a:r>
              <a:rPr lang="zh-CN" altLang="en-US" sz="3200" b="0" dirty="0">
                <a:latin typeface="黑体" panose="02010609060101010101" pitchFamily="49" charset="-122"/>
                <a:ea typeface="黑体" panose="02010609060101010101" pitchFamily="49" charset="-122"/>
              </a:rPr>
              <a:t>自定义异常类举例</a:t>
            </a:r>
          </a:p>
        </p:txBody>
      </p:sp>
      <p:sp>
        <p:nvSpPr>
          <p:cNvPr id="58371" name="内容占位符 2"/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pPr>
              <a:defRPr/>
            </a:pP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创建一个自定义异常类：</a:t>
            </a:r>
            <a:r>
              <a:rPr lang="en-US" altLang="zh-CN" sz="2400" b="0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InvalidRadiusException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endParaRPr lang="en-US" altLang="zh-CN" sz="24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表示半径值非法</a:t>
            </a:r>
            <a:endParaRPr lang="en-US" sz="24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defRPr/>
            </a:pP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Java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中，异常类的命名方式一般是：</a:t>
            </a:r>
            <a:r>
              <a:rPr lang="en-US" altLang="zh-CN" sz="2000" b="0" dirty="0" err="1">
                <a:ea typeface="黑体" panose="02010609060101010101" pitchFamily="49" charset="-122"/>
                <a:cs typeface="Times New Roman" panose="02020603050405020304" pitchFamily="18" charset="0"/>
              </a:rPr>
              <a:t>XXXException</a:t>
            </a:r>
            <a:endParaRPr lang="zh-CN" altLang="en-US" sz="2000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6804" name="Rectangle 4"/>
          <p:cNvSpPr>
            <a:spLocks noChangeArrowheads="1"/>
          </p:cNvSpPr>
          <p:nvPr/>
        </p:nvSpPr>
        <p:spPr bwMode="auto">
          <a:xfrm>
            <a:off x="250825" y="2276475"/>
            <a:ext cx="8569325" cy="4320877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 class </a:t>
            </a:r>
            <a:r>
              <a:rPr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InvalidRadiusException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extends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Exception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private double 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radius;</a:t>
            </a:r>
          </a:p>
          <a:p>
            <a:pPr eaLnBrk="1" hangingPunct="1"/>
            <a:endParaRPr lang="en-US" altLang="zh-CN" sz="20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    public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InvalidRadiusException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double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radius)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{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super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("Invalid radius " + radius);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2000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this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.radius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radius;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pPr eaLnBrk="1" hangingPunct="1"/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    public double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getRadius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()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{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radius;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endParaRPr lang="en-US" altLang="zh-CN" sz="12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234423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4"/>
          <p:cNvSpPr>
            <a:spLocks noChangeArrowheads="1"/>
          </p:cNvSpPr>
          <p:nvPr/>
        </p:nvSpPr>
        <p:spPr bwMode="auto">
          <a:xfrm>
            <a:off x="29925" y="116632"/>
            <a:ext cx="8964612" cy="63373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 class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CircleWithUserException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{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private double 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radius;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private static int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numberOfObjects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0;</a:t>
            </a:r>
          </a:p>
          <a:p>
            <a:pPr eaLnBrk="1" hangingPunct="1"/>
            <a:endParaRPr lang="en-US" altLang="zh-CN" sz="14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CircleWithUserException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() </a:t>
            </a:r>
            <a:r>
              <a:rPr lang="en-US" altLang="zh-CN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throws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InvalidRadiusException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{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this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(1.0);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pPr eaLnBrk="1" hangingPunct="1"/>
            <a:endParaRPr lang="en-US" altLang="zh-CN" sz="14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CircleWithUserException</a:t>
            </a:r>
            <a:r>
              <a:rPr lang="en-US" altLang="zh-CN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(double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newRadius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zh-CN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throws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InvalidRadiusException</a:t>
            </a:r>
            <a:endParaRPr lang="en-US" altLang="zh-CN" sz="14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{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setRadius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newRadius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numberOfObjects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++;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pPr eaLnBrk="1" hangingPunct="1"/>
            <a:endParaRPr lang="en-US" altLang="zh-CN" sz="14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 double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getRadius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() {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radius;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pPr eaLnBrk="1" hangingPunct="1"/>
            <a:endParaRPr lang="en-US" altLang="zh-CN" sz="14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 void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setRadius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double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newRadius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zh-CN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throws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InvalidRadiusException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{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if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(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newRadius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&gt;= 0)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radius =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newRadius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else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</a:t>
            </a:r>
            <a:r>
              <a:rPr lang="en-US" altLang="zh-CN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throw new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InvalidRadiusException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newRadius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pPr eaLnBrk="1" hangingPunct="1"/>
            <a:endParaRPr lang="en-US" altLang="zh-CN" sz="14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 static int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getNumberOfObjects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(){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numberOfObjects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  <p:cxnSp>
        <p:nvCxnSpPr>
          <p:cNvPr id="77827" name="直接连接符 8"/>
          <p:cNvCxnSpPr>
            <a:cxnSpLocks noChangeShapeType="1"/>
          </p:cNvCxnSpPr>
          <p:nvPr/>
        </p:nvCxnSpPr>
        <p:spPr bwMode="auto">
          <a:xfrm>
            <a:off x="4859338" y="4221088"/>
            <a:ext cx="3025775" cy="0"/>
          </a:xfrm>
          <a:prstGeom prst="line">
            <a:avLst/>
          </a:prstGeom>
          <a:noFill/>
          <a:ln w="25400">
            <a:solidFill>
              <a:srgbClr val="FF2929"/>
            </a:solidFill>
            <a:round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7828" name="直接连接符 9"/>
          <p:cNvCxnSpPr>
            <a:cxnSpLocks noChangeShapeType="1"/>
          </p:cNvCxnSpPr>
          <p:nvPr/>
        </p:nvCxnSpPr>
        <p:spPr bwMode="auto">
          <a:xfrm>
            <a:off x="1403350" y="5085184"/>
            <a:ext cx="4608513" cy="0"/>
          </a:xfrm>
          <a:prstGeom prst="line">
            <a:avLst/>
          </a:prstGeom>
          <a:noFill/>
          <a:ln w="25400">
            <a:solidFill>
              <a:srgbClr val="FF2929"/>
            </a:solidFill>
            <a:round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7829" name="直接连接符 8"/>
          <p:cNvCxnSpPr>
            <a:cxnSpLocks noChangeShapeType="1"/>
          </p:cNvCxnSpPr>
          <p:nvPr/>
        </p:nvCxnSpPr>
        <p:spPr bwMode="auto">
          <a:xfrm>
            <a:off x="5840413" y="2132856"/>
            <a:ext cx="2979737" cy="0"/>
          </a:xfrm>
          <a:prstGeom prst="line">
            <a:avLst/>
          </a:prstGeom>
          <a:noFill/>
          <a:ln w="25400">
            <a:solidFill>
              <a:srgbClr val="FF2929"/>
            </a:solidFill>
            <a:round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7830" name="直接连接符 8"/>
          <p:cNvCxnSpPr>
            <a:cxnSpLocks noChangeShapeType="1"/>
          </p:cNvCxnSpPr>
          <p:nvPr/>
        </p:nvCxnSpPr>
        <p:spPr bwMode="auto">
          <a:xfrm>
            <a:off x="4067175" y="1268760"/>
            <a:ext cx="3168650" cy="0"/>
          </a:xfrm>
          <a:prstGeom prst="line">
            <a:avLst/>
          </a:prstGeom>
          <a:noFill/>
          <a:ln w="25400">
            <a:solidFill>
              <a:srgbClr val="FF2929"/>
            </a:solidFill>
            <a:round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8851" name="内容占位符 2"/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8852" name="Rectangle 4"/>
          <p:cNvSpPr>
            <a:spLocks noChangeArrowheads="1"/>
          </p:cNvSpPr>
          <p:nvPr/>
        </p:nvSpPr>
        <p:spPr bwMode="auto">
          <a:xfrm>
            <a:off x="34925" y="1089025"/>
            <a:ext cx="9109075" cy="5148263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>
                <a:solidFill>
                  <a:srgbClr val="0000FF"/>
                </a:solidFill>
                <a:latin typeface="Courier New" panose="02070309020205020404" pitchFamily="49" charset="0"/>
              </a:rPr>
              <a:t>public class </a:t>
            </a:r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TestCircleWithUserException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600" b="1">
                <a:solidFill>
                  <a:srgbClr val="0000FF"/>
                </a:solidFill>
                <a:latin typeface="Courier New" panose="02070309020205020404" pitchFamily="49" charset="0"/>
              </a:rPr>
              <a:t>public static void main</a:t>
            </a:r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(String[] args)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{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1600" b="1">
                <a:solidFill>
                  <a:srgbClr val="0000FF"/>
                </a:solidFill>
                <a:latin typeface="Courier New" panose="02070309020205020404" pitchFamily="49" charset="0"/>
              </a:rPr>
              <a:t>try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{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    CircleWithUserException c1 = </a:t>
            </a:r>
            <a:r>
              <a:rPr lang="en-US" altLang="zh-CN" sz="1600" b="1">
                <a:solidFill>
                  <a:srgbClr val="0000FF"/>
                </a:solidFill>
                <a:latin typeface="Courier New" panose="02070309020205020404" pitchFamily="49" charset="0"/>
              </a:rPr>
              <a:t>new</a:t>
            </a:r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CircleWithUserException(5);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    CircleWithUserException c2 = </a:t>
            </a:r>
            <a:r>
              <a:rPr lang="en-US" altLang="zh-CN" sz="1600" b="1">
                <a:solidFill>
                  <a:srgbClr val="0000FF"/>
                </a:solidFill>
                <a:latin typeface="Courier New" panose="02070309020205020404" pitchFamily="49" charset="0"/>
              </a:rPr>
              <a:t>new</a:t>
            </a:r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CircleWithUserException(-5);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    CircleWithUserException c3 = </a:t>
            </a:r>
            <a:r>
              <a:rPr lang="en-US" altLang="zh-CN" sz="1600" b="1">
                <a:solidFill>
                  <a:srgbClr val="0000FF"/>
                </a:solidFill>
                <a:latin typeface="Courier New" panose="02070309020205020404" pitchFamily="49" charset="0"/>
              </a:rPr>
              <a:t>new</a:t>
            </a:r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CircleWithUserException(0);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}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1600" b="1">
                <a:solidFill>
                  <a:srgbClr val="0000FF"/>
                </a:solidFill>
                <a:latin typeface="Courier New" panose="02070309020205020404" pitchFamily="49" charset="0"/>
              </a:rPr>
              <a:t>catch </a:t>
            </a:r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(InvalidRadiusException ex)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{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    System.out.println("Invalid radius exception occoured, 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                        radius = " + ex.getRadius());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}</a:t>
            </a:r>
          </a:p>
          <a:p>
            <a:pPr eaLnBrk="1" hangingPunct="1"/>
            <a:endParaRPr lang="en-US" altLang="zh-CN" sz="16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System.out.println("Number of objects created: " +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                    CircleWithUserException.getNumberOfObjects());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  <p:cxnSp>
        <p:nvCxnSpPr>
          <p:cNvPr id="78853" name="直接连接符 4"/>
          <p:cNvCxnSpPr>
            <a:cxnSpLocks noChangeShapeType="1"/>
          </p:cNvCxnSpPr>
          <p:nvPr/>
        </p:nvCxnSpPr>
        <p:spPr bwMode="auto">
          <a:xfrm>
            <a:off x="1908175" y="3789363"/>
            <a:ext cx="3095625" cy="0"/>
          </a:xfrm>
          <a:prstGeom prst="line">
            <a:avLst/>
          </a:prstGeom>
          <a:noFill/>
          <a:ln w="25400">
            <a:solidFill>
              <a:srgbClr val="FF2929"/>
            </a:solidFill>
            <a:round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3732" y="56039"/>
            <a:ext cx="8229600" cy="792163"/>
          </a:xfrm>
        </p:spPr>
        <p:txBody>
          <a:bodyPr/>
          <a:lstStyle/>
          <a:p>
            <a:pPr algn="l"/>
            <a:r>
              <a:rPr lang="zh-CN" altLang="en-US" sz="3600" dirty="0"/>
              <a:t>异常处理机制</a:t>
            </a:r>
            <a:r>
              <a:rPr lang="en-US" altLang="zh-CN" sz="3600" dirty="0"/>
              <a:t>-- try/catch</a:t>
            </a:r>
            <a:endParaRPr lang="zh-CN" altLang="en-US" sz="36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4A3EC5B-35BC-449E-9BE2-5D4EB85FD9C5}"/>
              </a:ext>
            </a:extLst>
          </p:cNvPr>
          <p:cNvSpPr txBox="1"/>
          <p:nvPr/>
        </p:nvSpPr>
        <p:spPr>
          <a:xfrm>
            <a:off x="547487" y="848202"/>
            <a:ext cx="8867208" cy="3693319"/>
          </a:xfrm>
          <a:prstGeom prst="rect">
            <a:avLst/>
          </a:prstGeom>
          <a:gradFill>
            <a:gsLst>
              <a:gs pos="0">
                <a:srgbClr val="FFFFCC"/>
              </a:gs>
              <a:gs pos="100000">
                <a:srgbClr val="FFFFFF"/>
              </a:gs>
            </a:gsLst>
            <a:lin ang="5400000" scaled="1"/>
          </a:gradFill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int[]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= {1, 2, 3, 4, 5, 6};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黑体" panose="02010609060101010101" pitchFamily="49" charset="-122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try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{        	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System.out.println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[10]);//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ArrayIndexOutOfBoundsException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ourier New" panose="02070309020205020404" pitchFamily="49" charset="0"/>
              <a:ea typeface="黑体" panose="02010609060101010101" pitchFamily="49" charset="-122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  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System.out.println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(2/0); //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ArithmeticException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ourier New" panose="02070309020205020404" pitchFamily="49" charset="0"/>
              <a:ea typeface="黑体" panose="02010609060101010101" pitchFamily="49" charset="-122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      String s = null; //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NullPointerException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ourier New" panose="02070309020205020404" pitchFamily="49" charset="0"/>
              <a:ea typeface="黑体" panose="02010609060101010101" pitchFamily="49" charset="-122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  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System.out.println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s.equals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("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abc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"));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      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catch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ArrayIndexOutOfBoundsException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e){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       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System.out.println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("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索引越界了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");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      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System.out.println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("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看看我执行了吗？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");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黑体" panose="02010609060101010101" pitchFamily="49" charset="-122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172197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3732" y="56039"/>
            <a:ext cx="8229600" cy="792163"/>
          </a:xfrm>
        </p:spPr>
        <p:txBody>
          <a:bodyPr/>
          <a:lstStyle/>
          <a:p>
            <a:pPr algn="l"/>
            <a:r>
              <a:rPr lang="zh-CN" altLang="en-US" sz="3600" dirty="0"/>
              <a:t>异常处理机制</a:t>
            </a:r>
            <a:r>
              <a:rPr lang="en-US" altLang="zh-CN" sz="3600" dirty="0"/>
              <a:t>-- try/catch</a:t>
            </a:r>
            <a:endParaRPr lang="zh-CN" altLang="en-US" sz="36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4A3EC5B-35BC-449E-9BE2-5D4EB85FD9C5}"/>
              </a:ext>
            </a:extLst>
          </p:cNvPr>
          <p:cNvSpPr txBox="1"/>
          <p:nvPr/>
        </p:nvSpPr>
        <p:spPr>
          <a:xfrm>
            <a:off x="547487" y="848202"/>
            <a:ext cx="8867208" cy="5632311"/>
          </a:xfrm>
          <a:prstGeom prst="rect">
            <a:avLst/>
          </a:prstGeom>
          <a:gradFill>
            <a:gsLst>
              <a:gs pos="0">
                <a:srgbClr val="FFFFCC"/>
              </a:gs>
              <a:gs pos="100000">
                <a:srgbClr val="FFFFFF"/>
              </a:gs>
            </a:gsLst>
            <a:lin ang="5400000" scaled="1"/>
          </a:gradFill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int[]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= {1, 2, 3, 4, 5, 6};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黑体" panose="02010609060101010101" pitchFamily="49" charset="-122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try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{        	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System.out.println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[10]);//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ArrayIndexOutOfBoundsException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ourier New" panose="02070309020205020404" pitchFamily="49" charset="0"/>
              <a:ea typeface="黑体" panose="02010609060101010101" pitchFamily="49" charset="-122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  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System.out.println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(2/0); //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ArithmeticException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ourier New" panose="02070309020205020404" pitchFamily="49" charset="0"/>
              <a:ea typeface="黑体" panose="02010609060101010101" pitchFamily="49" charset="-122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      String s = null; //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NullPointerException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ourier New" panose="02070309020205020404" pitchFamily="49" charset="0"/>
              <a:ea typeface="黑体" panose="02010609060101010101" pitchFamily="49" charset="-122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  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System.out.println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s.equals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("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abc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"));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      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catch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ArrayIndexOutOfBoundsException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){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       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System.out.println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("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索引越界了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");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	 }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catch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ArithmeticException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e){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       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System.out.println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(“</a:t>
            </a:r>
            <a:r>
              <a:rPr lang="zh-CN" altLang="en-US" dirty="0">
                <a:solidFill>
                  <a:srgbClr val="000000"/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除数不能为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0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");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      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       }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catch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NullPointerException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e){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       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System.out.println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("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空指针异常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");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       }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catch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(Exception e){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       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System.out.println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("Exception");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      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黑体" panose="02010609060101010101" pitchFamily="49" charset="-122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   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System.out.println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("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看看我执行了吗？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");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黑体" panose="02010609060101010101" pitchFamily="49" charset="-122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699901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/>
          <p:cNvSpPr>
            <a:spLocks noGrp="1"/>
          </p:cNvSpPr>
          <p:nvPr>
            <p:ph type="title"/>
          </p:nvPr>
        </p:nvSpPr>
        <p:spPr>
          <a:xfrm>
            <a:off x="468313" y="188913"/>
            <a:ext cx="7488063" cy="647799"/>
          </a:xfrm>
        </p:spPr>
        <p:txBody>
          <a:bodyPr/>
          <a:lstStyle/>
          <a:p>
            <a:br>
              <a:rPr lang="zh-CN" altLang="en-US" sz="3200" b="0" dirty="0"/>
            </a:br>
            <a:r>
              <a:rPr lang="zh-CN" altLang="en-US" sz="3200" dirty="0"/>
              <a:t>关于开发中异常处理的建议 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9875" name="内容占位符 2"/>
          <p:cNvSpPr>
            <a:spLocks noGrp="1"/>
          </p:cNvSpPr>
          <p:nvPr>
            <p:ph idx="1"/>
          </p:nvPr>
        </p:nvSpPr>
        <p:spPr>
          <a:xfrm>
            <a:off x="468313" y="1268760"/>
            <a:ext cx="8229600" cy="5328245"/>
          </a:xfrm>
        </p:spPr>
        <p:txBody>
          <a:bodyPr/>
          <a:lstStyle/>
          <a:p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在中间层组件中抛出异常，在界面层组件中捕获异常</a:t>
            </a:r>
            <a:endParaRPr lang="en-US" altLang="zh-CN" sz="24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在底层组件中捕获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JVM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抛出的“只有程序员能看懂的”异常，转换为中间层的业务逻辑异常，再由界面层捕获以提供有意义的信息。</a:t>
            </a:r>
            <a:endParaRPr lang="en-US" altLang="zh-CN" sz="24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自身能够处理的异常，不要再向外界抛出。</a:t>
            </a:r>
            <a:endParaRPr lang="en-US" altLang="zh-CN" sz="24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尽可能地在靠近异常发生的地方捕获并处理异常。</a:t>
            </a:r>
            <a:endParaRPr lang="en-US" altLang="zh-CN" sz="24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尽可能地捕获最具体的异常类型，不要在中间层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catch(Exception)</a:t>
            </a:r>
          </a:p>
          <a:p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在开发阶段捕获并显示所有异常信息，发布阶段要移除部分代码，以避免“过于专业”的异常信息困扰用户，特别地，系统发布之后，不要将服务端异常的详细信息发给客户端，以免被黑客利用。</a:t>
            </a:r>
            <a:endParaRPr lang="en-US" altLang="zh-CN" sz="24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130228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/>
          <p:cNvSpPr>
            <a:spLocks noGrp="1"/>
          </p:cNvSpPr>
          <p:nvPr>
            <p:ph type="title"/>
          </p:nvPr>
        </p:nvSpPr>
        <p:spPr>
          <a:xfrm>
            <a:off x="468313" y="188913"/>
            <a:ext cx="7488063" cy="647799"/>
          </a:xfrm>
        </p:spPr>
        <p:txBody>
          <a:bodyPr/>
          <a:lstStyle/>
          <a:p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实际应用中的经验总结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555A7BE-110C-44C5-8829-E6561D123899}"/>
              </a:ext>
            </a:extLst>
          </p:cNvPr>
          <p:cNvSpPr txBox="1">
            <a:spLocks/>
          </p:cNvSpPr>
          <p:nvPr/>
        </p:nvSpPr>
        <p:spPr>
          <a:xfrm>
            <a:off x="18336" y="1556792"/>
            <a:ext cx="8892480" cy="421957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lang="zh-CN" alt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在多重</a:t>
            </a:r>
            <a:r>
              <a:rPr lang="en-US" altLang="zh-CN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catch</a:t>
            </a:r>
            <a:r>
              <a:rPr lang="zh-CN" alt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块后面，可以加一个</a:t>
            </a:r>
            <a:r>
              <a:rPr lang="en-US" altLang="zh-CN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catch (Exception) </a:t>
            </a:r>
            <a:r>
              <a:rPr lang="zh-CN" alt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来处理可能会被遗漏的异常</a:t>
            </a:r>
            <a:endParaRPr lang="en-US" altLang="zh-CN" sz="1800" b="1" dirty="0">
              <a:solidFill>
                <a:schemeClr val="tx1">
                  <a:lumMod val="95000"/>
                  <a:lumOff val="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lang="zh-CN" alt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对于不确定的代码，也可以加上</a:t>
            </a:r>
            <a:r>
              <a:rPr lang="en-US" altLang="zh-CN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try-catch</a:t>
            </a:r>
            <a:r>
              <a:rPr lang="zh-CN" alt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，处理潜在的异常</a:t>
            </a:r>
            <a:endParaRPr lang="en-US" altLang="zh-CN" sz="1800" b="1" dirty="0">
              <a:solidFill>
                <a:schemeClr val="tx1">
                  <a:lumMod val="95000"/>
                  <a:lumOff val="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3.</a:t>
            </a:r>
            <a:r>
              <a:rPr lang="zh-CN" alt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尽量去处理异常</a:t>
            </a:r>
            <a:r>
              <a:rPr lang="en-US" altLang="zh-CN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切忌只是简单地调用</a:t>
            </a:r>
            <a:r>
              <a:rPr lang="en-US" altLang="zh-CN" sz="1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printStackTrace</a:t>
            </a:r>
            <a:r>
              <a:rPr lang="en-US" altLang="zh-CN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()</a:t>
            </a:r>
            <a:r>
              <a:rPr lang="zh-CN" alt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去打印输出</a:t>
            </a:r>
            <a:endParaRPr lang="en-US" altLang="zh-CN" sz="1800" b="1" dirty="0">
              <a:solidFill>
                <a:schemeClr val="tx1">
                  <a:lumMod val="95000"/>
                  <a:lumOff val="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4.</a:t>
            </a:r>
            <a:r>
              <a:rPr lang="zh-CN" alt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具体如何处理异常，需要根据不同的业务需求和异常类型去决定</a:t>
            </a:r>
            <a:endParaRPr lang="en-US" altLang="zh-CN" sz="1800" b="1" dirty="0">
              <a:solidFill>
                <a:schemeClr val="tx1">
                  <a:lumMod val="95000"/>
                  <a:lumOff val="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5.</a:t>
            </a:r>
            <a:r>
              <a:rPr lang="zh-CN" alt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尽量添加</a:t>
            </a:r>
            <a:r>
              <a:rPr lang="en-US" altLang="zh-CN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finally</a:t>
            </a:r>
            <a:r>
              <a:rPr lang="zh-CN" alt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语句块去释放占用的资源</a:t>
            </a:r>
          </a:p>
        </p:txBody>
      </p:sp>
    </p:spTree>
    <p:extLst>
      <p:ext uri="{BB962C8B-B14F-4D97-AF65-F5344CB8AC3E}">
        <p14:creationId xmlns:p14="http://schemas.microsoft.com/office/powerpoint/2010/main" val="3059176840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/>
          <p:cNvSpPr>
            <a:spLocks noGrp="1"/>
          </p:cNvSpPr>
          <p:nvPr>
            <p:ph type="title"/>
          </p:nvPr>
        </p:nvSpPr>
        <p:spPr>
          <a:xfrm>
            <a:off x="468313" y="188913"/>
            <a:ext cx="7488063" cy="647799"/>
          </a:xfrm>
        </p:spPr>
        <p:txBody>
          <a:bodyPr/>
          <a:lstStyle/>
          <a:p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小结</a:t>
            </a:r>
          </a:p>
        </p:txBody>
      </p:sp>
      <p:sp>
        <p:nvSpPr>
          <p:cNvPr id="79875" name="内容占位符 2"/>
          <p:cNvSpPr>
            <a:spLocks noGrp="1"/>
          </p:cNvSpPr>
          <p:nvPr>
            <p:ph idx="1"/>
          </p:nvPr>
        </p:nvSpPr>
        <p:spPr>
          <a:xfrm>
            <a:off x="468313" y="981075"/>
            <a:ext cx="8229600" cy="4896197"/>
          </a:xfrm>
        </p:spPr>
        <p:txBody>
          <a:bodyPr/>
          <a:lstStyle/>
          <a:p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理解异常和异常处理</a:t>
            </a:r>
          </a:p>
          <a:p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区别异常的类型：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Error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（严重的）与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Exception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（不严重的），必检异常与免检异常</a:t>
            </a:r>
          </a:p>
          <a:p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在方法头中声明异常</a:t>
            </a:r>
          </a:p>
          <a:p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在方法中抛出异常</a:t>
            </a:r>
          </a:p>
          <a:p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用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try-catch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块处理异常</a:t>
            </a:r>
          </a:p>
          <a:p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解释异常的传播</a:t>
            </a:r>
          </a:p>
          <a:p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try-catch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块中重新抛出异常</a:t>
            </a:r>
          </a:p>
          <a:p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try-catch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块中使用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finally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子句</a:t>
            </a:r>
          </a:p>
          <a:p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了解何时使用异常</a:t>
            </a:r>
          </a:p>
          <a:p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声明自定义异常类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/>
          <p:cNvSpPr>
            <a:spLocks noGrp="1"/>
          </p:cNvSpPr>
          <p:nvPr>
            <p:ph type="title"/>
          </p:nvPr>
        </p:nvSpPr>
        <p:spPr>
          <a:xfrm>
            <a:off x="468313" y="188913"/>
            <a:ext cx="7488063" cy="647799"/>
          </a:xfrm>
        </p:spPr>
        <p:txBody>
          <a:bodyPr/>
          <a:lstStyle/>
          <a:p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练习题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555A7BE-110C-44C5-8829-E6561D123899}"/>
              </a:ext>
            </a:extLst>
          </p:cNvPr>
          <p:cNvSpPr txBox="1">
            <a:spLocks/>
          </p:cNvSpPr>
          <p:nvPr/>
        </p:nvSpPr>
        <p:spPr>
          <a:xfrm>
            <a:off x="251520" y="1124744"/>
            <a:ext cx="9214230" cy="421957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20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选择题</a:t>
            </a:r>
            <a:endParaRPr lang="en-US" altLang="zh-CN" sz="2000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1800" b="1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1.Java </a:t>
            </a:r>
            <a:r>
              <a:rPr lang="zh-CN" altLang="en-US" sz="1800" b="1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中用来抛出异常的关键字是</a:t>
            </a:r>
            <a:r>
              <a:rPr lang="en-US" altLang="zh-CN" sz="1800" b="1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()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AutoNum type="alphaUcPeriod"/>
              <a:tabLst/>
              <a:defRPr/>
            </a:pPr>
            <a:r>
              <a:rPr lang="en-US" altLang="zh-CN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try B. catch C. throw D. finally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altLang="zh-CN" sz="1800" b="1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lang="zh-CN" altLang="en-US" sz="1800" b="1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在异常处理中，释放资源、关闭文件等应由</a:t>
            </a:r>
            <a:r>
              <a:rPr lang="en-US" altLang="zh-CN" sz="1800" b="1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___</a:t>
            </a:r>
            <a:r>
              <a:rPr lang="zh-CN" altLang="en-US" sz="1800" b="1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处理</a:t>
            </a:r>
            <a:r>
              <a:rPr lang="en-US" altLang="zh-CN" sz="1800" b="1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()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altLang="zh-CN" sz="1800" dirty="0" err="1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A.try</a:t>
            </a:r>
            <a:r>
              <a:rPr lang="en-US" altLang="zh-CN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语句 </a:t>
            </a:r>
            <a:r>
              <a:rPr lang="en-US" altLang="zh-CN" sz="1800" dirty="0" err="1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B.catch</a:t>
            </a:r>
            <a:r>
              <a:rPr lang="en-US" altLang="zh-CN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语句 </a:t>
            </a:r>
            <a:r>
              <a:rPr lang="en-US" altLang="zh-CN" sz="1800" dirty="0" err="1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C.finally</a:t>
            </a:r>
            <a:r>
              <a:rPr lang="en-US" altLang="zh-CN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语句 </a:t>
            </a:r>
            <a:r>
              <a:rPr lang="en-US" altLang="zh-CN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D. throw</a:t>
            </a:r>
            <a:r>
              <a:rPr lang="zh-CN" altLang="en-US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语句</a:t>
            </a:r>
            <a:endParaRPr lang="en-US" altLang="zh-CN" sz="1800" dirty="0">
              <a:solidFill>
                <a:sysClr val="windowText" lastClr="000000">
                  <a:lumMod val="85000"/>
                  <a:lumOff val="15000"/>
                </a:sysClr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altLang="zh-CN" sz="1800" b="1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3.finally </a:t>
            </a:r>
            <a:r>
              <a:rPr lang="zh-CN" altLang="en-US" sz="1800" b="1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语句块中的代码</a:t>
            </a:r>
            <a:r>
              <a:rPr lang="en-US" altLang="zh-CN" sz="1800" b="1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()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altLang="zh-CN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A.</a:t>
            </a:r>
            <a:r>
              <a:rPr lang="zh-CN" altLang="en-US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总是被执行 </a:t>
            </a:r>
            <a:r>
              <a:rPr lang="en-US" altLang="zh-CN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B.</a:t>
            </a:r>
            <a:r>
              <a:rPr lang="zh-CN" altLang="en-US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try</a:t>
            </a:r>
            <a:r>
              <a:rPr lang="zh-CN" altLang="en-US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语句块后面没有</a:t>
            </a:r>
            <a:r>
              <a:rPr lang="en-US" altLang="zh-CN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catch </a:t>
            </a:r>
            <a:r>
              <a:rPr lang="zh-CN" altLang="en-US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时，</a:t>
            </a:r>
            <a:r>
              <a:rPr lang="en-US" altLang="zh-CN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finally</a:t>
            </a:r>
            <a:r>
              <a:rPr lang="zh-CN" altLang="en-US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中的代码才会被执行</a:t>
            </a:r>
            <a:endParaRPr lang="en-US" altLang="zh-CN" sz="1800" dirty="0">
              <a:solidFill>
                <a:sysClr val="windowText" lastClr="000000">
                  <a:lumMod val="85000"/>
                  <a:lumOff val="15000"/>
                </a:sysClr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altLang="zh-CN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C.</a:t>
            </a:r>
            <a:r>
              <a:rPr lang="zh-CN" altLang="en-US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异常发生时才被执行 </a:t>
            </a:r>
            <a:r>
              <a:rPr lang="en-US" altLang="zh-CN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D.</a:t>
            </a:r>
            <a:r>
              <a:rPr lang="zh-CN" altLang="en-US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异常没有发生时才被执行</a:t>
            </a:r>
          </a:p>
        </p:txBody>
      </p:sp>
    </p:spTree>
    <p:extLst>
      <p:ext uri="{BB962C8B-B14F-4D97-AF65-F5344CB8AC3E}">
        <p14:creationId xmlns:p14="http://schemas.microsoft.com/office/powerpoint/2010/main" val="71725326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/>
          <p:cNvSpPr>
            <a:spLocks noGrp="1"/>
          </p:cNvSpPr>
          <p:nvPr>
            <p:ph type="title"/>
          </p:nvPr>
        </p:nvSpPr>
        <p:spPr>
          <a:xfrm>
            <a:off x="468313" y="188913"/>
            <a:ext cx="7488063" cy="647799"/>
          </a:xfrm>
        </p:spPr>
        <p:txBody>
          <a:bodyPr/>
          <a:lstStyle/>
          <a:p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练习题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555A7BE-110C-44C5-8829-E6561D123899}"/>
              </a:ext>
            </a:extLst>
          </p:cNvPr>
          <p:cNvSpPr txBox="1">
            <a:spLocks/>
          </p:cNvSpPr>
          <p:nvPr/>
        </p:nvSpPr>
        <p:spPr>
          <a:xfrm>
            <a:off x="251520" y="1124744"/>
            <a:ext cx="9214230" cy="421957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20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选择题</a:t>
            </a:r>
            <a:endParaRPr lang="en-US" altLang="zh-CN" sz="2000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1800" b="1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4.</a:t>
            </a:r>
            <a:r>
              <a:rPr lang="zh-CN" altLang="en-US" sz="1800" b="1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对于 </a:t>
            </a:r>
            <a:r>
              <a:rPr lang="en-US" altLang="zh-CN" sz="1800" b="1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try{ ... }catch...</a:t>
            </a:r>
            <a:r>
              <a:rPr lang="zh-CN" altLang="en-US" sz="1800" b="1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语句的排列方式，下列描述正确的是</a:t>
            </a:r>
            <a:r>
              <a:rPr lang="en-US" altLang="zh-CN" sz="1800" b="1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()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AutoNum type="alphaUcPeriod"/>
              <a:tabLst/>
              <a:defRPr/>
            </a:pPr>
            <a:r>
              <a:rPr lang="zh-CN" altLang="en-US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子类异常在前，父类异常在后</a:t>
            </a:r>
            <a:endParaRPr lang="en-US" altLang="zh-CN" sz="1800" dirty="0">
              <a:solidFill>
                <a:sysClr val="windowText" lastClr="000000">
                  <a:lumMod val="85000"/>
                  <a:lumOff val="15000"/>
                </a:sysClr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AutoNum type="alphaUcPeriod"/>
              <a:tabLst/>
              <a:defRPr/>
            </a:pPr>
            <a:r>
              <a:rPr lang="zh-CN" altLang="en-US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父类异常在前，子类异常在后</a:t>
            </a:r>
            <a:endParaRPr lang="en-US" altLang="zh-CN" sz="1800" dirty="0">
              <a:solidFill>
                <a:sysClr val="windowText" lastClr="000000">
                  <a:lumMod val="85000"/>
                  <a:lumOff val="15000"/>
                </a:sysClr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AutoNum type="alphaUcPeriod"/>
              <a:tabLst/>
              <a:defRPr/>
            </a:pPr>
            <a:r>
              <a:rPr lang="zh-CN" altLang="en-US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只能有子类异常</a:t>
            </a:r>
            <a:endParaRPr lang="en-US" altLang="zh-CN" sz="1800" dirty="0">
              <a:solidFill>
                <a:sysClr val="windowText" lastClr="000000">
                  <a:lumMod val="85000"/>
                  <a:lumOff val="15000"/>
                </a:sysClr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AutoNum type="alphaUcPeriod"/>
              <a:tabLst/>
              <a:defRPr/>
            </a:pPr>
            <a:r>
              <a:rPr lang="zh-CN" altLang="en-US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父类异常不能与子类异常同时出现</a:t>
            </a:r>
            <a:endParaRPr lang="en-US" altLang="zh-CN" sz="1800" dirty="0">
              <a:solidFill>
                <a:sysClr val="windowText" lastClr="000000">
                  <a:lumMod val="85000"/>
                  <a:lumOff val="15000"/>
                </a:sysClr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087085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/>
          <p:cNvSpPr>
            <a:spLocks noGrp="1"/>
          </p:cNvSpPr>
          <p:nvPr>
            <p:ph type="title"/>
          </p:nvPr>
        </p:nvSpPr>
        <p:spPr>
          <a:xfrm>
            <a:off x="468313" y="188913"/>
            <a:ext cx="7488063" cy="647799"/>
          </a:xfrm>
        </p:spPr>
        <p:txBody>
          <a:bodyPr/>
          <a:lstStyle/>
          <a:p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练习题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555A7BE-110C-44C5-8829-E6561D123899}"/>
              </a:ext>
            </a:extLst>
          </p:cNvPr>
          <p:cNvSpPr txBox="1">
            <a:spLocks/>
          </p:cNvSpPr>
          <p:nvPr/>
        </p:nvSpPr>
        <p:spPr>
          <a:xfrm>
            <a:off x="251520" y="1052736"/>
            <a:ext cx="9214230" cy="421957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20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仔细阅读以下代码，关于程序描述正确的是</a:t>
            </a:r>
            <a:r>
              <a:rPr lang="en-US" altLang="zh-CN" sz="20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()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ea typeface="阿里巴巴普惠体" panose="00020600040101010101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CN" sz="1800" dirty="0">
              <a:solidFill>
                <a:sysClr val="windowText" lastClr="000000">
                  <a:lumMod val="85000"/>
                  <a:lumOff val="15000"/>
                </a:sysClr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5A7D02E-E98D-4AD8-9B9D-E2A0E3D3EF50}"/>
              </a:ext>
            </a:extLst>
          </p:cNvPr>
          <p:cNvSpPr txBox="1"/>
          <p:nvPr/>
        </p:nvSpPr>
        <p:spPr>
          <a:xfrm>
            <a:off x="323528" y="1697457"/>
            <a:ext cx="7560840" cy="3754874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altLang="zh-CN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testException</a:t>
            </a:r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main(String[] </a:t>
            </a:r>
            <a:r>
              <a:rPr lang="en-US" altLang="zh-CN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try{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zh-CN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("main");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ma();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zh-CN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("main2");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}catch (Exception e){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zh-CN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(“In catch");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altLang="zh-CN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ma(){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("ma1");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throw new </a:t>
            </a:r>
            <a:r>
              <a:rPr lang="en-US" altLang="zh-CN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NullPointerException</a:t>
            </a:r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("ma2");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A38720C-608E-461C-A156-2BCE8B063964}"/>
              </a:ext>
            </a:extLst>
          </p:cNvPr>
          <p:cNvSpPr txBox="1"/>
          <p:nvPr/>
        </p:nvSpPr>
        <p:spPr>
          <a:xfrm>
            <a:off x="468313" y="5632350"/>
            <a:ext cx="384450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/>
              <a:t>A. </a:t>
            </a:r>
            <a:r>
              <a:rPr lang="zh-CN" altLang="en-US" sz="1600" dirty="0"/>
              <a:t>编译出错</a:t>
            </a:r>
          </a:p>
          <a:p>
            <a:r>
              <a:rPr lang="en-US" altLang="zh-CN" sz="1600" dirty="0"/>
              <a:t>B. </a:t>
            </a:r>
            <a:r>
              <a:rPr lang="zh-CN" altLang="en-US" sz="1600" dirty="0"/>
              <a:t>编译正常，输出 </a:t>
            </a:r>
            <a:r>
              <a:rPr lang="en-US" altLang="zh-CN" sz="1600" dirty="0"/>
              <a:t>main1 ma1 In Catch</a:t>
            </a:r>
          </a:p>
          <a:p>
            <a:r>
              <a:rPr lang="en-US" altLang="zh-CN" sz="1600" dirty="0"/>
              <a:t>C. </a:t>
            </a:r>
            <a:r>
              <a:rPr lang="zh-CN" altLang="en-US" sz="1600" dirty="0"/>
              <a:t>编译正常，运行时出错</a:t>
            </a:r>
          </a:p>
          <a:p>
            <a:r>
              <a:rPr lang="en-US" altLang="zh-CN" sz="1600" dirty="0"/>
              <a:t>D. </a:t>
            </a:r>
            <a:r>
              <a:rPr lang="zh-CN" altLang="en-US" sz="1600" dirty="0"/>
              <a:t>以上描述都不正确</a:t>
            </a:r>
          </a:p>
        </p:txBody>
      </p:sp>
    </p:spTree>
    <p:extLst>
      <p:ext uri="{BB962C8B-B14F-4D97-AF65-F5344CB8AC3E}">
        <p14:creationId xmlns:p14="http://schemas.microsoft.com/office/powerpoint/2010/main" val="179330720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/>
          <p:cNvSpPr>
            <a:spLocks noGrp="1"/>
          </p:cNvSpPr>
          <p:nvPr>
            <p:ph type="title"/>
          </p:nvPr>
        </p:nvSpPr>
        <p:spPr>
          <a:xfrm>
            <a:off x="468313" y="188913"/>
            <a:ext cx="7488063" cy="647799"/>
          </a:xfrm>
        </p:spPr>
        <p:txBody>
          <a:bodyPr/>
          <a:lstStyle/>
          <a:p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练习题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555A7BE-110C-44C5-8829-E6561D123899}"/>
              </a:ext>
            </a:extLst>
          </p:cNvPr>
          <p:cNvSpPr txBox="1">
            <a:spLocks/>
          </p:cNvSpPr>
          <p:nvPr/>
        </p:nvSpPr>
        <p:spPr>
          <a:xfrm>
            <a:off x="251520" y="1124744"/>
            <a:ext cx="9214230" cy="421957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20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仔细阅读以下代码，将代码补全</a:t>
            </a:r>
            <a:endParaRPr lang="en-US" altLang="zh-CN" sz="1800" dirty="0">
              <a:solidFill>
                <a:sysClr val="windowText" lastClr="000000">
                  <a:lumMod val="85000"/>
                  <a:lumOff val="15000"/>
                </a:sysClr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1FAB638-BD73-485E-AC10-03B30A891822}"/>
              </a:ext>
            </a:extLst>
          </p:cNvPr>
          <p:cNvSpPr txBox="1"/>
          <p:nvPr/>
        </p:nvSpPr>
        <p:spPr>
          <a:xfrm>
            <a:off x="275075" y="1874728"/>
            <a:ext cx="7560840" cy="3108543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altLang="zh-CN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TestThrow</a:t>
            </a:r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main(String[] </a:t>
            </a:r>
            <a:r>
              <a:rPr lang="en-US" altLang="zh-CN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throwException</a:t>
            </a:r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(10);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altLang="zh-CN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</a:t>
            </a:r>
            <a:r>
              <a:rPr lang="en-US" altLang="zh-CN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throwException</a:t>
            </a:r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(int n) {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(n == 0) {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// </a:t>
            </a:r>
            <a:r>
              <a:rPr lang="zh-CN" altLang="en-US" sz="1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抛出一个 </a:t>
            </a:r>
            <a:r>
              <a:rPr lang="en-US" altLang="zh-CN" sz="1400" b="1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NullPointerException</a:t>
            </a:r>
            <a:r>
              <a:rPr lang="en-US" altLang="zh-CN" sz="1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zh-CN" altLang="en-US" sz="1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异常</a:t>
            </a:r>
          </a:p>
          <a:p>
            <a:r>
              <a:rPr lang="zh-CN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 else {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// </a:t>
            </a:r>
            <a:r>
              <a:rPr lang="zh-CN" altLang="en-US" sz="1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抛出一个 </a:t>
            </a:r>
            <a:r>
              <a:rPr lang="en-US" altLang="zh-CN" sz="1400" b="1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ClassCastException</a:t>
            </a:r>
            <a:r>
              <a:rPr lang="en-US" altLang="zh-CN" sz="1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zh-CN" altLang="en-US" sz="1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异常</a:t>
            </a:r>
          </a:p>
          <a:p>
            <a:r>
              <a:rPr lang="zh-CN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zh-CN" altLang="en-US" sz="1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并设定异常信息为 </a:t>
            </a:r>
            <a:r>
              <a:rPr lang="en-US" altLang="zh-CN" sz="1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zh-CN" altLang="en-US" sz="1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类型转换出错</a:t>
            </a:r>
            <a:r>
              <a:rPr lang="en-US" altLang="zh-CN" sz="1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974833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/>
          <p:cNvSpPr>
            <a:spLocks noGrp="1"/>
          </p:cNvSpPr>
          <p:nvPr>
            <p:ph type="title"/>
          </p:nvPr>
        </p:nvSpPr>
        <p:spPr>
          <a:xfrm>
            <a:off x="468313" y="188913"/>
            <a:ext cx="7488063" cy="647799"/>
          </a:xfrm>
        </p:spPr>
        <p:txBody>
          <a:bodyPr/>
          <a:lstStyle/>
          <a:p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练习题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555A7BE-110C-44C5-8829-E6561D123899}"/>
              </a:ext>
            </a:extLst>
          </p:cNvPr>
          <p:cNvSpPr txBox="1">
            <a:spLocks/>
          </p:cNvSpPr>
          <p:nvPr/>
        </p:nvSpPr>
        <p:spPr>
          <a:xfrm>
            <a:off x="251520" y="1124744"/>
            <a:ext cx="9214230" cy="421957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20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仔细阅读以下代码，将代码补全</a:t>
            </a:r>
            <a:endParaRPr lang="en-US" altLang="zh-CN" sz="1800" dirty="0">
              <a:solidFill>
                <a:sysClr val="windowText" lastClr="000000">
                  <a:lumMod val="85000"/>
                  <a:lumOff val="15000"/>
                </a:sysClr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1FAB638-BD73-485E-AC10-03B30A891822}"/>
              </a:ext>
            </a:extLst>
          </p:cNvPr>
          <p:cNvSpPr txBox="1"/>
          <p:nvPr/>
        </p:nvSpPr>
        <p:spPr>
          <a:xfrm>
            <a:off x="323528" y="1883446"/>
            <a:ext cx="7560840" cy="3754874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altLang="zh-CN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TestThrow</a:t>
            </a:r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main(String[] </a:t>
            </a:r>
            <a:r>
              <a:rPr lang="en-US" altLang="zh-CN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throwException</a:t>
            </a:r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(10);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altLang="zh-CN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</a:t>
            </a:r>
            <a:r>
              <a:rPr lang="en-US" altLang="zh-CN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throwException</a:t>
            </a:r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(int n) {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(n == 0) {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zh-CN" sz="1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throw new </a:t>
            </a:r>
            <a:r>
              <a:rPr lang="en-US" altLang="zh-CN" sz="1400" b="1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NullPointerException</a:t>
            </a:r>
            <a:r>
              <a:rPr lang="en-US" altLang="zh-CN" sz="1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} else {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zh-CN" sz="1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try {</a:t>
            </a:r>
          </a:p>
          <a:p>
            <a:r>
              <a:rPr lang="en-US" altLang="zh-CN" sz="1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throw new </a:t>
            </a:r>
            <a:r>
              <a:rPr lang="en-US" altLang="zh-CN" sz="1400" b="1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ClassCastException</a:t>
            </a:r>
            <a:r>
              <a:rPr lang="en-US" altLang="zh-CN" sz="1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zh-CN" altLang="en-US" sz="1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类型转换出错</a:t>
            </a:r>
            <a:r>
              <a:rPr lang="en-US" altLang="zh-CN" sz="1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r>
              <a:rPr lang="en-US" altLang="zh-CN" sz="1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} catch (</a:t>
            </a:r>
            <a:r>
              <a:rPr lang="en-US" altLang="zh-CN" sz="1400" b="1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ClassCastException</a:t>
            </a:r>
            <a:r>
              <a:rPr lang="en-US" altLang="zh-CN" sz="1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e) {</a:t>
            </a:r>
          </a:p>
          <a:p>
            <a:r>
              <a:rPr lang="en-US" altLang="zh-CN" sz="1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altLang="zh-CN" sz="1400" b="1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altLang="zh-CN" sz="1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1400" b="1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e.getMessage</a:t>
            </a:r>
            <a:r>
              <a:rPr lang="en-US" altLang="zh-CN" sz="1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US" altLang="zh-CN" sz="1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}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629768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/>
          <p:cNvSpPr>
            <a:spLocks noGrp="1"/>
          </p:cNvSpPr>
          <p:nvPr>
            <p:ph type="title"/>
          </p:nvPr>
        </p:nvSpPr>
        <p:spPr>
          <a:xfrm>
            <a:off x="468313" y="188913"/>
            <a:ext cx="7488063" cy="647799"/>
          </a:xfrm>
        </p:spPr>
        <p:txBody>
          <a:bodyPr/>
          <a:lstStyle/>
          <a:p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练习题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555A7BE-110C-44C5-8829-E6561D123899}"/>
              </a:ext>
            </a:extLst>
          </p:cNvPr>
          <p:cNvSpPr txBox="1">
            <a:spLocks/>
          </p:cNvSpPr>
          <p:nvPr/>
        </p:nvSpPr>
        <p:spPr>
          <a:xfrm>
            <a:off x="251520" y="1124744"/>
            <a:ext cx="9214230" cy="421957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20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代码改错：仔细阅读以下代码，将错误的代码进行改正</a:t>
            </a:r>
            <a:endParaRPr lang="en-US" altLang="zh-CN" sz="1800" dirty="0">
              <a:solidFill>
                <a:sysClr val="windowText" lastClr="000000">
                  <a:lumMod val="85000"/>
                  <a:lumOff val="15000"/>
                </a:sysClr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1FAB638-BD73-485E-AC10-03B30A891822}"/>
              </a:ext>
            </a:extLst>
          </p:cNvPr>
          <p:cNvSpPr txBox="1"/>
          <p:nvPr/>
        </p:nvSpPr>
        <p:spPr>
          <a:xfrm>
            <a:off x="395536" y="1700808"/>
            <a:ext cx="7416824" cy="5047536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altLang="zh-CN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MyException</a:t>
            </a:r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{}</a:t>
            </a:r>
          </a:p>
          <a:p>
            <a:endParaRPr lang="en-US" altLang="zh-CN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altLang="zh-CN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TestException</a:t>
            </a:r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main(String[] </a:t>
            </a:r>
            <a:r>
              <a:rPr lang="en-US" altLang="zh-CN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ma();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int ma() {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try {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m();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return 100;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} catch (Exception e) {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zh-CN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("Exception");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} catch (</a:t>
            </a:r>
            <a:r>
              <a:rPr lang="en-US" altLang="zh-CN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ArithmeticException</a:t>
            </a:r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e) {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zh-CN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altLang="zh-CN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ArithmeticException</a:t>
            </a:r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m() {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throw new </a:t>
            </a:r>
            <a:r>
              <a:rPr lang="en-US" altLang="zh-CN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MyException</a:t>
            </a:r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zh-CN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626583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/>
          <p:cNvSpPr>
            <a:spLocks noGrp="1"/>
          </p:cNvSpPr>
          <p:nvPr>
            <p:ph type="title"/>
          </p:nvPr>
        </p:nvSpPr>
        <p:spPr>
          <a:xfrm>
            <a:off x="468313" y="188913"/>
            <a:ext cx="7488063" cy="647799"/>
          </a:xfrm>
        </p:spPr>
        <p:txBody>
          <a:bodyPr/>
          <a:lstStyle/>
          <a:p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练习题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91FAB638-BD73-485E-AC10-03B30A891822}"/>
              </a:ext>
            </a:extLst>
          </p:cNvPr>
          <p:cNvSpPr txBox="1"/>
          <p:nvPr/>
        </p:nvSpPr>
        <p:spPr>
          <a:xfrm>
            <a:off x="323528" y="353015"/>
            <a:ext cx="7560840" cy="6340197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altLang="zh-CN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MyException</a:t>
            </a:r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extends </a:t>
            </a:r>
            <a:r>
              <a:rPr lang="en-US" altLang="zh-CN" sz="1400" b="1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RuntimeException</a:t>
            </a:r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altLang="zh-CN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MyException</a:t>
            </a:r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super("</a:t>
            </a:r>
            <a:r>
              <a:rPr lang="en-US" altLang="zh-CN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MyException</a:t>
            </a:r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altLang="zh-CN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TestException</a:t>
            </a:r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main(String[] </a:t>
            </a:r>
            <a:r>
              <a:rPr lang="en-US" altLang="zh-CN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ma();</a:t>
            </a:r>
          </a:p>
          <a:p>
            <a:r>
              <a:rPr lang="zh-CN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int a = ma();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</a:t>
            </a:r>
            <a:r>
              <a:rPr lang="en-US" altLang="zh-CN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(a);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altLang="zh-CN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int ma() {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try {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m();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} </a:t>
            </a:r>
            <a:r>
              <a:rPr lang="en-US" altLang="zh-CN" sz="1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catch (</a:t>
            </a:r>
            <a:r>
              <a:rPr lang="en-US" altLang="zh-CN" sz="1400" b="1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ArithmeticException</a:t>
            </a:r>
            <a:r>
              <a:rPr lang="en-US" altLang="zh-CN" sz="1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e) {</a:t>
            </a:r>
          </a:p>
          <a:p>
            <a:r>
              <a:rPr lang="en-US" altLang="zh-CN" sz="1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zh-CN" sz="1400" b="1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altLang="zh-CN" sz="1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altLang="zh-CN" sz="1400" b="1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ArithmeticException</a:t>
            </a:r>
            <a:r>
              <a:rPr lang="en-US" altLang="zh-CN" sz="1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} catch (Exception e) {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zh-CN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("Exception");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} </a:t>
            </a:r>
            <a:r>
              <a:rPr lang="en-US" altLang="zh-CN" sz="1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finally {</a:t>
            </a:r>
          </a:p>
          <a:p>
            <a:r>
              <a:rPr lang="en-US" altLang="zh-CN" sz="1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return 100;</a:t>
            </a:r>
          </a:p>
          <a:p>
            <a:r>
              <a:rPr lang="en-US" altLang="zh-CN" sz="1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altLang="zh-CN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m() {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throw new </a:t>
            </a:r>
            <a:r>
              <a:rPr lang="en-US" altLang="zh-CN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MyException</a:t>
            </a:r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zh-CN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输出结果？？？</a:t>
            </a:r>
            <a:endParaRPr lang="en-US" altLang="zh-CN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1473567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/>
          <p:cNvSpPr>
            <a:spLocks noGrp="1"/>
          </p:cNvSpPr>
          <p:nvPr>
            <p:ph type="title"/>
          </p:nvPr>
        </p:nvSpPr>
        <p:spPr>
          <a:xfrm>
            <a:off x="468313" y="188913"/>
            <a:ext cx="7488063" cy="647799"/>
          </a:xfrm>
        </p:spPr>
        <p:txBody>
          <a:bodyPr/>
          <a:lstStyle/>
          <a:p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练习题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占位符 4">
            <a:extLst>
              <a:ext uri="{FF2B5EF4-FFF2-40B4-BE49-F238E27FC236}">
                <a16:creationId xmlns:a16="http://schemas.microsoft.com/office/drawing/2014/main" id="{FFB0D9AE-A56C-4664-A141-79207CF5A05F}"/>
              </a:ext>
            </a:extLst>
          </p:cNvPr>
          <p:cNvSpPr txBox="1">
            <a:spLocks/>
          </p:cNvSpPr>
          <p:nvPr/>
        </p:nvSpPr>
        <p:spPr>
          <a:xfrm>
            <a:off x="4624" y="1268760"/>
            <a:ext cx="9214230" cy="421957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20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编程：创建两个自定义异常类 </a:t>
            </a:r>
            <a:r>
              <a:rPr lang="en-US" altLang="zh-CN" sz="20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MyException1 </a:t>
            </a:r>
            <a:r>
              <a:rPr lang="zh-CN" altLang="en-US" sz="20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和 </a:t>
            </a:r>
            <a:r>
              <a:rPr lang="en-US" altLang="zh-CN" sz="20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MyException2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需求：</a:t>
            </a:r>
            <a:endParaRPr lang="en-US" altLang="zh-CN" sz="1800" dirty="0">
              <a:solidFill>
                <a:sysClr val="windowText" lastClr="000000">
                  <a:lumMod val="85000"/>
                  <a:lumOff val="15000"/>
                </a:sysClr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MyException1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为必检异常，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MyException2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为运行时异常；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这两个异常均具有两个构造函数：一个无参，另一个带字符串参数，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参数表示产生异常的信息。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CN" sz="1800" dirty="0">
              <a:solidFill>
                <a:sysClr val="windowText" lastClr="000000">
                  <a:lumMod val="85000"/>
                  <a:lumOff val="15000"/>
                </a:sysClr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693502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/>
          <p:cNvSpPr>
            <a:spLocks noGrp="1"/>
          </p:cNvSpPr>
          <p:nvPr>
            <p:ph type="title"/>
          </p:nvPr>
        </p:nvSpPr>
        <p:spPr>
          <a:xfrm>
            <a:off x="468313" y="188913"/>
            <a:ext cx="7488063" cy="647799"/>
          </a:xfrm>
        </p:spPr>
        <p:txBody>
          <a:bodyPr/>
          <a:lstStyle/>
          <a:p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练习题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B00F2206-A0F5-43CC-871B-7D5807B5D1BF}"/>
              </a:ext>
            </a:extLst>
          </p:cNvPr>
          <p:cNvSpPr txBox="1"/>
          <p:nvPr/>
        </p:nvSpPr>
        <p:spPr>
          <a:xfrm>
            <a:off x="323528" y="1052736"/>
            <a:ext cx="7560840" cy="5262979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CB6B2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altLang="zh-CN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MyRuntimeException</a:t>
            </a:r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extends </a:t>
            </a:r>
            <a:r>
              <a:rPr lang="en-US" altLang="zh-CN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NullPointerException</a:t>
            </a:r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1400" b="1" dirty="0">
                <a:solidFill>
                  <a:srgbClr val="CB6B2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MyRuntimeException</a:t>
            </a:r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(){}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1400" b="1" dirty="0">
                <a:solidFill>
                  <a:srgbClr val="CB6B2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MyRuntimeException</a:t>
            </a:r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(String message){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super(message);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class Test{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1400" b="1" dirty="0">
                <a:solidFill>
                  <a:srgbClr val="CB6B2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static void </a:t>
            </a:r>
            <a:r>
              <a:rPr lang="en-US" altLang="zh-CN" sz="1400" b="1" dirty="0">
                <a:solidFill>
                  <a:srgbClr val="3366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(String[] </a:t>
            </a:r>
            <a:r>
              <a:rPr lang="en-US" altLang="zh-CN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try {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throw new </a:t>
            </a:r>
            <a:r>
              <a:rPr lang="en-US" altLang="zh-CN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MyRuntimeException</a:t>
            </a:r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zh-CN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我的详细信息</a:t>
            </a:r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} catch (</a:t>
            </a:r>
            <a:r>
              <a:rPr lang="en-US" altLang="zh-CN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MyRuntimeException</a:t>
            </a:r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e) {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zh-CN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e.getMessage</a:t>
            </a:r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altLang="zh-CN" sz="1400" b="1" dirty="0">
                <a:solidFill>
                  <a:srgbClr val="CB6B2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MyException1 extends Exception{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MyException1(){}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MyException1(String message){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super(message);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84074764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/>
          <p:cNvSpPr>
            <a:spLocks noGrp="1"/>
          </p:cNvSpPr>
          <p:nvPr>
            <p:ph type="title"/>
          </p:nvPr>
        </p:nvSpPr>
        <p:spPr>
          <a:xfrm>
            <a:off x="468313" y="188913"/>
            <a:ext cx="7488063" cy="647799"/>
          </a:xfrm>
        </p:spPr>
        <p:txBody>
          <a:bodyPr/>
          <a:lstStyle/>
          <a:p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练习题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综合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占位符 4">
            <a:extLst>
              <a:ext uri="{FF2B5EF4-FFF2-40B4-BE49-F238E27FC236}">
                <a16:creationId xmlns:a16="http://schemas.microsoft.com/office/drawing/2014/main" id="{FFB0D9AE-A56C-4664-A141-79207CF5A05F}"/>
              </a:ext>
            </a:extLst>
          </p:cNvPr>
          <p:cNvSpPr txBox="1">
            <a:spLocks/>
          </p:cNvSpPr>
          <p:nvPr/>
        </p:nvSpPr>
        <p:spPr>
          <a:xfrm>
            <a:off x="251520" y="1319212"/>
            <a:ext cx="9214230" cy="421957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20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键盘录入数据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ea typeface="阿里巴巴普惠体" panose="00020600040101010101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需求：</a:t>
            </a:r>
            <a:endParaRPr lang="en-US" altLang="zh-CN" sz="1800" dirty="0">
              <a:solidFill>
                <a:sysClr val="windowText" lastClr="000000">
                  <a:lumMod val="85000"/>
                  <a:lumOff val="15000"/>
                </a:sysClr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键盘录入自己未来好朋友的姓名和年龄。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姓名的长度在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3-10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之间，年龄的范围为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18-40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岁，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en-US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超出这个范围是异常数据不能赋值，需要重新录入，一直录到正确为止。</a:t>
            </a:r>
            <a:endParaRPr lang="en-US" altLang="zh-CN" sz="1800" dirty="0">
              <a:solidFill>
                <a:sysClr val="windowText" lastClr="000000">
                  <a:lumMod val="85000"/>
                  <a:lumOff val="15000"/>
                </a:sysClr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提升：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en-US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需要考虑用户在键盘录入时的所有情况。</a:t>
            </a:r>
            <a:endParaRPr lang="en-US" altLang="zh-CN" sz="1800" dirty="0">
              <a:solidFill>
                <a:sysClr val="windowText" lastClr="000000">
                  <a:lumMod val="85000"/>
                  <a:lumOff val="15000"/>
                </a:sysClr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比如：录入年龄时超出范围，录入年龄时录入了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abc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等情况。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CN" sz="1800" dirty="0">
              <a:solidFill>
                <a:sysClr val="windowText" lastClr="000000">
                  <a:lumMod val="85000"/>
                  <a:lumOff val="15000"/>
                </a:sysClr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34FEBD2-E4A0-414C-97A5-D3F081B261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5229200"/>
            <a:ext cx="4934204" cy="1257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989857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4"/>
          <p:cNvSpPr>
            <a:spLocks noChangeArrowheads="1"/>
          </p:cNvSpPr>
          <p:nvPr/>
        </p:nvSpPr>
        <p:spPr bwMode="auto">
          <a:xfrm>
            <a:off x="29925" y="116632"/>
            <a:ext cx="8964612" cy="7056784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public class Test {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public static void main(String[]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args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) {</a:t>
            </a:r>
          </a:p>
          <a:p>
            <a:pPr eaLnBrk="1" hangingPunct="1"/>
            <a:endParaRPr lang="en-US" altLang="zh-CN" sz="14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</a:t>
            </a:r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</a:rPr>
              <a:t> //1.</a:t>
            </a:r>
            <a:r>
              <a:rPr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</a:rPr>
              <a:t>创建键盘录入的对象</a:t>
            </a:r>
          </a:p>
          <a:p>
            <a:pPr eaLnBrk="1" hangingPunct="1"/>
            <a:r>
              <a:rPr lang="zh-CN" alt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Scanner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sc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new Scanner(System.in);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</a:rPr>
              <a:t>//2.</a:t>
            </a:r>
            <a:r>
              <a:rPr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</a:rPr>
              <a:t>创建好朋友的对象</a:t>
            </a:r>
          </a:p>
          <a:p>
            <a:pPr eaLnBrk="1" hangingPunct="1"/>
            <a:r>
              <a:rPr lang="zh-CN" alt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Friend gf = new Friend();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while (true) {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</a:t>
            </a:r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</a:rPr>
              <a:t>//3.</a:t>
            </a:r>
            <a:r>
              <a:rPr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</a:rPr>
              <a:t>接收好朋友的姓名</a:t>
            </a:r>
          </a:p>
          <a:p>
            <a:pPr eaLnBrk="1" hangingPunct="1"/>
            <a:r>
              <a:rPr lang="zh-CN" alt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</a:t>
            </a:r>
            <a:r>
              <a:rPr lang="en-US" altLang="zh-CN" sz="1400" b="1" dirty="0">
                <a:solidFill>
                  <a:srgbClr val="CB6B23"/>
                </a:solidFill>
                <a:latin typeface="Courier New" panose="02070309020205020404" pitchFamily="49" charset="0"/>
              </a:rPr>
              <a:t>try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{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System.out.println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(“</a:t>
            </a:r>
            <a:r>
              <a:rPr lang="zh-CN" alt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请输入你好朋友的名字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");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String name =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sc.nextLine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();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gf.setName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(name);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</a:t>
            </a:r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</a:rPr>
              <a:t>//4.</a:t>
            </a:r>
            <a:r>
              <a:rPr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</a:rPr>
              <a:t>接收好朋友的年龄</a:t>
            </a:r>
          </a:p>
          <a:p>
            <a:pPr eaLnBrk="1" hangingPunct="1"/>
            <a:r>
              <a:rPr lang="zh-CN" alt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System.out.println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(“</a:t>
            </a:r>
            <a:r>
              <a:rPr lang="zh-CN" alt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请输入你好朋友的年龄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");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String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ageStr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sc.nextLine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();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int age =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Integer.parseInt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ageStr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gf.setAge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(age);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</a:t>
            </a:r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</a:rPr>
              <a:t>//</a:t>
            </a:r>
            <a:r>
              <a:rPr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</a:rPr>
              <a:t>如果所有的数据都是正确的，那么跳出循环</a:t>
            </a:r>
          </a:p>
          <a:p>
            <a:pPr eaLnBrk="1" hangingPunct="1"/>
            <a:r>
              <a:rPr lang="zh-CN" alt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break;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} </a:t>
            </a:r>
            <a:r>
              <a:rPr lang="en-US" altLang="zh-CN" sz="1400" b="1" dirty="0">
                <a:solidFill>
                  <a:srgbClr val="CB6B23"/>
                </a:solidFill>
                <a:latin typeface="Courier New" panose="02070309020205020404" pitchFamily="49" charset="0"/>
              </a:rPr>
              <a:t>catch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(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NumberFormatException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e) {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e.printStackTrace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();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} </a:t>
            </a:r>
            <a:r>
              <a:rPr lang="en-US" altLang="zh-CN" sz="1400" b="1" dirty="0">
                <a:solidFill>
                  <a:srgbClr val="CB6B23"/>
                </a:solidFill>
                <a:latin typeface="Courier New" panose="02070309020205020404" pitchFamily="49" charset="0"/>
              </a:rPr>
              <a:t>catch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(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RuntimeException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e) {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e.printStackTrace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();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}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}</a:t>
            </a:r>
          </a:p>
          <a:p>
            <a:pPr eaLnBrk="1" hangingPunct="1"/>
            <a:endParaRPr lang="en-US" altLang="zh-CN" sz="14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</a:t>
            </a:r>
            <a:r>
              <a:rPr lang="en-US" altLang="zh-CN" sz="14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</a:rPr>
              <a:t>//5.</a:t>
            </a:r>
            <a:r>
              <a:rPr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</a:rPr>
              <a:t>打印</a:t>
            </a:r>
          </a:p>
          <a:p>
            <a:pPr eaLnBrk="1" hangingPunct="1"/>
            <a:r>
              <a:rPr lang="zh-CN" alt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System.out.println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(gf);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00249074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4"/>
          <p:cNvSpPr>
            <a:spLocks noChangeArrowheads="1"/>
          </p:cNvSpPr>
          <p:nvPr/>
        </p:nvSpPr>
        <p:spPr bwMode="auto">
          <a:xfrm>
            <a:off x="29925" y="116632"/>
            <a:ext cx="8964612" cy="7056784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400" b="1" dirty="0">
                <a:solidFill>
                  <a:srgbClr val="CB6B23"/>
                </a:solidFill>
                <a:latin typeface="Courier New" panose="02070309020205020404" pitchFamily="49" charset="0"/>
              </a:rPr>
              <a:t>public class 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Friend {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400" b="1" dirty="0">
                <a:solidFill>
                  <a:srgbClr val="CB6B23"/>
                </a:solidFill>
                <a:latin typeface="Courier New" panose="02070309020205020404" pitchFamily="49" charset="0"/>
              </a:rPr>
              <a:t>private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String name;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400" b="1" dirty="0">
                <a:solidFill>
                  <a:srgbClr val="CB6B23"/>
                </a:solidFill>
                <a:latin typeface="Courier New" panose="02070309020205020404" pitchFamily="49" charset="0"/>
              </a:rPr>
              <a:t>private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int age;</a:t>
            </a:r>
          </a:p>
          <a:p>
            <a:pPr eaLnBrk="1" hangingPunct="1"/>
            <a:endParaRPr lang="en-US" altLang="zh-CN" sz="14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400" b="1" dirty="0">
                <a:solidFill>
                  <a:srgbClr val="CB6B23"/>
                </a:solidFill>
                <a:latin typeface="Courier New" panose="020703090202050204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Friend() {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400" b="1" dirty="0">
                <a:solidFill>
                  <a:srgbClr val="CB6B23"/>
                </a:solidFill>
                <a:latin typeface="Courier New" panose="020703090202050204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Friend(String name, int age) {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this.name = name;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this.age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age;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400" b="1" dirty="0">
                <a:solidFill>
                  <a:srgbClr val="CB6B23"/>
                </a:solidFill>
                <a:latin typeface="Courier New" panose="020703090202050204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String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getName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() {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return name;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400" b="1" dirty="0">
                <a:solidFill>
                  <a:srgbClr val="CB6B23"/>
                </a:solidFill>
                <a:latin typeface="Courier New" panose="020703090202050204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void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setName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(String name) {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int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len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name.length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();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if(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len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&lt; 3 ||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len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&gt; 10){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throw new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RuntimeException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(); 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}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this.name = name;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400" b="1" dirty="0">
                <a:solidFill>
                  <a:srgbClr val="CB6B23"/>
                </a:solidFill>
                <a:latin typeface="Courier New" panose="020703090202050204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int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getAge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() {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return age;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400" b="1" dirty="0">
                <a:solidFill>
                  <a:srgbClr val="CB6B23"/>
                </a:solidFill>
                <a:latin typeface="Courier New" panose="020703090202050204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400" b="1" dirty="0">
                <a:solidFill>
                  <a:srgbClr val="CB6B23"/>
                </a:solidFill>
                <a:latin typeface="Courier New" panose="02070309020205020404" pitchFamily="49" charset="0"/>
              </a:rPr>
              <a:t>void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setAge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(int age) {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if(age &lt; 18 || age &gt; 40){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throw new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RuntimeException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(); 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}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this.age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age;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400" b="1" dirty="0">
                <a:solidFill>
                  <a:srgbClr val="CB6B23"/>
                </a:solidFill>
                <a:latin typeface="Courier New" panose="020703090202050204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String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toString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() {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return "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GoodFriend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{name = " + name + ", age = " + age + "}";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23939622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4"/>
          <p:cNvSpPr>
            <a:spLocks noChangeArrowheads="1"/>
          </p:cNvSpPr>
          <p:nvPr/>
        </p:nvSpPr>
        <p:spPr bwMode="auto">
          <a:xfrm>
            <a:off x="29925" y="116632"/>
            <a:ext cx="8964612" cy="7056784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public class Test {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public static void main(String[]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args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) {</a:t>
            </a:r>
          </a:p>
          <a:p>
            <a:pPr eaLnBrk="1" hangingPunct="1"/>
            <a:endParaRPr lang="en-US" altLang="zh-CN" sz="14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</a:t>
            </a:r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</a:rPr>
              <a:t> //1.</a:t>
            </a:r>
            <a:r>
              <a:rPr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</a:rPr>
              <a:t>创建键盘录入的对象</a:t>
            </a:r>
          </a:p>
          <a:p>
            <a:pPr eaLnBrk="1" hangingPunct="1"/>
            <a:r>
              <a:rPr lang="zh-CN" alt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Scanner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sc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new Scanner(System.in);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</a:rPr>
              <a:t>//2.</a:t>
            </a:r>
            <a:r>
              <a:rPr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</a:rPr>
              <a:t>创建好朋友的对象</a:t>
            </a:r>
          </a:p>
          <a:p>
            <a:pPr eaLnBrk="1" hangingPunct="1"/>
            <a:r>
              <a:rPr lang="zh-CN" alt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Friend gf = new Friend();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while (true) {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</a:t>
            </a:r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</a:rPr>
              <a:t>//3.</a:t>
            </a:r>
            <a:r>
              <a:rPr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</a:rPr>
              <a:t>接收好朋友的姓名</a:t>
            </a:r>
          </a:p>
          <a:p>
            <a:pPr eaLnBrk="1" hangingPunct="1"/>
            <a:r>
              <a:rPr lang="zh-CN" alt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</a:t>
            </a:r>
            <a:r>
              <a:rPr lang="en-US" altLang="zh-CN" sz="1400" b="1" dirty="0">
                <a:solidFill>
                  <a:srgbClr val="CB6B23"/>
                </a:solidFill>
                <a:latin typeface="Courier New" panose="02070309020205020404" pitchFamily="49" charset="0"/>
              </a:rPr>
              <a:t>try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{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System.out.println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(“</a:t>
            </a:r>
            <a:r>
              <a:rPr lang="zh-CN" alt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请输入你好朋友的名字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");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String name =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sc.nextLine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();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gf.setName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(name);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</a:t>
            </a:r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</a:rPr>
              <a:t>//4.</a:t>
            </a:r>
            <a:r>
              <a:rPr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</a:rPr>
              <a:t>接收好朋友的年龄</a:t>
            </a:r>
          </a:p>
          <a:p>
            <a:pPr eaLnBrk="1" hangingPunct="1"/>
            <a:r>
              <a:rPr lang="zh-CN" alt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System.out.println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(“</a:t>
            </a:r>
            <a:r>
              <a:rPr lang="zh-CN" alt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请输入你好朋友的年龄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");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String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ageStr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sc.nextLine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();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int age =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Integer.parseInt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ageStr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gf.setAge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(age);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</a:t>
            </a:r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</a:rPr>
              <a:t>//</a:t>
            </a:r>
            <a:r>
              <a:rPr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</a:rPr>
              <a:t>如果所有的数据都是正确的，那么跳出循环</a:t>
            </a:r>
          </a:p>
          <a:p>
            <a:pPr eaLnBrk="1" hangingPunct="1"/>
            <a:r>
              <a:rPr lang="zh-CN" alt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break;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} </a:t>
            </a:r>
            <a:r>
              <a:rPr lang="en-US" altLang="zh-CN" sz="1400" b="1" dirty="0">
                <a:solidFill>
                  <a:srgbClr val="CB6B23"/>
                </a:solidFill>
                <a:latin typeface="Courier New" panose="02070309020205020404" pitchFamily="49" charset="0"/>
              </a:rPr>
              <a:t>catch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(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NumberFormatException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e) {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e.printStackTrace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();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} </a:t>
            </a:r>
            <a:r>
              <a:rPr lang="en-US" altLang="zh-CN" sz="1400" b="1" dirty="0">
                <a:solidFill>
                  <a:srgbClr val="CB6B23"/>
                </a:solidFill>
                <a:latin typeface="Courier New" panose="02070309020205020404" pitchFamily="49" charset="0"/>
              </a:rPr>
              <a:t>catch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(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NameFormatException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e) {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e.printStackTrace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();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}</a:t>
            </a:r>
            <a:r>
              <a:rPr lang="en-US" altLang="zh-CN" sz="1400" b="1" dirty="0">
                <a:solidFill>
                  <a:srgbClr val="CB6B23"/>
                </a:solidFill>
                <a:latin typeface="Courier New" panose="02070309020205020404" pitchFamily="49" charset="0"/>
              </a:rPr>
              <a:t>catch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(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AgeOutOfBoundsException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e) {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e.printStackTrace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();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}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}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</a:t>
            </a:r>
            <a:r>
              <a:rPr lang="en-US" altLang="zh-CN" sz="14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</a:rPr>
              <a:t>//5.</a:t>
            </a:r>
            <a:r>
              <a:rPr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</a:rPr>
              <a:t>打印</a:t>
            </a:r>
          </a:p>
          <a:p>
            <a:pPr eaLnBrk="1" hangingPunct="1"/>
            <a:r>
              <a:rPr lang="zh-CN" alt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System.out.println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(gf);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63524077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4"/>
          <p:cNvSpPr>
            <a:spLocks noChangeArrowheads="1"/>
          </p:cNvSpPr>
          <p:nvPr/>
        </p:nvSpPr>
        <p:spPr bwMode="auto">
          <a:xfrm>
            <a:off x="29925" y="116632"/>
            <a:ext cx="8964612" cy="7056784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400" b="1" dirty="0">
                <a:solidFill>
                  <a:srgbClr val="CB6B23"/>
                </a:solidFill>
                <a:latin typeface="Courier New" panose="02070309020205020404" pitchFamily="49" charset="0"/>
              </a:rPr>
              <a:t>public class 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Friend {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400" b="1" dirty="0">
                <a:solidFill>
                  <a:srgbClr val="CB6B23"/>
                </a:solidFill>
                <a:latin typeface="Courier New" panose="02070309020205020404" pitchFamily="49" charset="0"/>
              </a:rPr>
              <a:t>private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String name;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400" b="1" dirty="0">
                <a:solidFill>
                  <a:srgbClr val="CB6B23"/>
                </a:solidFill>
                <a:latin typeface="Courier New" panose="02070309020205020404" pitchFamily="49" charset="0"/>
              </a:rPr>
              <a:t>private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int age;</a:t>
            </a:r>
          </a:p>
          <a:p>
            <a:pPr eaLnBrk="1" hangingPunct="1"/>
            <a:endParaRPr lang="en-US" altLang="zh-CN" sz="14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400" b="1" dirty="0">
                <a:solidFill>
                  <a:srgbClr val="CB6B23"/>
                </a:solidFill>
                <a:latin typeface="Courier New" panose="020703090202050204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Friend() {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400" b="1" dirty="0">
                <a:solidFill>
                  <a:srgbClr val="CB6B23"/>
                </a:solidFill>
                <a:latin typeface="Courier New" panose="020703090202050204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Friend(String name, int age) {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this.name = name;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this.age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age;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400" b="1" dirty="0">
                <a:solidFill>
                  <a:srgbClr val="CB6B23"/>
                </a:solidFill>
                <a:latin typeface="Courier New" panose="020703090202050204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String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getName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() {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return name;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400" b="1" dirty="0">
                <a:solidFill>
                  <a:srgbClr val="CB6B23"/>
                </a:solidFill>
                <a:latin typeface="Courier New" panose="020703090202050204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void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setName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(String name) {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int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len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name.length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();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if(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len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&lt; 3 ||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len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&gt; 10){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throw new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NameFormatException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(name + "</a:t>
            </a:r>
            <a:r>
              <a:rPr lang="zh-CN" alt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格式有误，长度应该为：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3~10");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}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this.name = name;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400" b="1" dirty="0">
                <a:solidFill>
                  <a:srgbClr val="CB6B23"/>
                </a:solidFill>
                <a:latin typeface="Courier New" panose="020703090202050204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int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getAge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() {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return age;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400" b="1" dirty="0">
                <a:solidFill>
                  <a:srgbClr val="CB6B23"/>
                </a:solidFill>
                <a:latin typeface="Courier New" panose="020703090202050204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400" b="1" dirty="0">
                <a:solidFill>
                  <a:srgbClr val="CB6B23"/>
                </a:solidFill>
                <a:latin typeface="Courier New" panose="02070309020205020404" pitchFamily="49" charset="0"/>
              </a:rPr>
              <a:t>void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setAge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(int age) {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if(age &lt; 18 || age &gt; 40){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throw new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AgeOutOfBoundsException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(age + "</a:t>
            </a:r>
            <a:r>
              <a:rPr lang="zh-CN" alt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超出了范围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");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}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this.age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age;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400" b="1" dirty="0">
                <a:solidFill>
                  <a:srgbClr val="CB6B23"/>
                </a:solidFill>
                <a:latin typeface="Courier New" panose="020703090202050204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String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toString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() {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return "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GoodFriend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{name = " + name + ", age = " + age + "}";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72907585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4"/>
          <p:cNvSpPr>
            <a:spLocks noChangeArrowheads="1"/>
          </p:cNvSpPr>
          <p:nvPr/>
        </p:nvSpPr>
        <p:spPr bwMode="auto">
          <a:xfrm>
            <a:off x="0" y="3861048"/>
            <a:ext cx="8964612" cy="2016224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400" b="1" dirty="0">
                <a:solidFill>
                  <a:srgbClr val="CB6B23"/>
                </a:solidFill>
                <a:latin typeface="Courier New" panose="02070309020205020404" pitchFamily="49" charset="0"/>
              </a:rPr>
              <a:t>public class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AgeOutOfBoundsException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extends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RuntimeException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</a:p>
          <a:p>
            <a:pPr eaLnBrk="1" hangingPunct="1"/>
            <a:endParaRPr lang="en-US" altLang="zh-CN" sz="14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public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AgeOutOfBoundsException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() {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pPr eaLnBrk="1" hangingPunct="1"/>
            <a:endParaRPr lang="en-US" altLang="zh-CN" sz="14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public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AgeOutOfBoundsException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(String message) {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super(message);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080487C-1942-45E5-AC61-8FC5DC1ECB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6672"/>
            <a:ext cx="9036496" cy="2736304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400" b="1" dirty="0">
                <a:solidFill>
                  <a:srgbClr val="CB6B23"/>
                </a:solidFill>
                <a:latin typeface="Courier New" panose="02070309020205020404" pitchFamily="49" charset="0"/>
              </a:rPr>
              <a:t>public class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NameFormatException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extends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RuntimeException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</a:p>
          <a:p>
            <a:pPr eaLnBrk="1" hangingPunct="1"/>
            <a:endParaRPr lang="en-US" altLang="zh-CN" sz="14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</a:rPr>
              <a:t>    //</a:t>
            </a:r>
            <a:r>
              <a:rPr lang="en-US" altLang="zh-CN" sz="14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</a:rPr>
              <a:t>NameFormat</a:t>
            </a:r>
            <a:r>
              <a:rPr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</a:rPr>
              <a:t>：当前异常的名字，表示姓名格式化问题</a:t>
            </a:r>
          </a:p>
          <a:p>
            <a:pPr eaLnBrk="1" hangingPunct="1"/>
            <a:r>
              <a:rPr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</a:rPr>
              <a:t>//Exception</a:t>
            </a:r>
            <a:r>
              <a:rPr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</a:rPr>
              <a:t>：表示当前类是一个异常类</a:t>
            </a:r>
          </a:p>
          <a:p>
            <a:pPr eaLnBrk="1" hangingPunct="1"/>
            <a:endParaRPr lang="zh-CN" altLang="en-US" sz="14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zh-CN" alt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public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NameFormatException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() {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pPr eaLnBrk="1" hangingPunct="1"/>
            <a:endParaRPr lang="en-US" altLang="zh-CN" sz="14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public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NameFormatException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(String message) {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super(message);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62383378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/>
          <p:cNvSpPr>
            <a:spLocks noGrp="1"/>
          </p:cNvSpPr>
          <p:nvPr>
            <p:ph type="title"/>
          </p:nvPr>
        </p:nvSpPr>
        <p:spPr>
          <a:xfrm>
            <a:off x="468313" y="188913"/>
            <a:ext cx="7488063" cy="647799"/>
          </a:xfrm>
        </p:spPr>
        <p:txBody>
          <a:bodyPr/>
          <a:lstStyle/>
          <a:p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练习题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555A7BE-110C-44C5-8829-E6561D123899}"/>
              </a:ext>
            </a:extLst>
          </p:cNvPr>
          <p:cNvSpPr txBox="1">
            <a:spLocks/>
          </p:cNvSpPr>
          <p:nvPr/>
        </p:nvSpPr>
        <p:spPr>
          <a:xfrm>
            <a:off x="251520" y="1124744"/>
            <a:ext cx="8892480" cy="421957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20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简述</a:t>
            </a:r>
            <a:r>
              <a:rPr lang="en-US" altLang="zh-CN" sz="2400" b="1" i="0" dirty="0">
                <a:solidFill>
                  <a:srgbClr val="4F4F4F"/>
                </a:solidFill>
                <a:effectLst/>
                <a:latin typeface="PingFang SC"/>
              </a:rPr>
              <a:t> final </a:t>
            </a:r>
            <a:r>
              <a:rPr lang="zh-CN" altLang="en-US" sz="2400" b="1" i="0" dirty="0">
                <a:solidFill>
                  <a:srgbClr val="4F4F4F"/>
                </a:solidFill>
                <a:effectLst/>
                <a:latin typeface="PingFang SC"/>
              </a:rPr>
              <a:t>与 </a:t>
            </a:r>
            <a:r>
              <a:rPr lang="en-US" altLang="zh-CN" sz="2400" b="1" i="0" dirty="0">
                <a:solidFill>
                  <a:srgbClr val="4F4F4F"/>
                </a:solidFill>
                <a:effectLst/>
                <a:latin typeface="PingFang SC"/>
              </a:rPr>
              <a:t>finally </a:t>
            </a:r>
            <a:r>
              <a:rPr lang="zh-CN" altLang="en-US" sz="2400" b="1" i="0" dirty="0">
                <a:solidFill>
                  <a:srgbClr val="4F4F4F"/>
                </a:solidFill>
                <a:effectLst/>
                <a:latin typeface="PingFang SC"/>
              </a:rPr>
              <a:t>的区别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1800" b="1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final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lang="zh-CN" altLang="en-US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当它修饰一个变量时，表示这个变量是常量，一旦赋值就不能被修改。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lang="zh-CN" altLang="en-US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当它修饰一个方法时，表示这个方法不能被子类重写。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3.</a:t>
            </a:r>
            <a:r>
              <a:rPr lang="zh-CN" altLang="en-US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当它修饰一个类时，表示这个类不能被继承。</a:t>
            </a:r>
            <a:endParaRPr lang="en-US" altLang="zh-CN" sz="1800" dirty="0">
              <a:solidFill>
                <a:sysClr val="windowText" lastClr="000000">
                  <a:lumMod val="85000"/>
                  <a:lumOff val="15000"/>
                </a:sysClr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1800" b="1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finally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Java</a:t>
            </a:r>
            <a:r>
              <a:rPr lang="zh-CN" altLang="en-US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中异常处理的一部分。在</a:t>
            </a:r>
            <a:r>
              <a:rPr lang="en-US" altLang="zh-CN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try-catch-finally</a:t>
            </a:r>
            <a:r>
              <a:rPr lang="zh-CN" altLang="en-US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中，无论</a:t>
            </a:r>
            <a:r>
              <a:rPr lang="en-US" altLang="zh-CN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try</a:t>
            </a:r>
            <a:r>
              <a:rPr lang="zh-CN" altLang="en-US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块中的代码是否抛出异常，</a:t>
            </a:r>
            <a:r>
              <a:rPr lang="en-US" altLang="zh-CN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finally</a:t>
            </a:r>
            <a:r>
              <a:rPr lang="zh-CN" altLang="en-US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块中的代码总是会被执行。这使得</a:t>
            </a:r>
            <a:r>
              <a:rPr lang="en-US" altLang="zh-CN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finally</a:t>
            </a:r>
            <a:r>
              <a:rPr lang="zh-CN" altLang="en-US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块成为处理清理工作的理想场所，例如关闭文件、网络连接等。</a:t>
            </a:r>
            <a:endParaRPr lang="en-US" altLang="zh-CN" sz="1800" dirty="0">
              <a:solidFill>
                <a:sysClr val="windowText" lastClr="000000">
                  <a:lumMod val="85000"/>
                  <a:lumOff val="15000"/>
                </a:sysClr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1311465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标题 1"/>
          <p:cNvSpPr>
            <a:spLocks noGrp="1"/>
          </p:cNvSpPr>
          <p:nvPr>
            <p:ph type="title" idx="4294967295"/>
          </p:nvPr>
        </p:nvSpPr>
        <p:spPr>
          <a:xfrm>
            <a:off x="468313" y="188913"/>
            <a:ext cx="7543800" cy="647799"/>
          </a:xfrm>
        </p:spPr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JAVA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关键字：</a:t>
            </a:r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this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与 </a:t>
            </a:r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super</a:t>
            </a:r>
            <a:endParaRPr lang="zh-CN" altLang="en-US" sz="32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32E56524-FC00-4F5F-9114-EF9794A1AA22}"/>
              </a:ext>
            </a:extLst>
          </p:cNvPr>
          <p:cNvSpPr txBox="1">
            <a:spLocks/>
          </p:cNvSpPr>
          <p:nvPr/>
        </p:nvSpPr>
        <p:spPr bwMode="auto">
          <a:xfrm>
            <a:off x="232852" y="1196752"/>
            <a:ext cx="8227580" cy="460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楷体_GB2312" pitchFamily="49" charset="-122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49" charset="-122"/>
              </a:defRPr>
            </a:lvl5pPr>
            <a:lvl6pPr marL="20558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25130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29702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34274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indent="0">
              <a:buNone/>
            </a:pPr>
            <a:r>
              <a:rPr lang="en-US" altLang="zh-CN" sz="3200" b="0" kern="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super </a:t>
            </a:r>
            <a:r>
              <a:rPr lang="zh-CN" altLang="en-US" sz="3200" b="0" kern="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关键字</a:t>
            </a:r>
            <a:endParaRPr lang="en-US" altLang="zh-CN" sz="3200" b="0" kern="0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0" kern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super</a:t>
            </a:r>
            <a:r>
              <a:rPr lang="zh-CN" altLang="en-US" sz="2400" b="0" kern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理解为：父类的</a:t>
            </a:r>
            <a:endParaRPr lang="en-US" altLang="zh-CN" sz="2400" b="0" kern="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0" kern="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super</a:t>
            </a:r>
            <a:r>
              <a:rPr lang="zh-CN" altLang="en-US" sz="2400" b="0" kern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可用于访问父类中定义的属性</a:t>
            </a:r>
            <a:endParaRPr lang="en-US" altLang="zh-CN" sz="2400" b="0" kern="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0" kern="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super</a:t>
            </a:r>
            <a:r>
              <a:rPr lang="zh-CN" altLang="en-US" sz="2400" b="0" kern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可用于调用父类中定义的成员方法</a:t>
            </a:r>
            <a:endParaRPr lang="en-US" altLang="zh-CN" sz="2400" b="0" kern="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0" kern="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super</a:t>
            </a:r>
            <a:r>
              <a:rPr lang="zh-CN" altLang="en-US" sz="2400" b="0" kern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可用于在子类构造器中调用父类的构造器</a:t>
            </a:r>
            <a:endParaRPr lang="en-US" altLang="zh-CN" sz="2400" b="0" kern="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0" kern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尤其当子父类出现同名成员时，可以用</a:t>
            </a:r>
            <a:r>
              <a:rPr lang="en-US" altLang="zh-CN" sz="2400" b="0" kern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super</a:t>
            </a:r>
            <a:r>
              <a:rPr lang="zh-CN" altLang="en-US" sz="2400" b="0" kern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表明调用的是父类中的成员，</a:t>
            </a:r>
            <a:r>
              <a:rPr lang="en-US" altLang="zh-CN" sz="2400" b="0" kern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super</a:t>
            </a:r>
            <a:r>
              <a:rPr lang="zh-CN" altLang="en-US" sz="2400" b="0" kern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的追溯不仅限于直接父类。</a:t>
            </a:r>
          </a:p>
        </p:txBody>
      </p:sp>
    </p:spTree>
    <p:extLst>
      <p:ext uri="{BB962C8B-B14F-4D97-AF65-F5344CB8AC3E}">
        <p14:creationId xmlns:p14="http://schemas.microsoft.com/office/powerpoint/2010/main" val="3707341134"/>
      </p:ext>
    </p:extLst>
  </p:cSld>
  <p:clrMapOvr>
    <a:masterClrMapping/>
  </p:clrMapOvr>
</p:sld>
</file>

<file path=ppt/theme/theme1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ctr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rgbClr val="339966"/>
          </a:buClr>
          <a:buSzTx/>
          <a:buFont typeface="Wingdings" panose="05000000000000000000" pitchFamily="2" charset="2"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urier New" panose="02070309020205020404" pitchFamily="49" charset="0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ctr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rgbClr val="339966"/>
          </a:buClr>
          <a:buSzTx/>
          <a:buFont typeface="Wingdings" panose="05000000000000000000" pitchFamily="2" charset="2"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urier New" panose="02070309020205020404" pitchFamily="49" charset="0"/>
            <a:ea typeface="黑体" panose="02010609060101010101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5656</TotalTime>
  <Words>11213</Words>
  <Application>Microsoft Office PowerPoint</Application>
  <PresentationFormat>全屏显示(4:3)</PresentationFormat>
  <Paragraphs>2047</Paragraphs>
  <Slides>119</Slides>
  <Notes>44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119</vt:i4>
      </vt:variant>
    </vt:vector>
  </HeadingPairs>
  <TitlesOfParts>
    <vt:vector size="134" baseType="lpstr">
      <vt:lpstr>PingFang SC</vt:lpstr>
      <vt:lpstr>阿里巴巴普惠体</vt:lpstr>
      <vt:lpstr>黑体</vt:lpstr>
      <vt:lpstr>楷体</vt:lpstr>
      <vt:lpstr>微软雅黑</vt:lpstr>
      <vt:lpstr>Arial</vt:lpstr>
      <vt:lpstr>Calibri</vt:lpstr>
      <vt:lpstr>Comic Sans MS</vt:lpstr>
      <vt:lpstr>Consolas</vt:lpstr>
      <vt:lpstr>Courier New</vt:lpstr>
      <vt:lpstr>Times New Roman</vt:lpstr>
      <vt:lpstr>Wingdings</vt:lpstr>
      <vt:lpstr>Network</vt:lpstr>
      <vt:lpstr>1_Network</vt:lpstr>
      <vt:lpstr>默认设计模板</vt:lpstr>
      <vt:lpstr>第五章 异常处理</vt:lpstr>
      <vt:lpstr>异常的演示</vt:lpstr>
      <vt:lpstr>5.1 错误处理的方法概述</vt:lpstr>
      <vt:lpstr>5.1 错误处理的方法概述</vt:lpstr>
      <vt:lpstr>5.1 错误处理的方法概述</vt:lpstr>
      <vt:lpstr>5.1 错误处理的方法概述</vt:lpstr>
      <vt:lpstr>5.1 错误处理的方法概述</vt:lpstr>
      <vt:lpstr>第五章 异常处理</vt:lpstr>
      <vt:lpstr>5.2 Java的异常处理机制</vt:lpstr>
      <vt:lpstr>运行错误</vt:lpstr>
      <vt:lpstr>5.2 Java的异常处理机制</vt:lpstr>
      <vt:lpstr>5.2 Java的异常处理机制--改进版</vt:lpstr>
      <vt:lpstr>跟踪程序执行</vt:lpstr>
      <vt:lpstr>跟踪程序执行</vt:lpstr>
      <vt:lpstr>跟踪程序执行</vt:lpstr>
      <vt:lpstr>跟踪程序执行</vt:lpstr>
      <vt:lpstr>跟踪程序执行</vt:lpstr>
      <vt:lpstr>跟踪程序执行</vt:lpstr>
      <vt:lpstr>跟踪程序执行</vt:lpstr>
      <vt:lpstr>跟踪程序执行</vt:lpstr>
      <vt:lpstr>跟踪程序执行</vt:lpstr>
      <vt:lpstr>跟踪程序执行</vt:lpstr>
      <vt:lpstr>跟踪程序执行</vt:lpstr>
      <vt:lpstr>跟踪程序执行</vt:lpstr>
      <vt:lpstr>跟踪程序执行</vt:lpstr>
      <vt:lpstr>跟踪程序执行</vt:lpstr>
      <vt:lpstr>跟踪程序执行</vt:lpstr>
      <vt:lpstr>跟踪程序执行</vt:lpstr>
      <vt:lpstr>nextInt() 与 nextLine()</vt:lpstr>
      <vt:lpstr>5.2 Java的异常处理机制</vt:lpstr>
      <vt:lpstr>异常类继承结构图</vt:lpstr>
      <vt:lpstr>系统错误</vt:lpstr>
      <vt:lpstr>异常类继承结构图——异常</vt:lpstr>
      <vt:lpstr>运行时异常（Runtime Exception）</vt:lpstr>
      <vt:lpstr>异常类-运行异常&amp;编译异常</vt:lpstr>
      <vt:lpstr>异常类-运行异常RuntimeException</vt:lpstr>
      <vt:lpstr>异常学什么</vt:lpstr>
      <vt:lpstr>5.2 Java的异常处理机制</vt:lpstr>
      <vt:lpstr>5.2 Java的异常处理机制</vt:lpstr>
      <vt:lpstr>PowerPoint 演示文稿</vt:lpstr>
      <vt:lpstr>奇怪的现象</vt:lpstr>
      <vt:lpstr>修正错误</vt:lpstr>
      <vt:lpstr>声明、抛出和捕获异常</vt:lpstr>
      <vt:lpstr>PowerPoint 演示文稿</vt:lpstr>
      <vt:lpstr>5.2 Java的异常处理机制</vt:lpstr>
      <vt:lpstr>PowerPoint 演示文稿</vt:lpstr>
      <vt:lpstr>5.2 Java的异常处理机制</vt:lpstr>
      <vt:lpstr>抛出异常</vt:lpstr>
      <vt:lpstr>抛出异常举例</vt:lpstr>
      <vt:lpstr>捕获异常</vt:lpstr>
      <vt:lpstr>捕获异常</vt:lpstr>
      <vt:lpstr>举例：声明、抛出和捕获异常</vt:lpstr>
      <vt:lpstr>PowerPoint 演示文稿</vt:lpstr>
      <vt:lpstr>PowerPoint 演示文稿</vt:lpstr>
      <vt:lpstr>捕获或声明必检异常</vt:lpstr>
      <vt:lpstr>Finally子句</vt:lpstr>
      <vt:lpstr>例子1：</vt:lpstr>
      <vt:lpstr>例子1：</vt:lpstr>
      <vt:lpstr>例子1：</vt:lpstr>
      <vt:lpstr>例子2：</vt:lpstr>
      <vt:lpstr>例子2：</vt:lpstr>
      <vt:lpstr>例子2：</vt:lpstr>
      <vt:lpstr>例子2：</vt:lpstr>
      <vt:lpstr>例子2：</vt:lpstr>
      <vt:lpstr>例子3：</vt:lpstr>
      <vt:lpstr>例子3：</vt:lpstr>
      <vt:lpstr>例子3：</vt:lpstr>
      <vt:lpstr>例子3：</vt:lpstr>
      <vt:lpstr>例子3：</vt:lpstr>
      <vt:lpstr>例子3：</vt:lpstr>
      <vt:lpstr>例子3：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第五章 异常处理</vt:lpstr>
      <vt:lpstr> 何时使用异常</vt:lpstr>
      <vt:lpstr>何时使用异常</vt:lpstr>
      <vt:lpstr>创建自定义异常类</vt:lpstr>
      <vt:lpstr>创建自定义异常类</vt:lpstr>
      <vt:lpstr>创建自定义异常类</vt:lpstr>
      <vt:lpstr>PowerPoint 演示文稿</vt:lpstr>
      <vt:lpstr>PowerPoint 演示文稿</vt:lpstr>
      <vt:lpstr>自定义异常类举例</vt:lpstr>
      <vt:lpstr>JAVA关键字：this 与 super</vt:lpstr>
      <vt:lpstr>JAVA关键字：this 与 super</vt:lpstr>
      <vt:lpstr>JAVA关键字：this 与 super</vt:lpstr>
      <vt:lpstr>JAVA关键字：this 与 super</vt:lpstr>
      <vt:lpstr>JAVA关键字：this 与 super</vt:lpstr>
      <vt:lpstr>子类对象实例化的全过程</vt:lpstr>
      <vt:lpstr>自定义异常类举例</vt:lpstr>
      <vt:lpstr>PowerPoint 演示文稿</vt:lpstr>
      <vt:lpstr>PowerPoint 演示文稿</vt:lpstr>
      <vt:lpstr>异常处理机制-- try/catch</vt:lpstr>
      <vt:lpstr>异常处理机制-- try/catch</vt:lpstr>
      <vt:lpstr> 关于开发中异常处理的建议 </vt:lpstr>
      <vt:lpstr>实际应用中的经验总结</vt:lpstr>
      <vt:lpstr>小结</vt:lpstr>
      <vt:lpstr>练习题</vt:lpstr>
      <vt:lpstr>练习题</vt:lpstr>
      <vt:lpstr>练习题</vt:lpstr>
      <vt:lpstr>练习题</vt:lpstr>
      <vt:lpstr>练习题</vt:lpstr>
      <vt:lpstr>练习题</vt:lpstr>
      <vt:lpstr>练习题</vt:lpstr>
      <vt:lpstr>练习题</vt:lpstr>
      <vt:lpstr>练习题</vt:lpstr>
      <vt:lpstr>练习题-综合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练习题</vt:lpstr>
      <vt:lpstr>JAVA关键字：this 与 super</vt:lpstr>
    </vt:vector>
  </TitlesOfParts>
  <Company>HHU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第三章 Java面向对象程序设计</dc:title>
  <dc:creator>Yingchi Mao</dc:creator>
  <cp:lastModifiedBy>Yanyan</cp:lastModifiedBy>
  <cp:revision>364</cp:revision>
  <dcterms:created xsi:type="dcterms:W3CDTF">2012-10-29T00:47:36Z</dcterms:created>
  <dcterms:modified xsi:type="dcterms:W3CDTF">2024-05-30T03:43:19Z</dcterms:modified>
</cp:coreProperties>
</file>