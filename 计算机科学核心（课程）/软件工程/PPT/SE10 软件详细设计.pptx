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334BD-456C-4877-B536-786D5672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DB5617-D50B-4AB9-BF83-20E9CA11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98D7-9141-439F-BA80-3E13D1F7993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BD54C6-E88A-4521-AA05-C181A90A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1E7CE0-C487-4657-9CA8-83F90AE4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ABF7D-5787-44CC-B27A-08AE578D26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3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6BAAE8-C9D5-49F0-ADD2-EAF070A15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A03BD4-637D-473B-96C8-A74830510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232FD5-C030-447A-AA09-57269A67B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A98D7-9141-439F-BA80-3E13D1F7993E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99793-89EA-40AF-9746-5BD91C32B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2F82F1-B91C-4E5A-919B-AE5F6F77D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ABF7D-5787-44CC-B27A-08AE578D26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54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F1C9FE0-EDA9-483C-AD7C-F10E9392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61C356-735F-42B8-9A69-965EA2EFF0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8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59F545-3EFA-47AD-95ED-5D5DE4C2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376949-4E23-4DCC-AC85-E648F73194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6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8B322DF-D69A-4D48-9DC3-B4FB9704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软件设计过程及关注点的变化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AA8CA5-61E2-4860-BF7E-5B2439DF1A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7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4BCCC8E-2C79-480B-83E8-0F7906C1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详细设计的任务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3E111F-802F-41D2-84AD-6034AACFDB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63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DFB074-D6B7-45E3-89B0-097C4D06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详细设计过程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B8728E-FB33-483F-98FC-BB65BFCD6C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5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9FA38A5-90A1-4C5C-A8F6-C80B36AE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软件详细设计的活动（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37705A-7405-4B75-AEE7-CD72E0539F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4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03505C0-5CB6-4D21-A0B2-1A8560EA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软件详细设计的活动（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902BC9-A457-40D7-83D7-DA9D01B91E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1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4931ADB-BB43-499F-8031-5FB03FAC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软件详细设计的要求和原则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975395-8200-4307-BCEF-B58F8D4554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3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7A4A5E-E18E-4904-84AC-FB27899E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1.5 </a:t>
            </a:r>
            <a:r>
              <a:rPr lang="zh-CN" altLang="en-US"/>
              <a:t> 活动图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CC5822-6CAE-4FE2-BB81-5E1DF7E270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6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4E72118-748C-45A2-826A-4A68ECDF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泳道图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5709CC-20D8-4A58-89D9-B61CF0A45A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1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81318E7-D443-4E23-A739-826285E0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04B249-FB97-479B-836B-837BBE6547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61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DC5F576-BBC8-4977-9015-E9F3412EA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/>
              <a:t>2.1 </a:t>
            </a:r>
            <a:r>
              <a:rPr lang="zh-CN" altLang="zh-CN"/>
              <a:t>用例设计</a:t>
            </a:r>
            <a:r>
              <a:rPr lang="zh-CN" altLang="en-US"/>
              <a:t>的任务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668DE7-66C5-4040-AB50-4ECCB3DF94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07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BB6AD8D-7D2A-4AE0-893D-6BB7A2892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用例</a:t>
            </a:r>
            <a:r>
              <a:rPr lang="zh-CN" altLang="en-US"/>
              <a:t>的</a:t>
            </a:r>
            <a:r>
              <a:rPr lang="zh-CN" altLang="zh-CN"/>
              <a:t>实现方案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997A9B-6B0D-4C11-8327-7D74ED6E91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7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1E1EF29-2B5D-4A5B-9B7A-32AF6665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用例设计原则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0D2D7C-4594-4229-AEC6-6B601E2ADA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7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47D724F-D6CC-4330-820E-B15ADBCC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用例设计的过程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73C276-AD6C-422D-89EA-2E707D56FC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84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9EB07C2-36BA-4902-B342-D7FF9A2B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/>
              <a:t>1. </a:t>
            </a:r>
            <a:r>
              <a:rPr lang="zh-CN" altLang="zh-CN"/>
              <a:t>设计用例实现方案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00FBE3-0118-4700-83D8-8E4A201696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1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A09BB71-A2E2-4D08-8BFB-FDCFA0E7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例：需求分析阶段的用例顺序图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133D11-E275-4238-9825-E81623AC35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89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28D8924-0A6E-4121-94C4-88ADAD48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分析类与设计元素间对应关系</a:t>
            </a:r>
            <a:r>
              <a:rPr lang="en-US" altLang="zh-CN">
                <a:effectLst/>
              </a:rPr>
              <a:t>(1/3)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BB09FD-F5DE-4B77-B328-D35CF0E187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67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BF4D0DC-5EED-49F5-B7B0-963F377E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分析类与设计元素间对应关系</a:t>
            </a:r>
            <a:r>
              <a:rPr lang="en-US" altLang="zh-CN">
                <a:effectLst/>
              </a:rPr>
              <a:t>(2/3)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57E929-58CD-4D30-81E5-C11DAE8045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66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E599C95-4578-4A75-903E-6E9F373D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分析类与设计元素间对应关系</a:t>
            </a:r>
            <a:r>
              <a:rPr lang="en-US" altLang="zh-CN">
                <a:effectLst/>
              </a:rPr>
              <a:t>(3/3)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204F7E-33E4-4EF2-942F-B6E1A6D587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41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CEE14A1-CE4B-44A0-963A-E3A4FB47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: “</a:t>
            </a:r>
            <a:r>
              <a:rPr lang="zh-CN" altLang="zh-CN">
                <a:effectLst/>
              </a:rPr>
              <a:t>用户登录”用例</a:t>
            </a:r>
            <a:r>
              <a:rPr lang="zh-CN" altLang="en-US"/>
              <a:t>顺序图（需求）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D3B3AD-6BA7-4C1B-A1F1-0AB0E86403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2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E272712-FAEA-4DB2-A8F4-CA8EAF03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:</a:t>
            </a:r>
            <a:r>
              <a:rPr lang="zh-CN" altLang="zh-CN">
                <a:effectLst/>
              </a:rPr>
              <a:t>“用户登录”用例设计方案</a:t>
            </a:r>
            <a:r>
              <a:rPr lang="zh-CN" altLang="en-US">
                <a:effectLst/>
              </a:rPr>
              <a:t>（设计）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012474-5B95-4258-870C-DF1B1CC2A7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7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692BD4F-1C26-4BBD-AD8C-C6805932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注意事项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6D1463-A86E-4A8D-B79A-26E26FAC6F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77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73422D9-EDF2-444C-90C2-1CDCFEF9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en-US" altLang="zh-CN"/>
              <a:t>“</a:t>
            </a:r>
            <a:r>
              <a:rPr lang="zh-CN" altLang="zh-CN"/>
              <a:t>用户登录</a:t>
            </a:r>
            <a:r>
              <a:rPr lang="en-US" altLang="zh-CN"/>
              <a:t>”</a:t>
            </a:r>
            <a:r>
              <a:rPr lang="zh-CN" altLang="zh-CN"/>
              <a:t>用例实现的设计类图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1D5C4E-00B3-4A58-BFE8-458D357668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4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E3C0555-8B8D-450A-AD36-F417FCF0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en-US" altLang="zh-CN"/>
              <a:t>“</a:t>
            </a:r>
            <a:r>
              <a:rPr lang="zh-CN" altLang="zh-CN"/>
              <a:t>用户登录</a:t>
            </a:r>
            <a:r>
              <a:rPr lang="en-US" altLang="zh-CN"/>
              <a:t>”</a:t>
            </a:r>
            <a:r>
              <a:rPr lang="zh-CN" altLang="zh-CN"/>
              <a:t>用例实现的设计类图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0C9311-CD0D-41BA-A917-F63BDCA2B0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10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1CEBCD9-F0F6-4C2A-B488-E5962155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en-US"/>
              <a:t>优化和评审</a:t>
            </a:r>
            <a:r>
              <a:rPr lang="zh-CN" altLang="zh-CN"/>
              <a:t>用例</a:t>
            </a:r>
            <a:r>
              <a:rPr lang="zh-CN" altLang="en-US"/>
              <a:t>设计</a:t>
            </a:r>
            <a:r>
              <a:rPr lang="zh-CN" altLang="zh-CN"/>
              <a:t>方案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BFC6EC-082E-41C6-B520-80E73FC88C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48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3B84133-C676-4747-861A-0277DF3B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6D9315-E5F2-4C56-9A09-2F147999F1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74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E1E761C-A1F7-4DE0-B4AD-9376FC6C6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zh-CN"/>
              <a:t>类设计</a:t>
            </a:r>
            <a:r>
              <a:rPr lang="zh-CN" altLang="en-US"/>
              <a:t>的任务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134C3D-D6D5-45CE-8DE0-87142B72A4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90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7514638-433D-42D3-8717-2BDB03FAB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类设计的地位和作用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A97588-5FDE-4977-AA3B-D1973990DF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37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9C08E2B-1C88-4EF0-AC5B-FAF4E67C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类设计示例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8DE79C-D459-4A8A-B83A-7D625EDB11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50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FD5C66-3269-432F-B122-1BE262F7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精化到什么程度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A35298-937B-47FB-9505-D865012EC9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55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CEA2259-E086-426D-B115-6361E12B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类设计</a:t>
            </a:r>
            <a:r>
              <a:rPr lang="zh-CN" altLang="en-US"/>
              <a:t>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92410B-FAF7-4746-AB7E-75555867F8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92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1EF510B-A45C-4E45-B182-1A89710A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确定类的可见范围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2C139A-08F3-48D4-A04B-4F0128A7CA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99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6CDB625-7ADE-47AA-901A-10D0511C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en-US"/>
              <a:t>精化类间的关系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3187AB-C6BF-4990-977E-90A482D50D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298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0737F69-E831-4BA0-9BC0-D4E2D990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精化类间的关系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A9B38C-47BB-4645-BE1A-B19C68208A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95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1B8E25A-D39E-4A1C-A9B6-E99BC238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：精化类间的关系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1DE6B8-0BB2-450C-975C-DB5228517E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5BFDA5-4A3E-4135-B1B5-E03C5B27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：精化类间的关系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529620-5429-46B7-96AB-0ADB170E23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87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739AE52-479B-4BF2-8D30-64F6DA46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zh-CN">
                <a:effectLst/>
              </a:rPr>
              <a:t>精化类的属性和方法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213D164-AB89-4E7B-89F4-0875E88F34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05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1ABB2CD-8BFF-4D82-B40B-8FDA0B05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zh-CN"/>
              <a:t>精化类属性的设计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10A871-F9D6-4267-B0C2-6D4200F464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64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4BCAB2-4B37-4308-863A-2289B063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ffectLst/>
              </a:rPr>
              <a:t>例：</a:t>
            </a:r>
            <a:r>
              <a:rPr lang="zh-CN" altLang="zh-CN">
                <a:effectLst/>
              </a:rPr>
              <a:t>精化</a:t>
            </a:r>
            <a:r>
              <a:rPr lang="en-US" altLang="zh-CN">
                <a:effectLst/>
              </a:rPr>
              <a:t>User</a:t>
            </a:r>
            <a:r>
              <a:rPr lang="zh-CN" altLang="zh-CN">
                <a:effectLst/>
              </a:rPr>
              <a:t>类属性的设计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00C1CE-0A65-43FF-86DC-C9C5D6FF68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11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9A84558-2A21-405D-8C2D-8DB63A24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例：精化</a:t>
            </a:r>
            <a:r>
              <a:rPr lang="en-US" altLang="zh-CN">
                <a:effectLst/>
              </a:rPr>
              <a:t>LoginUI</a:t>
            </a:r>
            <a:r>
              <a:rPr lang="zh-CN" altLang="zh-CN">
                <a:effectLst/>
              </a:rPr>
              <a:t>类属性的设计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14B7EA-FAF2-4FAE-9DBD-5EE1D977B5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04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E50BDE9-A4D8-4BB6-B63C-6214DDA1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例：精化</a:t>
            </a:r>
            <a:r>
              <a:rPr lang="en-US" altLang="zh-CN">
                <a:effectLst/>
              </a:rPr>
              <a:t>Robot</a:t>
            </a:r>
            <a:r>
              <a:rPr lang="zh-CN" altLang="zh-CN">
                <a:effectLst/>
              </a:rPr>
              <a:t>类属性的设计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025D05-8C0D-4FE3-A4FB-053D034C3D5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7FBD3A-00B0-47A6-9A43-DC617474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）精化类方法的设计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A5A652-A09F-4CAF-8232-4A04BBC3A8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02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CDA4E82-9672-4010-88B2-992EE54AC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7CC683-94E8-4F49-8A02-311A612C82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94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B5EDB4-9CC7-4D96-8712-79EB49EE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关注特殊方法的设计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D94A80-4BED-43D1-ABE2-120638A35A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79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0A32660-67C5-4568-9267-9E6F7ACE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>
                <a:effectLst/>
              </a:rPr>
              <a:t>精化</a:t>
            </a:r>
            <a:r>
              <a:rPr lang="en-US" altLang="zh-CN">
                <a:effectLst/>
              </a:rPr>
              <a:t>detectFallDown()</a:t>
            </a:r>
            <a:r>
              <a:rPr lang="zh-CN" altLang="zh-CN">
                <a:effectLst/>
              </a:rPr>
              <a:t>方法的详细设计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E5AA38-C358-4C81-846E-D1296815DC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65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C890399-1DE8-4784-97EF-422CFB3F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分解和合并类方法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5E9F45-32BA-4BB2-9068-C58B984DCE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498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2872B92-C223-4297-9C72-DB971A9E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en-US"/>
              <a:t>构造类对象的状态图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EBE3F3-0ECE-4C36-A495-3F25881337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16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E89149C-DB69-4274-A4C3-EBC2F5ED0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5. </a:t>
            </a:r>
            <a:r>
              <a:rPr lang="zh-CN" altLang="zh-CN">
                <a:effectLst/>
              </a:rPr>
              <a:t>评审和优化类设计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40E030-6209-4083-91A2-FA0F260666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275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64A9034-F7BB-4888-89EE-A2E4D9CA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类设计输出的软件制品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0DD46A-F744-4FBD-BF91-BC8ACC1A08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1399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D8C914D-65CB-44D1-9505-51FB446EB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442B9B-5712-4D13-928E-4F0EC510B4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79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2A22631-9E8A-4E66-9C30-4130A035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为什么要进行数据设计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022AAE-DEC0-46D2-80C2-CD08C30977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50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8FCFBE-3B69-4273-9A8A-456E07FD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/>
              <a:t>2.3 </a:t>
            </a:r>
            <a:r>
              <a:rPr lang="zh-CN" altLang="zh-CN"/>
              <a:t>数据设计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E9E4F4-5A6C-488B-B437-C8CCC414F4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952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3751FF5-A5BA-449C-883C-35A39473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</a:t>
            </a:r>
            <a:r>
              <a:rPr lang="zh-CN" altLang="zh-CN"/>
              <a:t>设计</a:t>
            </a:r>
            <a:r>
              <a:rPr lang="zh-CN" altLang="en-US"/>
              <a:t>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AEFE2D-1A99-4C9E-A166-CFD48EE3C4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184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6E96EAA-E97A-4253-A1C8-5AF86118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例：数据模型设计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8E383F-B8D0-4290-9AB7-131AECB209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433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C44ED4F-2511-488C-B20D-0D8D573B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1. </a:t>
            </a:r>
            <a:r>
              <a:rPr lang="zh-CN" altLang="zh-CN">
                <a:effectLst/>
              </a:rPr>
              <a:t>确定永久数据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39568D-F62A-418E-B0C6-7B1BFF9A03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475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8A4E8E2-E045-4C2F-AB5F-983D6943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2. </a:t>
            </a:r>
            <a:r>
              <a:rPr lang="zh-CN" altLang="zh-CN">
                <a:effectLst/>
              </a:rPr>
              <a:t>确定</a:t>
            </a:r>
            <a:r>
              <a:rPr lang="zh-CN" altLang="en-US">
                <a:effectLst/>
              </a:rPr>
              <a:t>持久</a:t>
            </a:r>
            <a:r>
              <a:rPr lang="zh-CN" altLang="zh-CN">
                <a:effectLst/>
              </a:rPr>
              <a:t>数据</a:t>
            </a:r>
            <a:r>
              <a:rPr lang="zh-CN" altLang="en-US">
                <a:effectLst/>
              </a:rPr>
              <a:t>的</a:t>
            </a:r>
            <a:r>
              <a:rPr lang="zh-CN" altLang="zh-CN">
                <a:effectLst/>
              </a:rPr>
              <a:t>存储和组织方式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FE65FF-60AF-44AA-B81B-9948856365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530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10C7687-6DA8-4B23-A487-3CBBCCB4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ffectLst/>
              </a:rPr>
              <a:t>（</a:t>
            </a:r>
            <a:r>
              <a:rPr lang="en-US" altLang="zh-CN">
                <a:effectLst/>
              </a:rPr>
              <a:t>1</a:t>
            </a:r>
            <a:r>
              <a:rPr lang="zh-CN" altLang="en-US">
                <a:effectLst/>
              </a:rPr>
              <a:t>）</a:t>
            </a:r>
            <a:r>
              <a:rPr lang="zh-CN" altLang="zh-CN">
                <a:effectLst/>
              </a:rPr>
              <a:t>确定持久数据条目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EBF073-C5B8-4130-B3DF-52B77A0EB5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845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2E30072-0BE5-4216-BCAC-186C4464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ffectLst/>
              </a:rPr>
              <a:t>（</a:t>
            </a:r>
            <a:r>
              <a:rPr lang="en-US" altLang="zh-CN">
                <a:effectLst/>
              </a:rPr>
              <a:t>2</a:t>
            </a:r>
            <a:r>
              <a:rPr lang="zh-CN" altLang="en-US">
                <a:effectLst/>
              </a:rPr>
              <a:t>）数据组织方式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517817-1FEB-4C7D-AC72-71D1269839D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5371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7341BD5-26B2-48E0-8C75-410AC570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）数据组织方式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D9E9F9-D647-4330-9F12-B732ADAB7B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720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E0B031-906C-4C4D-A1B2-9FDAE17A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例：设计</a:t>
            </a:r>
            <a:r>
              <a:rPr lang="zh-CN" altLang="en-US"/>
              <a:t>持久</a:t>
            </a:r>
            <a:r>
              <a:rPr lang="zh-CN" altLang="zh-CN"/>
              <a:t>数据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1A5EC2-6B81-4552-BF62-6E64C9C63F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44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D4B40DA-0ED6-41F7-B088-413E4B65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>
                <a:effectLst/>
              </a:rPr>
              <a:t>例：设计</a:t>
            </a:r>
            <a:r>
              <a:rPr lang="zh-CN" altLang="en-US">
                <a:effectLst/>
              </a:rPr>
              <a:t>持久</a:t>
            </a:r>
            <a:r>
              <a:rPr lang="zh-CN" altLang="zh-CN">
                <a:effectLst/>
              </a:rPr>
              <a:t>数据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BD6FAE-BAEB-4EB4-9B2E-C39473FF66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628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E51D43B-CEB1-4A2B-B8C5-ECC51CEA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zh-CN"/>
              <a:t>设计数据操作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4132D0-16BB-4664-8E73-C1C556ED3B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662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F30369C-F2E5-42BC-95CF-7BE8684D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zh-CN" altLang="zh-CN">
                <a:effectLst/>
              </a:rPr>
              <a:t>设计永久数据的操作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475ECE-41DF-4E7F-9CF6-F3836545DC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863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26CCC0C-69AB-451C-B756-4468D277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4. </a:t>
            </a:r>
            <a:r>
              <a:rPr lang="zh-CN" altLang="zh-CN"/>
              <a:t>评审和优化数据设计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784779-E4BB-40AA-AA5E-6B5A2040D3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876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7C01622-3D4E-4631-902F-F53CA5C7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A2AAEE-C188-4371-A4D8-E43FEB9920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2227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69A6D3E-BD4B-4FFB-AAF3-964A69A5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子系统设计的示例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943DEF-EE1C-42F2-AA3B-1730EC95E2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747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AA6D923-F016-49CB-9E34-AC39BEF5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zh-CN"/>
              <a:t>构件设计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BDD191-C510-47FA-AAC5-18FC936ECF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547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D588F12-D8A7-4FEE-B50F-D05DDFC2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构件设计的示例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C051BF-B261-4B81-94E2-89782761A6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384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C2F9C2C-9701-4CF0-9D57-20CEDA30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30ED0C-F1E7-4F51-82D0-29EB642E3D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505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3A88D9B-FB0F-4A77-8167-1721B743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en-US"/>
              <a:t>软件详细设计的输出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01CEF3-1B4B-47B2-B9AF-60A889409F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194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BAD60C8-65E7-4639-8DCE-01745539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3.2 </a:t>
            </a:r>
            <a:r>
              <a:rPr lang="zh-CN" altLang="zh-CN">
                <a:effectLst/>
              </a:rPr>
              <a:t>设计整合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0FBE418-35F6-4548-B7DB-7B7236C25E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219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A50C156-4040-42B2-9596-DE42423E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/>
              <a:t>3.3 </a:t>
            </a:r>
            <a:r>
              <a:rPr lang="zh-CN" altLang="zh-CN"/>
              <a:t>设计验证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7D54CB-ED89-4B2C-A9C3-C8792A8CED0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276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41F63C7-8425-4726-B4C9-86046E72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3.4 </a:t>
            </a:r>
            <a:r>
              <a:rPr lang="zh-CN" altLang="en-US"/>
              <a:t>撰写设计文档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77E9EF-6661-4AB7-BF0D-6725801BEC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7373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625E199-C0C0-4489-9094-B816EBE6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3.5 </a:t>
            </a:r>
            <a:r>
              <a:rPr lang="zh-CN" altLang="en-US"/>
              <a:t>设计评审人员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4D4792-EF9A-4DEF-A1CA-8F398A3E42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856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0E0DD2-F9E0-4228-B6CB-EAB36955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3.6 </a:t>
            </a:r>
            <a:r>
              <a:rPr lang="zh-CN" altLang="en-US"/>
              <a:t>评审设计文档</a:t>
            </a:r>
            <a:r>
              <a:rPr lang="en-US" altLang="zh-CN"/>
              <a:t>(1)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1E08AA-6BC2-44F7-B980-606915E268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294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998978F-59FF-406A-B9D5-6D3CD449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评审设计文档</a:t>
            </a:r>
            <a:r>
              <a:rPr lang="en-US" altLang="zh-CN"/>
              <a:t>(2)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AD4FAA-FEDB-4F44-94B3-8C5C25480C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005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F3E5F1E-8D7B-4B70-8922-26F0981C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11532C-7855-4973-A5E8-F9F3379411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80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A873E00-5B80-4072-8542-7FE7F05F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C98FF4-105D-42F4-8B29-498D6D51D6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自定义</PresentationFormat>
  <Paragraphs>77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3" baseType="lpstr">
      <vt:lpstr>等线</vt:lpstr>
      <vt:lpstr>等线 Light</vt:lpstr>
      <vt:lpstr>Arial</vt:lpstr>
      <vt:lpstr>Office 主题​​</vt:lpstr>
      <vt:lpstr>PowerPoint 演示文稿</vt:lpstr>
      <vt:lpstr>内容</vt:lpstr>
      <vt:lpstr>1.1 软件设计过程及关注点的变化</vt:lpstr>
      <vt:lpstr>1.2 详细设计的任务</vt:lpstr>
      <vt:lpstr>1.3 详细设计过程</vt:lpstr>
      <vt:lpstr>软件详细设计的活动（1/2）</vt:lpstr>
      <vt:lpstr>软件详细设计的活动（2/2）</vt:lpstr>
      <vt:lpstr>1.4 软件详细设计的要求和原则</vt:lpstr>
      <vt:lpstr>1.5  活动图</vt:lpstr>
      <vt:lpstr>泳道图</vt:lpstr>
      <vt:lpstr>内容</vt:lpstr>
      <vt:lpstr>2.1 用例设计的任务</vt:lpstr>
      <vt:lpstr>用例的实现方案</vt:lpstr>
      <vt:lpstr>用例设计原则</vt:lpstr>
      <vt:lpstr>用例设计的过程</vt:lpstr>
      <vt:lpstr>1. 设计用例实现方案</vt:lpstr>
      <vt:lpstr>例：需求分析阶段的用例顺序图</vt:lpstr>
      <vt:lpstr>分析类与设计元素间对应关系(1/3)</vt:lpstr>
      <vt:lpstr>分析类与设计元素间对应关系(2/3)</vt:lpstr>
      <vt:lpstr>分析类与设计元素间对应关系(3/3)</vt:lpstr>
      <vt:lpstr>例: “用户登录”用例顺序图（需求）</vt:lpstr>
      <vt:lpstr>例:“用户登录”用例设计方案（设计）</vt:lpstr>
      <vt:lpstr>注意事项</vt:lpstr>
      <vt:lpstr>例：“用户登录”用例实现的设计类图</vt:lpstr>
      <vt:lpstr>例：“用户登录”用例实现的设计类图</vt:lpstr>
      <vt:lpstr>3. 优化和评审用例设计方案</vt:lpstr>
      <vt:lpstr>内容</vt:lpstr>
      <vt:lpstr>类设计的任务</vt:lpstr>
      <vt:lpstr>类设计的地位和作用</vt:lpstr>
      <vt:lpstr>类设计示例</vt:lpstr>
      <vt:lpstr>精化到什么程度</vt:lpstr>
      <vt:lpstr>类设计过程</vt:lpstr>
      <vt:lpstr>1. 确定类的可见范围</vt:lpstr>
      <vt:lpstr>2. 精化类间的关系</vt:lpstr>
      <vt:lpstr>精化类间的关系</vt:lpstr>
      <vt:lpstr>例1：精化类间的关系</vt:lpstr>
      <vt:lpstr>例2：精化类间的关系</vt:lpstr>
      <vt:lpstr>3. 精化类的属性和方法</vt:lpstr>
      <vt:lpstr>（1）精化类属性的设计</vt:lpstr>
      <vt:lpstr>例：精化User类属性的设计</vt:lpstr>
      <vt:lpstr>例：精化LoginUI类属性的设计</vt:lpstr>
      <vt:lpstr>例：精化Robot类属性的设计</vt:lpstr>
      <vt:lpstr>（2）精化类方法的设计</vt:lpstr>
      <vt:lpstr>PowerPoint 演示文稿</vt:lpstr>
      <vt:lpstr>关注特殊方法的设计</vt:lpstr>
      <vt:lpstr>例：精化detectFallDown()方法的详细设计</vt:lpstr>
      <vt:lpstr>分解和合并类方法</vt:lpstr>
      <vt:lpstr>4. 构造类对象的状态图</vt:lpstr>
      <vt:lpstr>5. 评审和优化类设计</vt:lpstr>
      <vt:lpstr>类设计输出的软件制品</vt:lpstr>
      <vt:lpstr>内容</vt:lpstr>
      <vt:lpstr>为什么要进行数据设计</vt:lpstr>
      <vt:lpstr>2.3 数据设计</vt:lpstr>
      <vt:lpstr>数据设计过程</vt:lpstr>
      <vt:lpstr>例：数据模型设计</vt:lpstr>
      <vt:lpstr>1. 确定永久数据</vt:lpstr>
      <vt:lpstr>2. 确定持久数据的存储和组织方式</vt:lpstr>
      <vt:lpstr>（1）确定持久数据条目</vt:lpstr>
      <vt:lpstr>（2）数据组织方式</vt:lpstr>
      <vt:lpstr>（2）数据组织方式</vt:lpstr>
      <vt:lpstr>例：设计持久数据</vt:lpstr>
      <vt:lpstr>例：设计持久数据</vt:lpstr>
      <vt:lpstr>3. 设计数据操作</vt:lpstr>
      <vt:lpstr>例：设计永久数据的操作</vt:lpstr>
      <vt:lpstr>4. 评审和优化数据设计</vt:lpstr>
      <vt:lpstr>内容</vt:lpstr>
      <vt:lpstr>子系统设计的示例</vt:lpstr>
      <vt:lpstr>构件设计</vt:lpstr>
      <vt:lpstr>构件设计的示例</vt:lpstr>
      <vt:lpstr>内容</vt:lpstr>
      <vt:lpstr>3.1 软件详细设计的输出</vt:lpstr>
      <vt:lpstr>3.2 设计整合</vt:lpstr>
      <vt:lpstr>3.3 设计验证</vt:lpstr>
      <vt:lpstr>3.4 撰写设计文档</vt:lpstr>
      <vt:lpstr>3.5 设计评审人员</vt:lpstr>
      <vt:lpstr>3.6 评审设计文档(1)</vt:lpstr>
      <vt:lpstr>评审设计文档(2)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2025-10-15T03:02:57Z</dcterms:created>
  <dcterms:modified xsi:type="dcterms:W3CDTF">2025-10-15T03:02:57Z</dcterms:modified>
</cp:coreProperties>
</file>