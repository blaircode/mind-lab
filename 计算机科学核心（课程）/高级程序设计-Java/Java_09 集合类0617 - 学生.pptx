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1"/>
  </p:notesMasterIdLst>
  <p:sldIdLst>
    <p:sldId id="396" r:id="rId2"/>
    <p:sldId id="1675" r:id="rId3"/>
    <p:sldId id="1676" r:id="rId4"/>
    <p:sldId id="1691" r:id="rId5"/>
    <p:sldId id="1698" r:id="rId6"/>
    <p:sldId id="1715" r:id="rId7"/>
    <p:sldId id="1716" r:id="rId8"/>
    <p:sldId id="1719" r:id="rId9"/>
    <p:sldId id="1720" r:id="rId10"/>
    <p:sldId id="1703" r:id="rId11"/>
    <p:sldId id="1704" r:id="rId12"/>
    <p:sldId id="1705" r:id="rId13"/>
    <p:sldId id="521" r:id="rId14"/>
    <p:sldId id="523" r:id="rId15"/>
    <p:sldId id="453" r:id="rId16"/>
    <p:sldId id="464" r:id="rId17"/>
    <p:sldId id="465" r:id="rId18"/>
    <p:sldId id="466" r:id="rId19"/>
    <p:sldId id="454" r:id="rId20"/>
    <p:sldId id="455" r:id="rId21"/>
    <p:sldId id="459" r:id="rId22"/>
    <p:sldId id="525" r:id="rId23"/>
    <p:sldId id="528" r:id="rId24"/>
    <p:sldId id="527" r:id="rId25"/>
    <p:sldId id="530" r:id="rId26"/>
    <p:sldId id="458" r:id="rId27"/>
    <p:sldId id="524" r:id="rId28"/>
    <p:sldId id="531" r:id="rId29"/>
    <p:sldId id="568" r:id="rId30"/>
    <p:sldId id="2072" r:id="rId31"/>
    <p:sldId id="2073" r:id="rId32"/>
    <p:sldId id="2070" r:id="rId33"/>
    <p:sldId id="2071" r:id="rId34"/>
    <p:sldId id="532" r:id="rId35"/>
    <p:sldId id="569" r:id="rId36"/>
    <p:sldId id="534" r:id="rId37"/>
    <p:sldId id="535" r:id="rId38"/>
    <p:sldId id="536" r:id="rId39"/>
    <p:sldId id="537" r:id="rId40"/>
    <p:sldId id="540" r:id="rId41"/>
    <p:sldId id="2074" r:id="rId42"/>
    <p:sldId id="2075" r:id="rId43"/>
    <p:sldId id="2076" r:id="rId44"/>
    <p:sldId id="2077" r:id="rId45"/>
    <p:sldId id="2078" r:id="rId46"/>
    <p:sldId id="2079" r:id="rId47"/>
    <p:sldId id="2080" r:id="rId48"/>
    <p:sldId id="2081" r:id="rId49"/>
    <p:sldId id="2084" r:id="rId50"/>
    <p:sldId id="2085" r:id="rId51"/>
    <p:sldId id="2086" r:id="rId52"/>
    <p:sldId id="2087" r:id="rId53"/>
    <p:sldId id="2088" r:id="rId54"/>
    <p:sldId id="541" r:id="rId55"/>
    <p:sldId id="543" r:id="rId56"/>
    <p:sldId id="2089" r:id="rId57"/>
    <p:sldId id="542" r:id="rId58"/>
    <p:sldId id="544" r:id="rId59"/>
    <p:sldId id="545" r:id="rId60"/>
    <p:sldId id="546" r:id="rId61"/>
    <p:sldId id="547" r:id="rId62"/>
    <p:sldId id="2817" r:id="rId63"/>
    <p:sldId id="2818" r:id="rId64"/>
    <p:sldId id="2819" r:id="rId65"/>
    <p:sldId id="2820" r:id="rId66"/>
    <p:sldId id="557" r:id="rId67"/>
    <p:sldId id="558" r:id="rId68"/>
    <p:sldId id="559" r:id="rId69"/>
    <p:sldId id="560" r:id="rId70"/>
    <p:sldId id="2556" r:id="rId71"/>
    <p:sldId id="2557" r:id="rId72"/>
    <p:sldId id="2558" r:id="rId73"/>
    <p:sldId id="2559" r:id="rId74"/>
    <p:sldId id="2560" r:id="rId75"/>
    <p:sldId id="2561" r:id="rId76"/>
    <p:sldId id="2562" r:id="rId77"/>
    <p:sldId id="2563" r:id="rId78"/>
    <p:sldId id="2564" r:id="rId79"/>
    <p:sldId id="2565" r:id="rId80"/>
    <p:sldId id="2566" r:id="rId81"/>
    <p:sldId id="2567" r:id="rId82"/>
    <p:sldId id="2568" r:id="rId83"/>
    <p:sldId id="2569" r:id="rId84"/>
    <p:sldId id="2570" r:id="rId85"/>
    <p:sldId id="2571" r:id="rId86"/>
    <p:sldId id="2572" r:id="rId87"/>
    <p:sldId id="2573" r:id="rId88"/>
    <p:sldId id="2574" r:id="rId89"/>
    <p:sldId id="2575" r:id="rId90"/>
    <p:sldId id="2576" r:id="rId91"/>
    <p:sldId id="2577" r:id="rId92"/>
    <p:sldId id="2578" r:id="rId93"/>
    <p:sldId id="2579" r:id="rId94"/>
    <p:sldId id="2580" r:id="rId95"/>
    <p:sldId id="2581" r:id="rId96"/>
    <p:sldId id="2582" r:id="rId97"/>
    <p:sldId id="2827" r:id="rId98"/>
    <p:sldId id="2584" r:id="rId99"/>
    <p:sldId id="561" r:id="rId100"/>
    <p:sldId id="2814" r:id="rId101"/>
    <p:sldId id="2815" r:id="rId102"/>
    <p:sldId id="2816" r:id="rId103"/>
    <p:sldId id="2821" r:id="rId104"/>
    <p:sldId id="2822" r:id="rId105"/>
    <p:sldId id="548" r:id="rId106"/>
    <p:sldId id="549" r:id="rId107"/>
    <p:sldId id="550" r:id="rId108"/>
    <p:sldId id="551" r:id="rId109"/>
    <p:sldId id="552" r:id="rId110"/>
    <p:sldId id="553" r:id="rId111"/>
    <p:sldId id="554" r:id="rId112"/>
    <p:sldId id="2825" r:id="rId113"/>
    <p:sldId id="2826" r:id="rId114"/>
    <p:sldId id="556" r:id="rId115"/>
    <p:sldId id="562" r:id="rId116"/>
    <p:sldId id="563" r:id="rId117"/>
    <p:sldId id="566" r:id="rId118"/>
    <p:sldId id="565" r:id="rId119"/>
    <p:sldId id="567" r:id="rId120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008000"/>
    <a:srgbClr val="CC66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57" autoAdjust="0"/>
    <p:restoredTop sz="72081" autoAdjust="0"/>
  </p:normalViewPr>
  <p:slideViewPr>
    <p:cSldViewPr showGuides="1">
      <p:cViewPr varScale="1">
        <p:scale>
          <a:sx n="91" d="100"/>
          <a:sy n="91" d="100"/>
        </p:scale>
        <p:origin x="1146" y="78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4899845-3118-4647-BA0C-4F82A435B84A}" type="datetimeFigureOut">
              <a:rPr lang="zh-CN" altLang="en-US"/>
              <a:pPr>
                <a:defRPr/>
              </a:pPr>
              <a:t>2024/6/19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B716CC94-8A0D-40D0-A583-0E42F0F0FC4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68959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716CC94-8A0D-40D0-A583-0E42F0F0FC4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08648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716CC94-8A0D-40D0-A583-0E42F0F0FC4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1662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3665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1386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06489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9249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42157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433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30193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149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48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8648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857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7829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0939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6272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6674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566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51536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7260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7900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4867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14014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1275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5121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60207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96478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25506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7039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446093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754351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96474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6278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094734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53805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673635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98896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05028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814168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80855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78657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133340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514448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t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52187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74650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37841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314141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159440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705777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882110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20210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19272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520260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864785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64846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55594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446970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4107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79471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42678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07738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752306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369902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62409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51681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89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35862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90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008763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91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659960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92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3237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93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157961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94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12508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95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0524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96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4048036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97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115274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98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066380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99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56686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100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1046145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101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53686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102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488620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103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235885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104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596702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105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5834425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106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1052857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107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708589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108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4804543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109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5304036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110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627137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111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9700240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112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346760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113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2076374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114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999710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115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636936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116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1746799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117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635893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118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43059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6CC94-8A0D-40D0-A583-0E42F0F0FC4B}" type="slidenum">
              <a:rPr lang="zh-CN" altLang="en-US" smtClean="0"/>
              <a:pPr/>
              <a:t>119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2576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0" y="0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0" y="0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179" y="0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358" y="0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0" y="179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179" y="179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358" y="179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37" y="1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0" y="358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179" y="358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358" y="358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37" y="358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716" y="3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0" y="536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179" y="536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358" y="536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37" y="536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0" y="715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179" y="715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358" y="715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37" y="715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716" y="715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0" y="89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179" y="894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358" y="894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37" y="894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0" y="107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179" y="107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358" y="1073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37" y="1073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179" y="1252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37" y="1252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600"/>
            </a:lvl1pPr>
          </a:lstStyle>
          <a:p>
            <a:r>
              <a:rPr lang="en-GB" altLang="zh-CN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000"/>
            </a:lvl1pPr>
          </a:lstStyle>
          <a:p>
            <a:r>
              <a:rPr lang="en-GB" altLang="zh-CN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 sz="1000" b="0">
                <a:solidFill>
                  <a:srgbClr val="000000"/>
                </a:solidFill>
              </a:defRPr>
            </a:lvl1pPr>
          </a:lstStyle>
          <a:p>
            <a:fld id="{FDC0C7D8-A986-4A1D-B9EF-1F97E7C1DF4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38616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4459F7-7CA8-4F5C-B865-3877F161309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97704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F4487A-7074-4502-B5B0-85DEA82FF59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32974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981075"/>
            <a:ext cx="4038600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038600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2BB5A6-A7E8-4FF6-8055-14FF5BBC3669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35084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5E4627-4099-409D-884F-AA676C9391E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88253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71FC84-389C-417A-B348-8C2D25E7BF49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4970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E0A40F-049D-44B9-863A-3B75A99A73B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50999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8DD69F-E8DC-44F5-A2E2-8C078E7CC33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86273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D2A316-4B5C-4114-A768-1E7329BF438B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41836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6ABF51-56EC-48ED-AAA0-FD3E2185F0B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08396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0513" y="188913"/>
            <a:ext cx="2057400" cy="59769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3" y="188913"/>
            <a:ext cx="6019800" cy="59769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144FE4-707D-4881-9F18-BF30EC9E0F1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96820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60198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381000" y="1066800"/>
            <a:ext cx="8382000" cy="5486400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3343586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96681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604730" y="1056254"/>
            <a:ext cx="921357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3978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500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46587" y="1103440"/>
            <a:ext cx="6910673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5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46587" y="1743281"/>
            <a:ext cx="6910673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717" y="1246948"/>
            <a:ext cx="15126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323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188913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981075"/>
            <a:ext cx="8229600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0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96188" y="6248400"/>
            <a:ext cx="10906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solidFill>
                  <a:srgbClr val="CC0000"/>
                </a:solidFill>
              </a:defRPr>
            </a:lvl1pPr>
          </a:lstStyle>
          <a:p>
            <a:fld id="{B41058CD-05C1-4343-BCB0-7C2419A04D2F}" type="slidenum">
              <a:rPr lang="en-GB" altLang="en-US"/>
              <a:pPr/>
              <a:t>‹#›</a:t>
            </a:fld>
            <a:endParaRPr lang="en-GB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0" y="0"/>
            <a:chExt cx="528" cy="864"/>
          </a:xfrm>
        </p:grpSpPr>
        <p:sp>
          <p:nvSpPr>
            <p:cNvPr id="1034" name="Oval 9"/>
            <p:cNvSpPr>
              <a:spLocks noChangeArrowheads="1"/>
            </p:cNvSpPr>
            <p:nvPr/>
          </p:nvSpPr>
          <p:spPr bwMode="auto">
            <a:xfrm>
              <a:off x="0" y="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35" name="Oval 10"/>
            <p:cNvSpPr>
              <a:spLocks noChangeArrowheads="1"/>
            </p:cNvSpPr>
            <p:nvPr/>
          </p:nvSpPr>
          <p:spPr bwMode="auto">
            <a:xfrm>
              <a:off x="112" y="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36" name="Oval 11"/>
            <p:cNvSpPr>
              <a:spLocks noChangeArrowheads="1"/>
            </p:cNvSpPr>
            <p:nvPr/>
          </p:nvSpPr>
          <p:spPr bwMode="auto">
            <a:xfrm>
              <a:off x="224" y="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37" name="Oval 12"/>
            <p:cNvSpPr>
              <a:spLocks noChangeArrowheads="1"/>
            </p:cNvSpPr>
            <p:nvPr/>
          </p:nvSpPr>
          <p:spPr bwMode="auto">
            <a:xfrm>
              <a:off x="0" y="11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38" name="Oval 13"/>
            <p:cNvSpPr>
              <a:spLocks noChangeArrowheads="1"/>
            </p:cNvSpPr>
            <p:nvPr/>
          </p:nvSpPr>
          <p:spPr bwMode="auto">
            <a:xfrm>
              <a:off x="112" y="11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39" name="Oval 14"/>
            <p:cNvSpPr>
              <a:spLocks noChangeArrowheads="1"/>
            </p:cNvSpPr>
            <p:nvPr/>
          </p:nvSpPr>
          <p:spPr bwMode="auto">
            <a:xfrm>
              <a:off x="224" y="11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0" name="Oval 15"/>
            <p:cNvSpPr>
              <a:spLocks noChangeArrowheads="1"/>
            </p:cNvSpPr>
            <p:nvPr/>
          </p:nvSpPr>
          <p:spPr bwMode="auto">
            <a:xfrm>
              <a:off x="336" y="11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1" name="Oval 16"/>
            <p:cNvSpPr>
              <a:spLocks noChangeArrowheads="1"/>
            </p:cNvSpPr>
            <p:nvPr/>
          </p:nvSpPr>
          <p:spPr bwMode="auto">
            <a:xfrm>
              <a:off x="0" y="22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2" name="Oval 17"/>
            <p:cNvSpPr>
              <a:spLocks noChangeArrowheads="1"/>
            </p:cNvSpPr>
            <p:nvPr/>
          </p:nvSpPr>
          <p:spPr bwMode="auto">
            <a:xfrm>
              <a:off x="112" y="22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3" name="Oval 18"/>
            <p:cNvSpPr>
              <a:spLocks noChangeArrowheads="1"/>
            </p:cNvSpPr>
            <p:nvPr/>
          </p:nvSpPr>
          <p:spPr bwMode="auto">
            <a:xfrm>
              <a:off x="224" y="22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4" name="Oval 19"/>
            <p:cNvSpPr>
              <a:spLocks noChangeArrowheads="1"/>
            </p:cNvSpPr>
            <p:nvPr/>
          </p:nvSpPr>
          <p:spPr bwMode="auto">
            <a:xfrm>
              <a:off x="336" y="22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5" name="Oval 20"/>
            <p:cNvSpPr>
              <a:spLocks noChangeArrowheads="1"/>
            </p:cNvSpPr>
            <p:nvPr/>
          </p:nvSpPr>
          <p:spPr bwMode="auto">
            <a:xfrm>
              <a:off x="448" y="22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6" name="Oval 21"/>
            <p:cNvSpPr>
              <a:spLocks noChangeArrowheads="1"/>
            </p:cNvSpPr>
            <p:nvPr/>
          </p:nvSpPr>
          <p:spPr bwMode="auto">
            <a:xfrm>
              <a:off x="0" y="33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7" name="Oval 22"/>
            <p:cNvSpPr>
              <a:spLocks noChangeArrowheads="1"/>
            </p:cNvSpPr>
            <p:nvPr/>
          </p:nvSpPr>
          <p:spPr bwMode="auto">
            <a:xfrm>
              <a:off x="112" y="33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8" name="Oval 23"/>
            <p:cNvSpPr>
              <a:spLocks noChangeArrowheads="1"/>
            </p:cNvSpPr>
            <p:nvPr/>
          </p:nvSpPr>
          <p:spPr bwMode="auto">
            <a:xfrm>
              <a:off x="224" y="33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9" name="Oval 24"/>
            <p:cNvSpPr>
              <a:spLocks noChangeArrowheads="1"/>
            </p:cNvSpPr>
            <p:nvPr/>
          </p:nvSpPr>
          <p:spPr bwMode="auto">
            <a:xfrm>
              <a:off x="336" y="33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0" name="Oval 25"/>
            <p:cNvSpPr>
              <a:spLocks noChangeArrowheads="1"/>
            </p:cNvSpPr>
            <p:nvPr/>
          </p:nvSpPr>
          <p:spPr bwMode="auto">
            <a:xfrm>
              <a:off x="0" y="44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1" name="Oval 26"/>
            <p:cNvSpPr>
              <a:spLocks noChangeArrowheads="1"/>
            </p:cNvSpPr>
            <p:nvPr/>
          </p:nvSpPr>
          <p:spPr bwMode="auto">
            <a:xfrm>
              <a:off x="112" y="44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2" name="Oval 27"/>
            <p:cNvSpPr>
              <a:spLocks noChangeArrowheads="1"/>
            </p:cNvSpPr>
            <p:nvPr/>
          </p:nvSpPr>
          <p:spPr bwMode="auto">
            <a:xfrm>
              <a:off x="224" y="44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3" name="Oval 28"/>
            <p:cNvSpPr>
              <a:spLocks noChangeArrowheads="1"/>
            </p:cNvSpPr>
            <p:nvPr/>
          </p:nvSpPr>
          <p:spPr bwMode="auto">
            <a:xfrm>
              <a:off x="336" y="44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4" name="Oval 29"/>
            <p:cNvSpPr>
              <a:spLocks noChangeArrowheads="1"/>
            </p:cNvSpPr>
            <p:nvPr/>
          </p:nvSpPr>
          <p:spPr bwMode="auto">
            <a:xfrm>
              <a:off x="448" y="44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5" name="Oval 30"/>
            <p:cNvSpPr>
              <a:spLocks noChangeArrowheads="1"/>
            </p:cNvSpPr>
            <p:nvPr/>
          </p:nvSpPr>
          <p:spPr bwMode="auto">
            <a:xfrm>
              <a:off x="0" y="56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6" name="Oval 31"/>
            <p:cNvSpPr>
              <a:spLocks noChangeArrowheads="1"/>
            </p:cNvSpPr>
            <p:nvPr/>
          </p:nvSpPr>
          <p:spPr bwMode="auto">
            <a:xfrm>
              <a:off x="112" y="56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7" name="Oval 32"/>
            <p:cNvSpPr>
              <a:spLocks noChangeArrowheads="1"/>
            </p:cNvSpPr>
            <p:nvPr/>
          </p:nvSpPr>
          <p:spPr bwMode="auto">
            <a:xfrm>
              <a:off x="224" y="56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8" name="Oval 33"/>
            <p:cNvSpPr>
              <a:spLocks noChangeArrowheads="1"/>
            </p:cNvSpPr>
            <p:nvPr/>
          </p:nvSpPr>
          <p:spPr bwMode="auto">
            <a:xfrm>
              <a:off x="336" y="56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9" name="Oval 34"/>
            <p:cNvSpPr>
              <a:spLocks noChangeArrowheads="1"/>
            </p:cNvSpPr>
            <p:nvPr/>
          </p:nvSpPr>
          <p:spPr bwMode="auto">
            <a:xfrm>
              <a:off x="0" y="67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60" name="Oval 35"/>
            <p:cNvSpPr>
              <a:spLocks noChangeArrowheads="1"/>
            </p:cNvSpPr>
            <p:nvPr/>
          </p:nvSpPr>
          <p:spPr bwMode="auto">
            <a:xfrm>
              <a:off x="112" y="67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61" name="Oval 36"/>
            <p:cNvSpPr>
              <a:spLocks noChangeArrowheads="1"/>
            </p:cNvSpPr>
            <p:nvPr/>
          </p:nvSpPr>
          <p:spPr bwMode="auto">
            <a:xfrm>
              <a:off x="224" y="67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62" name="Oval 37"/>
            <p:cNvSpPr>
              <a:spLocks noChangeArrowheads="1"/>
            </p:cNvSpPr>
            <p:nvPr/>
          </p:nvSpPr>
          <p:spPr bwMode="auto">
            <a:xfrm>
              <a:off x="336" y="67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63" name="Oval 38"/>
            <p:cNvSpPr>
              <a:spLocks noChangeArrowheads="1"/>
            </p:cNvSpPr>
            <p:nvPr/>
          </p:nvSpPr>
          <p:spPr bwMode="auto">
            <a:xfrm>
              <a:off x="112" y="78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64" name="Oval 39"/>
            <p:cNvSpPr>
              <a:spLocks noChangeArrowheads="1"/>
            </p:cNvSpPr>
            <p:nvPr/>
          </p:nvSpPr>
          <p:spPr bwMode="auto">
            <a:xfrm>
              <a:off x="336" y="78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</p:grpSp>
      <p:sp>
        <p:nvSpPr>
          <p:cNvPr id="1033" name="Text Box 40"/>
          <p:cNvSpPr txBox="1">
            <a:spLocks noChangeArrowheads="1"/>
          </p:cNvSpPr>
          <p:nvPr userDrawn="1"/>
        </p:nvSpPr>
        <p:spPr bwMode="auto">
          <a:xfrm>
            <a:off x="8532813" y="6308725"/>
            <a:ext cx="4365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A11E58A-4DC0-4297-9F8F-6F54B394C81F}" type="slidenum">
              <a:rPr lang="en-GB" altLang="en-US" b="1">
                <a:solidFill>
                  <a:srgbClr val="CC0000"/>
                </a:solidFill>
              </a:rPr>
              <a:pPr eaLnBrk="1" hangingPunct="1"/>
              <a:t>‹#›</a:t>
            </a:fld>
            <a:endParaRPr lang="zh-CN" altLang="en-US" b="1">
              <a:solidFill>
                <a:srgbClr val="CC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72" r:id="rId1"/>
    <p:sldLayoutId id="2147484573" r:id="rId2"/>
    <p:sldLayoutId id="2147484574" r:id="rId3"/>
    <p:sldLayoutId id="2147484575" r:id="rId4"/>
    <p:sldLayoutId id="2147484576" r:id="rId5"/>
    <p:sldLayoutId id="2147484577" r:id="rId6"/>
    <p:sldLayoutId id="2147484578" r:id="rId7"/>
    <p:sldLayoutId id="2147484579" r:id="rId8"/>
    <p:sldLayoutId id="2147484580" r:id="rId9"/>
    <p:sldLayoutId id="2147484581" r:id="rId10"/>
    <p:sldLayoutId id="2147484582" r:id="rId11"/>
    <p:sldLayoutId id="2147484583" r:id="rId12"/>
    <p:sldLayoutId id="2147484584" r:id="rId13"/>
    <p:sldLayoutId id="2147484585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400" b="1">
          <a:solidFill>
            <a:schemeClr val="tx1"/>
          </a:solidFill>
          <a:latin typeface="Times New Roman" pitchFamily="18" charset="0"/>
          <a:ea typeface="楷体_GB2312" pitchFamily="1" charset="-122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楷体_GB2312" pitchFamily="1" charset="-122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楷体_GB2312" pitchFamily="1" charset="-122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4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4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4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4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4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32656"/>
            <a:ext cx="6858000" cy="533400"/>
          </a:xfrm>
        </p:spPr>
        <p:txBody>
          <a:bodyPr/>
          <a:lstStyle/>
          <a:p>
            <a:pPr marL="838200" indent="-838200" eaLnBrk="1" hangingPunct="1"/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第七章 集合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341438"/>
            <a:ext cx="7467600" cy="5257800"/>
          </a:xfrm>
        </p:spPr>
        <p:txBody>
          <a:bodyPr/>
          <a:lstStyle/>
          <a:p>
            <a:pPr marL="609600" indent="-609600" eaLnBrk="1" hangingPunct="1">
              <a:lnSpc>
                <a:spcPct val="15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7.1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7.2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集合框架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Collection</a:t>
            </a:r>
          </a:p>
          <a:p>
            <a:pPr marL="609600" indent="-60960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7.3 List</a:t>
            </a:r>
          </a:p>
          <a:p>
            <a:pPr marL="609600" indent="-60960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</a:p>
          <a:p>
            <a:pPr marL="609600" indent="-60960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7.5 Map</a:t>
            </a:r>
          </a:p>
          <a:p>
            <a:pPr marL="609600" indent="-60960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7.6 Collections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10">
            <a:extLst>
              <a:ext uri="{FF2B5EF4-FFF2-40B4-BE49-F238E27FC236}">
                <a16:creationId xmlns:a16="http://schemas.microsoft.com/office/drawing/2014/main" id="{39B7C29E-2D43-496A-BE3D-8D631D3AF461}"/>
              </a:ext>
            </a:extLst>
          </p:cNvPr>
          <p:cNvSpPr txBox="1"/>
          <p:nvPr/>
        </p:nvSpPr>
        <p:spPr>
          <a:xfrm>
            <a:off x="355774" y="1840468"/>
            <a:ext cx="7015156" cy="362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6858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集合是一种容器，用来装数据的，类似于数组。</a:t>
            </a:r>
            <a:endParaRPr lang="en-US" altLang="zh-CN" sz="1600" dirty="0">
              <a:solidFill>
                <a:prstClr val="black">
                  <a:lumMod val="85000"/>
                  <a:lumOff val="15000"/>
                </a:prst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85C9DCA-B6D5-4EA9-8E8F-704EC4983FFA}"/>
              </a:ext>
            </a:extLst>
          </p:cNvPr>
          <p:cNvSpPr txBox="1"/>
          <p:nvPr/>
        </p:nvSpPr>
        <p:spPr>
          <a:xfrm>
            <a:off x="344046" y="3090097"/>
            <a:ext cx="4095993" cy="362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defTabSz="6858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数组定义完成并启动后，</a:t>
            </a:r>
            <a:r>
              <a:rPr lang="zh-CN" altLang="en-US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长度就固定了。</a:t>
            </a:r>
            <a:endParaRPr lang="zh-CN" altLang="en-US" sz="1600" dirty="0">
              <a:solidFill>
                <a:prstClr val="black">
                  <a:lumMod val="65000"/>
                  <a:lumOff val="35000"/>
                </a:prst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054917B-E8D3-4822-A46B-989635D7163B}"/>
              </a:ext>
            </a:extLst>
          </p:cNvPr>
          <p:cNvCxnSpPr>
            <a:cxnSpLocks/>
          </p:cNvCxnSpPr>
          <p:nvPr/>
        </p:nvCxnSpPr>
        <p:spPr>
          <a:xfrm>
            <a:off x="489669" y="3570632"/>
            <a:ext cx="3527425" cy="0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49C177C-D0D4-4AF0-95A4-8F0CAD240283}"/>
              </a:ext>
            </a:extLst>
          </p:cNvPr>
          <p:cNvCxnSpPr/>
          <p:nvPr/>
        </p:nvCxnSpPr>
        <p:spPr>
          <a:xfrm>
            <a:off x="506322" y="4258429"/>
            <a:ext cx="3527425" cy="0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208EE1E8-61DB-4BA9-B124-DDAE99CA72D5}"/>
              </a:ext>
            </a:extLst>
          </p:cNvPr>
          <p:cNvCxnSpPr>
            <a:cxnSpLocks/>
          </p:cNvCxnSpPr>
          <p:nvPr/>
        </p:nvCxnSpPr>
        <p:spPr>
          <a:xfrm>
            <a:off x="489668" y="3570632"/>
            <a:ext cx="0" cy="687797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C5B5DD41-4569-4E64-BFCF-FA0200B07E33}"/>
              </a:ext>
            </a:extLst>
          </p:cNvPr>
          <p:cNvCxnSpPr>
            <a:cxnSpLocks/>
          </p:cNvCxnSpPr>
          <p:nvPr/>
        </p:nvCxnSpPr>
        <p:spPr>
          <a:xfrm>
            <a:off x="1603458" y="3586507"/>
            <a:ext cx="0" cy="658110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56E5B7D9-275F-4824-A22C-BB3C8AF7A566}"/>
              </a:ext>
            </a:extLst>
          </p:cNvPr>
          <p:cNvCxnSpPr>
            <a:cxnSpLocks/>
          </p:cNvCxnSpPr>
          <p:nvPr/>
        </p:nvCxnSpPr>
        <p:spPr>
          <a:xfrm>
            <a:off x="2793131" y="3570631"/>
            <a:ext cx="0" cy="696749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3087C6BE-C58E-4926-B49F-8457A10D495F}"/>
              </a:ext>
            </a:extLst>
          </p:cNvPr>
          <p:cNvCxnSpPr>
            <a:cxnSpLocks/>
          </p:cNvCxnSpPr>
          <p:nvPr/>
        </p:nvCxnSpPr>
        <p:spPr>
          <a:xfrm>
            <a:off x="4033746" y="3586507"/>
            <a:ext cx="0" cy="671922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D6F32454-7D6A-4E2D-80D5-B5344B8A54FE}"/>
              </a:ext>
            </a:extLst>
          </p:cNvPr>
          <p:cNvSpPr/>
          <p:nvPr/>
        </p:nvSpPr>
        <p:spPr>
          <a:xfrm>
            <a:off x="969992" y="4238466"/>
            <a:ext cx="217848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5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</a:t>
            </a:r>
            <a:endParaRPr lang="zh-CN" altLang="en-US" sz="1050" dirty="0">
              <a:solidFill>
                <a:prstClr val="black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075AA49-BD9D-4F0B-8AFA-C26F870BDB64}"/>
              </a:ext>
            </a:extLst>
          </p:cNvPr>
          <p:cNvSpPr/>
          <p:nvPr/>
        </p:nvSpPr>
        <p:spPr>
          <a:xfrm>
            <a:off x="2136727" y="4244617"/>
            <a:ext cx="217848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5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endParaRPr lang="zh-CN" altLang="en-US" sz="1050" dirty="0">
              <a:solidFill>
                <a:prstClr val="black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323EA55-FD04-42BE-A0F1-8BF60C946240}"/>
              </a:ext>
            </a:extLst>
          </p:cNvPr>
          <p:cNvSpPr/>
          <p:nvPr/>
        </p:nvSpPr>
        <p:spPr>
          <a:xfrm>
            <a:off x="3373973" y="4238466"/>
            <a:ext cx="228270" cy="2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5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endParaRPr lang="zh-CN" altLang="en-US" sz="1050" dirty="0">
              <a:solidFill>
                <a:prstClr val="black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80F6C51-EE4B-4BE9-85ED-25E6A56D1D38}"/>
              </a:ext>
            </a:extLst>
          </p:cNvPr>
          <p:cNvSpPr txBox="1"/>
          <p:nvPr/>
        </p:nvSpPr>
        <p:spPr>
          <a:xfrm>
            <a:off x="387550" y="4604208"/>
            <a:ext cx="3480440" cy="362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defTabSz="6858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集合大小可变，开发中用的更多。</a:t>
            </a:r>
          </a:p>
        </p:txBody>
      </p:sp>
      <p:sp>
        <p:nvSpPr>
          <p:cNvPr id="38" name="标题 3">
            <a:extLst>
              <a:ext uri="{FF2B5EF4-FFF2-40B4-BE49-F238E27FC236}">
                <a16:creationId xmlns:a16="http://schemas.microsoft.com/office/drawing/2014/main" id="{C8941E5B-9082-43E2-8CA6-744C91D8A96C}"/>
              </a:ext>
            </a:extLst>
          </p:cNvPr>
          <p:cNvSpPr txBox="1">
            <a:spLocks/>
          </p:cNvSpPr>
          <p:nvPr/>
        </p:nvSpPr>
        <p:spPr>
          <a:xfrm>
            <a:off x="384787" y="1166784"/>
            <a:ext cx="4767416" cy="387893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15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457189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914378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371566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1828754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8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什么是集合？</a:t>
            </a:r>
          </a:p>
        </p:txBody>
      </p:sp>
      <p:sp>
        <p:nvSpPr>
          <p:cNvPr id="39" name="标题 3">
            <a:extLst>
              <a:ext uri="{FF2B5EF4-FFF2-40B4-BE49-F238E27FC236}">
                <a16:creationId xmlns:a16="http://schemas.microsoft.com/office/drawing/2014/main" id="{BE830D33-07CD-422C-B5B7-8EFBF5A9472F}"/>
              </a:ext>
            </a:extLst>
          </p:cNvPr>
          <p:cNvSpPr txBox="1">
            <a:spLocks/>
          </p:cNvSpPr>
          <p:nvPr/>
        </p:nvSpPr>
        <p:spPr>
          <a:xfrm>
            <a:off x="402860" y="2659334"/>
            <a:ext cx="3114394" cy="387893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defTabSz="685800">
              <a:lnSpc>
                <a:spcPct val="120000"/>
              </a:lnSpc>
            </a:pPr>
            <a:r>
              <a:rPr sz="18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有数组，为啥还学习集合？</a:t>
            </a: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EB9D94A0-C280-414E-8723-13D00948AA6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25" b="16837"/>
          <a:stretch/>
        </p:blipFill>
        <p:spPr>
          <a:xfrm>
            <a:off x="5544895" y="1973572"/>
            <a:ext cx="2163542" cy="3648803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AC4C7721-8D8C-4F70-89F5-95873F273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761" y="3675559"/>
            <a:ext cx="700340" cy="428760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CB72716B-A685-4272-A49C-1C7E82A181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2109" y="3622902"/>
            <a:ext cx="444286" cy="578965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9EE5C59B-67E4-4BEB-97F0-5E7EF8AD12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9486" y="3622901"/>
            <a:ext cx="508830" cy="621716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8F53AD01-C922-4AEC-B4BA-CBB94EDE80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5951" y="3570632"/>
            <a:ext cx="614734" cy="673985"/>
          </a:xfrm>
          <a:prstGeom prst="rect">
            <a:avLst/>
          </a:prstGeom>
        </p:spPr>
      </p:pic>
      <p:pic>
        <p:nvPicPr>
          <p:cNvPr id="45" name="Picture 2" descr="完了完了 - 熊大熊二 熊出没表情包">
            <a:extLst>
              <a:ext uri="{FF2B5EF4-FFF2-40B4-BE49-F238E27FC236}">
                <a16:creationId xmlns:a16="http://schemas.microsoft.com/office/drawing/2014/main" id="{5B65F9D6-AAB7-443A-BC8E-E17692853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4906" y="4967000"/>
            <a:ext cx="1417297" cy="137065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标题 1">
            <a:extLst>
              <a:ext uri="{FF2B5EF4-FFF2-40B4-BE49-F238E27FC236}">
                <a16:creationId xmlns:a16="http://schemas.microsoft.com/office/drawing/2014/main" id="{EC81236C-3D6F-4725-8AB4-5EF66B52B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188913"/>
            <a:ext cx="7543800" cy="719137"/>
          </a:xfrm>
        </p:spPr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7.1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71FF0824-2D52-4092-8AD6-0AB8DA643BE3}"/>
              </a:ext>
            </a:extLst>
          </p:cNvPr>
          <p:cNvSpPr txBox="1"/>
          <p:nvPr/>
        </p:nvSpPr>
        <p:spPr>
          <a:xfrm>
            <a:off x="358137" y="2296541"/>
            <a:ext cx="4172937" cy="362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defTabSz="6858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数组定义完成并启动后，</a:t>
            </a:r>
            <a:r>
              <a:rPr lang="zh-CN" altLang="en-US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长度就固定了。</a:t>
            </a:r>
            <a:endParaRPr lang="zh-CN" altLang="en-US" sz="1600" dirty="0">
              <a:solidFill>
                <a:prstClr val="black">
                  <a:lumMod val="65000"/>
                  <a:lumOff val="35000"/>
                </a:prst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25903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34" grpId="0"/>
      <p:bldP spid="35" grpId="0"/>
      <p:bldP spid="36" grpId="0"/>
      <p:bldP spid="37" grpId="0"/>
      <p:bldP spid="39" grpId="0"/>
      <p:bldP spid="4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标题 1">
            <a:extLst>
              <a:ext uri="{FF2B5EF4-FFF2-40B4-BE49-F238E27FC236}">
                <a16:creationId xmlns:a16="http://schemas.microsoft.com/office/drawing/2014/main" id="{EC81236C-3D6F-4725-8AB4-5EF66B52B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188913"/>
            <a:ext cx="7543800" cy="719137"/>
          </a:xfrm>
        </p:spPr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7.1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</a:t>
            </a:r>
          </a:p>
        </p:txBody>
      </p:sp>
      <p:pic>
        <p:nvPicPr>
          <p:cNvPr id="25" name="Picture 2" descr="啊朋友再见啊朋友再见 - 猫和老鼠表情包（Tom and Jerry）_猫和老鼠_卡通表情">
            <a:extLst>
              <a:ext uri="{FF2B5EF4-FFF2-40B4-BE49-F238E27FC236}">
                <a16:creationId xmlns:a16="http://schemas.microsoft.com/office/drawing/2014/main" id="{7E564BAE-5481-40FC-AD0E-8DA1775F2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1339" y="2900654"/>
            <a:ext cx="2694214" cy="2694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文本框 45">
            <a:extLst>
              <a:ext uri="{FF2B5EF4-FFF2-40B4-BE49-F238E27FC236}">
                <a16:creationId xmlns:a16="http://schemas.microsoft.com/office/drawing/2014/main" id="{C3F59F3A-8A6D-4F87-9576-B6259B951B95}"/>
              </a:ext>
            </a:extLst>
          </p:cNvPr>
          <p:cNvSpPr txBox="1"/>
          <p:nvPr/>
        </p:nvSpPr>
        <p:spPr>
          <a:xfrm>
            <a:off x="1077687" y="1979629"/>
            <a:ext cx="20313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7200" dirty="0">
                <a:solidFill>
                  <a:prstClr val="black">
                    <a:lumMod val="85000"/>
                    <a:lumOff val="15000"/>
                  </a:prst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数组</a:t>
            </a:r>
          </a:p>
        </p:txBody>
      </p:sp>
    </p:spTree>
    <p:extLst>
      <p:ext uri="{BB962C8B-B14F-4D97-AF65-F5344CB8AC3E}">
        <p14:creationId xmlns:p14="http://schemas.microsoft.com/office/powerpoint/2010/main" val="2560720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7.1 </a:t>
            </a:r>
            <a:r>
              <a:rPr lang="zh-CN" altLang="en-US" sz="36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 </a:t>
            </a:r>
            <a:r>
              <a:rPr lang="en-US" altLang="zh-CN" dirty="0" err="1">
                <a:ea typeface="宋体" panose="02010600030101010101" pitchFamily="2" charset="-122"/>
              </a:rPr>
              <a:t>ArrayList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2">
            <a:extLst>
              <a:ext uri="{FF2B5EF4-FFF2-40B4-BE49-F238E27FC236}">
                <a16:creationId xmlns:a16="http://schemas.microsoft.com/office/drawing/2014/main" id="{9C8EC8EE-61D4-4FBD-A00D-25D9405C4BE2}"/>
              </a:ext>
            </a:extLst>
          </p:cNvPr>
          <p:cNvSpPr txBox="1">
            <a:spLocks/>
          </p:cNvSpPr>
          <p:nvPr/>
        </p:nvSpPr>
        <p:spPr>
          <a:xfrm>
            <a:off x="186096" y="1008842"/>
            <a:ext cx="2939144" cy="387893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defTabSz="685800">
              <a:defRPr/>
            </a:pPr>
            <a:r>
              <a:rPr lang="en-US" altLang="zh-CN" sz="1800" b="1" dirty="0" err="1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8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 </a:t>
            </a:r>
            <a:r>
              <a:rPr sz="18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长度可变原理</a:t>
            </a:r>
            <a:endParaRPr lang="en-US" altLang="zh-CN" sz="1800" b="1" dirty="0">
              <a:solidFill>
                <a:srgbClr val="C00000"/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8444A23-CEA1-4ED4-9E13-B940E715F818}"/>
              </a:ext>
            </a:extLst>
          </p:cNvPr>
          <p:cNvSpPr/>
          <p:nvPr/>
        </p:nvSpPr>
        <p:spPr>
          <a:xfrm>
            <a:off x="533159" y="2669716"/>
            <a:ext cx="587829" cy="566834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6AE1B3A-E9E6-4E6C-8D82-870B7C00AD4F}"/>
              </a:ext>
            </a:extLst>
          </p:cNvPr>
          <p:cNvSpPr/>
          <p:nvPr/>
        </p:nvSpPr>
        <p:spPr>
          <a:xfrm>
            <a:off x="1120988" y="2669716"/>
            <a:ext cx="587829" cy="566834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F93A3DD-F347-4454-AA63-7D65871A6018}"/>
              </a:ext>
            </a:extLst>
          </p:cNvPr>
          <p:cNvSpPr/>
          <p:nvPr/>
        </p:nvSpPr>
        <p:spPr>
          <a:xfrm>
            <a:off x="1708817" y="2669716"/>
            <a:ext cx="587829" cy="566834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201D311-1E23-488F-AA8B-ACACDE66B239}"/>
              </a:ext>
            </a:extLst>
          </p:cNvPr>
          <p:cNvSpPr/>
          <p:nvPr/>
        </p:nvSpPr>
        <p:spPr>
          <a:xfrm>
            <a:off x="2296646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6693AA0-6F44-45F3-9328-54BAC84536CE}"/>
              </a:ext>
            </a:extLst>
          </p:cNvPr>
          <p:cNvSpPr/>
          <p:nvPr/>
        </p:nvSpPr>
        <p:spPr>
          <a:xfrm>
            <a:off x="2884475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3267B61-C25B-4492-A496-26CF304980E0}"/>
              </a:ext>
            </a:extLst>
          </p:cNvPr>
          <p:cNvSpPr/>
          <p:nvPr/>
        </p:nvSpPr>
        <p:spPr>
          <a:xfrm>
            <a:off x="3472304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589D772-AD25-41C8-A4A4-2A494992BF52}"/>
              </a:ext>
            </a:extLst>
          </p:cNvPr>
          <p:cNvSpPr/>
          <p:nvPr/>
        </p:nvSpPr>
        <p:spPr>
          <a:xfrm>
            <a:off x="4060133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79ED154-9161-49A1-901E-28838F49AC2F}"/>
              </a:ext>
            </a:extLst>
          </p:cNvPr>
          <p:cNvSpPr/>
          <p:nvPr/>
        </p:nvSpPr>
        <p:spPr>
          <a:xfrm>
            <a:off x="4647962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02E30A4-B10A-4690-B533-9796576E021E}"/>
              </a:ext>
            </a:extLst>
          </p:cNvPr>
          <p:cNvSpPr/>
          <p:nvPr/>
        </p:nvSpPr>
        <p:spPr>
          <a:xfrm>
            <a:off x="5235791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CB43E06-3516-4652-A8F2-FB4748EA5B95}"/>
              </a:ext>
            </a:extLst>
          </p:cNvPr>
          <p:cNvSpPr/>
          <p:nvPr/>
        </p:nvSpPr>
        <p:spPr>
          <a:xfrm>
            <a:off x="5823620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AA3A3875-CD52-4C80-859C-3722CB996C9D}"/>
              </a:ext>
            </a:extLst>
          </p:cNvPr>
          <p:cNvSpPr txBox="1"/>
          <p:nvPr/>
        </p:nvSpPr>
        <p:spPr>
          <a:xfrm>
            <a:off x="323528" y="1497525"/>
            <a:ext cx="5983057" cy="9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当创建 </a:t>
            </a:r>
            <a:r>
              <a:rPr lang="en-US" altLang="zh-CN" sz="20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ArrayList</a:t>
            </a: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集合容器的时候</a:t>
            </a: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底层会存在一个长度为</a:t>
            </a: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个大小的空数组</a:t>
            </a:r>
            <a:endParaRPr lang="en-US" altLang="zh-CN" sz="20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635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7.1 </a:t>
            </a:r>
            <a:r>
              <a:rPr lang="zh-CN" altLang="en-US" sz="36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 </a:t>
            </a:r>
            <a:r>
              <a:rPr lang="en-US" altLang="zh-CN" dirty="0" err="1">
                <a:ea typeface="宋体" panose="02010600030101010101" pitchFamily="2" charset="-122"/>
              </a:rPr>
              <a:t>ArrayList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FE4479A-F498-4D84-B2DB-82D1D1840439}"/>
              </a:ext>
            </a:extLst>
          </p:cNvPr>
          <p:cNvSpPr/>
          <p:nvPr/>
        </p:nvSpPr>
        <p:spPr>
          <a:xfrm>
            <a:off x="533159" y="2669716"/>
            <a:ext cx="587829" cy="566834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72DF042-40E1-481A-B06A-D3207F6DC5A4}"/>
              </a:ext>
            </a:extLst>
          </p:cNvPr>
          <p:cNvSpPr/>
          <p:nvPr/>
        </p:nvSpPr>
        <p:spPr>
          <a:xfrm>
            <a:off x="1120988" y="2669716"/>
            <a:ext cx="587829" cy="566834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E5FC43C-002E-46E5-8086-7884724B671D}"/>
              </a:ext>
            </a:extLst>
          </p:cNvPr>
          <p:cNvSpPr/>
          <p:nvPr/>
        </p:nvSpPr>
        <p:spPr>
          <a:xfrm>
            <a:off x="1708817" y="2669716"/>
            <a:ext cx="587829" cy="566834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3F1B441-FECE-4F26-BD35-F6E7581AE769}"/>
              </a:ext>
            </a:extLst>
          </p:cNvPr>
          <p:cNvSpPr/>
          <p:nvPr/>
        </p:nvSpPr>
        <p:spPr>
          <a:xfrm>
            <a:off x="2296646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44C7DAE-372F-4C11-A2CE-3140D3D9E769}"/>
              </a:ext>
            </a:extLst>
          </p:cNvPr>
          <p:cNvSpPr/>
          <p:nvPr/>
        </p:nvSpPr>
        <p:spPr>
          <a:xfrm>
            <a:off x="2884475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67CD5E79-72A9-4A22-9809-22FF18AB7CE8}"/>
              </a:ext>
            </a:extLst>
          </p:cNvPr>
          <p:cNvSpPr/>
          <p:nvPr/>
        </p:nvSpPr>
        <p:spPr>
          <a:xfrm>
            <a:off x="3472304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A56E49A-F329-4969-82EB-5C17906427B9}"/>
              </a:ext>
            </a:extLst>
          </p:cNvPr>
          <p:cNvSpPr/>
          <p:nvPr/>
        </p:nvSpPr>
        <p:spPr>
          <a:xfrm>
            <a:off x="4060133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662B8BF5-7410-4D0C-AABD-DFB06D0AA411}"/>
              </a:ext>
            </a:extLst>
          </p:cNvPr>
          <p:cNvSpPr/>
          <p:nvPr/>
        </p:nvSpPr>
        <p:spPr>
          <a:xfrm>
            <a:off x="4647962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423EAF8-F96F-4AE7-9A3C-DB81FA895C4B}"/>
              </a:ext>
            </a:extLst>
          </p:cNvPr>
          <p:cNvSpPr/>
          <p:nvPr/>
        </p:nvSpPr>
        <p:spPr>
          <a:xfrm>
            <a:off x="5235791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C4F21F85-1497-4680-B954-A6D946D0065A}"/>
              </a:ext>
            </a:extLst>
          </p:cNvPr>
          <p:cNvSpPr/>
          <p:nvPr/>
        </p:nvSpPr>
        <p:spPr>
          <a:xfrm>
            <a:off x="5823620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BCBC262-E0F3-4E6D-84E7-F40C7AE918D7}"/>
              </a:ext>
            </a:extLst>
          </p:cNvPr>
          <p:cNvSpPr/>
          <p:nvPr/>
        </p:nvSpPr>
        <p:spPr>
          <a:xfrm>
            <a:off x="6910778" y="3688731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3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BF2B3F2-D92E-4342-B9C3-85D1A94B117F}"/>
              </a:ext>
            </a:extLst>
          </p:cNvPr>
          <p:cNvSpPr/>
          <p:nvPr/>
        </p:nvSpPr>
        <p:spPr>
          <a:xfrm>
            <a:off x="6158384" y="3906573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2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5CC8BFF-E2F1-4E1A-A058-05FC69FEEC72}"/>
              </a:ext>
            </a:extLst>
          </p:cNvPr>
          <p:cNvSpPr/>
          <p:nvPr/>
        </p:nvSpPr>
        <p:spPr>
          <a:xfrm>
            <a:off x="6650153" y="4271455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7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C48EB9F-64C0-4CC7-B51F-844768D8910D}"/>
              </a:ext>
            </a:extLst>
          </p:cNvPr>
          <p:cNvSpPr/>
          <p:nvPr/>
        </p:nvSpPr>
        <p:spPr>
          <a:xfrm>
            <a:off x="6452298" y="4735891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8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2E0584C-DA66-41A3-9A88-FBD634E3D964}"/>
              </a:ext>
            </a:extLst>
          </p:cNvPr>
          <p:cNvSpPr/>
          <p:nvPr/>
        </p:nvSpPr>
        <p:spPr>
          <a:xfrm>
            <a:off x="7351025" y="4854180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9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3860885-BF27-4F71-85AA-2D2311E8E3C1}"/>
              </a:ext>
            </a:extLst>
          </p:cNvPr>
          <p:cNvSpPr/>
          <p:nvPr/>
        </p:nvSpPr>
        <p:spPr>
          <a:xfrm>
            <a:off x="7771659" y="4271455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6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66A9B76-82BB-4DA3-A9E2-C3FF1DF22915}"/>
              </a:ext>
            </a:extLst>
          </p:cNvPr>
          <p:cNvSpPr/>
          <p:nvPr/>
        </p:nvSpPr>
        <p:spPr>
          <a:xfrm>
            <a:off x="8162423" y="4981138"/>
            <a:ext cx="7070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10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2BEE8D1-FEEC-44BF-8F14-CCD65830FA8A}"/>
              </a:ext>
            </a:extLst>
          </p:cNvPr>
          <p:cNvSpPr/>
          <p:nvPr/>
        </p:nvSpPr>
        <p:spPr>
          <a:xfrm>
            <a:off x="8111558" y="3818690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5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A747DB5-89ED-4B81-A8C5-2CA66E1A34F0}"/>
              </a:ext>
            </a:extLst>
          </p:cNvPr>
          <p:cNvSpPr/>
          <p:nvPr/>
        </p:nvSpPr>
        <p:spPr>
          <a:xfrm>
            <a:off x="6847354" y="3138361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2784E58-06D5-4644-9224-859C1B2F1041}"/>
              </a:ext>
            </a:extLst>
          </p:cNvPr>
          <p:cNvSpPr/>
          <p:nvPr/>
        </p:nvSpPr>
        <p:spPr>
          <a:xfrm>
            <a:off x="7734746" y="3415360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4</a:t>
            </a:r>
          </a:p>
        </p:txBody>
      </p:sp>
      <p:sp>
        <p:nvSpPr>
          <p:cNvPr id="40" name="标题 2">
            <a:extLst>
              <a:ext uri="{FF2B5EF4-FFF2-40B4-BE49-F238E27FC236}">
                <a16:creationId xmlns:a16="http://schemas.microsoft.com/office/drawing/2014/main" id="{13F432D8-5DC9-4289-9E9F-2288665E8428}"/>
              </a:ext>
            </a:extLst>
          </p:cNvPr>
          <p:cNvSpPr txBox="1">
            <a:spLocks/>
          </p:cNvSpPr>
          <p:nvPr/>
        </p:nvSpPr>
        <p:spPr>
          <a:xfrm>
            <a:off x="186096" y="1008842"/>
            <a:ext cx="2939144" cy="387893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defTabSz="685800">
              <a:defRPr/>
            </a:pPr>
            <a:r>
              <a:rPr lang="en-US" altLang="zh-CN" sz="1800" b="1" dirty="0" err="1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8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 </a:t>
            </a:r>
            <a:r>
              <a:rPr sz="18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长度可变原理</a:t>
            </a:r>
            <a:endParaRPr lang="en-US" altLang="zh-CN" sz="1800" b="1" dirty="0">
              <a:solidFill>
                <a:srgbClr val="C00000"/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TextBox 10">
            <a:extLst>
              <a:ext uri="{FF2B5EF4-FFF2-40B4-BE49-F238E27FC236}">
                <a16:creationId xmlns:a16="http://schemas.microsoft.com/office/drawing/2014/main" id="{A04B66EA-E9C2-4D80-9B72-67E1B3F119D2}"/>
              </a:ext>
            </a:extLst>
          </p:cNvPr>
          <p:cNvSpPr txBox="1"/>
          <p:nvPr/>
        </p:nvSpPr>
        <p:spPr>
          <a:xfrm>
            <a:off x="323528" y="1497525"/>
            <a:ext cx="5983057" cy="9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当创建 </a:t>
            </a:r>
            <a:r>
              <a:rPr lang="en-US" altLang="zh-CN" sz="20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ArrayList</a:t>
            </a: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集合容器的时候</a:t>
            </a: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底层会存在一个长度为</a:t>
            </a: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个大小的空数组</a:t>
            </a:r>
            <a:endParaRPr lang="en-US" altLang="zh-CN" sz="20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033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7.1 </a:t>
            </a:r>
            <a:r>
              <a:rPr lang="zh-CN" altLang="en-US" sz="36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 </a:t>
            </a:r>
            <a:r>
              <a:rPr lang="en-US" altLang="zh-CN" dirty="0" err="1">
                <a:ea typeface="宋体" panose="02010600030101010101" pitchFamily="2" charset="-122"/>
              </a:rPr>
              <a:t>ArrayList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标题 2">
            <a:extLst>
              <a:ext uri="{FF2B5EF4-FFF2-40B4-BE49-F238E27FC236}">
                <a16:creationId xmlns:a16="http://schemas.microsoft.com/office/drawing/2014/main" id="{13F432D8-5DC9-4289-9E9F-2288665E8428}"/>
              </a:ext>
            </a:extLst>
          </p:cNvPr>
          <p:cNvSpPr txBox="1">
            <a:spLocks/>
          </p:cNvSpPr>
          <p:nvPr/>
        </p:nvSpPr>
        <p:spPr>
          <a:xfrm>
            <a:off x="186096" y="1008842"/>
            <a:ext cx="2939144" cy="387893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defTabSz="685800">
              <a:defRPr/>
            </a:pPr>
            <a:r>
              <a:rPr lang="en-US" altLang="zh-CN" sz="1800" b="1" dirty="0" err="1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8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 </a:t>
            </a:r>
            <a:r>
              <a:rPr sz="18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长度可变原理</a:t>
            </a:r>
            <a:endParaRPr lang="en-US" altLang="zh-CN" sz="1800" b="1" dirty="0">
              <a:solidFill>
                <a:srgbClr val="C00000"/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TextBox 10">
            <a:extLst>
              <a:ext uri="{FF2B5EF4-FFF2-40B4-BE49-F238E27FC236}">
                <a16:creationId xmlns:a16="http://schemas.microsoft.com/office/drawing/2014/main" id="{A04B66EA-E9C2-4D80-9B72-67E1B3F119D2}"/>
              </a:ext>
            </a:extLst>
          </p:cNvPr>
          <p:cNvSpPr txBox="1"/>
          <p:nvPr/>
        </p:nvSpPr>
        <p:spPr>
          <a:xfrm>
            <a:off x="323528" y="1497525"/>
            <a:ext cx="5983057" cy="9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当创建 </a:t>
            </a:r>
            <a:r>
              <a:rPr lang="en-US" altLang="zh-CN" sz="20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ArrayList</a:t>
            </a: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集合容器的时候</a:t>
            </a: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底层会存在一个长度为</a:t>
            </a: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个大小的空数组</a:t>
            </a:r>
            <a:endParaRPr lang="en-US" altLang="zh-CN" sz="20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0" name="矩形: 圆角 189">
            <a:extLst>
              <a:ext uri="{FF2B5EF4-FFF2-40B4-BE49-F238E27FC236}">
                <a16:creationId xmlns:a16="http://schemas.microsoft.com/office/drawing/2014/main" id="{B7577B46-D034-4B55-B542-4169471649BE}"/>
              </a:ext>
            </a:extLst>
          </p:cNvPr>
          <p:cNvSpPr/>
          <p:nvPr/>
        </p:nvSpPr>
        <p:spPr>
          <a:xfrm>
            <a:off x="533159" y="2669716"/>
            <a:ext cx="587829" cy="566834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91" name="矩形: 圆角 190">
            <a:extLst>
              <a:ext uri="{FF2B5EF4-FFF2-40B4-BE49-F238E27FC236}">
                <a16:creationId xmlns:a16="http://schemas.microsoft.com/office/drawing/2014/main" id="{FBE53193-E75A-4AB4-87F8-DD927ED25A03}"/>
              </a:ext>
            </a:extLst>
          </p:cNvPr>
          <p:cNvSpPr/>
          <p:nvPr/>
        </p:nvSpPr>
        <p:spPr>
          <a:xfrm>
            <a:off x="1120988" y="2669716"/>
            <a:ext cx="587829" cy="566834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92" name="矩形: 圆角 191">
            <a:extLst>
              <a:ext uri="{FF2B5EF4-FFF2-40B4-BE49-F238E27FC236}">
                <a16:creationId xmlns:a16="http://schemas.microsoft.com/office/drawing/2014/main" id="{5C271CA2-4FE7-490C-8630-989447B44CEF}"/>
              </a:ext>
            </a:extLst>
          </p:cNvPr>
          <p:cNvSpPr/>
          <p:nvPr/>
        </p:nvSpPr>
        <p:spPr>
          <a:xfrm>
            <a:off x="1708817" y="2669716"/>
            <a:ext cx="587829" cy="566834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93" name="矩形: 圆角 192">
            <a:extLst>
              <a:ext uri="{FF2B5EF4-FFF2-40B4-BE49-F238E27FC236}">
                <a16:creationId xmlns:a16="http://schemas.microsoft.com/office/drawing/2014/main" id="{C148D447-ECC7-4873-88D8-3EC20F3A6DC2}"/>
              </a:ext>
            </a:extLst>
          </p:cNvPr>
          <p:cNvSpPr/>
          <p:nvPr/>
        </p:nvSpPr>
        <p:spPr>
          <a:xfrm>
            <a:off x="2296646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94" name="矩形: 圆角 193">
            <a:extLst>
              <a:ext uri="{FF2B5EF4-FFF2-40B4-BE49-F238E27FC236}">
                <a16:creationId xmlns:a16="http://schemas.microsoft.com/office/drawing/2014/main" id="{AD12A130-9E00-4A87-BD37-268E146B93CA}"/>
              </a:ext>
            </a:extLst>
          </p:cNvPr>
          <p:cNvSpPr/>
          <p:nvPr/>
        </p:nvSpPr>
        <p:spPr>
          <a:xfrm>
            <a:off x="2884475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95" name="矩形: 圆角 194">
            <a:extLst>
              <a:ext uri="{FF2B5EF4-FFF2-40B4-BE49-F238E27FC236}">
                <a16:creationId xmlns:a16="http://schemas.microsoft.com/office/drawing/2014/main" id="{2B0B7E03-C090-40FC-906A-9FD6711CF14E}"/>
              </a:ext>
            </a:extLst>
          </p:cNvPr>
          <p:cNvSpPr/>
          <p:nvPr/>
        </p:nvSpPr>
        <p:spPr>
          <a:xfrm>
            <a:off x="3472304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96" name="矩形: 圆角 195">
            <a:extLst>
              <a:ext uri="{FF2B5EF4-FFF2-40B4-BE49-F238E27FC236}">
                <a16:creationId xmlns:a16="http://schemas.microsoft.com/office/drawing/2014/main" id="{3CBAACDF-DADC-43CD-9D62-C469CA40BC2E}"/>
              </a:ext>
            </a:extLst>
          </p:cNvPr>
          <p:cNvSpPr/>
          <p:nvPr/>
        </p:nvSpPr>
        <p:spPr>
          <a:xfrm>
            <a:off x="4060133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97" name="矩形: 圆角 196">
            <a:extLst>
              <a:ext uri="{FF2B5EF4-FFF2-40B4-BE49-F238E27FC236}">
                <a16:creationId xmlns:a16="http://schemas.microsoft.com/office/drawing/2014/main" id="{C85A865C-BD3C-44BD-BE01-1808F2AAACF5}"/>
              </a:ext>
            </a:extLst>
          </p:cNvPr>
          <p:cNvSpPr/>
          <p:nvPr/>
        </p:nvSpPr>
        <p:spPr>
          <a:xfrm>
            <a:off x="4647962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98" name="矩形: 圆角 197">
            <a:extLst>
              <a:ext uri="{FF2B5EF4-FFF2-40B4-BE49-F238E27FC236}">
                <a16:creationId xmlns:a16="http://schemas.microsoft.com/office/drawing/2014/main" id="{A1BDB472-2A8F-4131-A792-70BE7817D0B0}"/>
              </a:ext>
            </a:extLst>
          </p:cNvPr>
          <p:cNvSpPr/>
          <p:nvPr/>
        </p:nvSpPr>
        <p:spPr>
          <a:xfrm>
            <a:off x="5235791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99" name="矩形: 圆角 198">
            <a:extLst>
              <a:ext uri="{FF2B5EF4-FFF2-40B4-BE49-F238E27FC236}">
                <a16:creationId xmlns:a16="http://schemas.microsoft.com/office/drawing/2014/main" id="{550BE8BB-EC32-40C2-AEF7-F3B9D008B304}"/>
              </a:ext>
            </a:extLst>
          </p:cNvPr>
          <p:cNvSpPr/>
          <p:nvPr/>
        </p:nvSpPr>
        <p:spPr>
          <a:xfrm>
            <a:off x="5823620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EC3580D3-973F-426E-95D7-224696882936}"/>
              </a:ext>
            </a:extLst>
          </p:cNvPr>
          <p:cNvSpPr/>
          <p:nvPr/>
        </p:nvSpPr>
        <p:spPr>
          <a:xfrm>
            <a:off x="1721782" y="2822463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3</a:t>
            </a:r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A2B75AC6-168B-4A00-BA72-F241376CEDC6}"/>
              </a:ext>
            </a:extLst>
          </p:cNvPr>
          <p:cNvSpPr/>
          <p:nvPr/>
        </p:nvSpPr>
        <p:spPr>
          <a:xfrm>
            <a:off x="1120988" y="2822463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2</a:t>
            </a:r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17080C32-3405-4615-88A7-BF66963197F5}"/>
              </a:ext>
            </a:extLst>
          </p:cNvPr>
          <p:cNvSpPr/>
          <p:nvPr/>
        </p:nvSpPr>
        <p:spPr>
          <a:xfrm>
            <a:off x="4127479" y="2822463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7</a:t>
            </a:r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2C457B9F-771B-4D19-8477-0710D2810298}"/>
              </a:ext>
            </a:extLst>
          </p:cNvPr>
          <p:cNvSpPr/>
          <p:nvPr/>
        </p:nvSpPr>
        <p:spPr>
          <a:xfrm>
            <a:off x="4643536" y="2822463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8</a:t>
            </a:r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66CB308B-4800-430F-9393-D8539C0B2AC4}"/>
              </a:ext>
            </a:extLst>
          </p:cNvPr>
          <p:cNvSpPr/>
          <p:nvPr/>
        </p:nvSpPr>
        <p:spPr>
          <a:xfrm>
            <a:off x="5265038" y="2822463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9</a:t>
            </a:r>
          </a:p>
        </p:txBody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9ACD8080-10B7-4E17-B7EB-D7DFA8E11396}"/>
              </a:ext>
            </a:extLst>
          </p:cNvPr>
          <p:cNvSpPr/>
          <p:nvPr/>
        </p:nvSpPr>
        <p:spPr>
          <a:xfrm>
            <a:off x="3505977" y="2822463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6</a:t>
            </a:r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103A2C31-DF34-4E1C-BD1A-F09BDA4F9B2B}"/>
              </a:ext>
            </a:extLst>
          </p:cNvPr>
          <p:cNvSpPr/>
          <p:nvPr/>
        </p:nvSpPr>
        <p:spPr>
          <a:xfrm>
            <a:off x="5828047" y="2822463"/>
            <a:ext cx="7070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10</a:t>
            </a:r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5C339BE6-172E-42B9-B4AE-92695B4F00CE}"/>
              </a:ext>
            </a:extLst>
          </p:cNvPr>
          <p:cNvSpPr/>
          <p:nvPr/>
        </p:nvSpPr>
        <p:spPr>
          <a:xfrm>
            <a:off x="2922575" y="2822463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5</a:t>
            </a:r>
          </a:p>
        </p:txBody>
      </p:sp>
      <p:sp>
        <p:nvSpPr>
          <p:cNvPr id="208" name="矩形 207">
            <a:extLst>
              <a:ext uri="{FF2B5EF4-FFF2-40B4-BE49-F238E27FC236}">
                <a16:creationId xmlns:a16="http://schemas.microsoft.com/office/drawing/2014/main" id="{E20BAB0D-A46C-4FBC-9DDC-932B9BD341D8}"/>
              </a:ext>
            </a:extLst>
          </p:cNvPr>
          <p:cNvSpPr/>
          <p:nvPr/>
        </p:nvSpPr>
        <p:spPr>
          <a:xfrm>
            <a:off x="561364" y="2822463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</a:t>
            </a:r>
          </a:p>
        </p:txBody>
      </p:sp>
      <p:sp>
        <p:nvSpPr>
          <p:cNvPr id="209" name="矩形 208">
            <a:extLst>
              <a:ext uri="{FF2B5EF4-FFF2-40B4-BE49-F238E27FC236}">
                <a16:creationId xmlns:a16="http://schemas.microsoft.com/office/drawing/2014/main" id="{1497F74B-8E6C-4089-A086-A8ECDF080525}"/>
              </a:ext>
            </a:extLst>
          </p:cNvPr>
          <p:cNvSpPr/>
          <p:nvPr/>
        </p:nvSpPr>
        <p:spPr>
          <a:xfrm>
            <a:off x="2330319" y="2822463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4</a:t>
            </a:r>
          </a:p>
        </p:txBody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AC23F6BC-BC2F-41D4-9FD2-931822AB76AF}"/>
              </a:ext>
            </a:extLst>
          </p:cNvPr>
          <p:cNvSpPr/>
          <p:nvPr/>
        </p:nvSpPr>
        <p:spPr>
          <a:xfrm>
            <a:off x="6535136" y="2822463"/>
            <a:ext cx="7070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11</a:t>
            </a:r>
          </a:p>
        </p:txBody>
      </p:sp>
      <p:sp>
        <p:nvSpPr>
          <p:cNvPr id="211" name="TextBox 10">
            <a:extLst>
              <a:ext uri="{FF2B5EF4-FFF2-40B4-BE49-F238E27FC236}">
                <a16:creationId xmlns:a16="http://schemas.microsoft.com/office/drawing/2014/main" id="{E5B1B8D8-63AF-46DF-9B68-BA74064BD635}"/>
              </a:ext>
            </a:extLst>
          </p:cNvPr>
          <p:cNvSpPr txBox="1"/>
          <p:nvPr/>
        </p:nvSpPr>
        <p:spPr>
          <a:xfrm>
            <a:off x="399565" y="3330180"/>
            <a:ext cx="5726367" cy="495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 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扩容原数组 </a:t>
            </a: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1.5 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倍大小的新数组</a:t>
            </a:r>
            <a:endParaRPr lang="en-US" altLang="zh-CN" sz="20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2" name="矩形: 圆角 211">
            <a:extLst>
              <a:ext uri="{FF2B5EF4-FFF2-40B4-BE49-F238E27FC236}">
                <a16:creationId xmlns:a16="http://schemas.microsoft.com/office/drawing/2014/main" id="{1182B584-7B0B-4848-A192-E68837C7E7C2}"/>
              </a:ext>
            </a:extLst>
          </p:cNvPr>
          <p:cNvSpPr/>
          <p:nvPr/>
        </p:nvSpPr>
        <p:spPr>
          <a:xfrm>
            <a:off x="155353" y="3919396"/>
            <a:ext cx="587829" cy="566834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13" name="矩形: 圆角 212">
            <a:extLst>
              <a:ext uri="{FF2B5EF4-FFF2-40B4-BE49-F238E27FC236}">
                <a16:creationId xmlns:a16="http://schemas.microsoft.com/office/drawing/2014/main" id="{B3A280C2-3B0E-48AA-B987-A2124BC393FC}"/>
              </a:ext>
            </a:extLst>
          </p:cNvPr>
          <p:cNvSpPr/>
          <p:nvPr/>
        </p:nvSpPr>
        <p:spPr>
          <a:xfrm>
            <a:off x="743182" y="3919396"/>
            <a:ext cx="587829" cy="566834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14" name="矩形: 圆角 213">
            <a:extLst>
              <a:ext uri="{FF2B5EF4-FFF2-40B4-BE49-F238E27FC236}">
                <a16:creationId xmlns:a16="http://schemas.microsoft.com/office/drawing/2014/main" id="{DF622E19-1B0C-4905-AF89-837D57B529F5}"/>
              </a:ext>
            </a:extLst>
          </p:cNvPr>
          <p:cNvSpPr/>
          <p:nvPr/>
        </p:nvSpPr>
        <p:spPr>
          <a:xfrm>
            <a:off x="1331011" y="3919396"/>
            <a:ext cx="587829" cy="566834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15" name="矩形: 圆角 214">
            <a:extLst>
              <a:ext uri="{FF2B5EF4-FFF2-40B4-BE49-F238E27FC236}">
                <a16:creationId xmlns:a16="http://schemas.microsoft.com/office/drawing/2014/main" id="{4663270D-1F41-416F-A26E-F3DACA02C402}"/>
              </a:ext>
            </a:extLst>
          </p:cNvPr>
          <p:cNvSpPr/>
          <p:nvPr/>
        </p:nvSpPr>
        <p:spPr>
          <a:xfrm>
            <a:off x="1918840" y="391939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16" name="矩形: 圆角 215">
            <a:extLst>
              <a:ext uri="{FF2B5EF4-FFF2-40B4-BE49-F238E27FC236}">
                <a16:creationId xmlns:a16="http://schemas.microsoft.com/office/drawing/2014/main" id="{440C7808-1F64-46C8-8B9D-247B81E39666}"/>
              </a:ext>
            </a:extLst>
          </p:cNvPr>
          <p:cNvSpPr/>
          <p:nvPr/>
        </p:nvSpPr>
        <p:spPr>
          <a:xfrm>
            <a:off x="2506669" y="391939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17" name="矩形: 圆角 216">
            <a:extLst>
              <a:ext uri="{FF2B5EF4-FFF2-40B4-BE49-F238E27FC236}">
                <a16:creationId xmlns:a16="http://schemas.microsoft.com/office/drawing/2014/main" id="{BB6EDEE4-240C-4C80-A510-B3D257A2D2FD}"/>
              </a:ext>
            </a:extLst>
          </p:cNvPr>
          <p:cNvSpPr/>
          <p:nvPr/>
        </p:nvSpPr>
        <p:spPr>
          <a:xfrm>
            <a:off x="3094498" y="391939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18" name="矩形: 圆角 217">
            <a:extLst>
              <a:ext uri="{FF2B5EF4-FFF2-40B4-BE49-F238E27FC236}">
                <a16:creationId xmlns:a16="http://schemas.microsoft.com/office/drawing/2014/main" id="{3738C023-80C3-4E25-9E21-12980D922F6D}"/>
              </a:ext>
            </a:extLst>
          </p:cNvPr>
          <p:cNvSpPr/>
          <p:nvPr/>
        </p:nvSpPr>
        <p:spPr>
          <a:xfrm>
            <a:off x="3682327" y="391939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19" name="矩形: 圆角 218">
            <a:extLst>
              <a:ext uri="{FF2B5EF4-FFF2-40B4-BE49-F238E27FC236}">
                <a16:creationId xmlns:a16="http://schemas.microsoft.com/office/drawing/2014/main" id="{A14C5DC8-004E-4E72-848C-B3A44091480B}"/>
              </a:ext>
            </a:extLst>
          </p:cNvPr>
          <p:cNvSpPr/>
          <p:nvPr/>
        </p:nvSpPr>
        <p:spPr>
          <a:xfrm>
            <a:off x="4270156" y="391939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20" name="矩形: 圆角 219">
            <a:extLst>
              <a:ext uri="{FF2B5EF4-FFF2-40B4-BE49-F238E27FC236}">
                <a16:creationId xmlns:a16="http://schemas.microsoft.com/office/drawing/2014/main" id="{7411E3DA-3876-41FC-8892-D201E82A28C9}"/>
              </a:ext>
            </a:extLst>
          </p:cNvPr>
          <p:cNvSpPr/>
          <p:nvPr/>
        </p:nvSpPr>
        <p:spPr>
          <a:xfrm>
            <a:off x="4857985" y="391939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21" name="矩形: 圆角 220">
            <a:extLst>
              <a:ext uri="{FF2B5EF4-FFF2-40B4-BE49-F238E27FC236}">
                <a16:creationId xmlns:a16="http://schemas.microsoft.com/office/drawing/2014/main" id="{2B181975-FCD6-476B-8E3C-5E0ED7ABF9FC}"/>
              </a:ext>
            </a:extLst>
          </p:cNvPr>
          <p:cNvSpPr/>
          <p:nvPr/>
        </p:nvSpPr>
        <p:spPr>
          <a:xfrm>
            <a:off x="5445814" y="391939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22" name="矩形: 圆角 221">
            <a:extLst>
              <a:ext uri="{FF2B5EF4-FFF2-40B4-BE49-F238E27FC236}">
                <a16:creationId xmlns:a16="http://schemas.microsoft.com/office/drawing/2014/main" id="{90096696-CE70-4882-8EC0-B3831FAB4048}"/>
              </a:ext>
            </a:extLst>
          </p:cNvPr>
          <p:cNvSpPr/>
          <p:nvPr/>
        </p:nvSpPr>
        <p:spPr>
          <a:xfrm>
            <a:off x="6033643" y="3910680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23" name="矩形: 圆角 222">
            <a:extLst>
              <a:ext uri="{FF2B5EF4-FFF2-40B4-BE49-F238E27FC236}">
                <a16:creationId xmlns:a16="http://schemas.microsoft.com/office/drawing/2014/main" id="{9DB2DD72-1350-4938-BEC2-3DA447C80307}"/>
              </a:ext>
            </a:extLst>
          </p:cNvPr>
          <p:cNvSpPr/>
          <p:nvPr/>
        </p:nvSpPr>
        <p:spPr>
          <a:xfrm>
            <a:off x="6621472" y="3910680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24" name="矩形: 圆角 223">
            <a:extLst>
              <a:ext uri="{FF2B5EF4-FFF2-40B4-BE49-F238E27FC236}">
                <a16:creationId xmlns:a16="http://schemas.microsoft.com/office/drawing/2014/main" id="{EE3E8D28-9D49-4D0E-808D-07806E016426}"/>
              </a:ext>
            </a:extLst>
          </p:cNvPr>
          <p:cNvSpPr/>
          <p:nvPr/>
        </p:nvSpPr>
        <p:spPr>
          <a:xfrm>
            <a:off x="7209301" y="3910680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25" name="矩形: 圆角 224">
            <a:extLst>
              <a:ext uri="{FF2B5EF4-FFF2-40B4-BE49-F238E27FC236}">
                <a16:creationId xmlns:a16="http://schemas.microsoft.com/office/drawing/2014/main" id="{7A9D3FA5-6B9D-44DF-97EB-F7324BD4437D}"/>
              </a:ext>
            </a:extLst>
          </p:cNvPr>
          <p:cNvSpPr/>
          <p:nvPr/>
        </p:nvSpPr>
        <p:spPr>
          <a:xfrm>
            <a:off x="7797130" y="3910680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26" name="矩形: 圆角 225">
            <a:extLst>
              <a:ext uri="{FF2B5EF4-FFF2-40B4-BE49-F238E27FC236}">
                <a16:creationId xmlns:a16="http://schemas.microsoft.com/office/drawing/2014/main" id="{74989D00-DA4B-48F6-BB9C-4311C3F2658D}"/>
              </a:ext>
            </a:extLst>
          </p:cNvPr>
          <p:cNvSpPr/>
          <p:nvPr/>
        </p:nvSpPr>
        <p:spPr>
          <a:xfrm>
            <a:off x="8384959" y="3910680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27" name="TextBox 10">
            <a:extLst>
              <a:ext uri="{FF2B5EF4-FFF2-40B4-BE49-F238E27FC236}">
                <a16:creationId xmlns:a16="http://schemas.microsoft.com/office/drawing/2014/main" id="{0CF960AE-D2D0-4971-99F6-D962E2B7E945}"/>
              </a:ext>
            </a:extLst>
          </p:cNvPr>
          <p:cNvSpPr txBox="1"/>
          <p:nvPr/>
        </p:nvSpPr>
        <p:spPr>
          <a:xfrm>
            <a:off x="4421393" y="3321465"/>
            <a:ext cx="5726367" cy="495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3. 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将原数组数据，拷贝到新数组中</a:t>
            </a:r>
            <a:endParaRPr lang="en-US" altLang="zh-CN" sz="20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543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" grpId="0"/>
      <p:bldP spid="211" grpId="0"/>
      <p:bldP spid="212" grpId="0" animBg="1"/>
      <p:bldP spid="213" grpId="0" animBg="1"/>
      <p:bldP spid="214" grpId="0" animBg="1"/>
      <p:bldP spid="215" grpId="0" animBg="1"/>
      <p:bldP spid="216" grpId="0" animBg="1"/>
      <p:bldP spid="217" grpId="0" animBg="1"/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4" grpId="0" animBg="1"/>
      <p:bldP spid="225" grpId="0" animBg="1"/>
      <p:bldP spid="226" grpId="0" animBg="1"/>
      <p:bldP spid="2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7.1 </a:t>
            </a:r>
            <a:r>
              <a:rPr lang="zh-CN" altLang="en-US" sz="36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 </a:t>
            </a:r>
            <a:r>
              <a:rPr lang="en-US" altLang="zh-CN" dirty="0" err="1">
                <a:ea typeface="宋体" panose="02010600030101010101" pitchFamily="2" charset="-122"/>
              </a:rPr>
              <a:t>ArrayList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标题 2">
            <a:extLst>
              <a:ext uri="{FF2B5EF4-FFF2-40B4-BE49-F238E27FC236}">
                <a16:creationId xmlns:a16="http://schemas.microsoft.com/office/drawing/2014/main" id="{13F432D8-5DC9-4289-9E9F-2288665E8428}"/>
              </a:ext>
            </a:extLst>
          </p:cNvPr>
          <p:cNvSpPr txBox="1">
            <a:spLocks/>
          </p:cNvSpPr>
          <p:nvPr/>
        </p:nvSpPr>
        <p:spPr>
          <a:xfrm>
            <a:off x="186096" y="1008842"/>
            <a:ext cx="2939144" cy="387893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defTabSz="685800">
              <a:defRPr/>
            </a:pPr>
            <a:r>
              <a:rPr lang="en-US" altLang="zh-CN" sz="1800" b="1" dirty="0" err="1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8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 </a:t>
            </a:r>
            <a:r>
              <a:rPr sz="18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长度可变原理</a:t>
            </a:r>
            <a:endParaRPr lang="en-US" altLang="zh-CN" sz="1800" b="1" dirty="0">
              <a:solidFill>
                <a:srgbClr val="C00000"/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TextBox 10">
            <a:extLst>
              <a:ext uri="{FF2B5EF4-FFF2-40B4-BE49-F238E27FC236}">
                <a16:creationId xmlns:a16="http://schemas.microsoft.com/office/drawing/2014/main" id="{A04B66EA-E9C2-4D80-9B72-67E1B3F119D2}"/>
              </a:ext>
            </a:extLst>
          </p:cNvPr>
          <p:cNvSpPr txBox="1"/>
          <p:nvPr/>
        </p:nvSpPr>
        <p:spPr>
          <a:xfrm>
            <a:off x="323528" y="1497525"/>
            <a:ext cx="5983057" cy="9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当创建 </a:t>
            </a:r>
            <a:r>
              <a:rPr lang="en-US" altLang="zh-CN" sz="20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ArrayList</a:t>
            </a: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集合容器的时候</a:t>
            </a: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底层会存在一个长度为</a:t>
            </a: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个大小的空数组</a:t>
            </a:r>
            <a:endParaRPr lang="en-US" altLang="zh-CN" sz="20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33E52FBB-6004-46EC-9D06-2BAAFB53A836}"/>
              </a:ext>
            </a:extLst>
          </p:cNvPr>
          <p:cNvSpPr/>
          <p:nvPr/>
        </p:nvSpPr>
        <p:spPr>
          <a:xfrm>
            <a:off x="533159" y="2669716"/>
            <a:ext cx="587829" cy="566834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B265BC2B-62A1-4447-86A8-96AC88D06C9A}"/>
              </a:ext>
            </a:extLst>
          </p:cNvPr>
          <p:cNvSpPr/>
          <p:nvPr/>
        </p:nvSpPr>
        <p:spPr>
          <a:xfrm>
            <a:off x="1120988" y="2669716"/>
            <a:ext cx="587829" cy="566834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67F6BCA6-DAE4-4A53-85C0-3BA33F31910B}"/>
              </a:ext>
            </a:extLst>
          </p:cNvPr>
          <p:cNvSpPr/>
          <p:nvPr/>
        </p:nvSpPr>
        <p:spPr>
          <a:xfrm>
            <a:off x="1708817" y="2669716"/>
            <a:ext cx="587829" cy="566834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D2A2DBB4-D65D-4CCE-A23F-9E1F1FFEF59A}"/>
              </a:ext>
            </a:extLst>
          </p:cNvPr>
          <p:cNvSpPr/>
          <p:nvPr/>
        </p:nvSpPr>
        <p:spPr>
          <a:xfrm>
            <a:off x="2296646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87E2EFC6-2A4F-4AF5-BA89-0450D32860B8}"/>
              </a:ext>
            </a:extLst>
          </p:cNvPr>
          <p:cNvSpPr/>
          <p:nvPr/>
        </p:nvSpPr>
        <p:spPr>
          <a:xfrm>
            <a:off x="2884475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962DB557-C27A-4C30-B16D-01D10B0A040E}"/>
              </a:ext>
            </a:extLst>
          </p:cNvPr>
          <p:cNvSpPr/>
          <p:nvPr/>
        </p:nvSpPr>
        <p:spPr>
          <a:xfrm>
            <a:off x="3472304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20CEAB99-AD9D-48D2-84D8-2A113C8008F8}"/>
              </a:ext>
            </a:extLst>
          </p:cNvPr>
          <p:cNvSpPr/>
          <p:nvPr/>
        </p:nvSpPr>
        <p:spPr>
          <a:xfrm>
            <a:off x="4060133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90436190-6E8F-4FA3-990B-3FB3B95CC4DD}"/>
              </a:ext>
            </a:extLst>
          </p:cNvPr>
          <p:cNvSpPr/>
          <p:nvPr/>
        </p:nvSpPr>
        <p:spPr>
          <a:xfrm>
            <a:off x="4647962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294A5012-EE27-4E90-8350-4F30CB9F6E0A}"/>
              </a:ext>
            </a:extLst>
          </p:cNvPr>
          <p:cNvSpPr/>
          <p:nvPr/>
        </p:nvSpPr>
        <p:spPr>
          <a:xfrm>
            <a:off x="5235791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02" name="矩形: 圆角 101">
            <a:extLst>
              <a:ext uri="{FF2B5EF4-FFF2-40B4-BE49-F238E27FC236}">
                <a16:creationId xmlns:a16="http://schemas.microsoft.com/office/drawing/2014/main" id="{171153B4-F144-412A-88C6-39CDBDE91B5F}"/>
              </a:ext>
            </a:extLst>
          </p:cNvPr>
          <p:cNvSpPr/>
          <p:nvPr/>
        </p:nvSpPr>
        <p:spPr>
          <a:xfrm>
            <a:off x="5823620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C142BA4B-574B-47ED-B854-106F34341BA7}"/>
              </a:ext>
            </a:extLst>
          </p:cNvPr>
          <p:cNvSpPr/>
          <p:nvPr/>
        </p:nvSpPr>
        <p:spPr>
          <a:xfrm>
            <a:off x="1721782" y="2822463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3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DD9B88DF-A03A-4F99-B82F-CD970C297CE3}"/>
              </a:ext>
            </a:extLst>
          </p:cNvPr>
          <p:cNvSpPr/>
          <p:nvPr/>
        </p:nvSpPr>
        <p:spPr>
          <a:xfrm>
            <a:off x="1120988" y="2822463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2</a:t>
            </a: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355BA857-D6C7-40FB-9D78-CD9478332205}"/>
              </a:ext>
            </a:extLst>
          </p:cNvPr>
          <p:cNvSpPr/>
          <p:nvPr/>
        </p:nvSpPr>
        <p:spPr>
          <a:xfrm>
            <a:off x="4127479" y="2822463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7</a:t>
            </a: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B11EB87A-F3CE-4155-B1F3-2BBC32B43474}"/>
              </a:ext>
            </a:extLst>
          </p:cNvPr>
          <p:cNvSpPr/>
          <p:nvPr/>
        </p:nvSpPr>
        <p:spPr>
          <a:xfrm>
            <a:off x="4643536" y="2822463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8</a:t>
            </a: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78482A97-3CB6-4D15-80D1-03A89C0F8957}"/>
              </a:ext>
            </a:extLst>
          </p:cNvPr>
          <p:cNvSpPr/>
          <p:nvPr/>
        </p:nvSpPr>
        <p:spPr>
          <a:xfrm>
            <a:off x="5265038" y="2822463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9</a:t>
            </a: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6EE64433-DB66-4564-92EB-E258E245BF16}"/>
              </a:ext>
            </a:extLst>
          </p:cNvPr>
          <p:cNvSpPr/>
          <p:nvPr/>
        </p:nvSpPr>
        <p:spPr>
          <a:xfrm>
            <a:off x="3505977" y="2822463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6</a:t>
            </a: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4E85A2E3-A973-4090-B1FE-66E6E2ACF777}"/>
              </a:ext>
            </a:extLst>
          </p:cNvPr>
          <p:cNvSpPr/>
          <p:nvPr/>
        </p:nvSpPr>
        <p:spPr>
          <a:xfrm>
            <a:off x="5828047" y="2822463"/>
            <a:ext cx="7070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10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4F76B31C-0DD7-4F21-8912-273DC5AD84E8}"/>
              </a:ext>
            </a:extLst>
          </p:cNvPr>
          <p:cNvSpPr/>
          <p:nvPr/>
        </p:nvSpPr>
        <p:spPr>
          <a:xfrm>
            <a:off x="2922575" y="2822463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5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13DB8915-6B57-4516-8A95-8A46E77ACF8D}"/>
              </a:ext>
            </a:extLst>
          </p:cNvPr>
          <p:cNvSpPr/>
          <p:nvPr/>
        </p:nvSpPr>
        <p:spPr>
          <a:xfrm>
            <a:off x="561364" y="2822463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CBCBDA8C-6F16-4969-86E9-6C24388A604A}"/>
              </a:ext>
            </a:extLst>
          </p:cNvPr>
          <p:cNvSpPr/>
          <p:nvPr/>
        </p:nvSpPr>
        <p:spPr>
          <a:xfrm>
            <a:off x="2330319" y="2822463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4</a:t>
            </a: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5E3E863C-B1E8-47B0-BB07-05DE5C80CEDB}"/>
              </a:ext>
            </a:extLst>
          </p:cNvPr>
          <p:cNvSpPr/>
          <p:nvPr/>
        </p:nvSpPr>
        <p:spPr>
          <a:xfrm>
            <a:off x="6535136" y="2822463"/>
            <a:ext cx="7070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11</a:t>
            </a:r>
          </a:p>
        </p:txBody>
      </p:sp>
      <p:sp>
        <p:nvSpPr>
          <p:cNvPr id="114" name="TextBox 10">
            <a:extLst>
              <a:ext uri="{FF2B5EF4-FFF2-40B4-BE49-F238E27FC236}">
                <a16:creationId xmlns:a16="http://schemas.microsoft.com/office/drawing/2014/main" id="{1FB045B5-4712-455B-A05A-D2B1A9D92843}"/>
              </a:ext>
            </a:extLst>
          </p:cNvPr>
          <p:cNvSpPr txBox="1"/>
          <p:nvPr/>
        </p:nvSpPr>
        <p:spPr>
          <a:xfrm>
            <a:off x="391167" y="3321465"/>
            <a:ext cx="5726367" cy="495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 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扩容原数组 </a:t>
            </a: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1.5 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倍大小的新数组</a:t>
            </a:r>
            <a:endParaRPr lang="en-US" altLang="zh-CN" sz="20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5" name="矩形: 圆角 114">
            <a:extLst>
              <a:ext uri="{FF2B5EF4-FFF2-40B4-BE49-F238E27FC236}">
                <a16:creationId xmlns:a16="http://schemas.microsoft.com/office/drawing/2014/main" id="{DBAF64CC-15FC-4469-AD69-95AF0714B99D}"/>
              </a:ext>
            </a:extLst>
          </p:cNvPr>
          <p:cNvSpPr/>
          <p:nvPr/>
        </p:nvSpPr>
        <p:spPr>
          <a:xfrm>
            <a:off x="155353" y="3919396"/>
            <a:ext cx="587829" cy="566834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16" name="矩形: 圆角 115">
            <a:extLst>
              <a:ext uri="{FF2B5EF4-FFF2-40B4-BE49-F238E27FC236}">
                <a16:creationId xmlns:a16="http://schemas.microsoft.com/office/drawing/2014/main" id="{1732B7BD-6673-4F84-BB06-34C3F88A2B5C}"/>
              </a:ext>
            </a:extLst>
          </p:cNvPr>
          <p:cNvSpPr/>
          <p:nvPr/>
        </p:nvSpPr>
        <p:spPr>
          <a:xfrm>
            <a:off x="743182" y="3919396"/>
            <a:ext cx="587829" cy="566834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17" name="矩形: 圆角 116">
            <a:extLst>
              <a:ext uri="{FF2B5EF4-FFF2-40B4-BE49-F238E27FC236}">
                <a16:creationId xmlns:a16="http://schemas.microsoft.com/office/drawing/2014/main" id="{F7483B3C-34A5-4369-A1A0-D47DFFA3766B}"/>
              </a:ext>
            </a:extLst>
          </p:cNvPr>
          <p:cNvSpPr/>
          <p:nvPr/>
        </p:nvSpPr>
        <p:spPr>
          <a:xfrm>
            <a:off x="1331011" y="3919396"/>
            <a:ext cx="587829" cy="566834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18" name="矩形: 圆角 117">
            <a:extLst>
              <a:ext uri="{FF2B5EF4-FFF2-40B4-BE49-F238E27FC236}">
                <a16:creationId xmlns:a16="http://schemas.microsoft.com/office/drawing/2014/main" id="{A7A2CA1A-C450-4748-9523-25EECCB0336F}"/>
              </a:ext>
            </a:extLst>
          </p:cNvPr>
          <p:cNvSpPr/>
          <p:nvPr/>
        </p:nvSpPr>
        <p:spPr>
          <a:xfrm>
            <a:off x="1918840" y="391939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19" name="矩形: 圆角 118">
            <a:extLst>
              <a:ext uri="{FF2B5EF4-FFF2-40B4-BE49-F238E27FC236}">
                <a16:creationId xmlns:a16="http://schemas.microsoft.com/office/drawing/2014/main" id="{243C32B6-BEA3-4AAB-80B4-B435C60A3CBA}"/>
              </a:ext>
            </a:extLst>
          </p:cNvPr>
          <p:cNvSpPr/>
          <p:nvPr/>
        </p:nvSpPr>
        <p:spPr>
          <a:xfrm>
            <a:off x="2506669" y="391939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20" name="矩形: 圆角 119">
            <a:extLst>
              <a:ext uri="{FF2B5EF4-FFF2-40B4-BE49-F238E27FC236}">
                <a16:creationId xmlns:a16="http://schemas.microsoft.com/office/drawing/2014/main" id="{A1AEC9C6-E3DD-4296-983C-6B0C62359574}"/>
              </a:ext>
            </a:extLst>
          </p:cNvPr>
          <p:cNvSpPr/>
          <p:nvPr/>
        </p:nvSpPr>
        <p:spPr>
          <a:xfrm>
            <a:off x="3094498" y="391939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21" name="矩形: 圆角 120">
            <a:extLst>
              <a:ext uri="{FF2B5EF4-FFF2-40B4-BE49-F238E27FC236}">
                <a16:creationId xmlns:a16="http://schemas.microsoft.com/office/drawing/2014/main" id="{0F7A5FFB-ACF6-4C99-8A4A-C6B57B366BDD}"/>
              </a:ext>
            </a:extLst>
          </p:cNvPr>
          <p:cNvSpPr/>
          <p:nvPr/>
        </p:nvSpPr>
        <p:spPr>
          <a:xfrm>
            <a:off x="3682327" y="391939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22" name="矩形: 圆角 121">
            <a:extLst>
              <a:ext uri="{FF2B5EF4-FFF2-40B4-BE49-F238E27FC236}">
                <a16:creationId xmlns:a16="http://schemas.microsoft.com/office/drawing/2014/main" id="{D4F451D2-B4A4-4AED-9262-ED2743D94440}"/>
              </a:ext>
            </a:extLst>
          </p:cNvPr>
          <p:cNvSpPr/>
          <p:nvPr/>
        </p:nvSpPr>
        <p:spPr>
          <a:xfrm>
            <a:off x="4270156" y="391939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D8F0D5B5-9DC9-4284-AB8D-2D4AF18A84CC}"/>
              </a:ext>
            </a:extLst>
          </p:cNvPr>
          <p:cNvSpPr/>
          <p:nvPr/>
        </p:nvSpPr>
        <p:spPr>
          <a:xfrm>
            <a:off x="4857985" y="391939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24" name="矩形: 圆角 123">
            <a:extLst>
              <a:ext uri="{FF2B5EF4-FFF2-40B4-BE49-F238E27FC236}">
                <a16:creationId xmlns:a16="http://schemas.microsoft.com/office/drawing/2014/main" id="{F5ADA91B-FE6C-456C-81BC-809CD052BB46}"/>
              </a:ext>
            </a:extLst>
          </p:cNvPr>
          <p:cNvSpPr/>
          <p:nvPr/>
        </p:nvSpPr>
        <p:spPr>
          <a:xfrm>
            <a:off x="5445814" y="391939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F94EEEA6-5BB2-42E1-AF06-7DEC067F1F14}"/>
              </a:ext>
            </a:extLst>
          </p:cNvPr>
          <p:cNvSpPr/>
          <p:nvPr/>
        </p:nvSpPr>
        <p:spPr>
          <a:xfrm>
            <a:off x="6033643" y="3910680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26" name="矩形: 圆角 125">
            <a:extLst>
              <a:ext uri="{FF2B5EF4-FFF2-40B4-BE49-F238E27FC236}">
                <a16:creationId xmlns:a16="http://schemas.microsoft.com/office/drawing/2014/main" id="{AB70D305-325D-4611-8FFA-49BB882109BF}"/>
              </a:ext>
            </a:extLst>
          </p:cNvPr>
          <p:cNvSpPr/>
          <p:nvPr/>
        </p:nvSpPr>
        <p:spPr>
          <a:xfrm>
            <a:off x="6621472" y="3910680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27" name="矩形: 圆角 126">
            <a:extLst>
              <a:ext uri="{FF2B5EF4-FFF2-40B4-BE49-F238E27FC236}">
                <a16:creationId xmlns:a16="http://schemas.microsoft.com/office/drawing/2014/main" id="{C31C66CD-680C-402B-94D1-4718437376F1}"/>
              </a:ext>
            </a:extLst>
          </p:cNvPr>
          <p:cNvSpPr/>
          <p:nvPr/>
        </p:nvSpPr>
        <p:spPr>
          <a:xfrm>
            <a:off x="7209301" y="3910680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28" name="矩形: 圆角 127">
            <a:extLst>
              <a:ext uri="{FF2B5EF4-FFF2-40B4-BE49-F238E27FC236}">
                <a16:creationId xmlns:a16="http://schemas.microsoft.com/office/drawing/2014/main" id="{44E015D0-6E9D-4816-8883-13698352CB22}"/>
              </a:ext>
            </a:extLst>
          </p:cNvPr>
          <p:cNvSpPr/>
          <p:nvPr/>
        </p:nvSpPr>
        <p:spPr>
          <a:xfrm>
            <a:off x="7797130" y="3910680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29" name="矩形: 圆角 128">
            <a:extLst>
              <a:ext uri="{FF2B5EF4-FFF2-40B4-BE49-F238E27FC236}">
                <a16:creationId xmlns:a16="http://schemas.microsoft.com/office/drawing/2014/main" id="{4FA2691B-53F3-44A7-AD5B-A5D5E7004954}"/>
              </a:ext>
            </a:extLst>
          </p:cNvPr>
          <p:cNvSpPr/>
          <p:nvPr/>
        </p:nvSpPr>
        <p:spPr>
          <a:xfrm>
            <a:off x="8384959" y="3910680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30" name="TextBox 10">
            <a:extLst>
              <a:ext uri="{FF2B5EF4-FFF2-40B4-BE49-F238E27FC236}">
                <a16:creationId xmlns:a16="http://schemas.microsoft.com/office/drawing/2014/main" id="{53ECBBC7-4377-4855-ABCA-80B0DC83CA76}"/>
              </a:ext>
            </a:extLst>
          </p:cNvPr>
          <p:cNvSpPr txBox="1"/>
          <p:nvPr/>
        </p:nvSpPr>
        <p:spPr>
          <a:xfrm>
            <a:off x="4454009" y="3324570"/>
            <a:ext cx="4540243" cy="495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3. 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将原数组数据，拷贝到新数组中</a:t>
            </a:r>
            <a:endParaRPr lang="en-US" altLang="zh-CN" sz="20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D5EE76B7-8B92-4108-AFF0-0AE96EC2240F}"/>
              </a:ext>
            </a:extLst>
          </p:cNvPr>
          <p:cNvSpPr/>
          <p:nvPr/>
        </p:nvSpPr>
        <p:spPr>
          <a:xfrm>
            <a:off x="1339549" y="4080658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3</a:t>
            </a: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954A0A8A-56E1-46B7-B02F-FB315261B037}"/>
              </a:ext>
            </a:extLst>
          </p:cNvPr>
          <p:cNvSpPr/>
          <p:nvPr/>
        </p:nvSpPr>
        <p:spPr>
          <a:xfrm>
            <a:off x="738755" y="4080658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2</a:t>
            </a: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3E78440B-3597-4F2D-A2C8-0EDF56C72148}"/>
              </a:ext>
            </a:extLst>
          </p:cNvPr>
          <p:cNvSpPr/>
          <p:nvPr/>
        </p:nvSpPr>
        <p:spPr>
          <a:xfrm>
            <a:off x="3745246" y="4080658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7</a:t>
            </a: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29EDBB4F-14DB-47B7-B380-82D02F383B48}"/>
              </a:ext>
            </a:extLst>
          </p:cNvPr>
          <p:cNvSpPr/>
          <p:nvPr/>
        </p:nvSpPr>
        <p:spPr>
          <a:xfrm>
            <a:off x="4261303" y="4080658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8</a:t>
            </a: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46646D9D-2B76-4D09-A453-763DC5BF54EE}"/>
              </a:ext>
            </a:extLst>
          </p:cNvPr>
          <p:cNvSpPr/>
          <p:nvPr/>
        </p:nvSpPr>
        <p:spPr>
          <a:xfrm>
            <a:off x="4882805" y="4080658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9</a:t>
            </a: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2CF57F0F-9035-49B6-A06A-A4468866B5F5}"/>
              </a:ext>
            </a:extLst>
          </p:cNvPr>
          <p:cNvSpPr/>
          <p:nvPr/>
        </p:nvSpPr>
        <p:spPr>
          <a:xfrm>
            <a:off x="3123744" y="4080658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6</a:t>
            </a: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5D3BF889-11D6-407E-B9A2-4DA0FCF20F0A}"/>
              </a:ext>
            </a:extLst>
          </p:cNvPr>
          <p:cNvSpPr/>
          <p:nvPr/>
        </p:nvSpPr>
        <p:spPr>
          <a:xfrm>
            <a:off x="5445814" y="4080658"/>
            <a:ext cx="7070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10</a:t>
            </a: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C7D87085-6063-4724-9637-9C3E6FE85F4C}"/>
              </a:ext>
            </a:extLst>
          </p:cNvPr>
          <p:cNvSpPr/>
          <p:nvPr/>
        </p:nvSpPr>
        <p:spPr>
          <a:xfrm>
            <a:off x="2540342" y="4080658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5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5AD66906-D5B9-4044-8942-27860CA4ECF9}"/>
              </a:ext>
            </a:extLst>
          </p:cNvPr>
          <p:cNvSpPr/>
          <p:nvPr/>
        </p:nvSpPr>
        <p:spPr>
          <a:xfrm>
            <a:off x="179131" y="4080658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</a:t>
            </a: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5E790D0C-E267-44EF-9401-DB015224A267}"/>
              </a:ext>
            </a:extLst>
          </p:cNvPr>
          <p:cNvSpPr/>
          <p:nvPr/>
        </p:nvSpPr>
        <p:spPr>
          <a:xfrm>
            <a:off x="1948086" y="4080658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4</a:t>
            </a:r>
          </a:p>
        </p:txBody>
      </p:sp>
      <p:sp>
        <p:nvSpPr>
          <p:cNvPr id="141" name="TextBox 10">
            <a:extLst>
              <a:ext uri="{FF2B5EF4-FFF2-40B4-BE49-F238E27FC236}">
                <a16:creationId xmlns:a16="http://schemas.microsoft.com/office/drawing/2014/main" id="{EA71802B-735F-4803-AB9A-413771238B46}"/>
              </a:ext>
            </a:extLst>
          </p:cNvPr>
          <p:cNvSpPr txBox="1"/>
          <p:nvPr/>
        </p:nvSpPr>
        <p:spPr>
          <a:xfrm>
            <a:off x="533159" y="4701171"/>
            <a:ext cx="3309320" cy="495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4. 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将新元素添加到新数组</a:t>
            </a:r>
            <a:endParaRPr lang="en-US" altLang="zh-CN" sz="20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5864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7.1 </a:t>
            </a:r>
            <a:r>
              <a:rPr lang="zh-CN" altLang="en-US" sz="36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 </a:t>
            </a:r>
            <a:r>
              <a:rPr lang="en-US" altLang="zh-CN" dirty="0" err="1">
                <a:ea typeface="宋体" panose="02010600030101010101" pitchFamily="2" charset="-122"/>
              </a:rPr>
              <a:t>ArrayList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标题 2">
            <a:extLst>
              <a:ext uri="{FF2B5EF4-FFF2-40B4-BE49-F238E27FC236}">
                <a16:creationId xmlns:a16="http://schemas.microsoft.com/office/drawing/2014/main" id="{13F432D8-5DC9-4289-9E9F-2288665E8428}"/>
              </a:ext>
            </a:extLst>
          </p:cNvPr>
          <p:cNvSpPr txBox="1">
            <a:spLocks/>
          </p:cNvSpPr>
          <p:nvPr/>
        </p:nvSpPr>
        <p:spPr>
          <a:xfrm>
            <a:off x="186096" y="1008842"/>
            <a:ext cx="2939144" cy="387893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defTabSz="685800">
              <a:defRPr/>
            </a:pPr>
            <a:r>
              <a:rPr lang="en-US" altLang="zh-CN" sz="1800" b="1" dirty="0" err="1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8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 </a:t>
            </a:r>
            <a:r>
              <a:rPr sz="18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长度可变原理</a:t>
            </a:r>
            <a:endParaRPr lang="en-US" altLang="zh-CN" sz="1800" b="1" dirty="0">
              <a:solidFill>
                <a:srgbClr val="C00000"/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TextBox 10">
            <a:extLst>
              <a:ext uri="{FF2B5EF4-FFF2-40B4-BE49-F238E27FC236}">
                <a16:creationId xmlns:a16="http://schemas.microsoft.com/office/drawing/2014/main" id="{A04B66EA-E9C2-4D80-9B72-67E1B3F119D2}"/>
              </a:ext>
            </a:extLst>
          </p:cNvPr>
          <p:cNvSpPr txBox="1"/>
          <p:nvPr/>
        </p:nvSpPr>
        <p:spPr>
          <a:xfrm>
            <a:off x="323528" y="1497525"/>
            <a:ext cx="5983057" cy="9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当创建 </a:t>
            </a:r>
            <a:r>
              <a:rPr lang="en-US" altLang="zh-CN" sz="20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ArrayList</a:t>
            </a: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集合容器的时候</a:t>
            </a: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底层会存在一个长度为</a:t>
            </a: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个大小的空数组</a:t>
            </a:r>
            <a:endParaRPr lang="en-US" altLang="zh-CN" sz="20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3" name="矩形: 圆角 152">
            <a:extLst>
              <a:ext uri="{FF2B5EF4-FFF2-40B4-BE49-F238E27FC236}">
                <a16:creationId xmlns:a16="http://schemas.microsoft.com/office/drawing/2014/main" id="{694879FD-B464-4A76-9064-DC01E24585C2}"/>
              </a:ext>
            </a:extLst>
          </p:cNvPr>
          <p:cNvSpPr/>
          <p:nvPr/>
        </p:nvSpPr>
        <p:spPr>
          <a:xfrm>
            <a:off x="533159" y="2669716"/>
            <a:ext cx="587829" cy="566834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54" name="矩形: 圆角 153">
            <a:extLst>
              <a:ext uri="{FF2B5EF4-FFF2-40B4-BE49-F238E27FC236}">
                <a16:creationId xmlns:a16="http://schemas.microsoft.com/office/drawing/2014/main" id="{6DC116AB-ED15-4A69-8E88-54A4ACF8A7AD}"/>
              </a:ext>
            </a:extLst>
          </p:cNvPr>
          <p:cNvSpPr/>
          <p:nvPr/>
        </p:nvSpPr>
        <p:spPr>
          <a:xfrm>
            <a:off x="1120988" y="2669716"/>
            <a:ext cx="587829" cy="566834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53367800-5947-40F5-9063-E44D0B5C6498}"/>
              </a:ext>
            </a:extLst>
          </p:cNvPr>
          <p:cNvSpPr/>
          <p:nvPr/>
        </p:nvSpPr>
        <p:spPr>
          <a:xfrm>
            <a:off x="1708817" y="2669716"/>
            <a:ext cx="587829" cy="566834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56" name="矩形: 圆角 155">
            <a:extLst>
              <a:ext uri="{FF2B5EF4-FFF2-40B4-BE49-F238E27FC236}">
                <a16:creationId xmlns:a16="http://schemas.microsoft.com/office/drawing/2014/main" id="{FD6D37F5-87EE-4097-B2AF-5E2FF2DD52BD}"/>
              </a:ext>
            </a:extLst>
          </p:cNvPr>
          <p:cNvSpPr/>
          <p:nvPr/>
        </p:nvSpPr>
        <p:spPr>
          <a:xfrm>
            <a:off x="2296646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57" name="矩形: 圆角 156">
            <a:extLst>
              <a:ext uri="{FF2B5EF4-FFF2-40B4-BE49-F238E27FC236}">
                <a16:creationId xmlns:a16="http://schemas.microsoft.com/office/drawing/2014/main" id="{47399C7A-3E4D-4367-871F-0F244B99849E}"/>
              </a:ext>
            </a:extLst>
          </p:cNvPr>
          <p:cNvSpPr/>
          <p:nvPr/>
        </p:nvSpPr>
        <p:spPr>
          <a:xfrm>
            <a:off x="2884475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58" name="矩形: 圆角 157">
            <a:extLst>
              <a:ext uri="{FF2B5EF4-FFF2-40B4-BE49-F238E27FC236}">
                <a16:creationId xmlns:a16="http://schemas.microsoft.com/office/drawing/2014/main" id="{6F4E2082-DD2C-4621-9C51-F352F2AF79F1}"/>
              </a:ext>
            </a:extLst>
          </p:cNvPr>
          <p:cNvSpPr/>
          <p:nvPr/>
        </p:nvSpPr>
        <p:spPr>
          <a:xfrm>
            <a:off x="3472304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59" name="矩形: 圆角 158">
            <a:extLst>
              <a:ext uri="{FF2B5EF4-FFF2-40B4-BE49-F238E27FC236}">
                <a16:creationId xmlns:a16="http://schemas.microsoft.com/office/drawing/2014/main" id="{7D720B2C-EA14-4A22-8EF8-58AE65EAB5CD}"/>
              </a:ext>
            </a:extLst>
          </p:cNvPr>
          <p:cNvSpPr/>
          <p:nvPr/>
        </p:nvSpPr>
        <p:spPr>
          <a:xfrm>
            <a:off x="4060133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60" name="矩形: 圆角 159">
            <a:extLst>
              <a:ext uri="{FF2B5EF4-FFF2-40B4-BE49-F238E27FC236}">
                <a16:creationId xmlns:a16="http://schemas.microsoft.com/office/drawing/2014/main" id="{F3AF92D6-251F-4A76-B126-51743B02D8C5}"/>
              </a:ext>
            </a:extLst>
          </p:cNvPr>
          <p:cNvSpPr/>
          <p:nvPr/>
        </p:nvSpPr>
        <p:spPr>
          <a:xfrm>
            <a:off x="4647962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A2F9513E-C8E6-479C-A568-1BE013A1C7FB}"/>
              </a:ext>
            </a:extLst>
          </p:cNvPr>
          <p:cNvSpPr/>
          <p:nvPr/>
        </p:nvSpPr>
        <p:spPr>
          <a:xfrm>
            <a:off x="5235791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62" name="矩形: 圆角 161">
            <a:extLst>
              <a:ext uri="{FF2B5EF4-FFF2-40B4-BE49-F238E27FC236}">
                <a16:creationId xmlns:a16="http://schemas.microsoft.com/office/drawing/2014/main" id="{75F96EC8-20ED-462F-B1D7-DB817B9112A1}"/>
              </a:ext>
            </a:extLst>
          </p:cNvPr>
          <p:cNvSpPr/>
          <p:nvPr/>
        </p:nvSpPr>
        <p:spPr>
          <a:xfrm>
            <a:off x="5823620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2186E406-9F36-4DE7-B21D-CD0AA6B30A61}"/>
              </a:ext>
            </a:extLst>
          </p:cNvPr>
          <p:cNvSpPr/>
          <p:nvPr/>
        </p:nvSpPr>
        <p:spPr>
          <a:xfrm>
            <a:off x="1721782" y="2822463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3</a:t>
            </a:r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12F07259-A10D-447D-8D9F-48EF778160C3}"/>
              </a:ext>
            </a:extLst>
          </p:cNvPr>
          <p:cNvSpPr/>
          <p:nvPr/>
        </p:nvSpPr>
        <p:spPr>
          <a:xfrm>
            <a:off x="1120988" y="2822463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2</a:t>
            </a: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16AB2781-EB4D-412C-8BC4-85D48E9BBFD8}"/>
              </a:ext>
            </a:extLst>
          </p:cNvPr>
          <p:cNvSpPr/>
          <p:nvPr/>
        </p:nvSpPr>
        <p:spPr>
          <a:xfrm>
            <a:off x="4127479" y="2822463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7</a:t>
            </a:r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C066C417-3276-414A-9919-717F3CA49A92}"/>
              </a:ext>
            </a:extLst>
          </p:cNvPr>
          <p:cNvSpPr/>
          <p:nvPr/>
        </p:nvSpPr>
        <p:spPr>
          <a:xfrm>
            <a:off x="4643536" y="2822463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8</a:t>
            </a:r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07FF0B19-B116-4F5F-B789-BE56924446F6}"/>
              </a:ext>
            </a:extLst>
          </p:cNvPr>
          <p:cNvSpPr/>
          <p:nvPr/>
        </p:nvSpPr>
        <p:spPr>
          <a:xfrm>
            <a:off x="5265038" y="2822463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9</a:t>
            </a:r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CAD69534-B9CC-4F05-A91A-59226D94A66A}"/>
              </a:ext>
            </a:extLst>
          </p:cNvPr>
          <p:cNvSpPr/>
          <p:nvPr/>
        </p:nvSpPr>
        <p:spPr>
          <a:xfrm>
            <a:off x="3505977" y="2822463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6</a:t>
            </a:r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DABEED55-40A1-4D89-93DE-4E103C4F9192}"/>
              </a:ext>
            </a:extLst>
          </p:cNvPr>
          <p:cNvSpPr/>
          <p:nvPr/>
        </p:nvSpPr>
        <p:spPr>
          <a:xfrm>
            <a:off x="5828047" y="2822463"/>
            <a:ext cx="7070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10</a:t>
            </a:r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1B134AC0-E865-4721-9579-5547B2D8ECB9}"/>
              </a:ext>
            </a:extLst>
          </p:cNvPr>
          <p:cNvSpPr/>
          <p:nvPr/>
        </p:nvSpPr>
        <p:spPr>
          <a:xfrm>
            <a:off x="2922575" y="2822463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5</a:t>
            </a:r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6322FBC8-28DE-42C2-8603-D4F823321953}"/>
              </a:ext>
            </a:extLst>
          </p:cNvPr>
          <p:cNvSpPr/>
          <p:nvPr/>
        </p:nvSpPr>
        <p:spPr>
          <a:xfrm>
            <a:off x="561364" y="2822463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</a:t>
            </a:r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7E01DC0D-4F9D-4B44-B8C3-15244CDB4C0C}"/>
              </a:ext>
            </a:extLst>
          </p:cNvPr>
          <p:cNvSpPr/>
          <p:nvPr/>
        </p:nvSpPr>
        <p:spPr>
          <a:xfrm>
            <a:off x="2330319" y="2822463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4</a:t>
            </a:r>
          </a:p>
        </p:txBody>
      </p:sp>
      <p:sp>
        <p:nvSpPr>
          <p:cNvPr id="174" name="矩形: 圆角 173">
            <a:extLst>
              <a:ext uri="{FF2B5EF4-FFF2-40B4-BE49-F238E27FC236}">
                <a16:creationId xmlns:a16="http://schemas.microsoft.com/office/drawing/2014/main" id="{2D668497-AB6A-45B4-9531-3D7C33139E0F}"/>
              </a:ext>
            </a:extLst>
          </p:cNvPr>
          <p:cNvSpPr/>
          <p:nvPr/>
        </p:nvSpPr>
        <p:spPr>
          <a:xfrm>
            <a:off x="155353" y="3919396"/>
            <a:ext cx="587829" cy="566834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75" name="矩形: 圆角 174">
            <a:extLst>
              <a:ext uri="{FF2B5EF4-FFF2-40B4-BE49-F238E27FC236}">
                <a16:creationId xmlns:a16="http://schemas.microsoft.com/office/drawing/2014/main" id="{ABDFE716-C9C4-4F56-B67E-012E45AC2552}"/>
              </a:ext>
            </a:extLst>
          </p:cNvPr>
          <p:cNvSpPr/>
          <p:nvPr/>
        </p:nvSpPr>
        <p:spPr>
          <a:xfrm>
            <a:off x="743182" y="3919396"/>
            <a:ext cx="587829" cy="566834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76" name="矩形: 圆角 175">
            <a:extLst>
              <a:ext uri="{FF2B5EF4-FFF2-40B4-BE49-F238E27FC236}">
                <a16:creationId xmlns:a16="http://schemas.microsoft.com/office/drawing/2014/main" id="{349E59DB-0128-4260-AE53-A8DC9D45A5C3}"/>
              </a:ext>
            </a:extLst>
          </p:cNvPr>
          <p:cNvSpPr/>
          <p:nvPr/>
        </p:nvSpPr>
        <p:spPr>
          <a:xfrm>
            <a:off x="1331011" y="3919396"/>
            <a:ext cx="587829" cy="566834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77" name="矩形: 圆角 176">
            <a:extLst>
              <a:ext uri="{FF2B5EF4-FFF2-40B4-BE49-F238E27FC236}">
                <a16:creationId xmlns:a16="http://schemas.microsoft.com/office/drawing/2014/main" id="{2E23A9B4-E3CC-45AB-9FD1-EB66B999B5F4}"/>
              </a:ext>
            </a:extLst>
          </p:cNvPr>
          <p:cNvSpPr/>
          <p:nvPr/>
        </p:nvSpPr>
        <p:spPr>
          <a:xfrm>
            <a:off x="1918840" y="391939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78" name="矩形: 圆角 177">
            <a:extLst>
              <a:ext uri="{FF2B5EF4-FFF2-40B4-BE49-F238E27FC236}">
                <a16:creationId xmlns:a16="http://schemas.microsoft.com/office/drawing/2014/main" id="{567922C9-F517-43BF-BC7F-67691DB992E8}"/>
              </a:ext>
            </a:extLst>
          </p:cNvPr>
          <p:cNvSpPr/>
          <p:nvPr/>
        </p:nvSpPr>
        <p:spPr>
          <a:xfrm>
            <a:off x="2506669" y="391939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79" name="矩形: 圆角 178">
            <a:extLst>
              <a:ext uri="{FF2B5EF4-FFF2-40B4-BE49-F238E27FC236}">
                <a16:creationId xmlns:a16="http://schemas.microsoft.com/office/drawing/2014/main" id="{14BB46AE-1066-4BF2-A8A9-4631695F9518}"/>
              </a:ext>
            </a:extLst>
          </p:cNvPr>
          <p:cNvSpPr/>
          <p:nvPr/>
        </p:nvSpPr>
        <p:spPr>
          <a:xfrm>
            <a:off x="3094498" y="391939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80" name="矩形: 圆角 179">
            <a:extLst>
              <a:ext uri="{FF2B5EF4-FFF2-40B4-BE49-F238E27FC236}">
                <a16:creationId xmlns:a16="http://schemas.microsoft.com/office/drawing/2014/main" id="{600B1CF8-9933-470B-9B0D-77301C9B6CEC}"/>
              </a:ext>
            </a:extLst>
          </p:cNvPr>
          <p:cNvSpPr/>
          <p:nvPr/>
        </p:nvSpPr>
        <p:spPr>
          <a:xfrm>
            <a:off x="3682327" y="391939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B727C1D3-AF2A-4743-8494-3CF1BA3A5321}"/>
              </a:ext>
            </a:extLst>
          </p:cNvPr>
          <p:cNvSpPr/>
          <p:nvPr/>
        </p:nvSpPr>
        <p:spPr>
          <a:xfrm>
            <a:off x="4270156" y="391939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82" name="矩形: 圆角 181">
            <a:extLst>
              <a:ext uri="{FF2B5EF4-FFF2-40B4-BE49-F238E27FC236}">
                <a16:creationId xmlns:a16="http://schemas.microsoft.com/office/drawing/2014/main" id="{DF13696C-0165-4DFF-A08F-6FD0BC4E7F7F}"/>
              </a:ext>
            </a:extLst>
          </p:cNvPr>
          <p:cNvSpPr/>
          <p:nvPr/>
        </p:nvSpPr>
        <p:spPr>
          <a:xfrm>
            <a:off x="4857985" y="391939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83" name="矩形: 圆角 182">
            <a:extLst>
              <a:ext uri="{FF2B5EF4-FFF2-40B4-BE49-F238E27FC236}">
                <a16:creationId xmlns:a16="http://schemas.microsoft.com/office/drawing/2014/main" id="{AD846A59-2743-4E1F-8ACF-8C1413481A44}"/>
              </a:ext>
            </a:extLst>
          </p:cNvPr>
          <p:cNvSpPr/>
          <p:nvPr/>
        </p:nvSpPr>
        <p:spPr>
          <a:xfrm>
            <a:off x="5445814" y="391939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84" name="矩形: 圆角 183">
            <a:extLst>
              <a:ext uri="{FF2B5EF4-FFF2-40B4-BE49-F238E27FC236}">
                <a16:creationId xmlns:a16="http://schemas.microsoft.com/office/drawing/2014/main" id="{D52773D0-995E-4D42-AAF7-B9D5096D5593}"/>
              </a:ext>
            </a:extLst>
          </p:cNvPr>
          <p:cNvSpPr/>
          <p:nvPr/>
        </p:nvSpPr>
        <p:spPr>
          <a:xfrm>
            <a:off x="6033643" y="3910680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85" name="矩形: 圆角 184">
            <a:extLst>
              <a:ext uri="{FF2B5EF4-FFF2-40B4-BE49-F238E27FC236}">
                <a16:creationId xmlns:a16="http://schemas.microsoft.com/office/drawing/2014/main" id="{F92AC42E-BBF2-4022-91C3-03BFD3A30BC6}"/>
              </a:ext>
            </a:extLst>
          </p:cNvPr>
          <p:cNvSpPr/>
          <p:nvPr/>
        </p:nvSpPr>
        <p:spPr>
          <a:xfrm>
            <a:off x="6621472" y="3910680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86" name="矩形: 圆角 185">
            <a:extLst>
              <a:ext uri="{FF2B5EF4-FFF2-40B4-BE49-F238E27FC236}">
                <a16:creationId xmlns:a16="http://schemas.microsoft.com/office/drawing/2014/main" id="{D2D8761B-CACC-4CE5-B4DF-7F7990E24A08}"/>
              </a:ext>
            </a:extLst>
          </p:cNvPr>
          <p:cNvSpPr/>
          <p:nvPr/>
        </p:nvSpPr>
        <p:spPr>
          <a:xfrm>
            <a:off x="7209301" y="3910680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87" name="矩形: 圆角 186">
            <a:extLst>
              <a:ext uri="{FF2B5EF4-FFF2-40B4-BE49-F238E27FC236}">
                <a16:creationId xmlns:a16="http://schemas.microsoft.com/office/drawing/2014/main" id="{C9270E9D-03CB-494F-BE05-98B5622F6C70}"/>
              </a:ext>
            </a:extLst>
          </p:cNvPr>
          <p:cNvSpPr/>
          <p:nvPr/>
        </p:nvSpPr>
        <p:spPr>
          <a:xfrm>
            <a:off x="7797130" y="3910680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88" name="矩形: 圆角 187">
            <a:extLst>
              <a:ext uri="{FF2B5EF4-FFF2-40B4-BE49-F238E27FC236}">
                <a16:creationId xmlns:a16="http://schemas.microsoft.com/office/drawing/2014/main" id="{6466EE3C-525D-4AB4-A049-7892B908F18B}"/>
              </a:ext>
            </a:extLst>
          </p:cNvPr>
          <p:cNvSpPr/>
          <p:nvPr/>
        </p:nvSpPr>
        <p:spPr>
          <a:xfrm>
            <a:off x="8384959" y="3910680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1206FCE0-DF14-4845-9DD1-0B6DFF189291}"/>
              </a:ext>
            </a:extLst>
          </p:cNvPr>
          <p:cNvSpPr/>
          <p:nvPr/>
        </p:nvSpPr>
        <p:spPr>
          <a:xfrm>
            <a:off x="1339549" y="4080658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3</a:t>
            </a:r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5ABFFDE5-722E-43E6-93B5-2EFBBF322C1C}"/>
              </a:ext>
            </a:extLst>
          </p:cNvPr>
          <p:cNvSpPr/>
          <p:nvPr/>
        </p:nvSpPr>
        <p:spPr>
          <a:xfrm>
            <a:off x="738755" y="4080658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2</a:t>
            </a:r>
          </a:p>
        </p:txBody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3F22E3CC-6AC2-4CFA-A0E5-BABBAE04ADC0}"/>
              </a:ext>
            </a:extLst>
          </p:cNvPr>
          <p:cNvSpPr/>
          <p:nvPr/>
        </p:nvSpPr>
        <p:spPr>
          <a:xfrm>
            <a:off x="3745246" y="4080658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7</a:t>
            </a:r>
          </a:p>
        </p:txBody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1E6C2D8B-9C1B-4604-B7BD-A6E7ABEA1F27}"/>
              </a:ext>
            </a:extLst>
          </p:cNvPr>
          <p:cNvSpPr/>
          <p:nvPr/>
        </p:nvSpPr>
        <p:spPr>
          <a:xfrm>
            <a:off x="4261303" y="4080658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8</a:t>
            </a:r>
          </a:p>
        </p:txBody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6349CEAA-5024-4160-8098-A99F8CD1E3C5}"/>
              </a:ext>
            </a:extLst>
          </p:cNvPr>
          <p:cNvSpPr/>
          <p:nvPr/>
        </p:nvSpPr>
        <p:spPr>
          <a:xfrm>
            <a:off x="4882805" y="4080658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9</a:t>
            </a:r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F72ECE64-74CF-4000-A35A-B96BE5B7A1E8}"/>
              </a:ext>
            </a:extLst>
          </p:cNvPr>
          <p:cNvSpPr/>
          <p:nvPr/>
        </p:nvSpPr>
        <p:spPr>
          <a:xfrm>
            <a:off x="3123744" y="4080658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6</a:t>
            </a:r>
          </a:p>
        </p:txBody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091CED1C-0DB4-41DC-AA09-3DD43F859E51}"/>
              </a:ext>
            </a:extLst>
          </p:cNvPr>
          <p:cNvSpPr/>
          <p:nvPr/>
        </p:nvSpPr>
        <p:spPr>
          <a:xfrm>
            <a:off x="5445814" y="4080658"/>
            <a:ext cx="7070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10</a:t>
            </a:r>
          </a:p>
        </p:txBody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B76D943D-D835-415B-86C4-81A59ACDFC97}"/>
              </a:ext>
            </a:extLst>
          </p:cNvPr>
          <p:cNvSpPr/>
          <p:nvPr/>
        </p:nvSpPr>
        <p:spPr>
          <a:xfrm>
            <a:off x="2540342" y="4080658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5</a:t>
            </a:r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431CDD73-DADE-49C5-BDA9-4BE1380DCFE3}"/>
              </a:ext>
            </a:extLst>
          </p:cNvPr>
          <p:cNvSpPr/>
          <p:nvPr/>
        </p:nvSpPr>
        <p:spPr>
          <a:xfrm>
            <a:off x="179131" y="4080658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</a:t>
            </a:r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E08411C1-B6C5-4519-9441-6EDDD9E8696F}"/>
              </a:ext>
            </a:extLst>
          </p:cNvPr>
          <p:cNvSpPr/>
          <p:nvPr/>
        </p:nvSpPr>
        <p:spPr>
          <a:xfrm>
            <a:off x="1948086" y="4080658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4</a:t>
            </a:r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A96ED0C4-BB43-4D35-83E0-547821C3F0B6}"/>
              </a:ext>
            </a:extLst>
          </p:cNvPr>
          <p:cNvSpPr/>
          <p:nvPr/>
        </p:nvSpPr>
        <p:spPr>
          <a:xfrm>
            <a:off x="6062889" y="4080658"/>
            <a:ext cx="7070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11</a:t>
            </a:r>
          </a:p>
        </p:txBody>
      </p:sp>
      <p:sp>
        <p:nvSpPr>
          <p:cNvPr id="203" name="TextBox 10">
            <a:extLst>
              <a:ext uri="{FF2B5EF4-FFF2-40B4-BE49-F238E27FC236}">
                <a16:creationId xmlns:a16="http://schemas.microsoft.com/office/drawing/2014/main" id="{95218615-09CB-41CD-96C7-DA697AFABF60}"/>
              </a:ext>
            </a:extLst>
          </p:cNvPr>
          <p:cNvSpPr txBox="1"/>
          <p:nvPr/>
        </p:nvSpPr>
        <p:spPr>
          <a:xfrm>
            <a:off x="391167" y="3321465"/>
            <a:ext cx="5726367" cy="495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 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扩容原数组 </a:t>
            </a: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1.5 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倍大小的新数组</a:t>
            </a:r>
            <a:endParaRPr lang="en-US" altLang="zh-CN" sz="20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4" name="TextBox 10">
            <a:extLst>
              <a:ext uri="{FF2B5EF4-FFF2-40B4-BE49-F238E27FC236}">
                <a16:creationId xmlns:a16="http://schemas.microsoft.com/office/drawing/2014/main" id="{D59717F7-74E0-430C-A276-7168BC5DA869}"/>
              </a:ext>
            </a:extLst>
          </p:cNvPr>
          <p:cNvSpPr txBox="1"/>
          <p:nvPr/>
        </p:nvSpPr>
        <p:spPr>
          <a:xfrm>
            <a:off x="4454009" y="3324570"/>
            <a:ext cx="4540243" cy="495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3. 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将原数组数据，拷贝到新数组中</a:t>
            </a:r>
            <a:endParaRPr lang="en-US" altLang="zh-CN" sz="20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5" name="TextBox 10">
            <a:extLst>
              <a:ext uri="{FF2B5EF4-FFF2-40B4-BE49-F238E27FC236}">
                <a16:creationId xmlns:a16="http://schemas.microsoft.com/office/drawing/2014/main" id="{FC5F9805-0C6D-4FC4-8B33-350A7DB44FF4}"/>
              </a:ext>
            </a:extLst>
          </p:cNvPr>
          <p:cNvSpPr txBox="1"/>
          <p:nvPr/>
        </p:nvSpPr>
        <p:spPr>
          <a:xfrm>
            <a:off x="533159" y="4701171"/>
            <a:ext cx="3309320" cy="495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4. 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将新元素添加到新数组</a:t>
            </a:r>
            <a:endParaRPr lang="en-US" altLang="zh-CN" sz="20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565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7.1 </a:t>
            </a:r>
            <a:r>
              <a:rPr lang="zh-CN" altLang="en-US" sz="36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 </a:t>
            </a:r>
            <a:r>
              <a:rPr lang="en-US" altLang="zh-CN" dirty="0" err="1">
                <a:ea typeface="宋体" panose="02010600030101010101" pitchFamily="2" charset="-122"/>
              </a:rPr>
              <a:t>ArrayList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标题 2">
            <a:extLst>
              <a:ext uri="{FF2B5EF4-FFF2-40B4-BE49-F238E27FC236}">
                <a16:creationId xmlns:a16="http://schemas.microsoft.com/office/drawing/2014/main" id="{13F432D8-5DC9-4289-9E9F-2288665E8428}"/>
              </a:ext>
            </a:extLst>
          </p:cNvPr>
          <p:cNvSpPr txBox="1">
            <a:spLocks/>
          </p:cNvSpPr>
          <p:nvPr/>
        </p:nvSpPr>
        <p:spPr>
          <a:xfrm>
            <a:off x="186096" y="1008842"/>
            <a:ext cx="2939144" cy="387893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defTabSz="685800">
              <a:defRPr/>
            </a:pPr>
            <a:r>
              <a:rPr lang="en-US" altLang="zh-CN" sz="1800" b="1" dirty="0" err="1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8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 </a:t>
            </a:r>
            <a:r>
              <a:rPr sz="18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长度可变原理</a:t>
            </a:r>
            <a:endParaRPr lang="en-US" altLang="zh-CN" sz="1800" b="1" dirty="0">
              <a:solidFill>
                <a:srgbClr val="C00000"/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TextBox 10">
            <a:extLst>
              <a:ext uri="{FF2B5EF4-FFF2-40B4-BE49-F238E27FC236}">
                <a16:creationId xmlns:a16="http://schemas.microsoft.com/office/drawing/2014/main" id="{A04B66EA-E9C2-4D80-9B72-67E1B3F119D2}"/>
              </a:ext>
            </a:extLst>
          </p:cNvPr>
          <p:cNvSpPr txBox="1"/>
          <p:nvPr/>
        </p:nvSpPr>
        <p:spPr>
          <a:xfrm>
            <a:off x="323528" y="1497525"/>
            <a:ext cx="5983057" cy="9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当创建 </a:t>
            </a:r>
            <a:r>
              <a:rPr lang="en-US" altLang="zh-CN" sz="20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ArrayList</a:t>
            </a: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集合容器的时候</a:t>
            </a: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底层会存在一个长度为</a:t>
            </a: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个大小的空数组</a:t>
            </a:r>
            <a:endParaRPr lang="en-US" altLang="zh-CN" sz="20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9AEB8D37-2CC0-459F-B1AD-C8E341542E6D}"/>
              </a:ext>
            </a:extLst>
          </p:cNvPr>
          <p:cNvSpPr/>
          <p:nvPr/>
        </p:nvSpPr>
        <p:spPr>
          <a:xfrm>
            <a:off x="533159" y="2669716"/>
            <a:ext cx="587829" cy="566834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FA696A54-1349-4E84-A769-AD0C2F6DA25F}"/>
              </a:ext>
            </a:extLst>
          </p:cNvPr>
          <p:cNvSpPr/>
          <p:nvPr/>
        </p:nvSpPr>
        <p:spPr>
          <a:xfrm>
            <a:off x="1120988" y="2669716"/>
            <a:ext cx="587829" cy="566834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5A32EFE0-DE1E-4CD2-8873-E751457BC1E6}"/>
              </a:ext>
            </a:extLst>
          </p:cNvPr>
          <p:cNvSpPr/>
          <p:nvPr/>
        </p:nvSpPr>
        <p:spPr>
          <a:xfrm>
            <a:off x="1708817" y="2669716"/>
            <a:ext cx="587829" cy="566834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2CE2BB6D-D3DA-45D8-8106-FD7B48E725C9}"/>
              </a:ext>
            </a:extLst>
          </p:cNvPr>
          <p:cNvSpPr/>
          <p:nvPr/>
        </p:nvSpPr>
        <p:spPr>
          <a:xfrm>
            <a:off x="2296646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CC4657AF-D5EA-4F0E-BF09-32FA5F6D6A15}"/>
              </a:ext>
            </a:extLst>
          </p:cNvPr>
          <p:cNvSpPr/>
          <p:nvPr/>
        </p:nvSpPr>
        <p:spPr>
          <a:xfrm>
            <a:off x="2884475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B5399930-2CD3-4F2A-82FA-B8338F3838C6}"/>
              </a:ext>
            </a:extLst>
          </p:cNvPr>
          <p:cNvSpPr/>
          <p:nvPr/>
        </p:nvSpPr>
        <p:spPr>
          <a:xfrm>
            <a:off x="3472304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1B0D008A-1C15-4C06-8C27-3FB94A93D550}"/>
              </a:ext>
            </a:extLst>
          </p:cNvPr>
          <p:cNvSpPr/>
          <p:nvPr/>
        </p:nvSpPr>
        <p:spPr>
          <a:xfrm>
            <a:off x="4060133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441981FC-DA27-4E14-A452-490F8AC0EB18}"/>
              </a:ext>
            </a:extLst>
          </p:cNvPr>
          <p:cNvSpPr/>
          <p:nvPr/>
        </p:nvSpPr>
        <p:spPr>
          <a:xfrm>
            <a:off x="4647962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B7A0FB4F-262A-4187-A67E-444FFD2F9E50}"/>
              </a:ext>
            </a:extLst>
          </p:cNvPr>
          <p:cNvSpPr/>
          <p:nvPr/>
        </p:nvSpPr>
        <p:spPr>
          <a:xfrm>
            <a:off x="5235791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9DC55D14-8BB4-4EF1-9DCE-F82069DDBBEB}"/>
              </a:ext>
            </a:extLst>
          </p:cNvPr>
          <p:cNvSpPr/>
          <p:nvPr/>
        </p:nvSpPr>
        <p:spPr>
          <a:xfrm>
            <a:off x="5823620" y="266971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8EBF3329-771E-4D9E-AC45-E88EE6C017F3}"/>
              </a:ext>
            </a:extLst>
          </p:cNvPr>
          <p:cNvSpPr/>
          <p:nvPr/>
        </p:nvSpPr>
        <p:spPr>
          <a:xfrm>
            <a:off x="1721782" y="2822463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3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9EC78D92-15F2-4D81-A4D0-DFB2965A69BA}"/>
              </a:ext>
            </a:extLst>
          </p:cNvPr>
          <p:cNvSpPr/>
          <p:nvPr/>
        </p:nvSpPr>
        <p:spPr>
          <a:xfrm>
            <a:off x="1120988" y="2822463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2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C5DFBF98-F45E-414B-9B9B-5BDCF5076603}"/>
              </a:ext>
            </a:extLst>
          </p:cNvPr>
          <p:cNvSpPr/>
          <p:nvPr/>
        </p:nvSpPr>
        <p:spPr>
          <a:xfrm>
            <a:off x="4127479" y="2822463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7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66E81283-AA8C-446B-944B-314952E7A3B7}"/>
              </a:ext>
            </a:extLst>
          </p:cNvPr>
          <p:cNvSpPr/>
          <p:nvPr/>
        </p:nvSpPr>
        <p:spPr>
          <a:xfrm>
            <a:off x="4643536" y="2822463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8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6C82F3EF-14C8-4F87-8EAD-61A72E78031B}"/>
              </a:ext>
            </a:extLst>
          </p:cNvPr>
          <p:cNvSpPr/>
          <p:nvPr/>
        </p:nvSpPr>
        <p:spPr>
          <a:xfrm>
            <a:off x="5265038" y="2822463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9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1D3CC525-A502-4505-9556-CFD439121F54}"/>
              </a:ext>
            </a:extLst>
          </p:cNvPr>
          <p:cNvSpPr/>
          <p:nvPr/>
        </p:nvSpPr>
        <p:spPr>
          <a:xfrm>
            <a:off x="3505977" y="2822463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6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3001927E-8014-432A-8496-2209FDB3831F}"/>
              </a:ext>
            </a:extLst>
          </p:cNvPr>
          <p:cNvSpPr/>
          <p:nvPr/>
        </p:nvSpPr>
        <p:spPr>
          <a:xfrm>
            <a:off x="5828047" y="2822463"/>
            <a:ext cx="7070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10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E017B374-6258-46D0-B5B3-B3ACB3C758B7}"/>
              </a:ext>
            </a:extLst>
          </p:cNvPr>
          <p:cNvSpPr/>
          <p:nvPr/>
        </p:nvSpPr>
        <p:spPr>
          <a:xfrm>
            <a:off x="2922575" y="2822463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5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0F4C4C4E-79D3-4256-8386-2F1DCB8C2CA9}"/>
              </a:ext>
            </a:extLst>
          </p:cNvPr>
          <p:cNvSpPr/>
          <p:nvPr/>
        </p:nvSpPr>
        <p:spPr>
          <a:xfrm>
            <a:off x="561364" y="2822463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020C6500-C77D-430B-B9BD-F4C82A5D27CE}"/>
              </a:ext>
            </a:extLst>
          </p:cNvPr>
          <p:cNvSpPr/>
          <p:nvPr/>
        </p:nvSpPr>
        <p:spPr>
          <a:xfrm>
            <a:off x="2330319" y="2822463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4</a:t>
            </a: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59F5EBC9-93E1-41C3-9418-12957A4CF080}"/>
              </a:ext>
            </a:extLst>
          </p:cNvPr>
          <p:cNvSpPr/>
          <p:nvPr/>
        </p:nvSpPr>
        <p:spPr>
          <a:xfrm>
            <a:off x="155353" y="3919396"/>
            <a:ext cx="587829" cy="566834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4A642285-E0DE-406A-B7FC-4689FA1E60FD}"/>
              </a:ext>
            </a:extLst>
          </p:cNvPr>
          <p:cNvSpPr/>
          <p:nvPr/>
        </p:nvSpPr>
        <p:spPr>
          <a:xfrm>
            <a:off x="743182" y="3919396"/>
            <a:ext cx="587829" cy="566834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0F3B6A48-C31F-4ECF-8A63-D97245C54F3E}"/>
              </a:ext>
            </a:extLst>
          </p:cNvPr>
          <p:cNvSpPr/>
          <p:nvPr/>
        </p:nvSpPr>
        <p:spPr>
          <a:xfrm>
            <a:off x="1331011" y="3919396"/>
            <a:ext cx="587829" cy="566834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3F3FCB96-D011-4561-8C8B-7D727381EA57}"/>
              </a:ext>
            </a:extLst>
          </p:cNvPr>
          <p:cNvSpPr/>
          <p:nvPr/>
        </p:nvSpPr>
        <p:spPr>
          <a:xfrm>
            <a:off x="1918840" y="391939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B901C7C0-AF5B-4D9A-8558-FCA030CCDF0C}"/>
              </a:ext>
            </a:extLst>
          </p:cNvPr>
          <p:cNvSpPr/>
          <p:nvPr/>
        </p:nvSpPr>
        <p:spPr>
          <a:xfrm>
            <a:off x="2506669" y="391939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647AD826-9FB0-467B-BBB2-234F5A2B76D2}"/>
              </a:ext>
            </a:extLst>
          </p:cNvPr>
          <p:cNvSpPr/>
          <p:nvPr/>
        </p:nvSpPr>
        <p:spPr>
          <a:xfrm>
            <a:off x="3094498" y="391939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E5229871-0AD0-4489-92C9-C596372F660A}"/>
              </a:ext>
            </a:extLst>
          </p:cNvPr>
          <p:cNvSpPr/>
          <p:nvPr/>
        </p:nvSpPr>
        <p:spPr>
          <a:xfrm>
            <a:off x="3682327" y="391939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3C1A0FF4-7632-426A-891F-7D30EFA33061}"/>
              </a:ext>
            </a:extLst>
          </p:cNvPr>
          <p:cNvSpPr/>
          <p:nvPr/>
        </p:nvSpPr>
        <p:spPr>
          <a:xfrm>
            <a:off x="4270156" y="391939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870A5469-C5DB-4A9E-A166-EBC44320B28D}"/>
              </a:ext>
            </a:extLst>
          </p:cNvPr>
          <p:cNvSpPr/>
          <p:nvPr/>
        </p:nvSpPr>
        <p:spPr>
          <a:xfrm>
            <a:off x="4857985" y="391939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F25DC134-374D-4A4D-AE7F-8C988D0512EE}"/>
              </a:ext>
            </a:extLst>
          </p:cNvPr>
          <p:cNvSpPr/>
          <p:nvPr/>
        </p:nvSpPr>
        <p:spPr>
          <a:xfrm>
            <a:off x="5445814" y="3919395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23FD147E-AF02-4B65-9C89-E5D2A4CC8EA4}"/>
              </a:ext>
            </a:extLst>
          </p:cNvPr>
          <p:cNvSpPr/>
          <p:nvPr/>
        </p:nvSpPr>
        <p:spPr>
          <a:xfrm>
            <a:off x="6033643" y="3910680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14D9D29F-70B9-4477-9E5E-97EB94BBE89C}"/>
              </a:ext>
            </a:extLst>
          </p:cNvPr>
          <p:cNvSpPr/>
          <p:nvPr/>
        </p:nvSpPr>
        <p:spPr>
          <a:xfrm>
            <a:off x="6621472" y="3910680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780A4E83-77E1-4093-950A-181A34AB3201}"/>
              </a:ext>
            </a:extLst>
          </p:cNvPr>
          <p:cNvSpPr/>
          <p:nvPr/>
        </p:nvSpPr>
        <p:spPr>
          <a:xfrm>
            <a:off x="7209301" y="3910680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D0C54F3E-C7E6-4292-B5E9-FD290F9B64F9}"/>
              </a:ext>
            </a:extLst>
          </p:cNvPr>
          <p:cNvSpPr/>
          <p:nvPr/>
        </p:nvSpPr>
        <p:spPr>
          <a:xfrm>
            <a:off x="7797130" y="3910680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9CABF99D-3035-4C69-9FAD-17E07A808CE2}"/>
              </a:ext>
            </a:extLst>
          </p:cNvPr>
          <p:cNvSpPr/>
          <p:nvPr/>
        </p:nvSpPr>
        <p:spPr>
          <a:xfrm>
            <a:off x="8384959" y="3910680"/>
            <a:ext cx="587829" cy="56683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61F2C0C7-B5CE-43B9-853B-BE9F91E582D5}"/>
              </a:ext>
            </a:extLst>
          </p:cNvPr>
          <p:cNvSpPr/>
          <p:nvPr/>
        </p:nvSpPr>
        <p:spPr>
          <a:xfrm>
            <a:off x="1339549" y="4080658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3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3D715228-3EA3-4233-B6C8-7DE8080E6681}"/>
              </a:ext>
            </a:extLst>
          </p:cNvPr>
          <p:cNvSpPr/>
          <p:nvPr/>
        </p:nvSpPr>
        <p:spPr>
          <a:xfrm>
            <a:off x="738755" y="4080658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2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74EC442A-6C84-4ACA-A814-6858909D1D9B}"/>
              </a:ext>
            </a:extLst>
          </p:cNvPr>
          <p:cNvSpPr/>
          <p:nvPr/>
        </p:nvSpPr>
        <p:spPr>
          <a:xfrm>
            <a:off x="3745246" y="4080658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7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CC344BE4-D9A4-4AE9-9948-C470CF97D92F}"/>
              </a:ext>
            </a:extLst>
          </p:cNvPr>
          <p:cNvSpPr/>
          <p:nvPr/>
        </p:nvSpPr>
        <p:spPr>
          <a:xfrm>
            <a:off x="4261303" y="4080658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8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B96629D0-165F-49B3-B539-B5C1CBD486BF}"/>
              </a:ext>
            </a:extLst>
          </p:cNvPr>
          <p:cNvSpPr/>
          <p:nvPr/>
        </p:nvSpPr>
        <p:spPr>
          <a:xfrm>
            <a:off x="4882805" y="4080658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9</a:t>
            </a: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D940AB54-83C6-4142-9A6B-6E6233E088A1}"/>
              </a:ext>
            </a:extLst>
          </p:cNvPr>
          <p:cNvSpPr/>
          <p:nvPr/>
        </p:nvSpPr>
        <p:spPr>
          <a:xfrm>
            <a:off x="3123744" y="4080658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6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68BB643E-2F92-463C-9071-E03613FD656A}"/>
              </a:ext>
            </a:extLst>
          </p:cNvPr>
          <p:cNvSpPr/>
          <p:nvPr/>
        </p:nvSpPr>
        <p:spPr>
          <a:xfrm>
            <a:off x="5445814" y="4080658"/>
            <a:ext cx="7070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10</a:t>
            </a: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BEF06433-6335-4084-9C5F-22E4F34719B6}"/>
              </a:ext>
            </a:extLst>
          </p:cNvPr>
          <p:cNvSpPr/>
          <p:nvPr/>
        </p:nvSpPr>
        <p:spPr>
          <a:xfrm>
            <a:off x="2540342" y="4080658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5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FA1EB728-5638-4835-8683-FB0F1778615B}"/>
              </a:ext>
            </a:extLst>
          </p:cNvPr>
          <p:cNvSpPr/>
          <p:nvPr/>
        </p:nvSpPr>
        <p:spPr>
          <a:xfrm>
            <a:off x="179131" y="4080658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</a:t>
            </a: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5651BBFA-E2B1-48D5-BCFA-2BD1A3606EDC}"/>
              </a:ext>
            </a:extLst>
          </p:cNvPr>
          <p:cNvSpPr/>
          <p:nvPr/>
        </p:nvSpPr>
        <p:spPr>
          <a:xfrm>
            <a:off x="1948086" y="4080658"/>
            <a:ext cx="5878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4</a:t>
            </a: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751EF6B3-0F67-4E20-B1B4-E6F8193E5401}"/>
              </a:ext>
            </a:extLst>
          </p:cNvPr>
          <p:cNvSpPr/>
          <p:nvPr/>
        </p:nvSpPr>
        <p:spPr>
          <a:xfrm>
            <a:off x="6062889" y="4080658"/>
            <a:ext cx="7070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2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11</a:t>
            </a:r>
          </a:p>
        </p:txBody>
      </p:sp>
      <p:sp>
        <p:nvSpPr>
          <p:cNvPr id="104" name="TextBox 10">
            <a:extLst>
              <a:ext uri="{FF2B5EF4-FFF2-40B4-BE49-F238E27FC236}">
                <a16:creationId xmlns:a16="http://schemas.microsoft.com/office/drawing/2014/main" id="{AF766B63-0AFB-444B-B03B-A3F0A7719008}"/>
              </a:ext>
            </a:extLst>
          </p:cNvPr>
          <p:cNvSpPr txBox="1"/>
          <p:nvPr/>
        </p:nvSpPr>
        <p:spPr>
          <a:xfrm>
            <a:off x="391167" y="3321465"/>
            <a:ext cx="5726367" cy="495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 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扩容原数组 </a:t>
            </a: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1.5 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倍大小的新数组</a:t>
            </a:r>
            <a:endParaRPr lang="en-US" altLang="zh-CN" sz="20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" name="TextBox 10">
            <a:extLst>
              <a:ext uri="{FF2B5EF4-FFF2-40B4-BE49-F238E27FC236}">
                <a16:creationId xmlns:a16="http://schemas.microsoft.com/office/drawing/2014/main" id="{E927E5BC-7F44-419A-B5A2-17DE982D4D28}"/>
              </a:ext>
            </a:extLst>
          </p:cNvPr>
          <p:cNvSpPr txBox="1"/>
          <p:nvPr/>
        </p:nvSpPr>
        <p:spPr>
          <a:xfrm>
            <a:off x="4454009" y="3324570"/>
            <a:ext cx="4540243" cy="495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3. 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将原数组数据，拷贝到新数组中</a:t>
            </a:r>
            <a:endParaRPr lang="en-US" altLang="zh-CN" sz="20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6" name="TextBox 10">
            <a:extLst>
              <a:ext uri="{FF2B5EF4-FFF2-40B4-BE49-F238E27FC236}">
                <a16:creationId xmlns:a16="http://schemas.microsoft.com/office/drawing/2014/main" id="{DC2B0FCF-FE6B-45DF-9A48-B76C0DB34E76}"/>
              </a:ext>
            </a:extLst>
          </p:cNvPr>
          <p:cNvSpPr txBox="1"/>
          <p:nvPr/>
        </p:nvSpPr>
        <p:spPr>
          <a:xfrm>
            <a:off x="533159" y="4701171"/>
            <a:ext cx="3309320" cy="495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4. 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将新元素添加到新数组</a:t>
            </a:r>
            <a:endParaRPr lang="en-US" altLang="zh-CN" sz="20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792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7.1 </a:t>
            </a:r>
            <a:r>
              <a:rPr lang="zh-CN" altLang="en-US" sz="36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 </a:t>
            </a:r>
            <a:r>
              <a:rPr lang="en-US" altLang="zh-CN" dirty="0" err="1">
                <a:ea typeface="宋体" panose="02010600030101010101" pitchFamily="2" charset="-122"/>
              </a:rPr>
              <a:t>ArrayList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2">
            <a:extLst>
              <a:ext uri="{FF2B5EF4-FFF2-40B4-BE49-F238E27FC236}">
                <a16:creationId xmlns:a16="http://schemas.microsoft.com/office/drawing/2014/main" id="{148E57CF-36A7-45E2-9F6F-FB2E896B9063}"/>
              </a:ext>
            </a:extLst>
          </p:cNvPr>
          <p:cNvSpPr txBox="1">
            <a:spLocks/>
          </p:cNvSpPr>
          <p:nvPr/>
        </p:nvSpPr>
        <p:spPr>
          <a:xfrm>
            <a:off x="533159" y="1650912"/>
            <a:ext cx="3462777" cy="387893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defTabSz="685800">
              <a:defRPr/>
            </a:pPr>
            <a:r>
              <a:rPr sz="24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集合和数组的使用选择</a:t>
            </a:r>
            <a:endParaRPr lang="en-US" altLang="zh-CN" sz="2400" b="1" dirty="0">
              <a:solidFill>
                <a:srgbClr val="C00000"/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7DF2BB3C-081D-465B-8EFD-859A48692B11}"/>
              </a:ext>
            </a:extLst>
          </p:cNvPr>
          <p:cNvSpPr txBox="1"/>
          <p:nvPr/>
        </p:nvSpPr>
        <p:spPr>
          <a:xfrm>
            <a:off x="533159" y="2255488"/>
            <a:ext cx="5726367" cy="943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楷体" panose="02010609060101010101" pitchFamily="49" charset="-122"/>
                <a:ea typeface="楷体" panose="02010609060101010101" pitchFamily="49" charset="-122"/>
                <a:cs typeface="阿里巴巴普惠体" panose="00020600040101010101" pitchFamily="18" charset="-122"/>
              </a:rPr>
              <a:t>数组</a:t>
            </a: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楷体" panose="02010609060101010101" pitchFamily="49" charset="-122"/>
                <a:ea typeface="楷体" panose="02010609060101010101" pitchFamily="49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楷体" panose="02010609060101010101" pitchFamily="49" charset="-122"/>
                <a:ea typeface="楷体" panose="02010609060101010101" pitchFamily="49" charset="-122"/>
                <a:cs typeface="阿里巴巴普惠体" panose="00020600040101010101" pitchFamily="18" charset="-122"/>
              </a:rPr>
              <a:t>存储的元素个数固定不变</a:t>
            </a:r>
            <a:endParaRPr lang="en-US" altLang="zh-CN" sz="2000" dirty="0">
              <a:solidFill>
                <a:prstClr val="black">
                  <a:lumMod val="85000"/>
                  <a:lumOff val="15000"/>
                </a:prstClr>
              </a:solidFill>
              <a:latin typeface="楷体" panose="02010609060101010101" pitchFamily="49" charset="-122"/>
              <a:ea typeface="楷体" panose="02010609060101010101" pitchFamily="49" charset="-122"/>
              <a:cs typeface="阿里巴巴普惠体" panose="00020600040101010101" pitchFamily="18" charset="-122"/>
            </a:endParaRPr>
          </a:p>
          <a:p>
            <a:pPr defTabSz="6858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楷体" panose="02010609060101010101" pitchFamily="49" charset="-122"/>
                <a:ea typeface="楷体" panose="02010609060101010101" pitchFamily="49" charset="-122"/>
                <a:cs typeface="阿里巴巴普惠体" panose="00020600040101010101" pitchFamily="18" charset="-122"/>
              </a:rPr>
              <a:t>集合</a:t>
            </a:r>
            <a:r>
              <a:rPr lang="en-US" altLang="zh-CN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楷体" panose="02010609060101010101" pitchFamily="49" charset="-122"/>
                <a:ea typeface="楷体" panose="02010609060101010101" pitchFamily="49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楷体" panose="02010609060101010101" pitchFamily="49" charset="-122"/>
                <a:ea typeface="楷体" panose="02010609060101010101" pitchFamily="49" charset="-122"/>
                <a:cs typeface="阿里巴巴普惠体" panose="00020600040101010101" pitchFamily="18" charset="-122"/>
              </a:rPr>
              <a:t>存储的元素个数经常发生改变</a:t>
            </a:r>
            <a:endParaRPr lang="en-US" altLang="zh-CN" sz="2000" dirty="0">
              <a:solidFill>
                <a:prstClr val="black">
                  <a:lumMod val="85000"/>
                  <a:lumOff val="15000"/>
                </a:prstClr>
              </a:solidFill>
              <a:latin typeface="楷体" panose="02010609060101010101" pitchFamily="49" charset="-122"/>
              <a:ea typeface="楷体" panose="02010609060101010101" pitchFamily="49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5918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7.1 </a:t>
            </a:r>
            <a:r>
              <a:rPr lang="zh-CN" altLang="en-US" sz="36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 </a:t>
            </a:r>
            <a:r>
              <a:rPr lang="en-US" altLang="zh-CN" dirty="0" err="1">
                <a:ea typeface="宋体" panose="02010600030101010101" pitchFamily="2" charset="-122"/>
              </a:rPr>
              <a:t>ArrayList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2">
            <a:extLst>
              <a:ext uri="{FF2B5EF4-FFF2-40B4-BE49-F238E27FC236}">
                <a16:creationId xmlns:a16="http://schemas.microsoft.com/office/drawing/2014/main" id="{AEFAFED5-1C01-4B13-AC02-D3B03D03E6BD}"/>
              </a:ext>
            </a:extLst>
          </p:cNvPr>
          <p:cNvSpPr txBox="1">
            <a:spLocks/>
          </p:cNvSpPr>
          <p:nvPr/>
        </p:nvSpPr>
        <p:spPr>
          <a:xfrm>
            <a:off x="533159" y="1650912"/>
            <a:ext cx="3606793" cy="387893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defTabSz="685800">
              <a:defRPr/>
            </a:pPr>
            <a:r>
              <a:rPr lang="en-US" altLang="zh-CN" b="1" err="1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b="1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 </a:t>
            </a:r>
            <a:r>
              <a:rPr b="1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集合常用成员方法</a:t>
            </a:r>
            <a:endParaRPr lang="en-US" altLang="zh-CN" b="1">
              <a:solidFill>
                <a:srgbClr val="C00000"/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  <a:cs typeface="阿里巴巴普惠体" panose="00020600040101010101" pitchFamily="18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C51ACDD-D6AA-4A2D-929B-B15E5F35E65E}"/>
              </a:ext>
            </a:extLst>
          </p:cNvPr>
          <p:cNvGraphicFramePr>
            <a:graphicFrameLocks noGrp="1"/>
          </p:cNvGraphicFramePr>
          <p:nvPr/>
        </p:nvGraphicFramePr>
        <p:xfrm>
          <a:off x="360041" y="2326593"/>
          <a:ext cx="7956375" cy="3604565"/>
        </p:xfrm>
        <a:graphic>
          <a:graphicData uri="http://schemas.openxmlformats.org/drawingml/2006/table">
            <a:tbl>
              <a:tblPr/>
              <a:tblGrid>
                <a:gridCol w="3884119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4072256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286604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Alibaba PuHuiTi R" pitchFamily="18" charset="-122"/>
                        </a:rPr>
                        <a:t>方法名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68556" marR="68556" marT="34306" marB="34306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35221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</a:t>
                      </a:r>
                      <a:r>
                        <a:rPr lang="en-US" altLang="zh-CN" sz="16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boolean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add(E e)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18" marR="91418" marT="45734" marB="45734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pPr marL="0" indent="0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将指定的元素添加到此集合的末尾</a:t>
                      </a:r>
                      <a:endParaRPr lang="en-US" altLang="zh-CN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18" marR="91418" marT="45734" marB="45734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943409"/>
                  </a:ext>
                </a:extLst>
              </a:tr>
              <a:tr h="35221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void add(</a:t>
                      </a:r>
                      <a:r>
                        <a:rPr lang="en-US" altLang="zh-CN" sz="16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int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</a:t>
                      </a:r>
                      <a:r>
                        <a:rPr lang="en-US" altLang="zh-CN" sz="16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index,E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element)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18" marR="91418" marT="45734" marB="45734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pPr marL="0" indent="0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在此集合中的指定位置插入指定的元素</a:t>
                      </a:r>
                      <a:endParaRPr lang="en-US" altLang="zh-CN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18" marR="91418" marT="45734" marB="45734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781356"/>
                  </a:ext>
                </a:extLst>
              </a:tr>
              <a:tr h="3522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E get(</a:t>
                      </a:r>
                      <a:r>
                        <a:rPr lang="en-US" altLang="zh-CN" sz="16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int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index)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18" marR="91418" marT="45735" marB="45735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pPr marL="0" indent="0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返回指定索引处的元素</a:t>
                      </a:r>
                      <a:endParaRPr lang="en-US" altLang="zh-CN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18" marR="91418" marT="45735" marB="45735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644187"/>
                  </a:ext>
                </a:extLst>
              </a:tr>
              <a:tr h="3522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</a:t>
                      </a:r>
                      <a:r>
                        <a:rPr lang="en-US" altLang="zh-CN" sz="16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int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size()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18" marR="91418" marT="45735" marB="45735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pPr marL="0" indent="0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返回集合中的元素的个数</a:t>
                      </a:r>
                      <a:endParaRPr lang="en-US" altLang="zh-CN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18" marR="91418" marT="45735" marB="45735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361974"/>
                  </a:ext>
                </a:extLst>
              </a:tr>
              <a:tr h="3522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E remove(</a:t>
                      </a:r>
                      <a:r>
                        <a:rPr lang="en-US" altLang="zh-CN" sz="16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int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index)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18" marR="91418" marT="45735" marB="45735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删除指定索引处的元素，返回被删除的元素</a:t>
                      </a:r>
                    </a:p>
                  </a:txBody>
                  <a:tcPr marL="91418" marR="91418" marT="45735" marB="45735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557071"/>
                  </a:ext>
                </a:extLst>
              </a:tr>
              <a:tr h="3522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</a:t>
                      </a:r>
                      <a:r>
                        <a:rPr lang="en-US" altLang="zh-CN" sz="16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boolean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remove(Object o)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18" marR="91418" marT="45735" marB="45735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删除指定的元素，返回删除是否成功</a:t>
                      </a:r>
                    </a:p>
                  </a:txBody>
                  <a:tcPr marL="91418" marR="91418" marT="45735" marB="45735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3522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E set(</a:t>
                      </a:r>
                      <a:r>
                        <a:rPr lang="en-US" altLang="zh-CN" sz="16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int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</a:t>
                      </a:r>
                      <a:r>
                        <a:rPr lang="en-US" altLang="zh-CN" sz="16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index,E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element)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18" marR="91418" marT="45735" marB="45735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黑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修改指定索引处的元素，返回被修改的元素</a:t>
                      </a:r>
                      <a:endParaRPr lang="en-US" altLang="zh-CN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18" marR="91418" marT="45735" marB="45735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165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0613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7.1 </a:t>
            </a:r>
            <a:r>
              <a:rPr lang="zh-CN" altLang="en-US" sz="36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 </a:t>
            </a:r>
            <a:r>
              <a:rPr lang="en-US" altLang="zh-CN" dirty="0" err="1">
                <a:ea typeface="宋体" panose="02010600030101010101" pitchFamily="2" charset="-122"/>
              </a:rPr>
              <a:t>ArrayList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占位符 3">
            <a:extLst>
              <a:ext uri="{FF2B5EF4-FFF2-40B4-BE49-F238E27FC236}">
                <a16:creationId xmlns:a16="http://schemas.microsoft.com/office/drawing/2014/main" id="{2570B317-9B53-469D-BA48-1B172AE4B105}"/>
              </a:ext>
            </a:extLst>
          </p:cNvPr>
          <p:cNvSpPr txBox="1">
            <a:spLocks/>
          </p:cNvSpPr>
          <p:nvPr/>
        </p:nvSpPr>
        <p:spPr>
          <a:xfrm>
            <a:off x="373197" y="1320574"/>
            <a:ext cx="4697063" cy="387893"/>
          </a:xfrm>
          <a:prstGeom prst="rect">
            <a:avLst/>
          </a:prstGeom>
        </p:spPr>
        <p:txBody>
          <a:bodyPr anchor="ctr" anchorCtr="0"/>
          <a:lstStyle>
            <a:lvl1pPr marL="342892" indent="-3428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5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marL="742931" indent="-285743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2972" indent="-228594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160" indent="-228594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8" indent="-228594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5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ea typeface="Alibaba PuHuiTi Medium" pitchFamily="18" charset="-122"/>
              </a:rPr>
              <a:t>集合存储字符串并遍历</a:t>
            </a:r>
          </a:p>
        </p:txBody>
      </p:sp>
      <p:sp>
        <p:nvSpPr>
          <p:cNvPr id="6" name="文本占位符 4">
            <a:extLst>
              <a:ext uri="{FF2B5EF4-FFF2-40B4-BE49-F238E27FC236}">
                <a16:creationId xmlns:a16="http://schemas.microsoft.com/office/drawing/2014/main" id="{244A63B2-7E89-44D4-9F6B-188B2DF19579}"/>
              </a:ext>
            </a:extLst>
          </p:cNvPr>
          <p:cNvSpPr txBox="1">
            <a:spLocks/>
          </p:cNvSpPr>
          <p:nvPr/>
        </p:nvSpPr>
        <p:spPr>
          <a:xfrm>
            <a:off x="373197" y="1817350"/>
            <a:ext cx="6910673" cy="4219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42931" indent="-285743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2972" indent="-228594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160" indent="-228594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8" indent="-228594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5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需求：创建一个存储字符串的集合，内部存储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3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个字符串元素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, 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使用程序实现在控制台遍历该集合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ea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015CF0-CFD8-45DE-9DFF-47E4732391CE}"/>
              </a:ext>
            </a:extLst>
          </p:cNvPr>
          <p:cNvSpPr txBox="1"/>
          <p:nvPr/>
        </p:nvSpPr>
        <p:spPr>
          <a:xfrm>
            <a:off x="395536" y="2852936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ea typeface="Alibaba PuHuiTi Medium" pitchFamily="18" charset="-122"/>
              </a:rPr>
              <a:t>集合删除元素</a:t>
            </a:r>
          </a:p>
        </p:txBody>
      </p:sp>
      <p:sp>
        <p:nvSpPr>
          <p:cNvPr id="8" name="文本占位符 4">
            <a:extLst>
              <a:ext uri="{FF2B5EF4-FFF2-40B4-BE49-F238E27FC236}">
                <a16:creationId xmlns:a16="http://schemas.microsoft.com/office/drawing/2014/main" id="{53F903C2-2CA6-4F74-B54B-CCCA1B8683FA}"/>
              </a:ext>
            </a:extLst>
          </p:cNvPr>
          <p:cNvSpPr txBox="1">
            <a:spLocks/>
          </p:cNvSpPr>
          <p:nvPr/>
        </p:nvSpPr>
        <p:spPr>
          <a:xfrm>
            <a:off x="468313" y="3284984"/>
            <a:ext cx="8302490" cy="4219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42931" indent="-285743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2972" indent="-228594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160" indent="-228594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8" indent="-228594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5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latin typeface="Consolas" panose="020B0609020204030204" pitchFamily="49" charset="0"/>
              </a:rPr>
              <a:t>需求：创建一个存储</a:t>
            </a:r>
            <a:r>
              <a:rPr lang="en-US" altLang="zh-CN" sz="1600" dirty="0">
                <a:latin typeface="Consolas" panose="020B0609020204030204" pitchFamily="49" charset="0"/>
              </a:rPr>
              <a:t>String</a:t>
            </a:r>
            <a:r>
              <a:rPr lang="zh-CN" altLang="en-US" sz="1600" dirty="0">
                <a:latin typeface="Consolas" panose="020B0609020204030204" pitchFamily="49" charset="0"/>
              </a:rPr>
              <a:t>的集合，内部存储（</a:t>
            </a:r>
            <a:r>
              <a:rPr lang="en-US" altLang="zh-CN" sz="1600" dirty="0">
                <a:latin typeface="Consolas" panose="020B0609020204030204" pitchFamily="49" charset="0"/>
              </a:rPr>
              <a:t>test</a:t>
            </a:r>
            <a:r>
              <a:rPr lang="zh-CN" altLang="en-US" sz="1600" dirty="0">
                <a:latin typeface="Consolas" panose="020B0609020204030204" pitchFamily="49" charset="0"/>
              </a:rPr>
              <a:t>，张三，李四，</a:t>
            </a:r>
            <a:r>
              <a:rPr lang="en-US" altLang="zh-CN" sz="1600" dirty="0">
                <a:latin typeface="Consolas" panose="020B0609020204030204" pitchFamily="49" charset="0"/>
              </a:rPr>
              <a:t>test</a:t>
            </a:r>
            <a:r>
              <a:rPr lang="zh-CN" altLang="en-US" sz="1600" dirty="0">
                <a:latin typeface="Consolas" panose="020B0609020204030204" pitchFamily="49" charset="0"/>
              </a:rPr>
              <a:t>，</a:t>
            </a:r>
            <a:r>
              <a:rPr lang="en-US" altLang="zh-CN" sz="1600" dirty="0">
                <a:latin typeface="Consolas" panose="020B0609020204030204" pitchFamily="49" charset="0"/>
              </a:rPr>
              <a:t>test</a:t>
            </a:r>
            <a:r>
              <a:rPr lang="zh-CN" altLang="en-US" sz="1600" dirty="0">
                <a:latin typeface="Consolas" panose="020B0609020204030204" pitchFamily="49" charset="0"/>
              </a:rPr>
              <a:t>）字符串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1600" dirty="0">
              <a:latin typeface="Consolas" panose="020B06090202040302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latin typeface="Consolas" panose="020B0609020204030204" pitchFamily="49" charset="0"/>
              </a:rPr>
              <a:t>删除所有的</a:t>
            </a:r>
            <a:r>
              <a:rPr lang="en-US" altLang="zh-CN" sz="1600" dirty="0">
                <a:latin typeface="Consolas" panose="020B0609020204030204" pitchFamily="49" charset="0"/>
              </a:rPr>
              <a:t>test</a:t>
            </a:r>
            <a:r>
              <a:rPr lang="zh-CN" altLang="en-US" sz="1600" dirty="0">
                <a:latin typeface="Consolas" panose="020B0609020204030204" pitchFamily="49" charset="0"/>
              </a:rPr>
              <a:t>字符串，删除后，将集合剩余元素打印在控制台</a:t>
            </a:r>
            <a:endParaRPr lang="en-US" altLang="zh-CN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233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7.1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</a:t>
            </a: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数组的优点</a:t>
            </a: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提供的随机访问对象序列的最有效方法</a:t>
            </a: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是一个简单的线性序列，访问元素的速度较快</a:t>
            </a:r>
          </a:p>
          <a:p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数组的缺点</a:t>
            </a: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大小自创建以后就固定了，在其整个生存期内其大小不可改变</a:t>
            </a: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数组元素只能是同一类型</a:t>
            </a:r>
          </a:p>
          <a:p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</a:t>
            </a: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可动态改变其大小</a:t>
            </a: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可在序列中存储不同类型的数据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8120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7.1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</a:t>
            </a: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8064127" cy="5184775"/>
          </a:xfrm>
        </p:spPr>
        <p:txBody>
          <a:bodyPr/>
          <a:lstStyle/>
          <a:p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集合和数组的区别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数组和集合类都是容器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数组长度是固定的，集合长度是可变的。</a:t>
            </a:r>
            <a:endParaRPr lang="en-US" altLang="zh-CN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数组中可以存储基本数据类型，集合只能存储对象。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数组中存储数据类型是单一的，集合中可以存储任意类型的对象。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90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7.1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</a:t>
            </a:r>
          </a:p>
        </p:txBody>
      </p:sp>
      <p:sp>
        <p:nvSpPr>
          <p:cNvPr id="11673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zh-CN" altLang="en-CA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</a:t>
            </a:r>
          </a:p>
          <a:p>
            <a:pPr lvl="1">
              <a:lnSpc>
                <a:spcPct val="11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把具有相同性质的一类东西，汇聚成一个整体</a:t>
            </a:r>
          </a:p>
          <a:p>
            <a:pPr lvl="1">
              <a:lnSpc>
                <a:spcPct val="110000"/>
              </a:lnSpc>
            </a:pPr>
            <a:r>
              <a:rPr lang="zh-CN" altLang="en-CA" b="0" dirty="0"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CA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Java2</a:t>
            </a:r>
            <a:r>
              <a:rPr lang="zh-CN" altLang="en-CA" b="0" dirty="0">
                <a:ea typeface="黑体" panose="02010609060101010101" pitchFamily="49" charset="-122"/>
                <a:cs typeface="Times New Roman" panose="02020603050405020304" pitchFamily="18" charset="0"/>
              </a:rPr>
              <a:t>中有很多与集合有关的接口及类</a:t>
            </a:r>
          </a:p>
          <a:p>
            <a:pPr lvl="1">
              <a:lnSpc>
                <a:spcPct val="110000"/>
              </a:lnSpc>
            </a:pPr>
            <a:r>
              <a:rPr lang="zh-CN" altLang="en-CA" b="0" dirty="0">
                <a:ea typeface="黑体" panose="02010609060101010101" pitchFamily="49" charset="-122"/>
                <a:cs typeface="Times New Roman" panose="02020603050405020304" pitchFamily="18" charset="0"/>
              </a:rPr>
              <a:t>它们被组织在以</a:t>
            </a:r>
            <a:r>
              <a:rPr lang="en-CA" altLang="zh-CN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Collection</a:t>
            </a:r>
            <a:r>
              <a:rPr lang="zh-CN" altLang="en-CA" b="0" dirty="0">
                <a:ea typeface="黑体" panose="02010609060101010101" pitchFamily="49" charset="-122"/>
                <a:cs typeface="Times New Roman" panose="02020603050405020304" pitchFamily="18" charset="0"/>
              </a:rPr>
              <a:t>及</a:t>
            </a:r>
            <a:r>
              <a:rPr lang="en-CA" altLang="zh-CN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Map</a:t>
            </a:r>
            <a:r>
              <a:rPr lang="zh-CN" altLang="en-CA" b="0" dirty="0">
                <a:ea typeface="黑体" panose="02010609060101010101" pitchFamily="49" charset="-122"/>
                <a:cs typeface="Times New Roman" panose="02020603050405020304" pitchFamily="18" charset="0"/>
              </a:rPr>
              <a:t>接口为根的层次结构中，称为</a:t>
            </a:r>
            <a:r>
              <a:rPr lang="zh-CN" altLang="en-CA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集合框架</a:t>
            </a:r>
            <a:r>
              <a:rPr lang="zh-CN" altLang="en-US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CA" b="0" dirty="0">
              <a:solidFill>
                <a:srgbClr val="0000FF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7.2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集合框架</a:t>
            </a:r>
          </a:p>
        </p:txBody>
      </p:sp>
      <p:sp>
        <p:nvSpPr>
          <p:cNvPr id="11776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集合框架</a:t>
            </a:r>
            <a:r>
              <a:rPr lang="en-US" altLang="zh-CN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(Java Collections Framework)</a:t>
            </a:r>
          </a:p>
          <a:p>
            <a:pPr lvl="1">
              <a:lnSpc>
                <a:spcPct val="11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为表示和操作集合而规定的一种统一的标准的体系结构</a:t>
            </a:r>
          </a:p>
          <a:p>
            <a:pPr lvl="1">
              <a:lnSpc>
                <a:spcPct val="110000"/>
              </a:lnSpc>
            </a:pPr>
            <a:r>
              <a:rPr lang="zh-CN" altLang="en-CA" b="0" dirty="0">
                <a:ea typeface="黑体" panose="02010609060101010101" pitchFamily="49" charset="-122"/>
                <a:cs typeface="Times New Roman" panose="02020603050405020304" pitchFamily="18" charset="0"/>
              </a:rPr>
              <a:t>提供了一些现成的数据结构可供使用，程序员可以利用集合框架快速编写代码，并获得优良性能</a:t>
            </a:r>
            <a:endParaRPr lang="zh-CN" altLang="en-US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包含三大块内容</a:t>
            </a:r>
          </a:p>
          <a:p>
            <a:pPr lvl="2">
              <a:lnSpc>
                <a:spcPct val="110000"/>
              </a:lnSpc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对外的接口：</a:t>
            </a:r>
            <a:r>
              <a:rPr lang="zh-CN" altLang="en-CA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表示集合的抽象数据类型，使集合的操作与表示分开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10000"/>
              </a:lnSpc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接口的实现：</a:t>
            </a:r>
            <a:r>
              <a:rPr lang="zh-CN" altLang="en-CA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指实现集合接口的</a:t>
            </a:r>
            <a:r>
              <a:rPr lang="en-CA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CA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类，是可重用的数据结构</a:t>
            </a:r>
            <a:endParaRPr lang="en-US" altLang="zh-CN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10000"/>
              </a:lnSpc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集合运算的算法：</a:t>
            </a:r>
            <a:r>
              <a:rPr lang="zh-CN" altLang="en-CA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是指执行运算的方法，例如在集合上进行查找和排序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7.2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集合框架</a:t>
            </a:r>
          </a:p>
        </p:txBody>
      </p:sp>
      <p:sp>
        <p:nvSpPr>
          <p:cNvPr id="11878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对外的接口</a:t>
            </a:r>
            <a:endParaRPr lang="en-US" altLang="zh-CN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CA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集合框架接口</a:t>
            </a:r>
          </a:p>
          <a:p>
            <a:pPr lvl="1"/>
            <a:r>
              <a:rPr lang="zh-CN" altLang="en-CA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声明了对各种集合类型执行的一般操作</a:t>
            </a:r>
          </a:p>
          <a:p>
            <a:pPr lvl="1"/>
            <a:r>
              <a:rPr lang="zh-CN" altLang="en-CA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包括</a:t>
            </a:r>
            <a:r>
              <a:rPr lang="en-CA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Collection</a:t>
            </a:r>
            <a:r>
              <a:rPr lang="zh-CN" altLang="en-CA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CA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Set</a:t>
            </a:r>
            <a:r>
              <a:rPr lang="zh-CN" altLang="en-CA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CA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List</a:t>
            </a:r>
            <a:r>
              <a:rPr lang="zh-CN" altLang="en-CA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CA" altLang="zh-CN" sz="2000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SortedSet</a:t>
            </a:r>
            <a:r>
              <a:rPr lang="zh-CN" altLang="en-CA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CA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Map</a:t>
            </a:r>
            <a:r>
              <a:rPr lang="zh-CN" altLang="en-CA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CA" altLang="zh-CN" sz="2000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SortedMap</a:t>
            </a:r>
            <a:endParaRPr lang="en-CA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Collection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接口在</a:t>
            </a:r>
            <a:r>
              <a:rPr lang="en-US" altLang="zh-CN" sz="2000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java.util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*包中</a:t>
            </a:r>
            <a:endParaRPr lang="en-CA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CA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基本结构如图</a:t>
            </a:r>
            <a:endParaRPr lang="zh-CN" altLang="en-US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b="0" dirty="0">
              <a:ea typeface="宋体" panose="02010600030101010101" pitchFamily="2" charset="-122"/>
            </a:endParaRPr>
          </a:p>
        </p:txBody>
      </p:sp>
      <p:pic>
        <p:nvPicPr>
          <p:cNvPr id="118788" name="Picture 9" descr="ccinter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140968"/>
            <a:ext cx="5464175" cy="338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7.2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集合框架</a:t>
            </a:r>
          </a:p>
        </p:txBody>
      </p:sp>
      <p:sp>
        <p:nvSpPr>
          <p:cNvPr id="1198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Collection</a:t>
            </a:r>
            <a:r>
              <a:rPr lang="zh-CN" altLang="en-US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接口</a:t>
            </a:r>
            <a:endParaRPr lang="en-US" altLang="zh-CN" b="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CA" b="0" dirty="0">
                <a:ea typeface="黑体" panose="02010609060101010101" pitchFamily="49" charset="-122"/>
                <a:cs typeface="Times New Roman" panose="02020603050405020304" pitchFamily="18" charset="0"/>
              </a:rPr>
              <a:t>类层次如图，包括</a:t>
            </a:r>
            <a:r>
              <a:rPr lang="en-CA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CA" b="0" dirty="0">
                <a:ea typeface="黑体" panose="02010609060101010101" pitchFamily="49" charset="-122"/>
                <a:cs typeface="Times New Roman" panose="02020603050405020304" pitchFamily="18" charset="0"/>
              </a:rPr>
              <a:t>个接口、</a:t>
            </a:r>
            <a:r>
              <a:rPr lang="en-CA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CA" b="0" dirty="0">
                <a:ea typeface="黑体" panose="02010609060101010101" pitchFamily="49" charset="-122"/>
                <a:cs typeface="Times New Roman" panose="02020603050405020304" pitchFamily="18" charset="0"/>
              </a:rPr>
              <a:t>个抽象类及</a:t>
            </a:r>
            <a:r>
              <a:rPr lang="en-CA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lang="zh-CN" altLang="en-CA" b="0" dirty="0">
                <a:ea typeface="黑体" panose="02010609060101010101" pitchFamily="49" charset="-122"/>
                <a:cs typeface="Times New Roman" panose="02020603050405020304" pitchFamily="18" charset="0"/>
              </a:rPr>
              <a:t>个具体类</a:t>
            </a:r>
          </a:p>
          <a:p>
            <a:pPr lvl="1"/>
            <a:endParaRPr lang="zh-CN" altLang="en-US" b="0" dirty="0">
              <a:ea typeface="楷体_GB2312" pitchFamily="49" charset="-122"/>
            </a:endParaRPr>
          </a:p>
        </p:txBody>
      </p:sp>
      <p:grpSp>
        <p:nvGrpSpPr>
          <p:cNvPr id="119812" name="Group 5"/>
          <p:cNvGrpSpPr>
            <a:grpSpLocks/>
          </p:cNvGrpSpPr>
          <p:nvPr/>
        </p:nvGrpSpPr>
        <p:grpSpPr bwMode="auto">
          <a:xfrm>
            <a:off x="395288" y="2205038"/>
            <a:ext cx="8280400" cy="3960812"/>
            <a:chOff x="1156" y="2733"/>
            <a:chExt cx="7609" cy="4444"/>
          </a:xfrm>
        </p:grpSpPr>
        <p:sp>
          <p:nvSpPr>
            <p:cNvPr id="119813" name="Line 6"/>
            <p:cNvSpPr>
              <a:spLocks noChangeShapeType="1"/>
            </p:cNvSpPr>
            <p:nvPr/>
          </p:nvSpPr>
          <p:spPr bwMode="auto">
            <a:xfrm>
              <a:off x="8435" y="4254"/>
              <a:ext cx="330" cy="0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14" name="Line 7"/>
            <p:cNvSpPr>
              <a:spLocks noChangeShapeType="1"/>
            </p:cNvSpPr>
            <p:nvPr/>
          </p:nvSpPr>
          <p:spPr bwMode="auto">
            <a:xfrm>
              <a:off x="8752" y="4271"/>
              <a:ext cx="0" cy="1914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15" name="Line 8"/>
            <p:cNvSpPr>
              <a:spLocks noChangeShapeType="1"/>
            </p:cNvSpPr>
            <p:nvPr/>
          </p:nvSpPr>
          <p:spPr bwMode="auto">
            <a:xfrm>
              <a:off x="8296" y="6179"/>
              <a:ext cx="456" cy="0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16" name="Text Box 9"/>
            <p:cNvSpPr txBox="1">
              <a:spLocks noChangeArrowheads="1"/>
            </p:cNvSpPr>
            <p:nvPr/>
          </p:nvSpPr>
          <p:spPr bwMode="auto">
            <a:xfrm>
              <a:off x="4481" y="2733"/>
              <a:ext cx="1369" cy="409"/>
            </a:xfrm>
            <a:prstGeom prst="rect">
              <a:avLst/>
            </a:prstGeom>
            <a:solidFill>
              <a:srgbClr val="CC99FF"/>
            </a:solidFill>
            <a:ln w="28575">
              <a:solidFill>
                <a:srgbClr val="9966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/>
                <a:t>Collection</a:t>
              </a:r>
            </a:p>
            <a:p>
              <a:pPr eaLnBrk="1" hangingPunct="1"/>
              <a:endParaRPr lang="en-US" altLang="zh-CN" sz="3600" b="1">
                <a:solidFill>
                  <a:schemeClr val="bg2"/>
                </a:solidFill>
              </a:endParaRPr>
            </a:p>
          </p:txBody>
        </p:sp>
        <p:sp>
          <p:nvSpPr>
            <p:cNvPr id="119817" name="Text Box 10"/>
            <p:cNvSpPr txBox="1">
              <a:spLocks noChangeArrowheads="1"/>
            </p:cNvSpPr>
            <p:nvPr/>
          </p:nvSpPr>
          <p:spPr bwMode="auto">
            <a:xfrm>
              <a:off x="4266" y="3961"/>
              <a:ext cx="1849" cy="377"/>
            </a:xfrm>
            <a:prstGeom prst="rect">
              <a:avLst/>
            </a:prstGeom>
            <a:solidFill>
              <a:srgbClr val="99FF99"/>
            </a:solidFill>
            <a:ln w="28575">
              <a:solidFill>
                <a:srgbClr val="9966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/>
                <a:t>AbstractCollection</a:t>
              </a:r>
            </a:p>
            <a:p>
              <a:pPr algn="just" eaLnBrk="1" hangingPunct="1"/>
              <a:endParaRPr lang="en-US" altLang="zh-CN" sz="1400" b="1">
                <a:solidFill>
                  <a:schemeClr val="bg2"/>
                </a:solidFill>
              </a:endParaRPr>
            </a:p>
            <a:p>
              <a:pPr eaLnBrk="1" hangingPunct="1"/>
              <a:endParaRPr lang="en-US" altLang="zh-CN" sz="3600" b="1">
                <a:solidFill>
                  <a:schemeClr val="bg2"/>
                </a:solidFill>
              </a:endParaRPr>
            </a:p>
          </p:txBody>
        </p:sp>
        <p:sp>
          <p:nvSpPr>
            <p:cNvPr id="119818" name="Text Box 11"/>
            <p:cNvSpPr txBox="1">
              <a:spLocks noChangeArrowheads="1"/>
            </p:cNvSpPr>
            <p:nvPr/>
          </p:nvSpPr>
          <p:spPr bwMode="auto">
            <a:xfrm>
              <a:off x="3591" y="5993"/>
              <a:ext cx="926" cy="369"/>
            </a:xfrm>
            <a:prstGeom prst="rect">
              <a:avLst/>
            </a:prstGeom>
            <a:solidFill>
              <a:srgbClr val="FFFFD1"/>
            </a:solidFill>
            <a:ln w="28575">
              <a:solidFill>
                <a:srgbClr val="9966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 dirty="0"/>
                <a:t>Vector</a:t>
              </a:r>
            </a:p>
            <a:p>
              <a:pPr eaLnBrk="1" hangingPunct="1"/>
              <a:endParaRPr lang="en-US" altLang="zh-CN" sz="3600" b="1" dirty="0">
                <a:solidFill>
                  <a:schemeClr val="bg2"/>
                </a:solidFill>
              </a:endParaRPr>
            </a:p>
          </p:txBody>
        </p:sp>
        <p:sp>
          <p:nvSpPr>
            <p:cNvPr id="119819" name="Text Box 12"/>
            <p:cNvSpPr txBox="1">
              <a:spLocks noChangeArrowheads="1"/>
            </p:cNvSpPr>
            <p:nvPr/>
          </p:nvSpPr>
          <p:spPr bwMode="auto">
            <a:xfrm>
              <a:off x="4709" y="5993"/>
              <a:ext cx="1065" cy="369"/>
            </a:xfrm>
            <a:prstGeom prst="rect">
              <a:avLst/>
            </a:prstGeom>
            <a:solidFill>
              <a:srgbClr val="FFFFD1"/>
            </a:solidFill>
            <a:ln w="28575">
              <a:solidFill>
                <a:srgbClr val="9966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 dirty="0" err="1"/>
                <a:t>ArrayList</a:t>
              </a:r>
              <a:endParaRPr lang="en-US" altLang="zh-CN" sz="1600" b="1" dirty="0"/>
            </a:p>
          </p:txBody>
        </p:sp>
        <p:sp>
          <p:nvSpPr>
            <p:cNvPr id="119820" name="Text Box 13"/>
            <p:cNvSpPr txBox="1">
              <a:spLocks noChangeArrowheads="1"/>
            </p:cNvSpPr>
            <p:nvPr/>
          </p:nvSpPr>
          <p:spPr bwMode="auto">
            <a:xfrm>
              <a:off x="3632" y="6808"/>
              <a:ext cx="900" cy="369"/>
            </a:xfrm>
            <a:prstGeom prst="rect">
              <a:avLst/>
            </a:prstGeom>
            <a:solidFill>
              <a:srgbClr val="FFFFD1"/>
            </a:solidFill>
            <a:ln w="28575">
              <a:solidFill>
                <a:srgbClr val="9966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/>
                <a:t>Stack</a:t>
              </a:r>
            </a:p>
          </p:txBody>
        </p:sp>
        <p:sp>
          <p:nvSpPr>
            <p:cNvPr id="119821" name="AutoShape 14"/>
            <p:cNvSpPr>
              <a:spLocks noChangeArrowheads="1"/>
            </p:cNvSpPr>
            <p:nvPr/>
          </p:nvSpPr>
          <p:spPr bwMode="auto">
            <a:xfrm>
              <a:off x="3366" y="3744"/>
              <a:ext cx="152" cy="123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28575">
              <a:solidFill>
                <a:srgbClr val="9966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9822" name="AutoShape 15"/>
            <p:cNvSpPr>
              <a:spLocks noChangeArrowheads="1"/>
            </p:cNvSpPr>
            <p:nvPr/>
          </p:nvSpPr>
          <p:spPr bwMode="auto">
            <a:xfrm>
              <a:off x="5115" y="3154"/>
              <a:ext cx="152" cy="122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28575">
              <a:solidFill>
                <a:srgbClr val="9966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9823" name="Line 16"/>
            <p:cNvSpPr>
              <a:spLocks noChangeShapeType="1"/>
            </p:cNvSpPr>
            <p:nvPr/>
          </p:nvSpPr>
          <p:spPr bwMode="auto">
            <a:xfrm flipV="1">
              <a:off x="5188" y="3276"/>
              <a:ext cx="0" cy="662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24" name="Line 17"/>
            <p:cNvSpPr>
              <a:spLocks noChangeShapeType="1"/>
            </p:cNvSpPr>
            <p:nvPr/>
          </p:nvSpPr>
          <p:spPr bwMode="auto">
            <a:xfrm>
              <a:off x="3442" y="3874"/>
              <a:ext cx="0" cy="1051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25" name="Text Box 18"/>
            <p:cNvSpPr txBox="1">
              <a:spLocks noChangeArrowheads="1"/>
            </p:cNvSpPr>
            <p:nvPr/>
          </p:nvSpPr>
          <p:spPr bwMode="auto">
            <a:xfrm>
              <a:off x="2960" y="3324"/>
              <a:ext cx="938" cy="408"/>
            </a:xfrm>
            <a:prstGeom prst="rect">
              <a:avLst/>
            </a:prstGeom>
            <a:solidFill>
              <a:srgbClr val="CC99FF"/>
            </a:solidFill>
            <a:ln w="28575">
              <a:solidFill>
                <a:srgbClr val="9966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/>
                <a:t>List</a:t>
              </a:r>
            </a:p>
            <a:p>
              <a:pPr eaLnBrk="1" hangingPunct="1"/>
              <a:endParaRPr lang="en-US" altLang="zh-CN" sz="3600" b="1">
                <a:solidFill>
                  <a:schemeClr val="bg2"/>
                </a:solidFill>
              </a:endParaRPr>
            </a:p>
          </p:txBody>
        </p:sp>
        <p:sp>
          <p:nvSpPr>
            <p:cNvPr id="119826" name="Text Box 19"/>
            <p:cNvSpPr txBox="1">
              <a:spLocks noChangeArrowheads="1"/>
            </p:cNvSpPr>
            <p:nvPr/>
          </p:nvSpPr>
          <p:spPr bwMode="auto">
            <a:xfrm>
              <a:off x="7295" y="3335"/>
              <a:ext cx="951" cy="409"/>
            </a:xfrm>
            <a:prstGeom prst="rect">
              <a:avLst/>
            </a:prstGeom>
            <a:solidFill>
              <a:srgbClr val="CC99FF"/>
            </a:solidFill>
            <a:ln w="28575">
              <a:solidFill>
                <a:srgbClr val="9966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/>
                <a:t>Set</a:t>
              </a:r>
            </a:p>
            <a:p>
              <a:pPr eaLnBrk="1" hangingPunct="1"/>
              <a:endParaRPr lang="en-US" altLang="zh-CN" sz="3600" b="1">
                <a:solidFill>
                  <a:schemeClr val="bg2"/>
                </a:solidFill>
              </a:endParaRPr>
            </a:p>
          </p:txBody>
        </p:sp>
        <p:sp>
          <p:nvSpPr>
            <p:cNvPr id="119827" name="Text Box 20"/>
            <p:cNvSpPr txBox="1">
              <a:spLocks noChangeArrowheads="1"/>
            </p:cNvSpPr>
            <p:nvPr/>
          </p:nvSpPr>
          <p:spPr bwMode="auto">
            <a:xfrm>
              <a:off x="7126" y="4044"/>
              <a:ext cx="1158" cy="409"/>
            </a:xfrm>
            <a:prstGeom prst="rect">
              <a:avLst/>
            </a:prstGeom>
            <a:solidFill>
              <a:srgbClr val="CC99FF"/>
            </a:solidFill>
            <a:ln w="28575">
              <a:solidFill>
                <a:srgbClr val="9966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/>
                <a:t>SortedSet</a:t>
              </a:r>
            </a:p>
            <a:p>
              <a:pPr eaLnBrk="1" hangingPunct="1"/>
              <a:endParaRPr lang="en-US" altLang="zh-CN" sz="3600" b="1">
                <a:solidFill>
                  <a:schemeClr val="bg2"/>
                </a:solidFill>
              </a:endParaRPr>
            </a:p>
          </p:txBody>
        </p:sp>
        <p:sp>
          <p:nvSpPr>
            <p:cNvPr id="119828" name="Text Box 21"/>
            <p:cNvSpPr txBox="1">
              <a:spLocks noChangeArrowheads="1"/>
            </p:cNvSpPr>
            <p:nvPr/>
          </p:nvSpPr>
          <p:spPr bwMode="auto">
            <a:xfrm>
              <a:off x="6456" y="4836"/>
              <a:ext cx="1344" cy="385"/>
            </a:xfrm>
            <a:prstGeom prst="rect">
              <a:avLst/>
            </a:prstGeom>
            <a:solidFill>
              <a:srgbClr val="99FF99"/>
            </a:solidFill>
            <a:ln w="28575">
              <a:solidFill>
                <a:srgbClr val="9966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/>
                <a:t>AbstractSet</a:t>
              </a:r>
            </a:p>
            <a:p>
              <a:pPr algn="just" eaLnBrk="1" hangingPunct="1"/>
              <a:endParaRPr lang="en-US" altLang="zh-CN" sz="1400" b="1">
                <a:solidFill>
                  <a:schemeClr val="bg2"/>
                </a:solidFill>
              </a:endParaRPr>
            </a:p>
            <a:p>
              <a:pPr eaLnBrk="1" hangingPunct="1"/>
              <a:endParaRPr lang="en-US" altLang="zh-CN" sz="3600" b="1">
                <a:solidFill>
                  <a:schemeClr val="bg2"/>
                </a:solidFill>
              </a:endParaRPr>
            </a:p>
          </p:txBody>
        </p:sp>
        <p:sp>
          <p:nvSpPr>
            <p:cNvPr id="119829" name="Text Box 22"/>
            <p:cNvSpPr txBox="1">
              <a:spLocks noChangeArrowheads="1"/>
            </p:cNvSpPr>
            <p:nvPr/>
          </p:nvSpPr>
          <p:spPr bwMode="auto">
            <a:xfrm>
              <a:off x="3236" y="4859"/>
              <a:ext cx="1471" cy="385"/>
            </a:xfrm>
            <a:prstGeom prst="rect">
              <a:avLst/>
            </a:prstGeom>
            <a:solidFill>
              <a:srgbClr val="99FF99"/>
            </a:solidFill>
            <a:ln w="28575">
              <a:solidFill>
                <a:srgbClr val="9966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/>
                <a:t>AbstractList</a:t>
              </a:r>
            </a:p>
            <a:p>
              <a:pPr algn="just" eaLnBrk="1" hangingPunct="1"/>
              <a:endParaRPr lang="en-US" altLang="zh-CN" sz="1400" b="1">
                <a:solidFill>
                  <a:schemeClr val="bg2"/>
                </a:solidFill>
              </a:endParaRPr>
            </a:p>
            <a:p>
              <a:pPr eaLnBrk="1" hangingPunct="1"/>
              <a:endParaRPr lang="en-US" altLang="zh-CN" sz="3600" b="1">
                <a:solidFill>
                  <a:schemeClr val="bg2"/>
                </a:solidFill>
              </a:endParaRPr>
            </a:p>
          </p:txBody>
        </p:sp>
        <p:sp>
          <p:nvSpPr>
            <p:cNvPr id="119830" name="Text Box 23"/>
            <p:cNvSpPr txBox="1">
              <a:spLocks noChangeArrowheads="1"/>
            </p:cNvSpPr>
            <p:nvPr/>
          </p:nvSpPr>
          <p:spPr bwMode="auto">
            <a:xfrm>
              <a:off x="1156" y="5980"/>
              <a:ext cx="2270" cy="386"/>
            </a:xfrm>
            <a:prstGeom prst="rect">
              <a:avLst/>
            </a:prstGeom>
            <a:solidFill>
              <a:srgbClr val="99FF99"/>
            </a:solidFill>
            <a:ln w="28575">
              <a:solidFill>
                <a:srgbClr val="9966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 dirty="0" err="1"/>
                <a:t>AbstractSequentialList</a:t>
              </a:r>
              <a:endParaRPr lang="en-US" altLang="zh-CN" sz="1600" b="1" dirty="0"/>
            </a:p>
            <a:p>
              <a:pPr algn="just" eaLnBrk="1" hangingPunct="1"/>
              <a:endParaRPr lang="en-US" altLang="zh-CN" sz="1400" b="1" dirty="0">
                <a:solidFill>
                  <a:schemeClr val="bg2"/>
                </a:solidFill>
              </a:endParaRPr>
            </a:p>
            <a:p>
              <a:pPr algn="just" eaLnBrk="1" hangingPunct="1"/>
              <a:endParaRPr lang="en-US" altLang="zh-CN" sz="1400" b="1" dirty="0">
                <a:solidFill>
                  <a:schemeClr val="bg2"/>
                </a:solidFill>
              </a:endParaRPr>
            </a:p>
            <a:p>
              <a:pPr eaLnBrk="1" hangingPunct="1"/>
              <a:endParaRPr lang="en-US" altLang="zh-CN" sz="3600" b="1" dirty="0">
                <a:solidFill>
                  <a:schemeClr val="bg2"/>
                </a:solidFill>
              </a:endParaRPr>
            </a:p>
          </p:txBody>
        </p:sp>
        <p:sp>
          <p:nvSpPr>
            <p:cNvPr id="119831" name="Line 24"/>
            <p:cNvSpPr>
              <a:spLocks noChangeShapeType="1"/>
            </p:cNvSpPr>
            <p:nvPr/>
          </p:nvSpPr>
          <p:spPr bwMode="auto">
            <a:xfrm>
              <a:off x="3399" y="2956"/>
              <a:ext cx="0" cy="378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32" name="Line 25"/>
            <p:cNvSpPr>
              <a:spLocks noChangeShapeType="1"/>
            </p:cNvSpPr>
            <p:nvPr/>
          </p:nvSpPr>
          <p:spPr bwMode="auto">
            <a:xfrm>
              <a:off x="3387" y="2956"/>
              <a:ext cx="1102" cy="0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33" name="Text Box 26"/>
            <p:cNvSpPr txBox="1">
              <a:spLocks noChangeArrowheads="1"/>
            </p:cNvSpPr>
            <p:nvPr/>
          </p:nvSpPr>
          <p:spPr bwMode="auto">
            <a:xfrm>
              <a:off x="5989" y="6005"/>
              <a:ext cx="1065" cy="369"/>
            </a:xfrm>
            <a:prstGeom prst="rect">
              <a:avLst/>
            </a:prstGeom>
            <a:solidFill>
              <a:srgbClr val="FFFFD1"/>
            </a:solidFill>
            <a:ln w="28575">
              <a:solidFill>
                <a:srgbClr val="9966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 dirty="0"/>
                <a:t>HashSet</a:t>
              </a:r>
            </a:p>
          </p:txBody>
        </p:sp>
        <p:sp>
          <p:nvSpPr>
            <p:cNvPr id="119834" name="Text Box 27"/>
            <p:cNvSpPr txBox="1">
              <a:spLocks noChangeArrowheads="1"/>
            </p:cNvSpPr>
            <p:nvPr/>
          </p:nvSpPr>
          <p:spPr bwMode="auto">
            <a:xfrm>
              <a:off x="7244" y="6005"/>
              <a:ext cx="1065" cy="369"/>
            </a:xfrm>
            <a:prstGeom prst="rect">
              <a:avLst/>
            </a:prstGeom>
            <a:solidFill>
              <a:srgbClr val="FFFFD1"/>
            </a:solidFill>
            <a:ln w="28575">
              <a:solidFill>
                <a:srgbClr val="9966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/>
                <a:t>TreeSet</a:t>
              </a:r>
            </a:p>
          </p:txBody>
        </p:sp>
        <p:sp>
          <p:nvSpPr>
            <p:cNvPr id="119835" name="Text Box 28"/>
            <p:cNvSpPr txBox="1">
              <a:spLocks noChangeArrowheads="1"/>
            </p:cNvSpPr>
            <p:nvPr/>
          </p:nvSpPr>
          <p:spPr bwMode="auto">
            <a:xfrm>
              <a:off x="1870" y="6808"/>
              <a:ext cx="1217" cy="369"/>
            </a:xfrm>
            <a:prstGeom prst="rect">
              <a:avLst/>
            </a:prstGeom>
            <a:solidFill>
              <a:srgbClr val="FFFFD1"/>
            </a:solidFill>
            <a:ln w="28575">
              <a:solidFill>
                <a:srgbClr val="9966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 dirty="0"/>
                <a:t>LinkedList</a:t>
              </a:r>
            </a:p>
            <a:p>
              <a:pPr algn="just" eaLnBrk="1" hangingPunct="1"/>
              <a:endParaRPr lang="en-US" altLang="zh-CN" sz="1400" b="1" dirty="0">
                <a:solidFill>
                  <a:schemeClr val="bg2"/>
                </a:solidFill>
              </a:endParaRPr>
            </a:p>
            <a:p>
              <a:pPr algn="just" eaLnBrk="1" hangingPunct="1"/>
              <a:endParaRPr lang="en-US" altLang="zh-CN" sz="1400" b="1" dirty="0">
                <a:solidFill>
                  <a:schemeClr val="bg2"/>
                </a:solidFill>
              </a:endParaRPr>
            </a:p>
            <a:p>
              <a:pPr algn="just" eaLnBrk="1" hangingPunct="1"/>
              <a:endParaRPr lang="en-US" altLang="zh-CN" sz="1400" b="1" dirty="0">
                <a:solidFill>
                  <a:schemeClr val="bg2"/>
                </a:solidFill>
              </a:endParaRPr>
            </a:p>
            <a:p>
              <a:pPr algn="just" eaLnBrk="1" hangingPunct="1"/>
              <a:endParaRPr lang="en-US" altLang="zh-CN" sz="1400" b="1" dirty="0">
                <a:solidFill>
                  <a:schemeClr val="bg2"/>
                </a:solidFill>
              </a:endParaRPr>
            </a:p>
            <a:p>
              <a:pPr eaLnBrk="1" hangingPunct="1"/>
              <a:endParaRPr lang="en-US" altLang="zh-CN" sz="3600" b="1" dirty="0">
                <a:solidFill>
                  <a:schemeClr val="bg2"/>
                </a:solidFill>
              </a:endParaRPr>
            </a:p>
          </p:txBody>
        </p:sp>
        <p:sp>
          <p:nvSpPr>
            <p:cNvPr id="119836" name="Line 29"/>
            <p:cNvSpPr>
              <a:spLocks noChangeShapeType="1"/>
            </p:cNvSpPr>
            <p:nvPr/>
          </p:nvSpPr>
          <p:spPr bwMode="auto">
            <a:xfrm flipV="1">
              <a:off x="4071" y="6370"/>
              <a:ext cx="0" cy="425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37" name="Line 30"/>
            <p:cNvSpPr>
              <a:spLocks noChangeShapeType="1"/>
            </p:cNvSpPr>
            <p:nvPr/>
          </p:nvSpPr>
          <p:spPr bwMode="auto">
            <a:xfrm flipV="1">
              <a:off x="2474" y="6370"/>
              <a:ext cx="0" cy="437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38" name="Line 31"/>
            <p:cNvSpPr>
              <a:spLocks noChangeShapeType="1"/>
            </p:cNvSpPr>
            <p:nvPr/>
          </p:nvSpPr>
          <p:spPr bwMode="auto">
            <a:xfrm>
              <a:off x="2423" y="5673"/>
              <a:ext cx="0" cy="307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39" name="Line 32"/>
            <p:cNvSpPr>
              <a:spLocks noChangeShapeType="1"/>
            </p:cNvSpPr>
            <p:nvPr/>
          </p:nvSpPr>
          <p:spPr bwMode="auto">
            <a:xfrm>
              <a:off x="3982" y="5673"/>
              <a:ext cx="0" cy="319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40" name="Line 33"/>
            <p:cNvSpPr>
              <a:spLocks noChangeShapeType="1"/>
            </p:cNvSpPr>
            <p:nvPr/>
          </p:nvSpPr>
          <p:spPr bwMode="auto">
            <a:xfrm>
              <a:off x="5212" y="5673"/>
              <a:ext cx="0" cy="319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41" name="Line 34"/>
            <p:cNvSpPr>
              <a:spLocks noChangeShapeType="1"/>
            </p:cNvSpPr>
            <p:nvPr/>
          </p:nvSpPr>
          <p:spPr bwMode="auto">
            <a:xfrm>
              <a:off x="2423" y="5673"/>
              <a:ext cx="2789" cy="0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42" name="Line 35"/>
            <p:cNvSpPr>
              <a:spLocks noChangeShapeType="1"/>
            </p:cNvSpPr>
            <p:nvPr/>
          </p:nvSpPr>
          <p:spPr bwMode="auto">
            <a:xfrm>
              <a:off x="6480" y="5649"/>
              <a:ext cx="1242" cy="0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43" name="Line 36"/>
            <p:cNvSpPr>
              <a:spLocks noChangeShapeType="1"/>
            </p:cNvSpPr>
            <p:nvPr/>
          </p:nvSpPr>
          <p:spPr bwMode="auto">
            <a:xfrm>
              <a:off x="6480" y="5649"/>
              <a:ext cx="0" cy="354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44" name="Line 37"/>
            <p:cNvSpPr>
              <a:spLocks noChangeShapeType="1"/>
            </p:cNvSpPr>
            <p:nvPr/>
          </p:nvSpPr>
          <p:spPr bwMode="auto">
            <a:xfrm>
              <a:off x="7735" y="5649"/>
              <a:ext cx="0" cy="354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45" name="Line 38"/>
            <p:cNvSpPr>
              <a:spLocks noChangeShapeType="1"/>
            </p:cNvSpPr>
            <p:nvPr/>
          </p:nvSpPr>
          <p:spPr bwMode="auto">
            <a:xfrm flipV="1">
              <a:off x="3982" y="5259"/>
              <a:ext cx="0" cy="437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46" name="Line 39"/>
            <p:cNvSpPr>
              <a:spLocks noChangeShapeType="1"/>
            </p:cNvSpPr>
            <p:nvPr/>
          </p:nvSpPr>
          <p:spPr bwMode="auto">
            <a:xfrm flipV="1">
              <a:off x="7126" y="5236"/>
              <a:ext cx="0" cy="413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47" name="Line 40"/>
            <p:cNvSpPr>
              <a:spLocks noChangeShapeType="1"/>
            </p:cNvSpPr>
            <p:nvPr/>
          </p:nvSpPr>
          <p:spPr bwMode="auto">
            <a:xfrm>
              <a:off x="3957" y="4610"/>
              <a:ext cx="2751" cy="0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48" name="Line 41"/>
            <p:cNvSpPr>
              <a:spLocks noChangeShapeType="1"/>
            </p:cNvSpPr>
            <p:nvPr/>
          </p:nvSpPr>
          <p:spPr bwMode="auto">
            <a:xfrm>
              <a:off x="3957" y="4610"/>
              <a:ext cx="0" cy="259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49" name="Line 42"/>
            <p:cNvSpPr>
              <a:spLocks noChangeShapeType="1"/>
            </p:cNvSpPr>
            <p:nvPr/>
          </p:nvSpPr>
          <p:spPr bwMode="auto">
            <a:xfrm>
              <a:off x="6720" y="4598"/>
              <a:ext cx="0" cy="236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50" name="Line 43"/>
            <p:cNvSpPr>
              <a:spLocks noChangeShapeType="1"/>
            </p:cNvSpPr>
            <p:nvPr/>
          </p:nvSpPr>
          <p:spPr bwMode="auto">
            <a:xfrm flipV="1">
              <a:off x="5212" y="4338"/>
              <a:ext cx="0" cy="283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51" name="Line 44"/>
            <p:cNvSpPr>
              <a:spLocks noChangeShapeType="1"/>
            </p:cNvSpPr>
            <p:nvPr/>
          </p:nvSpPr>
          <p:spPr bwMode="auto">
            <a:xfrm>
              <a:off x="6902" y="3548"/>
              <a:ext cx="0" cy="1311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52" name="Line 45"/>
            <p:cNvSpPr>
              <a:spLocks noChangeShapeType="1"/>
            </p:cNvSpPr>
            <p:nvPr/>
          </p:nvSpPr>
          <p:spPr bwMode="auto">
            <a:xfrm flipV="1">
              <a:off x="6915" y="3543"/>
              <a:ext cx="253" cy="0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9853" name="Group 46"/>
            <p:cNvGrpSpPr>
              <a:grpSpLocks/>
            </p:cNvGrpSpPr>
            <p:nvPr/>
          </p:nvGrpSpPr>
          <p:grpSpPr bwMode="auto">
            <a:xfrm>
              <a:off x="7139" y="3464"/>
              <a:ext cx="152" cy="177"/>
              <a:chOff x="8175" y="3780"/>
              <a:chExt cx="180" cy="225"/>
            </a:xfrm>
          </p:grpSpPr>
          <p:sp>
            <p:nvSpPr>
              <p:cNvPr id="119861" name="Line 47"/>
              <p:cNvSpPr>
                <a:spLocks noChangeShapeType="1"/>
              </p:cNvSpPr>
              <p:nvPr/>
            </p:nvSpPr>
            <p:spPr bwMode="auto">
              <a:xfrm>
                <a:off x="8175" y="3795"/>
                <a:ext cx="0" cy="195"/>
              </a:xfrm>
              <a:prstGeom prst="line">
                <a:avLst/>
              </a:prstGeom>
              <a:noFill/>
              <a:ln w="28575">
                <a:solidFill>
                  <a:srgbClr val="99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862" name="Line 48"/>
              <p:cNvSpPr>
                <a:spLocks noChangeShapeType="1"/>
              </p:cNvSpPr>
              <p:nvPr/>
            </p:nvSpPr>
            <p:spPr bwMode="auto">
              <a:xfrm>
                <a:off x="8175" y="3780"/>
                <a:ext cx="165" cy="105"/>
              </a:xfrm>
              <a:prstGeom prst="line">
                <a:avLst/>
              </a:prstGeom>
              <a:noFill/>
              <a:ln w="28575">
                <a:solidFill>
                  <a:srgbClr val="99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863" name="Line 49"/>
              <p:cNvSpPr>
                <a:spLocks noChangeShapeType="1"/>
              </p:cNvSpPr>
              <p:nvPr/>
            </p:nvSpPr>
            <p:spPr bwMode="auto">
              <a:xfrm flipV="1">
                <a:off x="8175" y="3900"/>
                <a:ext cx="180" cy="105"/>
              </a:xfrm>
              <a:prstGeom prst="line">
                <a:avLst/>
              </a:prstGeom>
              <a:noFill/>
              <a:ln w="28575">
                <a:solidFill>
                  <a:srgbClr val="99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9854" name="Group 50"/>
            <p:cNvGrpSpPr>
              <a:grpSpLocks/>
            </p:cNvGrpSpPr>
            <p:nvPr/>
          </p:nvGrpSpPr>
          <p:grpSpPr bwMode="auto">
            <a:xfrm>
              <a:off x="8267" y="4173"/>
              <a:ext cx="152" cy="177"/>
              <a:chOff x="9480" y="3780"/>
              <a:chExt cx="180" cy="225"/>
            </a:xfrm>
          </p:grpSpPr>
          <p:sp>
            <p:nvSpPr>
              <p:cNvPr id="119858" name="Line 51"/>
              <p:cNvSpPr>
                <a:spLocks noChangeShapeType="1"/>
              </p:cNvSpPr>
              <p:nvPr/>
            </p:nvSpPr>
            <p:spPr bwMode="auto">
              <a:xfrm>
                <a:off x="9660" y="3780"/>
                <a:ext cx="0" cy="225"/>
              </a:xfrm>
              <a:prstGeom prst="line">
                <a:avLst/>
              </a:prstGeom>
              <a:noFill/>
              <a:ln w="28575">
                <a:solidFill>
                  <a:srgbClr val="99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859" name="Line 52"/>
              <p:cNvSpPr>
                <a:spLocks noChangeShapeType="1"/>
              </p:cNvSpPr>
              <p:nvPr/>
            </p:nvSpPr>
            <p:spPr bwMode="auto">
              <a:xfrm flipH="1" flipV="1">
                <a:off x="9495" y="3900"/>
                <a:ext cx="165" cy="105"/>
              </a:xfrm>
              <a:prstGeom prst="line">
                <a:avLst/>
              </a:prstGeom>
              <a:noFill/>
              <a:ln w="28575">
                <a:solidFill>
                  <a:srgbClr val="99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860" name="Line 53"/>
              <p:cNvSpPr>
                <a:spLocks noChangeShapeType="1"/>
              </p:cNvSpPr>
              <p:nvPr/>
            </p:nvSpPr>
            <p:spPr bwMode="auto">
              <a:xfrm flipH="1">
                <a:off x="9480" y="3780"/>
                <a:ext cx="180" cy="120"/>
              </a:xfrm>
              <a:prstGeom prst="line">
                <a:avLst/>
              </a:prstGeom>
              <a:noFill/>
              <a:ln w="28575">
                <a:solidFill>
                  <a:srgbClr val="99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9855" name="Line 54"/>
            <p:cNvSpPr>
              <a:spLocks noChangeShapeType="1"/>
            </p:cNvSpPr>
            <p:nvPr/>
          </p:nvSpPr>
          <p:spPr bwMode="auto">
            <a:xfrm flipV="1">
              <a:off x="7798" y="3747"/>
              <a:ext cx="0" cy="296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56" name="Line 55"/>
            <p:cNvSpPr>
              <a:spLocks noChangeShapeType="1"/>
            </p:cNvSpPr>
            <p:nvPr/>
          </p:nvSpPr>
          <p:spPr bwMode="auto">
            <a:xfrm flipV="1">
              <a:off x="7773" y="2956"/>
              <a:ext cx="0" cy="390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57" name="Line 56"/>
            <p:cNvSpPr>
              <a:spLocks noChangeShapeType="1"/>
            </p:cNvSpPr>
            <p:nvPr/>
          </p:nvSpPr>
          <p:spPr bwMode="auto">
            <a:xfrm flipH="1">
              <a:off x="5833" y="2956"/>
              <a:ext cx="1940" cy="0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56" name="直接连接符 5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7.2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集合框架</a:t>
            </a:r>
          </a:p>
        </p:txBody>
      </p:sp>
      <p:sp>
        <p:nvSpPr>
          <p:cNvPr id="120835" name="内容占位符 2"/>
          <p:cNvSpPr>
            <a:spLocks noGrp="1"/>
          </p:cNvSpPr>
          <p:nvPr>
            <p:ph idx="1"/>
          </p:nvPr>
        </p:nvSpPr>
        <p:spPr>
          <a:xfrm>
            <a:off x="468313" y="981076"/>
            <a:ext cx="7776095" cy="4680172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Collection</a:t>
            </a:r>
            <a:r>
              <a:rPr lang="zh-CN" altLang="en-US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接口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声明了一组操作成批对象的抽象方法：查询方法、修改方法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查询方法</a:t>
            </a:r>
          </a:p>
          <a:p>
            <a:pPr lvl="2">
              <a:lnSpc>
                <a:spcPct val="120000"/>
              </a:lnSpc>
            </a:pPr>
            <a:r>
              <a:rPr lang="en-US" altLang="zh-CN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size()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返回集合对象中包含的元素个数，即集合大小</a:t>
            </a:r>
          </a:p>
          <a:p>
            <a:pPr lvl="2">
              <a:lnSpc>
                <a:spcPct val="120000"/>
              </a:lnSpc>
            </a:pPr>
            <a:r>
              <a:rPr lang="en-US" altLang="zh-CN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boolean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isEmpty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()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判断集合对象中是否还包含元素，如果没有任何元素，则返回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true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20000"/>
              </a:lnSpc>
            </a:pPr>
            <a:r>
              <a:rPr lang="en-US" altLang="zh-CN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boolean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contains(Object </a:t>
            </a:r>
            <a:r>
              <a:rPr lang="en-US" altLang="zh-CN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obj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判断对象是否在集合中</a:t>
            </a:r>
          </a:p>
          <a:p>
            <a:pPr lvl="2">
              <a:lnSpc>
                <a:spcPct val="120000"/>
              </a:lnSpc>
            </a:pPr>
            <a:r>
              <a:rPr lang="en-US" altLang="zh-CN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boolean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containsAll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(Collection c)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判断方法的接收者对象是否包含集合中的所有元素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8672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7.2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集合框架</a:t>
            </a:r>
            <a:endParaRPr lang="zh-CN" altLang="en-US" sz="32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185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Collection</a:t>
            </a:r>
            <a:r>
              <a:rPr lang="zh-CN" altLang="en-US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接口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修改方法包括</a:t>
            </a:r>
          </a:p>
          <a:p>
            <a:pPr lvl="2">
              <a:lnSpc>
                <a:spcPct val="120000"/>
              </a:lnSpc>
            </a:pPr>
            <a:r>
              <a:rPr lang="en-US" altLang="zh-CN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boolean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add(Object </a:t>
            </a:r>
            <a:r>
              <a:rPr lang="en-US" altLang="zh-CN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obj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向集合中增加对象</a:t>
            </a:r>
          </a:p>
          <a:p>
            <a:pPr lvl="2">
              <a:lnSpc>
                <a:spcPct val="120000"/>
              </a:lnSpc>
            </a:pPr>
            <a:r>
              <a:rPr lang="en-US" altLang="zh-CN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boolean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addAll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(Collection c)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–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将参数集合中的所有元素增加到接收者集合中</a:t>
            </a:r>
          </a:p>
          <a:p>
            <a:pPr lvl="2">
              <a:lnSpc>
                <a:spcPct val="120000"/>
              </a:lnSpc>
            </a:pPr>
            <a:r>
              <a:rPr lang="en-US" altLang="zh-CN" dirty="0" err="1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boolean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remove(Object </a:t>
            </a:r>
            <a:r>
              <a:rPr lang="en-US" altLang="zh-CN" dirty="0" err="1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obj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从集合中删除对象</a:t>
            </a:r>
          </a:p>
          <a:p>
            <a:pPr lvl="2">
              <a:lnSpc>
                <a:spcPct val="120000"/>
              </a:lnSpc>
            </a:pPr>
            <a:r>
              <a:rPr lang="en-US" altLang="zh-CN" dirty="0" err="1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boolean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removeAll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(Collection c)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将参数集合中的所有元素从接收者集合中删除</a:t>
            </a:r>
          </a:p>
          <a:p>
            <a:pPr lvl="2">
              <a:lnSpc>
                <a:spcPct val="120000"/>
              </a:lnSpc>
            </a:pPr>
            <a:r>
              <a:rPr lang="en-US" altLang="zh-CN" dirty="0" err="1">
                <a:solidFill>
                  <a:srgbClr val="CC66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boolean</a:t>
            </a:r>
            <a:r>
              <a:rPr lang="en-US" altLang="zh-CN" dirty="0">
                <a:solidFill>
                  <a:srgbClr val="CC66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CC66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retainAll</a:t>
            </a:r>
            <a:r>
              <a:rPr lang="en-US" altLang="zh-CN" dirty="0">
                <a:solidFill>
                  <a:srgbClr val="CC66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(Collection c)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在接收者集合中保留参数集合中的所有元素，其它元素都删除</a:t>
            </a:r>
          </a:p>
          <a:p>
            <a:pPr lvl="2">
              <a:lnSpc>
                <a:spcPct val="120000"/>
              </a:lnSpc>
            </a:pP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void clear()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删除集合中的所有元素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20000"/>
              </a:lnSpc>
            </a:pP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toArray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()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集合转换为数组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18136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7.2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集合框架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125955" name="内容占位符 2"/>
          <p:cNvSpPr>
            <a:spLocks noGrp="1"/>
          </p:cNvSpPr>
          <p:nvPr>
            <p:ph idx="1"/>
          </p:nvPr>
        </p:nvSpPr>
        <p:spPr>
          <a:xfrm>
            <a:off x="468312" y="981075"/>
            <a:ext cx="8352159" cy="51847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接口的实现</a:t>
            </a:r>
          </a:p>
          <a:p>
            <a:pPr lvl="1">
              <a:lnSpc>
                <a:spcPct val="110000"/>
              </a:lnSpc>
            </a:pP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Collection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没有直接的实现，只是作为其他集合接口的根</a:t>
            </a:r>
          </a:p>
          <a:p>
            <a:pPr lvl="1">
              <a:lnSpc>
                <a:spcPct val="11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除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Collection 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以外，其余五个接口都有实现</a:t>
            </a:r>
          </a:p>
          <a:p>
            <a:pPr lvl="1">
              <a:lnSpc>
                <a:spcPct val="11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主要的实现有</a:t>
            </a:r>
          </a:p>
          <a:p>
            <a:pPr lvl="2">
              <a:lnSpc>
                <a:spcPct val="11000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Set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HashSet</a:t>
            </a:r>
          </a:p>
          <a:p>
            <a:pPr lvl="2">
              <a:lnSpc>
                <a:spcPct val="110000"/>
              </a:lnSpc>
            </a:pP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SortedSet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TreeSet</a:t>
            </a: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1000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List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 Vector / 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ArrayList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/ LinkedList</a:t>
            </a:r>
          </a:p>
          <a:p>
            <a:pPr lvl="2">
              <a:lnSpc>
                <a:spcPct val="11000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Map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HashMap</a:t>
            </a:r>
          </a:p>
          <a:p>
            <a:pPr lvl="2">
              <a:lnSpc>
                <a:spcPct val="110000"/>
              </a:lnSpc>
            </a:pP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SortedMap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TreeMap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8534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7.2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集合框架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12390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List</a:t>
            </a:r>
            <a:r>
              <a:rPr lang="zh-CN" altLang="en-US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接口</a:t>
            </a: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扩展了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Collection</a:t>
            </a:r>
          </a:p>
          <a:p>
            <a:pPr lvl="1"/>
            <a:r>
              <a:rPr lang="zh-CN" altLang="en-US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可包含重复元素</a:t>
            </a:r>
          </a:p>
          <a:p>
            <a:pPr lvl="1"/>
            <a:r>
              <a:rPr lang="zh-CN" altLang="en-US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元素是有顺序的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，每个元素都有一个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index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值（从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开始）标明元素在列表中的位置</a:t>
            </a: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实现它的两个主要类是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/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ArrayList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：一种类似数组的形式进行存储，因此它的随机访问速度极快</a:t>
            </a:r>
          </a:p>
          <a:p>
            <a:pPr lvl="2"/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LinkedList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：内部实现是链表，适合于在链表中间需要频繁进行插入和删除操作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1437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7.2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集合框架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12390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实现</a:t>
            </a:r>
            <a:r>
              <a:rPr lang="en-US" altLang="zh-CN" sz="2000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List</a:t>
            </a:r>
            <a:r>
              <a:rPr lang="zh-CN" altLang="en-US" sz="2000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接口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的四个主要类是</a:t>
            </a:r>
          </a:p>
          <a:p>
            <a:pPr lvl="1">
              <a:lnSpc>
                <a:spcPct val="150000"/>
              </a:lnSpc>
            </a:pPr>
            <a:r>
              <a:rPr lang="en-US" altLang="zh-CN" sz="2000" b="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ArrayList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：内部实现是</a:t>
            </a:r>
            <a:r>
              <a:rPr lang="zh-CN" altLang="en-US" sz="2000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数组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000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查找快，增删慢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  <a:endParaRPr lang="en-US" altLang="zh-CN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4487" lvl="1" indent="0">
              <a:lnSpc>
                <a:spcPct val="150000"/>
              </a:lnSpc>
              <a:buNone/>
            </a:pP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                         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涉及到数组扩容，以及元素拷贝</a:t>
            </a:r>
            <a:endParaRPr lang="en-US" altLang="zh-CN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LinkedList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：内部实现是</a:t>
            </a:r>
            <a:r>
              <a:rPr lang="zh-CN" altLang="en-US" sz="2000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链表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000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查找慢，增删快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4487" lvl="1" indent="0">
              <a:lnSpc>
                <a:spcPct val="150000"/>
              </a:lnSpc>
              <a:buNone/>
            </a:pP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                         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适合于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在链表中间需要频繁进行插入和删除操作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20732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7.2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集合框架</a:t>
            </a:r>
            <a:endParaRPr lang="zh-CN" altLang="en-US" sz="32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288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Set</a:t>
            </a:r>
            <a:r>
              <a:rPr lang="zh-CN" altLang="en-US" sz="2400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接口</a:t>
            </a: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扩展了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Collection</a:t>
            </a:r>
            <a:endParaRPr lang="zh-CN" altLang="en-US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禁止重复的元素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，是数学中“集合”的抽象</a:t>
            </a:r>
            <a:endParaRPr lang="en-US" altLang="zh-CN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无存储顺序</a:t>
            </a: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equals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hashCode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操作有了更强的约定，如果两个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Set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对象包含同样的元素，二者便是相等的</a:t>
            </a: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实现它的两个主要类是哈希集合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HashSet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及树集合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TreeSet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2400" b="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SortedSet</a:t>
            </a:r>
            <a:r>
              <a:rPr lang="zh-CN" altLang="en-US" sz="2400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接口</a:t>
            </a: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一种特殊的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Set</a:t>
            </a: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其中的元素是升序排列的，还增加了与次序相关的操作</a:t>
            </a:r>
          </a:p>
          <a:p>
            <a:pPr lvl="1"/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通常用于存放词汇表这样的内容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90643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7.2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集合框架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12390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实现</a:t>
            </a:r>
            <a:r>
              <a:rPr lang="en-US" altLang="zh-CN" sz="2000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Set</a:t>
            </a:r>
            <a:r>
              <a:rPr lang="zh-CN" altLang="en-US" sz="2000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接口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的三个主要类是</a:t>
            </a:r>
          </a:p>
          <a:p>
            <a:pPr lvl="1">
              <a:lnSpc>
                <a:spcPct val="150000"/>
              </a:lnSpc>
            </a:pPr>
            <a:r>
              <a:rPr lang="en-US" altLang="zh-CN" sz="2000" b="0" dirty="0" err="1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TreeSe</a:t>
            </a:r>
            <a:r>
              <a:rPr lang="en-US" altLang="zh-CN" sz="2000" b="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：元素排序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，树型结构；</a:t>
            </a:r>
            <a:endParaRPr lang="en-US" altLang="zh-CN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HashSet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：元素无序，效率高于</a:t>
            </a:r>
            <a:r>
              <a:rPr lang="en-US" altLang="zh-CN" sz="20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TreeSet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dirty="0" err="1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LinkedHashSet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：保留顺序存储，过滤重复元素</a:t>
            </a:r>
            <a:endParaRPr lang="zh-CN" altLang="en-US" sz="2000" b="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0157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7.2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集合框架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1249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 sz="2400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Map</a:t>
            </a:r>
            <a:r>
              <a:rPr lang="zh-CN" altLang="en-US" sz="2400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接口</a:t>
            </a:r>
          </a:p>
          <a:p>
            <a:pPr lvl="1">
              <a:lnSpc>
                <a:spcPct val="13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不是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Collection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接口的继承</a:t>
            </a:r>
          </a:p>
          <a:p>
            <a:pPr lvl="1">
              <a:lnSpc>
                <a:spcPct val="13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用于维护键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值对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(key/value pairs)</a:t>
            </a:r>
          </a:p>
          <a:p>
            <a:pPr lvl="1">
              <a:lnSpc>
                <a:spcPct val="13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描述了从不重复的键到值的映射，是一个从关键字到值的映射对象</a:t>
            </a:r>
          </a:p>
          <a:p>
            <a:pPr lvl="1">
              <a:lnSpc>
                <a:spcPct val="13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其中不能有重复的关键字，每个关键字最多能够映射到一个值</a:t>
            </a:r>
          </a:p>
          <a:p>
            <a:pPr>
              <a:lnSpc>
                <a:spcPct val="130000"/>
              </a:lnSpc>
            </a:pPr>
            <a:r>
              <a:rPr lang="en-US" altLang="zh-CN" sz="2400" b="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SortedMap</a:t>
            </a:r>
            <a:r>
              <a:rPr lang="zh-CN" altLang="en-US" sz="2400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接口</a:t>
            </a:r>
          </a:p>
          <a:p>
            <a:pPr lvl="1">
              <a:lnSpc>
                <a:spcPct val="13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一种特殊的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Map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，其中的关键字是升序排列的</a:t>
            </a:r>
          </a:p>
          <a:p>
            <a:pPr lvl="1">
              <a:lnSpc>
                <a:spcPct val="13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SortedSet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对等的</a:t>
            </a:r>
            <a:r>
              <a:rPr lang="en-US" altLang="zh-CN" b="0" dirty="0">
                <a:ea typeface="黑体" panose="02010609060101010101" pitchFamily="49" charset="-122"/>
                <a:cs typeface="Times New Roman" panose="02020603050405020304" pitchFamily="18" charset="0"/>
              </a:rPr>
              <a:t>Map</a:t>
            </a: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，通常用于词典和电话目录等 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7.2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集合框架</a:t>
            </a: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4175695" cy="5184775"/>
          </a:xfrm>
        </p:spPr>
        <p:txBody>
          <a:bodyPr/>
          <a:lstStyle/>
          <a:p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集合共性操作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将对象添加到集合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从集合中删除对象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从集合中查找一个对象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ea typeface="黑体" panose="02010609060101010101" pitchFamily="49" charset="-122"/>
                <a:cs typeface="Times New Roman" panose="02020603050405020304" pitchFamily="18" charset="0"/>
              </a:rPr>
              <a:t>从集合中修改一个对象就是增删改查</a:t>
            </a:r>
            <a:endParaRPr lang="en-US" altLang="zh-CN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0" dirty="0">
                <a:ea typeface="黑体" panose="02010609060101010101" pitchFamily="49" charset="-122"/>
                <a:cs typeface="Times New Roman" panose="02020603050405020304" pitchFamily="18" charset="0"/>
              </a:rPr>
              <a:t>注意：</a:t>
            </a:r>
            <a:r>
              <a:rPr lang="zh-CN" altLang="en-US" sz="2400" b="0" dirty="0"/>
              <a:t>集合和数组中存放的都是对象的引用而非对象本身</a:t>
            </a:r>
            <a:endParaRPr lang="en-US" altLang="zh-CN" sz="24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186E6636-3061-4F55-B311-45FED394B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520" y="981075"/>
            <a:ext cx="3600400" cy="366239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6A95089-5D1C-4FA3-A33D-2EC81FC31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006" y="4869160"/>
            <a:ext cx="4175695" cy="906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77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7.2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集合框架</a:t>
            </a: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468313" y="981076"/>
            <a:ext cx="8136135" cy="3023988"/>
          </a:xfrm>
        </p:spPr>
        <p:txBody>
          <a:bodyPr/>
          <a:lstStyle/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使用迭代器遍历集合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Iterator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接口，其定义了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个方法</a:t>
            </a: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US" altLang="zh-CN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US" altLang="zh-CN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200000"/>
              </a:lnSpc>
            </a:pP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所有实现了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Collection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接口的集合对象，都提供了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iterator()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1E584819-94E9-49FD-85E5-9E7B9DEBF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1916832"/>
            <a:ext cx="7344816" cy="140998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F1A430E-7FCB-4618-80FD-112363A617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4" y="4005065"/>
            <a:ext cx="7416824" cy="2114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082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7.2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集合框架</a:t>
            </a: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468313" y="981076"/>
            <a:ext cx="8136135" cy="1439810"/>
          </a:xfrm>
        </p:spPr>
        <p:txBody>
          <a:bodyPr/>
          <a:lstStyle/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使用迭代器遍历集合</a:t>
            </a:r>
          </a:p>
          <a:p>
            <a:pPr lvl="1">
              <a:lnSpc>
                <a:spcPct val="150000"/>
              </a:lnSpc>
            </a:pP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如果在遍历时需要删除集合中的元素，则必须通过迭代器对象的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remove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方法，不能通过集合对象直接删除</a:t>
            </a: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C5AB3186-A5B6-446A-8226-951567CF9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735" y="2527952"/>
            <a:ext cx="8206583" cy="180209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E10FEF4-F9BB-4C5A-97FE-C4289C92D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751" y="4725144"/>
            <a:ext cx="4451330" cy="443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102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7.2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集合框架</a:t>
            </a: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468313" y="981076"/>
            <a:ext cx="8136135" cy="1439810"/>
          </a:xfrm>
        </p:spPr>
        <p:txBody>
          <a:bodyPr/>
          <a:lstStyle/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使用迭代器遍历集合</a:t>
            </a:r>
          </a:p>
          <a:p>
            <a:pPr lvl="1">
              <a:lnSpc>
                <a:spcPct val="150000"/>
              </a:lnSpc>
            </a:pP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如果在遍历时需要删除集合中的元素，则必须通过迭代器对象的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remove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方法，不能通过集合对象直接删除</a:t>
            </a: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2">
            <a:extLst>
              <a:ext uri="{FF2B5EF4-FFF2-40B4-BE49-F238E27FC236}">
                <a16:creationId xmlns:a16="http://schemas.microsoft.com/office/drawing/2014/main" id="{10237196-5BCC-46F5-B35B-003C12675425}"/>
              </a:ext>
            </a:extLst>
          </p:cNvPr>
          <p:cNvSpPr txBox="1"/>
          <p:nvPr/>
        </p:nvSpPr>
        <p:spPr>
          <a:xfrm>
            <a:off x="443057" y="2469686"/>
            <a:ext cx="4686300" cy="572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并发修改异常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878EAE64-E76A-4908-B801-92012F3F1BAF}"/>
              </a:ext>
            </a:extLst>
          </p:cNvPr>
          <p:cNvSpPr txBox="1"/>
          <p:nvPr/>
        </p:nvSpPr>
        <p:spPr>
          <a:xfrm>
            <a:off x="443057" y="3216743"/>
            <a:ext cx="6289183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en-US" altLang="zh-CN" dirty="0" err="1">
                <a:solidFill>
                  <a:prstClr val="black"/>
                </a:solidFill>
                <a:latin typeface="Consolas" panose="020B0609020204030204" pitchFamily="49" charset="0"/>
                <a:ea typeface="黑体"/>
              </a:rPr>
              <a:t>ConcurrentModificationException</a:t>
            </a:r>
            <a:endParaRPr lang="en-US" altLang="zh-CN" sz="1600" dirty="0">
              <a:solidFill>
                <a:prstClr val="black">
                  <a:lumMod val="85000"/>
                  <a:lumOff val="15000"/>
                </a:prstClr>
              </a:solidFill>
              <a:latin typeface="Consolas" panose="020B0609020204030204" pitchFamily="49" charset="0"/>
              <a:ea typeface="微软雅黑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EBB28F7-3F8D-4CAF-BCFC-0AFEF5F42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841" y="4048470"/>
            <a:ext cx="6889077" cy="12193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9F245946-30EB-4059-86C8-B8DD904B2AF3}"/>
              </a:ext>
            </a:extLst>
          </p:cNvPr>
          <p:cNvSpPr txBox="1"/>
          <p:nvPr/>
        </p:nvSpPr>
        <p:spPr>
          <a:xfrm>
            <a:off x="344022" y="5780672"/>
            <a:ext cx="879997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prstClr val="black">
                    <a:lumMod val="95000"/>
                    <a:lumOff val="5000"/>
                  </a:prst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使用迭代器遍历集合的过程中，调用了集合对象的添加，删除方法，就会出现此异常</a:t>
            </a:r>
          </a:p>
        </p:txBody>
      </p:sp>
    </p:spTree>
    <p:extLst>
      <p:ext uri="{BB962C8B-B14F-4D97-AF65-F5344CB8AC3E}">
        <p14:creationId xmlns:p14="http://schemas.microsoft.com/office/powerpoint/2010/main" val="2220106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7.2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集合框架</a:t>
            </a: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468313" y="981076"/>
            <a:ext cx="8136135" cy="1439810"/>
          </a:xfrm>
        </p:spPr>
        <p:txBody>
          <a:bodyPr/>
          <a:lstStyle/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使用迭代器遍历集合</a:t>
            </a:r>
          </a:p>
          <a:p>
            <a:pPr lvl="1">
              <a:lnSpc>
                <a:spcPct val="150000"/>
              </a:lnSpc>
            </a:pP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如果在遍历时需要删除集合中的元素，则必须通过迭代器对象的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remove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方法，不能通过集合对象直接删除</a:t>
            </a: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2">
            <a:extLst>
              <a:ext uri="{FF2B5EF4-FFF2-40B4-BE49-F238E27FC236}">
                <a16:creationId xmlns:a16="http://schemas.microsoft.com/office/drawing/2014/main" id="{10237196-5BCC-46F5-B35B-003C12675425}"/>
              </a:ext>
            </a:extLst>
          </p:cNvPr>
          <p:cNvSpPr txBox="1"/>
          <p:nvPr/>
        </p:nvSpPr>
        <p:spPr>
          <a:xfrm>
            <a:off x="443057" y="2469686"/>
            <a:ext cx="4686300" cy="572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并发修改异常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471B7D8-BECB-4D33-A354-9CCDD1AE26B2}"/>
              </a:ext>
            </a:extLst>
          </p:cNvPr>
          <p:cNvSpPr txBox="1"/>
          <p:nvPr/>
        </p:nvSpPr>
        <p:spPr>
          <a:xfrm>
            <a:off x="179512" y="3573016"/>
            <a:ext cx="867096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prstClr val="black">
                    <a:lumMod val="95000"/>
                    <a:lumOff val="5000"/>
                  </a:prst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使用迭代器遍历集合的过程中，调用了集合对象的添加，删除方法，就会出现此异常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7D442F6-7D9E-4A09-A62D-A5A537A52390}"/>
              </a:ext>
            </a:extLst>
          </p:cNvPr>
          <p:cNvSpPr txBox="1"/>
          <p:nvPr/>
        </p:nvSpPr>
        <p:spPr>
          <a:xfrm>
            <a:off x="179512" y="4254650"/>
            <a:ext cx="6673622" cy="88319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prstClr val="black">
                    <a:lumMod val="95000"/>
                    <a:lumOff val="5000"/>
                  </a:prst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迭代过程中做删除 </a:t>
            </a:r>
            <a:r>
              <a:rPr lang="en-US" altLang="zh-CN" dirty="0">
                <a:solidFill>
                  <a:prstClr val="black">
                    <a:lumMod val="95000"/>
                    <a:lumOff val="5000"/>
                  </a:prst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dirty="0">
                <a:solidFill>
                  <a:prstClr val="black">
                    <a:lumMod val="95000"/>
                    <a:lumOff val="5000"/>
                  </a:prst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 </a:t>
            </a:r>
            <a:r>
              <a:rPr lang="en-US" altLang="zh-CN" dirty="0">
                <a:solidFill>
                  <a:prstClr val="black">
                    <a:lumMod val="95000"/>
                    <a:lumOff val="5000"/>
                  </a:prst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Iterator </a:t>
            </a:r>
            <a:r>
              <a:rPr lang="zh-CN" altLang="en-US" dirty="0">
                <a:solidFill>
                  <a:prstClr val="black">
                    <a:lumMod val="95000"/>
                    <a:lumOff val="5000"/>
                  </a:prst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自带的 </a:t>
            </a:r>
            <a:r>
              <a:rPr lang="en-US" altLang="zh-CN" dirty="0">
                <a:solidFill>
                  <a:prstClr val="black">
                    <a:lumMod val="95000"/>
                    <a:lumOff val="5000"/>
                  </a:prst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remove </a:t>
            </a:r>
            <a:r>
              <a:rPr lang="zh-CN" altLang="en-US" dirty="0">
                <a:solidFill>
                  <a:prstClr val="black">
                    <a:lumMod val="95000"/>
                    <a:lumOff val="5000"/>
                  </a:prst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endParaRPr lang="en-US" altLang="zh-CN" dirty="0">
              <a:solidFill>
                <a:prstClr val="black">
                  <a:lumMod val="95000"/>
                  <a:lumOff val="5000"/>
                </a:prst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prstClr val="black">
                    <a:lumMod val="95000"/>
                    <a:lumOff val="5000"/>
                  </a:prst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迭代过程中做添加 </a:t>
            </a:r>
            <a:r>
              <a:rPr lang="en-US" altLang="zh-CN" dirty="0">
                <a:solidFill>
                  <a:prstClr val="black">
                    <a:lumMod val="95000"/>
                    <a:lumOff val="5000"/>
                  </a:prst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dirty="0">
                <a:solidFill>
                  <a:prstClr val="black">
                    <a:lumMod val="95000"/>
                    <a:lumOff val="5000"/>
                  </a:prst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 </a:t>
            </a:r>
            <a:r>
              <a:rPr lang="en-US" altLang="zh-CN" dirty="0" err="1">
                <a:solidFill>
                  <a:prstClr val="black">
                    <a:lumMod val="95000"/>
                    <a:lumOff val="5000"/>
                  </a:prst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ListIterator</a:t>
            </a:r>
            <a:r>
              <a:rPr lang="en-US" altLang="zh-CN" dirty="0">
                <a:solidFill>
                  <a:prstClr val="black">
                    <a:lumMod val="95000"/>
                    <a:lumOff val="5000"/>
                  </a:prst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dirty="0">
                <a:solidFill>
                  <a:prstClr val="black">
                    <a:lumMod val="95000"/>
                    <a:lumOff val="5000"/>
                  </a:prst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自带的 </a:t>
            </a:r>
            <a:r>
              <a:rPr lang="en-US" altLang="zh-CN" dirty="0">
                <a:solidFill>
                  <a:prstClr val="black">
                    <a:lumMod val="95000"/>
                    <a:lumOff val="5000"/>
                  </a:prst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 </a:t>
            </a:r>
            <a:r>
              <a:rPr lang="zh-CN" altLang="en-US" dirty="0">
                <a:solidFill>
                  <a:prstClr val="black">
                    <a:lumMod val="95000"/>
                    <a:lumOff val="5000"/>
                  </a:prst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</a:p>
        </p:txBody>
      </p:sp>
    </p:spTree>
    <p:extLst>
      <p:ext uri="{BB962C8B-B14F-4D97-AF65-F5344CB8AC3E}">
        <p14:creationId xmlns:p14="http://schemas.microsoft.com/office/powerpoint/2010/main" val="3257695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E986163-402F-4B3B-851D-AEF837004C40}"/>
              </a:ext>
            </a:extLst>
          </p:cNvPr>
          <p:cNvSpPr/>
          <p:nvPr/>
        </p:nvSpPr>
        <p:spPr>
          <a:xfrm>
            <a:off x="952418" y="2674794"/>
            <a:ext cx="783772" cy="755779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0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AA64FB44-413D-44A3-A57A-F2E3895A7E88}"/>
              </a:ext>
            </a:extLst>
          </p:cNvPr>
          <p:cNvSpPr/>
          <p:nvPr/>
        </p:nvSpPr>
        <p:spPr>
          <a:xfrm>
            <a:off x="1736190" y="2674794"/>
            <a:ext cx="783772" cy="755779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1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8C60C89-3548-4590-9CC3-9F064857CF5A}"/>
              </a:ext>
            </a:extLst>
          </p:cNvPr>
          <p:cNvSpPr/>
          <p:nvPr/>
        </p:nvSpPr>
        <p:spPr>
          <a:xfrm>
            <a:off x="2519962" y="2674794"/>
            <a:ext cx="783772" cy="755779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2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9E38DEFC-C2BB-447B-B605-61760BD7E7B3}"/>
              </a:ext>
            </a:extLst>
          </p:cNvPr>
          <p:cNvSpPr/>
          <p:nvPr/>
        </p:nvSpPr>
        <p:spPr>
          <a:xfrm>
            <a:off x="3303734" y="2674794"/>
            <a:ext cx="783772" cy="755782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3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0D5AB9A7-3994-4951-A8A8-40519E2B27F1}"/>
              </a:ext>
            </a:extLst>
          </p:cNvPr>
          <p:cNvSpPr/>
          <p:nvPr/>
        </p:nvSpPr>
        <p:spPr>
          <a:xfrm>
            <a:off x="4087506" y="2674794"/>
            <a:ext cx="783772" cy="755782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4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4AAE8777-E60E-4BF0-8A10-D3FA367943C3}"/>
              </a:ext>
            </a:extLst>
          </p:cNvPr>
          <p:cNvSpPr/>
          <p:nvPr/>
        </p:nvSpPr>
        <p:spPr>
          <a:xfrm>
            <a:off x="4871278" y="2674794"/>
            <a:ext cx="783772" cy="755782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5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5B0EF317-78FC-49DC-9DDA-0913DF771163}"/>
              </a:ext>
            </a:extLst>
          </p:cNvPr>
          <p:cNvSpPr/>
          <p:nvPr/>
        </p:nvSpPr>
        <p:spPr>
          <a:xfrm>
            <a:off x="5655050" y="2674794"/>
            <a:ext cx="783772" cy="755782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6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994B32D1-1BDE-48BB-B94B-0B5CBBEC3189}"/>
              </a:ext>
            </a:extLst>
          </p:cNvPr>
          <p:cNvSpPr/>
          <p:nvPr/>
        </p:nvSpPr>
        <p:spPr>
          <a:xfrm>
            <a:off x="6438822" y="2674794"/>
            <a:ext cx="783772" cy="755782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7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38C3EC9C-4B7C-4AB5-AA38-49845590E260}"/>
              </a:ext>
            </a:extLst>
          </p:cNvPr>
          <p:cNvSpPr/>
          <p:nvPr/>
        </p:nvSpPr>
        <p:spPr>
          <a:xfrm>
            <a:off x="7222594" y="2674794"/>
            <a:ext cx="783772" cy="755782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8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41" name="TextBox 2">
            <a:extLst>
              <a:ext uri="{FF2B5EF4-FFF2-40B4-BE49-F238E27FC236}">
                <a16:creationId xmlns:a16="http://schemas.microsoft.com/office/drawing/2014/main" id="{B2D58EE1-66FA-453E-AE64-DD4457EF806A}"/>
              </a:ext>
            </a:extLst>
          </p:cNvPr>
          <p:cNvSpPr txBox="1"/>
          <p:nvPr/>
        </p:nvSpPr>
        <p:spPr>
          <a:xfrm>
            <a:off x="107504" y="952402"/>
            <a:ext cx="4686300" cy="57284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fontAlgn="auto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迭代器遍历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8A2C5715-AD58-4F44-8142-6CAD18E3281E}"/>
              </a:ext>
            </a:extLst>
          </p:cNvPr>
          <p:cNvSpPr/>
          <p:nvPr/>
        </p:nvSpPr>
        <p:spPr>
          <a:xfrm>
            <a:off x="952418" y="1923665"/>
            <a:ext cx="783772" cy="755779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拿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0DFCE25E-38C0-43BE-A9CD-EDB8641DDA78}"/>
              </a:ext>
            </a:extLst>
          </p:cNvPr>
          <p:cNvSpPr/>
          <p:nvPr/>
        </p:nvSpPr>
        <p:spPr>
          <a:xfrm>
            <a:off x="1736190" y="1923665"/>
            <a:ext cx="783772" cy="755779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了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605C8F3D-E690-4CCF-818D-B68625B966AA}"/>
              </a:ext>
            </a:extLst>
          </p:cNvPr>
          <p:cNvSpPr/>
          <p:nvPr/>
        </p:nvSpPr>
        <p:spPr>
          <a:xfrm>
            <a:off x="2519962" y="1923665"/>
            <a:ext cx="783772" cy="755779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橘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653002C4-50C3-4CE4-B134-E58DF844F8FD}"/>
              </a:ext>
            </a:extLst>
          </p:cNvPr>
          <p:cNvSpPr/>
          <p:nvPr/>
        </p:nvSpPr>
        <p:spPr>
          <a:xfrm>
            <a:off x="3303734" y="1923665"/>
            <a:ext cx="783772" cy="755782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子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C198DBF0-B601-4A4F-B264-DD09E348A530}"/>
              </a:ext>
            </a:extLst>
          </p:cNvPr>
          <p:cNvSpPr/>
          <p:nvPr/>
        </p:nvSpPr>
        <p:spPr>
          <a:xfrm>
            <a:off x="4087506" y="1923665"/>
            <a:ext cx="783772" cy="755782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跑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C36DE54B-B10F-4B74-A463-A771E612C415}"/>
              </a:ext>
            </a:extLst>
          </p:cNvPr>
          <p:cNvSpPr/>
          <p:nvPr/>
        </p:nvSpPr>
        <p:spPr>
          <a:xfrm>
            <a:off x="4871278" y="1923665"/>
            <a:ext cx="783772" cy="755782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啊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6AE8BD75-D14F-4422-81E2-02111B4BC1BE}"/>
              </a:ext>
            </a:extLst>
          </p:cNvPr>
          <p:cNvSpPr/>
          <p:nvPr/>
        </p:nvSpPr>
        <p:spPr>
          <a:xfrm>
            <a:off x="5655050" y="1923665"/>
            <a:ext cx="783772" cy="755782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__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C78178D8-19DD-49C0-B353-9CB9E40F4B49}"/>
              </a:ext>
            </a:extLst>
          </p:cNvPr>
          <p:cNvSpPr/>
          <p:nvPr/>
        </p:nvSpPr>
        <p:spPr>
          <a:xfrm>
            <a:off x="6438822" y="1923665"/>
            <a:ext cx="783772" cy="755782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范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D91FB0B0-5611-4B3D-8B87-AB13C3B094C6}"/>
              </a:ext>
            </a:extLst>
          </p:cNvPr>
          <p:cNvSpPr/>
          <p:nvPr/>
        </p:nvSpPr>
        <p:spPr>
          <a:xfrm>
            <a:off x="7222594" y="1923665"/>
            <a:ext cx="783772" cy="755782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伟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F13AF58A-8D0F-4C09-8F34-71B24A9A41FA}"/>
              </a:ext>
            </a:extLst>
          </p:cNvPr>
          <p:cNvSpPr txBox="1"/>
          <p:nvPr/>
        </p:nvSpPr>
        <p:spPr>
          <a:xfrm>
            <a:off x="986653" y="5002943"/>
            <a:ext cx="5689920" cy="1569660"/>
          </a:xfrm>
          <a:prstGeom prst="rect">
            <a:avLst/>
          </a:prstGeom>
          <a:solidFill>
            <a:srgbClr val="FFFFE4"/>
          </a:solidFill>
          <a:ln>
            <a:solidFill>
              <a:sysClr val="windowText" lastClr="000000">
                <a:lumMod val="95000"/>
                <a:lumOff val="5000"/>
              </a:sysClr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Iterator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&lt;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String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&gt; 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it 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list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.iterator();</a:t>
            </a:r>
            <a:b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while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it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.hasNext())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String s 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it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.next();</a:t>
            </a:r>
            <a:b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600" b="0" i="1" u="none" strike="noStrike" kern="0" cap="none" spc="0" normalizeH="0" baseline="0" noProof="0" dirty="0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s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/>
            </a:endParaRPr>
          </a:p>
        </p:txBody>
      </p:sp>
      <p:sp>
        <p:nvSpPr>
          <p:cNvPr id="52" name="箭头: 上 51">
            <a:extLst>
              <a:ext uri="{FF2B5EF4-FFF2-40B4-BE49-F238E27FC236}">
                <a16:creationId xmlns:a16="http://schemas.microsoft.com/office/drawing/2014/main" id="{66A1C99E-D960-4A6D-8121-3AB9969BBB05}"/>
              </a:ext>
            </a:extLst>
          </p:cNvPr>
          <p:cNvSpPr/>
          <p:nvPr/>
        </p:nvSpPr>
        <p:spPr>
          <a:xfrm>
            <a:off x="1136842" y="3295339"/>
            <a:ext cx="391211" cy="893573"/>
          </a:xfrm>
          <a:prstGeom prst="upArrow">
            <a:avLst/>
          </a:prstGeom>
          <a:solidFill>
            <a:sysClr val="windowText" lastClr="000000"/>
          </a:solidFill>
          <a:ln w="25400" cap="flat" cmpd="sng" algn="ctr">
            <a:solidFill>
              <a:sysClr val="windowText" lastClr="000000">
                <a:shade val="50000"/>
              </a:sysClr>
            </a:solidFill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53" name="标题 1">
            <a:extLst>
              <a:ext uri="{FF2B5EF4-FFF2-40B4-BE49-F238E27FC236}">
                <a16:creationId xmlns:a16="http://schemas.microsoft.com/office/drawing/2014/main" id="{BCC55A89-FB7E-462D-9C17-01736F03B8BF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7.2 </a:t>
            </a:r>
            <a:r>
              <a:rPr lang="zh-CN" altLang="en-US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集合框架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2E19A94B-08CE-4C08-B688-00C9270D0ED8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A8B0117F-E722-4DDB-B061-7CC480F101F9}"/>
              </a:ext>
            </a:extLst>
          </p:cNvPr>
          <p:cNvSpPr txBox="1"/>
          <p:nvPr/>
        </p:nvSpPr>
        <p:spPr>
          <a:xfrm>
            <a:off x="899592" y="450912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Collection&lt;String&gt; </a:t>
            </a:r>
            <a:r>
              <a:rPr lang="en-US" altLang="zh-CN" dirty="0" err="1"/>
              <a:t>coll</a:t>
            </a:r>
            <a:r>
              <a:rPr lang="en-US" altLang="zh-CN" dirty="0"/>
              <a:t> = new </a:t>
            </a:r>
            <a:r>
              <a:rPr lang="en-US" altLang="zh-CN" dirty="0" err="1"/>
              <a:t>ArrayList</a:t>
            </a:r>
            <a:r>
              <a:rPr lang="en-US" altLang="zh-CN" dirty="0"/>
              <a:t>&lt;&gt;();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8847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E986163-402F-4B3B-851D-AEF837004C40}"/>
              </a:ext>
            </a:extLst>
          </p:cNvPr>
          <p:cNvSpPr/>
          <p:nvPr/>
        </p:nvSpPr>
        <p:spPr>
          <a:xfrm>
            <a:off x="952418" y="2674794"/>
            <a:ext cx="783772" cy="755779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0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AA64FB44-413D-44A3-A57A-F2E3895A7E88}"/>
              </a:ext>
            </a:extLst>
          </p:cNvPr>
          <p:cNvSpPr/>
          <p:nvPr/>
        </p:nvSpPr>
        <p:spPr>
          <a:xfrm>
            <a:off x="1736190" y="2674794"/>
            <a:ext cx="783772" cy="755779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1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8C60C89-3548-4590-9CC3-9F064857CF5A}"/>
              </a:ext>
            </a:extLst>
          </p:cNvPr>
          <p:cNvSpPr/>
          <p:nvPr/>
        </p:nvSpPr>
        <p:spPr>
          <a:xfrm>
            <a:off x="2519962" y="2674794"/>
            <a:ext cx="783772" cy="755779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2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9E38DEFC-C2BB-447B-B605-61760BD7E7B3}"/>
              </a:ext>
            </a:extLst>
          </p:cNvPr>
          <p:cNvSpPr/>
          <p:nvPr/>
        </p:nvSpPr>
        <p:spPr>
          <a:xfrm>
            <a:off x="3303734" y="2674794"/>
            <a:ext cx="783772" cy="755782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3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0D5AB9A7-3994-4951-A8A8-40519E2B27F1}"/>
              </a:ext>
            </a:extLst>
          </p:cNvPr>
          <p:cNvSpPr/>
          <p:nvPr/>
        </p:nvSpPr>
        <p:spPr>
          <a:xfrm>
            <a:off x="4087506" y="2674794"/>
            <a:ext cx="783772" cy="755782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4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4AAE8777-E60E-4BF0-8A10-D3FA367943C3}"/>
              </a:ext>
            </a:extLst>
          </p:cNvPr>
          <p:cNvSpPr/>
          <p:nvPr/>
        </p:nvSpPr>
        <p:spPr>
          <a:xfrm>
            <a:off x="4871278" y="2674794"/>
            <a:ext cx="783772" cy="755782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5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5B0EF317-78FC-49DC-9DDA-0913DF771163}"/>
              </a:ext>
            </a:extLst>
          </p:cNvPr>
          <p:cNvSpPr/>
          <p:nvPr/>
        </p:nvSpPr>
        <p:spPr>
          <a:xfrm>
            <a:off x="5655050" y="2674794"/>
            <a:ext cx="783772" cy="755782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6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994B32D1-1BDE-48BB-B94B-0B5CBBEC3189}"/>
              </a:ext>
            </a:extLst>
          </p:cNvPr>
          <p:cNvSpPr/>
          <p:nvPr/>
        </p:nvSpPr>
        <p:spPr>
          <a:xfrm>
            <a:off x="6438822" y="2674794"/>
            <a:ext cx="783772" cy="755782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7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38C3EC9C-4B7C-4AB5-AA38-49845590E260}"/>
              </a:ext>
            </a:extLst>
          </p:cNvPr>
          <p:cNvSpPr/>
          <p:nvPr/>
        </p:nvSpPr>
        <p:spPr>
          <a:xfrm>
            <a:off x="7222594" y="2674794"/>
            <a:ext cx="783772" cy="755782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8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41" name="TextBox 2">
            <a:extLst>
              <a:ext uri="{FF2B5EF4-FFF2-40B4-BE49-F238E27FC236}">
                <a16:creationId xmlns:a16="http://schemas.microsoft.com/office/drawing/2014/main" id="{B2D58EE1-66FA-453E-AE64-DD4457EF806A}"/>
              </a:ext>
            </a:extLst>
          </p:cNvPr>
          <p:cNvSpPr txBox="1"/>
          <p:nvPr/>
        </p:nvSpPr>
        <p:spPr>
          <a:xfrm>
            <a:off x="107504" y="952402"/>
            <a:ext cx="4686300" cy="57284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fontAlgn="auto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迭代器遍历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8A2C5715-AD58-4F44-8142-6CAD18E3281E}"/>
              </a:ext>
            </a:extLst>
          </p:cNvPr>
          <p:cNvSpPr/>
          <p:nvPr/>
        </p:nvSpPr>
        <p:spPr>
          <a:xfrm>
            <a:off x="952418" y="1923665"/>
            <a:ext cx="783772" cy="755779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拿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0DFCE25E-38C0-43BE-A9CD-EDB8641DDA78}"/>
              </a:ext>
            </a:extLst>
          </p:cNvPr>
          <p:cNvSpPr/>
          <p:nvPr/>
        </p:nvSpPr>
        <p:spPr>
          <a:xfrm>
            <a:off x="1736190" y="1923665"/>
            <a:ext cx="783772" cy="755779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了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605C8F3D-E690-4CCF-818D-B68625B966AA}"/>
              </a:ext>
            </a:extLst>
          </p:cNvPr>
          <p:cNvSpPr/>
          <p:nvPr/>
        </p:nvSpPr>
        <p:spPr>
          <a:xfrm>
            <a:off x="2519962" y="1923665"/>
            <a:ext cx="783772" cy="755779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橘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653002C4-50C3-4CE4-B134-E58DF844F8FD}"/>
              </a:ext>
            </a:extLst>
          </p:cNvPr>
          <p:cNvSpPr/>
          <p:nvPr/>
        </p:nvSpPr>
        <p:spPr>
          <a:xfrm>
            <a:off x="3303734" y="1923665"/>
            <a:ext cx="783772" cy="755782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子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C198DBF0-B601-4A4F-B264-DD09E348A530}"/>
              </a:ext>
            </a:extLst>
          </p:cNvPr>
          <p:cNvSpPr/>
          <p:nvPr/>
        </p:nvSpPr>
        <p:spPr>
          <a:xfrm>
            <a:off x="4087506" y="1923665"/>
            <a:ext cx="783772" cy="755782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跑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C36DE54B-B10F-4B74-A463-A771E612C415}"/>
              </a:ext>
            </a:extLst>
          </p:cNvPr>
          <p:cNvSpPr/>
          <p:nvPr/>
        </p:nvSpPr>
        <p:spPr>
          <a:xfrm>
            <a:off x="4871278" y="1923665"/>
            <a:ext cx="783772" cy="755782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啊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6AE8BD75-D14F-4422-81E2-02111B4BC1BE}"/>
              </a:ext>
            </a:extLst>
          </p:cNvPr>
          <p:cNvSpPr/>
          <p:nvPr/>
        </p:nvSpPr>
        <p:spPr>
          <a:xfrm>
            <a:off x="5655050" y="1923665"/>
            <a:ext cx="783772" cy="755782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__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C78178D8-19DD-49C0-B353-9CB9E40F4B49}"/>
              </a:ext>
            </a:extLst>
          </p:cNvPr>
          <p:cNvSpPr/>
          <p:nvPr/>
        </p:nvSpPr>
        <p:spPr>
          <a:xfrm>
            <a:off x="6438822" y="1923665"/>
            <a:ext cx="783772" cy="755782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范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D91FB0B0-5611-4B3D-8B87-AB13C3B094C6}"/>
              </a:ext>
            </a:extLst>
          </p:cNvPr>
          <p:cNvSpPr/>
          <p:nvPr/>
        </p:nvSpPr>
        <p:spPr>
          <a:xfrm>
            <a:off x="7222594" y="1923665"/>
            <a:ext cx="783772" cy="755782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伟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F13AF58A-8D0F-4C09-8F34-71B24A9A41FA}"/>
              </a:ext>
            </a:extLst>
          </p:cNvPr>
          <p:cNvSpPr txBox="1"/>
          <p:nvPr/>
        </p:nvSpPr>
        <p:spPr>
          <a:xfrm>
            <a:off x="986653" y="5002943"/>
            <a:ext cx="5689920" cy="1569660"/>
          </a:xfrm>
          <a:prstGeom prst="rect">
            <a:avLst/>
          </a:prstGeom>
          <a:solidFill>
            <a:srgbClr val="FFFFE4"/>
          </a:solidFill>
          <a:ln>
            <a:solidFill>
              <a:sysClr val="windowText" lastClr="000000">
                <a:lumMod val="95000"/>
                <a:lumOff val="5000"/>
              </a:sysClr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Iterator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&lt;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String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&gt; 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it 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list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.iterator();</a:t>
            </a:r>
            <a:b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while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it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.hasNext())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String s 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it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.next();</a:t>
            </a:r>
            <a:b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600" b="0" i="1" u="none" strike="noStrike" kern="0" cap="none" spc="0" normalizeH="0" baseline="0" noProof="0" dirty="0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s</a:t>
            </a: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/>
            </a:endParaRPr>
          </a:p>
        </p:txBody>
      </p:sp>
      <p:sp>
        <p:nvSpPr>
          <p:cNvPr id="52" name="箭头: 上 51">
            <a:extLst>
              <a:ext uri="{FF2B5EF4-FFF2-40B4-BE49-F238E27FC236}">
                <a16:creationId xmlns:a16="http://schemas.microsoft.com/office/drawing/2014/main" id="{66A1C99E-D960-4A6D-8121-3AB9969BBB05}"/>
              </a:ext>
            </a:extLst>
          </p:cNvPr>
          <p:cNvSpPr/>
          <p:nvPr/>
        </p:nvSpPr>
        <p:spPr>
          <a:xfrm>
            <a:off x="1136842" y="3295339"/>
            <a:ext cx="391211" cy="893573"/>
          </a:xfrm>
          <a:prstGeom prst="upArrow">
            <a:avLst/>
          </a:prstGeom>
          <a:solidFill>
            <a:sysClr val="windowText" lastClr="000000"/>
          </a:solidFill>
          <a:ln w="25400" cap="flat" cmpd="sng" algn="ctr">
            <a:solidFill>
              <a:sysClr val="windowText" lastClr="000000">
                <a:shade val="50000"/>
              </a:sysClr>
            </a:solidFill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53" name="标题 1">
            <a:extLst>
              <a:ext uri="{FF2B5EF4-FFF2-40B4-BE49-F238E27FC236}">
                <a16:creationId xmlns:a16="http://schemas.microsoft.com/office/drawing/2014/main" id="{BCC55A89-FB7E-462D-9C17-01736F03B8BF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7.2 </a:t>
            </a:r>
            <a:r>
              <a:rPr lang="zh-CN" altLang="en-US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集合框架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2E19A94B-08CE-4C08-B688-00C9270D0ED8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A8B0117F-E722-4DDB-B061-7CC480F101F9}"/>
              </a:ext>
            </a:extLst>
          </p:cNvPr>
          <p:cNvSpPr txBox="1"/>
          <p:nvPr/>
        </p:nvSpPr>
        <p:spPr>
          <a:xfrm>
            <a:off x="899592" y="450912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Collection&lt;String&gt; </a:t>
            </a:r>
            <a:r>
              <a:rPr lang="en-US" altLang="zh-CN" dirty="0" err="1"/>
              <a:t>coll</a:t>
            </a:r>
            <a:r>
              <a:rPr lang="en-US" altLang="zh-CN" dirty="0"/>
              <a:t> = new </a:t>
            </a:r>
            <a:r>
              <a:rPr lang="en-US" altLang="zh-CN" dirty="0" err="1"/>
              <a:t>ArrayList</a:t>
            </a:r>
            <a:r>
              <a:rPr lang="en-US" altLang="zh-CN" dirty="0"/>
              <a:t>&lt;&gt;();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6D02CEF-74CA-4A3B-9F9D-54337F987738}"/>
              </a:ext>
            </a:extLst>
          </p:cNvPr>
          <p:cNvSpPr txBox="1"/>
          <p:nvPr/>
        </p:nvSpPr>
        <p:spPr>
          <a:xfrm>
            <a:off x="4355976" y="5751709"/>
            <a:ext cx="4498347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prstClr val="black">
                    <a:lumMod val="95000"/>
                    <a:lumOff val="5000"/>
                  </a:prst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注意 </a:t>
            </a:r>
            <a:r>
              <a:rPr lang="en-US" altLang="zh-CN" sz="1400" dirty="0">
                <a:solidFill>
                  <a:prstClr val="black">
                    <a:lumMod val="95000"/>
                    <a:lumOff val="5000"/>
                  </a:prst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400" dirty="0">
                <a:solidFill>
                  <a:prstClr val="black">
                    <a:lumMod val="95000"/>
                    <a:lumOff val="5000"/>
                  </a:prst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>
                <a:solidFill>
                  <a:prstClr val="black">
                    <a:lumMod val="95000"/>
                    <a:lumOff val="5000"/>
                  </a:prst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next</a:t>
            </a:r>
            <a:r>
              <a:rPr lang="zh-CN" altLang="en-US" sz="1400" dirty="0">
                <a:solidFill>
                  <a:prstClr val="black">
                    <a:lumMod val="95000"/>
                    <a:lumOff val="5000"/>
                  </a:prst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方法会将元素取出</a:t>
            </a:r>
            <a:r>
              <a:rPr lang="en-US" altLang="zh-CN" sz="1400" dirty="0">
                <a:solidFill>
                  <a:prstClr val="black">
                    <a:lumMod val="95000"/>
                    <a:lumOff val="5000"/>
                  </a:prst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,  </a:t>
            </a:r>
            <a:r>
              <a:rPr lang="zh-CN" altLang="en-US" sz="1400" dirty="0">
                <a:solidFill>
                  <a:prstClr val="black">
                    <a:lumMod val="95000"/>
                    <a:lumOff val="5000"/>
                  </a:prst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并将指针向后移动一位</a:t>
            </a:r>
          </a:p>
        </p:txBody>
      </p:sp>
    </p:spTree>
    <p:extLst>
      <p:ext uri="{BB962C8B-B14F-4D97-AF65-F5344CB8AC3E}">
        <p14:creationId xmlns:p14="http://schemas.microsoft.com/office/powerpoint/2010/main" val="1352184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7.2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集合框架</a:t>
            </a: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468313" y="981076"/>
            <a:ext cx="8136135" cy="2231898"/>
          </a:xfrm>
        </p:spPr>
        <p:txBody>
          <a:bodyPr/>
          <a:lstStyle/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集合的</a:t>
            </a:r>
            <a:r>
              <a:rPr lang="en-US" altLang="zh-CN" sz="24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ForEach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遍历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Collection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接口派生自</a:t>
            </a:r>
            <a:r>
              <a:rPr lang="en-US" altLang="zh-CN" sz="2000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Iterable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，因此，所有集合都可以使用</a:t>
            </a: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4487" lvl="1" indent="0">
              <a:lnSpc>
                <a:spcPct val="150000"/>
              </a:lnSpc>
              <a:buNone/>
            </a:pP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     foreach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语句完成遍历工作。</a:t>
            </a: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4487" lvl="1" indent="0">
              <a:lnSpc>
                <a:spcPct val="150000"/>
              </a:lnSpc>
              <a:buNone/>
            </a:pP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示例：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TestForeach.java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A8F9BA5A-79A4-44A4-A9DC-257CC9890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815" y="3212974"/>
            <a:ext cx="6344369" cy="2819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6121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7.2 </a:t>
            </a:r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集合框架</a:t>
            </a: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468313" y="981076"/>
            <a:ext cx="8136135" cy="2231898"/>
          </a:xfrm>
        </p:spPr>
        <p:txBody>
          <a:bodyPr/>
          <a:lstStyle/>
          <a:p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集合的</a:t>
            </a:r>
            <a:r>
              <a:rPr lang="en-US" altLang="zh-CN" sz="24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lamda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表达式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() -&gt; {}</a:t>
            </a:r>
          </a:p>
          <a:p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2BD960CF-AB63-470B-8D79-41FB81599E91}"/>
              </a:ext>
            </a:extLst>
          </p:cNvPr>
          <p:cNvSpPr txBox="1"/>
          <p:nvPr/>
        </p:nvSpPr>
        <p:spPr>
          <a:xfrm>
            <a:off x="539552" y="2547334"/>
            <a:ext cx="676875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//1.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创建集合并添加元素</a:t>
            </a:r>
          </a:p>
          <a:p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Collection&lt;String&gt;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&lt;&gt;();</a:t>
            </a:r>
          </a:p>
          <a:p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//lambda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表达式：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coll.forEach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((String s) -&gt; {</a:t>
            </a:r>
          </a:p>
          <a:p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(s);</a:t>
            </a:r>
          </a:p>
          <a:p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});</a:t>
            </a:r>
          </a:p>
          <a:p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简化版：</a:t>
            </a:r>
          </a:p>
          <a:p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coll.forEach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(s -&gt;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(s));</a:t>
            </a:r>
            <a:endParaRPr lang="zh-CN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5459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7.3 List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468313" y="981076"/>
            <a:ext cx="7704087" cy="122378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b="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List</a:t>
            </a:r>
            <a:r>
              <a:rPr lang="zh-CN" altLang="en-US" sz="2400" b="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通过索引访问元素</a:t>
            </a:r>
            <a:endParaRPr lang="en-US" altLang="zh-CN" sz="2400" b="0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可以看成是“可动态改变大小的数组”，其接口如下：</a:t>
            </a:r>
            <a:endParaRPr lang="en-US" altLang="zh-CN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2369E9AF-2180-4781-BF52-6E9AA4059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2358476"/>
            <a:ext cx="3249547" cy="214104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99EBBC4-26BE-4DBB-8962-94CAB6156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5232" y="2492896"/>
            <a:ext cx="3402196" cy="1731172"/>
          </a:xfrm>
          <a:prstGeom prst="rect">
            <a:avLst/>
          </a:prstGeom>
        </p:spPr>
      </p:pic>
      <p:sp>
        <p:nvSpPr>
          <p:cNvPr id="9" name="内容占位符 2">
            <a:extLst>
              <a:ext uri="{FF2B5EF4-FFF2-40B4-BE49-F238E27FC236}">
                <a16:creationId xmlns:a16="http://schemas.microsoft.com/office/drawing/2014/main" id="{54D806A8-DB35-4A89-84F4-0D1D372443AB}"/>
              </a:ext>
            </a:extLst>
          </p:cNvPr>
          <p:cNvSpPr txBox="1">
            <a:spLocks/>
          </p:cNvSpPr>
          <p:nvPr/>
        </p:nvSpPr>
        <p:spPr bwMode="auto">
          <a:xfrm>
            <a:off x="971600" y="4733329"/>
            <a:ext cx="7704087" cy="63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1" charset="-122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+mn-lt"/>
                <a:ea typeface="楷体_GB2312" pitchFamily="1" charset="-122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楷体_GB2312" pitchFamily="1" charset="-122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9pPr>
          </a:lstStyle>
          <a:p>
            <a:pPr lvl="1">
              <a:lnSpc>
                <a:spcPct val="150000"/>
              </a:lnSpc>
            </a:pPr>
            <a:r>
              <a:rPr lang="en-US" altLang="zh-CN" sz="2000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TestList.java </a:t>
            </a:r>
            <a:r>
              <a:rPr lang="zh-CN" altLang="en-US" sz="2000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展示其添加与修改元素的基本方法</a:t>
            </a:r>
            <a:endParaRPr lang="en-US" altLang="zh-CN" sz="2000" b="0" kern="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6074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7.3 List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468313" y="981076"/>
            <a:ext cx="8136135" cy="1151779"/>
          </a:xfrm>
        </p:spPr>
        <p:txBody>
          <a:bodyPr/>
          <a:lstStyle/>
          <a:p>
            <a:r>
              <a:rPr lang="zh-CN" altLang="en-US" sz="2400" b="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反向迭代</a:t>
            </a:r>
          </a:p>
          <a:p>
            <a:pPr lvl="1">
              <a:lnSpc>
                <a:spcPct val="150000"/>
              </a:lnSpc>
            </a:pP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List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提供元素反向迭代功能的迭代器</a:t>
            </a: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6B9588D2-5E88-4926-BE14-12763B16F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38" y="2133997"/>
            <a:ext cx="7094084" cy="2724098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0855F50-3E1D-4147-9E86-9CE8EB08693C}"/>
              </a:ext>
            </a:extLst>
          </p:cNvPr>
          <p:cNvSpPr txBox="1">
            <a:spLocks/>
          </p:cNvSpPr>
          <p:nvPr/>
        </p:nvSpPr>
        <p:spPr bwMode="auto">
          <a:xfrm>
            <a:off x="934374" y="5085184"/>
            <a:ext cx="7704087" cy="63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1" charset="-122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+mn-lt"/>
                <a:ea typeface="楷体_GB2312" pitchFamily="1" charset="-122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楷体_GB2312" pitchFamily="1" charset="-122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9pPr>
          </a:lstStyle>
          <a:p>
            <a:pPr lvl="1">
              <a:lnSpc>
                <a:spcPct val="150000"/>
              </a:lnSpc>
            </a:pPr>
            <a:r>
              <a:rPr lang="en-US" altLang="zh-CN" sz="2000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Demo: TestListIterator.java</a:t>
            </a:r>
          </a:p>
        </p:txBody>
      </p:sp>
    </p:spTree>
    <p:extLst>
      <p:ext uri="{BB962C8B-B14F-4D97-AF65-F5344CB8AC3E}">
        <p14:creationId xmlns:p14="http://schemas.microsoft.com/office/powerpoint/2010/main" val="3206495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7.3 List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8136135" cy="5040209"/>
          </a:xfrm>
        </p:spPr>
        <p:txBody>
          <a:bodyPr/>
          <a:lstStyle/>
          <a:p>
            <a:r>
              <a:rPr lang="zh-CN" altLang="en-US" sz="2400" b="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固定大小的</a:t>
            </a:r>
            <a:r>
              <a:rPr lang="en-US" altLang="zh-CN" sz="2400" b="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List</a:t>
            </a:r>
            <a:endParaRPr lang="zh-CN" altLang="en-US" sz="2400" b="0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定义于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Arrays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类内部的</a:t>
            </a:r>
            <a:r>
              <a:rPr lang="en-US" altLang="zh-CN" sz="2000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ArrayList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类，是一个固定长度的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List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集合，只能遍历访问，不能增加与删除元素，否则，会抛出异常</a:t>
            </a: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UnsupportedOperationException</a:t>
            </a: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创建固定大小的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List</a:t>
            </a:r>
          </a:p>
          <a:p>
            <a:pPr lvl="1">
              <a:lnSpc>
                <a:spcPct val="150000"/>
              </a:lnSpc>
            </a:pP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Demo: FixedSizeList.java</a:t>
            </a:r>
          </a:p>
          <a:p>
            <a:pPr lvl="1">
              <a:lnSpc>
                <a:spcPct val="150000"/>
              </a:lnSpc>
            </a:pP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注意：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Arrays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中的</a:t>
            </a:r>
            <a:r>
              <a:rPr lang="en-US" altLang="zh-CN" sz="2000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ArrayList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与另一个独立的</a:t>
            </a:r>
            <a:r>
              <a:rPr lang="en-US" altLang="zh-CN" sz="2000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ArrayList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zh-CN" altLang="en-US" sz="2000" b="0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两个不同的类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，前者是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Arrays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类的内部类，两者根本不是一回事。</a:t>
            </a: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6474D7E9-CD9F-415B-8C33-E94F1F6C8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527" y="3574989"/>
            <a:ext cx="7125340" cy="57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7326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7.3 List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8280151" cy="2591929"/>
          </a:xfrm>
        </p:spPr>
        <p:txBody>
          <a:bodyPr/>
          <a:lstStyle/>
          <a:p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LinkedList</a:t>
            </a:r>
            <a:endParaRPr lang="zh-CN" altLang="en-US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基于链表实现的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List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类。</a:t>
            </a: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对于顺序访问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List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中的元素进行了查找，插入与删除元素快</a:t>
            </a: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LinkedList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同时实现了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List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接口与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Deque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接口，它既是一个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List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（有序结合），又是一个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Deque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（双向链表），还可当做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Stack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（栈）。</a:t>
            </a: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652AE08A-46AD-4E9C-8EFB-C55C282F6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3647754"/>
            <a:ext cx="7913219" cy="2358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730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7.3 List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2B368F45-EE87-48C3-BFF5-CE0F1A501053}"/>
              </a:ext>
            </a:extLst>
          </p:cNvPr>
          <p:cNvSpPr txBox="1">
            <a:spLocks/>
          </p:cNvSpPr>
          <p:nvPr/>
        </p:nvSpPr>
        <p:spPr bwMode="auto">
          <a:xfrm>
            <a:off x="431924" y="1124745"/>
            <a:ext cx="8280151" cy="936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1" charset="-122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+mn-lt"/>
                <a:ea typeface="楷体_GB2312" pitchFamily="1" charset="-122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楷体_GB2312" pitchFamily="1" charset="-122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9pPr>
          </a:lstStyle>
          <a:p>
            <a:r>
              <a:rPr lang="en-US" altLang="zh-CN" sz="2400" b="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LinkedList</a:t>
            </a:r>
            <a:endParaRPr lang="zh-CN" altLang="en-US" sz="24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Demo: TestLinkedList.java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68FB963-BA05-431B-BDDF-58280EF14747}"/>
              </a:ext>
            </a:extLst>
          </p:cNvPr>
          <p:cNvGrpSpPr/>
          <p:nvPr/>
        </p:nvGrpSpPr>
        <p:grpSpPr>
          <a:xfrm>
            <a:off x="755576" y="2527688"/>
            <a:ext cx="7112521" cy="3238089"/>
            <a:chOff x="899592" y="2639183"/>
            <a:chExt cx="6768752" cy="3094072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D5AFF405-D119-493D-9881-62FA760EC3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9592" y="2639183"/>
              <a:ext cx="6516216" cy="30940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8FA8E6B4-14E5-4139-AAA5-9F9C0757DB82}"/>
                </a:ext>
              </a:extLst>
            </p:cNvPr>
            <p:cNvSpPr/>
            <p:nvPr/>
          </p:nvSpPr>
          <p:spPr>
            <a:xfrm>
              <a:off x="6732240" y="5373216"/>
              <a:ext cx="936104" cy="3600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864117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7.3 List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!!!栈1">
            <a:extLst>
              <a:ext uri="{FF2B5EF4-FFF2-40B4-BE49-F238E27FC236}">
                <a16:creationId xmlns:a16="http://schemas.microsoft.com/office/drawing/2014/main" id="{4ABFB8BD-5A9B-4A6F-AB2D-332521097DBF}"/>
              </a:ext>
            </a:extLst>
          </p:cNvPr>
          <p:cNvSpPr txBox="1">
            <a:spLocks/>
          </p:cNvSpPr>
          <p:nvPr/>
        </p:nvSpPr>
        <p:spPr>
          <a:xfrm>
            <a:off x="710880" y="1002232"/>
            <a:ext cx="1937070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ea typeface="Alibaba PuHuiTi Medium" pitchFamily="18" charset="-122"/>
              </a:rPr>
              <a:t>数据结构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ea typeface="Alibaba PuHuiTi Medium" pitchFamily="18" charset="-122"/>
            </a:endParaRPr>
          </a:p>
        </p:txBody>
      </p:sp>
      <p:sp>
        <p:nvSpPr>
          <p:cNvPr id="6" name="!!!栈2">
            <a:extLst>
              <a:ext uri="{FF2B5EF4-FFF2-40B4-BE49-F238E27FC236}">
                <a16:creationId xmlns:a16="http://schemas.microsoft.com/office/drawing/2014/main" id="{AB25932A-02DA-4B22-8AE2-C9EE4DAE1C28}"/>
              </a:ext>
            </a:extLst>
          </p:cNvPr>
          <p:cNvSpPr txBox="1">
            <a:spLocks/>
          </p:cNvSpPr>
          <p:nvPr/>
        </p:nvSpPr>
        <p:spPr>
          <a:xfrm>
            <a:off x="1709870" y="1002230"/>
            <a:ext cx="1280980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ea typeface="Alibaba PuHuiTi Medium" pitchFamily="18" charset="-122"/>
              </a:rPr>
              <a:t>（数组）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A71CCD3E-DA64-41C4-B6D0-AA1203605C69}"/>
              </a:ext>
            </a:extLst>
          </p:cNvPr>
          <p:cNvSpPr txBox="1"/>
          <p:nvPr/>
        </p:nvSpPr>
        <p:spPr>
          <a:xfrm>
            <a:off x="710880" y="3711643"/>
            <a:ext cx="10251017" cy="5108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查询速度快：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查询数据通过地址值和索引定位，查询任意数据耗时相同</a:t>
            </a:r>
            <a:endParaRPr lang="zh-CN" altLang="en-US" sz="1600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2D78A28-5CC1-4A03-9723-4E88353708F3}"/>
              </a:ext>
            </a:extLst>
          </p:cNvPr>
          <p:cNvSpPr/>
          <p:nvPr/>
        </p:nvSpPr>
        <p:spPr>
          <a:xfrm>
            <a:off x="710880" y="2495254"/>
            <a:ext cx="6337300" cy="960967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D6A0B98-6018-4D18-8A84-829FAD37EA12}"/>
              </a:ext>
            </a:extLst>
          </p:cNvPr>
          <p:cNvSpPr/>
          <p:nvPr/>
        </p:nvSpPr>
        <p:spPr>
          <a:xfrm>
            <a:off x="850580" y="2592620"/>
            <a:ext cx="768351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F3E8CC-4CC5-40EA-9551-D724DEF7B0EE}"/>
              </a:ext>
            </a:extLst>
          </p:cNvPr>
          <p:cNvSpPr/>
          <p:nvPr/>
        </p:nvSpPr>
        <p:spPr>
          <a:xfrm>
            <a:off x="1733231" y="2592620"/>
            <a:ext cx="768349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36D1D37-80CF-485A-AA71-E9997002CBFD}"/>
              </a:ext>
            </a:extLst>
          </p:cNvPr>
          <p:cNvSpPr/>
          <p:nvPr/>
        </p:nvSpPr>
        <p:spPr>
          <a:xfrm>
            <a:off x="2615880" y="2592620"/>
            <a:ext cx="768351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EF73BA8-C228-4F13-8FF7-95722473741D}"/>
              </a:ext>
            </a:extLst>
          </p:cNvPr>
          <p:cNvSpPr/>
          <p:nvPr/>
        </p:nvSpPr>
        <p:spPr>
          <a:xfrm>
            <a:off x="4381180" y="2592620"/>
            <a:ext cx="768351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0A762D6-429C-459A-92B7-A05FBEFDE22A}"/>
              </a:ext>
            </a:extLst>
          </p:cNvPr>
          <p:cNvSpPr/>
          <p:nvPr/>
        </p:nvSpPr>
        <p:spPr>
          <a:xfrm>
            <a:off x="5263831" y="2592620"/>
            <a:ext cx="768349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9A7CD5A-6ACF-4F4C-8300-91953FC872F3}"/>
              </a:ext>
            </a:extLst>
          </p:cNvPr>
          <p:cNvSpPr/>
          <p:nvPr/>
        </p:nvSpPr>
        <p:spPr>
          <a:xfrm>
            <a:off x="6146480" y="2592620"/>
            <a:ext cx="768351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FE84704-DF6D-4A21-8BBC-D699789EE9E3}"/>
              </a:ext>
            </a:extLst>
          </p:cNvPr>
          <p:cNvSpPr/>
          <p:nvPr/>
        </p:nvSpPr>
        <p:spPr>
          <a:xfrm>
            <a:off x="3498531" y="2592620"/>
            <a:ext cx="768349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4EEFDCA2-3BD5-45D3-B444-2B5E7D14860A}"/>
              </a:ext>
            </a:extLst>
          </p:cNvPr>
          <p:cNvGrpSpPr>
            <a:grpSpLocks/>
          </p:cNvGrpSpPr>
          <p:nvPr/>
        </p:nvGrpSpPr>
        <p:grpSpPr bwMode="auto">
          <a:xfrm>
            <a:off x="850580" y="1775587"/>
            <a:ext cx="6064251" cy="768351"/>
            <a:chOff x="3739654" y="1527714"/>
            <a:chExt cx="4548395" cy="576000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706AFE15-FBCA-4663-A52B-35B10D87DBB3}"/>
                </a:ext>
              </a:extLst>
            </p:cNvPr>
            <p:cNvSpPr/>
            <p:nvPr/>
          </p:nvSpPr>
          <p:spPr>
            <a:xfrm>
              <a:off x="3739654" y="1527714"/>
              <a:ext cx="576289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0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BBF9CB0E-0E92-4CB9-A48C-8596FC3BE183}"/>
                </a:ext>
              </a:extLst>
            </p:cNvPr>
            <p:cNvSpPr/>
            <p:nvPr/>
          </p:nvSpPr>
          <p:spPr>
            <a:xfrm>
              <a:off x="4401672" y="1527714"/>
              <a:ext cx="576288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1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DB8A0A41-887C-4104-921E-CA30BEA16241}"/>
                </a:ext>
              </a:extLst>
            </p:cNvPr>
            <p:cNvSpPr/>
            <p:nvPr/>
          </p:nvSpPr>
          <p:spPr>
            <a:xfrm>
              <a:off x="5063689" y="1527714"/>
              <a:ext cx="576289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2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7BD3DB22-93AE-4F04-9263-38CCF04C419B}"/>
                </a:ext>
              </a:extLst>
            </p:cNvPr>
            <p:cNvSpPr/>
            <p:nvPr/>
          </p:nvSpPr>
          <p:spPr>
            <a:xfrm>
              <a:off x="6387725" y="1527714"/>
              <a:ext cx="576289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4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2F809E3-9A6C-4BF9-BF8A-1E74B4F455AB}"/>
                </a:ext>
              </a:extLst>
            </p:cNvPr>
            <p:cNvSpPr/>
            <p:nvPr/>
          </p:nvSpPr>
          <p:spPr>
            <a:xfrm>
              <a:off x="7049743" y="1527714"/>
              <a:ext cx="576288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5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C560F232-40FB-4619-8374-F80430DB7DC9}"/>
                </a:ext>
              </a:extLst>
            </p:cNvPr>
            <p:cNvSpPr/>
            <p:nvPr/>
          </p:nvSpPr>
          <p:spPr>
            <a:xfrm>
              <a:off x="7711760" y="1527714"/>
              <a:ext cx="576289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6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A17A4D40-E886-4424-BEAA-327611B63A63}"/>
                </a:ext>
              </a:extLst>
            </p:cNvPr>
            <p:cNvSpPr/>
            <p:nvPr/>
          </p:nvSpPr>
          <p:spPr>
            <a:xfrm>
              <a:off x="5725707" y="1527714"/>
              <a:ext cx="576288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3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3634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1" grpId="0" animBg="1"/>
      <p:bldP spid="12" grpId="0" animBg="1"/>
      <p:bldP spid="12" grpId="1" animBg="1"/>
      <p:bldP spid="13" grpId="0" animBg="1"/>
      <p:bldP spid="14" grpId="0" animBg="1"/>
      <p:bldP spid="14" grpId="1" animBg="1"/>
      <p:bldP spid="15" grpId="0" animBg="1"/>
      <p:bldP spid="1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7.3 List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!!!栈1">
            <a:extLst>
              <a:ext uri="{FF2B5EF4-FFF2-40B4-BE49-F238E27FC236}">
                <a16:creationId xmlns:a16="http://schemas.microsoft.com/office/drawing/2014/main" id="{09FF8CAF-7EE5-4BF1-9CBC-433119B56A3F}"/>
              </a:ext>
            </a:extLst>
          </p:cNvPr>
          <p:cNvSpPr txBox="1">
            <a:spLocks/>
          </p:cNvSpPr>
          <p:nvPr/>
        </p:nvSpPr>
        <p:spPr>
          <a:xfrm>
            <a:off x="710880" y="1002232"/>
            <a:ext cx="1937070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Alibaba PuHuiTi Medium" pitchFamily="18" charset="-122"/>
              </a:rPr>
              <a:t>数据结构</a:t>
            </a:r>
          </a:p>
        </p:txBody>
      </p:sp>
      <p:sp>
        <p:nvSpPr>
          <p:cNvPr id="6" name="!!!栈2">
            <a:extLst>
              <a:ext uri="{FF2B5EF4-FFF2-40B4-BE49-F238E27FC236}">
                <a16:creationId xmlns:a16="http://schemas.microsoft.com/office/drawing/2014/main" id="{D2EF26CF-D9E3-410F-BD3A-F6C0ECEE2161}"/>
              </a:ext>
            </a:extLst>
          </p:cNvPr>
          <p:cNvSpPr txBox="1">
            <a:spLocks/>
          </p:cNvSpPr>
          <p:nvPr/>
        </p:nvSpPr>
        <p:spPr>
          <a:xfrm>
            <a:off x="1709870" y="1002230"/>
            <a:ext cx="1280980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ea typeface="Alibaba PuHuiTi Medium" pitchFamily="18" charset="-122"/>
              </a:rPr>
              <a:t>（数组）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AE3681F8-8912-4E5F-BFA8-83B0B971989B}"/>
              </a:ext>
            </a:extLst>
          </p:cNvPr>
          <p:cNvSpPr txBox="1"/>
          <p:nvPr/>
        </p:nvSpPr>
        <p:spPr>
          <a:xfrm>
            <a:off x="710880" y="3711643"/>
            <a:ext cx="10251017" cy="5108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查询速度快：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查询数据通过地址值和索引定位，查询任意数据耗时相同</a:t>
            </a:r>
            <a:endParaRPr lang="zh-CN" altLang="en-US" sz="1600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D82D6D67-B1EC-4211-9F12-C3CDB8960323}"/>
              </a:ext>
            </a:extLst>
          </p:cNvPr>
          <p:cNvSpPr txBox="1"/>
          <p:nvPr/>
        </p:nvSpPr>
        <p:spPr>
          <a:xfrm>
            <a:off x="710880" y="4222488"/>
            <a:ext cx="10464800" cy="5108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增、删效率低：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新增或删除数据的时候，都有可能大批量的移动数组中其他的元素</a:t>
            </a:r>
            <a:endParaRPr lang="zh-CN" altLang="en-US" sz="1600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8FE641-1BF9-419E-BA91-82A0358453F5}"/>
              </a:ext>
            </a:extLst>
          </p:cNvPr>
          <p:cNvSpPr/>
          <p:nvPr/>
        </p:nvSpPr>
        <p:spPr>
          <a:xfrm>
            <a:off x="710880" y="2495254"/>
            <a:ext cx="6337300" cy="960967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6F49972-FA6D-477E-B360-949B3BB626B9}"/>
              </a:ext>
            </a:extLst>
          </p:cNvPr>
          <p:cNvSpPr/>
          <p:nvPr/>
        </p:nvSpPr>
        <p:spPr>
          <a:xfrm>
            <a:off x="850580" y="2592620"/>
            <a:ext cx="768351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DCC0457-DCAE-4E2D-B523-7D9A712AB943}"/>
              </a:ext>
            </a:extLst>
          </p:cNvPr>
          <p:cNvSpPr/>
          <p:nvPr/>
        </p:nvSpPr>
        <p:spPr>
          <a:xfrm>
            <a:off x="1733231" y="2592620"/>
            <a:ext cx="768349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9FAEBD7-F57C-4B22-8712-DA3DDEABB82B}"/>
              </a:ext>
            </a:extLst>
          </p:cNvPr>
          <p:cNvSpPr/>
          <p:nvPr/>
        </p:nvSpPr>
        <p:spPr>
          <a:xfrm>
            <a:off x="2615880" y="2592620"/>
            <a:ext cx="768351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AA050AB-B8EF-4FC4-8C77-EFA6958A4C66}"/>
              </a:ext>
            </a:extLst>
          </p:cNvPr>
          <p:cNvSpPr/>
          <p:nvPr/>
        </p:nvSpPr>
        <p:spPr>
          <a:xfrm>
            <a:off x="4381180" y="2592620"/>
            <a:ext cx="768351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5434812-5979-4E70-A412-80C286414721}"/>
              </a:ext>
            </a:extLst>
          </p:cNvPr>
          <p:cNvSpPr/>
          <p:nvPr/>
        </p:nvSpPr>
        <p:spPr>
          <a:xfrm>
            <a:off x="5263831" y="2592620"/>
            <a:ext cx="768349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9F86D1A-432D-4A21-B7D1-E93BCF99B934}"/>
              </a:ext>
            </a:extLst>
          </p:cNvPr>
          <p:cNvSpPr/>
          <p:nvPr/>
        </p:nvSpPr>
        <p:spPr>
          <a:xfrm>
            <a:off x="6146480" y="2592620"/>
            <a:ext cx="768351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297B913-8C46-4B42-A4FC-C24B15870C15}"/>
              </a:ext>
            </a:extLst>
          </p:cNvPr>
          <p:cNvSpPr/>
          <p:nvPr/>
        </p:nvSpPr>
        <p:spPr>
          <a:xfrm>
            <a:off x="3498531" y="2592620"/>
            <a:ext cx="768349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ADC0038-6611-4881-ADA7-38E761ED11B8}"/>
              </a:ext>
            </a:extLst>
          </p:cNvPr>
          <p:cNvGrpSpPr>
            <a:grpSpLocks/>
          </p:cNvGrpSpPr>
          <p:nvPr/>
        </p:nvGrpSpPr>
        <p:grpSpPr bwMode="auto">
          <a:xfrm>
            <a:off x="850580" y="1775587"/>
            <a:ext cx="6064251" cy="768351"/>
            <a:chOff x="3739654" y="1527714"/>
            <a:chExt cx="4548395" cy="576000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EFDC16D8-14A7-4DFE-8E20-2DD78E3FEB9C}"/>
                </a:ext>
              </a:extLst>
            </p:cNvPr>
            <p:cNvSpPr/>
            <p:nvPr/>
          </p:nvSpPr>
          <p:spPr>
            <a:xfrm>
              <a:off x="3739654" y="1527714"/>
              <a:ext cx="576289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0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CE607EC8-2D30-4B72-9AFB-BA8BF6E095B0}"/>
                </a:ext>
              </a:extLst>
            </p:cNvPr>
            <p:cNvSpPr/>
            <p:nvPr/>
          </p:nvSpPr>
          <p:spPr>
            <a:xfrm>
              <a:off x="4401672" y="1527714"/>
              <a:ext cx="576288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1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9E863B4E-6234-4DFB-9A76-149F04D4A020}"/>
                </a:ext>
              </a:extLst>
            </p:cNvPr>
            <p:cNvSpPr/>
            <p:nvPr/>
          </p:nvSpPr>
          <p:spPr>
            <a:xfrm>
              <a:off x="5063689" y="1527714"/>
              <a:ext cx="576289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2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F8A8CBF8-ACA0-409C-A746-D62CB08EC9A4}"/>
                </a:ext>
              </a:extLst>
            </p:cNvPr>
            <p:cNvSpPr/>
            <p:nvPr/>
          </p:nvSpPr>
          <p:spPr>
            <a:xfrm>
              <a:off x="6387725" y="1527714"/>
              <a:ext cx="576289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4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740AA367-4989-4F5E-BF38-F6D792BB7F81}"/>
                </a:ext>
              </a:extLst>
            </p:cNvPr>
            <p:cNvSpPr/>
            <p:nvPr/>
          </p:nvSpPr>
          <p:spPr>
            <a:xfrm>
              <a:off x="7049743" y="1527714"/>
              <a:ext cx="576288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5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0B11E91-BC5F-4F99-83F2-908F26B9D095}"/>
                </a:ext>
              </a:extLst>
            </p:cNvPr>
            <p:cNvSpPr/>
            <p:nvPr/>
          </p:nvSpPr>
          <p:spPr>
            <a:xfrm>
              <a:off x="7711760" y="1527714"/>
              <a:ext cx="576289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6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DF977099-440C-4F45-967F-9C656CA79BBE}"/>
                </a:ext>
              </a:extLst>
            </p:cNvPr>
            <p:cNvSpPr/>
            <p:nvPr/>
          </p:nvSpPr>
          <p:spPr>
            <a:xfrm>
              <a:off x="5725707" y="1527714"/>
              <a:ext cx="576288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3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67577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7.3 List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!!!栈1">
            <a:extLst>
              <a:ext uri="{FF2B5EF4-FFF2-40B4-BE49-F238E27FC236}">
                <a16:creationId xmlns:a16="http://schemas.microsoft.com/office/drawing/2014/main" id="{BF3509ED-307C-4389-9392-B5E0F1A40F2C}"/>
              </a:ext>
            </a:extLst>
          </p:cNvPr>
          <p:cNvSpPr txBox="1">
            <a:spLocks/>
          </p:cNvSpPr>
          <p:nvPr/>
        </p:nvSpPr>
        <p:spPr>
          <a:xfrm>
            <a:off x="710880" y="1002232"/>
            <a:ext cx="1937070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ea typeface="Alibaba PuHuiTi Medium" pitchFamily="18" charset="-122"/>
              </a:rPr>
              <a:t>数据结构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ea typeface="Alibaba PuHuiTi Medium" pitchFamily="18" charset="-122"/>
            </a:endParaRPr>
          </a:p>
        </p:txBody>
      </p:sp>
      <p:sp>
        <p:nvSpPr>
          <p:cNvPr id="6" name="!!!栈2">
            <a:extLst>
              <a:ext uri="{FF2B5EF4-FFF2-40B4-BE49-F238E27FC236}">
                <a16:creationId xmlns:a16="http://schemas.microsoft.com/office/drawing/2014/main" id="{CE53A705-4D37-4C27-9EAC-919E7F3B02C8}"/>
              </a:ext>
            </a:extLst>
          </p:cNvPr>
          <p:cNvSpPr txBox="1">
            <a:spLocks/>
          </p:cNvSpPr>
          <p:nvPr/>
        </p:nvSpPr>
        <p:spPr>
          <a:xfrm>
            <a:off x="1709870" y="1002230"/>
            <a:ext cx="1280980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ea typeface="Alibaba PuHuiTi Medium" pitchFamily="18" charset="-122"/>
              </a:rPr>
              <a:t>（数组）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8FF98D59-D329-49BA-9B26-81452F272AEB}"/>
              </a:ext>
            </a:extLst>
          </p:cNvPr>
          <p:cNvSpPr txBox="1"/>
          <p:nvPr/>
        </p:nvSpPr>
        <p:spPr>
          <a:xfrm>
            <a:off x="710880" y="3711643"/>
            <a:ext cx="10251017" cy="5108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查询速度快：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查询数据通过地址值和索引定位，查询任意数据耗时相同</a:t>
            </a:r>
            <a:endParaRPr lang="zh-CN" altLang="en-US" sz="1600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D0878C6-AED4-47AE-B2D2-38730E21C323}"/>
              </a:ext>
            </a:extLst>
          </p:cNvPr>
          <p:cNvSpPr/>
          <p:nvPr/>
        </p:nvSpPr>
        <p:spPr>
          <a:xfrm>
            <a:off x="710880" y="2495254"/>
            <a:ext cx="6337300" cy="960967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7DA65BE-FF74-4BB7-B386-2C945D77681C}"/>
              </a:ext>
            </a:extLst>
          </p:cNvPr>
          <p:cNvSpPr/>
          <p:nvPr/>
        </p:nvSpPr>
        <p:spPr>
          <a:xfrm>
            <a:off x="850580" y="2592620"/>
            <a:ext cx="768351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4C1B840-1415-4D11-BEB4-8316F82CA48E}"/>
              </a:ext>
            </a:extLst>
          </p:cNvPr>
          <p:cNvSpPr/>
          <p:nvPr/>
        </p:nvSpPr>
        <p:spPr>
          <a:xfrm>
            <a:off x="2615880" y="2592620"/>
            <a:ext cx="768351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6623628-7B10-48AE-A933-8E7F940F66F5}"/>
              </a:ext>
            </a:extLst>
          </p:cNvPr>
          <p:cNvSpPr/>
          <p:nvPr/>
        </p:nvSpPr>
        <p:spPr>
          <a:xfrm>
            <a:off x="4381180" y="2592620"/>
            <a:ext cx="768351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6344224-F8A5-4EAA-B5CE-4DEBC45297CD}"/>
              </a:ext>
            </a:extLst>
          </p:cNvPr>
          <p:cNvSpPr/>
          <p:nvPr/>
        </p:nvSpPr>
        <p:spPr>
          <a:xfrm>
            <a:off x="5263831" y="2592620"/>
            <a:ext cx="768349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1C3A126-523B-467B-A8FE-4C0CBEA702A6}"/>
              </a:ext>
            </a:extLst>
          </p:cNvPr>
          <p:cNvSpPr/>
          <p:nvPr/>
        </p:nvSpPr>
        <p:spPr>
          <a:xfrm>
            <a:off x="6146480" y="2592620"/>
            <a:ext cx="768351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A452983-4DFB-4AC7-9765-034A1D462035}"/>
              </a:ext>
            </a:extLst>
          </p:cNvPr>
          <p:cNvSpPr/>
          <p:nvPr/>
        </p:nvSpPr>
        <p:spPr>
          <a:xfrm>
            <a:off x="3498531" y="2592620"/>
            <a:ext cx="768349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69C720B-1142-4120-82D4-9B57913D69C2}"/>
              </a:ext>
            </a:extLst>
          </p:cNvPr>
          <p:cNvGrpSpPr>
            <a:grpSpLocks/>
          </p:cNvGrpSpPr>
          <p:nvPr/>
        </p:nvGrpSpPr>
        <p:grpSpPr bwMode="auto">
          <a:xfrm>
            <a:off x="850580" y="1775587"/>
            <a:ext cx="6064251" cy="768351"/>
            <a:chOff x="3739654" y="1527714"/>
            <a:chExt cx="4548395" cy="576000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77A9612-2AE4-4689-8720-8A8FC1C9D73E}"/>
                </a:ext>
              </a:extLst>
            </p:cNvPr>
            <p:cNvSpPr/>
            <p:nvPr/>
          </p:nvSpPr>
          <p:spPr>
            <a:xfrm>
              <a:off x="3739654" y="1527714"/>
              <a:ext cx="576289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0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E85D272-FAC4-4C58-A233-EBD676CDE9BC}"/>
                </a:ext>
              </a:extLst>
            </p:cNvPr>
            <p:cNvSpPr/>
            <p:nvPr/>
          </p:nvSpPr>
          <p:spPr>
            <a:xfrm>
              <a:off x="4401672" y="1527714"/>
              <a:ext cx="576288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1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1B13D814-0888-4511-B302-751B582D0D71}"/>
                </a:ext>
              </a:extLst>
            </p:cNvPr>
            <p:cNvSpPr/>
            <p:nvPr/>
          </p:nvSpPr>
          <p:spPr>
            <a:xfrm>
              <a:off x="5063689" y="1527714"/>
              <a:ext cx="576289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2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EAEF80C3-A53B-44CC-84AE-8AF91F21F9B9}"/>
                </a:ext>
              </a:extLst>
            </p:cNvPr>
            <p:cNvSpPr/>
            <p:nvPr/>
          </p:nvSpPr>
          <p:spPr>
            <a:xfrm>
              <a:off x="6387725" y="1527714"/>
              <a:ext cx="576289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4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5C92DEF8-A19F-4D05-92CE-6D7BA3A53921}"/>
                </a:ext>
              </a:extLst>
            </p:cNvPr>
            <p:cNvSpPr/>
            <p:nvPr/>
          </p:nvSpPr>
          <p:spPr>
            <a:xfrm>
              <a:off x="7049743" y="1527714"/>
              <a:ext cx="576288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5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D08606B4-817B-4215-80CA-3C2C47C20309}"/>
                </a:ext>
              </a:extLst>
            </p:cNvPr>
            <p:cNvSpPr/>
            <p:nvPr/>
          </p:nvSpPr>
          <p:spPr>
            <a:xfrm>
              <a:off x="7711760" y="1527714"/>
              <a:ext cx="576289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6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70261F94-3BE7-4A1C-BCEA-62C45BBC88D6}"/>
                </a:ext>
              </a:extLst>
            </p:cNvPr>
            <p:cNvSpPr/>
            <p:nvPr/>
          </p:nvSpPr>
          <p:spPr>
            <a:xfrm>
              <a:off x="5725707" y="1527714"/>
              <a:ext cx="576288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3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3" name="TextBox 2">
            <a:extLst>
              <a:ext uri="{FF2B5EF4-FFF2-40B4-BE49-F238E27FC236}">
                <a16:creationId xmlns:a16="http://schemas.microsoft.com/office/drawing/2014/main" id="{722D896C-6E1D-4282-918C-079922C02AEB}"/>
              </a:ext>
            </a:extLst>
          </p:cNvPr>
          <p:cNvSpPr txBox="1"/>
          <p:nvPr/>
        </p:nvSpPr>
        <p:spPr>
          <a:xfrm>
            <a:off x="710880" y="4222488"/>
            <a:ext cx="10464800" cy="5108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增、删效率低：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新增或删除数据的时候，都有可能大批量的移动数组中其他的元素</a:t>
            </a:r>
            <a:endParaRPr lang="zh-CN" altLang="en-US" sz="1600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66829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7.3 List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!!!栈1">
            <a:extLst>
              <a:ext uri="{FF2B5EF4-FFF2-40B4-BE49-F238E27FC236}">
                <a16:creationId xmlns:a16="http://schemas.microsoft.com/office/drawing/2014/main" id="{6DD6FFED-1013-49F5-ABF7-F1F7892BACF3}"/>
              </a:ext>
            </a:extLst>
          </p:cNvPr>
          <p:cNvSpPr txBox="1">
            <a:spLocks/>
          </p:cNvSpPr>
          <p:nvPr/>
        </p:nvSpPr>
        <p:spPr>
          <a:xfrm>
            <a:off x="710880" y="1002232"/>
            <a:ext cx="1937070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ea typeface="Alibaba PuHuiTi Medium" pitchFamily="18" charset="-122"/>
              </a:rPr>
              <a:t>数据结构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ea typeface="Alibaba PuHuiTi Medium" pitchFamily="18" charset="-122"/>
            </a:endParaRPr>
          </a:p>
        </p:txBody>
      </p:sp>
      <p:sp>
        <p:nvSpPr>
          <p:cNvPr id="6" name="!!!栈2">
            <a:extLst>
              <a:ext uri="{FF2B5EF4-FFF2-40B4-BE49-F238E27FC236}">
                <a16:creationId xmlns:a16="http://schemas.microsoft.com/office/drawing/2014/main" id="{C58BF3AB-6D62-47B2-9899-362E800BBA5B}"/>
              </a:ext>
            </a:extLst>
          </p:cNvPr>
          <p:cNvSpPr txBox="1">
            <a:spLocks/>
          </p:cNvSpPr>
          <p:nvPr/>
        </p:nvSpPr>
        <p:spPr>
          <a:xfrm>
            <a:off x="1709870" y="1002230"/>
            <a:ext cx="1280980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ea typeface="Alibaba PuHuiTi Medium" pitchFamily="18" charset="-122"/>
              </a:rPr>
              <a:t>（数组）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13B2F00-CD9B-4F74-911B-C479AE5A69B6}"/>
              </a:ext>
            </a:extLst>
          </p:cNvPr>
          <p:cNvSpPr txBox="1"/>
          <p:nvPr/>
        </p:nvSpPr>
        <p:spPr>
          <a:xfrm>
            <a:off x="710880" y="3711643"/>
            <a:ext cx="10251017" cy="5108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查询速度快：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查询数据通过地址值和索引定位，查询任意数据耗时相同</a:t>
            </a:r>
            <a:endParaRPr lang="zh-CN" altLang="en-US" sz="1600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9E1CA06-7AFA-4E9F-89CB-CDD61D9791B3}"/>
              </a:ext>
            </a:extLst>
          </p:cNvPr>
          <p:cNvSpPr/>
          <p:nvPr/>
        </p:nvSpPr>
        <p:spPr>
          <a:xfrm>
            <a:off x="710880" y="2495254"/>
            <a:ext cx="6337300" cy="960967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D89C98-45EB-466E-9F20-374D5D09CF1B}"/>
              </a:ext>
            </a:extLst>
          </p:cNvPr>
          <p:cNvSpPr/>
          <p:nvPr/>
        </p:nvSpPr>
        <p:spPr>
          <a:xfrm>
            <a:off x="850580" y="2592620"/>
            <a:ext cx="768351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0A3ADF2-AA81-470D-B653-4F8000325163}"/>
              </a:ext>
            </a:extLst>
          </p:cNvPr>
          <p:cNvSpPr/>
          <p:nvPr/>
        </p:nvSpPr>
        <p:spPr>
          <a:xfrm>
            <a:off x="1758631" y="2592620"/>
            <a:ext cx="768351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EE8D83-D6AB-419F-8DF4-3B4F4A7027C3}"/>
              </a:ext>
            </a:extLst>
          </p:cNvPr>
          <p:cNvSpPr/>
          <p:nvPr/>
        </p:nvSpPr>
        <p:spPr>
          <a:xfrm>
            <a:off x="3512616" y="2592620"/>
            <a:ext cx="768351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FF55917-C752-4182-A1E5-C9D22CC02CDD}"/>
              </a:ext>
            </a:extLst>
          </p:cNvPr>
          <p:cNvSpPr/>
          <p:nvPr/>
        </p:nvSpPr>
        <p:spPr>
          <a:xfrm>
            <a:off x="4395267" y="2592620"/>
            <a:ext cx="768349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2E283FE-95F0-43B1-9D5C-C0E78057317A}"/>
              </a:ext>
            </a:extLst>
          </p:cNvPr>
          <p:cNvSpPr/>
          <p:nvPr/>
        </p:nvSpPr>
        <p:spPr>
          <a:xfrm>
            <a:off x="5277916" y="2592620"/>
            <a:ext cx="768351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45F6A0E-918F-48D9-A864-5E616E9E9E9A}"/>
              </a:ext>
            </a:extLst>
          </p:cNvPr>
          <p:cNvSpPr/>
          <p:nvPr/>
        </p:nvSpPr>
        <p:spPr>
          <a:xfrm>
            <a:off x="2666682" y="2592620"/>
            <a:ext cx="768349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334CC86-AE39-4012-9070-7917AC3DEE55}"/>
              </a:ext>
            </a:extLst>
          </p:cNvPr>
          <p:cNvGrpSpPr>
            <a:grpSpLocks/>
          </p:cNvGrpSpPr>
          <p:nvPr/>
        </p:nvGrpSpPr>
        <p:grpSpPr bwMode="auto">
          <a:xfrm>
            <a:off x="850580" y="1775587"/>
            <a:ext cx="5181600" cy="768351"/>
            <a:chOff x="3739654" y="1527714"/>
            <a:chExt cx="3886377" cy="576000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1E2B37F6-A4A0-47C9-B582-EA790EE67F83}"/>
                </a:ext>
              </a:extLst>
            </p:cNvPr>
            <p:cNvSpPr/>
            <p:nvPr/>
          </p:nvSpPr>
          <p:spPr>
            <a:xfrm>
              <a:off x="3739654" y="1527714"/>
              <a:ext cx="576289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0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BE341B9D-4B42-41AB-A575-81E6A40459DB}"/>
                </a:ext>
              </a:extLst>
            </p:cNvPr>
            <p:cNvSpPr/>
            <p:nvPr/>
          </p:nvSpPr>
          <p:spPr>
            <a:xfrm>
              <a:off x="4401672" y="1527714"/>
              <a:ext cx="576288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1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E3FD38FE-84DB-4BB0-BB87-7B4A5C51AE40}"/>
                </a:ext>
              </a:extLst>
            </p:cNvPr>
            <p:cNvSpPr/>
            <p:nvPr/>
          </p:nvSpPr>
          <p:spPr>
            <a:xfrm>
              <a:off x="5063689" y="1527714"/>
              <a:ext cx="576289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2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395B392-87E4-4FB2-9E41-CF9FF720B40D}"/>
                </a:ext>
              </a:extLst>
            </p:cNvPr>
            <p:cNvSpPr/>
            <p:nvPr/>
          </p:nvSpPr>
          <p:spPr>
            <a:xfrm>
              <a:off x="6387725" y="1527714"/>
              <a:ext cx="576289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4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F0F0EB1D-2CBD-4BE7-9AA2-8A0BF612BA1A}"/>
                </a:ext>
              </a:extLst>
            </p:cNvPr>
            <p:cNvSpPr/>
            <p:nvPr/>
          </p:nvSpPr>
          <p:spPr>
            <a:xfrm>
              <a:off x="7049743" y="1527714"/>
              <a:ext cx="576288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5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78D5512A-8D44-40E9-B9FC-36B3FA75B010}"/>
                </a:ext>
              </a:extLst>
            </p:cNvPr>
            <p:cNvSpPr/>
            <p:nvPr/>
          </p:nvSpPr>
          <p:spPr>
            <a:xfrm>
              <a:off x="5725707" y="1527714"/>
              <a:ext cx="576288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3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2" name="TextBox 2">
            <a:extLst>
              <a:ext uri="{FF2B5EF4-FFF2-40B4-BE49-F238E27FC236}">
                <a16:creationId xmlns:a16="http://schemas.microsoft.com/office/drawing/2014/main" id="{DA6D056E-B300-4E0C-B6C4-5EF5AE651331}"/>
              </a:ext>
            </a:extLst>
          </p:cNvPr>
          <p:cNvSpPr txBox="1"/>
          <p:nvPr/>
        </p:nvSpPr>
        <p:spPr>
          <a:xfrm>
            <a:off x="710880" y="4222488"/>
            <a:ext cx="10464800" cy="5108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增、删效率低：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新增或删除数据的时候，都有可能大批量的移动数组中其他的元素</a:t>
            </a:r>
            <a:endParaRPr lang="zh-CN" altLang="en-US" sz="1600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04644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7.3 List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!!!栈1">
            <a:extLst>
              <a:ext uri="{FF2B5EF4-FFF2-40B4-BE49-F238E27FC236}">
                <a16:creationId xmlns:a16="http://schemas.microsoft.com/office/drawing/2014/main" id="{35FE2074-F5D4-4967-BE28-97BC9C943E2F}"/>
              </a:ext>
            </a:extLst>
          </p:cNvPr>
          <p:cNvSpPr txBox="1">
            <a:spLocks/>
          </p:cNvSpPr>
          <p:nvPr/>
        </p:nvSpPr>
        <p:spPr>
          <a:xfrm>
            <a:off x="710880" y="1002232"/>
            <a:ext cx="1937070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ea typeface="Alibaba PuHuiTi Medium" pitchFamily="18" charset="-122"/>
              </a:rPr>
              <a:t>数据结构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ea typeface="Alibaba PuHuiTi Medium" pitchFamily="18" charset="-122"/>
            </a:endParaRPr>
          </a:p>
        </p:txBody>
      </p:sp>
      <p:sp>
        <p:nvSpPr>
          <p:cNvPr id="6" name="!!!栈2">
            <a:extLst>
              <a:ext uri="{FF2B5EF4-FFF2-40B4-BE49-F238E27FC236}">
                <a16:creationId xmlns:a16="http://schemas.microsoft.com/office/drawing/2014/main" id="{E058D731-9E8A-45A6-AA8E-674903F9ECD0}"/>
              </a:ext>
            </a:extLst>
          </p:cNvPr>
          <p:cNvSpPr txBox="1">
            <a:spLocks/>
          </p:cNvSpPr>
          <p:nvPr/>
        </p:nvSpPr>
        <p:spPr>
          <a:xfrm>
            <a:off x="1709870" y="1002230"/>
            <a:ext cx="1280980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ea typeface="Alibaba PuHuiTi Medium" pitchFamily="18" charset="-122"/>
              </a:rPr>
              <a:t>（数组）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1A9E16FE-76B9-412E-BEC6-A59377351120}"/>
              </a:ext>
            </a:extLst>
          </p:cNvPr>
          <p:cNvSpPr txBox="1"/>
          <p:nvPr/>
        </p:nvSpPr>
        <p:spPr>
          <a:xfrm>
            <a:off x="710880" y="3711643"/>
            <a:ext cx="10251017" cy="5108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查询速度快：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查询数据通过地址值和索引定位，查询任意数据耗时相同</a:t>
            </a:r>
            <a:endParaRPr lang="zh-CN" altLang="en-US" sz="1600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428831-DBE7-4104-81A1-D10B85295E62}"/>
              </a:ext>
            </a:extLst>
          </p:cNvPr>
          <p:cNvSpPr/>
          <p:nvPr/>
        </p:nvSpPr>
        <p:spPr>
          <a:xfrm>
            <a:off x="710880" y="2495254"/>
            <a:ext cx="6337300" cy="960967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4D3BB46-7BB8-4714-B591-076369413E23}"/>
              </a:ext>
            </a:extLst>
          </p:cNvPr>
          <p:cNvSpPr/>
          <p:nvPr/>
        </p:nvSpPr>
        <p:spPr>
          <a:xfrm>
            <a:off x="850580" y="2592620"/>
            <a:ext cx="768351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F7E5216-9B21-44C6-A7E3-73CC8A057478}"/>
              </a:ext>
            </a:extLst>
          </p:cNvPr>
          <p:cNvSpPr/>
          <p:nvPr/>
        </p:nvSpPr>
        <p:spPr>
          <a:xfrm>
            <a:off x="1758631" y="2592620"/>
            <a:ext cx="768351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9ED28DE-0A94-4C57-B6F3-731727B51C59}"/>
              </a:ext>
            </a:extLst>
          </p:cNvPr>
          <p:cNvSpPr/>
          <p:nvPr/>
        </p:nvSpPr>
        <p:spPr>
          <a:xfrm>
            <a:off x="3512616" y="2592620"/>
            <a:ext cx="768351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460754F-A43C-4D77-B7DE-BE2EF978AA81}"/>
              </a:ext>
            </a:extLst>
          </p:cNvPr>
          <p:cNvSpPr/>
          <p:nvPr/>
        </p:nvSpPr>
        <p:spPr>
          <a:xfrm>
            <a:off x="4395267" y="2592620"/>
            <a:ext cx="768349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1D3A858-09A0-4D86-BBD2-F68B32193A33}"/>
              </a:ext>
            </a:extLst>
          </p:cNvPr>
          <p:cNvSpPr/>
          <p:nvPr/>
        </p:nvSpPr>
        <p:spPr>
          <a:xfrm>
            <a:off x="5277916" y="2592620"/>
            <a:ext cx="768351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D3EB24-1ACE-4029-BB61-1F11CF705C6C}"/>
              </a:ext>
            </a:extLst>
          </p:cNvPr>
          <p:cNvSpPr/>
          <p:nvPr/>
        </p:nvSpPr>
        <p:spPr>
          <a:xfrm>
            <a:off x="2666682" y="2592620"/>
            <a:ext cx="768349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448BEBB-482D-496B-B880-0286F2CE70D7}"/>
              </a:ext>
            </a:extLst>
          </p:cNvPr>
          <p:cNvGrpSpPr>
            <a:grpSpLocks/>
          </p:cNvGrpSpPr>
          <p:nvPr/>
        </p:nvGrpSpPr>
        <p:grpSpPr bwMode="auto">
          <a:xfrm>
            <a:off x="850580" y="1775587"/>
            <a:ext cx="5181600" cy="768351"/>
            <a:chOff x="3739654" y="1527714"/>
            <a:chExt cx="3886377" cy="576000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BBD8669-F60C-49B6-9986-90396C1F3118}"/>
                </a:ext>
              </a:extLst>
            </p:cNvPr>
            <p:cNvSpPr/>
            <p:nvPr/>
          </p:nvSpPr>
          <p:spPr>
            <a:xfrm>
              <a:off x="3739654" y="1527714"/>
              <a:ext cx="576289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0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F5F7C865-AAFA-42A6-A57F-7FF9310C1974}"/>
                </a:ext>
              </a:extLst>
            </p:cNvPr>
            <p:cNvSpPr/>
            <p:nvPr/>
          </p:nvSpPr>
          <p:spPr>
            <a:xfrm>
              <a:off x="4401672" y="1527714"/>
              <a:ext cx="576288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1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956273C-D9C6-47F2-B269-BA5951E3FB7A}"/>
                </a:ext>
              </a:extLst>
            </p:cNvPr>
            <p:cNvSpPr/>
            <p:nvPr/>
          </p:nvSpPr>
          <p:spPr>
            <a:xfrm>
              <a:off x="5063689" y="1527714"/>
              <a:ext cx="576289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2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262CA11-E5B0-4970-9001-3293829A20B5}"/>
                </a:ext>
              </a:extLst>
            </p:cNvPr>
            <p:cNvSpPr/>
            <p:nvPr/>
          </p:nvSpPr>
          <p:spPr>
            <a:xfrm>
              <a:off x="6387725" y="1527714"/>
              <a:ext cx="576289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4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CB185E4-733A-4465-9686-DE474EACAC6A}"/>
                </a:ext>
              </a:extLst>
            </p:cNvPr>
            <p:cNvSpPr/>
            <p:nvPr/>
          </p:nvSpPr>
          <p:spPr>
            <a:xfrm>
              <a:off x="7049743" y="1527714"/>
              <a:ext cx="576288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5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B1AD1AD8-E685-473D-9C9E-9F2805083E59}"/>
                </a:ext>
              </a:extLst>
            </p:cNvPr>
            <p:cNvSpPr/>
            <p:nvPr/>
          </p:nvSpPr>
          <p:spPr>
            <a:xfrm>
              <a:off x="5725707" y="1527714"/>
              <a:ext cx="576288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3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2" name="TextBox 2">
            <a:extLst>
              <a:ext uri="{FF2B5EF4-FFF2-40B4-BE49-F238E27FC236}">
                <a16:creationId xmlns:a16="http://schemas.microsoft.com/office/drawing/2014/main" id="{AA177AAB-D599-4738-A0D9-8F064C3CC444}"/>
              </a:ext>
            </a:extLst>
          </p:cNvPr>
          <p:cNvSpPr txBox="1"/>
          <p:nvPr/>
        </p:nvSpPr>
        <p:spPr>
          <a:xfrm>
            <a:off x="710880" y="4222488"/>
            <a:ext cx="10464800" cy="5108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增、删效率低：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新增或删除数据的时候，都有可能大批量的移动数组中其他的元素</a:t>
            </a:r>
            <a:endParaRPr lang="zh-CN" altLang="en-US" sz="1600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744B203-122A-4CC3-A079-B8BDA66C2246}"/>
              </a:ext>
            </a:extLst>
          </p:cNvPr>
          <p:cNvSpPr/>
          <p:nvPr/>
        </p:nvSpPr>
        <p:spPr>
          <a:xfrm>
            <a:off x="1679415" y="5006211"/>
            <a:ext cx="768349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2092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7.3 List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!!!栈1">
            <a:extLst>
              <a:ext uri="{FF2B5EF4-FFF2-40B4-BE49-F238E27FC236}">
                <a16:creationId xmlns:a16="http://schemas.microsoft.com/office/drawing/2014/main" id="{3333EF5E-07D3-4243-BF05-ED1A0E5F098A}"/>
              </a:ext>
            </a:extLst>
          </p:cNvPr>
          <p:cNvSpPr txBox="1">
            <a:spLocks/>
          </p:cNvSpPr>
          <p:nvPr/>
        </p:nvSpPr>
        <p:spPr>
          <a:xfrm>
            <a:off x="710880" y="1002232"/>
            <a:ext cx="1937070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ea typeface="Alibaba PuHuiTi Medium" pitchFamily="18" charset="-122"/>
              </a:rPr>
              <a:t>数据结构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ea typeface="Alibaba PuHuiTi Medium" pitchFamily="18" charset="-122"/>
            </a:endParaRPr>
          </a:p>
        </p:txBody>
      </p:sp>
      <p:sp>
        <p:nvSpPr>
          <p:cNvPr id="6" name="!!!栈2">
            <a:extLst>
              <a:ext uri="{FF2B5EF4-FFF2-40B4-BE49-F238E27FC236}">
                <a16:creationId xmlns:a16="http://schemas.microsoft.com/office/drawing/2014/main" id="{99777E8D-3955-44DD-AEA2-E63DF1818300}"/>
              </a:ext>
            </a:extLst>
          </p:cNvPr>
          <p:cNvSpPr txBox="1">
            <a:spLocks/>
          </p:cNvSpPr>
          <p:nvPr/>
        </p:nvSpPr>
        <p:spPr>
          <a:xfrm>
            <a:off x="1709870" y="1002230"/>
            <a:ext cx="1280980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ea typeface="Alibaba PuHuiTi Medium" pitchFamily="18" charset="-122"/>
              </a:rPr>
              <a:t>（数组）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4C344A05-E3D5-47DC-AB78-D50BCA6FE7A4}"/>
              </a:ext>
            </a:extLst>
          </p:cNvPr>
          <p:cNvSpPr txBox="1"/>
          <p:nvPr/>
        </p:nvSpPr>
        <p:spPr>
          <a:xfrm>
            <a:off x="710880" y="3711643"/>
            <a:ext cx="10251017" cy="5108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查询速度快：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查询数据通过地址值和索引定位，查询任意数据耗时相同</a:t>
            </a:r>
            <a:endParaRPr lang="zh-CN" altLang="en-US" sz="1600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D6AD0CA-F64A-41BE-8124-4FC55AADEF09}"/>
              </a:ext>
            </a:extLst>
          </p:cNvPr>
          <p:cNvSpPr/>
          <p:nvPr/>
        </p:nvSpPr>
        <p:spPr>
          <a:xfrm>
            <a:off x="710880" y="2495254"/>
            <a:ext cx="6337300" cy="960967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529F141-6496-4C73-B5CF-77916DD0CEE4}"/>
              </a:ext>
            </a:extLst>
          </p:cNvPr>
          <p:cNvSpPr/>
          <p:nvPr/>
        </p:nvSpPr>
        <p:spPr>
          <a:xfrm>
            <a:off x="850580" y="2592620"/>
            <a:ext cx="768351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66F8A2-8803-4BCE-A004-EE96D9590623}"/>
              </a:ext>
            </a:extLst>
          </p:cNvPr>
          <p:cNvSpPr/>
          <p:nvPr/>
        </p:nvSpPr>
        <p:spPr>
          <a:xfrm>
            <a:off x="2647950" y="2592620"/>
            <a:ext cx="768351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B6B39D8-15E0-4A59-9854-7DA09524EB82}"/>
              </a:ext>
            </a:extLst>
          </p:cNvPr>
          <p:cNvSpPr/>
          <p:nvPr/>
        </p:nvSpPr>
        <p:spPr>
          <a:xfrm>
            <a:off x="4401935" y="2592620"/>
            <a:ext cx="768351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828558E-D1D2-4636-81A3-FAE51558F485}"/>
              </a:ext>
            </a:extLst>
          </p:cNvPr>
          <p:cNvSpPr/>
          <p:nvPr/>
        </p:nvSpPr>
        <p:spPr>
          <a:xfrm>
            <a:off x="5284586" y="2592620"/>
            <a:ext cx="768349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0BEAC4-51B0-45CF-AA3F-0756847620F1}"/>
              </a:ext>
            </a:extLst>
          </p:cNvPr>
          <p:cNvSpPr/>
          <p:nvPr/>
        </p:nvSpPr>
        <p:spPr>
          <a:xfrm>
            <a:off x="6167235" y="2592620"/>
            <a:ext cx="768351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0DBBF20-3E63-42C5-B3FC-1F49441FA4B2}"/>
              </a:ext>
            </a:extLst>
          </p:cNvPr>
          <p:cNvSpPr/>
          <p:nvPr/>
        </p:nvSpPr>
        <p:spPr>
          <a:xfrm>
            <a:off x="3556001" y="2592620"/>
            <a:ext cx="768349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4F9EF8C7-5FFD-4CC1-BB54-4AF3EF1DBC23}"/>
              </a:ext>
            </a:extLst>
          </p:cNvPr>
          <p:cNvGrpSpPr>
            <a:grpSpLocks/>
          </p:cNvGrpSpPr>
          <p:nvPr/>
        </p:nvGrpSpPr>
        <p:grpSpPr bwMode="auto">
          <a:xfrm>
            <a:off x="850580" y="1775587"/>
            <a:ext cx="5181600" cy="768351"/>
            <a:chOff x="3739654" y="1527714"/>
            <a:chExt cx="3886377" cy="576000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7D2FE28A-6E72-4A60-9266-2E963EFE0BB1}"/>
                </a:ext>
              </a:extLst>
            </p:cNvPr>
            <p:cNvSpPr/>
            <p:nvPr/>
          </p:nvSpPr>
          <p:spPr>
            <a:xfrm>
              <a:off x="3739654" y="1527714"/>
              <a:ext cx="576289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0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B2A4E12B-D3CA-417C-88BC-2F894A7D8214}"/>
                </a:ext>
              </a:extLst>
            </p:cNvPr>
            <p:cNvSpPr/>
            <p:nvPr/>
          </p:nvSpPr>
          <p:spPr>
            <a:xfrm>
              <a:off x="4401672" y="1527714"/>
              <a:ext cx="576288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1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8BC5CE1A-EDFB-481F-A5EE-ED040C3C23C4}"/>
                </a:ext>
              </a:extLst>
            </p:cNvPr>
            <p:cNvSpPr/>
            <p:nvPr/>
          </p:nvSpPr>
          <p:spPr>
            <a:xfrm>
              <a:off x="5063689" y="1527714"/>
              <a:ext cx="576289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2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F519EB39-C0C4-40FE-82A8-741CDB4FA185}"/>
                </a:ext>
              </a:extLst>
            </p:cNvPr>
            <p:cNvSpPr/>
            <p:nvPr/>
          </p:nvSpPr>
          <p:spPr>
            <a:xfrm>
              <a:off x="6387725" y="1527714"/>
              <a:ext cx="576289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4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FF334C81-646F-4C2D-9A2B-68674BDDD76D}"/>
                </a:ext>
              </a:extLst>
            </p:cNvPr>
            <p:cNvSpPr/>
            <p:nvPr/>
          </p:nvSpPr>
          <p:spPr>
            <a:xfrm>
              <a:off x="7049743" y="1527714"/>
              <a:ext cx="576288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5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BD719E16-4E99-4345-A20E-77FF56BC49FA}"/>
                </a:ext>
              </a:extLst>
            </p:cNvPr>
            <p:cNvSpPr/>
            <p:nvPr/>
          </p:nvSpPr>
          <p:spPr>
            <a:xfrm>
              <a:off x="5725707" y="1527714"/>
              <a:ext cx="576288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3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2" name="TextBox 2">
            <a:extLst>
              <a:ext uri="{FF2B5EF4-FFF2-40B4-BE49-F238E27FC236}">
                <a16:creationId xmlns:a16="http://schemas.microsoft.com/office/drawing/2014/main" id="{0181B404-1A06-4237-97DD-B548B9368F44}"/>
              </a:ext>
            </a:extLst>
          </p:cNvPr>
          <p:cNvSpPr txBox="1"/>
          <p:nvPr/>
        </p:nvSpPr>
        <p:spPr>
          <a:xfrm>
            <a:off x="710880" y="4222488"/>
            <a:ext cx="10464800" cy="5108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增、删效率低：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新增或删除数据的时候，都有可能大批量的移动数组中其他的元素</a:t>
            </a:r>
            <a:endParaRPr lang="zh-CN" altLang="en-US" sz="1600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86245C6-1DAC-4EFA-A1D8-788AE59B0A24}"/>
              </a:ext>
            </a:extLst>
          </p:cNvPr>
          <p:cNvSpPr/>
          <p:nvPr/>
        </p:nvSpPr>
        <p:spPr>
          <a:xfrm>
            <a:off x="1679415" y="5006211"/>
            <a:ext cx="768349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B9B611D-ED11-451B-A2C2-0C60EAFA0BAF}"/>
              </a:ext>
            </a:extLst>
          </p:cNvPr>
          <p:cNvSpPr/>
          <p:nvPr/>
        </p:nvSpPr>
        <p:spPr bwMode="auto">
          <a:xfrm>
            <a:off x="6146480" y="1775586"/>
            <a:ext cx="768349" cy="76835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6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17356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7.3 List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!!!栈1">
            <a:extLst>
              <a:ext uri="{FF2B5EF4-FFF2-40B4-BE49-F238E27FC236}">
                <a16:creationId xmlns:a16="http://schemas.microsoft.com/office/drawing/2014/main" id="{14F11A21-43B4-4981-81CC-56B82BF16772}"/>
              </a:ext>
            </a:extLst>
          </p:cNvPr>
          <p:cNvSpPr txBox="1">
            <a:spLocks/>
          </p:cNvSpPr>
          <p:nvPr/>
        </p:nvSpPr>
        <p:spPr>
          <a:xfrm>
            <a:off x="710880" y="1002232"/>
            <a:ext cx="1937070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ea typeface="Alibaba PuHuiTi Medium" pitchFamily="18" charset="-122"/>
              </a:rPr>
              <a:t>数据结构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ea typeface="Alibaba PuHuiTi Medium" pitchFamily="18" charset="-122"/>
            </a:endParaRPr>
          </a:p>
        </p:txBody>
      </p:sp>
      <p:sp>
        <p:nvSpPr>
          <p:cNvPr id="6" name="!!!栈2">
            <a:extLst>
              <a:ext uri="{FF2B5EF4-FFF2-40B4-BE49-F238E27FC236}">
                <a16:creationId xmlns:a16="http://schemas.microsoft.com/office/drawing/2014/main" id="{D3487D1B-1687-47EF-A9C2-BF2889786853}"/>
              </a:ext>
            </a:extLst>
          </p:cNvPr>
          <p:cNvSpPr txBox="1">
            <a:spLocks/>
          </p:cNvSpPr>
          <p:nvPr/>
        </p:nvSpPr>
        <p:spPr>
          <a:xfrm>
            <a:off x="1709870" y="1002230"/>
            <a:ext cx="1280980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ea typeface="Alibaba PuHuiTi Medium" pitchFamily="18" charset="-122"/>
              </a:rPr>
              <a:t>（数组）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CE96D4B-4919-48EC-A2D4-D09241841061}"/>
              </a:ext>
            </a:extLst>
          </p:cNvPr>
          <p:cNvSpPr txBox="1"/>
          <p:nvPr/>
        </p:nvSpPr>
        <p:spPr>
          <a:xfrm>
            <a:off x="710880" y="3711643"/>
            <a:ext cx="10251017" cy="5108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查询速度快：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查询数据通过地址值和索引定位，查询任意数据耗时相同</a:t>
            </a:r>
            <a:endParaRPr lang="zh-CN" altLang="en-US" sz="1600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A67B9D-4A3D-42A4-AE1B-A2353D83066F}"/>
              </a:ext>
            </a:extLst>
          </p:cNvPr>
          <p:cNvSpPr/>
          <p:nvPr/>
        </p:nvSpPr>
        <p:spPr>
          <a:xfrm>
            <a:off x="710880" y="2495254"/>
            <a:ext cx="6337300" cy="960967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D8685D6-29AF-4840-8B57-EE1511CA28F4}"/>
              </a:ext>
            </a:extLst>
          </p:cNvPr>
          <p:cNvSpPr/>
          <p:nvPr/>
        </p:nvSpPr>
        <p:spPr>
          <a:xfrm>
            <a:off x="850580" y="2591561"/>
            <a:ext cx="768351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E6133A9-A3A1-4E52-B05F-28E0560BDB16}"/>
              </a:ext>
            </a:extLst>
          </p:cNvPr>
          <p:cNvSpPr/>
          <p:nvPr/>
        </p:nvSpPr>
        <p:spPr>
          <a:xfrm>
            <a:off x="2647950" y="2591561"/>
            <a:ext cx="768351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CACCE28-07D9-4ECE-9E83-B349D12DB2FE}"/>
              </a:ext>
            </a:extLst>
          </p:cNvPr>
          <p:cNvSpPr/>
          <p:nvPr/>
        </p:nvSpPr>
        <p:spPr>
          <a:xfrm>
            <a:off x="4401935" y="2591561"/>
            <a:ext cx="768351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680E469-81A4-46D2-BFDF-B6C7C90EC039}"/>
              </a:ext>
            </a:extLst>
          </p:cNvPr>
          <p:cNvSpPr/>
          <p:nvPr/>
        </p:nvSpPr>
        <p:spPr>
          <a:xfrm>
            <a:off x="5284586" y="2591561"/>
            <a:ext cx="768349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F4854BE-B033-48D3-97D5-BC59F39FF151}"/>
              </a:ext>
            </a:extLst>
          </p:cNvPr>
          <p:cNvSpPr/>
          <p:nvPr/>
        </p:nvSpPr>
        <p:spPr>
          <a:xfrm>
            <a:off x="6167235" y="2591561"/>
            <a:ext cx="768351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BF8DFC7-7FAA-4CC6-9A42-205F35C3618A}"/>
              </a:ext>
            </a:extLst>
          </p:cNvPr>
          <p:cNvSpPr/>
          <p:nvPr/>
        </p:nvSpPr>
        <p:spPr>
          <a:xfrm>
            <a:off x="3556001" y="2591561"/>
            <a:ext cx="768349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2E36DC1-BA05-4753-867B-8420C5B8D4ED}"/>
              </a:ext>
            </a:extLst>
          </p:cNvPr>
          <p:cNvGrpSpPr>
            <a:grpSpLocks/>
          </p:cNvGrpSpPr>
          <p:nvPr/>
        </p:nvGrpSpPr>
        <p:grpSpPr bwMode="auto">
          <a:xfrm>
            <a:off x="850580" y="1775587"/>
            <a:ext cx="5181600" cy="768351"/>
            <a:chOff x="3739654" y="1527714"/>
            <a:chExt cx="3886377" cy="576000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522617C-3FF7-4935-8127-9E7E9CB2FB8D}"/>
                </a:ext>
              </a:extLst>
            </p:cNvPr>
            <p:cNvSpPr/>
            <p:nvPr/>
          </p:nvSpPr>
          <p:spPr>
            <a:xfrm>
              <a:off x="3739654" y="1527714"/>
              <a:ext cx="576289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0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8DBA551-CCAD-486E-A5A2-6BA56A9A7DA8}"/>
                </a:ext>
              </a:extLst>
            </p:cNvPr>
            <p:cNvSpPr/>
            <p:nvPr/>
          </p:nvSpPr>
          <p:spPr>
            <a:xfrm>
              <a:off x="4401672" y="1527714"/>
              <a:ext cx="576288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1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DD01087A-1584-4A03-AEC0-23BF48C1985E}"/>
                </a:ext>
              </a:extLst>
            </p:cNvPr>
            <p:cNvSpPr/>
            <p:nvPr/>
          </p:nvSpPr>
          <p:spPr>
            <a:xfrm>
              <a:off x="5063689" y="1527714"/>
              <a:ext cx="576289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2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A7D959E6-CE3B-405A-BAAB-2AC683055685}"/>
                </a:ext>
              </a:extLst>
            </p:cNvPr>
            <p:cNvSpPr/>
            <p:nvPr/>
          </p:nvSpPr>
          <p:spPr>
            <a:xfrm>
              <a:off x="6387725" y="1527714"/>
              <a:ext cx="576289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4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47E63E06-0457-4008-8D0D-57D2F273A3DB}"/>
                </a:ext>
              </a:extLst>
            </p:cNvPr>
            <p:cNvSpPr/>
            <p:nvPr/>
          </p:nvSpPr>
          <p:spPr>
            <a:xfrm>
              <a:off x="7049743" y="1527714"/>
              <a:ext cx="576288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5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14468888-57AB-40A0-B89C-6D9A12D7E19D}"/>
                </a:ext>
              </a:extLst>
            </p:cNvPr>
            <p:cNvSpPr/>
            <p:nvPr/>
          </p:nvSpPr>
          <p:spPr>
            <a:xfrm>
              <a:off x="5725707" y="1527714"/>
              <a:ext cx="576288" cy="576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3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2" name="TextBox 2">
            <a:extLst>
              <a:ext uri="{FF2B5EF4-FFF2-40B4-BE49-F238E27FC236}">
                <a16:creationId xmlns:a16="http://schemas.microsoft.com/office/drawing/2014/main" id="{FFF71AE0-3D5D-498D-B0A3-E898F0C6C7EB}"/>
              </a:ext>
            </a:extLst>
          </p:cNvPr>
          <p:cNvSpPr txBox="1"/>
          <p:nvPr/>
        </p:nvSpPr>
        <p:spPr>
          <a:xfrm>
            <a:off x="710880" y="4222488"/>
            <a:ext cx="10464800" cy="5108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增、删效率低：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新增或删除数据的时候，都有可能大批量的移动数组中其他的元素</a:t>
            </a:r>
            <a:endParaRPr lang="zh-CN" altLang="en-US" sz="1600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F22E69F-7A5F-4111-B132-57CD7C95B239}"/>
              </a:ext>
            </a:extLst>
          </p:cNvPr>
          <p:cNvSpPr/>
          <p:nvPr/>
        </p:nvSpPr>
        <p:spPr>
          <a:xfrm>
            <a:off x="1733229" y="2591561"/>
            <a:ext cx="768349" cy="768351"/>
          </a:xfrm>
          <a:prstGeom prst="rect">
            <a:avLst/>
          </a:prstGeom>
          <a:solidFill>
            <a:srgbClr val="9BBB5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C56755D-2B42-4993-95D0-20912A77179D}"/>
              </a:ext>
            </a:extLst>
          </p:cNvPr>
          <p:cNvSpPr/>
          <p:nvPr/>
        </p:nvSpPr>
        <p:spPr bwMode="auto">
          <a:xfrm>
            <a:off x="6146480" y="1775586"/>
            <a:ext cx="768349" cy="76835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6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16368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7.3 List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!!!栈1">
            <a:extLst>
              <a:ext uri="{FF2B5EF4-FFF2-40B4-BE49-F238E27FC236}">
                <a16:creationId xmlns:a16="http://schemas.microsoft.com/office/drawing/2014/main" id="{A36C4669-EF61-4F45-97F0-BEA9AF5D3137}"/>
              </a:ext>
            </a:extLst>
          </p:cNvPr>
          <p:cNvSpPr txBox="1">
            <a:spLocks/>
          </p:cNvSpPr>
          <p:nvPr/>
        </p:nvSpPr>
        <p:spPr>
          <a:xfrm>
            <a:off x="710880" y="1002232"/>
            <a:ext cx="1937070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ea typeface="Alibaba PuHuiTi Medium" pitchFamily="18" charset="-122"/>
              </a:rPr>
              <a:t>数据结构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ea typeface="Alibaba PuHuiTi Medium" pitchFamily="18" charset="-122"/>
            </a:endParaRPr>
          </a:p>
        </p:txBody>
      </p:sp>
      <p:sp>
        <p:nvSpPr>
          <p:cNvPr id="6" name="!!!栈2">
            <a:extLst>
              <a:ext uri="{FF2B5EF4-FFF2-40B4-BE49-F238E27FC236}">
                <a16:creationId xmlns:a16="http://schemas.microsoft.com/office/drawing/2014/main" id="{BDDCB039-1E7F-4F5E-B814-02330E7287B5}"/>
              </a:ext>
            </a:extLst>
          </p:cNvPr>
          <p:cNvSpPr txBox="1">
            <a:spLocks/>
          </p:cNvSpPr>
          <p:nvPr/>
        </p:nvSpPr>
        <p:spPr>
          <a:xfrm>
            <a:off x="1709870" y="1002232"/>
            <a:ext cx="1280980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ea typeface="Alibaba PuHuiTi Medium" pitchFamily="18" charset="-122"/>
              </a:rPr>
              <a:t>（链表）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9A46B0-690C-4B43-9D30-F61F506E23AC}"/>
              </a:ext>
            </a:extLst>
          </p:cNvPr>
          <p:cNvSpPr/>
          <p:nvPr/>
        </p:nvSpPr>
        <p:spPr>
          <a:xfrm>
            <a:off x="3033023" y="4048123"/>
            <a:ext cx="768349" cy="383117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1BA194B-06BD-4ACF-9898-7F07C8AEC610}"/>
              </a:ext>
            </a:extLst>
          </p:cNvPr>
          <p:cNvSpPr/>
          <p:nvPr/>
        </p:nvSpPr>
        <p:spPr>
          <a:xfrm>
            <a:off x="2937773" y="3950756"/>
            <a:ext cx="1824567" cy="571500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07FB963-0969-4279-920E-D1BE0C0416CC}"/>
              </a:ext>
            </a:extLst>
          </p:cNvPr>
          <p:cNvSpPr/>
          <p:nvPr/>
        </p:nvSpPr>
        <p:spPr>
          <a:xfrm>
            <a:off x="3896623" y="4048123"/>
            <a:ext cx="768349" cy="383117"/>
          </a:xfrm>
          <a:prstGeom prst="rect">
            <a:avLst/>
          </a:prstGeom>
          <a:solidFill>
            <a:srgbClr val="9BBB59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地址</a:t>
            </a: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1EE2EB18-D432-4105-A528-88B3EC19C1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5273" y="3880907"/>
            <a:ext cx="855133" cy="427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BDCC58A-B325-4953-802F-00F6309829AE}"/>
              </a:ext>
            </a:extLst>
          </p:cNvPr>
          <p:cNvSpPr/>
          <p:nvPr/>
        </p:nvSpPr>
        <p:spPr>
          <a:xfrm>
            <a:off x="3054215" y="3474507"/>
            <a:ext cx="768349" cy="374649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地址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C120395-F777-42A1-B135-7310BB098D19}"/>
              </a:ext>
            </a:extLst>
          </p:cNvPr>
          <p:cNvCxnSpPr>
            <a:cxnSpLocks/>
          </p:cNvCxnSpPr>
          <p:nvPr/>
        </p:nvCxnSpPr>
        <p:spPr>
          <a:xfrm flipV="1">
            <a:off x="2543175" y="4431240"/>
            <a:ext cx="777715" cy="927100"/>
          </a:xfrm>
          <a:prstGeom prst="straightConnector1">
            <a:avLst/>
          </a:prstGeom>
          <a:noFill/>
          <a:ln w="25400" cap="flat" cmpd="sng" algn="ctr">
            <a:solidFill>
              <a:srgbClr val="AD2B26"/>
            </a:solidFill>
            <a:prstDash val="solid"/>
            <a:tailEnd type="triangle"/>
          </a:ln>
          <a:effectLst/>
        </p:spPr>
      </p:cxnSp>
      <p:sp>
        <p:nvSpPr>
          <p:cNvPr id="13" name="TextBox 2">
            <a:extLst>
              <a:ext uri="{FF2B5EF4-FFF2-40B4-BE49-F238E27FC236}">
                <a16:creationId xmlns:a16="http://schemas.microsoft.com/office/drawing/2014/main" id="{E776794B-2C87-4D57-83CF-5259958FCE2A}"/>
              </a:ext>
            </a:extLst>
          </p:cNvPr>
          <p:cNvSpPr txBox="1"/>
          <p:nvPr/>
        </p:nvSpPr>
        <p:spPr>
          <a:xfrm>
            <a:off x="1231739" y="5256740"/>
            <a:ext cx="2474384" cy="42710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存储具体的</a:t>
            </a:r>
            <a:r>
              <a:rPr lang="zh-CN" altLang="en-US" sz="1600" b="1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7BC9A00A-3067-4298-9D9E-BFE3E5D5B0A5}"/>
              </a:ext>
            </a:extLst>
          </p:cNvPr>
          <p:cNvSpPr txBox="1"/>
          <p:nvPr/>
        </p:nvSpPr>
        <p:spPr>
          <a:xfrm>
            <a:off x="962924" y="2333623"/>
            <a:ext cx="3702049" cy="42710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结点的</a:t>
            </a:r>
            <a:r>
              <a:rPr lang="zh-CN" altLang="en-US" sz="1600" b="1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存储位置（地址）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1E5CF33-2306-4A9D-AE1C-2133E6C315E7}"/>
              </a:ext>
            </a:extLst>
          </p:cNvPr>
          <p:cNvCxnSpPr>
            <a:cxnSpLocks/>
          </p:cNvCxnSpPr>
          <p:nvPr/>
        </p:nvCxnSpPr>
        <p:spPr>
          <a:xfrm>
            <a:off x="2835141" y="2760728"/>
            <a:ext cx="506941" cy="713780"/>
          </a:xfrm>
          <a:prstGeom prst="straightConnector1">
            <a:avLst/>
          </a:prstGeom>
          <a:noFill/>
          <a:ln w="25400" cap="flat" cmpd="sng" algn="ctr">
            <a:solidFill>
              <a:srgbClr val="AD2B26"/>
            </a:solidFill>
            <a:prstDash val="solid"/>
            <a:tailEnd type="triangle"/>
          </a:ln>
          <a:effectLst/>
        </p:spPr>
      </p:cxnSp>
      <p:sp>
        <p:nvSpPr>
          <p:cNvPr id="16" name="TextBox 2">
            <a:extLst>
              <a:ext uri="{FF2B5EF4-FFF2-40B4-BE49-F238E27FC236}">
                <a16:creationId xmlns:a16="http://schemas.microsoft.com/office/drawing/2014/main" id="{CA0F918F-8A52-4376-9415-A09C491E42A3}"/>
              </a:ext>
            </a:extLst>
          </p:cNvPr>
          <p:cNvSpPr txBox="1"/>
          <p:nvPr/>
        </p:nvSpPr>
        <p:spPr>
          <a:xfrm>
            <a:off x="4281857" y="5260973"/>
            <a:ext cx="2906183" cy="42710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下一个结点的</a:t>
            </a:r>
            <a:r>
              <a:rPr lang="zh-CN" altLang="en-US" sz="1600" b="1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地址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02C5FAD0-C3B0-40C5-B3A0-206B639FE37D}"/>
              </a:ext>
            </a:extLst>
          </p:cNvPr>
          <p:cNvCxnSpPr/>
          <p:nvPr/>
        </p:nvCxnSpPr>
        <p:spPr>
          <a:xfrm flipH="1" flipV="1">
            <a:off x="4472357" y="4431240"/>
            <a:ext cx="865716" cy="927100"/>
          </a:xfrm>
          <a:prstGeom prst="straightConnector1">
            <a:avLst/>
          </a:prstGeom>
          <a:noFill/>
          <a:ln w="25400" cap="flat" cmpd="sng" algn="ctr">
            <a:solidFill>
              <a:srgbClr val="AD2B26"/>
            </a:solidFill>
            <a:prstDash val="soli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28299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/>
      <p:bldP spid="11" grpId="0" animBg="1"/>
      <p:bldP spid="13" grpId="0"/>
      <p:bldP spid="14" grpId="0"/>
      <p:bldP spid="1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7.3 List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E24986DD-3C42-4881-919D-D6F946C03D66}"/>
              </a:ext>
            </a:extLst>
          </p:cNvPr>
          <p:cNvSpPr/>
          <p:nvPr/>
        </p:nvSpPr>
        <p:spPr>
          <a:xfrm>
            <a:off x="64899" y="3738623"/>
            <a:ext cx="766233" cy="383117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head</a:t>
            </a:r>
            <a:endParaRPr kumimoji="0" lang="zh-CN" altLang="en-US" sz="1867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592D72-308C-4B02-B13A-30000877745C}"/>
              </a:ext>
            </a:extLst>
          </p:cNvPr>
          <p:cNvSpPr/>
          <p:nvPr/>
        </p:nvSpPr>
        <p:spPr>
          <a:xfrm>
            <a:off x="-32468" y="3641256"/>
            <a:ext cx="1824567" cy="577851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CF0F547-5D2E-4FEF-BF2C-BED2480055D4}"/>
              </a:ext>
            </a:extLst>
          </p:cNvPr>
          <p:cNvSpPr/>
          <p:nvPr/>
        </p:nvSpPr>
        <p:spPr>
          <a:xfrm>
            <a:off x="928498" y="3738623"/>
            <a:ext cx="768349" cy="383117"/>
          </a:xfrm>
          <a:prstGeom prst="rect">
            <a:avLst/>
          </a:prstGeom>
          <a:solidFill>
            <a:srgbClr val="9BBB59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^</a:t>
            </a:r>
            <a:endParaRPr kumimoji="0" lang="zh-CN" altLang="en-US" sz="2667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8D9E021-3001-40D5-8CB9-A7BCAB2BB60B}"/>
              </a:ext>
            </a:extLst>
          </p:cNvPr>
          <p:cNvSpPr/>
          <p:nvPr/>
        </p:nvSpPr>
        <p:spPr>
          <a:xfrm>
            <a:off x="2388519" y="3757672"/>
            <a:ext cx="768351" cy="385233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67" b="1" i="0" u="none" strike="noStrike" kern="0" cap="none" spc="0" normalizeH="0" baseline="0" noProof="0" dirty="0">
                <a:ln>
                  <a:noFill/>
                </a:ln>
                <a:solidFill>
                  <a:srgbClr val="AD2B26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A</a:t>
            </a:r>
            <a:endParaRPr kumimoji="0" lang="zh-CN" altLang="en-US" sz="1867" b="1" i="0" u="none" strike="noStrike" kern="0" cap="none" spc="0" normalizeH="0" baseline="0" noProof="0" dirty="0">
              <a:ln>
                <a:noFill/>
              </a:ln>
              <a:solidFill>
                <a:srgbClr val="AD2B26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E5F732-E58A-41EB-B65E-C9EFE965D8F0}"/>
              </a:ext>
            </a:extLst>
          </p:cNvPr>
          <p:cNvSpPr/>
          <p:nvPr/>
        </p:nvSpPr>
        <p:spPr>
          <a:xfrm>
            <a:off x="2293270" y="3662423"/>
            <a:ext cx="1824567" cy="571500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3268FB2-8638-4BFA-A988-B71C333603C5}"/>
              </a:ext>
            </a:extLst>
          </p:cNvPr>
          <p:cNvSpPr/>
          <p:nvPr/>
        </p:nvSpPr>
        <p:spPr>
          <a:xfrm>
            <a:off x="3252119" y="3757672"/>
            <a:ext cx="768351" cy="385233"/>
          </a:xfrm>
          <a:prstGeom prst="rect">
            <a:avLst/>
          </a:prstGeom>
          <a:solidFill>
            <a:srgbClr val="9BBB59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^</a:t>
            </a:r>
            <a:endParaRPr kumimoji="0" lang="zh-CN" altLang="en-US" sz="2667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4278C50-B419-4B6E-B649-AA33061E840B}"/>
              </a:ext>
            </a:extLst>
          </p:cNvPr>
          <p:cNvSpPr/>
          <p:nvPr/>
        </p:nvSpPr>
        <p:spPr>
          <a:xfrm>
            <a:off x="2388519" y="3186171"/>
            <a:ext cx="768351" cy="374651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67" b="1" i="0" u="none" strike="noStrike" kern="0" cap="none" spc="0" normalizeH="0" baseline="0" noProof="0" dirty="0">
                <a:ln>
                  <a:noFill/>
                </a:ln>
                <a:solidFill>
                  <a:srgbClr val="79AFFF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11</a:t>
            </a:r>
            <a:endParaRPr kumimoji="0" lang="zh-CN" altLang="en-US" sz="1867" b="1" i="0" u="none" strike="noStrike" kern="0" cap="none" spc="0" normalizeH="0" baseline="0" noProof="0" dirty="0">
              <a:ln>
                <a:noFill/>
              </a:ln>
              <a:solidFill>
                <a:srgbClr val="79AFFF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ECD7C59-5F39-4473-B167-E01CB1A4AE57}"/>
              </a:ext>
            </a:extLst>
          </p:cNvPr>
          <p:cNvSpPr/>
          <p:nvPr/>
        </p:nvSpPr>
        <p:spPr>
          <a:xfrm>
            <a:off x="4956831" y="3738623"/>
            <a:ext cx="766233" cy="383117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67" b="1" i="0" u="none" strike="noStrike" kern="0" cap="none" spc="0" normalizeH="0" baseline="0" noProof="0" dirty="0">
                <a:ln>
                  <a:noFill/>
                </a:ln>
                <a:solidFill>
                  <a:srgbClr val="AD2B26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C</a:t>
            </a:r>
            <a:endParaRPr kumimoji="0" lang="zh-CN" altLang="en-US" sz="1867" b="1" i="0" u="none" strike="noStrike" kern="0" cap="none" spc="0" normalizeH="0" baseline="0" noProof="0" dirty="0">
              <a:ln>
                <a:noFill/>
              </a:ln>
              <a:solidFill>
                <a:srgbClr val="AD2B26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7802F9F-97DE-4667-B973-E4A4C8D0F4CE}"/>
              </a:ext>
            </a:extLst>
          </p:cNvPr>
          <p:cNvSpPr/>
          <p:nvPr/>
        </p:nvSpPr>
        <p:spPr>
          <a:xfrm>
            <a:off x="4859464" y="3641257"/>
            <a:ext cx="1824567" cy="571500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7C49170-DCD3-4BB8-9186-CEF73347B024}"/>
              </a:ext>
            </a:extLst>
          </p:cNvPr>
          <p:cNvSpPr/>
          <p:nvPr/>
        </p:nvSpPr>
        <p:spPr>
          <a:xfrm>
            <a:off x="5820430" y="3738623"/>
            <a:ext cx="768351" cy="383117"/>
          </a:xfrm>
          <a:prstGeom prst="rect">
            <a:avLst/>
          </a:prstGeom>
          <a:solidFill>
            <a:srgbClr val="9BBB59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^</a:t>
            </a:r>
            <a:endParaRPr kumimoji="0" lang="zh-CN" altLang="en-US" sz="2667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C317FD-1FF9-4D6D-BC64-6E8AE875363E}"/>
              </a:ext>
            </a:extLst>
          </p:cNvPr>
          <p:cNvSpPr/>
          <p:nvPr/>
        </p:nvSpPr>
        <p:spPr>
          <a:xfrm>
            <a:off x="4956831" y="3165008"/>
            <a:ext cx="766233" cy="374649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67" b="1" i="0" u="none" strike="noStrike" kern="0" cap="none" spc="0" normalizeH="0" baseline="0" noProof="0" dirty="0">
                <a:ln>
                  <a:noFill/>
                </a:ln>
                <a:solidFill>
                  <a:srgbClr val="79AFFF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37</a:t>
            </a:r>
            <a:endParaRPr kumimoji="0" lang="zh-CN" altLang="en-US" sz="1867" b="1" i="0" u="none" strike="noStrike" kern="0" cap="none" spc="0" normalizeH="0" baseline="0" noProof="0" dirty="0">
              <a:ln>
                <a:noFill/>
              </a:ln>
              <a:solidFill>
                <a:srgbClr val="79AFFF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70CCC75-F758-40CB-9B9A-A6775C4F98F0}"/>
              </a:ext>
            </a:extLst>
          </p:cNvPr>
          <p:cNvSpPr/>
          <p:nvPr/>
        </p:nvSpPr>
        <p:spPr>
          <a:xfrm>
            <a:off x="7685214" y="3738623"/>
            <a:ext cx="768349" cy="383117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67" b="1" i="0" u="none" strike="noStrike" kern="0" cap="none" spc="0" normalizeH="0" baseline="0" noProof="0" dirty="0">
                <a:ln>
                  <a:noFill/>
                </a:ln>
                <a:solidFill>
                  <a:srgbClr val="AD2B26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D</a:t>
            </a:r>
            <a:endParaRPr kumimoji="0" lang="zh-CN" altLang="en-US" sz="1867" b="1" i="0" u="none" strike="noStrike" kern="0" cap="none" spc="0" normalizeH="0" baseline="0" noProof="0" dirty="0">
              <a:ln>
                <a:noFill/>
              </a:ln>
              <a:solidFill>
                <a:srgbClr val="AD2B26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B67825D-B4C5-46DE-8DF0-0C79C1981D07}"/>
              </a:ext>
            </a:extLst>
          </p:cNvPr>
          <p:cNvSpPr/>
          <p:nvPr/>
        </p:nvSpPr>
        <p:spPr>
          <a:xfrm>
            <a:off x="7589963" y="3641257"/>
            <a:ext cx="1822451" cy="571500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1D10B17-956F-4551-B8B0-D37F7A787CCC}"/>
              </a:ext>
            </a:extLst>
          </p:cNvPr>
          <p:cNvSpPr/>
          <p:nvPr/>
        </p:nvSpPr>
        <p:spPr>
          <a:xfrm>
            <a:off x="8548814" y="3738623"/>
            <a:ext cx="768349" cy="383117"/>
          </a:xfrm>
          <a:prstGeom prst="rect">
            <a:avLst/>
          </a:prstGeom>
          <a:solidFill>
            <a:srgbClr val="9BBB59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^</a:t>
            </a:r>
            <a:endParaRPr kumimoji="0" lang="zh-CN" altLang="en-US" sz="2667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2529B5F-F0B6-4ACC-88B3-B95AB6470A7C}"/>
              </a:ext>
            </a:extLst>
          </p:cNvPr>
          <p:cNvSpPr/>
          <p:nvPr/>
        </p:nvSpPr>
        <p:spPr>
          <a:xfrm>
            <a:off x="7685214" y="3165008"/>
            <a:ext cx="768349" cy="374649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67" b="1" i="0" u="none" strike="noStrike" kern="0" cap="none" spc="0" normalizeH="0" baseline="0" noProof="0" dirty="0">
                <a:ln>
                  <a:noFill/>
                </a:ln>
                <a:solidFill>
                  <a:srgbClr val="79AFFF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96</a:t>
            </a:r>
            <a:endParaRPr kumimoji="0" lang="zh-CN" altLang="en-US" sz="1867" b="1" i="0" u="none" strike="noStrike" kern="0" cap="none" spc="0" normalizeH="0" baseline="0" noProof="0" dirty="0">
              <a:ln>
                <a:noFill/>
              </a:ln>
              <a:solidFill>
                <a:srgbClr val="79AFFF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0" name="TextBox 2">
            <a:extLst>
              <a:ext uri="{FF2B5EF4-FFF2-40B4-BE49-F238E27FC236}">
                <a16:creationId xmlns:a16="http://schemas.microsoft.com/office/drawing/2014/main" id="{66F9F723-7FD5-4D49-822F-4E7D6060F920}"/>
              </a:ext>
            </a:extLst>
          </p:cNvPr>
          <p:cNvSpPr txBox="1"/>
          <p:nvPr/>
        </p:nvSpPr>
        <p:spPr>
          <a:xfrm>
            <a:off x="824769" y="4554750"/>
            <a:ext cx="2023988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添加一个数据</a:t>
            </a:r>
            <a:r>
              <a:rPr lang="en-US" altLang="zh-CN" sz="1600" b="1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</a:t>
            </a:r>
            <a:endParaRPr lang="zh-CN" altLang="en-US" sz="1600" b="1" dirty="0">
              <a:solidFill>
                <a:srgbClr val="AD2B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E16BD9A-F1AC-4B0D-AF2B-8A5B1374B3C7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1696847" y="3930182"/>
            <a:ext cx="596423" cy="17991"/>
          </a:xfrm>
          <a:prstGeom prst="straightConnector1">
            <a:avLst/>
          </a:prstGeom>
          <a:noFill/>
          <a:ln w="25400" cap="flat" cmpd="sng" algn="ctr">
            <a:solidFill>
              <a:srgbClr val="AD2B26"/>
            </a:solidFill>
            <a:prstDash val="solid"/>
            <a:tailEnd type="triangle"/>
          </a:ln>
          <a:effectLst/>
        </p:spPr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EDD44352-B622-4FF1-A0B0-FA3CDD515920}"/>
              </a:ext>
            </a:extLst>
          </p:cNvPr>
          <p:cNvSpPr/>
          <p:nvPr/>
        </p:nvSpPr>
        <p:spPr>
          <a:xfrm>
            <a:off x="928498" y="3738623"/>
            <a:ext cx="768349" cy="383117"/>
          </a:xfrm>
          <a:prstGeom prst="rect">
            <a:avLst/>
          </a:prstGeom>
          <a:solidFill>
            <a:srgbClr val="9BBB59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67" b="1" i="0" u="none" strike="noStrike" kern="0" cap="none" spc="0" normalizeH="0" baseline="0" noProof="0" dirty="0">
                <a:ln>
                  <a:noFill/>
                </a:ln>
                <a:solidFill>
                  <a:srgbClr val="79AFFF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11</a:t>
            </a:r>
            <a:endParaRPr kumimoji="0" lang="zh-CN" altLang="en-US" sz="1867" b="1" i="0" u="none" strike="noStrike" kern="0" cap="none" spc="0" normalizeH="0" baseline="0" noProof="0" dirty="0">
              <a:ln>
                <a:noFill/>
              </a:ln>
              <a:solidFill>
                <a:srgbClr val="79AFFF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3" name="TextBox 2">
            <a:extLst>
              <a:ext uri="{FF2B5EF4-FFF2-40B4-BE49-F238E27FC236}">
                <a16:creationId xmlns:a16="http://schemas.microsoft.com/office/drawing/2014/main" id="{F0E94C17-20D0-442D-91D1-7B4B2917CD92}"/>
              </a:ext>
            </a:extLst>
          </p:cNvPr>
          <p:cNvSpPr txBox="1"/>
          <p:nvPr/>
        </p:nvSpPr>
        <p:spPr>
          <a:xfrm>
            <a:off x="824768" y="5023725"/>
            <a:ext cx="2169767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再添加一个数据</a:t>
            </a:r>
            <a:r>
              <a:rPr lang="en-US" altLang="zh-CN" sz="1600" b="1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</a:t>
            </a:r>
            <a:endParaRPr lang="zh-CN" altLang="en-US" sz="1600" b="1" dirty="0">
              <a:solidFill>
                <a:srgbClr val="AD2B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TextBox 2">
            <a:extLst>
              <a:ext uri="{FF2B5EF4-FFF2-40B4-BE49-F238E27FC236}">
                <a16:creationId xmlns:a16="http://schemas.microsoft.com/office/drawing/2014/main" id="{349DE0AF-8DA9-442F-BBDB-939FF9B7409D}"/>
              </a:ext>
            </a:extLst>
          </p:cNvPr>
          <p:cNvSpPr txBox="1"/>
          <p:nvPr/>
        </p:nvSpPr>
        <p:spPr>
          <a:xfrm>
            <a:off x="824768" y="5497119"/>
            <a:ext cx="2169767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再添加一个数据</a:t>
            </a:r>
            <a:r>
              <a:rPr lang="en-US" altLang="zh-CN" sz="1600" b="1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</a:t>
            </a:r>
            <a:endParaRPr lang="zh-CN" altLang="en-US" sz="1600" b="1" dirty="0">
              <a:solidFill>
                <a:srgbClr val="AD2B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33B5E9EC-1ADE-4698-9104-6063C2824519}"/>
              </a:ext>
            </a:extLst>
          </p:cNvPr>
          <p:cNvCxnSpPr>
            <a:cxnSpLocks/>
          </p:cNvCxnSpPr>
          <p:nvPr/>
        </p:nvCxnSpPr>
        <p:spPr>
          <a:xfrm>
            <a:off x="4020470" y="3952405"/>
            <a:ext cx="1001183" cy="6351"/>
          </a:xfrm>
          <a:prstGeom prst="straightConnector1">
            <a:avLst/>
          </a:prstGeom>
          <a:noFill/>
          <a:ln w="25400" cap="flat" cmpd="sng" algn="ctr">
            <a:solidFill>
              <a:srgbClr val="AD2B26"/>
            </a:solidFill>
            <a:prstDash val="solid"/>
            <a:tailEnd type="triangle"/>
          </a:ln>
          <a:effectLst/>
        </p:spPr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92320FC9-7718-4CEF-A2F9-9733B1BF1CD2}"/>
              </a:ext>
            </a:extLst>
          </p:cNvPr>
          <p:cNvSpPr/>
          <p:nvPr/>
        </p:nvSpPr>
        <p:spPr>
          <a:xfrm>
            <a:off x="3252119" y="3757672"/>
            <a:ext cx="768351" cy="385233"/>
          </a:xfrm>
          <a:prstGeom prst="rect">
            <a:avLst/>
          </a:prstGeom>
          <a:solidFill>
            <a:srgbClr val="9BBB59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67" b="1" i="0" u="none" strike="noStrike" kern="0" cap="none" spc="0" normalizeH="0" baseline="0" noProof="0" dirty="0">
                <a:ln>
                  <a:noFill/>
                </a:ln>
                <a:solidFill>
                  <a:srgbClr val="79AFFF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37</a:t>
            </a:r>
            <a:endParaRPr kumimoji="0" lang="zh-CN" altLang="en-US" sz="1867" b="1" i="0" u="none" strike="noStrike" kern="0" cap="none" spc="0" normalizeH="0" baseline="0" noProof="0" dirty="0">
              <a:ln>
                <a:noFill/>
              </a:ln>
              <a:solidFill>
                <a:srgbClr val="79AFFF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126C801-682F-46CA-BAA7-8E0A0D6094F8}"/>
              </a:ext>
            </a:extLst>
          </p:cNvPr>
          <p:cNvSpPr/>
          <p:nvPr/>
        </p:nvSpPr>
        <p:spPr>
          <a:xfrm>
            <a:off x="5820430" y="3738623"/>
            <a:ext cx="768351" cy="383117"/>
          </a:xfrm>
          <a:prstGeom prst="rect">
            <a:avLst/>
          </a:prstGeom>
          <a:solidFill>
            <a:srgbClr val="9BBB59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67" b="1" i="0" u="none" strike="noStrike" kern="0" cap="none" spc="0" normalizeH="0" baseline="0" noProof="0" dirty="0">
                <a:ln>
                  <a:noFill/>
                </a:ln>
                <a:solidFill>
                  <a:srgbClr val="79AFFF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96</a:t>
            </a:r>
            <a:endParaRPr kumimoji="0" lang="zh-CN" altLang="en-US" sz="1867" b="1" i="0" u="none" strike="noStrike" kern="0" cap="none" spc="0" normalizeH="0" baseline="0" noProof="0" dirty="0">
              <a:ln>
                <a:noFill/>
              </a:ln>
              <a:solidFill>
                <a:srgbClr val="79AFFF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41C39D4F-766C-49FB-B63E-5F38A3EB05BF}"/>
              </a:ext>
            </a:extLst>
          </p:cNvPr>
          <p:cNvCxnSpPr>
            <a:cxnSpLocks/>
          </p:cNvCxnSpPr>
          <p:nvPr/>
        </p:nvCxnSpPr>
        <p:spPr>
          <a:xfrm>
            <a:off x="6586664" y="3924890"/>
            <a:ext cx="1003300" cy="6351"/>
          </a:xfrm>
          <a:prstGeom prst="straightConnector1">
            <a:avLst/>
          </a:prstGeom>
          <a:noFill/>
          <a:ln w="25400" cap="flat" cmpd="sng" algn="ctr">
            <a:solidFill>
              <a:srgbClr val="AD2B26"/>
            </a:solidFill>
            <a:prstDash val="solid"/>
            <a:tailEnd type="triangle"/>
          </a:ln>
          <a:effectLst/>
        </p:spPr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1E570619-6FD8-4DB0-A9BF-7D4EF7CFF8FB}"/>
              </a:ext>
            </a:extLst>
          </p:cNvPr>
          <p:cNvSpPr txBox="1"/>
          <p:nvPr/>
        </p:nvSpPr>
        <p:spPr>
          <a:xfrm>
            <a:off x="138348" y="1778239"/>
            <a:ext cx="46987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链表查询慢，无论查询哪个数据都要从头开始找。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569B587-FF44-4776-BC06-31835A54CC94}"/>
              </a:ext>
            </a:extLst>
          </p:cNvPr>
          <p:cNvSpPr txBox="1"/>
          <p:nvPr/>
        </p:nvSpPr>
        <p:spPr>
          <a:xfrm>
            <a:off x="166618" y="1321352"/>
            <a:ext cx="880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链表中的结点是独立的对象，</a:t>
            </a:r>
            <a:r>
              <a:rPr lang="zh-CN" altLang="en-US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在内存中是不连续的</a:t>
            </a: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，每个结点包含数据值和下一个结点的地址。</a:t>
            </a:r>
          </a:p>
        </p:txBody>
      </p:sp>
      <p:sp>
        <p:nvSpPr>
          <p:cNvPr id="31" name="!!!圆角矩形 5">
            <a:extLst>
              <a:ext uri="{FF2B5EF4-FFF2-40B4-BE49-F238E27FC236}">
                <a16:creationId xmlns:a16="http://schemas.microsoft.com/office/drawing/2014/main" id="{12626EB7-C40F-46DA-BC38-91D2CBBFB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5842" y="2925227"/>
            <a:ext cx="1746903" cy="427105"/>
          </a:xfrm>
          <a:prstGeom prst="roundRect">
            <a:avLst>
              <a:gd name="adj" fmla="val 22393"/>
            </a:avLst>
          </a:prstGeom>
          <a:solidFill>
            <a:srgbClr val="0070C0"/>
          </a:solidFill>
          <a:ln w="9525">
            <a:noFill/>
            <a:round/>
            <a:headEnd/>
            <a:tailEnd/>
          </a:ln>
          <a:effectLst>
            <a:outerShdw dist="63500" dir="5400000" algn="ctr" rotWithShape="0">
              <a:srgbClr val="000000">
                <a:alpha val="10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kern="0" dirty="0">
                <a:solidFill>
                  <a:prstClr val="white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创建一个链表：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AE216B58-51A7-46DE-B348-AE6D728A6010}"/>
              </a:ext>
            </a:extLst>
          </p:cNvPr>
          <p:cNvGrpSpPr/>
          <p:nvPr/>
        </p:nvGrpSpPr>
        <p:grpSpPr>
          <a:xfrm>
            <a:off x="3419872" y="4554750"/>
            <a:ext cx="5328592" cy="1262927"/>
            <a:chOff x="4694582" y="4582869"/>
            <a:chExt cx="6337300" cy="1680634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AF2FC82C-93B3-4307-93B7-71E8ECE125F7}"/>
                </a:ext>
              </a:extLst>
            </p:cNvPr>
            <p:cNvSpPr/>
            <p:nvPr/>
          </p:nvSpPr>
          <p:spPr>
            <a:xfrm>
              <a:off x="4694582" y="5302536"/>
              <a:ext cx="6337300" cy="960967"/>
            </a:xfrm>
            <a:prstGeom prst="rect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C5BB9B64-5882-419A-B222-A0EACDC162FC}"/>
                </a:ext>
              </a:extLst>
            </p:cNvPr>
            <p:cNvSpPr/>
            <p:nvPr/>
          </p:nvSpPr>
          <p:spPr>
            <a:xfrm>
              <a:off x="4834282" y="5399902"/>
              <a:ext cx="768351" cy="768351"/>
            </a:xfrm>
            <a:prstGeom prst="rect">
              <a:avLst/>
            </a:prstGeom>
            <a:solidFill>
              <a:srgbClr val="4BACC6">
                <a:lumMod val="40000"/>
                <a:lumOff val="6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A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38A14DD1-4DF0-4204-8DAF-3193F2E61CC2}"/>
                </a:ext>
              </a:extLst>
            </p:cNvPr>
            <p:cNvSpPr/>
            <p:nvPr/>
          </p:nvSpPr>
          <p:spPr>
            <a:xfrm>
              <a:off x="5716933" y="5399902"/>
              <a:ext cx="768349" cy="768351"/>
            </a:xfrm>
            <a:prstGeom prst="rect">
              <a:avLst/>
            </a:prstGeom>
            <a:solidFill>
              <a:srgbClr val="4BACC6">
                <a:lumMod val="40000"/>
                <a:lumOff val="6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B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189D28DE-3649-4906-8A47-D545FE7D70D2}"/>
                </a:ext>
              </a:extLst>
            </p:cNvPr>
            <p:cNvSpPr/>
            <p:nvPr/>
          </p:nvSpPr>
          <p:spPr>
            <a:xfrm>
              <a:off x="6599582" y="5399902"/>
              <a:ext cx="768351" cy="768351"/>
            </a:xfrm>
            <a:prstGeom prst="rect">
              <a:avLst/>
            </a:prstGeom>
            <a:solidFill>
              <a:srgbClr val="4BACC6">
                <a:lumMod val="40000"/>
                <a:lumOff val="6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3D19563F-56CE-431B-AB71-A07EF98EC27D}"/>
                </a:ext>
              </a:extLst>
            </p:cNvPr>
            <p:cNvSpPr/>
            <p:nvPr/>
          </p:nvSpPr>
          <p:spPr>
            <a:xfrm>
              <a:off x="8364882" y="5399902"/>
              <a:ext cx="768351" cy="768351"/>
            </a:xfrm>
            <a:prstGeom prst="rect">
              <a:avLst/>
            </a:prstGeom>
            <a:solidFill>
              <a:srgbClr val="4BACC6">
                <a:lumMod val="40000"/>
                <a:lumOff val="6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E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829920D5-8E77-4B1E-A359-4E04E50099B1}"/>
                </a:ext>
              </a:extLst>
            </p:cNvPr>
            <p:cNvSpPr/>
            <p:nvPr/>
          </p:nvSpPr>
          <p:spPr>
            <a:xfrm>
              <a:off x="9247533" y="5399902"/>
              <a:ext cx="768349" cy="768351"/>
            </a:xfrm>
            <a:prstGeom prst="rect">
              <a:avLst/>
            </a:prstGeom>
            <a:solidFill>
              <a:srgbClr val="4BACC6">
                <a:lumMod val="40000"/>
                <a:lumOff val="6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F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F8C43E48-B7DD-409F-AE2F-643F0ADCD3A7}"/>
                </a:ext>
              </a:extLst>
            </p:cNvPr>
            <p:cNvSpPr/>
            <p:nvPr/>
          </p:nvSpPr>
          <p:spPr>
            <a:xfrm>
              <a:off x="10130182" y="5399902"/>
              <a:ext cx="768351" cy="768351"/>
            </a:xfrm>
            <a:prstGeom prst="rect">
              <a:avLst/>
            </a:prstGeom>
            <a:solidFill>
              <a:srgbClr val="4BACC6">
                <a:lumMod val="40000"/>
                <a:lumOff val="6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G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A1817461-0302-4733-B8B2-42B2568AF640}"/>
                </a:ext>
              </a:extLst>
            </p:cNvPr>
            <p:cNvSpPr/>
            <p:nvPr/>
          </p:nvSpPr>
          <p:spPr>
            <a:xfrm>
              <a:off x="7482233" y="5399902"/>
              <a:ext cx="768349" cy="768351"/>
            </a:xfrm>
            <a:prstGeom prst="rect">
              <a:avLst/>
            </a:prstGeom>
            <a:solidFill>
              <a:srgbClr val="4BACC6">
                <a:lumMod val="40000"/>
                <a:lumOff val="6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D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1E9EB199-D636-44E7-BAC3-7F13692B74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34282" y="4582869"/>
              <a:ext cx="6064251" cy="768351"/>
              <a:chOff x="3739654" y="1527714"/>
              <a:chExt cx="4548395" cy="576000"/>
            </a:xfrm>
          </p:grpSpPr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6EA2D9C2-6C7C-4009-8F88-3ED66E2FB41A}"/>
                  </a:ext>
                </a:extLst>
              </p:cNvPr>
              <p:cNvSpPr/>
              <p:nvPr/>
            </p:nvSpPr>
            <p:spPr>
              <a:xfrm>
                <a:off x="3739654" y="1527714"/>
                <a:ext cx="576289" cy="576000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AD2B26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0</a:t>
                </a:r>
                <a:endPara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AD2B26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76F6B705-1A21-48A0-B261-B26A85A6A643}"/>
                  </a:ext>
                </a:extLst>
              </p:cNvPr>
              <p:cNvSpPr/>
              <p:nvPr/>
            </p:nvSpPr>
            <p:spPr>
              <a:xfrm>
                <a:off x="4401672" y="1527714"/>
                <a:ext cx="576288" cy="576000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AD2B26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1</a:t>
                </a:r>
                <a:endPara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AD2B26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27755064-3FD9-4385-AE2F-DC5A817F9FA6}"/>
                  </a:ext>
                </a:extLst>
              </p:cNvPr>
              <p:cNvSpPr/>
              <p:nvPr/>
            </p:nvSpPr>
            <p:spPr>
              <a:xfrm>
                <a:off x="5063689" y="1527714"/>
                <a:ext cx="576289" cy="576000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AD2B26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2</a:t>
                </a:r>
                <a:endPara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AD2B26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05032B4D-748B-4F61-BD3E-CA69B3E67EBA}"/>
                  </a:ext>
                </a:extLst>
              </p:cNvPr>
              <p:cNvSpPr/>
              <p:nvPr/>
            </p:nvSpPr>
            <p:spPr>
              <a:xfrm>
                <a:off x="6387725" y="1527714"/>
                <a:ext cx="576289" cy="576000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AD2B26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4</a:t>
                </a:r>
                <a:endPara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AD2B26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7CA8C819-6547-47E5-B200-9CA07D0AEB9F}"/>
                  </a:ext>
                </a:extLst>
              </p:cNvPr>
              <p:cNvSpPr/>
              <p:nvPr/>
            </p:nvSpPr>
            <p:spPr>
              <a:xfrm>
                <a:off x="7049743" y="1527714"/>
                <a:ext cx="576288" cy="576000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AD2B26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5</a:t>
                </a:r>
                <a:endPara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AD2B26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762F2E76-13E8-4BA8-BE9C-8F2E1CDFB925}"/>
                  </a:ext>
                </a:extLst>
              </p:cNvPr>
              <p:cNvSpPr/>
              <p:nvPr/>
            </p:nvSpPr>
            <p:spPr>
              <a:xfrm>
                <a:off x="7711760" y="1527714"/>
                <a:ext cx="576289" cy="576000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AD2B26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6</a:t>
                </a:r>
                <a:endPara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AD2B26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702FAE94-B436-41D9-8AC9-0846FEB54E03}"/>
                  </a:ext>
                </a:extLst>
              </p:cNvPr>
              <p:cNvSpPr/>
              <p:nvPr/>
            </p:nvSpPr>
            <p:spPr>
              <a:xfrm>
                <a:off x="5725707" y="1527714"/>
                <a:ext cx="576288" cy="576000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AD2B26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3</a:t>
                </a:r>
                <a:endPara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AD2B26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66244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p14:presetBounceEnd="4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857">
                                          <p:cBhvr additive="base">
                                            <p:cTn id="7" dur="7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857">
                                          <p:cBhvr additive="base">
                                            <p:cTn id="8" dur="7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9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13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9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16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9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19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0" fill="hold">
                          <p:stCondLst>
                            <p:cond delay="indefinite"/>
                          </p:stCondLst>
                          <p:childTnLst>
                            <p:par>
                              <p:cTn id="2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2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4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5" fill="hold">
                          <p:stCondLst>
                            <p:cond delay="indefinite"/>
                          </p:stCondLst>
                          <p:childTnLst>
                            <p:par>
                              <p:cTn id="2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7" presetID="9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29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0" fill="hold">
                          <p:stCondLst>
                            <p:cond delay="indefinite"/>
                          </p:stCondLst>
                          <p:childTnLst>
                            <p:par>
                              <p:cTn id="3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2" presetID="9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34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9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37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9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40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1" fill="hold">
                          <p:stCondLst>
                            <p:cond delay="indefinite"/>
                          </p:stCondLst>
                          <p:childTnLst>
                            <p:par>
                              <p:cTn id="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3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5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6" fill="hold">
                          <p:stCondLst>
                            <p:cond delay="indefinite"/>
                          </p:stCondLst>
                          <p:childTnLst>
                            <p:par>
                              <p:cTn id="4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8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0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1" fill="hold">
                          <p:stCondLst>
                            <p:cond delay="indefinite"/>
                          </p:stCondLst>
                          <p:childTnLst>
                            <p:par>
                              <p:cTn id="5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3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5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6" fill="hold">
                          <p:stCondLst>
                            <p:cond delay="indefinite"/>
                          </p:stCondLst>
                          <p:childTnLst>
                            <p:par>
                              <p:cTn id="5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8" presetID="9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60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1" fill="hold">
                          <p:stCondLst>
                            <p:cond delay="indefinite"/>
                          </p:stCondLst>
                          <p:childTnLst>
                            <p:par>
                              <p:cTn id="6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3" presetID="9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65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6" presetID="9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68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9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71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2" fill="hold">
                          <p:stCondLst>
                            <p:cond delay="indefinite"/>
                          </p:stCondLst>
                          <p:childTnLst>
                            <p:par>
                              <p:cTn id="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4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78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0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1" fill="hold">
                          <p:stCondLst>
                            <p:cond delay="indefinite"/>
                          </p:stCondLst>
                          <p:childTnLst>
                            <p:par>
                              <p:cTn id="8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3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5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6" fill="hold">
                          <p:stCondLst>
                            <p:cond delay="indefinite"/>
                          </p:stCondLst>
                          <p:childTnLst>
                            <p:par>
                              <p:cTn id="8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8" presetID="9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90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9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93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4" presetID="9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96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9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99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0" fill="hold">
                          <p:stCondLst>
                            <p:cond delay="indefinite"/>
                          </p:stCondLst>
                          <p:childTnLst>
                            <p:par>
                              <p:cTn id="10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2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5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6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8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9" fill="hold">
                          <p:stCondLst>
                            <p:cond delay="indefinite"/>
                          </p:stCondLst>
                          <p:childTnLst>
                            <p:par>
                              <p:cTn id="1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3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4" fill="hold">
                          <p:stCondLst>
                            <p:cond delay="indefinite"/>
                          </p:stCondLst>
                          <p:childTnLst>
                            <p:par>
                              <p:cTn id="1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8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20" presetID="32" presetClass="emph" presetSubtype="0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120000">
                                          <p:cBhvr>
                                            <p:cTn id="121" dur="1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122" dur="200" fill="hold">
                                              <p:stCondLst>
                                                <p:cond delay="20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240000">
                                          <p:cBhvr>
                                            <p:cTn id="123" dur="200" fill="hold">
                                              <p:stCondLst>
                                                <p:cond delay="40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124" dur="200" fill="hold">
                                              <p:stCondLst>
                                                <p:cond delay="60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120000">
                                          <p:cBhvr>
                                            <p:cTn id="125" dur="200" fill="hold">
                                              <p:stCondLst>
                                                <p:cond delay="80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6" fill="hold">
                          <p:stCondLst>
                            <p:cond delay="indefinite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0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1" fill="hold">
                          <p:stCondLst>
                            <p:cond delay="indefinite"/>
                          </p:stCondLst>
                          <p:childTnLst>
                            <p:par>
                              <p:cTn id="13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3" presetID="2" presetClass="exit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134" dur="500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5" dur="500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1+ppt_h/2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 animBg="1"/>
          <p:bldP spid="6" grpId="0" animBg="1"/>
          <p:bldP spid="7" grpId="0" animBg="1"/>
          <p:bldP spid="8" grpId="0" animBg="1"/>
          <p:bldP spid="9" grpId="0" animBg="1"/>
          <p:bldP spid="10" grpId="0" animBg="1"/>
          <p:bldP spid="11" grpId="0" animBg="1"/>
          <p:bldP spid="12" grpId="0" animBg="1"/>
          <p:bldP spid="13" grpId="0" animBg="1"/>
          <p:bldP spid="14" grpId="0" animBg="1"/>
          <p:bldP spid="15" grpId="0" animBg="1"/>
          <p:bldP spid="16" grpId="0" animBg="1"/>
          <p:bldP spid="17" grpId="0" animBg="1"/>
          <p:bldP spid="18" grpId="0" animBg="1"/>
          <p:bldP spid="19" grpId="0" animBg="1"/>
          <p:bldP spid="20" grpId="0"/>
          <p:bldP spid="22" grpId="0" animBg="1"/>
          <p:bldP spid="23" grpId="0"/>
          <p:bldP spid="24" grpId="0"/>
          <p:bldP spid="26" grpId="0" animBg="1"/>
          <p:bldP spid="27" grpId="0" animBg="1"/>
          <p:bldP spid="29" grpId="0"/>
          <p:bldP spid="29" grpId="1"/>
          <p:bldP spid="30" grpId="0"/>
          <p:bldP spid="31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9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13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9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16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9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19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0" fill="hold">
                          <p:stCondLst>
                            <p:cond delay="indefinite"/>
                          </p:stCondLst>
                          <p:childTnLst>
                            <p:par>
                              <p:cTn id="2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2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4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5" fill="hold">
                          <p:stCondLst>
                            <p:cond delay="indefinite"/>
                          </p:stCondLst>
                          <p:childTnLst>
                            <p:par>
                              <p:cTn id="2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7" presetID="9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29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0" fill="hold">
                          <p:stCondLst>
                            <p:cond delay="indefinite"/>
                          </p:stCondLst>
                          <p:childTnLst>
                            <p:par>
                              <p:cTn id="3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2" presetID="9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34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9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37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9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40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1" fill="hold">
                          <p:stCondLst>
                            <p:cond delay="indefinite"/>
                          </p:stCondLst>
                          <p:childTnLst>
                            <p:par>
                              <p:cTn id="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3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5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6" fill="hold">
                          <p:stCondLst>
                            <p:cond delay="indefinite"/>
                          </p:stCondLst>
                          <p:childTnLst>
                            <p:par>
                              <p:cTn id="4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8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0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1" fill="hold">
                          <p:stCondLst>
                            <p:cond delay="indefinite"/>
                          </p:stCondLst>
                          <p:childTnLst>
                            <p:par>
                              <p:cTn id="5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3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5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6" fill="hold">
                          <p:stCondLst>
                            <p:cond delay="indefinite"/>
                          </p:stCondLst>
                          <p:childTnLst>
                            <p:par>
                              <p:cTn id="5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8" presetID="9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60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1" fill="hold">
                          <p:stCondLst>
                            <p:cond delay="indefinite"/>
                          </p:stCondLst>
                          <p:childTnLst>
                            <p:par>
                              <p:cTn id="6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3" presetID="9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65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6" presetID="9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68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9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71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2" fill="hold">
                          <p:stCondLst>
                            <p:cond delay="indefinite"/>
                          </p:stCondLst>
                          <p:childTnLst>
                            <p:par>
                              <p:cTn id="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4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78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0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1" fill="hold">
                          <p:stCondLst>
                            <p:cond delay="indefinite"/>
                          </p:stCondLst>
                          <p:childTnLst>
                            <p:par>
                              <p:cTn id="8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3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5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6" fill="hold">
                          <p:stCondLst>
                            <p:cond delay="indefinite"/>
                          </p:stCondLst>
                          <p:childTnLst>
                            <p:par>
                              <p:cTn id="8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8" presetID="9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90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9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93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4" presetID="9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96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9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99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0" fill="hold">
                          <p:stCondLst>
                            <p:cond delay="indefinite"/>
                          </p:stCondLst>
                          <p:childTnLst>
                            <p:par>
                              <p:cTn id="10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2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5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6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8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9" fill="hold">
                          <p:stCondLst>
                            <p:cond delay="indefinite"/>
                          </p:stCondLst>
                          <p:childTnLst>
                            <p:par>
                              <p:cTn id="1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3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4" fill="hold">
                          <p:stCondLst>
                            <p:cond delay="indefinite"/>
                          </p:stCondLst>
                          <p:childTnLst>
                            <p:par>
                              <p:cTn id="1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8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20" presetID="32" presetClass="emph" presetSubtype="0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120000">
                                          <p:cBhvr>
                                            <p:cTn id="121" dur="1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122" dur="200" fill="hold">
                                              <p:stCondLst>
                                                <p:cond delay="20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240000">
                                          <p:cBhvr>
                                            <p:cTn id="123" dur="200" fill="hold">
                                              <p:stCondLst>
                                                <p:cond delay="40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124" dur="200" fill="hold">
                                              <p:stCondLst>
                                                <p:cond delay="60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120000">
                                          <p:cBhvr>
                                            <p:cTn id="125" dur="200" fill="hold">
                                              <p:stCondLst>
                                                <p:cond delay="80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6" fill="hold">
                          <p:stCondLst>
                            <p:cond delay="indefinite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0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1" fill="hold">
                          <p:stCondLst>
                            <p:cond delay="indefinite"/>
                          </p:stCondLst>
                          <p:childTnLst>
                            <p:par>
                              <p:cTn id="13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3" presetID="2" presetClass="exit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134" dur="500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5" dur="500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1+ppt_h/2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 animBg="1"/>
          <p:bldP spid="6" grpId="0" animBg="1"/>
          <p:bldP spid="7" grpId="0" animBg="1"/>
          <p:bldP spid="8" grpId="0" animBg="1"/>
          <p:bldP spid="9" grpId="0" animBg="1"/>
          <p:bldP spid="10" grpId="0" animBg="1"/>
          <p:bldP spid="11" grpId="0" animBg="1"/>
          <p:bldP spid="12" grpId="0" animBg="1"/>
          <p:bldP spid="13" grpId="0" animBg="1"/>
          <p:bldP spid="14" grpId="0" animBg="1"/>
          <p:bldP spid="15" grpId="0" animBg="1"/>
          <p:bldP spid="16" grpId="0" animBg="1"/>
          <p:bldP spid="17" grpId="0" animBg="1"/>
          <p:bldP spid="18" grpId="0" animBg="1"/>
          <p:bldP spid="19" grpId="0" animBg="1"/>
          <p:bldP spid="20" grpId="0"/>
          <p:bldP spid="22" grpId="0" animBg="1"/>
          <p:bldP spid="23" grpId="0"/>
          <p:bldP spid="24" grpId="0"/>
          <p:bldP spid="26" grpId="0" animBg="1"/>
          <p:bldP spid="27" grpId="0" animBg="1"/>
          <p:bldP spid="29" grpId="0"/>
          <p:bldP spid="29" grpId="1"/>
          <p:bldP spid="30" grpId="0"/>
          <p:bldP spid="31" grpId="0" animBg="1"/>
        </p:bldLst>
      </p:timing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7.3 List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!!!栈1">
            <a:extLst>
              <a:ext uri="{FF2B5EF4-FFF2-40B4-BE49-F238E27FC236}">
                <a16:creationId xmlns:a16="http://schemas.microsoft.com/office/drawing/2014/main" id="{51E590F4-0E82-4538-B0BF-7C5630306A57}"/>
              </a:ext>
            </a:extLst>
          </p:cNvPr>
          <p:cNvSpPr txBox="1">
            <a:spLocks/>
          </p:cNvSpPr>
          <p:nvPr/>
        </p:nvSpPr>
        <p:spPr>
          <a:xfrm>
            <a:off x="0" y="886325"/>
            <a:ext cx="1937070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ea typeface="Alibaba PuHuiTi Medium" pitchFamily="18" charset="-122"/>
              </a:rPr>
              <a:t>数据结构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ea typeface="Alibaba PuHuiTi Medium" pitchFamily="18" charset="-122"/>
            </a:endParaRPr>
          </a:p>
        </p:txBody>
      </p:sp>
      <p:sp>
        <p:nvSpPr>
          <p:cNvPr id="6" name="!!!栈2">
            <a:extLst>
              <a:ext uri="{FF2B5EF4-FFF2-40B4-BE49-F238E27FC236}">
                <a16:creationId xmlns:a16="http://schemas.microsoft.com/office/drawing/2014/main" id="{0F4A1CE6-E7A7-45DF-AD15-564DF164DCC1}"/>
              </a:ext>
            </a:extLst>
          </p:cNvPr>
          <p:cNvSpPr txBox="1">
            <a:spLocks/>
          </p:cNvSpPr>
          <p:nvPr/>
        </p:nvSpPr>
        <p:spPr>
          <a:xfrm>
            <a:off x="998990" y="886325"/>
            <a:ext cx="1280980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ea typeface="Alibaba PuHuiTi Medium" pitchFamily="18" charset="-122"/>
              </a:rPr>
              <a:t>（链表）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64F5AD7-3FD0-4520-B74F-C42F853CBD3E}"/>
              </a:ext>
            </a:extLst>
          </p:cNvPr>
          <p:cNvSpPr txBox="1"/>
          <p:nvPr/>
        </p:nvSpPr>
        <p:spPr>
          <a:xfrm>
            <a:off x="471533" y="1948233"/>
            <a:ext cx="46987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链表查询慢，无论查询哪个数据都要从头开始找。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F6CCB0C-9513-4A7A-A522-D63DD5437AF1}"/>
              </a:ext>
            </a:extLst>
          </p:cNvPr>
          <p:cNvSpPr txBox="1"/>
          <p:nvPr/>
        </p:nvSpPr>
        <p:spPr>
          <a:xfrm>
            <a:off x="471533" y="2405120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链表增删相对快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36F625-64D6-4309-84C0-417B93FBE9B1}"/>
              </a:ext>
            </a:extLst>
          </p:cNvPr>
          <p:cNvSpPr/>
          <p:nvPr/>
        </p:nvSpPr>
        <p:spPr>
          <a:xfrm>
            <a:off x="6074353" y="4908823"/>
            <a:ext cx="766233" cy="385233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AD2B26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B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AD2B26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916D140-C835-4AD4-830C-D9870B8AE73B}"/>
              </a:ext>
            </a:extLst>
          </p:cNvPr>
          <p:cNvSpPr/>
          <p:nvPr/>
        </p:nvSpPr>
        <p:spPr>
          <a:xfrm>
            <a:off x="5976986" y="4813572"/>
            <a:ext cx="1824567" cy="569384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376C0AE-2104-4146-A7C6-101FAB8B324A}"/>
              </a:ext>
            </a:extLst>
          </p:cNvPr>
          <p:cNvSpPr/>
          <p:nvPr/>
        </p:nvSpPr>
        <p:spPr>
          <a:xfrm>
            <a:off x="6937952" y="4908823"/>
            <a:ext cx="768351" cy="385233"/>
          </a:xfrm>
          <a:prstGeom prst="rect">
            <a:avLst/>
          </a:prstGeom>
          <a:solidFill>
            <a:srgbClr val="9BBB59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^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71495A4-9060-45A6-B8AB-E8AB5AFB8420}"/>
              </a:ext>
            </a:extLst>
          </p:cNvPr>
          <p:cNvSpPr/>
          <p:nvPr/>
        </p:nvSpPr>
        <p:spPr>
          <a:xfrm>
            <a:off x="6074353" y="4337323"/>
            <a:ext cx="766233" cy="374649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79AFFF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54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79AFFF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B41F85D9-F4B6-46E2-906D-CE26D533DAA8}"/>
              </a:ext>
            </a:extLst>
          </p:cNvPr>
          <p:cNvSpPr txBox="1"/>
          <p:nvPr/>
        </p:nvSpPr>
        <p:spPr>
          <a:xfrm>
            <a:off x="471534" y="4953966"/>
            <a:ext cx="2872318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在数据</a:t>
            </a:r>
            <a:r>
              <a:rPr lang="en-US" altLang="zh-CN" sz="1600" b="1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AC</a:t>
            </a:r>
            <a:r>
              <a:rPr lang="zh-CN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之间添加一个数据</a:t>
            </a:r>
            <a:r>
              <a:rPr lang="en-US" altLang="zh-CN" sz="1600" b="1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</a:t>
            </a:r>
            <a:endParaRPr lang="zh-CN" altLang="en-US" sz="1600" b="1" dirty="0">
              <a:solidFill>
                <a:srgbClr val="AD2B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27738A58-3FFA-4412-91B9-FB1A4D3BD134}"/>
              </a:ext>
            </a:extLst>
          </p:cNvPr>
          <p:cNvSpPr txBox="1"/>
          <p:nvPr/>
        </p:nvSpPr>
        <p:spPr>
          <a:xfrm>
            <a:off x="471532" y="5341317"/>
            <a:ext cx="4146671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① 数据</a:t>
            </a:r>
            <a:r>
              <a:rPr lang="en-US" altLang="zh-CN" sz="1600" b="1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</a:t>
            </a:r>
            <a:r>
              <a:rPr lang="zh-CN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对应的下一个数据地址指向数据</a:t>
            </a:r>
            <a:r>
              <a:rPr lang="en-US" altLang="zh-CN" sz="1600" b="1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</a:t>
            </a:r>
            <a:endParaRPr lang="zh-CN" altLang="en-US" sz="1600" b="1" dirty="0">
              <a:solidFill>
                <a:srgbClr val="AD2B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5" name="!!!直接箭头连接符 77">
            <a:extLst>
              <a:ext uri="{FF2B5EF4-FFF2-40B4-BE49-F238E27FC236}">
                <a16:creationId xmlns:a16="http://schemas.microsoft.com/office/drawing/2014/main" id="{C961AB01-2C51-4238-9437-06B28763A541}"/>
              </a:ext>
            </a:extLst>
          </p:cNvPr>
          <p:cNvCxnSpPr>
            <a:cxnSpLocks/>
            <a:stCxn id="11" idx="0"/>
            <a:endCxn id="27" idx="2"/>
          </p:cNvCxnSpPr>
          <p:nvPr/>
        </p:nvCxnSpPr>
        <p:spPr>
          <a:xfrm flipH="1" flipV="1">
            <a:off x="6389722" y="3921673"/>
            <a:ext cx="932406" cy="987150"/>
          </a:xfrm>
          <a:prstGeom prst="straightConnector1">
            <a:avLst/>
          </a:prstGeom>
          <a:noFill/>
          <a:ln w="25400" cap="flat" cmpd="sng" algn="ctr">
            <a:solidFill>
              <a:srgbClr val="AD2B26"/>
            </a:solidFill>
            <a:prstDash val="solid"/>
            <a:tailEnd type="triangle"/>
          </a:ln>
          <a:effectLst/>
        </p:spPr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6EDC0D1F-BB9B-46A9-9711-CC514EC589B3}"/>
              </a:ext>
            </a:extLst>
          </p:cNvPr>
          <p:cNvSpPr/>
          <p:nvPr/>
        </p:nvSpPr>
        <p:spPr>
          <a:xfrm>
            <a:off x="6937952" y="4908823"/>
            <a:ext cx="768351" cy="385233"/>
          </a:xfrm>
          <a:prstGeom prst="rect">
            <a:avLst/>
          </a:prstGeom>
          <a:solidFill>
            <a:srgbClr val="C0504D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79AFFF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37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79AFFF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7" name="TextBox 2">
            <a:extLst>
              <a:ext uri="{FF2B5EF4-FFF2-40B4-BE49-F238E27FC236}">
                <a16:creationId xmlns:a16="http://schemas.microsoft.com/office/drawing/2014/main" id="{60559BBC-DB29-443A-8335-9BC726EDC0A9}"/>
              </a:ext>
            </a:extLst>
          </p:cNvPr>
          <p:cNvSpPr txBox="1"/>
          <p:nvPr/>
        </p:nvSpPr>
        <p:spPr>
          <a:xfrm>
            <a:off x="471533" y="5694250"/>
            <a:ext cx="4244483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② 数据</a:t>
            </a:r>
            <a:r>
              <a:rPr lang="en-US" altLang="zh-CN" sz="1600" b="1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</a:t>
            </a:r>
            <a:r>
              <a:rPr lang="zh-CN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对应的下一个数据地址指向数据</a:t>
            </a:r>
            <a:r>
              <a:rPr lang="en-US" altLang="zh-CN" sz="1600" b="1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</a:t>
            </a:r>
            <a:endParaRPr lang="zh-CN" altLang="en-US" sz="1600" b="1" dirty="0">
              <a:solidFill>
                <a:srgbClr val="AD2B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29AC7429-B63F-47E4-9DE3-4C129CE43D20}"/>
              </a:ext>
            </a:extLst>
          </p:cNvPr>
          <p:cNvCxnSpPr>
            <a:cxnSpLocks/>
            <a:stCxn id="37" idx="2"/>
            <a:endCxn id="10" idx="1"/>
          </p:cNvCxnSpPr>
          <p:nvPr/>
        </p:nvCxnSpPr>
        <p:spPr>
          <a:xfrm>
            <a:off x="4092080" y="3841239"/>
            <a:ext cx="1884906" cy="1257025"/>
          </a:xfrm>
          <a:prstGeom prst="straightConnector1">
            <a:avLst/>
          </a:prstGeom>
          <a:noFill/>
          <a:ln w="25400" cap="flat" cmpd="sng" algn="ctr">
            <a:solidFill>
              <a:srgbClr val="AD2B26"/>
            </a:solidFill>
            <a:prstDash val="solid"/>
            <a:tailEnd type="triangle"/>
          </a:ln>
          <a:effectLst/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D75E66E5-55BB-442D-9E06-8ABD7AE8350E}"/>
              </a:ext>
            </a:extLst>
          </p:cNvPr>
          <p:cNvSpPr/>
          <p:nvPr/>
        </p:nvSpPr>
        <p:spPr>
          <a:xfrm>
            <a:off x="115922" y="3447539"/>
            <a:ext cx="766233" cy="383117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head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4899D56-C19A-433E-A51B-EEA7B313F805}"/>
              </a:ext>
            </a:extLst>
          </p:cNvPr>
          <p:cNvSpPr/>
          <p:nvPr/>
        </p:nvSpPr>
        <p:spPr>
          <a:xfrm>
            <a:off x="18555" y="3350172"/>
            <a:ext cx="1824567" cy="577851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7D74A8E-8836-43E3-87D9-786D9C27473D}"/>
              </a:ext>
            </a:extLst>
          </p:cNvPr>
          <p:cNvSpPr/>
          <p:nvPr/>
        </p:nvSpPr>
        <p:spPr>
          <a:xfrm>
            <a:off x="979521" y="3447539"/>
            <a:ext cx="768349" cy="383117"/>
          </a:xfrm>
          <a:prstGeom prst="rect">
            <a:avLst/>
          </a:prstGeom>
          <a:solidFill>
            <a:srgbClr val="9BBB59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^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5C7C059-8AC8-47E7-95D8-0CA82A5A65BF}"/>
              </a:ext>
            </a:extLst>
          </p:cNvPr>
          <p:cNvSpPr/>
          <p:nvPr/>
        </p:nvSpPr>
        <p:spPr>
          <a:xfrm>
            <a:off x="2844304" y="3456006"/>
            <a:ext cx="768351" cy="385233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AD2B26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A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AD2B26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BABA139-6C06-4727-89DE-2A1A563BB898}"/>
              </a:ext>
            </a:extLst>
          </p:cNvPr>
          <p:cNvSpPr/>
          <p:nvPr/>
        </p:nvSpPr>
        <p:spPr>
          <a:xfrm>
            <a:off x="2749055" y="3360757"/>
            <a:ext cx="1824567" cy="571500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07DCC1F-EF37-4718-BA70-AB6D7A760807}"/>
              </a:ext>
            </a:extLst>
          </p:cNvPr>
          <p:cNvSpPr/>
          <p:nvPr/>
        </p:nvSpPr>
        <p:spPr>
          <a:xfrm>
            <a:off x="3707904" y="3456006"/>
            <a:ext cx="768351" cy="385233"/>
          </a:xfrm>
          <a:prstGeom prst="rect">
            <a:avLst/>
          </a:prstGeom>
          <a:solidFill>
            <a:srgbClr val="9BBB59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^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96EB34F-3E0F-4C88-9714-A1B738153ECB}"/>
              </a:ext>
            </a:extLst>
          </p:cNvPr>
          <p:cNvSpPr/>
          <p:nvPr/>
        </p:nvSpPr>
        <p:spPr>
          <a:xfrm>
            <a:off x="2844304" y="2884505"/>
            <a:ext cx="768351" cy="374651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79AFFF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11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79AFFF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14290BC-87A8-46DA-BE37-DF87654DC9DE}"/>
              </a:ext>
            </a:extLst>
          </p:cNvPr>
          <p:cNvSpPr/>
          <p:nvPr/>
        </p:nvSpPr>
        <p:spPr>
          <a:xfrm>
            <a:off x="5574805" y="3447539"/>
            <a:ext cx="766233" cy="383117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AD2B26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C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AD2B26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FD0DFCA-ED33-4CC5-B605-D7078E394AEF}"/>
              </a:ext>
            </a:extLst>
          </p:cNvPr>
          <p:cNvSpPr/>
          <p:nvPr/>
        </p:nvSpPr>
        <p:spPr>
          <a:xfrm>
            <a:off x="5477438" y="3350173"/>
            <a:ext cx="1824567" cy="571500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50C67DE-2561-461F-AA85-410940E89C5B}"/>
              </a:ext>
            </a:extLst>
          </p:cNvPr>
          <p:cNvSpPr/>
          <p:nvPr/>
        </p:nvSpPr>
        <p:spPr>
          <a:xfrm>
            <a:off x="6438404" y="3447539"/>
            <a:ext cx="768351" cy="383117"/>
          </a:xfrm>
          <a:prstGeom prst="rect">
            <a:avLst/>
          </a:prstGeom>
          <a:solidFill>
            <a:srgbClr val="9BBB59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^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DC3EC74-ED59-43BB-96BC-56095C16E3DB}"/>
              </a:ext>
            </a:extLst>
          </p:cNvPr>
          <p:cNvSpPr/>
          <p:nvPr/>
        </p:nvSpPr>
        <p:spPr>
          <a:xfrm>
            <a:off x="5574805" y="2873924"/>
            <a:ext cx="766233" cy="374649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79AFFF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37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79AFFF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354BC21-8284-4395-AB0D-7E99F5C172C5}"/>
              </a:ext>
            </a:extLst>
          </p:cNvPr>
          <p:cNvSpPr/>
          <p:nvPr/>
        </p:nvSpPr>
        <p:spPr>
          <a:xfrm>
            <a:off x="7919013" y="3458459"/>
            <a:ext cx="768349" cy="383117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AD2B26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D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AD2B26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A67232E-1E4B-4F60-A6EA-97B05D260835}"/>
              </a:ext>
            </a:extLst>
          </p:cNvPr>
          <p:cNvSpPr/>
          <p:nvPr/>
        </p:nvSpPr>
        <p:spPr>
          <a:xfrm>
            <a:off x="7823762" y="3361093"/>
            <a:ext cx="1822451" cy="571500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897DDA5-A51A-4C2F-BD28-73F505BEC66F}"/>
              </a:ext>
            </a:extLst>
          </p:cNvPr>
          <p:cNvSpPr/>
          <p:nvPr/>
        </p:nvSpPr>
        <p:spPr>
          <a:xfrm>
            <a:off x="8782613" y="3458459"/>
            <a:ext cx="768349" cy="383117"/>
          </a:xfrm>
          <a:prstGeom prst="rect">
            <a:avLst/>
          </a:prstGeom>
          <a:solidFill>
            <a:srgbClr val="9BBB59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^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5C220CA-9D27-4F4C-9DD0-9EBAA1E1CEBA}"/>
              </a:ext>
            </a:extLst>
          </p:cNvPr>
          <p:cNvSpPr/>
          <p:nvPr/>
        </p:nvSpPr>
        <p:spPr>
          <a:xfrm>
            <a:off x="7919013" y="2884844"/>
            <a:ext cx="768349" cy="374649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79AFFF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96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79AFFF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66879244-59B8-49E5-A036-AFC9FDCF549A}"/>
              </a:ext>
            </a:extLst>
          </p:cNvPr>
          <p:cNvCxnSpPr>
            <a:cxnSpLocks/>
            <a:stCxn id="20" idx="3"/>
            <a:endCxn id="23" idx="1"/>
          </p:cNvCxnSpPr>
          <p:nvPr/>
        </p:nvCxnSpPr>
        <p:spPr>
          <a:xfrm>
            <a:off x="1843122" y="3639098"/>
            <a:ext cx="905933" cy="7409"/>
          </a:xfrm>
          <a:prstGeom prst="straightConnector1">
            <a:avLst/>
          </a:prstGeom>
          <a:noFill/>
          <a:ln w="25400" cap="flat" cmpd="sng" algn="ctr">
            <a:solidFill>
              <a:srgbClr val="AD2B26"/>
            </a:solidFill>
            <a:prstDash val="solid"/>
            <a:tailEnd type="triangle"/>
          </a:ln>
          <a:effectLst/>
        </p:spPr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D793B39A-F91E-4065-8228-0B77C5EC77C4}"/>
              </a:ext>
            </a:extLst>
          </p:cNvPr>
          <p:cNvSpPr/>
          <p:nvPr/>
        </p:nvSpPr>
        <p:spPr>
          <a:xfrm>
            <a:off x="979521" y="3447539"/>
            <a:ext cx="768349" cy="383117"/>
          </a:xfrm>
          <a:prstGeom prst="rect">
            <a:avLst/>
          </a:prstGeom>
          <a:solidFill>
            <a:srgbClr val="9BBB59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79AFFF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11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79AFFF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DE88BB1D-F73E-4091-90C0-04A0428BC5D2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4573622" y="3646507"/>
            <a:ext cx="903816" cy="10583"/>
          </a:xfrm>
          <a:prstGeom prst="straightConnector1">
            <a:avLst/>
          </a:prstGeom>
          <a:noFill/>
          <a:ln w="25400" cap="flat" cmpd="sng" algn="ctr">
            <a:solidFill>
              <a:srgbClr val="AD2B26"/>
            </a:solidFill>
            <a:prstDash val="solid"/>
            <a:tailEnd type="triangle"/>
          </a:ln>
          <a:effectLst/>
        </p:spPr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A4C6D016-9CA7-4130-81E1-C3B40BFB1657}"/>
              </a:ext>
            </a:extLst>
          </p:cNvPr>
          <p:cNvSpPr/>
          <p:nvPr/>
        </p:nvSpPr>
        <p:spPr>
          <a:xfrm>
            <a:off x="3707904" y="3456006"/>
            <a:ext cx="768351" cy="385233"/>
          </a:xfrm>
          <a:prstGeom prst="rect">
            <a:avLst/>
          </a:prstGeom>
          <a:solidFill>
            <a:srgbClr val="9BBB59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79AFFF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37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79AFFF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2DB3DA5-DD39-4507-9C0B-24B49FDD26EA}"/>
              </a:ext>
            </a:extLst>
          </p:cNvPr>
          <p:cNvSpPr/>
          <p:nvPr/>
        </p:nvSpPr>
        <p:spPr>
          <a:xfrm>
            <a:off x="6438404" y="3447539"/>
            <a:ext cx="768351" cy="383117"/>
          </a:xfrm>
          <a:prstGeom prst="rect">
            <a:avLst/>
          </a:prstGeom>
          <a:solidFill>
            <a:srgbClr val="9BBB59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79AFFF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96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79AFFF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DCD6A9BF-286A-48BD-93AE-A1BA974B9F76}"/>
              </a:ext>
            </a:extLst>
          </p:cNvPr>
          <p:cNvCxnSpPr>
            <a:cxnSpLocks/>
            <a:stCxn id="27" idx="3"/>
          </p:cNvCxnSpPr>
          <p:nvPr/>
        </p:nvCxnSpPr>
        <p:spPr>
          <a:xfrm flipV="1">
            <a:off x="7302005" y="3632749"/>
            <a:ext cx="580431" cy="3174"/>
          </a:xfrm>
          <a:prstGeom prst="straightConnector1">
            <a:avLst/>
          </a:prstGeom>
          <a:noFill/>
          <a:ln w="25400" cap="flat" cmpd="sng" algn="ctr">
            <a:solidFill>
              <a:srgbClr val="AD2B26"/>
            </a:solidFill>
            <a:prstDash val="solid"/>
            <a:tailEnd type="triangle"/>
          </a:ln>
          <a:effectLst/>
        </p:spPr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B7982732-5408-4C1A-B64E-4041F53CABB1}"/>
              </a:ext>
            </a:extLst>
          </p:cNvPr>
          <p:cNvSpPr txBox="1"/>
          <p:nvPr/>
        </p:nvSpPr>
        <p:spPr>
          <a:xfrm>
            <a:off x="499803" y="1491346"/>
            <a:ext cx="880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链表中的结点是独立的对象，在内存中是不连续的，每个结点包含数据值和下一个结点的地址。</a:t>
            </a:r>
          </a:p>
        </p:txBody>
      </p:sp>
    </p:spTree>
    <p:extLst>
      <p:ext uri="{BB962C8B-B14F-4D97-AF65-F5344CB8AC3E}">
        <p14:creationId xmlns:p14="http://schemas.microsoft.com/office/powerpoint/2010/main" val="1210939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1" grpId="0" animBg="1"/>
      <p:bldP spid="12" grpId="0" animBg="1"/>
      <p:bldP spid="13" grpId="0"/>
      <p:bldP spid="14" grpId="0"/>
      <p:bldP spid="16" grpId="0" animBg="1"/>
      <p:bldP spid="1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7.3 List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!!!栈1">
            <a:extLst>
              <a:ext uri="{FF2B5EF4-FFF2-40B4-BE49-F238E27FC236}">
                <a16:creationId xmlns:a16="http://schemas.microsoft.com/office/drawing/2014/main" id="{4C31191A-FB27-430E-ACEE-479295CDC0A7}"/>
              </a:ext>
            </a:extLst>
          </p:cNvPr>
          <p:cNvSpPr txBox="1">
            <a:spLocks/>
          </p:cNvSpPr>
          <p:nvPr/>
        </p:nvSpPr>
        <p:spPr>
          <a:xfrm>
            <a:off x="111757" y="1019823"/>
            <a:ext cx="1937070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ea typeface="Alibaba PuHuiTi Medium" pitchFamily="18" charset="-122"/>
              </a:rPr>
              <a:t>数据结构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ea typeface="Alibaba PuHuiTi Medium" pitchFamily="18" charset="-122"/>
            </a:endParaRPr>
          </a:p>
        </p:txBody>
      </p:sp>
      <p:sp>
        <p:nvSpPr>
          <p:cNvPr id="6" name="!!!栈2">
            <a:extLst>
              <a:ext uri="{FF2B5EF4-FFF2-40B4-BE49-F238E27FC236}">
                <a16:creationId xmlns:a16="http://schemas.microsoft.com/office/drawing/2014/main" id="{A6B710D8-780B-4128-A756-B1CDF03D7607}"/>
              </a:ext>
            </a:extLst>
          </p:cNvPr>
          <p:cNvSpPr txBox="1">
            <a:spLocks/>
          </p:cNvSpPr>
          <p:nvPr/>
        </p:nvSpPr>
        <p:spPr>
          <a:xfrm>
            <a:off x="1110747" y="1019823"/>
            <a:ext cx="1280980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ea typeface="Alibaba PuHuiTi Medium" pitchFamily="18" charset="-122"/>
              </a:rPr>
              <a:t>（链表）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FC0E1A0-58E3-430B-99B1-A874F4773AB3}"/>
              </a:ext>
            </a:extLst>
          </p:cNvPr>
          <p:cNvSpPr txBox="1"/>
          <p:nvPr/>
        </p:nvSpPr>
        <p:spPr>
          <a:xfrm>
            <a:off x="583290" y="2081731"/>
            <a:ext cx="46987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链表查询慢，无论查询哪个数据都要从头开始找。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920775F-E0C2-43B2-940B-82526F091C8E}"/>
              </a:ext>
            </a:extLst>
          </p:cNvPr>
          <p:cNvSpPr txBox="1"/>
          <p:nvPr/>
        </p:nvSpPr>
        <p:spPr>
          <a:xfrm>
            <a:off x="583290" y="2538618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链表增删相对快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490F14A-F880-43B4-A66E-58BF0D7499B1}"/>
              </a:ext>
            </a:extLst>
          </p:cNvPr>
          <p:cNvSpPr/>
          <p:nvPr/>
        </p:nvSpPr>
        <p:spPr>
          <a:xfrm>
            <a:off x="6186110" y="5042321"/>
            <a:ext cx="766233" cy="385233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AD2B26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B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AD2B26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384BE87-F374-47E9-90B9-5A4377CEAE8E}"/>
              </a:ext>
            </a:extLst>
          </p:cNvPr>
          <p:cNvSpPr/>
          <p:nvPr/>
        </p:nvSpPr>
        <p:spPr>
          <a:xfrm>
            <a:off x="6088743" y="4947070"/>
            <a:ext cx="1824567" cy="569384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D03FA9A-907C-4646-914F-4660ECD89FDE}"/>
              </a:ext>
            </a:extLst>
          </p:cNvPr>
          <p:cNvSpPr/>
          <p:nvPr/>
        </p:nvSpPr>
        <p:spPr>
          <a:xfrm>
            <a:off x="7049709" y="5042321"/>
            <a:ext cx="768351" cy="385233"/>
          </a:xfrm>
          <a:prstGeom prst="rect">
            <a:avLst/>
          </a:prstGeom>
          <a:solidFill>
            <a:srgbClr val="9BBB59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^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9C07EF9-B03C-4072-9C81-DBA52894C29B}"/>
              </a:ext>
            </a:extLst>
          </p:cNvPr>
          <p:cNvSpPr/>
          <p:nvPr/>
        </p:nvSpPr>
        <p:spPr>
          <a:xfrm>
            <a:off x="6186110" y="4470821"/>
            <a:ext cx="766233" cy="374649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79AFFF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54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79AFFF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cxnSp>
        <p:nvCxnSpPr>
          <p:cNvPr id="13" name="!!!直接箭头连接符 77">
            <a:extLst>
              <a:ext uri="{FF2B5EF4-FFF2-40B4-BE49-F238E27FC236}">
                <a16:creationId xmlns:a16="http://schemas.microsoft.com/office/drawing/2014/main" id="{BABB4235-6394-4E2D-AC12-27DA554830C3}"/>
              </a:ext>
            </a:extLst>
          </p:cNvPr>
          <p:cNvCxnSpPr>
            <a:cxnSpLocks/>
            <a:stCxn id="11" idx="0"/>
            <a:endCxn id="24" idx="2"/>
          </p:cNvCxnSpPr>
          <p:nvPr/>
        </p:nvCxnSpPr>
        <p:spPr>
          <a:xfrm flipH="1" flipV="1">
            <a:off x="5714472" y="4039082"/>
            <a:ext cx="1719413" cy="1003239"/>
          </a:xfrm>
          <a:prstGeom prst="straightConnector1">
            <a:avLst/>
          </a:prstGeom>
          <a:noFill/>
          <a:ln w="25400" cap="flat" cmpd="sng" algn="ctr">
            <a:solidFill>
              <a:srgbClr val="AD2B26"/>
            </a:solidFill>
            <a:prstDash val="solid"/>
            <a:tailEnd type="triangle"/>
          </a:ln>
          <a:effectLst/>
        </p:spPr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5518D1EE-908D-47AD-A64F-B1085C026EA9}"/>
              </a:ext>
            </a:extLst>
          </p:cNvPr>
          <p:cNvSpPr/>
          <p:nvPr/>
        </p:nvSpPr>
        <p:spPr>
          <a:xfrm>
            <a:off x="7049709" y="5042321"/>
            <a:ext cx="768351" cy="385233"/>
          </a:xfrm>
          <a:prstGeom prst="rect">
            <a:avLst/>
          </a:prstGeom>
          <a:solidFill>
            <a:srgbClr val="C0504D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79AFFF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37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79AFFF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9323A7F6-8ED9-4DA3-A7EB-DD0F8F2258DF}"/>
              </a:ext>
            </a:extLst>
          </p:cNvPr>
          <p:cNvCxnSpPr>
            <a:cxnSpLocks/>
            <a:stCxn id="33" idx="2"/>
            <a:endCxn id="10" idx="1"/>
          </p:cNvCxnSpPr>
          <p:nvPr/>
        </p:nvCxnSpPr>
        <p:spPr>
          <a:xfrm>
            <a:off x="3916363" y="3933714"/>
            <a:ext cx="2172380" cy="1298048"/>
          </a:xfrm>
          <a:prstGeom prst="straightConnector1">
            <a:avLst/>
          </a:prstGeom>
          <a:noFill/>
          <a:ln w="25400" cap="flat" cmpd="sng" algn="ctr">
            <a:solidFill>
              <a:srgbClr val="AD2B26"/>
            </a:solidFill>
            <a:prstDash val="solid"/>
            <a:tailEnd type="triangle"/>
          </a:ln>
          <a:effectLst/>
        </p:spPr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21A9B57E-7A64-4E60-AFAA-67C8992DA698}"/>
              </a:ext>
            </a:extLst>
          </p:cNvPr>
          <p:cNvSpPr/>
          <p:nvPr/>
        </p:nvSpPr>
        <p:spPr>
          <a:xfrm>
            <a:off x="38693" y="3550599"/>
            <a:ext cx="766233" cy="383117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head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E6EB024-3968-4360-99A0-A1FF4316D080}"/>
              </a:ext>
            </a:extLst>
          </p:cNvPr>
          <p:cNvSpPr/>
          <p:nvPr/>
        </p:nvSpPr>
        <p:spPr>
          <a:xfrm>
            <a:off x="-58674" y="3453232"/>
            <a:ext cx="1824567" cy="577851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7490793-DFCC-4D55-B94D-35117ADFEC6B}"/>
              </a:ext>
            </a:extLst>
          </p:cNvPr>
          <p:cNvSpPr/>
          <p:nvPr/>
        </p:nvSpPr>
        <p:spPr>
          <a:xfrm>
            <a:off x="902292" y="3550599"/>
            <a:ext cx="768349" cy="383117"/>
          </a:xfrm>
          <a:prstGeom prst="rect">
            <a:avLst/>
          </a:prstGeom>
          <a:solidFill>
            <a:srgbClr val="9BBB59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^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01FDCB5-8748-47D0-866F-D2F095370F1F}"/>
              </a:ext>
            </a:extLst>
          </p:cNvPr>
          <p:cNvSpPr/>
          <p:nvPr/>
        </p:nvSpPr>
        <p:spPr>
          <a:xfrm>
            <a:off x="2668587" y="3548481"/>
            <a:ext cx="768351" cy="385233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AD2B26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A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AD2B26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D3C6A65-AA68-4E2A-9556-54F94F90B1C7}"/>
              </a:ext>
            </a:extLst>
          </p:cNvPr>
          <p:cNvSpPr/>
          <p:nvPr/>
        </p:nvSpPr>
        <p:spPr>
          <a:xfrm>
            <a:off x="2573338" y="3453232"/>
            <a:ext cx="1824567" cy="571500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11B7406-D92C-4237-AAD1-7CE847428A4A}"/>
              </a:ext>
            </a:extLst>
          </p:cNvPr>
          <p:cNvSpPr/>
          <p:nvPr/>
        </p:nvSpPr>
        <p:spPr>
          <a:xfrm>
            <a:off x="3532187" y="3548481"/>
            <a:ext cx="768351" cy="385233"/>
          </a:xfrm>
          <a:prstGeom prst="rect">
            <a:avLst/>
          </a:prstGeom>
          <a:solidFill>
            <a:srgbClr val="9BBB59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^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2E2DECC-899F-488A-812C-1DB7BF4022C4}"/>
              </a:ext>
            </a:extLst>
          </p:cNvPr>
          <p:cNvSpPr/>
          <p:nvPr/>
        </p:nvSpPr>
        <p:spPr>
          <a:xfrm>
            <a:off x="2668587" y="2976980"/>
            <a:ext cx="768351" cy="374651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79AFFF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11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79AFFF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F64039F-BA52-4248-AFE3-64B8A1045967}"/>
              </a:ext>
            </a:extLst>
          </p:cNvPr>
          <p:cNvSpPr/>
          <p:nvPr/>
        </p:nvSpPr>
        <p:spPr>
          <a:xfrm>
            <a:off x="4899555" y="3564948"/>
            <a:ext cx="766233" cy="383117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AD2B26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C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AD2B26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467F1E7-831C-4664-A4E4-7E576FDD1CAC}"/>
              </a:ext>
            </a:extLst>
          </p:cNvPr>
          <p:cNvSpPr/>
          <p:nvPr/>
        </p:nvSpPr>
        <p:spPr>
          <a:xfrm>
            <a:off x="4802188" y="3467582"/>
            <a:ext cx="1824567" cy="571500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8F71ED7-52AD-4868-84B2-D8F000B1F524}"/>
              </a:ext>
            </a:extLst>
          </p:cNvPr>
          <p:cNvSpPr/>
          <p:nvPr/>
        </p:nvSpPr>
        <p:spPr>
          <a:xfrm>
            <a:off x="5763154" y="3564948"/>
            <a:ext cx="768351" cy="383117"/>
          </a:xfrm>
          <a:prstGeom prst="rect">
            <a:avLst/>
          </a:prstGeom>
          <a:solidFill>
            <a:srgbClr val="9BBB59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^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F144929-ACA6-4AD8-888B-B4566DE22434}"/>
              </a:ext>
            </a:extLst>
          </p:cNvPr>
          <p:cNvSpPr/>
          <p:nvPr/>
        </p:nvSpPr>
        <p:spPr>
          <a:xfrm>
            <a:off x="4899555" y="2991333"/>
            <a:ext cx="766233" cy="374649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79AFFF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37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79AFFF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E59333A-EC61-4A1A-A4FE-F081FEBC8436}"/>
              </a:ext>
            </a:extLst>
          </p:cNvPr>
          <p:cNvSpPr/>
          <p:nvPr/>
        </p:nvSpPr>
        <p:spPr>
          <a:xfrm>
            <a:off x="7627938" y="3564948"/>
            <a:ext cx="768349" cy="383117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AD2B26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D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AD2B26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6552626-070B-4E12-8AE2-2B5C0543A0E0}"/>
              </a:ext>
            </a:extLst>
          </p:cNvPr>
          <p:cNvSpPr/>
          <p:nvPr/>
        </p:nvSpPr>
        <p:spPr>
          <a:xfrm>
            <a:off x="7532687" y="3467582"/>
            <a:ext cx="1822451" cy="571500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B74B414-C00D-4F96-8439-F84C05E7CD7A}"/>
              </a:ext>
            </a:extLst>
          </p:cNvPr>
          <p:cNvSpPr/>
          <p:nvPr/>
        </p:nvSpPr>
        <p:spPr>
          <a:xfrm>
            <a:off x="8491538" y="3564948"/>
            <a:ext cx="768349" cy="383117"/>
          </a:xfrm>
          <a:prstGeom prst="rect">
            <a:avLst/>
          </a:prstGeom>
          <a:solidFill>
            <a:srgbClr val="9BBB59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^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DB89216-61C3-4BA1-BF08-97E035525367}"/>
              </a:ext>
            </a:extLst>
          </p:cNvPr>
          <p:cNvSpPr/>
          <p:nvPr/>
        </p:nvSpPr>
        <p:spPr>
          <a:xfrm>
            <a:off x="7627938" y="2991333"/>
            <a:ext cx="768349" cy="374649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79AFFF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96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79AFFF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B2B8AFFA-4C17-47A9-BC2A-C93B48D42A78}"/>
              </a:ext>
            </a:extLst>
          </p:cNvPr>
          <p:cNvCxnSpPr>
            <a:stCxn id="18" idx="3"/>
            <a:endCxn id="20" idx="1"/>
          </p:cNvCxnSpPr>
          <p:nvPr/>
        </p:nvCxnSpPr>
        <p:spPr>
          <a:xfrm flipV="1">
            <a:off x="1670641" y="3738982"/>
            <a:ext cx="902697" cy="3176"/>
          </a:xfrm>
          <a:prstGeom prst="straightConnector1">
            <a:avLst/>
          </a:prstGeom>
          <a:noFill/>
          <a:ln w="25400" cap="flat" cmpd="sng" algn="ctr">
            <a:solidFill>
              <a:srgbClr val="AD2B26"/>
            </a:solidFill>
            <a:prstDash val="solid"/>
            <a:tailEnd type="triangle"/>
          </a:ln>
          <a:effectLst/>
        </p:spPr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2FB45DCE-9800-4214-A9F9-CF51076B1B78}"/>
              </a:ext>
            </a:extLst>
          </p:cNvPr>
          <p:cNvSpPr/>
          <p:nvPr/>
        </p:nvSpPr>
        <p:spPr>
          <a:xfrm>
            <a:off x="902292" y="3550599"/>
            <a:ext cx="768349" cy="383117"/>
          </a:xfrm>
          <a:prstGeom prst="rect">
            <a:avLst/>
          </a:prstGeom>
          <a:solidFill>
            <a:srgbClr val="9BBB59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79AFFF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11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79AFFF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1C90D52-3BC7-44FF-88A5-5812ED48646B}"/>
              </a:ext>
            </a:extLst>
          </p:cNvPr>
          <p:cNvSpPr/>
          <p:nvPr/>
        </p:nvSpPr>
        <p:spPr>
          <a:xfrm>
            <a:off x="3532187" y="3548481"/>
            <a:ext cx="768351" cy="385233"/>
          </a:xfrm>
          <a:prstGeom prst="rect">
            <a:avLst/>
          </a:prstGeom>
          <a:solidFill>
            <a:srgbClr val="9BBB59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79AFFF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54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79AFFF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8C5F791-2F15-4A26-A023-65582588BBB5}"/>
              </a:ext>
            </a:extLst>
          </p:cNvPr>
          <p:cNvSpPr/>
          <p:nvPr/>
        </p:nvSpPr>
        <p:spPr>
          <a:xfrm>
            <a:off x="5763154" y="3564948"/>
            <a:ext cx="768351" cy="383117"/>
          </a:xfrm>
          <a:prstGeom prst="rect">
            <a:avLst/>
          </a:prstGeom>
          <a:solidFill>
            <a:srgbClr val="9BBB59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79AFFF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96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79AFFF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829E2F71-193B-402E-B7A7-635FC1FDF2C8}"/>
              </a:ext>
            </a:extLst>
          </p:cNvPr>
          <p:cNvCxnSpPr/>
          <p:nvPr/>
        </p:nvCxnSpPr>
        <p:spPr>
          <a:xfrm>
            <a:off x="6529388" y="3751215"/>
            <a:ext cx="1003300" cy="6351"/>
          </a:xfrm>
          <a:prstGeom prst="straightConnector1">
            <a:avLst/>
          </a:prstGeom>
          <a:noFill/>
          <a:ln w="25400" cap="flat" cmpd="sng" algn="ctr">
            <a:solidFill>
              <a:srgbClr val="AD2B26"/>
            </a:solidFill>
            <a:prstDash val="solid"/>
            <a:tailEnd type="triangle"/>
          </a:ln>
          <a:effectLst/>
        </p:spPr>
      </p:cxnSp>
      <p:sp>
        <p:nvSpPr>
          <p:cNvPr id="36" name="TextBox 2">
            <a:extLst>
              <a:ext uri="{FF2B5EF4-FFF2-40B4-BE49-F238E27FC236}">
                <a16:creationId xmlns:a16="http://schemas.microsoft.com/office/drawing/2014/main" id="{80B36371-DBC2-4D04-B220-C97D2998C407}"/>
              </a:ext>
            </a:extLst>
          </p:cNvPr>
          <p:cNvSpPr txBox="1"/>
          <p:nvPr/>
        </p:nvSpPr>
        <p:spPr>
          <a:xfrm>
            <a:off x="367202" y="5512497"/>
            <a:ext cx="4713817" cy="42710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① 数据</a:t>
            </a:r>
            <a:r>
              <a:rPr lang="en-US" altLang="zh-CN" sz="1600" b="1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</a:t>
            </a:r>
            <a:r>
              <a:rPr lang="zh-CN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对应的下一个数据地址指向数据</a:t>
            </a:r>
            <a:r>
              <a:rPr lang="en-US" altLang="zh-CN" sz="1600" b="1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</a:t>
            </a:r>
            <a:endParaRPr lang="zh-CN" altLang="en-US" sz="1600" b="1" dirty="0">
              <a:solidFill>
                <a:srgbClr val="AD2B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TextBox 2">
            <a:extLst>
              <a:ext uri="{FF2B5EF4-FFF2-40B4-BE49-F238E27FC236}">
                <a16:creationId xmlns:a16="http://schemas.microsoft.com/office/drawing/2014/main" id="{B45C60EB-1CBD-44BE-B6DE-9B02F209FF55}"/>
              </a:ext>
            </a:extLst>
          </p:cNvPr>
          <p:cNvSpPr txBox="1"/>
          <p:nvPr/>
        </p:nvSpPr>
        <p:spPr>
          <a:xfrm>
            <a:off x="391478" y="5077607"/>
            <a:ext cx="5008731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删除数据</a:t>
            </a:r>
            <a:r>
              <a:rPr lang="en-US" altLang="zh-CN" sz="1600" b="1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BD</a:t>
            </a:r>
            <a:r>
              <a:rPr lang="zh-CN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之间的数据</a:t>
            </a:r>
            <a:r>
              <a:rPr lang="en-US" altLang="zh-CN" sz="1600" b="1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</a:t>
            </a:r>
            <a:endParaRPr lang="zh-CN" altLang="en-US" sz="1600" b="1" dirty="0">
              <a:solidFill>
                <a:srgbClr val="AD2B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30CDCC2-DA0C-47EA-8C48-F01C5AD06A74}"/>
              </a:ext>
            </a:extLst>
          </p:cNvPr>
          <p:cNvSpPr txBox="1"/>
          <p:nvPr/>
        </p:nvSpPr>
        <p:spPr>
          <a:xfrm>
            <a:off x="611560" y="1624844"/>
            <a:ext cx="880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链表中的结点是独立的对象，在内存中是不连续的，每个结点包含数据值和下一个结点的地址。</a:t>
            </a:r>
          </a:p>
        </p:txBody>
      </p:sp>
    </p:spTree>
    <p:extLst>
      <p:ext uri="{BB962C8B-B14F-4D97-AF65-F5344CB8AC3E}">
        <p14:creationId xmlns:p14="http://schemas.microsoft.com/office/powerpoint/2010/main" val="3446617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7.3 List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!!!栈1">
            <a:extLst>
              <a:ext uri="{FF2B5EF4-FFF2-40B4-BE49-F238E27FC236}">
                <a16:creationId xmlns:a16="http://schemas.microsoft.com/office/drawing/2014/main" id="{CA342BDC-9584-45B9-8A12-69AF58189A41}"/>
              </a:ext>
            </a:extLst>
          </p:cNvPr>
          <p:cNvSpPr txBox="1">
            <a:spLocks/>
          </p:cNvSpPr>
          <p:nvPr/>
        </p:nvSpPr>
        <p:spPr>
          <a:xfrm>
            <a:off x="111757" y="951771"/>
            <a:ext cx="1937070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ea typeface="Alibaba PuHuiTi Medium" pitchFamily="18" charset="-122"/>
              </a:rPr>
              <a:t>数据结构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ea typeface="Alibaba PuHuiTi Medium" pitchFamily="18" charset="-122"/>
            </a:endParaRPr>
          </a:p>
        </p:txBody>
      </p:sp>
      <p:sp>
        <p:nvSpPr>
          <p:cNvPr id="6" name="!!!栈2">
            <a:extLst>
              <a:ext uri="{FF2B5EF4-FFF2-40B4-BE49-F238E27FC236}">
                <a16:creationId xmlns:a16="http://schemas.microsoft.com/office/drawing/2014/main" id="{AFC241AB-F059-4021-B271-DDB11F746BCD}"/>
              </a:ext>
            </a:extLst>
          </p:cNvPr>
          <p:cNvSpPr txBox="1">
            <a:spLocks/>
          </p:cNvSpPr>
          <p:nvPr/>
        </p:nvSpPr>
        <p:spPr>
          <a:xfrm>
            <a:off x="1110747" y="951771"/>
            <a:ext cx="1280980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ea typeface="Alibaba PuHuiTi Medium" pitchFamily="18" charset="-122"/>
              </a:rPr>
              <a:t>（链表）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E2C139-37F0-4B7C-A4EF-94F4BC5BE0D9}"/>
              </a:ext>
            </a:extLst>
          </p:cNvPr>
          <p:cNvSpPr txBox="1"/>
          <p:nvPr/>
        </p:nvSpPr>
        <p:spPr>
          <a:xfrm>
            <a:off x="583290" y="2013679"/>
            <a:ext cx="46987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链表查询慢，无论查询哪个数据都要从头开始找。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D020FF7-5310-4586-856E-9094381DAE5F}"/>
              </a:ext>
            </a:extLst>
          </p:cNvPr>
          <p:cNvSpPr txBox="1"/>
          <p:nvPr/>
        </p:nvSpPr>
        <p:spPr>
          <a:xfrm>
            <a:off x="583290" y="2470566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链表增删相对快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FABD0A3-97C2-4CA8-9B3D-4AC5255D3582}"/>
              </a:ext>
            </a:extLst>
          </p:cNvPr>
          <p:cNvSpPr/>
          <p:nvPr/>
        </p:nvSpPr>
        <p:spPr>
          <a:xfrm>
            <a:off x="6186110" y="4974269"/>
            <a:ext cx="766233" cy="385233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AD2B26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B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AD2B26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33C02A-D8DD-4044-9EC6-464CB8C4721E}"/>
              </a:ext>
            </a:extLst>
          </p:cNvPr>
          <p:cNvSpPr/>
          <p:nvPr/>
        </p:nvSpPr>
        <p:spPr>
          <a:xfrm>
            <a:off x="6088743" y="4879018"/>
            <a:ext cx="1824567" cy="569384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244A0AB-2397-44B0-B999-2FD933E1275A}"/>
              </a:ext>
            </a:extLst>
          </p:cNvPr>
          <p:cNvSpPr/>
          <p:nvPr/>
        </p:nvSpPr>
        <p:spPr>
          <a:xfrm>
            <a:off x="7049709" y="4974269"/>
            <a:ext cx="768351" cy="385233"/>
          </a:xfrm>
          <a:prstGeom prst="rect">
            <a:avLst/>
          </a:prstGeom>
          <a:solidFill>
            <a:srgbClr val="9BBB59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^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A2CFF26-9D52-428D-8BD9-DA98F11B1E20}"/>
              </a:ext>
            </a:extLst>
          </p:cNvPr>
          <p:cNvSpPr/>
          <p:nvPr/>
        </p:nvSpPr>
        <p:spPr>
          <a:xfrm>
            <a:off x="6186110" y="4402769"/>
            <a:ext cx="766233" cy="374649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79AFFF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54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79AFFF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cxnSp>
        <p:nvCxnSpPr>
          <p:cNvPr id="13" name="!!!直接箭头连接符 77">
            <a:extLst>
              <a:ext uri="{FF2B5EF4-FFF2-40B4-BE49-F238E27FC236}">
                <a16:creationId xmlns:a16="http://schemas.microsoft.com/office/drawing/2014/main" id="{18F29E3C-7E35-48D9-AD27-04A5CED2AFC3}"/>
              </a:ext>
            </a:extLst>
          </p:cNvPr>
          <p:cNvCxnSpPr>
            <a:cxnSpLocks/>
            <a:stCxn id="11" idx="0"/>
            <a:endCxn id="28" idx="1"/>
          </p:cNvCxnSpPr>
          <p:nvPr/>
        </p:nvCxnSpPr>
        <p:spPr>
          <a:xfrm flipH="1" flipV="1">
            <a:off x="7407609" y="3641826"/>
            <a:ext cx="26276" cy="1332443"/>
          </a:xfrm>
          <a:prstGeom prst="straightConnector1">
            <a:avLst/>
          </a:prstGeom>
          <a:noFill/>
          <a:ln w="25400" cap="flat" cmpd="sng" algn="ctr">
            <a:solidFill>
              <a:srgbClr val="AD2B26"/>
            </a:solidFill>
            <a:prstDash val="solid"/>
            <a:tailEnd type="triangle"/>
          </a:ln>
          <a:effectLst/>
        </p:spPr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794FD420-9803-4F1F-A92D-694F834AE551}"/>
              </a:ext>
            </a:extLst>
          </p:cNvPr>
          <p:cNvSpPr/>
          <p:nvPr/>
        </p:nvSpPr>
        <p:spPr>
          <a:xfrm>
            <a:off x="7049709" y="4974269"/>
            <a:ext cx="768351" cy="385233"/>
          </a:xfrm>
          <a:prstGeom prst="rect">
            <a:avLst/>
          </a:prstGeom>
          <a:solidFill>
            <a:srgbClr val="C0504D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79AFFF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96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79AFFF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7AF29EC-947D-4BA0-B253-8B5820FA1BB9}"/>
              </a:ext>
            </a:extLst>
          </p:cNvPr>
          <p:cNvCxnSpPr>
            <a:cxnSpLocks/>
            <a:stCxn id="33" idx="2"/>
            <a:endCxn id="10" idx="1"/>
          </p:cNvCxnSpPr>
          <p:nvPr/>
        </p:nvCxnSpPr>
        <p:spPr>
          <a:xfrm>
            <a:off x="4166407" y="3895955"/>
            <a:ext cx="1922336" cy="1267755"/>
          </a:xfrm>
          <a:prstGeom prst="straightConnector1">
            <a:avLst/>
          </a:prstGeom>
          <a:noFill/>
          <a:ln w="25400" cap="flat" cmpd="sng" algn="ctr">
            <a:solidFill>
              <a:srgbClr val="AD2B26"/>
            </a:solidFill>
            <a:prstDash val="solid"/>
            <a:tailEnd type="triangle"/>
          </a:ln>
          <a:effectLst/>
        </p:spPr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2B4D6999-4587-4B18-B0A6-2B92AC4DC137}"/>
              </a:ext>
            </a:extLst>
          </p:cNvPr>
          <p:cNvSpPr/>
          <p:nvPr/>
        </p:nvSpPr>
        <p:spPr>
          <a:xfrm>
            <a:off x="190249" y="3502255"/>
            <a:ext cx="766233" cy="383117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head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A185772-EA8E-4BF1-AD92-BE54F20982DC}"/>
              </a:ext>
            </a:extLst>
          </p:cNvPr>
          <p:cNvSpPr/>
          <p:nvPr/>
        </p:nvSpPr>
        <p:spPr>
          <a:xfrm>
            <a:off x="92882" y="3404888"/>
            <a:ext cx="1824567" cy="577851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9874166-D2F2-4CCE-9D14-6F587805AB79}"/>
              </a:ext>
            </a:extLst>
          </p:cNvPr>
          <p:cNvSpPr/>
          <p:nvPr/>
        </p:nvSpPr>
        <p:spPr>
          <a:xfrm>
            <a:off x="1053848" y="3502255"/>
            <a:ext cx="768349" cy="383117"/>
          </a:xfrm>
          <a:prstGeom prst="rect">
            <a:avLst/>
          </a:prstGeom>
          <a:solidFill>
            <a:srgbClr val="9BBB59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^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257E40F-CC91-45F6-8E3D-B3F002FF5547}"/>
              </a:ext>
            </a:extLst>
          </p:cNvPr>
          <p:cNvSpPr/>
          <p:nvPr/>
        </p:nvSpPr>
        <p:spPr>
          <a:xfrm>
            <a:off x="2918631" y="3510722"/>
            <a:ext cx="768351" cy="385233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AD2B26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A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AD2B26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786E5C6-46AD-4099-AA3D-42BA720E26E3}"/>
              </a:ext>
            </a:extLst>
          </p:cNvPr>
          <p:cNvSpPr/>
          <p:nvPr/>
        </p:nvSpPr>
        <p:spPr>
          <a:xfrm>
            <a:off x="2823382" y="3415473"/>
            <a:ext cx="1824567" cy="571500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C3F0BA6-4762-4126-BC6D-284C339B8D64}"/>
              </a:ext>
            </a:extLst>
          </p:cNvPr>
          <p:cNvSpPr/>
          <p:nvPr/>
        </p:nvSpPr>
        <p:spPr>
          <a:xfrm>
            <a:off x="3782231" y="3510722"/>
            <a:ext cx="768351" cy="385233"/>
          </a:xfrm>
          <a:prstGeom prst="rect">
            <a:avLst/>
          </a:prstGeom>
          <a:solidFill>
            <a:srgbClr val="9BBB59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^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BAAC56F-A601-4FE6-8658-97334BD05FA4}"/>
              </a:ext>
            </a:extLst>
          </p:cNvPr>
          <p:cNvSpPr/>
          <p:nvPr/>
        </p:nvSpPr>
        <p:spPr>
          <a:xfrm>
            <a:off x="2918631" y="2939221"/>
            <a:ext cx="768351" cy="374651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79AFFF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11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79AFFF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30739B4-B680-461B-981A-822EB31CA8A6}"/>
              </a:ext>
            </a:extLst>
          </p:cNvPr>
          <p:cNvSpPr/>
          <p:nvPr/>
        </p:nvSpPr>
        <p:spPr>
          <a:xfrm>
            <a:off x="5009425" y="3488341"/>
            <a:ext cx="766233" cy="383117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AD2B26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C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AD2B26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8B68388-5174-4270-8A61-F15A8F0C8732}"/>
              </a:ext>
            </a:extLst>
          </p:cNvPr>
          <p:cNvSpPr/>
          <p:nvPr/>
        </p:nvSpPr>
        <p:spPr>
          <a:xfrm>
            <a:off x="4912058" y="3390975"/>
            <a:ext cx="1824567" cy="571500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F9EEA48-A398-4191-8B62-4410A7399A1C}"/>
              </a:ext>
            </a:extLst>
          </p:cNvPr>
          <p:cNvSpPr/>
          <p:nvPr/>
        </p:nvSpPr>
        <p:spPr>
          <a:xfrm>
            <a:off x="5873024" y="3488341"/>
            <a:ext cx="768351" cy="383117"/>
          </a:xfrm>
          <a:prstGeom prst="rect">
            <a:avLst/>
          </a:prstGeom>
          <a:solidFill>
            <a:srgbClr val="9BBB59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^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F1DE707-F062-418D-96E2-2B4B2FCE22F7}"/>
              </a:ext>
            </a:extLst>
          </p:cNvPr>
          <p:cNvSpPr/>
          <p:nvPr/>
        </p:nvSpPr>
        <p:spPr>
          <a:xfrm>
            <a:off x="5009425" y="2914726"/>
            <a:ext cx="766233" cy="374649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79AFFF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37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79AFFF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EBD04AB-7E28-4D96-8E42-D4EE9C5B356E}"/>
              </a:ext>
            </a:extLst>
          </p:cNvPr>
          <p:cNvSpPr/>
          <p:nvPr/>
        </p:nvSpPr>
        <p:spPr>
          <a:xfrm>
            <a:off x="7502860" y="3453442"/>
            <a:ext cx="768349" cy="383117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AD2B26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D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AD2B26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0544A87-C08D-493D-AC0E-F20122CED988}"/>
              </a:ext>
            </a:extLst>
          </p:cNvPr>
          <p:cNvSpPr/>
          <p:nvPr/>
        </p:nvSpPr>
        <p:spPr>
          <a:xfrm>
            <a:off x="7407609" y="3356076"/>
            <a:ext cx="1822451" cy="571500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AE87816-BCA1-4B4F-93E4-47421C5EC09C}"/>
              </a:ext>
            </a:extLst>
          </p:cNvPr>
          <p:cNvSpPr/>
          <p:nvPr/>
        </p:nvSpPr>
        <p:spPr>
          <a:xfrm>
            <a:off x="8366460" y="3453442"/>
            <a:ext cx="768349" cy="383117"/>
          </a:xfrm>
          <a:prstGeom prst="rect">
            <a:avLst/>
          </a:prstGeom>
          <a:solidFill>
            <a:srgbClr val="9BBB59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^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690C3FC-ECD2-4DD2-9E36-078ED4228B56}"/>
              </a:ext>
            </a:extLst>
          </p:cNvPr>
          <p:cNvSpPr/>
          <p:nvPr/>
        </p:nvSpPr>
        <p:spPr>
          <a:xfrm>
            <a:off x="7502860" y="2879827"/>
            <a:ext cx="768349" cy="374649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79AFFF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96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79AFFF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1F37282D-C530-4238-9537-F39457E27F0D}"/>
              </a:ext>
            </a:extLst>
          </p:cNvPr>
          <p:cNvCxnSpPr>
            <a:stCxn id="18" idx="3"/>
            <a:endCxn id="20" idx="1"/>
          </p:cNvCxnSpPr>
          <p:nvPr/>
        </p:nvCxnSpPr>
        <p:spPr>
          <a:xfrm>
            <a:off x="1822197" y="3694872"/>
            <a:ext cx="1001184" cy="6349"/>
          </a:xfrm>
          <a:prstGeom prst="straightConnector1">
            <a:avLst/>
          </a:prstGeom>
          <a:noFill/>
          <a:ln w="25400" cap="flat" cmpd="sng" algn="ctr">
            <a:solidFill>
              <a:srgbClr val="AD2B26"/>
            </a:solidFill>
            <a:prstDash val="solid"/>
            <a:tailEnd type="triangle"/>
          </a:ln>
          <a:effectLst/>
        </p:spPr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E59ED579-43B1-4DB5-A5B8-AB6A6769FCDC}"/>
              </a:ext>
            </a:extLst>
          </p:cNvPr>
          <p:cNvSpPr/>
          <p:nvPr/>
        </p:nvSpPr>
        <p:spPr>
          <a:xfrm>
            <a:off x="1053848" y="3502255"/>
            <a:ext cx="768349" cy="383117"/>
          </a:xfrm>
          <a:prstGeom prst="rect">
            <a:avLst/>
          </a:prstGeom>
          <a:solidFill>
            <a:srgbClr val="9BBB59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79AFFF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11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79AFFF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C76984C-2D2A-4D41-A999-1093505FF2EC}"/>
              </a:ext>
            </a:extLst>
          </p:cNvPr>
          <p:cNvSpPr/>
          <p:nvPr/>
        </p:nvSpPr>
        <p:spPr>
          <a:xfrm>
            <a:off x="3782231" y="3510722"/>
            <a:ext cx="768351" cy="385233"/>
          </a:xfrm>
          <a:prstGeom prst="rect">
            <a:avLst/>
          </a:prstGeom>
          <a:solidFill>
            <a:srgbClr val="9BBB59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79AFFF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54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79AFFF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04E4096-8519-4927-AC4E-8B5ACB1A9BB3}"/>
              </a:ext>
            </a:extLst>
          </p:cNvPr>
          <p:cNvSpPr/>
          <p:nvPr/>
        </p:nvSpPr>
        <p:spPr>
          <a:xfrm>
            <a:off x="5873024" y="3488341"/>
            <a:ext cx="768351" cy="383117"/>
          </a:xfrm>
          <a:prstGeom prst="rect">
            <a:avLst/>
          </a:prstGeom>
          <a:solidFill>
            <a:srgbClr val="9BBB59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79AFFF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96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79AFFF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F88B2C33-270D-417C-8EE8-CE88EF9A746B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6639258" y="3641826"/>
            <a:ext cx="768351" cy="32782"/>
          </a:xfrm>
          <a:prstGeom prst="straightConnector1">
            <a:avLst/>
          </a:prstGeom>
          <a:noFill/>
          <a:ln w="25400" cap="flat" cmpd="sng" algn="ctr">
            <a:solidFill>
              <a:srgbClr val="AD2B26"/>
            </a:solidFill>
            <a:prstDash val="solid"/>
            <a:tailEnd type="triangle"/>
          </a:ln>
          <a:effectLst/>
        </p:spPr>
      </p:cxnSp>
      <p:sp>
        <p:nvSpPr>
          <p:cNvPr id="36" name="TextBox 2">
            <a:extLst>
              <a:ext uri="{FF2B5EF4-FFF2-40B4-BE49-F238E27FC236}">
                <a16:creationId xmlns:a16="http://schemas.microsoft.com/office/drawing/2014/main" id="{8006FCE4-818F-410C-A6CA-51747D16706C}"/>
              </a:ext>
            </a:extLst>
          </p:cNvPr>
          <p:cNvSpPr txBox="1"/>
          <p:nvPr/>
        </p:nvSpPr>
        <p:spPr>
          <a:xfrm>
            <a:off x="367202" y="5444445"/>
            <a:ext cx="4713817" cy="42710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① 数据</a:t>
            </a:r>
            <a:r>
              <a:rPr lang="en-US" altLang="zh-CN" sz="1600" b="1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</a:t>
            </a:r>
            <a:r>
              <a:rPr lang="zh-CN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对应的下一个数据地址指向数据</a:t>
            </a:r>
            <a:r>
              <a:rPr lang="en-US" altLang="zh-CN" sz="1600" b="1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</a:t>
            </a:r>
            <a:endParaRPr lang="zh-CN" altLang="en-US" sz="1600" b="1" dirty="0">
              <a:solidFill>
                <a:srgbClr val="AD2B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TextBox 2">
            <a:extLst>
              <a:ext uri="{FF2B5EF4-FFF2-40B4-BE49-F238E27FC236}">
                <a16:creationId xmlns:a16="http://schemas.microsoft.com/office/drawing/2014/main" id="{A08F51FB-A42F-4B74-8A46-33573B57C79C}"/>
              </a:ext>
            </a:extLst>
          </p:cNvPr>
          <p:cNvSpPr txBox="1"/>
          <p:nvPr/>
        </p:nvSpPr>
        <p:spPr>
          <a:xfrm>
            <a:off x="367202" y="5837280"/>
            <a:ext cx="4722284" cy="42710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② 数据</a:t>
            </a:r>
            <a:r>
              <a:rPr lang="en-US" altLang="zh-CN" sz="1600" b="1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</a:t>
            </a:r>
            <a:r>
              <a:rPr lang="zh-CN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删除</a:t>
            </a:r>
            <a:endParaRPr lang="zh-CN" altLang="en-US" sz="1600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8" name="TextBox 2">
            <a:extLst>
              <a:ext uri="{FF2B5EF4-FFF2-40B4-BE49-F238E27FC236}">
                <a16:creationId xmlns:a16="http://schemas.microsoft.com/office/drawing/2014/main" id="{3774CAD3-F445-45EE-AF97-750A5EAE98E9}"/>
              </a:ext>
            </a:extLst>
          </p:cNvPr>
          <p:cNvSpPr txBox="1"/>
          <p:nvPr/>
        </p:nvSpPr>
        <p:spPr>
          <a:xfrm>
            <a:off x="391478" y="5009555"/>
            <a:ext cx="5105399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删除数据</a:t>
            </a:r>
            <a:r>
              <a:rPr lang="en-US" altLang="zh-CN" sz="1600" b="1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BD</a:t>
            </a:r>
            <a:r>
              <a:rPr lang="zh-CN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之间的数据</a:t>
            </a:r>
            <a:r>
              <a:rPr lang="en-US" altLang="zh-CN" sz="1600" b="1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</a:t>
            </a:r>
            <a:endParaRPr lang="zh-CN" altLang="en-US" sz="1600" b="1" dirty="0">
              <a:solidFill>
                <a:srgbClr val="AD2B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TextBox 2">
            <a:extLst>
              <a:ext uri="{FF2B5EF4-FFF2-40B4-BE49-F238E27FC236}">
                <a16:creationId xmlns:a16="http://schemas.microsoft.com/office/drawing/2014/main" id="{33B8B294-9E87-4A34-95D3-9E5A6C42801D}"/>
              </a:ext>
            </a:extLst>
          </p:cNvPr>
          <p:cNvSpPr txBox="1"/>
          <p:nvPr/>
        </p:nvSpPr>
        <p:spPr>
          <a:xfrm>
            <a:off x="5081019" y="5719833"/>
            <a:ext cx="6606117" cy="4181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链表是一种</a:t>
            </a:r>
            <a:r>
              <a:rPr lang="zh-CN" altLang="en-US" sz="1600" b="1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增删快</a:t>
            </a:r>
            <a:r>
              <a:rPr lang="zh-CN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的模型</a:t>
            </a:r>
            <a:r>
              <a:rPr lang="en-US" altLang="zh-CN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对比数组）</a:t>
            </a:r>
            <a:endParaRPr lang="zh-CN" altLang="en-US" sz="1600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E78CF91-6299-4D68-9C24-83EABB17F675}"/>
              </a:ext>
            </a:extLst>
          </p:cNvPr>
          <p:cNvSpPr txBox="1"/>
          <p:nvPr/>
        </p:nvSpPr>
        <p:spPr>
          <a:xfrm>
            <a:off x="611560" y="1556792"/>
            <a:ext cx="880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链表中的结点是独立的对象，在内存中是不连续的，每个结点包含数据值和下一个结点的地址。</a:t>
            </a:r>
          </a:p>
        </p:txBody>
      </p:sp>
    </p:spTree>
    <p:extLst>
      <p:ext uri="{BB962C8B-B14F-4D97-AF65-F5344CB8AC3E}">
        <p14:creationId xmlns:p14="http://schemas.microsoft.com/office/powerpoint/2010/main" val="2658468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34" grpId="0" animBg="1"/>
      <p:bldP spid="37" grpId="0"/>
      <p:bldP spid="3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7.3 List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!!!栈1">
            <a:extLst>
              <a:ext uri="{FF2B5EF4-FFF2-40B4-BE49-F238E27FC236}">
                <a16:creationId xmlns:a16="http://schemas.microsoft.com/office/drawing/2014/main" id="{E2078B90-E175-4759-8EF4-A6C03B86BC33}"/>
              </a:ext>
            </a:extLst>
          </p:cNvPr>
          <p:cNvSpPr txBox="1">
            <a:spLocks/>
          </p:cNvSpPr>
          <p:nvPr/>
        </p:nvSpPr>
        <p:spPr>
          <a:xfrm>
            <a:off x="25648" y="1167795"/>
            <a:ext cx="1937070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ea typeface="Alibaba PuHuiTi Medium" pitchFamily="18" charset="-122"/>
              </a:rPr>
              <a:t>数据结构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ea typeface="Alibaba PuHuiTi Medium" pitchFamily="18" charset="-122"/>
            </a:endParaRPr>
          </a:p>
        </p:txBody>
      </p:sp>
      <p:sp>
        <p:nvSpPr>
          <p:cNvPr id="6" name="!!!栈2">
            <a:extLst>
              <a:ext uri="{FF2B5EF4-FFF2-40B4-BE49-F238E27FC236}">
                <a16:creationId xmlns:a16="http://schemas.microsoft.com/office/drawing/2014/main" id="{ADEABE8C-DB47-4A85-8556-964F6A7B9E57}"/>
              </a:ext>
            </a:extLst>
          </p:cNvPr>
          <p:cNvSpPr txBox="1">
            <a:spLocks/>
          </p:cNvSpPr>
          <p:nvPr/>
        </p:nvSpPr>
        <p:spPr>
          <a:xfrm>
            <a:off x="1024638" y="1167795"/>
            <a:ext cx="1280980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ea typeface="Alibaba PuHuiTi Medium" pitchFamily="18" charset="-122"/>
              </a:rPr>
              <a:t>（链表）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05456AB-2FA9-46C0-A56D-54723813B32D}"/>
              </a:ext>
            </a:extLst>
          </p:cNvPr>
          <p:cNvSpPr txBox="1"/>
          <p:nvPr/>
        </p:nvSpPr>
        <p:spPr>
          <a:xfrm>
            <a:off x="497181" y="2229703"/>
            <a:ext cx="46987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链表查询慢，无论查询哪个数据都要从头开始找。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72BF3D8-11B8-4B77-985D-FAA340B7141E}"/>
              </a:ext>
            </a:extLst>
          </p:cNvPr>
          <p:cNvSpPr txBox="1"/>
          <p:nvPr/>
        </p:nvSpPr>
        <p:spPr>
          <a:xfrm>
            <a:off x="497181" y="2686590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链表增删相对快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A412AC3-96C5-4D2E-9822-E728CBDB3095}"/>
              </a:ext>
            </a:extLst>
          </p:cNvPr>
          <p:cNvSpPr txBox="1"/>
          <p:nvPr/>
        </p:nvSpPr>
        <p:spPr>
          <a:xfrm>
            <a:off x="525451" y="1772816"/>
            <a:ext cx="880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链表中的结点是独立的对象，在内存中是不连续的，每个结点包含数据值和下一个结点的地址。</a:t>
            </a:r>
          </a:p>
        </p:txBody>
      </p:sp>
    </p:spTree>
    <p:extLst>
      <p:ext uri="{BB962C8B-B14F-4D97-AF65-F5344CB8AC3E}">
        <p14:creationId xmlns:p14="http://schemas.microsoft.com/office/powerpoint/2010/main" val="20421809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468313" y="981076"/>
            <a:ext cx="8136135" cy="1439810"/>
          </a:xfrm>
        </p:spPr>
        <p:txBody>
          <a:bodyPr/>
          <a:lstStyle/>
          <a:p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Set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也是一种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Collection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，其中不允许有重复元素</a:t>
            </a:r>
          </a:p>
          <a:p>
            <a:pPr lvl="1">
              <a:lnSpc>
                <a:spcPct val="150000"/>
              </a:lnSpc>
            </a:pP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如果在遍历时需要删除集合中的元素，则必须通过迭代器对象的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remove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方法，不能通过集合对象直接删除</a:t>
            </a: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4E1CFEC-16AF-41D1-9299-2C1DE383EEBA}"/>
              </a:ext>
            </a:extLst>
          </p:cNvPr>
          <p:cNvSpPr txBox="1">
            <a:spLocks/>
          </p:cNvSpPr>
          <p:nvPr/>
        </p:nvSpPr>
        <p:spPr bwMode="auto">
          <a:xfrm>
            <a:off x="503932" y="4941168"/>
            <a:ext cx="8136135" cy="108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1" charset="-122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+mn-lt"/>
                <a:ea typeface="楷体_GB2312" pitchFamily="1" charset="-122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楷体_GB2312" pitchFamily="1" charset="-122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9pPr>
          </a:lstStyle>
          <a:p>
            <a:pPr lvl="1">
              <a:lnSpc>
                <a:spcPct val="150000"/>
              </a:lnSpc>
            </a:pPr>
            <a:r>
              <a:rPr lang="en-US" altLang="zh-CN" sz="2000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Demo: TestSet.java</a:t>
            </a:r>
          </a:p>
          <a:p>
            <a:pPr lvl="1">
              <a:lnSpc>
                <a:spcPct val="150000"/>
              </a:lnSpc>
            </a:pPr>
            <a:r>
              <a:rPr lang="zh-CN" altLang="en-US" sz="2000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注意：</a:t>
            </a:r>
            <a:r>
              <a:rPr lang="en-US" altLang="zh-CN" sz="2000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Set</a:t>
            </a:r>
            <a:r>
              <a:rPr lang="zh-CN" altLang="en-US" sz="2000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通过调用对象的</a:t>
            </a:r>
            <a:r>
              <a:rPr lang="en-US" altLang="zh-CN" sz="2000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equals</a:t>
            </a:r>
            <a:r>
              <a:rPr lang="zh-CN" altLang="en-US" sz="2000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方法确定两个对象是否相同</a:t>
            </a:r>
            <a:endParaRPr lang="en-US" altLang="zh-CN" sz="2000" b="0" kern="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BAF5AF5-4FD9-4162-950D-5228A0337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573" y="2348879"/>
            <a:ext cx="6516724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8631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12390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实现</a:t>
            </a:r>
            <a:r>
              <a:rPr lang="en-US" altLang="zh-CN" sz="2000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Set</a:t>
            </a:r>
            <a:r>
              <a:rPr lang="zh-CN" altLang="en-US" sz="2000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接口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的三个主要类是</a:t>
            </a:r>
          </a:p>
          <a:p>
            <a:pPr lvl="1">
              <a:lnSpc>
                <a:spcPct val="150000"/>
              </a:lnSpc>
            </a:pPr>
            <a:r>
              <a:rPr lang="en-US" altLang="zh-CN" sz="2000" b="0" dirty="0" err="1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TreeSe</a:t>
            </a:r>
            <a:r>
              <a:rPr lang="en-US" altLang="zh-CN" sz="2000" b="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：元素排序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，树型结构；</a:t>
            </a:r>
            <a:endParaRPr lang="en-US" altLang="zh-CN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HashSet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：元素无序，效率高于</a:t>
            </a:r>
            <a:r>
              <a:rPr lang="en-US" altLang="zh-CN" sz="20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TreeSet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dirty="0" err="1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LinkedHashSet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：保留顺序存储，过滤重复元素</a:t>
            </a:r>
            <a:endParaRPr lang="zh-CN" altLang="en-US" sz="2000" b="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DF24C442-9043-4498-838A-2FDB6946FE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3420954"/>
            <a:ext cx="6336704" cy="293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5588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68CBAD30-96E0-438C-8DA8-0B0CA34AA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124744"/>
            <a:ext cx="7131340" cy="468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7041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395536" y="1268760"/>
            <a:ext cx="5687863" cy="4032095"/>
          </a:xfrm>
        </p:spPr>
        <p:txBody>
          <a:bodyPr/>
          <a:lstStyle/>
          <a:p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HashSet</a:t>
            </a:r>
          </a:p>
          <a:p>
            <a:pPr lvl="1"/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HashSet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将对象的</a:t>
            </a:r>
            <a:r>
              <a:rPr lang="en-US" altLang="zh-CN" sz="2000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hashCode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作为访问对象的“索引”</a:t>
            </a: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当向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HashSet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存入一个对象时，它会同时调用</a:t>
            </a:r>
            <a:r>
              <a:rPr lang="en-US" altLang="zh-CN" sz="2000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hashCode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()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equals()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两个方法确定对象是否相等</a:t>
            </a: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HashSet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中每个存储元素的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Slot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”，通常称为“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bucket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”。如果有多个元素的</a:t>
            </a:r>
            <a:r>
              <a:rPr lang="en-US" altLang="zh-CN" sz="2000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hashCode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相等，但他们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equals()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方法返回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false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，这就导致同一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slot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中放置多个元素，从而导致性能下降。</a:t>
            </a: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Demo: TestHashSet.java</a:t>
            </a:r>
            <a:endParaRPr lang="zh-CN" altLang="en-US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A5B88732-BD94-48DC-AACA-5B63EF2C5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00" y="2032215"/>
            <a:ext cx="2512959" cy="2793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3694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468313" y="981076"/>
            <a:ext cx="8136135" cy="1295796"/>
          </a:xfrm>
        </p:spPr>
        <p:txBody>
          <a:bodyPr/>
          <a:lstStyle/>
          <a:p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HashSet</a:t>
            </a:r>
          </a:p>
          <a:p>
            <a:pPr lvl="1"/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Ha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shSet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内幕：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HashSet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在内部包容一个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HashMap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，以对象的</a:t>
            </a:r>
            <a:r>
              <a:rPr lang="en-US" altLang="zh-CN" sz="2000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hashCode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作为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Map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Key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17311AA3-5320-4F6A-B035-B940DDD48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6267" y="2263425"/>
            <a:ext cx="3891465" cy="377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9778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468313" y="981076"/>
            <a:ext cx="8136135" cy="1295796"/>
          </a:xfrm>
        </p:spPr>
        <p:txBody>
          <a:bodyPr/>
          <a:lstStyle/>
          <a:p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HashSet</a:t>
            </a:r>
          </a:p>
          <a:p>
            <a:pPr lvl="1"/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Ha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shSet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的“诡异”特性</a:t>
            </a:r>
            <a:endParaRPr lang="zh-CN" altLang="en-US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7025E1F3-FA8A-4A3C-90EE-C8E913362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1844824"/>
            <a:ext cx="5289966" cy="64872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F50F0D9-F938-4B17-BF0E-6B3FDC84E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313" y="2636912"/>
            <a:ext cx="8527400" cy="3621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35676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468313" y="981076"/>
            <a:ext cx="8136135" cy="1295796"/>
          </a:xfrm>
        </p:spPr>
        <p:txBody>
          <a:bodyPr/>
          <a:lstStyle/>
          <a:p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HashSet</a:t>
            </a:r>
          </a:p>
          <a:p>
            <a:pPr lvl="1"/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Ha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shSet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的“诡异”特性：查找对象</a:t>
            </a:r>
            <a:endParaRPr lang="zh-CN" altLang="en-US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1595547E-F012-4451-A400-554AC9115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988840"/>
            <a:ext cx="7014091" cy="456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57937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323529" y="981075"/>
            <a:ext cx="8280920" cy="561626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HashSet</a:t>
            </a:r>
          </a:p>
          <a:p>
            <a:pPr lvl="1">
              <a:lnSpc>
                <a:spcPct val="150000"/>
              </a:lnSpc>
            </a:pP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HashSet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的一个重要特征是遍历时元素的输出顺序并不与插入时的顺序一致。</a:t>
            </a:r>
            <a:endParaRPr lang="en-US" altLang="zh-CN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优势：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add, remove, contains, size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方法处理速度快，但是迭代遍历慢</a:t>
            </a: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HashSet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允许插入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null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值，多次插入同一个对象时，仅第一次真正执行插入操作</a:t>
            </a:r>
            <a:endParaRPr lang="en-US" altLang="zh-CN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HashSet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集合保存对象时，尽量不要修改对象的属性值，否则可能会出现奇怪现象。</a:t>
            </a: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推荐在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HashSet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中保存不可变类的实例</a:t>
            </a:r>
            <a:endParaRPr lang="en-US" altLang="zh-CN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b="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百家争鸣：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这种不能更改其所包容元素对象属性的集合，到底有什么用处？有没有更好的办法？</a:t>
            </a:r>
            <a:endParaRPr lang="zh-CN" altLang="en-US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6924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15E82DD2-4220-8FCD-2BB3-DBD2858B51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 dirty="0"/>
              <a:t>利用</a:t>
            </a:r>
            <a:r>
              <a:rPr lang="en-US" altLang="zh-CN" sz="1800" dirty="0"/>
              <a:t>HashSet</a:t>
            </a:r>
            <a:r>
              <a:rPr lang="zh-CN" altLang="en-US" sz="1800" dirty="0"/>
              <a:t>集合去除重复元素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E30BC70D-26A3-CB85-AD8A-E4F9F31A27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4876" y="1816018"/>
            <a:ext cx="6910673" cy="3762373"/>
          </a:xfrm>
        </p:spPr>
        <p:txBody>
          <a:bodyPr/>
          <a:lstStyle/>
          <a:p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需求：创建一个存储学生对象的集合，存储多个学生对象。</a:t>
            </a:r>
            <a:endParaRPr lang="en-US" altLang="zh-CN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使用程序实现在控制台遍历该集合。</a:t>
            </a:r>
            <a:endParaRPr lang="en-US" altLang="zh-CN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要求：学生对象的成员变量值相同，我们就认为是同一个对象。</a:t>
            </a:r>
            <a:endParaRPr lang="en-US" altLang="zh-CN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B148101-DDD7-4746-B7FD-9526AD594E00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DBE19A8-04DA-404B-9191-12E6490257E6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5594042"/>
      </p:ext>
    </p:extLst>
  </p:cSld>
  <p:clrMapOvr>
    <a:masterClrMapping/>
  </p:clrMapOvr>
  <p:transition spd="slow">
    <p:randomBar dir="vert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B148101-DDD7-4746-B7FD-9526AD594E00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DBE19A8-04DA-404B-9191-12E6490257E6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>
            <a:extLst>
              <a:ext uri="{FF2B5EF4-FFF2-40B4-BE49-F238E27FC236}">
                <a16:creationId xmlns:a16="http://schemas.microsoft.com/office/drawing/2014/main" id="{E72C3B4E-C63E-4F6F-97D0-5C74235EF4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44450"/>
            <a:ext cx="8964613" cy="68135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A03_HashSetDemo2 {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//1.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创建三个学生对象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Student s1 = new Student("zhangsan",23);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Student s2 = new Student("lisi",24);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Student s3 = new Student("wangwu",25);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Student s4 = new Student("zhangsan",23);</a:t>
            </a:r>
          </a:p>
          <a:p>
            <a:pPr marL="0" lvl="1">
              <a:buClr>
                <a:schemeClr val="accent2"/>
              </a:buClr>
              <a:buSzPct val="70000"/>
            </a:pP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>
              <a:buClr>
                <a:schemeClr val="accent2"/>
              </a:buClr>
              <a:buSzPct val="70000"/>
            </a:pP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//2.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创建集合用来添加学生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HashSet&lt;Student&gt;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hs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= new HashSet&lt;&gt;();</a:t>
            </a:r>
          </a:p>
          <a:p>
            <a:pPr marL="0" lvl="1">
              <a:buClr>
                <a:schemeClr val="accent2"/>
              </a:buClr>
              <a:buSzPct val="70000"/>
            </a:pP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//3.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添加元素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hs.add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(s1));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hs.add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(s2));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hs.add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(s3));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hs.add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(s4));</a:t>
            </a:r>
          </a:p>
          <a:p>
            <a:pPr marL="0" lvl="1">
              <a:buClr>
                <a:schemeClr val="accent2"/>
              </a:buClr>
              <a:buSzPct val="70000"/>
            </a:pP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//4.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打印集合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hs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lvl="1">
              <a:buClr>
                <a:schemeClr val="accent2"/>
              </a:buClr>
              <a:buSzPct val="70000"/>
            </a:pP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lvl="1">
              <a:buClr>
                <a:schemeClr val="accent2"/>
              </a:buClr>
              <a:buSzPct val="70000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03997"/>
      </p:ext>
    </p:extLst>
  </p:cSld>
  <p:clrMapOvr>
    <a:masterClrMapping/>
  </p:clrMapOvr>
  <p:transition spd="slow">
    <p:randomBar dir="vert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B148101-DDD7-4746-B7FD-9526AD594E00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DBE19A8-04DA-404B-9191-12E6490257E6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>
            <a:extLst>
              <a:ext uri="{FF2B5EF4-FFF2-40B4-BE49-F238E27FC236}">
                <a16:creationId xmlns:a16="http://schemas.microsoft.com/office/drawing/2014/main" id="{E72C3B4E-C63E-4F6F-97D0-5C74235EF4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44450"/>
            <a:ext cx="8964613" cy="68135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Student </a:t>
            </a:r>
            <a:r>
              <a:rPr lang="en-US" altLang="zh-CN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String name;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int age;</a:t>
            </a:r>
          </a:p>
          <a:p>
            <a:pPr marL="0" lvl="1">
              <a:buClr>
                <a:schemeClr val="accent2"/>
              </a:buClr>
              <a:buSzPct val="70000"/>
            </a:pP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>
              <a:buClr>
                <a:schemeClr val="accent2"/>
              </a:buClr>
              <a:buSzPct val="70000"/>
            </a:pP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Student() {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lvl="1">
              <a:buClr>
                <a:schemeClr val="accent2"/>
              </a:buClr>
              <a:buSzPct val="70000"/>
            </a:pP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Student(String name, int age) {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this.name = name;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this.age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= age;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lvl="1">
              <a:buClr>
                <a:schemeClr val="accent2"/>
              </a:buClr>
              <a:buSzPct val="70000"/>
            </a:pP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	public String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getName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name;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lvl="1">
              <a:buClr>
                <a:schemeClr val="accent2"/>
              </a:buClr>
              <a:buSzPct val="70000"/>
            </a:pP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	public void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setName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(String name) {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this.name = name;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	public int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getAge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age;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lvl="1">
              <a:buClr>
                <a:schemeClr val="accent2"/>
              </a:buClr>
              <a:buSzPct val="70000"/>
            </a:pP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291828"/>
      </p:ext>
    </p:extLst>
  </p:cSld>
  <p:clrMapOvr>
    <a:masterClrMapping/>
  </p:clrMapOvr>
  <p:transition spd="slow">
    <p:randomBar dir="vert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B148101-DDD7-4746-B7FD-9526AD594E00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DBE19A8-04DA-404B-9191-12E6490257E6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>
            <a:extLst>
              <a:ext uri="{FF2B5EF4-FFF2-40B4-BE49-F238E27FC236}">
                <a16:creationId xmlns:a16="http://schemas.microsoft.com/office/drawing/2014/main" id="{E72C3B4E-C63E-4F6F-97D0-5C74235EF4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835" y="23952"/>
            <a:ext cx="8964613" cy="664513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	public void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setAge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(int age) {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this.age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= age;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lvl="1">
              <a:buClr>
                <a:schemeClr val="accent2"/>
              </a:buClr>
              <a:buSzPct val="70000"/>
            </a:pP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b="1" dirty="0">
                <a:solidFill>
                  <a:srgbClr val="CC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@Override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equals(Object o) {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(this == o) return true;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(o == null ||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getClass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() !=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o.getClass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()) return false;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Student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= (Student) o;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age ==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student.age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&amp;&amp;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Objects.equals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(name, student.name);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lvl="1">
              <a:buClr>
                <a:schemeClr val="accent2"/>
              </a:buClr>
              <a:buSzPct val="70000"/>
            </a:pP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solidFill>
                  <a:srgbClr val="CC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int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hashCode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Objects.hash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(name, age);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lvl="1">
              <a:buClr>
                <a:schemeClr val="accent2"/>
              </a:buClr>
              <a:buSzPct val="70000"/>
            </a:pP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public String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"Student{name = " + name + ", age = " + age + "}";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785572"/>
      </p:ext>
    </p:extLst>
  </p:cSld>
  <p:clrMapOvr>
    <a:masterClrMapping/>
  </p:clrMapOvr>
  <p:transition spd="slow">
    <p:randomBar dir="vert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323529" y="981075"/>
            <a:ext cx="4608511" cy="561626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LinkedHashSet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LinkedHashSet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派生自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HashSet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，也是按照对象的</a:t>
            </a:r>
            <a:r>
              <a:rPr lang="en-US" altLang="zh-CN" sz="20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hashCode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保存，但它同时使用双向链表来维护对象的顺序。</a:t>
            </a:r>
            <a:endParaRPr lang="en-US" altLang="zh-CN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当遍历</a:t>
            </a:r>
            <a:r>
              <a:rPr lang="en-US" altLang="zh-CN" sz="2000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LinkedHashSet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时，将按插入顺序显示集合中的对象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58FA4F55-EBB4-45B7-82D6-2C1C0C8DA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2141414"/>
            <a:ext cx="3383215" cy="3295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52120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323529" y="981075"/>
            <a:ext cx="7688584" cy="561626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SortedSet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NavigbleSet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接口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SortedSet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保证总是按照升序方式访问集合中的数据。</a:t>
            </a:r>
            <a:endParaRPr lang="en-US" altLang="zh-CN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US" altLang="zh-CN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US" altLang="zh-CN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JDK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中派生了一个子接口</a:t>
            </a:r>
            <a:r>
              <a:rPr lang="en-US" altLang="zh-CN" sz="20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NavigableSet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，能够查找指定元素“最相近”的元素</a:t>
            </a:r>
            <a:endParaRPr lang="en-US" altLang="zh-CN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977E4D7D-CC41-4F65-9BF9-BE3E24DFD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2348880"/>
            <a:ext cx="3013652" cy="130680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AD4EA37-095A-47A4-A29B-BCE47D6345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872" y="4326625"/>
            <a:ext cx="3348926" cy="227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25500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323529" y="981076"/>
            <a:ext cx="7776863" cy="287997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SortedSet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的优点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lang="en-US" altLang="zh-CN" sz="20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SortedSet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的一个最大好处是：如果合并两个这样的集合，合并之后，集合仍然是有序的。</a:t>
            </a:r>
            <a:endParaRPr lang="en-US" altLang="zh-CN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但是需要注意：两个集合中重复的元素将被丢弃</a:t>
            </a: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JDK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中的</a:t>
            </a:r>
            <a:r>
              <a:rPr lang="en-US" altLang="zh-CN" sz="20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TreeSet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实现</a:t>
            </a:r>
            <a:r>
              <a:rPr lang="en-US" altLang="zh-CN" sz="20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SortedSet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接口</a:t>
            </a:r>
            <a:endParaRPr lang="en-US" altLang="zh-CN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226285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323529" y="981076"/>
            <a:ext cx="8064895" cy="381607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TreeSet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Demo: TestTreeSetCommon.java</a:t>
            </a:r>
          </a:p>
          <a:p>
            <a:pPr lvl="1">
              <a:lnSpc>
                <a:spcPct val="150000"/>
              </a:lnSpc>
            </a:pPr>
            <a:r>
              <a:rPr lang="en-US" altLang="zh-CN" sz="20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TreeSet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调用</a:t>
            </a:r>
            <a:r>
              <a:rPr lang="en-US" altLang="zh-CN" sz="20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compareTo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(Object obj)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方法来确定对象的大小，然后在内部使用</a:t>
            </a:r>
            <a:r>
              <a:rPr lang="zh-CN" altLang="en-US" sz="2000" b="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红黑树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进行排序</a:t>
            </a: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TreeSet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要求其元素必须实现</a:t>
            </a:r>
            <a:r>
              <a:rPr lang="en-US" altLang="zh-CN" sz="2000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Comparable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接口，并且应用是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同一个类型的，否则，将引发</a:t>
            </a:r>
            <a:r>
              <a:rPr lang="en-US" altLang="zh-CN" sz="2000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ClassCastException</a:t>
            </a: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Demo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TestTreeSetError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.java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TestTreeSetError2.java</a:t>
            </a:r>
            <a:endParaRPr lang="en-US" altLang="zh-CN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526555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E90CFB-5013-47B8-BF42-0596C1816431}"/>
              </a:ext>
            </a:extLst>
          </p:cNvPr>
          <p:cNvSpPr txBox="1"/>
          <p:nvPr/>
        </p:nvSpPr>
        <p:spPr>
          <a:xfrm>
            <a:off x="658314" y="1678109"/>
            <a:ext cx="3514725" cy="61895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sz="2000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TreeSet</a:t>
            </a:r>
            <a:r>
              <a:rPr lang="en-US" altLang="zh-CN" sz="2000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2000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的两种排序方式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50B4453D-271E-76D4-FD1B-62A3C99A48F1}"/>
              </a:ext>
            </a:extLst>
          </p:cNvPr>
          <p:cNvSpPr txBox="1"/>
          <p:nvPr/>
        </p:nvSpPr>
        <p:spPr>
          <a:xfrm>
            <a:off x="658315" y="2238846"/>
            <a:ext cx="7566116" cy="8606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4313" indent="-214313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自然排序 </a:t>
            </a:r>
            <a:endParaRPr lang="en-US" altLang="zh-CN" sz="135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14313" indent="-214313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比较器排序</a:t>
            </a:r>
            <a:endParaRPr lang="en-US" altLang="zh-CN" sz="135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BC59C582-EA4F-4DCF-9E71-1E7F8C0CCA53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11DE859-8532-4301-B935-4F11C13B5684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0955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E90CFB-5013-47B8-BF42-0596C1816431}"/>
              </a:ext>
            </a:extLst>
          </p:cNvPr>
          <p:cNvSpPr txBox="1"/>
          <p:nvPr/>
        </p:nvSpPr>
        <p:spPr>
          <a:xfrm>
            <a:off x="658314" y="1678109"/>
            <a:ext cx="3514725" cy="5662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TreeSet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排序 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自然排序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b="1" dirty="0">
              <a:solidFill>
                <a:srgbClr val="AD2B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50B4453D-271E-76D4-FD1B-62A3C99A48F1}"/>
              </a:ext>
            </a:extLst>
          </p:cNvPr>
          <p:cNvSpPr txBox="1"/>
          <p:nvPr/>
        </p:nvSpPr>
        <p:spPr>
          <a:xfrm>
            <a:off x="658315" y="2238847"/>
            <a:ext cx="7566116" cy="25253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>
              <a:lnSpc>
                <a:spcPct val="200000"/>
              </a:lnSpc>
              <a:buAutoNum type="arabicPeriod"/>
              <a:defRPr/>
            </a:pP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类实现 </a:t>
            </a: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Comparable </a:t>
            </a: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sz="13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200000"/>
              </a:lnSpc>
              <a:buAutoNum type="arabicPeriod"/>
              <a:defRPr/>
            </a:pP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重写 </a:t>
            </a:r>
            <a:r>
              <a:rPr lang="en-US" altLang="zh-CN" sz="13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compareTo</a:t>
            </a: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endParaRPr lang="en-US" altLang="zh-CN" sz="13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200000"/>
              </a:lnSpc>
              <a:buAutoNum type="arabicPeriod"/>
              <a:defRPr/>
            </a:pP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根据方法的返回值</a:t>
            </a: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来组织排序规则</a:t>
            </a:r>
            <a:endParaRPr lang="en-US" altLang="zh-CN" sz="13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200000"/>
              </a:lnSpc>
              <a:defRPr/>
            </a:pP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负数 </a:t>
            </a: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左边走</a:t>
            </a:r>
            <a:endParaRPr lang="en-US" altLang="zh-CN" sz="13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200000"/>
              </a:lnSpc>
              <a:defRPr/>
            </a:pP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正数 </a:t>
            </a: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右边走</a:t>
            </a:r>
            <a:endParaRPr lang="en-US" altLang="zh-CN" sz="13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200000"/>
              </a:lnSpc>
              <a:defRPr/>
            </a:pP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0  : </a:t>
            </a: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不存</a:t>
            </a: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6569790B-F826-442B-8AEB-0A2A87D3680E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F7D5A6C-ACA0-43C4-830D-38A4462CC028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408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E90CFB-5013-47B8-BF42-0596C1816431}"/>
              </a:ext>
            </a:extLst>
          </p:cNvPr>
          <p:cNvSpPr txBox="1"/>
          <p:nvPr/>
        </p:nvSpPr>
        <p:spPr>
          <a:xfrm>
            <a:off x="658314" y="1678109"/>
            <a:ext cx="3514725" cy="5662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TreeSet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排序 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自然排序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b="1" dirty="0">
              <a:solidFill>
                <a:srgbClr val="AD2B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50B4453D-271E-76D4-FD1B-62A3C99A48F1}"/>
              </a:ext>
            </a:extLst>
          </p:cNvPr>
          <p:cNvSpPr txBox="1"/>
          <p:nvPr/>
        </p:nvSpPr>
        <p:spPr>
          <a:xfrm>
            <a:off x="658315" y="2238846"/>
            <a:ext cx="2616629" cy="13161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类实现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Comparable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重写 </a:t>
            </a:r>
            <a:r>
              <a:rPr lang="en-US" altLang="zh-CN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compareTo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根据方法的返回值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来组织排序规则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负数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左边走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正数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右边走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0  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不存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9039FBB-CF05-8E70-74B0-38832E24A529}"/>
              </a:ext>
            </a:extLst>
          </p:cNvPr>
          <p:cNvSpPr txBox="1"/>
          <p:nvPr/>
        </p:nvSpPr>
        <p:spPr>
          <a:xfrm>
            <a:off x="658314" y="3665590"/>
            <a:ext cx="3514725" cy="1061829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implements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Comparable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@Override</a:t>
            </a:r>
            <a:b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int </a:t>
            </a:r>
            <a:r>
              <a:rPr lang="zh-CN" altLang="zh-CN" sz="9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compareTo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o) 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return this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- o.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endParaRPr lang="zh-CN" altLang="zh-CN" sz="900" dirty="0">
              <a:latin typeface="Consolas" panose="020B0609020204030204" pitchFamily="49" charset="0"/>
            </a:endParaRPr>
          </a:p>
          <a:p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900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650141-1EE0-7EBD-9B13-EEE42730BAFC}"/>
              </a:ext>
            </a:extLst>
          </p:cNvPr>
          <p:cNvSpPr txBox="1"/>
          <p:nvPr/>
        </p:nvSpPr>
        <p:spPr>
          <a:xfrm>
            <a:off x="658314" y="4783741"/>
            <a:ext cx="3514725" cy="923330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defTabSz="685800" eaLnBrk="0" hangingPunct="0"/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TreeSet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TreeSet&lt;&gt;();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王五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25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张三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23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李四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24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en-US" altLang="zh-CN" sz="9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赵六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26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zh-CN" altLang="zh-CN" sz="1500" dirty="0">
              <a:latin typeface="Consolas" panose="020B0609020204030204" pitchFamily="49" charset="0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3ACEEB79-21A0-4638-BA8A-5F673B64A06F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064342D-9308-4C2A-9115-FE27AE6F2C59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0696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E90CFB-5013-47B8-BF42-0596C1816431}"/>
              </a:ext>
            </a:extLst>
          </p:cNvPr>
          <p:cNvSpPr txBox="1"/>
          <p:nvPr/>
        </p:nvSpPr>
        <p:spPr>
          <a:xfrm>
            <a:off x="658314" y="1678109"/>
            <a:ext cx="3514725" cy="5662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TreeSet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排序 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自然排序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b="1" dirty="0">
              <a:solidFill>
                <a:srgbClr val="AD2B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50B4453D-271E-76D4-FD1B-62A3C99A48F1}"/>
              </a:ext>
            </a:extLst>
          </p:cNvPr>
          <p:cNvSpPr txBox="1"/>
          <p:nvPr/>
        </p:nvSpPr>
        <p:spPr>
          <a:xfrm>
            <a:off x="658315" y="2238846"/>
            <a:ext cx="2616629" cy="13161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类实现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Comparable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重写 </a:t>
            </a:r>
            <a:r>
              <a:rPr lang="en-US" altLang="zh-CN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compareTo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根据方法的返回值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来组织排序规则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负数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左边走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正数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右边走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0  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不存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9039FBB-CF05-8E70-74B0-38832E24A529}"/>
              </a:ext>
            </a:extLst>
          </p:cNvPr>
          <p:cNvSpPr txBox="1"/>
          <p:nvPr/>
        </p:nvSpPr>
        <p:spPr>
          <a:xfrm>
            <a:off x="658314" y="3665590"/>
            <a:ext cx="3514725" cy="1061829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implements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Comparable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@Override</a:t>
            </a:r>
            <a:b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int </a:t>
            </a:r>
            <a:r>
              <a:rPr lang="zh-CN" altLang="zh-CN" sz="9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compareTo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o) 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return this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- o.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endParaRPr lang="zh-CN" altLang="zh-CN" sz="900" dirty="0">
              <a:latin typeface="Consolas" panose="020B0609020204030204" pitchFamily="49" charset="0"/>
            </a:endParaRPr>
          </a:p>
          <a:p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900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650141-1EE0-7EBD-9B13-EEE42730BAFC}"/>
              </a:ext>
            </a:extLst>
          </p:cNvPr>
          <p:cNvSpPr txBox="1"/>
          <p:nvPr/>
        </p:nvSpPr>
        <p:spPr>
          <a:xfrm>
            <a:off x="658314" y="4783741"/>
            <a:ext cx="3514725" cy="923330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TreeSet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TreeSet&lt;&gt;();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王五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25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张三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23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李四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24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en-US" altLang="zh-CN" sz="9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赵六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26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zh-CN" altLang="zh-CN" sz="1500" dirty="0">
              <a:latin typeface="Consolas" panose="020B0609020204030204" pitchFamily="49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8FF4369-7830-BE90-42FD-EA8AD6E30471}"/>
              </a:ext>
            </a:extLst>
          </p:cNvPr>
          <p:cNvSpPr/>
          <p:nvPr/>
        </p:nvSpPr>
        <p:spPr>
          <a:xfrm>
            <a:off x="5943600" y="1892927"/>
            <a:ext cx="1202635" cy="429637"/>
          </a:xfrm>
          <a:prstGeom prst="roundRect">
            <a:avLst/>
          </a:pr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王五，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25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FE01C4-5E86-5147-27F7-9DAA297E6BB3}"/>
              </a:ext>
            </a:extLst>
          </p:cNvPr>
          <p:cNvSpPr/>
          <p:nvPr/>
        </p:nvSpPr>
        <p:spPr>
          <a:xfrm>
            <a:off x="658314" y="5092334"/>
            <a:ext cx="3514725" cy="131693"/>
          </a:xfrm>
          <a:prstGeom prst="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9AA7919-796A-0455-BA1B-321930C30093}"/>
              </a:ext>
            </a:extLst>
          </p:cNvPr>
          <p:cNvSpPr/>
          <p:nvPr/>
        </p:nvSpPr>
        <p:spPr>
          <a:xfrm>
            <a:off x="925332" y="3920126"/>
            <a:ext cx="2737237" cy="638093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AEFE06A-F465-0794-1FFA-8532D1674E44}"/>
              </a:ext>
            </a:extLst>
          </p:cNvPr>
          <p:cNvSpPr txBox="1"/>
          <p:nvPr/>
        </p:nvSpPr>
        <p:spPr>
          <a:xfrm>
            <a:off x="3065524" y="3175372"/>
            <a:ext cx="1143262" cy="415498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25</a:t>
            </a:r>
          </a:p>
          <a:p>
            <a:pPr algn="l"/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o.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25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CEDEC324-1192-4D4D-AB39-8B7CF3351234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235C29C-98BF-483E-B132-BE97A6EDEB0C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1598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" grpId="0" animBg="1"/>
      <p:bldP spid="6" grpId="0" animBg="1"/>
      <p:bldP spid="8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E90CFB-5013-47B8-BF42-0596C1816431}"/>
              </a:ext>
            </a:extLst>
          </p:cNvPr>
          <p:cNvSpPr txBox="1"/>
          <p:nvPr/>
        </p:nvSpPr>
        <p:spPr>
          <a:xfrm>
            <a:off x="658314" y="1678109"/>
            <a:ext cx="3514725" cy="5662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TreeSet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排序 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自然排序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b="1" dirty="0">
              <a:solidFill>
                <a:srgbClr val="AD2B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50B4453D-271E-76D4-FD1B-62A3C99A48F1}"/>
              </a:ext>
            </a:extLst>
          </p:cNvPr>
          <p:cNvSpPr txBox="1"/>
          <p:nvPr/>
        </p:nvSpPr>
        <p:spPr>
          <a:xfrm>
            <a:off x="658315" y="2238846"/>
            <a:ext cx="2616629" cy="13161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类实现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Comparable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重写 </a:t>
            </a:r>
            <a:r>
              <a:rPr lang="en-US" altLang="zh-CN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compareTo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根据方法的返回值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来组织排序规则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负数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左边走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正数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右边走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0  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不存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9039FBB-CF05-8E70-74B0-38832E24A529}"/>
              </a:ext>
            </a:extLst>
          </p:cNvPr>
          <p:cNvSpPr txBox="1"/>
          <p:nvPr/>
        </p:nvSpPr>
        <p:spPr>
          <a:xfrm>
            <a:off x="658314" y="3665590"/>
            <a:ext cx="3514725" cy="1061829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implements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Comparable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@Override</a:t>
            </a:r>
            <a:b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int </a:t>
            </a:r>
            <a:r>
              <a:rPr lang="zh-CN" altLang="zh-CN" sz="9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compareTo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o) 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return this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- o.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endParaRPr lang="zh-CN" altLang="zh-CN" sz="900" dirty="0">
              <a:latin typeface="Consolas" panose="020B0609020204030204" pitchFamily="49" charset="0"/>
            </a:endParaRPr>
          </a:p>
          <a:p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900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650141-1EE0-7EBD-9B13-EEE42730BAFC}"/>
              </a:ext>
            </a:extLst>
          </p:cNvPr>
          <p:cNvSpPr txBox="1"/>
          <p:nvPr/>
        </p:nvSpPr>
        <p:spPr>
          <a:xfrm>
            <a:off x="658314" y="4783741"/>
            <a:ext cx="3514725" cy="923330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TreeSet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TreeSet&lt;&gt;();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王五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25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张三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23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李四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24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en-US" altLang="zh-CN" sz="9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赵六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26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zh-CN" altLang="zh-CN" sz="1500" dirty="0">
              <a:latin typeface="Consolas" panose="020B0609020204030204" pitchFamily="49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8FF4369-7830-BE90-42FD-EA8AD6E30471}"/>
              </a:ext>
            </a:extLst>
          </p:cNvPr>
          <p:cNvSpPr/>
          <p:nvPr/>
        </p:nvSpPr>
        <p:spPr>
          <a:xfrm>
            <a:off x="5943600" y="1892927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王五，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25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FE01C4-5E86-5147-27F7-9DAA297E6BB3}"/>
              </a:ext>
            </a:extLst>
          </p:cNvPr>
          <p:cNvSpPr/>
          <p:nvPr/>
        </p:nvSpPr>
        <p:spPr>
          <a:xfrm>
            <a:off x="658314" y="5092334"/>
            <a:ext cx="3514725" cy="131693"/>
          </a:xfrm>
          <a:prstGeom prst="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9AA7919-796A-0455-BA1B-321930C30093}"/>
              </a:ext>
            </a:extLst>
          </p:cNvPr>
          <p:cNvSpPr/>
          <p:nvPr/>
        </p:nvSpPr>
        <p:spPr>
          <a:xfrm>
            <a:off x="925332" y="3920126"/>
            <a:ext cx="2737237" cy="638093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AEFE06A-F465-0794-1FFA-8532D1674E44}"/>
              </a:ext>
            </a:extLst>
          </p:cNvPr>
          <p:cNvSpPr txBox="1"/>
          <p:nvPr/>
        </p:nvSpPr>
        <p:spPr>
          <a:xfrm>
            <a:off x="3065524" y="3175372"/>
            <a:ext cx="1143262" cy="415498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25</a:t>
            </a:r>
          </a:p>
          <a:p>
            <a:pPr algn="l"/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o.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25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E8A6A72F-73E4-4F36-B58B-DA1A9E53D189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0F83B8F-F606-4D20-9D2F-ABA250E39D2B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580946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E90CFB-5013-47B8-BF42-0596C1816431}"/>
              </a:ext>
            </a:extLst>
          </p:cNvPr>
          <p:cNvSpPr txBox="1"/>
          <p:nvPr/>
        </p:nvSpPr>
        <p:spPr>
          <a:xfrm>
            <a:off x="658314" y="1678109"/>
            <a:ext cx="3514725" cy="5662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TreeSet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排序 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自然排序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b="1" dirty="0">
              <a:solidFill>
                <a:srgbClr val="AD2B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50B4453D-271E-76D4-FD1B-62A3C99A48F1}"/>
              </a:ext>
            </a:extLst>
          </p:cNvPr>
          <p:cNvSpPr txBox="1"/>
          <p:nvPr/>
        </p:nvSpPr>
        <p:spPr>
          <a:xfrm>
            <a:off x="658315" y="2238846"/>
            <a:ext cx="2616629" cy="13161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类实现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Comparable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重写 </a:t>
            </a:r>
            <a:r>
              <a:rPr lang="en-US" altLang="zh-CN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compareTo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根据方法的返回值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来组织排序规则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负数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左边走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正数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右边走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0  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不存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9039FBB-CF05-8E70-74B0-38832E24A529}"/>
              </a:ext>
            </a:extLst>
          </p:cNvPr>
          <p:cNvSpPr txBox="1"/>
          <p:nvPr/>
        </p:nvSpPr>
        <p:spPr>
          <a:xfrm>
            <a:off x="658314" y="3665590"/>
            <a:ext cx="3514725" cy="1061829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implements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Comparable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@Override</a:t>
            </a:r>
            <a:b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int </a:t>
            </a:r>
            <a:r>
              <a:rPr lang="zh-CN" altLang="zh-CN" sz="9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compareTo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o) 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return this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- o.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endParaRPr lang="zh-CN" altLang="zh-CN" sz="900" dirty="0">
              <a:latin typeface="Consolas" panose="020B0609020204030204" pitchFamily="49" charset="0"/>
            </a:endParaRPr>
          </a:p>
          <a:p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900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650141-1EE0-7EBD-9B13-EEE42730BAFC}"/>
              </a:ext>
            </a:extLst>
          </p:cNvPr>
          <p:cNvSpPr txBox="1"/>
          <p:nvPr/>
        </p:nvSpPr>
        <p:spPr>
          <a:xfrm>
            <a:off x="658314" y="4783741"/>
            <a:ext cx="3514725" cy="923330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TreeSet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TreeSet&lt;&gt;();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王五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25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张三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23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李四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24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en-US" altLang="zh-CN" sz="9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赵六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26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zh-CN" altLang="zh-CN" sz="1500" dirty="0">
              <a:latin typeface="Consolas" panose="020B0609020204030204" pitchFamily="49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8FF4369-7830-BE90-42FD-EA8AD6E30471}"/>
              </a:ext>
            </a:extLst>
          </p:cNvPr>
          <p:cNvSpPr/>
          <p:nvPr/>
        </p:nvSpPr>
        <p:spPr>
          <a:xfrm>
            <a:off x="5943600" y="1892927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王五，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25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FE01C4-5E86-5147-27F7-9DAA297E6BB3}"/>
              </a:ext>
            </a:extLst>
          </p:cNvPr>
          <p:cNvSpPr/>
          <p:nvPr/>
        </p:nvSpPr>
        <p:spPr>
          <a:xfrm>
            <a:off x="658314" y="5237268"/>
            <a:ext cx="3514725" cy="131693"/>
          </a:xfrm>
          <a:prstGeom prst="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EA4DFC5-DFE8-BE01-96CF-A7E525E3E1F1}"/>
              </a:ext>
            </a:extLst>
          </p:cNvPr>
          <p:cNvSpPr/>
          <p:nvPr/>
        </p:nvSpPr>
        <p:spPr>
          <a:xfrm>
            <a:off x="4369645" y="1892927"/>
            <a:ext cx="1202635" cy="429637"/>
          </a:xfrm>
          <a:prstGeom prst="roundRect">
            <a:avLst/>
          </a:pr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张三，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C043958-9924-F777-4999-13D5C8D74B85}"/>
              </a:ext>
            </a:extLst>
          </p:cNvPr>
          <p:cNvSpPr/>
          <p:nvPr/>
        </p:nvSpPr>
        <p:spPr>
          <a:xfrm>
            <a:off x="925332" y="3920126"/>
            <a:ext cx="2737237" cy="638093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B083A0-6EE0-62B3-4974-29F60A12638F}"/>
              </a:ext>
            </a:extLst>
          </p:cNvPr>
          <p:cNvSpPr txBox="1"/>
          <p:nvPr/>
        </p:nvSpPr>
        <p:spPr>
          <a:xfrm>
            <a:off x="3065524" y="3175372"/>
            <a:ext cx="1143262" cy="415498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23</a:t>
            </a:r>
          </a:p>
          <a:p>
            <a:pPr algn="l"/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o.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25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7E61AD12-C41D-4B4D-A689-DEC50C69EEA3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A63AAE2-E651-40FE-BFF4-E580BC07F012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98914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E90CFB-5013-47B8-BF42-0596C1816431}"/>
              </a:ext>
            </a:extLst>
          </p:cNvPr>
          <p:cNvSpPr txBox="1"/>
          <p:nvPr/>
        </p:nvSpPr>
        <p:spPr>
          <a:xfrm>
            <a:off x="658314" y="1678109"/>
            <a:ext cx="3514725" cy="5662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TreeSet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排序 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自然排序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b="1" dirty="0">
              <a:solidFill>
                <a:srgbClr val="AD2B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50B4453D-271E-76D4-FD1B-62A3C99A48F1}"/>
              </a:ext>
            </a:extLst>
          </p:cNvPr>
          <p:cNvSpPr txBox="1"/>
          <p:nvPr/>
        </p:nvSpPr>
        <p:spPr>
          <a:xfrm>
            <a:off x="658315" y="2238846"/>
            <a:ext cx="2616629" cy="13161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类实现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Comparable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重写 </a:t>
            </a:r>
            <a:r>
              <a:rPr lang="en-US" altLang="zh-CN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compareTo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根据方法的返回值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来组织排序规则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负数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左边走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正数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右边走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0  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不存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9039FBB-CF05-8E70-74B0-38832E24A529}"/>
              </a:ext>
            </a:extLst>
          </p:cNvPr>
          <p:cNvSpPr txBox="1"/>
          <p:nvPr/>
        </p:nvSpPr>
        <p:spPr>
          <a:xfrm>
            <a:off x="658314" y="3665590"/>
            <a:ext cx="3514725" cy="1061829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implements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Comparable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@Override</a:t>
            </a:r>
            <a:b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int </a:t>
            </a:r>
            <a:r>
              <a:rPr lang="zh-CN" altLang="zh-CN" sz="9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compareTo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o) 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return this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- o.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endParaRPr lang="zh-CN" altLang="zh-CN" sz="900" dirty="0">
              <a:latin typeface="Consolas" panose="020B0609020204030204" pitchFamily="49" charset="0"/>
            </a:endParaRPr>
          </a:p>
          <a:p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900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650141-1EE0-7EBD-9B13-EEE42730BAFC}"/>
              </a:ext>
            </a:extLst>
          </p:cNvPr>
          <p:cNvSpPr txBox="1"/>
          <p:nvPr/>
        </p:nvSpPr>
        <p:spPr>
          <a:xfrm>
            <a:off x="658314" y="4783741"/>
            <a:ext cx="3514725" cy="923330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TreeSet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TreeSet&lt;&gt;();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王五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25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张三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23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李四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24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en-US" altLang="zh-CN" sz="9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赵六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26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zh-CN" altLang="zh-CN" sz="1500" dirty="0">
              <a:latin typeface="Consolas" panose="020B0609020204030204" pitchFamily="49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8FF4369-7830-BE90-42FD-EA8AD6E30471}"/>
              </a:ext>
            </a:extLst>
          </p:cNvPr>
          <p:cNvSpPr/>
          <p:nvPr/>
        </p:nvSpPr>
        <p:spPr>
          <a:xfrm>
            <a:off x="5943600" y="1892927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王五，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25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FE01C4-5E86-5147-27F7-9DAA297E6BB3}"/>
              </a:ext>
            </a:extLst>
          </p:cNvPr>
          <p:cNvSpPr/>
          <p:nvPr/>
        </p:nvSpPr>
        <p:spPr>
          <a:xfrm>
            <a:off x="658314" y="5237268"/>
            <a:ext cx="3514725" cy="131693"/>
          </a:xfrm>
          <a:prstGeom prst="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EA4DFC5-DFE8-BE01-96CF-A7E525E3E1F1}"/>
              </a:ext>
            </a:extLst>
          </p:cNvPr>
          <p:cNvSpPr/>
          <p:nvPr/>
        </p:nvSpPr>
        <p:spPr>
          <a:xfrm>
            <a:off x="4740966" y="2745735"/>
            <a:ext cx="1202635" cy="429637"/>
          </a:xfrm>
          <a:prstGeom prst="roundRect">
            <a:avLst/>
          </a:pr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张三，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C043958-9924-F777-4999-13D5C8D74B85}"/>
              </a:ext>
            </a:extLst>
          </p:cNvPr>
          <p:cNvSpPr/>
          <p:nvPr/>
        </p:nvSpPr>
        <p:spPr>
          <a:xfrm>
            <a:off x="925332" y="3920126"/>
            <a:ext cx="2737237" cy="638093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B083A0-6EE0-62B3-4974-29F60A12638F}"/>
              </a:ext>
            </a:extLst>
          </p:cNvPr>
          <p:cNvSpPr txBox="1"/>
          <p:nvPr/>
        </p:nvSpPr>
        <p:spPr>
          <a:xfrm>
            <a:off x="3065524" y="3175372"/>
            <a:ext cx="1143262" cy="415498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23</a:t>
            </a:r>
          </a:p>
          <a:p>
            <a:pPr algn="l"/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o.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25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JetBrains Mono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5957A82B-29DF-2F06-B258-E0745D245496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5342283" y="2322564"/>
            <a:ext cx="1202635" cy="423172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标题 1">
            <a:extLst>
              <a:ext uri="{FF2B5EF4-FFF2-40B4-BE49-F238E27FC236}">
                <a16:creationId xmlns:a16="http://schemas.microsoft.com/office/drawing/2014/main" id="{CC112C97-E847-4473-A5DD-9BB27C9BCA67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CBFFBED-6FA0-4555-ADA4-883677FC6246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0616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E90CFB-5013-47B8-BF42-0596C1816431}"/>
              </a:ext>
            </a:extLst>
          </p:cNvPr>
          <p:cNvSpPr txBox="1"/>
          <p:nvPr/>
        </p:nvSpPr>
        <p:spPr>
          <a:xfrm>
            <a:off x="658314" y="1678109"/>
            <a:ext cx="3514725" cy="5662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TreeSet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排序 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自然排序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b="1" dirty="0">
              <a:solidFill>
                <a:srgbClr val="AD2B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50B4453D-271E-76D4-FD1B-62A3C99A48F1}"/>
              </a:ext>
            </a:extLst>
          </p:cNvPr>
          <p:cNvSpPr txBox="1"/>
          <p:nvPr/>
        </p:nvSpPr>
        <p:spPr>
          <a:xfrm>
            <a:off x="658315" y="2238846"/>
            <a:ext cx="2616629" cy="13161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类实现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Comparable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重写 </a:t>
            </a:r>
            <a:r>
              <a:rPr lang="en-US" altLang="zh-CN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compareTo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根据方法的返回值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来组织排序规则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负数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左边走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正数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右边走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0  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不存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9039FBB-CF05-8E70-74B0-38832E24A529}"/>
              </a:ext>
            </a:extLst>
          </p:cNvPr>
          <p:cNvSpPr txBox="1"/>
          <p:nvPr/>
        </p:nvSpPr>
        <p:spPr>
          <a:xfrm>
            <a:off x="658314" y="3665590"/>
            <a:ext cx="3514725" cy="1061829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implements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Comparable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@Override</a:t>
            </a:r>
            <a:b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int </a:t>
            </a:r>
            <a:r>
              <a:rPr lang="zh-CN" altLang="zh-CN" sz="9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compareTo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o) 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return this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- o.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endParaRPr lang="zh-CN" altLang="zh-CN" sz="900" dirty="0">
              <a:latin typeface="Consolas" panose="020B0609020204030204" pitchFamily="49" charset="0"/>
            </a:endParaRPr>
          </a:p>
          <a:p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900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650141-1EE0-7EBD-9B13-EEE42730BAFC}"/>
              </a:ext>
            </a:extLst>
          </p:cNvPr>
          <p:cNvSpPr txBox="1"/>
          <p:nvPr/>
        </p:nvSpPr>
        <p:spPr>
          <a:xfrm>
            <a:off x="658314" y="4783741"/>
            <a:ext cx="3514725" cy="923330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TreeSet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TreeSet&lt;&gt;();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王五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25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张三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23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李四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24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en-US" altLang="zh-CN" sz="9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赵六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26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zh-CN" altLang="zh-CN" sz="1500" dirty="0">
              <a:latin typeface="Consolas" panose="020B0609020204030204" pitchFamily="49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8FF4369-7830-BE90-42FD-EA8AD6E30471}"/>
              </a:ext>
            </a:extLst>
          </p:cNvPr>
          <p:cNvSpPr/>
          <p:nvPr/>
        </p:nvSpPr>
        <p:spPr>
          <a:xfrm>
            <a:off x="5943600" y="1892927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王五，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25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FE01C4-5E86-5147-27F7-9DAA297E6BB3}"/>
              </a:ext>
            </a:extLst>
          </p:cNvPr>
          <p:cNvSpPr/>
          <p:nvPr/>
        </p:nvSpPr>
        <p:spPr>
          <a:xfrm>
            <a:off x="658314" y="5361507"/>
            <a:ext cx="3514725" cy="131693"/>
          </a:xfrm>
          <a:prstGeom prst="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EA4DFC5-DFE8-BE01-96CF-A7E525E3E1F1}"/>
              </a:ext>
            </a:extLst>
          </p:cNvPr>
          <p:cNvSpPr/>
          <p:nvPr/>
        </p:nvSpPr>
        <p:spPr>
          <a:xfrm>
            <a:off x="4740966" y="2745735"/>
            <a:ext cx="1202635" cy="429637"/>
          </a:xfrm>
          <a:prstGeom prst="roundRect">
            <a:avLst/>
          </a:pr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张三，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5957A82B-29DF-2F06-B258-E0745D245496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5342283" y="2322564"/>
            <a:ext cx="1202635" cy="423172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620C8D9-EE2B-DE53-DDB0-C2D38B0BF557}"/>
              </a:ext>
            </a:extLst>
          </p:cNvPr>
          <p:cNvSpPr/>
          <p:nvPr/>
        </p:nvSpPr>
        <p:spPr>
          <a:xfrm>
            <a:off x="4139648" y="1916956"/>
            <a:ext cx="1202635" cy="429637"/>
          </a:xfrm>
          <a:prstGeom prst="roundRect">
            <a:avLst/>
          </a:pr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李四，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91457783-F137-421F-B219-A2A62214EE58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5253AB2-6554-426C-93B3-A8E21E39F40A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7568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E90CFB-5013-47B8-BF42-0596C1816431}"/>
              </a:ext>
            </a:extLst>
          </p:cNvPr>
          <p:cNvSpPr txBox="1"/>
          <p:nvPr/>
        </p:nvSpPr>
        <p:spPr>
          <a:xfrm>
            <a:off x="658314" y="1678109"/>
            <a:ext cx="3514725" cy="5662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TreeSet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排序 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自然排序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b="1" dirty="0">
              <a:solidFill>
                <a:srgbClr val="AD2B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50B4453D-271E-76D4-FD1B-62A3C99A48F1}"/>
              </a:ext>
            </a:extLst>
          </p:cNvPr>
          <p:cNvSpPr txBox="1"/>
          <p:nvPr/>
        </p:nvSpPr>
        <p:spPr>
          <a:xfrm>
            <a:off x="658315" y="2238846"/>
            <a:ext cx="2616629" cy="13161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类实现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Comparable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重写 </a:t>
            </a:r>
            <a:r>
              <a:rPr lang="en-US" altLang="zh-CN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compareTo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根据方法的返回值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来组织排序规则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负数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左边走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正数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右边走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0  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不存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9039FBB-CF05-8E70-74B0-38832E24A529}"/>
              </a:ext>
            </a:extLst>
          </p:cNvPr>
          <p:cNvSpPr txBox="1"/>
          <p:nvPr/>
        </p:nvSpPr>
        <p:spPr>
          <a:xfrm>
            <a:off x="658314" y="3665590"/>
            <a:ext cx="3514725" cy="1061829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implements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Comparable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@Override</a:t>
            </a:r>
            <a:b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int </a:t>
            </a:r>
            <a:r>
              <a:rPr lang="zh-CN" altLang="zh-CN" sz="9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compareTo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o) 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return this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- o.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endParaRPr lang="zh-CN" altLang="zh-CN" sz="900" dirty="0">
              <a:latin typeface="Consolas" panose="020B0609020204030204" pitchFamily="49" charset="0"/>
            </a:endParaRPr>
          </a:p>
          <a:p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900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650141-1EE0-7EBD-9B13-EEE42730BAFC}"/>
              </a:ext>
            </a:extLst>
          </p:cNvPr>
          <p:cNvSpPr txBox="1"/>
          <p:nvPr/>
        </p:nvSpPr>
        <p:spPr>
          <a:xfrm>
            <a:off x="658314" y="4783741"/>
            <a:ext cx="3514725" cy="923330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TreeSet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TreeSet&lt;&gt;();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王五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25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张三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23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李四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24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en-US" altLang="zh-CN" sz="9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赵六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26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zh-CN" altLang="zh-CN" sz="1500" dirty="0">
              <a:latin typeface="Consolas" panose="020B0609020204030204" pitchFamily="49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8FF4369-7830-BE90-42FD-EA8AD6E30471}"/>
              </a:ext>
            </a:extLst>
          </p:cNvPr>
          <p:cNvSpPr/>
          <p:nvPr/>
        </p:nvSpPr>
        <p:spPr>
          <a:xfrm>
            <a:off x="5943600" y="1892927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王五，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25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FE01C4-5E86-5147-27F7-9DAA297E6BB3}"/>
              </a:ext>
            </a:extLst>
          </p:cNvPr>
          <p:cNvSpPr/>
          <p:nvPr/>
        </p:nvSpPr>
        <p:spPr>
          <a:xfrm>
            <a:off x="658314" y="5361507"/>
            <a:ext cx="3514725" cy="131693"/>
          </a:xfrm>
          <a:prstGeom prst="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EA4DFC5-DFE8-BE01-96CF-A7E525E3E1F1}"/>
              </a:ext>
            </a:extLst>
          </p:cNvPr>
          <p:cNvSpPr/>
          <p:nvPr/>
        </p:nvSpPr>
        <p:spPr>
          <a:xfrm>
            <a:off x="4740966" y="2745735"/>
            <a:ext cx="1202635" cy="429637"/>
          </a:xfrm>
          <a:prstGeom prst="roundRect">
            <a:avLst/>
          </a:pr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张三，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5957A82B-29DF-2F06-B258-E0745D245496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5342283" y="2322564"/>
            <a:ext cx="1202635" cy="423172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620C8D9-EE2B-DE53-DDB0-C2D38B0BF557}"/>
              </a:ext>
            </a:extLst>
          </p:cNvPr>
          <p:cNvSpPr/>
          <p:nvPr/>
        </p:nvSpPr>
        <p:spPr>
          <a:xfrm>
            <a:off x="4139648" y="1916956"/>
            <a:ext cx="1202635" cy="429637"/>
          </a:xfrm>
          <a:prstGeom prst="roundRect">
            <a:avLst/>
          </a:pr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李四，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EF73A16-A980-4AFA-CF98-960D33D78926}"/>
              </a:ext>
            </a:extLst>
          </p:cNvPr>
          <p:cNvSpPr/>
          <p:nvPr/>
        </p:nvSpPr>
        <p:spPr>
          <a:xfrm>
            <a:off x="925332" y="3920126"/>
            <a:ext cx="2737237" cy="638093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999F0C-928D-E8A5-694E-DD6760DED4B9}"/>
              </a:ext>
            </a:extLst>
          </p:cNvPr>
          <p:cNvSpPr txBox="1"/>
          <p:nvPr/>
        </p:nvSpPr>
        <p:spPr>
          <a:xfrm>
            <a:off x="3065524" y="3175372"/>
            <a:ext cx="1143262" cy="415498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24</a:t>
            </a:r>
          </a:p>
          <a:p>
            <a:pPr algn="l"/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o.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25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13A0324B-7BF1-4D56-A976-0D13EB751237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AC9BF2B-F985-44AA-9CC7-B1DB725759A1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7513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E90CFB-5013-47B8-BF42-0596C1816431}"/>
              </a:ext>
            </a:extLst>
          </p:cNvPr>
          <p:cNvSpPr txBox="1"/>
          <p:nvPr/>
        </p:nvSpPr>
        <p:spPr>
          <a:xfrm>
            <a:off x="658314" y="1678109"/>
            <a:ext cx="3514725" cy="5662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TreeSet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排序 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自然排序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b="1" dirty="0">
              <a:solidFill>
                <a:srgbClr val="AD2B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50B4453D-271E-76D4-FD1B-62A3C99A48F1}"/>
              </a:ext>
            </a:extLst>
          </p:cNvPr>
          <p:cNvSpPr txBox="1"/>
          <p:nvPr/>
        </p:nvSpPr>
        <p:spPr>
          <a:xfrm>
            <a:off x="658315" y="2238846"/>
            <a:ext cx="2616629" cy="13161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类实现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Comparable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重写 </a:t>
            </a:r>
            <a:r>
              <a:rPr lang="en-US" altLang="zh-CN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compareTo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根据方法的返回值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来组织排序规则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负数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左边走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正数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右边走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0  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不存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9039FBB-CF05-8E70-74B0-38832E24A529}"/>
              </a:ext>
            </a:extLst>
          </p:cNvPr>
          <p:cNvSpPr txBox="1"/>
          <p:nvPr/>
        </p:nvSpPr>
        <p:spPr>
          <a:xfrm>
            <a:off x="658314" y="3665590"/>
            <a:ext cx="3514725" cy="1061829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implements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Comparable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@Override</a:t>
            </a:r>
            <a:b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int </a:t>
            </a:r>
            <a:r>
              <a:rPr lang="zh-CN" altLang="zh-CN" sz="9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compareTo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o) 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return this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- o.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endParaRPr lang="zh-CN" altLang="zh-CN" sz="900" dirty="0">
              <a:latin typeface="Consolas" panose="020B0609020204030204" pitchFamily="49" charset="0"/>
            </a:endParaRPr>
          </a:p>
          <a:p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900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650141-1EE0-7EBD-9B13-EEE42730BAFC}"/>
              </a:ext>
            </a:extLst>
          </p:cNvPr>
          <p:cNvSpPr txBox="1"/>
          <p:nvPr/>
        </p:nvSpPr>
        <p:spPr>
          <a:xfrm>
            <a:off x="658314" y="4783741"/>
            <a:ext cx="3514725" cy="923330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TreeSet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TreeSet&lt;&gt;();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王五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25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张三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23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李四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24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en-US" altLang="zh-CN" sz="9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赵六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26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zh-CN" altLang="zh-CN" sz="1500" dirty="0">
              <a:latin typeface="Consolas" panose="020B0609020204030204" pitchFamily="49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8FF4369-7830-BE90-42FD-EA8AD6E30471}"/>
              </a:ext>
            </a:extLst>
          </p:cNvPr>
          <p:cNvSpPr/>
          <p:nvPr/>
        </p:nvSpPr>
        <p:spPr>
          <a:xfrm>
            <a:off x="5943600" y="1892927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王五，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25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FE01C4-5E86-5147-27F7-9DAA297E6BB3}"/>
              </a:ext>
            </a:extLst>
          </p:cNvPr>
          <p:cNvSpPr/>
          <p:nvPr/>
        </p:nvSpPr>
        <p:spPr>
          <a:xfrm>
            <a:off x="658314" y="5361507"/>
            <a:ext cx="3514725" cy="131693"/>
          </a:xfrm>
          <a:prstGeom prst="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EA4DFC5-DFE8-BE01-96CF-A7E525E3E1F1}"/>
              </a:ext>
            </a:extLst>
          </p:cNvPr>
          <p:cNvSpPr/>
          <p:nvPr/>
        </p:nvSpPr>
        <p:spPr>
          <a:xfrm>
            <a:off x="4740966" y="2745735"/>
            <a:ext cx="1202635" cy="429637"/>
          </a:xfrm>
          <a:prstGeom prst="roundRect">
            <a:avLst/>
          </a:pr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张三，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5957A82B-29DF-2F06-B258-E0745D245496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5342283" y="2322564"/>
            <a:ext cx="1202635" cy="423172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620C8D9-EE2B-DE53-DDB0-C2D38B0BF557}"/>
              </a:ext>
            </a:extLst>
          </p:cNvPr>
          <p:cNvSpPr/>
          <p:nvPr/>
        </p:nvSpPr>
        <p:spPr>
          <a:xfrm>
            <a:off x="4740966" y="3371580"/>
            <a:ext cx="1202635" cy="429637"/>
          </a:xfrm>
          <a:prstGeom prst="roundRect">
            <a:avLst/>
          </a:pr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李四，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EF73A16-A980-4AFA-CF98-960D33D78926}"/>
              </a:ext>
            </a:extLst>
          </p:cNvPr>
          <p:cNvSpPr/>
          <p:nvPr/>
        </p:nvSpPr>
        <p:spPr>
          <a:xfrm>
            <a:off x="925332" y="3920126"/>
            <a:ext cx="2737237" cy="638093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999F0C-928D-E8A5-694E-DD6760DED4B9}"/>
              </a:ext>
            </a:extLst>
          </p:cNvPr>
          <p:cNvSpPr txBox="1"/>
          <p:nvPr/>
        </p:nvSpPr>
        <p:spPr>
          <a:xfrm>
            <a:off x="3065524" y="3175372"/>
            <a:ext cx="1143262" cy="415498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24</a:t>
            </a:r>
          </a:p>
          <a:p>
            <a:pPr algn="l"/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o.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25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A071516-67E2-AC89-EC0D-0D03D595B9C5}"/>
              </a:ext>
            </a:extLst>
          </p:cNvPr>
          <p:cNvSpPr txBox="1"/>
          <p:nvPr/>
        </p:nvSpPr>
        <p:spPr>
          <a:xfrm>
            <a:off x="3065524" y="3175372"/>
            <a:ext cx="1143262" cy="415498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24</a:t>
            </a:r>
          </a:p>
          <a:p>
            <a:pPr algn="l"/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o.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23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0C1A97AF-C9DC-4980-B254-9458F4C10DDF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CAC8F28-F29A-4908-8CAE-B219A8BD2FAA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574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E90CFB-5013-47B8-BF42-0596C1816431}"/>
              </a:ext>
            </a:extLst>
          </p:cNvPr>
          <p:cNvSpPr txBox="1"/>
          <p:nvPr/>
        </p:nvSpPr>
        <p:spPr>
          <a:xfrm>
            <a:off x="658314" y="1678109"/>
            <a:ext cx="3514725" cy="5662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TreeSet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排序 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自然排序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b="1" dirty="0">
              <a:solidFill>
                <a:srgbClr val="AD2B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50B4453D-271E-76D4-FD1B-62A3C99A48F1}"/>
              </a:ext>
            </a:extLst>
          </p:cNvPr>
          <p:cNvSpPr txBox="1"/>
          <p:nvPr/>
        </p:nvSpPr>
        <p:spPr>
          <a:xfrm>
            <a:off x="658315" y="2238846"/>
            <a:ext cx="2616629" cy="13161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类实现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Comparable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重写 </a:t>
            </a:r>
            <a:r>
              <a:rPr lang="en-US" altLang="zh-CN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compareTo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根据方法的返回值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来组织排序规则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负数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左边走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正数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右边走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0  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不存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9039FBB-CF05-8E70-74B0-38832E24A529}"/>
              </a:ext>
            </a:extLst>
          </p:cNvPr>
          <p:cNvSpPr txBox="1"/>
          <p:nvPr/>
        </p:nvSpPr>
        <p:spPr>
          <a:xfrm>
            <a:off x="658314" y="3665590"/>
            <a:ext cx="3514725" cy="1061829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implements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Comparable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@Override</a:t>
            </a:r>
            <a:b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int </a:t>
            </a:r>
            <a:r>
              <a:rPr lang="zh-CN" altLang="zh-CN" sz="9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compareTo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o) 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return this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- o.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endParaRPr lang="zh-CN" altLang="zh-CN" sz="900" dirty="0">
              <a:latin typeface="Consolas" panose="020B0609020204030204" pitchFamily="49" charset="0"/>
            </a:endParaRPr>
          </a:p>
          <a:p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900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650141-1EE0-7EBD-9B13-EEE42730BAFC}"/>
              </a:ext>
            </a:extLst>
          </p:cNvPr>
          <p:cNvSpPr txBox="1"/>
          <p:nvPr/>
        </p:nvSpPr>
        <p:spPr>
          <a:xfrm>
            <a:off x="658314" y="4783741"/>
            <a:ext cx="3514725" cy="923330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TreeSet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TreeSet&lt;&gt;();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王五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25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张三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23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李四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24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en-US" altLang="zh-CN" sz="9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赵六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26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zh-CN" altLang="zh-CN" sz="1500" dirty="0">
              <a:latin typeface="Consolas" panose="020B0609020204030204" pitchFamily="49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8FF4369-7830-BE90-42FD-EA8AD6E30471}"/>
              </a:ext>
            </a:extLst>
          </p:cNvPr>
          <p:cNvSpPr/>
          <p:nvPr/>
        </p:nvSpPr>
        <p:spPr>
          <a:xfrm>
            <a:off x="5943600" y="1892927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王五，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25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FE01C4-5E86-5147-27F7-9DAA297E6BB3}"/>
              </a:ext>
            </a:extLst>
          </p:cNvPr>
          <p:cNvSpPr/>
          <p:nvPr/>
        </p:nvSpPr>
        <p:spPr>
          <a:xfrm>
            <a:off x="658314" y="5361507"/>
            <a:ext cx="3514725" cy="131693"/>
          </a:xfrm>
          <a:prstGeom prst="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EA4DFC5-DFE8-BE01-96CF-A7E525E3E1F1}"/>
              </a:ext>
            </a:extLst>
          </p:cNvPr>
          <p:cNvSpPr/>
          <p:nvPr/>
        </p:nvSpPr>
        <p:spPr>
          <a:xfrm>
            <a:off x="4740966" y="2745735"/>
            <a:ext cx="1202635" cy="429637"/>
          </a:xfrm>
          <a:prstGeom prst="roundRect">
            <a:avLst/>
          </a:pr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张三，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5957A82B-29DF-2F06-B258-E0745D245496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5342283" y="2322564"/>
            <a:ext cx="1202635" cy="423172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620C8D9-EE2B-DE53-DDB0-C2D38B0BF557}"/>
              </a:ext>
            </a:extLst>
          </p:cNvPr>
          <p:cNvSpPr/>
          <p:nvPr/>
        </p:nvSpPr>
        <p:spPr>
          <a:xfrm>
            <a:off x="5642942" y="3589776"/>
            <a:ext cx="1202635" cy="429637"/>
          </a:xfrm>
          <a:prstGeom prst="roundRect">
            <a:avLst/>
          </a:pr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李四，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EF73A16-A980-4AFA-CF98-960D33D78926}"/>
              </a:ext>
            </a:extLst>
          </p:cNvPr>
          <p:cNvSpPr/>
          <p:nvPr/>
        </p:nvSpPr>
        <p:spPr>
          <a:xfrm>
            <a:off x="925332" y="3920126"/>
            <a:ext cx="2737237" cy="638093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999F0C-928D-E8A5-694E-DD6760DED4B9}"/>
              </a:ext>
            </a:extLst>
          </p:cNvPr>
          <p:cNvSpPr txBox="1"/>
          <p:nvPr/>
        </p:nvSpPr>
        <p:spPr>
          <a:xfrm>
            <a:off x="3065524" y="3175372"/>
            <a:ext cx="1143262" cy="415498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24</a:t>
            </a:r>
          </a:p>
          <a:p>
            <a:pPr algn="l"/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o.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25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A071516-67E2-AC89-EC0D-0D03D595B9C5}"/>
              </a:ext>
            </a:extLst>
          </p:cNvPr>
          <p:cNvSpPr txBox="1"/>
          <p:nvPr/>
        </p:nvSpPr>
        <p:spPr>
          <a:xfrm>
            <a:off x="3065524" y="3175372"/>
            <a:ext cx="1143262" cy="415498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24</a:t>
            </a:r>
          </a:p>
          <a:p>
            <a:pPr algn="l"/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o.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23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JetBrains Mono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0FC0D45-5237-CECA-0B55-2CFB9865C48F}"/>
              </a:ext>
            </a:extLst>
          </p:cNvPr>
          <p:cNvCxnSpPr>
            <a:cxnSpLocks/>
            <a:stCxn id="9" idx="2"/>
            <a:endCxn id="6" idx="0"/>
          </p:cNvCxnSpPr>
          <p:nvPr/>
        </p:nvCxnSpPr>
        <p:spPr>
          <a:xfrm>
            <a:off x="5342284" y="3175372"/>
            <a:ext cx="901976" cy="414404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FB301385-DD91-256B-78E7-8E97F04A2DBC}"/>
              </a:ext>
            </a:extLst>
          </p:cNvPr>
          <p:cNvSpPr/>
          <p:nvPr/>
        </p:nvSpPr>
        <p:spPr>
          <a:xfrm>
            <a:off x="7283052" y="2725908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Nil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C1E05933-057D-43C2-95FE-3578CE84BD1C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6544917" y="2330180"/>
            <a:ext cx="1339452" cy="395727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071323CF-287C-9BB2-EA8B-8D40B3E35939}"/>
              </a:ext>
            </a:extLst>
          </p:cNvPr>
          <p:cNvGrpSpPr/>
          <p:nvPr/>
        </p:nvGrpSpPr>
        <p:grpSpPr>
          <a:xfrm>
            <a:off x="6242529" y="4656715"/>
            <a:ext cx="1394170" cy="453131"/>
            <a:chOff x="5232467" y="4358094"/>
            <a:chExt cx="1858894" cy="604174"/>
          </a:xfrm>
        </p:grpSpPr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76F1FF12-A3DA-58AD-F4C5-1EC0EA99AAE5}"/>
                </a:ext>
              </a:extLst>
            </p:cNvPr>
            <p:cNvGrpSpPr/>
            <p:nvPr/>
          </p:nvGrpSpPr>
          <p:grpSpPr>
            <a:xfrm>
              <a:off x="5232467" y="4454449"/>
              <a:ext cx="1858894" cy="507819"/>
              <a:chOff x="5232467" y="4220844"/>
              <a:chExt cx="1858894" cy="507819"/>
            </a:xfrm>
          </p:grpSpPr>
          <p:sp>
            <p:nvSpPr>
              <p:cNvPr id="38" name="矩形: 圆角 37">
                <a:extLst>
                  <a:ext uri="{FF2B5EF4-FFF2-40B4-BE49-F238E27FC236}">
                    <a16:creationId xmlns:a16="http://schemas.microsoft.com/office/drawing/2014/main" id="{AE7A2C58-B361-2BD3-E37F-BDE2F6C77536}"/>
                  </a:ext>
                </a:extLst>
              </p:cNvPr>
              <p:cNvSpPr/>
              <p:nvPr/>
            </p:nvSpPr>
            <p:spPr bwMode="auto">
              <a:xfrm>
                <a:off x="5234774" y="4220844"/>
                <a:ext cx="1856587" cy="507819"/>
              </a:xfrm>
              <a:prstGeom prst="roundRect">
                <a:avLst>
                  <a:gd name="adj" fmla="val 10906"/>
                </a:avLst>
              </a:prstGeom>
              <a:solidFill>
                <a:schemeClr val="bg1"/>
              </a:solidFill>
              <a:ln w="9525"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阿里巴巴普惠体" panose="00020600040101010101"/>
                </a:endParaRPr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645CCC69-7A08-C92D-8C27-980190E02459}"/>
                  </a:ext>
                </a:extLst>
              </p:cNvPr>
              <p:cNvSpPr/>
              <p:nvPr/>
            </p:nvSpPr>
            <p:spPr>
              <a:xfrm>
                <a:off x="5232467" y="4230335"/>
                <a:ext cx="1785106" cy="4924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zh-CN" altLang="en-US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阿里巴巴普惠体" panose="00020600040101010101"/>
                    <a:cs typeface="阿里巴巴普惠体" panose="00020600040101010101" pitchFamily="18" charset="-122"/>
                    <a:sym typeface="阿里巴巴普惠体" panose="00020600040101010101"/>
                  </a:rPr>
                  <a:t>叔叔黑色</a:t>
                </a:r>
                <a:endParaRPr lang="en-US" altLang="zh-CN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endParaRPr>
              </a:p>
              <a:p>
                <a:pPr algn="ctr">
                  <a:defRPr/>
                </a:pPr>
                <a:r>
                  <a:rPr lang="zh-CN" altLang="en-US" sz="900" dirty="0">
                    <a:latin typeface="微软雅黑" panose="020B0503020204020204" pitchFamily="34" charset="-122"/>
                    <a:ea typeface="阿里巴巴普惠体" panose="00020600040101010101"/>
                    <a:cs typeface="阿里巴巴普惠体" panose="00020600040101010101" pitchFamily="18" charset="-122"/>
                    <a:sym typeface="阿里巴巴普惠体" panose="00020600040101010101"/>
                  </a:rPr>
                  <a:t>当前节点时父的右孩子</a:t>
                </a:r>
              </a:p>
            </p:txBody>
          </p:sp>
        </p:grp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6378E122-B636-142E-75B7-20E33937437B}"/>
                </a:ext>
              </a:extLst>
            </p:cNvPr>
            <p:cNvSpPr/>
            <p:nvPr/>
          </p:nvSpPr>
          <p:spPr bwMode="auto">
            <a:xfrm>
              <a:off x="5312425" y="4358094"/>
              <a:ext cx="188771" cy="188771"/>
            </a:xfrm>
            <a:prstGeom prst="ellipse">
              <a:avLst/>
            </a:prstGeom>
            <a:solidFill>
              <a:srgbClr val="B6000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DC4D8126-DC8B-1E69-FF14-5318FADB373C}"/>
              </a:ext>
            </a:extLst>
          </p:cNvPr>
          <p:cNvGrpSpPr/>
          <p:nvPr/>
        </p:nvGrpSpPr>
        <p:grpSpPr>
          <a:xfrm>
            <a:off x="5907589" y="5178443"/>
            <a:ext cx="2300009" cy="275588"/>
            <a:chOff x="7376720" y="4717625"/>
            <a:chExt cx="4112807" cy="367451"/>
          </a:xfrm>
        </p:grpSpPr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35E51A63-B926-0C00-B494-9AA7D8A14612}"/>
                </a:ext>
              </a:extLst>
            </p:cNvPr>
            <p:cNvSpPr/>
            <p:nvPr/>
          </p:nvSpPr>
          <p:spPr bwMode="auto">
            <a:xfrm>
              <a:off x="7376720" y="4805953"/>
              <a:ext cx="4059736" cy="235008"/>
            </a:xfrm>
            <a:prstGeom prst="roundRect">
              <a:avLst>
                <a:gd name="adj" fmla="val 50000"/>
              </a:avLst>
            </a:prstGeom>
            <a:solidFill>
              <a:srgbClr val="00B05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8B420B2A-365E-4E8D-04E9-717057E4DE57}"/>
                </a:ext>
              </a:extLst>
            </p:cNvPr>
            <p:cNvSpPr/>
            <p:nvPr/>
          </p:nvSpPr>
          <p:spPr>
            <a:xfrm>
              <a:off x="7444404" y="4717625"/>
              <a:ext cx="4045123" cy="36745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把父设置为当前节点并左旋，再进行判断</a:t>
              </a:r>
            </a:p>
          </p:txBody>
        </p:sp>
      </p:grpSp>
      <p:sp>
        <p:nvSpPr>
          <p:cNvPr id="43" name="任意多边形 33">
            <a:extLst>
              <a:ext uri="{FF2B5EF4-FFF2-40B4-BE49-F238E27FC236}">
                <a16:creationId xmlns:a16="http://schemas.microsoft.com/office/drawing/2014/main" id="{8EF743DB-7F01-9289-4FA9-59F1B71CAD55}"/>
              </a:ext>
            </a:extLst>
          </p:cNvPr>
          <p:cNvSpPr/>
          <p:nvPr/>
        </p:nvSpPr>
        <p:spPr>
          <a:xfrm>
            <a:off x="3801718" y="2362618"/>
            <a:ext cx="3241036" cy="1590446"/>
          </a:xfrm>
          <a:custGeom>
            <a:avLst/>
            <a:gdLst>
              <a:gd name="connsiteX0" fmla="*/ 4698380 w 4698380"/>
              <a:gd name="connsiteY0" fmla="*/ 2371688 h 2371688"/>
              <a:gd name="connsiteX1" fmla="*/ 2304585 w 4698380"/>
              <a:gd name="connsiteY1" fmla="*/ 195 h 2371688"/>
              <a:gd name="connsiteX2" fmla="*/ 0 w 4698380"/>
              <a:gd name="connsiteY2" fmla="*/ 2267610 h 2371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98380" h="2371688">
                <a:moveTo>
                  <a:pt x="4698380" y="2371688"/>
                </a:moveTo>
                <a:cubicBezTo>
                  <a:pt x="3893014" y="1194614"/>
                  <a:pt x="3087648" y="17541"/>
                  <a:pt x="2304585" y="195"/>
                </a:cubicBezTo>
                <a:cubicBezTo>
                  <a:pt x="1521522" y="-17151"/>
                  <a:pt x="760761" y="1125229"/>
                  <a:pt x="0" y="2267610"/>
                </a:cubicBezTo>
              </a:path>
            </a:pathLst>
          </a:custGeom>
          <a:noFill/>
          <a:ln w="254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6" name="标题 1">
            <a:extLst>
              <a:ext uri="{FF2B5EF4-FFF2-40B4-BE49-F238E27FC236}">
                <a16:creationId xmlns:a16="http://schemas.microsoft.com/office/drawing/2014/main" id="{DD50C33B-BD17-45CD-BB88-7D7E1571E49A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E321F2E-1666-4AB8-B671-123145609E71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160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E90CFB-5013-47B8-BF42-0596C1816431}"/>
              </a:ext>
            </a:extLst>
          </p:cNvPr>
          <p:cNvSpPr txBox="1"/>
          <p:nvPr/>
        </p:nvSpPr>
        <p:spPr>
          <a:xfrm>
            <a:off x="658314" y="1678109"/>
            <a:ext cx="3514725" cy="5662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TreeSet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排序 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自然排序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b="1" dirty="0">
              <a:solidFill>
                <a:srgbClr val="AD2B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50B4453D-271E-76D4-FD1B-62A3C99A48F1}"/>
              </a:ext>
            </a:extLst>
          </p:cNvPr>
          <p:cNvSpPr txBox="1"/>
          <p:nvPr/>
        </p:nvSpPr>
        <p:spPr>
          <a:xfrm>
            <a:off x="658315" y="2238846"/>
            <a:ext cx="2616629" cy="13161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类实现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Comparable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重写 </a:t>
            </a:r>
            <a:r>
              <a:rPr lang="en-US" altLang="zh-CN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compareTo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根据方法的返回值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来组织排序规则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负数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左边走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正数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右边走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0  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不存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9039FBB-CF05-8E70-74B0-38832E24A529}"/>
              </a:ext>
            </a:extLst>
          </p:cNvPr>
          <p:cNvSpPr txBox="1"/>
          <p:nvPr/>
        </p:nvSpPr>
        <p:spPr>
          <a:xfrm>
            <a:off x="658314" y="3665590"/>
            <a:ext cx="3514725" cy="1061829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implements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Comparable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@Override</a:t>
            </a:r>
            <a:b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int </a:t>
            </a:r>
            <a:r>
              <a:rPr lang="zh-CN" altLang="zh-CN" sz="9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compareTo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o) 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return this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- o.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endParaRPr lang="zh-CN" altLang="zh-CN" sz="900" dirty="0">
              <a:latin typeface="Consolas" panose="020B0609020204030204" pitchFamily="49" charset="0"/>
            </a:endParaRPr>
          </a:p>
          <a:p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900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650141-1EE0-7EBD-9B13-EEE42730BAFC}"/>
              </a:ext>
            </a:extLst>
          </p:cNvPr>
          <p:cNvSpPr txBox="1"/>
          <p:nvPr/>
        </p:nvSpPr>
        <p:spPr>
          <a:xfrm>
            <a:off x="658314" y="4783741"/>
            <a:ext cx="3514725" cy="923330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TreeSet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TreeSet&lt;&gt;();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王五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25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张三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23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李四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24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en-US" altLang="zh-CN" sz="9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赵六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26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zh-CN" altLang="zh-CN" sz="1500" dirty="0">
              <a:latin typeface="Consolas" panose="020B0609020204030204" pitchFamily="49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8FF4369-7830-BE90-42FD-EA8AD6E30471}"/>
              </a:ext>
            </a:extLst>
          </p:cNvPr>
          <p:cNvSpPr/>
          <p:nvPr/>
        </p:nvSpPr>
        <p:spPr>
          <a:xfrm>
            <a:off x="5943600" y="1892927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王五，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25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FE01C4-5E86-5147-27F7-9DAA297E6BB3}"/>
              </a:ext>
            </a:extLst>
          </p:cNvPr>
          <p:cNvSpPr/>
          <p:nvPr/>
        </p:nvSpPr>
        <p:spPr>
          <a:xfrm>
            <a:off x="658314" y="5361507"/>
            <a:ext cx="3514725" cy="131693"/>
          </a:xfrm>
          <a:prstGeom prst="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EA4DFC5-DFE8-BE01-96CF-A7E525E3E1F1}"/>
              </a:ext>
            </a:extLst>
          </p:cNvPr>
          <p:cNvSpPr/>
          <p:nvPr/>
        </p:nvSpPr>
        <p:spPr>
          <a:xfrm>
            <a:off x="4274241" y="3597379"/>
            <a:ext cx="1202635" cy="429637"/>
          </a:xfrm>
          <a:prstGeom prst="roundRect">
            <a:avLst/>
          </a:pr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张三，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620C8D9-EE2B-DE53-DDB0-C2D38B0BF557}"/>
              </a:ext>
            </a:extLst>
          </p:cNvPr>
          <p:cNvSpPr/>
          <p:nvPr/>
        </p:nvSpPr>
        <p:spPr>
          <a:xfrm>
            <a:off x="4967262" y="2745735"/>
            <a:ext cx="1202635" cy="429637"/>
          </a:xfrm>
          <a:prstGeom prst="roundRect">
            <a:avLst/>
          </a:pr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李四，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EF73A16-A980-4AFA-CF98-960D33D78926}"/>
              </a:ext>
            </a:extLst>
          </p:cNvPr>
          <p:cNvSpPr/>
          <p:nvPr/>
        </p:nvSpPr>
        <p:spPr>
          <a:xfrm>
            <a:off x="925332" y="3920126"/>
            <a:ext cx="2737237" cy="638093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999F0C-928D-E8A5-694E-DD6760DED4B9}"/>
              </a:ext>
            </a:extLst>
          </p:cNvPr>
          <p:cNvSpPr txBox="1"/>
          <p:nvPr/>
        </p:nvSpPr>
        <p:spPr>
          <a:xfrm>
            <a:off x="3065524" y="3175372"/>
            <a:ext cx="1143262" cy="415498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24</a:t>
            </a:r>
          </a:p>
          <a:p>
            <a:pPr algn="l"/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o.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25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A071516-67E2-AC89-EC0D-0D03D595B9C5}"/>
              </a:ext>
            </a:extLst>
          </p:cNvPr>
          <p:cNvSpPr txBox="1"/>
          <p:nvPr/>
        </p:nvSpPr>
        <p:spPr>
          <a:xfrm>
            <a:off x="3065524" y="3175372"/>
            <a:ext cx="1143262" cy="415498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24</a:t>
            </a:r>
          </a:p>
          <a:p>
            <a:pPr algn="l"/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o.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23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FB301385-DD91-256B-78E7-8E97F04A2DBC}"/>
              </a:ext>
            </a:extLst>
          </p:cNvPr>
          <p:cNvSpPr/>
          <p:nvPr/>
        </p:nvSpPr>
        <p:spPr>
          <a:xfrm>
            <a:off x="7283052" y="2725908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Nil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071323CF-287C-9BB2-EA8B-8D40B3E35939}"/>
              </a:ext>
            </a:extLst>
          </p:cNvPr>
          <p:cNvGrpSpPr/>
          <p:nvPr/>
        </p:nvGrpSpPr>
        <p:grpSpPr>
          <a:xfrm>
            <a:off x="6242529" y="4656715"/>
            <a:ext cx="1394170" cy="453131"/>
            <a:chOff x="5232467" y="4358094"/>
            <a:chExt cx="1858894" cy="604174"/>
          </a:xfrm>
        </p:grpSpPr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76F1FF12-A3DA-58AD-F4C5-1EC0EA99AAE5}"/>
                </a:ext>
              </a:extLst>
            </p:cNvPr>
            <p:cNvGrpSpPr/>
            <p:nvPr/>
          </p:nvGrpSpPr>
          <p:grpSpPr>
            <a:xfrm>
              <a:off x="5232467" y="4454449"/>
              <a:ext cx="1858894" cy="507819"/>
              <a:chOff x="5232467" y="4220844"/>
              <a:chExt cx="1858894" cy="507819"/>
            </a:xfrm>
          </p:grpSpPr>
          <p:sp>
            <p:nvSpPr>
              <p:cNvPr id="38" name="矩形: 圆角 37">
                <a:extLst>
                  <a:ext uri="{FF2B5EF4-FFF2-40B4-BE49-F238E27FC236}">
                    <a16:creationId xmlns:a16="http://schemas.microsoft.com/office/drawing/2014/main" id="{AE7A2C58-B361-2BD3-E37F-BDE2F6C77536}"/>
                  </a:ext>
                </a:extLst>
              </p:cNvPr>
              <p:cNvSpPr/>
              <p:nvPr/>
            </p:nvSpPr>
            <p:spPr bwMode="auto">
              <a:xfrm>
                <a:off x="5234774" y="4220844"/>
                <a:ext cx="1856587" cy="507819"/>
              </a:xfrm>
              <a:prstGeom prst="roundRect">
                <a:avLst>
                  <a:gd name="adj" fmla="val 10906"/>
                </a:avLst>
              </a:prstGeom>
              <a:solidFill>
                <a:schemeClr val="bg1"/>
              </a:solidFill>
              <a:ln w="9525"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阿里巴巴普惠体" panose="00020600040101010101"/>
                </a:endParaRPr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645CCC69-7A08-C92D-8C27-980190E02459}"/>
                  </a:ext>
                </a:extLst>
              </p:cNvPr>
              <p:cNvSpPr/>
              <p:nvPr/>
            </p:nvSpPr>
            <p:spPr>
              <a:xfrm>
                <a:off x="5232467" y="4230335"/>
                <a:ext cx="1785106" cy="4924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zh-CN" altLang="en-US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阿里巴巴普惠体" panose="00020600040101010101"/>
                    <a:cs typeface="阿里巴巴普惠体" panose="00020600040101010101" pitchFamily="18" charset="-122"/>
                    <a:sym typeface="阿里巴巴普惠体" panose="00020600040101010101"/>
                  </a:rPr>
                  <a:t>叔叔黑色</a:t>
                </a:r>
                <a:endParaRPr lang="en-US" altLang="zh-CN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endParaRPr>
              </a:p>
              <a:p>
                <a:pPr algn="ctr">
                  <a:defRPr/>
                </a:pPr>
                <a:r>
                  <a:rPr lang="zh-CN" altLang="en-US" sz="900" dirty="0">
                    <a:latin typeface="微软雅黑" panose="020B0503020204020204" pitchFamily="34" charset="-122"/>
                    <a:ea typeface="阿里巴巴普惠体" panose="00020600040101010101"/>
                    <a:cs typeface="阿里巴巴普惠体" panose="00020600040101010101" pitchFamily="18" charset="-122"/>
                    <a:sym typeface="阿里巴巴普惠体" panose="00020600040101010101"/>
                  </a:rPr>
                  <a:t>当前节点时父的右孩子</a:t>
                </a:r>
              </a:p>
            </p:txBody>
          </p:sp>
        </p:grp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6378E122-B636-142E-75B7-20E33937437B}"/>
                </a:ext>
              </a:extLst>
            </p:cNvPr>
            <p:cNvSpPr/>
            <p:nvPr/>
          </p:nvSpPr>
          <p:spPr bwMode="auto">
            <a:xfrm>
              <a:off x="5312425" y="4358094"/>
              <a:ext cx="188771" cy="188771"/>
            </a:xfrm>
            <a:prstGeom prst="ellipse">
              <a:avLst/>
            </a:prstGeom>
            <a:solidFill>
              <a:srgbClr val="B6000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DC4D8126-DC8B-1E69-FF14-5318FADB373C}"/>
              </a:ext>
            </a:extLst>
          </p:cNvPr>
          <p:cNvGrpSpPr/>
          <p:nvPr/>
        </p:nvGrpSpPr>
        <p:grpSpPr>
          <a:xfrm>
            <a:off x="5907589" y="5178443"/>
            <a:ext cx="2300009" cy="275588"/>
            <a:chOff x="7376720" y="4717625"/>
            <a:chExt cx="4112807" cy="367451"/>
          </a:xfrm>
        </p:grpSpPr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35E51A63-B926-0C00-B494-9AA7D8A14612}"/>
                </a:ext>
              </a:extLst>
            </p:cNvPr>
            <p:cNvSpPr/>
            <p:nvPr/>
          </p:nvSpPr>
          <p:spPr bwMode="auto">
            <a:xfrm>
              <a:off x="7376720" y="4805953"/>
              <a:ext cx="4059736" cy="235008"/>
            </a:xfrm>
            <a:prstGeom prst="roundRect">
              <a:avLst>
                <a:gd name="adj" fmla="val 50000"/>
              </a:avLst>
            </a:prstGeom>
            <a:solidFill>
              <a:srgbClr val="00B05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8B420B2A-365E-4E8D-04E9-717057E4DE57}"/>
                </a:ext>
              </a:extLst>
            </p:cNvPr>
            <p:cNvSpPr/>
            <p:nvPr/>
          </p:nvSpPr>
          <p:spPr>
            <a:xfrm>
              <a:off x="7444404" y="4717625"/>
              <a:ext cx="4045123" cy="36745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把父设置为当前节点并左旋，再进行判断</a:t>
              </a:r>
            </a:p>
          </p:txBody>
        </p:sp>
      </p:grpSp>
      <p:sp>
        <p:nvSpPr>
          <p:cNvPr id="22" name="标题 1">
            <a:extLst>
              <a:ext uri="{FF2B5EF4-FFF2-40B4-BE49-F238E27FC236}">
                <a16:creationId xmlns:a16="http://schemas.microsoft.com/office/drawing/2014/main" id="{204B0498-F55E-4513-A81F-B2D4412D1F9D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C000E380-D83D-4F6C-9D6B-85C0018791A6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2279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E90CFB-5013-47B8-BF42-0596C1816431}"/>
              </a:ext>
            </a:extLst>
          </p:cNvPr>
          <p:cNvSpPr txBox="1"/>
          <p:nvPr/>
        </p:nvSpPr>
        <p:spPr>
          <a:xfrm>
            <a:off x="658314" y="1678109"/>
            <a:ext cx="3514725" cy="5662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TreeSet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排序 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自然排序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b="1" dirty="0">
              <a:solidFill>
                <a:srgbClr val="AD2B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50B4453D-271E-76D4-FD1B-62A3C99A48F1}"/>
              </a:ext>
            </a:extLst>
          </p:cNvPr>
          <p:cNvSpPr txBox="1"/>
          <p:nvPr/>
        </p:nvSpPr>
        <p:spPr>
          <a:xfrm>
            <a:off x="658315" y="2238846"/>
            <a:ext cx="2616629" cy="13161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类实现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Comparable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重写 </a:t>
            </a:r>
            <a:r>
              <a:rPr lang="en-US" altLang="zh-CN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compareTo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根据方法的返回值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来组织排序规则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负数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左边走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正数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右边走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0  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不存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9039FBB-CF05-8E70-74B0-38832E24A529}"/>
              </a:ext>
            </a:extLst>
          </p:cNvPr>
          <p:cNvSpPr txBox="1"/>
          <p:nvPr/>
        </p:nvSpPr>
        <p:spPr>
          <a:xfrm>
            <a:off x="658314" y="3665590"/>
            <a:ext cx="3514725" cy="1061829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implements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Comparable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@Override</a:t>
            </a:r>
            <a:b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int </a:t>
            </a:r>
            <a:r>
              <a:rPr lang="zh-CN" altLang="zh-CN" sz="9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compareTo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o) 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return this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- o.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endParaRPr lang="zh-CN" altLang="zh-CN" sz="900" dirty="0">
              <a:latin typeface="Consolas" panose="020B0609020204030204" pitchFamily="49" charset="0"/>
            </a:endParaRPr>
          </a:p>
          <a:p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900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650141-1EE0-7EBD-9B13-EEE42730BAFC}"/>
              </a:ext>
            </a:extLst>
          </p:cNvPr>
          <p:cNvSpPr txBox="1"/>
          <p:nvPr/>
        </p:nvSpPr>
        <p:spPr>
          <a:xfrm>
            <a:off x="658314" y="4783741"/>
            <a:ext cx="3514725" cy="923330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TreeSet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TreeSet&lt;&gt;();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王五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25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张三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23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李四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24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en-US" altLang="zh-CN" sz="9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赵六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26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zh-CN" altLang="zh-CN" sz="1500" dirty="0">
              <a:latin typeface="Consolas" panose="020B0609020204030204" pitchFamily="49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8FF4369-7830-BE90-42FD-EA8AD6E30471}"/>
              </a:ext>
            </a:extLst>
          </p:cNvPr>
          <p:cNvSpPr/>
          <p:nvPr/>
        </p:nvSpPr>
        <p:spPr>
          <a:xfrm>
            <a:off x="5943600" y="1892927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王五，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25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FE01C4-5E86-5147-27F7-9DAA297E6BB3}"/>
              </a:ext>
            </a:extLst>
          </p:cNvPr>
          <p:cNvSpPr/>
          <p:nvPr/>
        </p:nvSpPr>
        <p:spPr>
          <a:xfrm>
            <a:off x="658314" y="5361507"/>
            <a:ext cx="3514725" cy="131693"/>
          </a:xfrm>
          <a:prstGeom prst="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EA4DFC5-DFE8-BE01-96CF-A7E525E3E1F1}"/>
              </a:ext>
            </a:extLst>
          </p:cNvPr>
          <p:cNvSpPr/>
          <p:nvPr/>
        </p:nvSpPr>
        <p:spPr>
          <a:xfrm>
            <a:off x="4274241" y="3597379"/>
            <a:ext cx="1202635" cy="429637"/>
          </a:xfrm>
          <a:prstGeom prst="roundRect">
            <a:avLst/>
          </a:pr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张三，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620C8D9-EE2B-DE53-DDB0-C2D38B0BF557}"/>
              </a:ext>
            </a:extLst>
          </p:cNvPr>
          <p:cNvSpPr/>
          <p:nvPr/>
        </p:nvSpPr>
        <p:spPr>
          <a:xfrm>
            <a:off x="4967262" y="2745735"/>
            <a:ext cx="1202635" cy="429637"/>
          </a:xfrm>
          <a:prstGeom prst="roundRect">
            <a:avLst/>
          </a:pr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李四，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EF73A16-A980-4AFA-CF98-960D33D78926}"/>
              </a:ext>
            </a:extLst>
          </p:cNvPr>
          <p:cNvSpPr/>
          <p:nvPr/>
        </p:nvSpPr>
        <p:spPr>
          <a:xfrm>
            <a:off x="925332" y="3920126"/>
            <a:ext cx="2737237" cy="638093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999F0C-928D-E8A5-694E-DD6760DED4B9}"/>
              </a:ext>
            </a:extLst>
          </p:cNvPr>
          <p:cNvSpPr txBox="1"/>
          <p:nvPr/>
        </p:nvSpPr>
        <p:spPr>
          <a:xfrm>
            <a:off x="3065524" y="3175372"/>
            <a:ext cx="1143262" cy="415498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24</a:t>
            </a:r>
          </a:p>
          <a:p>
            <a:pPr algn="l"/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o.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25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A071516-67E2-AC89-EC0D-0D03D595B9C5}"/>
              </a:ext>
            </a:extLst>
          </p:cNvPr>
          <p:cNvSpPr txBox="1"/>
          <p:nvPr/>
        </p:nvSpPr>
        <p:spPr>
          <a:xfrm>
            <a:off x="3065524" y="3175372"/>
            <a:ext cx="1143262" cy="415498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24</a:t>
            </a:r>
          </a:p>
          <a:p>
            <a:pPr algn="l"/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o.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23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FB301385-DD91-256B-78E7-8E97F04A2DBC}"/>
              </a:ext>
            </a:extLst>
          </p:cNvPr>
          <p:cNvSpPr/>
          <p:nvPr/>
        </p:nvSpPr>
        <p:spPr>
          <a:xfrm>
            <a:off x="7283052" y="2725908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Nil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4BD32715-0C20-AC6D-B382-EF9507106352}"/>
              </a:ext>
            </a:extLst>
          </p:cNvPr>
          <p:cNvGrpSpPr/>
          <p:nvPr/>
        </p:nvGrpSpPr>
        <p:grpSpPr>
          <a:xfrm>
            <a:off x="5532540" y="4848648"/>
            <a:ext cx="3044802" cy="275588"/>
            <a:chOff x="7376720" y="5321860"/>
            <a:chExt cx="4059736" cy="367450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249A5B06-400F-0CD0-FF20-5E9B6D622BEF}"/>
                </a:ext>
              </a:extLst>
            </p:cNvPr>
            <p:cNvSpPr/>
            <p:nvPr/>
          </p:nvSpPr>
          <p:spPr bwMode="auto">
            <a:xfrm>
              <a:off x="7376720" y="5395161"/>
              <a:ext cx="4059736" cy="235008"/>
            </a:xfrm>
            <a:prstGeom prst="roundRect">
              <a:avLst>
                <a:gd name="adj" fmla="val 50000"/>
              </a:avLst>
            </a:prstGeom>
            <a:solidFill>
              <a:srgbClr val="69707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4AB783D-B0E7-911E-900B-A145B71E41B2}"/>
                </a:ext>
              </a:extLst>
            </p:cNvPr>
            <p:cNvSpPr/>
            <p:nvPr/>
          </p:nvSpPr>
          <p:spPr>
            <a:xfrm>
              <a:off x="7434879" y="5321860"/>
              <a:ext cx="1785104" cy="36745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将“父”设为“黑色</a:t>
              </a:r>
              <a:r>
                <a:rPr lang="en-US" altLang="zh-CN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”</a:t>
              </a: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3D155DA-7187-933D-5CD2-1FA540FF3751}"/>
              </a:ext>
            </a:extLst>
          </p:cNvPr>
          <p:cNvGrpSpPr/>
          <p:nvPr/>
        </p:nvGrpSpPr>
        <p:grpSpPr>
          <a:xfrm>
            <a:off x="6228043" y="4377557"/>
            <a:ext cx="1392440" cy="457430"/>
            <a:chOff x="5234774" y="5190764"/>
            <a:chExt cx="1856587" cy="609906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65F22D75-43DC-F22A-9873-59FB05A13FE5}"/>
                </a:ext>
              </a:extLst>
            </p:cNvPr>
            <p:cNvGrpSpPr/>
            <p:nvPr/>
          </p:nvGrpSpPr>
          <p:grpSpPr>
            <a:xfrm>
              <a:off x="5234774" y="5285150"/>
              <a:ext cx="1856587" cy="515520"/>
              <a:chOff x="5234774" y="5484494"/>
              <a:chExt cx="1856587" cy="515520"/>
            </a:xfrm>
          </p:grpSpPr>
          <p:sp>
            <p:nvSpPr>
              <p:cNvPr id="27" name="矩形: 圆角 26">
                <a:extLst>
                  <a:ext uri="{FF2B5EF4-FFF2-40B4-BE49-F238E27FC236}">
                    <a16:creationId xmlns:a16="http://schemas.microsoft.com/office/drawing/2014/main" id="{0BA4C7AA-7E66-587F-C5D3-A58ED568DEF1}"/>
                  </a:ext>
                </a:extLst>
              </p:cNvPr>
              <p:cNvSpPr/>
              <p:nvPr/>
            </p:nvSpPr>
            <p:spPr bwMode="auto">
              <a:xfrm>
                <a:off x="5234774" y="5484494"/>
                <a:ext cx="1856587" cy="507819"/>
              </a:xfrm>
              <a:prstGeom prst="roundRect">
                <a:avLst>
                  <a:gd name="adj" fmla="val 10906"/>
                </a:avLst>
              </a:prstGeom>
              <a:solidFill>
                <a:schemeClr val="bg1"/>
              </a:solidFill>
              <a:ln w="9525"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阿里巴巴普惠体" panose="00020600040101010101"/>
                </a:endParaRPr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AE01D803-2E28-AB68-D1F7-DC5C794D11B5}"/>
                  </a:ext>
                </a:extLst>
              </p:cNvPr>
              <p:cNvSpPr/>
              <p:nvPr/>
            </p:nvSpPr>
            <p:spPr>
              <a:xfrm>
                <a:off x="5270514" y="5507571"/>
                <a:ext cx="1785106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zh-CN" altLang="en-US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阿里巴巴普惠体" panose="00020600040101010101"/>
                    <a:cs typeface="阿里巴巴普惠体" panose="00020600040101010101" pitchFamily="18" charset="-122"/>
                    <a:sym typeface="阿里巴巴普惠体" panose="00020600040101010101"/>
                  </a:rPr>
                  <a:t>叔叔黑色</a:t>
                </a:r>
                <a:endParaRPr lang="en-US" altLang="zh-CN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endParaRPr>
              </a:p>
              <a:p>
                <a:pPr algn="ctr">
                  <a:defRPr/>
                </a:pPr>
                <a:r>
                  <a:rPr lang="zh-CN" altLang="en-US" sz="900" dirty="0">
                    <a:latin typeface="微软雅黑" panose="020B0503020204020204" pitchFamily="34" charset="-122"/>
                    <a:ea typeface="阿里巴巴普惠体" panose="00020600040101010101"/>
                    <a:cs typeface="阿里巴巴普惠体" panose="00020600040101010101" pitchFamily="18" charset="-122"/>
                    <a:sym typeface="阿里巴巴普惠体" panose="00020600040101010101"/>
                  </a:rPr>
                  <a:t>当前节点是父的左孩子</a:t>
                </a:r>
              </a:p>
            </p:txBody>
          </p:sp>
        </p:grp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F6B4BC31-764A-5978-023D-EDFCD583F23B}"/>
                </a:ext>
              </a:extLst>
            </p:cNvPr>
            <p:cNvSpPr/>
            <p:nvPr/>
          </p:nvSpPr>
          <p:spPr bwMode="auto">
            <a:xfrm>
              <a:off x="5312425" y="5190764"/>
              <a:ext cx="188771" cy="188771"/>
            </a:xfrm>
            <a:prstGeom prst="ellipse">
              <a:avLst/>
            </a:prstGeom>
            <a:solidFill>
              <a:srgbClr val="B6000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3</a:t>
              </a:r>
              <a:endParaRPr lang="zh-CN" altLang="en-US" sz="9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B70CBE36-9736-E064-7368-DEDE2AEA27DD}"/>
              </a:ext>
            </a:extLst>
          </p:cNvPr>
          <p:cNvGrpSpPr/>
          <p:nvPr/>
        </p:nvGrpSpPr>
        <p:grpSpPr>
          <a:xfrm>
            <a:off x="5532540" y="5070237"/>
            <a:ext cx="3044802" cy="275588"/>
            <a:chOff x="7376720" y="5617314"/>
            <a:chExt cx="4059736" cy="367451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1EBDA0FD-6CE1-8B8E-FDE1-548A177A51AB}"/>
                </a:ext>
              </a:extLst>
            </p:cNvPr>
            <p:cNvSpPr/>
            <p:nvPr/>
          </p:nvSpPr>
          <p:spPr bwMode="auto">
            <a:xfrm>
              <a:off x="7376720" y="5684721"/>
              <a:ext cx="4059736" cy="235008"/>
            </a:xfrm>
            <a:prstGeom prst="roundRect">
              <a:avLst>
                <a:gd name="adj" fmla="val 50000"/>
              </a:avLst>
            </a:prstGeom>
            <a:solidFill>
              <a:srgbClr val="69707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B8E2C26F-1030-A84D-9032-332F9EE1E3C4}"/>
                </a:ext>
              </a:extLst>
            </p:cNvPr>
            <p:cNvSpPr/>
            <p:nvPr/>
          </p:nvSpPr>
          <p:spPr>
            <a:xfrm>
              <a:off x="7444404" y="5617314"/>
              <a:ext cx="1938992" cy="36745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将“祖父”变为“红色”</a:t>
              </a: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8CFF1C9-2CE2-B5BA-429B-4FAF82219057}"/>
              </a:ext>
            </a:extLst>
          </p:cNvPr>
          <p:cNvGrpSpPr/>
          <p:nvPr/>
        </p:nvGrpSpPr>
        <p:grpSpPr>
          <a:xfrm>
            <a:off x="5532540" y="5288292"/>
            <a:ext cx="3044802" cy="275588"/>
            <a:chOff x="7376720" y="5755728"/>
            <a:chExt cx="4059736" cy="367450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0694A60C-7043-A544-8A95-9D5D85AE6BE8}"/>
                </a:ext>
              </a:extLst>
            </p:cNvPr>
            <p:cNvSpPr/>
            <p:nvPr/>
          </p:nvSpPr>
          <p:spPr bwMode="auto">
            <a:xfrm>
              <a:off x="7376720" y="5830529"/>
              <a:ext cx="4059736" cy="235008"/>
            </a:xfrm>
            <a:prstGeom prst="roundRect">
              <a:avLst>
                <a:gd name="adj" fmla="val 50000"/>
              </a:avLst>
            </a:prstGeom>
            <a:solidFill>
              <a:srgbClr val="69707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B6641600-7BB5-D917-8491-9207B6458D30}"/>
                </a:ext>
              </a:extLst>
            </p:cNvPr>
            <p:cNvSpPr/>
            <p:nvPr/>
          </p:nvSpPr>
          <p:spPr>
            <a:xfrm>
              <a:off x="7442283" y="5755728"/>
              <a:ext cx="1785104" cy="36745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以祖父为支点进行右旋</a:t>
              </a:r>
            </a:p>
          </p:txBody>
        </p:sp>
      </p:grpSp>
      <p:sp>
        <p:nvSpPr>
          <p:cNvPr id="35" name="标题 1">
            <a:extLst>
              <a:ext uri="{FF2B5EF4-FFF2-40B4-BE49-F238E27FC236}">
                <a16:creationId xmlns:a16="http://schemas.microsoft.com/office/drawing/2014/main" id="{58D99053-F329-4277-9E29-BB99352B5335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884ECB82-7E52-4C6D-82A0-CC9B73F588DF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5466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E90CFB-5013-47B8-BF42-0596C1816431}"/>
              </a:ext>
            </a:extLst>
          </p:cNvPr>
          <p:cNvSpPr txBox="1"/>
          <p:nvPr/>
        </p:nvSpPr>
        <p:spPr>
          <a:xfrm>
            <a:off x="658314" y="1678109"/>
            <a:ext cx="3514725" cy="5662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TreeSet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排序 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自然排序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b="1" dirty="0">
              <a:solidFill>
                <a:srgbClr val="AD2B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50B4453D-271E-76D4-FD1B-62A3C99A48F1}"/>
              </a:ext>
            </a:extLst>
          </p:cNvPr>
          <p:cNvSpPr txBox="1"/>
          <p:nvPr/>
        </p:nvSpPr>
        <p:spPr>
          <a:xfrm>
            <a:off x="658315" y="2238846"/>
            <a:ext cx="2616629" cy="13161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类实现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Comparable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重写 </a:t>
            </a:r>
            <a:r>
              <a:rPr lang="en-US" altLang="zh-CN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compareTo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根据方法的返回值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来组织排序规则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负数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左边走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正数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右边走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0  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不存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9039FBB-CF05-8E70-74B0-38832E24A529}"/>
              </a:ext>
            </a:extLst>
          </p:cNvPr>
          <p:cNvSpPr txBox="1"/>
          <p:nvPr/>
        </p:nvSpPr>
        <p:spPr>
          <a:xfrm>
            <a:off x="658314" y="3665590"/>
            <a:ext cx="3514725" cy="1061829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implements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Comparable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@Override</a:t>
            </a:r>
            <a:b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int </a:t>
            </a:r>
            <a:r>
              <a:rPr lang="zh-CN" altLang="zh-CN" sz="9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compareTo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o) 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return this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- o.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endParaRPr lang="zh-CN" altLang="zh-CN" sz="900" dirty="0">
              <a:latin typeface="Consolas" panose="020B0609020204030204" pitchFamily="49" charset="0"/>
            </a:endParaRPr>
          </a:p>
          <a:p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900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650141-1EE0-7EBD-9B13-EEE42730BAFC}"/>
              </a:ext>
            </a:extLst>
          </p:cNvPr>
          <p:cNvSpPr txBox="1"/>
          <p:nvPr/>
        </p:nvSpPr>
        <p:spPr>
          <a:xfrm>
            <a:off x="658314" y="4783741"/>
            <a:ext cx="3514725" cy="923330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TreeSet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TreeSet&lt;&gt;();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王五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25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张三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23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李四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24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en-US" altLang="zh-CN" sz="9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赵六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26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zh-CN" altLang="zh-CN" sz="1500" dirty="0">
              <a:latin typeface="Consolas" panose="020B0609020204030204" pitchFamily="49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8FF4369-7830-BE90-42FD-EA8AD6E30471}"/>
              </a:ext>
            </a:extLst>
          </p:cNvPr>
          <p:cNvSpPr/>
          <p:nvPr/>
        </p:nvSpPr>
        <p:spPr>
          <a:xfrm>
            <a:off x="5943600" y="1892927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王五，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25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FE01C4-5E86-5147-27F7-9DAA297E6BB3}"/>
              </a:ext>
            </a:extLst>
          </p:cNvPr>
          <p:cNvSpPr/>
          <p:nvPr/>
        </p:nvSpPr>
        <p:spPr>
          <a:xfrm>
            <a:off x="658314" y="5361507"/>
            <a:ext cx="3514725" cy="131693"/>
          </a:xfrm>
          <a:prstGeom prst="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EA4DFC5-DFE8-BE01-96CF-A7E525E3E1F1}"/>
              </a:ext>
            </a:extLst>
          </p:cNvPr>
          <p:cNvSpPr/>
          <p:nvPr/>
        </p:nvSpPr>
        <p:spPr>
          <a:xfrm>
            <a:off x="4274241" y="3597379"/>
            <a:ext cx="1202635" cy="429637"/>
          </a:xfrm>
          <a:prstGeom prst="roundRect">
            <a:avLst/>
          </a:pr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张三，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620C8D9-EE2B-DE53-DDB0-C2D38B0BF557}"/>
              </a:ext>
            </a:extLst>
          </p:cNvPr>
          <p:cNvSpPr/>
          <p:nvPr/>
        </p:nvSpPr>
        <p:spPr>
          <a:xfrm>
            <a:off x="4967262" y="2745735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李四，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EF73A16-A980-4AFA-CF98-960D33D78926}"/>
              </a:ext>
            </a:extLst>
          </p:cNvPr>
          <p:cNvSpPr/>
          <p:nvPr/>
        </p:nvSpPr>
        <p:spPr>
          <a:xfrm>
            <a:off x="925332" y="3920126"/>
            <a:ext cx="2737237" cy="638093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999F0C-928D-E8A5-694E-DD6760DED4B9}"/>
              </a:ext>
            </a:extLst>
          </p:cNvPr>
          <p:cNvSpPr txBox="1"/>
          <p:nvPr/>
        </p:nvSpPr>
        <p:spPr>
          <a:xfrm>
            <a:off x="3065524" y="3175372"/>
            <a:ext cx="1143262" cy="415498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24</a:t>
            </a:r>
          </a:p>
          <a:p>
            <a:pPr algn="l"/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o.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25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A071516-67E2-AC89-EC0D-0D03D595B9C5}"/>
              </a:ext>
            </a:extLst>
          </p:cNvPr>
          <p:cNvSpPr txBox="1"/>
          <p:nvPr/>
        </p:nvSpPr>
        <p:spPr>
          <a:xfrm>
            <a:off x="3065524" y="3175372"/>
            <a:ext cx="1143262" cy="415498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24</a:t>
            </a:r>
          </a:p>
          <a:p>
            <a:pPr algn="l"/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o.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23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FB301385-DD91-256B-78E7-8E97F04A2DBC}"/>
              </a:ext>
            </a:extLst>
          </p:cNvPr>
          <p:cNvSpPr/>
          <p:nvPr/>
        </p:nvSpPr>
        <p:spPr>
          <a:xfrm>
            <a:off x="7283052" y="2725908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Nil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4BD32715-0C20-AC6D-B382-EF9507106352}"/>
              </a:ext>
            </a:extLst>
          </p:cNvPr>
          <p:cNvGrpSpPr/>
          <p:nvPr/>
        </p:nvGrpSpPr>
        <p:grpSpPr>
          <a:xfrm>
            <a:off x="5532540" y="4848648"/>
            <a:ext cx="3044802" cy="275588"/>
            <a:chOff x="7376720" y="5321860"/>
            <a:chExt cx="4059736" cy="367450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249A5B06-400F-0CD0-FF20-5E9B6D622BEF}"/>
                </a:ext>
              </a:extLst>
            </p:cNvPr>
            <p:cNvSpPr/>
            <p:nvPr/>
          </p:nvSpPr>
          <p:spPr bwMode="auto">
            <a:xfrm>
              <a:off x="7376720" y="5395161"/>
              <a:ext cx="4059736" cy="235008"/>
            </a:xfrm>
            <a:prstGeom prst="roundRect">
              <a:avLst>
                <a:gd name="adj" fmla="val 50000"/>
              </a:avLst>
            </a:prstGeom>
            <a:solidFill>
              <a:srgbClr val="69707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4AB783D-B0E7-911E-900B-A145B71E41B2}"/>
                </a:ext>
              </a:extLst>
            </p:cNvPr>
            <p:cNvSpPr/>
            <p:nvPr/>
          </p:nvSpPr>
          <p:spPr>
            <a:xfrm>
              <a:off x="7434879" y="5321860"/>
              <a:ext cx="1785104" cy="36745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将“父”设为“黑色</a:t>
              </a:r>
              <a:r>
                <a:rPr lang="en-US" altLang="zh-CN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”</a:t>
              </a: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3D155DA-7187-933D-5CD2-1FA540FF3751}"/>
              </a:ext>
            </a:extLst>
          </p:cNvPr>
          <p:cNvGrpSpPr/>
          <p:nvPr/>
        </p:nvGrpSpPr>
        <p:grpSpPr>
          <a:xfrm>
            <a:off x="6228043" y="4377557"/>
            <a:ext cx="1392440" cy="457430"/>
            <a:chOff x="5234774" y="5190764"/>
            <a:chExt cx="1856587" cy="609906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65F22D75-43DC-F22A-9873-59FB05A13FE5}"/>
                </a:ext>
              </a:extLst>
            </p:cNvPr>
            <p:cNvGrpSpPr/>
            <p:nvPr/>
          </p:nvGrpSpPr>
          <p:grpSpPr>
            <a:xfrm>
              <a:off x="5234774" y="5285150"/>
              <a:ext cx="1856587" cy="515520"/>
              <a:chOff x="5234774" y="5484494"/>
              <a:chExt cx="1856587" cy="515520"/>
            </a:xfrm>
          </p:grpSpPr>
          <p:sp>
            <p:nvSpPr>
              <p:cNvPr id="27" name="矩形: 圆角 26">
                <a:extLst>
                  <a:ext uri="{FF2B5EF4-FFF2-40B4-BE49-F238E27FC236}">
                    <a16:creationId xmlns:a16="http://schemas.microsoft.com/office/drawing/2014/main" id="{0BA4C7AA-7E66-587F-C5D3-A58ED568DEF1}"/>
                  </a:ext>
                </a:extLst>
              </p:cNvPr>
              <p:cNvSpPr/>
              <p:nvPr/>
            </p:nvSpPr>
            <p:spPr bwMode="auto">
              <a:xfrm>
                <a:off x="5234774" y="5484494"/>
                <a:ext cx="1856587" cy="507819"/>
              </a:xfrm>
              <a:prstGeom prst="roundRect">
                <a:avLst>
                  <a:gd name="adj" fmla="val 10906"/>
                </a:avLst>
              </a:prstGeom>
              <a:solidFill>
                <a:schemeClr val="bg1"/>
              </a:solidFill>
              <a:ln w="9525"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阿里巴巴普惠体" panose="00020600040101010101"/>
                </a:endParaRPr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AE01D803-2E28-AB68-D1F7-DC5C794D11B5}"/>
                  </a:ext>
                </a:extLst>
              </p:cNvPr>
              <p:cNvSpPr/>
              <p:nvPr/>
            </p:nvSpPr>
            <p:spPr>
              <a:xfrm>
                <a:off x="5270514" y="5507571"/>
                <a:ext cx="1785106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zh-CN" altLang="en-US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阿里巴巴普惠体" panose="00020600040101010101"/>
                    <a:cs typeface="阿里巴巴普惠体" panose="00020600040101010101" pitchFamily="18" charset="-122"/>
                    <a:sym typeface="阿里巴巴普惠体" panose="00020600040101010101"/>
                  </a:rPr>
                  <a:t>叔叔黑色</a:t>
                </a:r>
                <a:endParaRPr lang="en-US" altLang="zh-CN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endParaRPr>
              </a:p>
              <a:p>
                <a:pPr algn="ctr">
                  <a:defRPr/>
                </a:pPr>
                <a:r>
                  <a:rPr lang="zh-CN" altLang="en-US" sz="900" dirty="0">
                    <a:latin typeface="微软雅黑" panose="020B0503020204020204" pitchFamily="34" charset="-122"/>
                    <a:ea typeface="阿里巴巴普惠体" panose="00020600040101010101"/>
                    <a:cs typeface="阿里巴巴普惠体" panose="00020600040101010101" pitchFamily="18" charset="-122"/>
                    <a:sym typeface="阿里巴巴普惠体" panose="00020600040101010101"/>
                  </a:rPr>
                  <a:t>当前节点是父的左孩子</a:t>
                </a:r>
              </a:p>
            </p:txBody>
          </p:sp>
        </p:grp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F6B4BC31-764A-5978-023D-EDFCD583F23B}"/>
                </a:ext>
              </a:extLst>
            </p:cNvPr>
            <p:cNvSpPr/>
            <p:nvPr/>
          </p:nvSpPr>
          <p:spPr bwMode="auto">
            <a:xfrm>
              <a:off x="5312425" y="5190764"/>
              <a:ext cx="188771" cy="188771"/>
            </a:xfrm>
            <a:prstGeom prst="ellipse">
              <a:avLst/>
            </a:prstGeom>
            <a:solidFill>
              <a:srgbClr val="B6000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3</a:t>
              </a:r>
              <a:endParaRPr lang="zh-CN" altLang="en-US" sz="9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B70CBE36-9736-E064-7368-DEDE2AEA27DD}"/>
              </a:ext>
            </a:extLst>
          </p:cNvPr>
          <p:cNvGrpSpPr/>
          <p:nvPr/>
        </p:nvGrpSpPr>
        <p:grpSpPr>
          <a:xfrm>
            <a:off x="5532540" y="5070237"/>
            <a:ext cx="3044802" cy="275588"/>
            <a:chOff x="7376720" y="5617314"/>
            <a:chExt cx="4059736" cy="367451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1EBDA0FD-6CE1-8B8E-FDE1-548A177A51AB}"/>
                </a:ext>
              </a:extLst>
            </p:cNvPr>
            <p:cNvSpPr/>
            <p:nvPr/>
          </p:nvSpPr>
          <p:spPr bwMode="auto">
            <a:xfrm>
              <a:off x="7376720" y="5684721"/>
              <a:ext cx="4059736" cy="235008"/>
            </a:xfrm>
            <a:prstGeom prst="roundRect">
              <a:avLst>
                <a:gd name="adj" fmla="val 50000"/>
              </a:avLst>
            </a:prstGeom>
            <a:solidFill>
              <a:srgbClr val="69707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B8E2C26F-1030-A84D-9032-332F9EE1E3C4}"/>
                </a:ext>
              </a:extLst>
            </p:cNvPr>
            <p:cNvSpPr/>
            <p:nvPr/>
          </p:nvSpPr>
          <p:spPr>
            <a:xfrm>
              <a:off x="7444404" y="5617314"/>
              <a:ext cx="1938992" cy="36745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将“祖父”变为“红色”</a:t>
              </a: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8CFF1C9-2CE2-B5BA-429B-4FAF82219057}"/>
              </a:ext>
            </a:extLst>
          </p:cNvPr>
          <p:cNvGrpSpPr/>
          <p:nvPr/>
        </p:nvGrpSpPr>
        <p:grpSpPr>
          <a:xfrm>
            <a:off x="5532540" y="5288292"/>
            <a:ext cx="3044802" cy="275588"/>
            <a:chOff x="7376720" y="5755728"/>
            <a:chExt cx="4059736" cy="367450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0694A60C-7043-A544-8A95-9D5D85AE6BE8}"/>
                </a:ext>
              </a:extLst>
            </p:cNvPr>
            <p:cNvSpPr/>
            <p:nvPr/>
          </p:nvSpPr>
          <p:spPr bwMode="auto">
            <a:xfrm>
              <a:off x="7376720" y="5830529"/>
              <a:ext cx="4059736" cy="235008"/>
            </a:xfrm>
            <a:prstGeom prst="roundRect">
              <a:avLst>
                <a:gd name="adj" fmla="val 50000"/>
              </a:avLst>
            </a:prstGeom>
            <a:solidFill>
              <a:srgbClr val="69707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B6641600-7BB5-D917-8491-9207B6458D30}"/>
                </a:ext>
              </a:extLst>
            </p:cNvPr>
            <p:cNvSpPr/>
            <p:nvPr/>
          </p:nvSpPr>
          <p:spPr>
            <a:xfrm>
              <a:off x="7442283" y="5755728"/>
              <a:ext cx="1785104" cy="36745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以祖父为支点进行右旋</a:t>
              </a:r>
            </a:p>
          </p:txBody>
        </p:sp>
      </p:grpSp>
      <p:sp>
        <p:nvSpPr>
          <p:cNvPr id="35" name="标题 1">
            <a:extLst>
              <a:ext uri="{FF2B5EF4-FFF2-40B4-BE49-F238E27FC236}">
                <a16:creationId xmlns:a16="http://schemas.microsoft.com/office/drawing/2014/main" id="{D92A42EB-619A-4B1B-ABC0-640B310DB822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70DE8B29-BB2F-4D42-BB33-520B23B80A18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2859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E90CFB-5013-47B8-BF42-0596C1816431}"/>
              </a:ext>
            </a:extLst>
          </p:cNvPr>
          <p:cNvSpPr txBox="1"/>
          <p:nvPr/>
        </p:nvSpPr>
        <p:spPr>
          <a:xfrm>
            <a:off x="658314" y="1678109"/>
            <a:ext cx="3514725" cy="5662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TreeSet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排序 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自然排序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b="1" dirty="0">
              <a:solidFill>
                <a:srgbClr val="AD2B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50B4453D-271E-76D4-FD1B-62A3C99A48F1}"/>
              </a:ext>
            </a:extLst>
          </p:cNvPr>
          <p:cNvSpPr txBox="1"/>
          <p:nvPr/>
        </p:nvSpPr>
        <p:spPr>
          <a:xfrm>
            <a:off x="658315" y="2238846"/>
            <a:ext cx="2616629" cy="13161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类实现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Comparable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重写 </a:t>
            </a:r>
            <a:r>
              <a:rPr lang="en-US" altLang="zh-CN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compareTo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根据方法的返回值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来组织排序规则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负数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左边走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正数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右边走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0  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不存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9039FBB-CF05-8E70-74B0-38832E24A529}"/>
              </a:ext>
            </a:extLst>
          </p:cNvPr>
          <p:cNvSpPr txBox="1"/>
          <p:nvPr/>
        </p:nvSpPr>
        <p:spPr>
          <a:xfrm>
            <a:off x="658314" y="3665590"/>
            <a:ext cx="3514725" cy="1061829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implements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Comparable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@Override</a:t>
            </a:r>
            <a:b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int </a:t>
            </a:r>
            <a:r>
              <a:rPr lang="zh-CN" altLang="zh-CN" sz="9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compareTo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o) 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return this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- o.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endParaRPr lang="zh-CN" altLang="zh-CN" sz="900" dirty="0">
              <a:latin typeface="Consolas" panose="020B0609020204030204" pitchFamily="49" charset="0"/>
            </a:endParaRPr>
          </a:p>
          <a:p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900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650141-1EE0-7EBD-9B13-EEE42730BAFC}"/>
              </a:ext>
            </a:extLst>
          </p:cNvPr>
          <p:cNvSpPr txBox="1"/>
          <p:nvPr/>
        </p:nvSpPr>
        <p:spPr>
          <a:xfrm>
            <a:off x="658314" y="4783741"/>
            <a:ext cx="3514725" cy="923330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TreeSet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TreeSet&lt;&gt;();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王五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25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张三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23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李四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24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en-US" altLang="zh-CN" sz="9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赵六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26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zh-CN" altLang="zh-CN" sz="1500" dirty="0">
              <a:latin typeface="Consolas" panose="020B0609020204030204" pitchFamily="49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8FF4369-7830-BE90-42FD-EA8AD6E30471}"/>
              </a:ext>
            </a:extLst>
          </p:cNvPr>
          <p:cNvSpPr/>
          <p:nvPr/>
        </p:nvSpPr>
        <p:spPr>
          <a:xfrm>
            <a:off x="5943600" y="1892927"/>
            <a:ext cx="1202635" cy="429637"/>
          </a:xfrm>
          <a:prstGeom prst="roundRect">
            <a:avLst/>
          </a:prstGeom>
          <a:solidFill>
            <a:srgbClr val="C0504D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王五，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25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FE01C4-5E86-5147-27F7-9DAA297E6BB3}"/>
              </a:ext>
            </a:extLst>
          </p:cNvPr>
          <p:cNvSpPr/>
          <p:nvPr/>
        </p:nvSpPr>
        <p:spPr>
          <a:xfrm>
            <a:off x="658314" y="5361507"/>
            <a:ext cx="3514725" cy="131693"/>
          </a:xfrm>
          <a:prstGeom prst="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EA4DFC5-DFE8-BE01-96CF-A7E525E3E1F1}"/>
              </a:ext>
            </a:extLst>
          </p:cNvPr>
          <p:cNvSpPr/>
          <p:nvPr/>
        </p:nvSpPr>
        <p:spPr>
          <a:xfrm>
            <a:off x="4274241" y="3597379"/>
            <a:ext cx="1202635" cy="429637"/>
          </a:xfrm>
          <a:prstGeom prst="roundRect">
            <a:avLst/>
          </a:pr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张三，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620C8D9-EE2B-DE53-DDB0-C2D38B0BF557}"/>
              </a:ext>
            </a:extLst>
          </p:cNvPr>
          <p:cNvSpPr/>
          <p:nvPr/>
        </p:nvSpPr>
        <p:spPr>
          <a:xfrm>
            <a:off x="4967262" y="2745735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李四，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EF73A16-A980-4AFA-CF98-960D33D78926}"/>
              </a:ext>
            </a:extLst>
          </p:cNvPr>
          <p:cNvSpPr/>
          <p:nvPr/>
        </p:nvSpPr>
        <p:spPr>
          <a:xfrm>
            <a:off x="925332" y="3920126"/>
            <a:ext cx="2737237" cy="638093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999F0C-928D-E8A5-694E-DD6760DED4B9}"/>
              </a:ext>
            </a:extLst>
          </p:cNvPr>
          <p:cNvSpPr txBox="1"/>
          <p:nvPr/>
        </p:nvSpPr>
        <p:spPr>
          <a:xfrm>
            <a:off x="3065524" y="3175372"/>
            <a:ext cx="1143262" cy="415498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24</a:t>
            </a:r>
          </a:p>
          <a:p>
            <a:pPr algn="l"/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o.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25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A071516-67E2-AC89-EC0D-0D03D595B9C5}"/>
              </a:ext>
            </a:extLst>
          </p:cNvPr>
          <p:cNvSpPr txBox="1"/>
          <p:nvPr/>
        </p:nvSpPr>
        <p:spPr>
          <a:xfrm>
            <a:off x="3065524" y="3175372"/>
            <a:ext cx="1143262" cy="415498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24</a:t>
            </a:r>
          </a:p>
          <a:p>
            <a:pPr algn="l"/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o.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23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FB301385-DD91-256B-78E7-8E97F04A2DBC}"/>
              </a:ext>
            </a:extLst>
          </p:cNvPr>
          <p:cNvSpPr/>
          <p:nvPr/>
        </p:nvSpPr>
        <p:spPr>
          <a:xfrm>
            <a:off x="7283052" y="2725908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Nil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4BD32715-0C20-AC6D-B382-EF9507106352}"/>
              </a:ext>
            </a:extLst>
          </p:cNvPr>
          <p:cNvGrpSpPr/>
          <p:nvPr/>
        </p:nvGrpSpPr>
        <p:grpSpPr>
          <a:xfrm>
            <a:off x="5532540" y="4848648"/>
            <a:ext cx="3044802" cy="275588"/>
            <a:chOff x="7376720" y="5321860"/>
            <a:chExt cx="4059736" cy="367450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249A5B06-400F-0CD0-FF20-5E9B6D622BEF}"/>
                </a:ext>
              </a:extLst>
            </p:cNvPr>
            <p:cNvSpPr/>
            <p:nvPr/>
          </p:nvSpPr>
          <p:spPr bwMode="auto">
            <a:xfrm>
              <a:off x="7376720" y="5395161"/>
              <a:ext cx="4059736" cy="235008"/>
            </a:xfrm>
            <a:prstGeom prst="roundRect">
              <a:avLst>
                <a:gd name="adj" fmla="val 50000"/>
              </a:avLst>
            </a:prstGeom>
            <a:solidFill>
              <a:srgbClr val="69707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4AB783D-B0E7-911E-900B-A145B71E41B2}"/>
                </a:ext>
              </a:extLst>
            </p:cNvPr>
            <p:cNvSpPr/>
            <p:nvPr/>
          </p:nvSpPr>
          <p:spPr>
            <a:xfrm>
              <a:off x="7434879" y="5321860"/>
              <a:ext cx="1785104" cy="36745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将“父”设为“黑色</a:t>
              </a:r>
              <a:r>
                <a:rPr lang="en-US" altLang="zh-CN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”</a:t>
              </a: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3D155DA-7187-933D-5CD2-1FA540FF3751}"/>
              </a:ext>
            </a:extLst>
          </p:cNvPr>
          <p:cNvGrpSpPr/>
          <p:nvPr/>
        </p:nvGrpSpPr>
        <p:grpSpPr>
          <a:xfrm>
            <a:off x="6228043" y="4377557"/>
            <a:ext cx="1392440" cy="457430"/>
            <a:chOff x="5234774" y="5190764"/>
            <a:chExt cx="1856587" cy="609906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65F22D75-43DC-F22A-9873-59FB05A13FE5}"/>
                </a:ext>
              </a:extLst>
            </p:cNvPr>
            <p:cNvGrpSpPr/>
            <p:nvPr/>
          </p:nvGrpSpPr>
          <p:grpSpPr>
            <a:xfrm>
              <a:off x="5234774" y="5285150"/>
              <a:ext cx="1856587" cy="515520"/>
              <a:chOff x="5234774" y="5484494"/>
              <a:chExt cx="1856587" cy="515520"/>
            </a:xfrm>
          </p:grpSpPr>
          <p:sp>
            <p:nvSpPr>
              <p:cNvPr id="27" name="矩形: 圆角 26">
                <a:extLst>
                  <a:ext uri="{FF2B5EF4-FFF2-40B4-BE49-F238E27FC236}">
                    <a16:creationId xmlns:a16="http://schemas.microsoft.com/office/drawing/2014/main" id="{0BA4C7AA-7E66-587F-C5D3-A58ED568DEF1}"/>
                  </a:ext>
                </a:extLst>
              </p:cNvPr>
              <p:cNvSpPr/>
              <p:nvPr/>
            </p:nvSpPr>
            <p:spPr bwMode="auto">
              <a:xfrm>
                <a:off x="5234774" y="5484494"/>
                <a:ext cx="1856587" cy="507819"/>
              </a:xfrm>
              <a:prstGeom prst="roundRect">
                <a:avLst>
                  <a:gd name="adj" fmla="val 10906"/>
                </a:avLst>
              </a:prstGeom>
              <a:solidFill>
                <a:schemeClr val="bg1"/>
              </a:solidFill>
              <a:ln w="9525"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阿里巴巴普惠体" panose="00020600040101010101"/>
                </a:endParaRPr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AE01D803-2E28-AB68-D1F7-DC5C794D11B5}"/>
                  </a:ext>
                </a:extLst>
              </p:cNvPr>
              <p:cNvSpPr/>
              <p:nvPr/>
            </p:nvSpPr>
            <p:spPr>
              <a:xfrm>
                <a:off x="5270514" y="5507571"/>
                <a:ext cx="1785106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zh-CN" altLang="en-US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阿里巴巴普惠体" panose="00020600040101010101"/>
                    <a:cs typeface="阿里巴巴普惠体" panose="00020600040101010101" pitchFamily="18" charset="-122"/>
                    <a:sym typeface="阿里巴巴普惠体" panose="00020600040101010101"/>
                  </a:rPr>
                  <a:t>叔叔黑色</a:t>
                </a:r>
                <a:endParaRPr lang="en-US" altLang="zh-CN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endParaRPr>
              </a:p>
              <a:p>
                <a:pPr algn="ctr">
                  <a:defRPr/>
                </a:pPr>
                <a:r>
                  <a:rPr lang="zh-CN" altLang="en-US" sz="900" dirty="0">
                    <a:latin typeface="微软雅黑" panose="020B0503020204020204" pitchFamily="34" charset="-122"/>
                    <a:ea typeface="阿里巴巴普惠体" panose="00020600040101010101"/>
                    <a:cs typeface="阿里巴巴普惠体" panose="00020600040101010101" pitchFamily="18" charset="-122"/>
                    <a:sym typeface="阿里巴巴普惠体" panose="00020600040101010101"/>
                  </a:rPr>
                  <a:t>当前节点是父的左孩子</a:t>
                </a:r>
              </a:p>
            </p:txBody>
          </p:sp>
        </p:grp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F6B4BC31-764A-5978-023D-EDFCD583F23B}"/>
                </a:ext>
              </a:extLst>
            </p:cNvPr>
            <p:cNvSpPr/>
            <p:nvPr/>
          </p:nvSpPr>
          <p:spPr bwMode="auto">
            <a:xfrm>
              <a:off x="5312425" y="5190764"/>
              <a:ext cx="188771" cy="188771"/>
            </a:xfrm>
            <a:prstGeom prst="ellipse">
              <a:avLst/>
            </a:prstGeom>
            <a:solidFill>
              <a:srgbClr val="B6000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3</a:t>
              </a:r>
              <a:endParaRPr lang="zh-CN" altLang="en-US" sz="9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B70CBE36-9736-E064-7368-DEDE2AEA27DD}"/>
              </a:ext>
            </a:extLst>
          </p:cNvPr>
          <p:cNvGrpSpPr/>
          <p:nvPr/>
        </p:nvGrpSpPr>
        <p:grpSpPr>
          <a:xfrm>
            <a:off x="5532540" y="5070237"/>
            <a:ext cx="3044802" cy="275588"/>
            <a:chOff x="7376720" y="5617314"/>
            <a:chExt cx="4059736" cy="367451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1EBDA0FD-6CE1-8B8E-FDE1-548A177A51AB}"/>
                </a:ext>
              </a:extLst>
            </p:cNvPr>
            <p:cNvSpPr/>
            <p:nvPr/>
          </p:nvSpPr>
          <p:spPr bwMode="auto">
            <a:xfrm>
              <a:off x="7376720" y="5684721"/>
              <a:ext cx="4059736" cy="235008"/>
            </a:xfrm>
            <a:prstGeom prst="roundRect">
              <a:avLst>
                <a:gd name="adj" fmla="val 50000"/>
              </a:avLst>
            </a:prstGeom>
            <a:solidFill>
              <a:srgbClr val="69707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B8E2C26F-1030-A84D-9032-332F9EE1E3C4}"/>
                </a:ext>
              </a:extLst>
            </p:cNvPr>
            <p:cNvSpPr/>
            <p:nvPr/>
          </p:nvSpPr>
          <p:spPr>
            <a:xfrm>
              <a:off x="7444404" y="5617314"/>
              <a:ext cx="1938992" cy="36745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将“祖父”变为“红色”</a:t>
              </a: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8CFF1C9-2CE2-B5BA-429B-4FAF82219057}"/>
              </a:ext>
            </a:extLst>
          </p:cNvPr>
          <p:cNvGrpSpPr/>
          <p:nvPr/>
        </p:nvGrpSpPr>
        <p:grpSpPr>
          <a:xfrm>
            <a:off x="5532540" y="5288292"/>
            <a:ext cx="3044802" cy="275588"/>
            <a:chOff x="7376720" y="5755728"/>
            <a:chExt cx="4059736" cy="367450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0694A60C-7043-A544-8A95-9D5D85AE6BE8}"/>
                </a:ext>
              </a:extLst>
            </p:cNvPr>
            <p:cNvSpPr/>
            <p:nvPr/>
          </p:nvSpPr>
          <p:spPr bwMode="auto">
            <a:xfrm>
              <a:off x="7376720" y="5830529"/>
              <a:ext cx="4059736" cy="235008"/>
            </a:xfrm>
            <a:prstGeom prst="roundRect">
              <a:avLst>
                <a:gd name="adj" fmla="val 50000"/>
              </a:avLst>
            </a:prstGeom>
            <a:solidFill>
              <a:srgbClr val="69707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B6641600-7BB5-D917-8491-9207B6458D30}"/>
                </a:ext>
              </a:extLst>
            </p:cNvPr>
            <p:cNvSpPr/>
            <p:nvPr/>
          </p:nvSpPr>
          <p:spPr>
            <a:xfrm>
              <a:off x="7442283" y="5755728"/>
              <a:ext cx="1785104" cy="36745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以祖父为支点进行右旋</a:t>
              </a:r>
            </a:p>
          </p:txBody>
        </p:sp>
      </p:grpSp>
      <p:sp>
        <p:nvSpPr>
          <p:cNvPr id="16" name="任意多边形 25">
            <a:extLst>
              <a:ext uri="{FF2B5EF4-FFF2-40B4-BE49-F238E27FC236}">
                <a16:creationId xmlns:a16="http://schemas.microsoft.com/office/drawing/2014/main" id="{ACF530F1-5902-F3E0-6D7F-52CFDE724D68}"/>
              </a:ext>
            </a:extLst>
          </p:cNvPr>
          <p:cNvSpPr/>
          <p:nvPr/>
        </p:nvSpPr>
        <p:spPr>
          <a:xfrm flipH="1">
            <a:off x="4513729" y="1426764"/>
            <a:ext cx="4363571" cy="1659337"/>
          </a:xfrm>
          <a:custGeom>
            <a:avLst/>
            <a:gdLst>
              <a:gd name="connsiteX0" fmla="*/ 4698380 w 4698380"/>
              <a:gd name="connsiteY0" fmla="*/ 2371688 h 2371688"/>
              <a:gd name="connsiteX1" fmla="*/ 2304585 w 4698380"/>
              <a:gd name="connsiteY1" fmla="*/ 195 h 2371688"/>
              <a:gd name="connsiteX2" fmla="*/ 0 w 4698380"/>
              <a:gd name="connsiteY2" fmla="*/ 2267610 h 2371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98380" h="2371688">
                <a:moveTo>
                  <a:pt x="4698380" y="2371688"/>
                </a:moveTo>
                <a:cubicBezTo>
                  <a:pt x="3893014" y="1194614"/>
                  <a:pt x="3087648" y="17541"/>
                  <a:pt x="2304585" y="195"/>
                </a:cubicBezTo>
                <a:cubicBezTo>
                  <a:pt x="1521522" y="-17151"/>
                  <a:pt x="760761" y="1125229"/>
                  <a:pt x="0" y="2267610"/>
                </a:cubicBezTo>
              </a:path>
            </a:pathLst>
          </a:custGeom>
          <a:noFill/>
          <a:ln w="254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5" name="标题 1">
            <a:extLst>
              <a:ext uri="{FF2B5EF4-FFF2-40B4-BE49-F238E27FC236}">
                <a16:creationId xmlns:a16="http://schemas.microsoft.com/office/drawing/2014/main" id="{226DF993-A0BB-4387-8205-F40CAEEBAACA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1DCCC68C-52AE-448B-A560-97A503036C85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9400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E90CFB-5013-47B8-BF42-0596C1816431}"/>
              </a:ext>
            </a:extLst>
          </p:cNvPr>
          <p:cNvSpPr txBox="1"/>
          <p:nvPr/>
        </p:nvSpPr>
        <p:spPr>
          <a:xfrm>
            <a:off x="658314" y="1678109"/>
            <a:ext cx="3514725" cy="5662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TreeSet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排序 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自然排序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b="1" dirty="0">
              <a:solidFill>
                <a:srgbClr val="AD2B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50B4453D-271E-76D4-FD1B-62A3C99A48F1}"/>
              </a:ext>
            </a:extLst>
          </p:cNvPr>
          <p:cNvSpPr txBox="1"/>
          <p:nvPr/>
        </p:nvSpPr>
        <p:spPr>
          <a:xfrm>
            <a:off x="658315" y="2238846"/>
            <a:ext cx="2616629" cy="13161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类实现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Comparable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重写 </a:t>
            </a:r>
            <a:r>
              <a:rPr lang="en-US" altLang="zh-CN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compareTo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根据方法的返回值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来组织排序规则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负数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左边走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正数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右边走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0  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不存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9039FBB-CF05-8E70-74B0-38832E24A529}"/>
              </a:ext>
            </a:extLst>
          </p:cNvPr>
          <p:cNvSpPr txBox="1"/>
          <p:nvPr/>
        </p:nvSpPr>
        <p:spPr>
          <a:xfrm>
            <a:off x="658314" y="3665590"/>
            <a:ext cx="3514725" cy="1061829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implements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Comparable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@Override</a:t>
            </a:r>
            <a:b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int </a:t>
            </a:r>
            <a:r>
              <a:rPr lang="zh-CN" altLang="zh-CN" sz="9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compareTo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o) 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return this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- o.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endParaRPr lang="zh-CN" altLang="zh-CN" sz="900" dirty="0">
              <a:latin typeface="Consolas" panose="020B0609020204030204" pitchFamily="49" charset="0"/>
            </a:endParaRPr>
          </a:p>
          <a:p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900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650141-1EE0-7EBD-9B13-EEE42730BAFC}"/>
              </a:ext>
            </a:extLst>
          </p:cNvPr>
          <p:cNvSpPr txBox="1"/>
          <p:nvPr/>
        </p:nvSpPr>
        <p:spPr>
          <a:xfrm>
            <a:off x="658314" y="4783741"/>
            <a:ext cx="3514725" cy="923330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TreeSet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TreeSet&lt;&gt;();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王五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25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张三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23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李四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24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en-US" altLang="zh-CN" sz="9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赵六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26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zh-CN" altLang="zh-CN" sz="1500" dirty="0">
              <a:latin typeface="Consolas" panose="020B0609020204030204" pitchFamily="49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8FF4369-7830-BE90-42FD-EA8AD6E30471}"/>
              </a:ext>
            </a:extLst>
          </p:cNvPr>
          <p:cNvSpPr/>
          <p:nvPr/>
        </p:nvSpPr>
        <p:spPr>
          <a:xfrm>
            <a:off x="5943600" y="1892927"/>
            <a:ext cx="1202635" cy="429637"/>
          </a:xfrm>
          <a:prstGeom prst="roundRect">
            <a:avLst/>
          </a:prstGeom>
          <a:solidFill>
            <a:srgbClr val="C0504D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王五，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25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FE01C4-5E86-5147-27F7-9DAA297E6BB3}"/>
              </a:ext>
            </a:extLst>
          </p:cNvPr>
          <p:cNvSpPr/>
          <p:nvPr/>
        </p:nvSpPr>
        <p:spPr>
          <a:xfrm>
            <a:off x="658314" y="5361507"/>
            <a:ext cx="3514725" cy="131693"/>
          </a:xfrm>
          <a:prstGeom prst="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EA4DFC5-DFE8-BE01-96CF-A7E525E3E1F1}"/>
              </a:ext>
            </a:extLst>
          </p:cNvPr>
          <p:cNvSpPr/>
          <p:nvPr/>
        </p:nvSpPr>
        <p:spPr>
          <a:xfrm>
            <a:off x="4274241" y="3597379"/>
            <a:ext cx="1202635" cy="429637"/>
          </a:xfrm>
          <a:prstGeom prst="roundRect">
            <a:avLst/>
          </a:pr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张三，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620C8D9-EE2B-DE53-DDB0-C2D38B0BF557}"/>
              </a:ext>
            </a:extLst>
          </p:cNvPr>
          <p:cNvSpPr/>
          <p:nvPr/>
        </p:nvSpPr>
        <p:spPr>
          <a:xfrm>
            <a:off x="4967262" y="2745735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李四，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EF73A16-A980-4AFA-CF98-960D33D78926}"/>
              </a:ext>
            </a:extLst>
          </p:cNvPr>
          <p:cNvSpPr/>
          <p:nvPr/>
        </p:nvSpPr>
        <p:spPr>
          <a:xfrm>
            <a:off x="925332" y="3920126"/>
            <a:ext cx="2737237" cy="638093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999F0C-928D-E8A5-694E-DD6760DED4B9}"/>
              </a:ext>
            </a:extLst>
          </p:cNvPr>
          <p:cNvSpPr txBox="1"/>
          <p:nvPr/>
        </p:nvSpPr>
        <p:spPr>
          <a:xfrm>
            <a:off x="3065524" y="3175372"/>
            <a:ext cx="1143262" cy="415498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24</a:t>
            </a:r>
          </a:p>
          <a:p>
            <a:pPr algn="l"/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o.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25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A071516-67E2-AC89-EC0D-0D03D595B9C5}"/>
              </a:ext>
            </a:extLst>
          </p:cNvPr>
          <p:cNvSpPr txBox="1"/>
          <p:nvPr/>
        </p:nvSpPr>
        <p:spPr>
          <a:xfrm>
            <a:off x="3065524" y="3175372"/>
            <a:ext cx="1143262" cy="415498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24</a:t>
            </a:r>
          </a:p>
          <a:p>
            <a:pPr algn="l"/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o.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23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JetBrains Mono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4BD32715-0C20-AC6D-B382-EF9507106352}"/>
              </a:ext>
            </a:extLst>
          </p:cNvPr>
          <p:cNvGrpSpPr/>
          <p:nvPr/>
        </p:nvGrpSpPr>
        <p:grpSpPr>
          <a:xfrm>
            <a:off x="5532540" y="4848648"/>
            <a:ext cx="3044802" cy="275588"/>
            <a:chOff x="7376720" y="5321860"/>
            <a:chExt cx="4059736" cy="367450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249A5B06-400F-0CD0-FF20-5E9B6D622BEF}"/>
                </a:ext>
              </a:extLst>
            </p:cNvPr>
            <p:cNvSpPr/>
            <p:nvPr/>
          </p:nvSpPr>
          <p:spPr bwMode="auto">
            <a:xfrm>
              <a:off x="7376720" y="5395161"/>
              <a:ext cx="4059736" cy="235008"/>
            </a:xfrm>
            <a:prstGeom prst="roundRect">
              <a:avLst>
                <a:gd name="adj" fmla="val 50000"/>
              </a:avLst>
            </a:prstGeom>
            <a:solidFill>
              <a:srgbClr val="69707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4AB783D-B0E7-911E-900B-A145B71E41B2}"/>
                </a:ext>
              </a:extLst>
            </p:cNvPr>
            <p:cNvSpPr/>
            <p:nvPr/>
          </p:nvSpPr>
          <p:spPr>
            <a:xfrm>
              <a:off x="7434879" y="5321860"/>
              <a:ext cx="1785104" cy="36745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将“父”设为“黑色</a:t>
              </a:r>
              <a:r>
                <a:rPr lang="en-US" altLang="zh-CN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”</a:t>
              </a: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3D155DA-7187-933D-5CD2-1FA540FF3751}"/>
              </a:ext>
            </a:extLst>
          </p:cNvPr>
          <p:cNvGrpSpPr/>
          <p:nvPr/>
        </p:nvGrpSpPr>
        <p:grpSpPr>
          <a:xfrm>
            <a:off x="6228043" y="4377557"/>
            <a:ext cx="1392440" cy="457430"/>
            <a:chOff x="5234774" y="5190764"/>
            <a:chExt cx="1856587" cy="609906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65F22D75-43DC-F22A-9873-59FB05A13FE5}"/>
                </a:ext>
              </a:extLst>
            </p:cNvPr>
            <p:cNvGrpSpPr/>
            <p:nvPr/>
          </p:nvGrpSpPr>
          <p:grpSpPr>
            <a:xfrm>
              <a:off x="5234774" y="5285150"/>
              <a:ext cx="1856587" cy="515520"/>
              <a:chOff x="5234774" y="5484494"/>
              <a:chExt cx="1856587" cy="515520"/>
            </a:xfrm>
          </p:grpSpPr>
          <p:sp>
            <p:nvSpPr>
              <p:cNvPr id="27" name="矩形: 圆角 26">
                <a:extLst>
                  <a:ext uri="{FF2B5EF4-FFF2-40B4-BE49-F238E27FC236}">
                    <a16:creationId xmlns:a16="http://schemas.microsoft.com/office/drawing/2014/main" id="{0BA4C7AA-7E66-587F-C5D3-A58ED568DEF1}"/>
                  </a:ext>
                </a:extLst>
              </p:cNvPr>
              <p:cNvSpPr/>
              <p:nvPr/>
            </p:nvSpPr>
            <p:spPr bwMode="auto">
              <a:xfrm>
                <a:off x="5234774" y="5484494"/>
                <a:ext cx="1856587" cy="507819"/>
              </a:xfrm>
              <a:prstGeom prst="roundRect">
                <a:avLst>
                  <a:gd name="adj" fmla="val 10906"/>
                </a:avLst>
              </a:prstGeom>
              <a:solidFill>
                <a:schemeClr val="bg1"/>
              </a:solidFill>
              <a:ln w="9525">
                <a:solidFill>
                  <a:srgbClr val="4950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阿里巴巴普惠体" panose="00020600040101010101"/>
                </a:endParaRPr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AE01D803-2E28-AB68-D1F7-DC5C794D11B5}"/>
                  </a:ext>
                </a:extLst>
              </p:cNvPr>
              <p:cNvSpPr/>
              <p:nvPr/>
            </p:nvSpPr>
            <p:spPr>
              <a:xfrm>
                <a:off x="5270514" y="5507571"/>
                <a:ext cx="1785106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zh-CN" altLang="en-US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阿里巴巴普惠体" panose="00020600040101010101"/>
                    <a:cs typeface="阿里巴巴普惠体" panose="00020600040101010101" pitchFamily="18" charset="-122"/>
                    <a:sym typeface="阿里巴巴普惠体" panose="00020600040101010101"/>
                  </a:rPr>
                  <a:t>叔叔黑色</a:t>
                </a:r>
                <a:endParaRPr lang="en-US" altLang="zh-CN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endParaRPr>
              </a:p>
              <a:p>
                <a:pPr algn="ctr">
                  <a:defRPr/>
                </a:pPr>
                <a:r>
                  <a:rPr lang="zh-CN" altLang="en-US" sz="900" dirty="0">
                    <a:latin typeface="微软雅黑" panose="020B0503020204020204" pitchFamily="34" charset="-122"/>
                    <a:ea typeface="阿里巴巴普惠体" panose="00020600040101010101"/>
                    <a:cs typeface="阿里巴巴普惠体" panose="00020600040101010101" pitchFamily="18" charset="-122"/>
                    <a:sym typeface="阿里巴巴普惠体" panose="00020600040101010101"/>
                  </a:rPr>
                  <a:t>当前节点是父的左孩子</a:t>
                </a:r>
              </a:p>
            </p:txBody>
          </p:sp>
        </p:grp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F6B4BC31-764A-5978-023D-EDFCD583F23B}"/>
                </a:ext>
              </a:extLst>
            </p:cNvPr>
            <p:cNvSpPr/>
            <p:nvPr/>
          </p:nvSpPr>
          <p:spPr bwMode="auto">
            <a:xfrm>
              <a:off x="5312425" y="5190764"/>
              <a:ext cx="188771" cy="188771"/>
            </a:xfrm>
            <a:prstGeom prst="ellipse">
              <a:avLst/>
            </a:prstGeom>
            <a:solidFill>
              <a:srgbClr val="B6000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3</a:t>
              </a:r>
              <a:endParaRPr lang="zh-CN" altLang="en-US" sz="9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B70CBE36-9736-E064-7368-DEDE2AEA27DD}"/>
              </a:ext>
            </a:extLst>
          </p:cNvPr>
          <p:cNvGrpSpPr/>
          <p:nvPr/>
        </p:nvGrpSpPr>
        <p:grpSpPr>
          <a:xfrm>
            <a:off x="5532540" y="5070237"/>
            <a:ext cx="3044802" cy="275588"/>
            <a:chOff x="7376720" y="5617314"/>
            <a:chExt cx="4059736" cy="367451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1EBDA0FD-6CE1-8B8E-FDE1-548A177A51AB}"/>
                </a:ext>
              </a:extLst>
            </p:cNvPr>
            <p:cNvSpPr/>
            <p:nvPr/>
          </p:nvSpPr>
          <p:spPr bwMode="auto">
            <a:xfrm>
              <a:off x="7376720" y="5684721"/>
              <a:ext cx="4059736" cy="235008"/>
            </a:xfrm>
            <a:prstGeom prst="roundRect">
              <a:avLst>
                <a:gd name="adj" fmla="val 50000"/>
              </a:avLst>
            </a:prstGeom>
            <a:solidFill>
              <a:srgbClr val="69707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B8E2C26F-1030-A84D-9032-332F9EE1E3C4}"/>
                </a:ext>
              </a:extLst>
            </p:cNvPr>
            <p:cNvSpPr/>
            <p:nvPr/>
          </p:nvSpPr>
          <p:spPr>
            <a:xfrm>
              <a:off x="7444404" y="5617314"/>
              <a:ext cx="1938992" cy="36745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将“祖父”变为“红色”</a:t>
              </a: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8CFF1C9-2CE2-B5BA-429B-4FAF82219057}"/>
              </a:ext>
            </a:extLst>
          </p:cNvPr>
          <p:cNvGrpSpPr/>
          <p:nvPr/>
        </p:nvGrpSpPr>
        <p:grpSpPr>
          <a:xfrm>
            <a:off x="5532540" y="5288292"/>
            <a:ext cx="3044802" cy="275588"/>
            <a:chOff x="7376720" y="5755728"/>
            <a:chExt cx="4059736" cy="367450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0694A60C-7043-A544-8A95-9D5D85AE6BE8}"/>
                </a:ext>
              </a:extLst>
            </p:cNvPr>
            <p:cNvSpPr/>
            <p:nvPr/>
          </p:nvSpPr>
          <p:spPr bwMode="auto">
            <a:xfrm>
              <a:off x="7376720" y="5830529"/>
              <a:ext cx="4059736" cy="235008"/>
            </a:xfrm>
            <a:prstGeom prst="roundRect">
              <a:avLst>
                <a:gd name="adj" fmla="val 50000"/>
              </a:avLst>
            </a:prstGeom>
            <a:solidFill>
              <a:srgbClr val="69707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B6641600-7BB5-D917-8491-9207B6458D30}"/>
                </a:ext>
              </a:extLst>
            </p:cNvPr>
            <p:cNvSpPr/>
            <p:nvPr/>
          </p:nvSpPr>
          <p:spPr>
            <a:xfrm>
              <a:off x="7442283" y="5755728"/>
              <a:ext cx="1785104" cy="36745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以祖父为支点进行右旋</a:t>
              </a:r>
            </a:p>
          </p:txBody>
        </p:sp>
      </p:grpSp>
      <p:sp>
        <p:nvSpPr>
          <p:cNvPr id="32" name="标题 1">
            <a:extLst>
              <a:ext uri="{FF2B5EF4-FFF2-40B4-BE49-F238E27FC236}">
                <a16:creationId xmlns:a16="http://schemas.microsoft.com/office/drawing/2014/main" id="{191A0A58-0B46-4F89-9DAF-F7775CF0A813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CF7F04DC-67E2-43B5-A8F3-16F943EA3046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4001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E90CFB-5013-47B8-BF42-0596C1816431}"/>
              </a:ext>
            </a:extLst>
          </p:cNvPr>
          <p:cNvSpPr txBox="1"/>
          <p:nvPr/>
        </p:nvSpPr>
        <p:spPr>
          <a:xfrm>
            <a:off x="658314" y="1678109"/>
            <a:ext cx="3514725" cy="5662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TreeSet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排序 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自然排序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b="1" dirty="0">
              <a:solidFill>
                <a:srgbClr val="AD2B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50B4453D-271E-76D4-FD1B-62A3C99A48F1}"/>
              </a:ext>
            </a:extLst>
          </p:cNvPr>
          <p:cNvSpPr txBox="1"/>
          <p:nvPr/>
        </p:nvSpPr>
        <p:spPr>
          <a:xfrm>
            <a:off x="658315" y="2238846"/>
            <a:ext cx="2616629" cy="13161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类实现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Comparable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重写 </a:t>
            </a:r>
            <a:r>
              <a:rPr lang="en-US" altLang="zh-CN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compareTo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根据方法的返回值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来组织排序规则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负数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左边走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正数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右边走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0  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不存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9039FBB-CF05-8E70-74B0-38832E24A529}"/>
              </a:ext>
            </a:extLst>
          </p:cNvPr>
          <p:cNvSpPr txBox="1"/>
          <p:nvPr/>
        </p:nvSpPr>
        <p:spPr>
          <a:xfrm>
            <a:off x="658314" y="3665590"/>
            <a:ext cx="3514725" cy="1061829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implements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Comparable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@Override</a:t>
            </a:r>
            <a:b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int </a:t>
            </a:r>
            <a:r>
              <a:rPr lang="zh-CN" altLang="zh-CN" sz="9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compareTo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o) 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return this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- o.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endParaRPr lang="zh-CN" altLang="zh-CN" sz="900" dirty="0">
              <a:latin typeface="Consolas" panose="020B0609020204030204" pitchFamily="49" charset="0"/>
            </a:endParaRPr>
          </a:p>
          <a:p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900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650141-1EE0-7EBD-9B13-EEE42730BAFC}"/>
              </a:ext>
            </a:extLst>
          </p:cNvPr>
          <p:cNvSpPr txBox="1"/>
          <p:nvPr/>
        </p:nvSpPr>
        <p:spPr>
          <a:xfrm>
            <a:off x="658314" y="4783741"/>
            <a:ext cx="3514725" cy="923330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TreeSet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TreeSet&lt;&gt;();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王五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25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张三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23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李四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24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en-US" altLang="zh-CN" sz="9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赵六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26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zh-CN" altLang="zh-CN" sz="1500" dirty="0">
              <a:latin typeface="Consolas" panose="020B0609020204030204" pitchFamily="49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8FF4369-7830-BE90-42FD-EA8AD6E30471}"/>
              </a:ext>
            </a:extLst>
          </p:cNvPr>
          <p:cNvSpPr/>
          <p:nvPr/>
        </p:nvSpPr>
        <p:spPr>
          <a:xfrm>
            <a:off x="6887598" y="2740999"/>
            <a:ext cx="1202635" cy="429637"/>
          </a:xfrm>
          <a:prstGeom prst="roundRect">
            <a:avLst/>
          </a:prstGeom>
          <a:solidFill>
            <a:srgbClr val="C0504D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王五，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25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FE01C4-5E86-5147-27F7-9DAA297E6BB3}"/>
              </a:ext>
            </a:extLst>
          </p:cNvPr>
          <p:cNvSpPr/>
          <p:nvPr/>
        </p:nvSpPr>
        <p:spPr>
          <a:xfrm>
            <a:off x="658314" y="5361507"/>
            <a:ext cx="3514725" cy="131693"/>
          </a:xfrm>
          <a:prstGeom prst="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EA4DFC5-DFE8-BE01-96CF-A7E525E3E1F1}"/>
              </a:ext>
            </a:extLst>
          </p:cNvPr>
          <p:cNvSpPr/>
          <p:nvPr/>
        </p:nvSpPr>
        <p:spPr>
          <a:xfrm>
            <a:off x="4610411" y="2740999"/>
            <a:ext cx="1202635" cy="429637"/>
          </a:xfrm>
          <a:prstGeom prst="roundRect">
            <a:avLst/>
          </a:pr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张三，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620C8D9-EE2B-DE53-DDB0-C2D38B0BF557}"/>
              </a:ext>
            </a:extLst>
          </p:cNvPr>
          <p:cNvSpPr/>
          <p:nvPr/>
        </p:nvSpPr>
        <p:spPr>
          <a:xfrm>
            <a:off x="5684963" y="1892927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李四，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EF73A16-A980-4AFA-CF98-960D33D78926}"/>
              </a:ext>
            </a:extLst>
          </p:cNvPr>
          <p:cNvSpPr/>
          <p:nvPr/>
        </p:nvSpPr>
        <p:spPr>
          <a:xfrm>
            <a:off x="925332" y="3920126"/>
            <a:ext cx="2737237" cy="638093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999F0C-928D-E8A5-694E-DD6760DED4B9}"/>
              </a:ext>
            </a:extLst>
          </p:cNvPr>
          <p:cNvSpPr txBox="1"/>
          <p:nvPr/>
        </p:nvSpPr>
        <p:spPr>
          <a:xfrm>
            <a:off x="3065524" y="3175372"/>
            <a:ext cx="1143262" cy="415498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24</a:t>
            </a:r>
          </a:p>
          <a:p>
            <a:pPr algn="l"/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o.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25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A071516-67E2-AC89-EC0D-0D03D595B9C5}"/>
              </a:ext>
            </a:extLst>
          </p:cNvPr>
          <p:cNvSpPr txBox="1"/>
          <p:nvPr/>
        </p:nvSpPr>
        <p:spPr>
          <a:xfrm>
            <a:off x="3065524" y="3175372"/>
            <a:ext cx="1143262" cy="415498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24</a:t>
            </a:r>
          </a:p>
          <a:p>
            <a:pPr algn="l"/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o.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23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JetBrains Mono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00635D2-B0CA-8422-E804-BAD23889093C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342284" y="2322564"/>
            <a:ext cx="943997" cy="423172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BD12C71-01D4-6DAB-9F97-A76C11FD529D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6286281" y="2322563"/>
            <a:ext cx="1202635" cy="418436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标题 1">
            <a:extLst>
              <a:ext uri="{FF2B5EF4-FFF2-40B4-BE49-F238E27FC236}">
                <a16:creationId xmlns:a16="http://schemas.microsoft.com/office/drawing/2014/main" id="{58EB6E8E-3227-4CFB-B07B-CBD39872841C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54863CB-5339-408F-9F68-06E588A73115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683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E90CFB-5013-47B8-BF42-0596C1816431}"/>
              </a:ext>
            </a:extLst>
          </p:cNvPr>
          <p:cNvSpPr txBox="1"/>
          <p:nvPr/>
        </p:nvSpPr>
        <p:spPr>
          <a:xfrm>
            <a:off x="658314" y="1678109"/>
            <a:ext cx="3514725" cy="5662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TreeSet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排序 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自然排序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b="1" dirty="0">
              <a:solidFill>
                <a:srgbClr val="AD2B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50B4453D-271E-76D4-FD1B-62A3C99A48F1}"/>
              </a:ext>
            </a:extLst>
          </p:cNvPr>
          <p:cNvSpPr txBox="1"/>
          <p:nvPr/>
        </p:nvSpPr>
        <p:spPr>
          <a:xfrm>
            <a:off x="658315" y="2238846"/>
            <a:ext cx="2616629" cy="13161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类实现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Comparable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重写 </a:t>
            </a:r>
            <a:r>
              <a:rPr lang="en-US" altLang="zh-CN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compareTo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根据方法的返回值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来组织排序规则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负数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左边走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正数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右边走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0  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不存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9039FBB-CF05-8E70-74B0-38832E24A529}"/>
              </a:ext>
            </a:extLst>
          </p:cNvPr>
          <p:cNvSpPr txBox="1"/>
          <p:nvPr/>
        </p:nvSpPr>
        <p:spPr>
          <a:xfrm>
            <a:off x="658314" y="3665590"/>
            <a:ext cx="3514725" cy="1061829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implements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Comparable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@Override</a:t>
            </a:r>
            <a:b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int </a:t>
            </a:r>
            <a:r>
              <a:rPr lang="zh-CN" altLang="zh-CN" sz="9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compareTo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o) 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return this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- o.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endParaRPr lang="zh-CN" altLang="zh-CN" sz="900" dirty="0">
              <a:latin typeface="Consolas" panose="020B0609020204030204" pitchFamily="49" charset="0"/>
            </a:endParaRPr>
          </a:p>
          <a:p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900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650141-1EE0-7EBD-9B13-EEE42730BAFC}"/>
              </a:ext>
            </a:extLst>
          </p:cNvPr>
          <p:cNvSpPr txBox="1"/>
          <p:nvPr/>
        </p:nvSpPr>
        <p:spPr>
          <a:xfrm>
            <a:off x="658314" y="4783741"/>
            <a:ext cx="3514725" cy="923330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TreeSet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TreeSet&lt;&gt;();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王五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25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张三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23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李四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24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en-US" altLang="zh-CN" sz="9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赵六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26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zh-CN" altLang="zh-CN" sz="1500" dirty="0">
              <a:latin typeface="Consolas" panose="020B0609020204030204" pitchFamily="49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8FF4369-7830-BE90-42FD-EA8AD6E30471}"/>
              </a:ext>
            </a:extLst>
          </p:cNvPr>
          <p:cNvSpPr/>
          <p:nvPr/>
        </p:nvSpPr>
        <p:spPr>
          <a:xfrm>
            <a:off x="6887598" y="2740999"/>
            <a:ext cx="1202635" cy="429637"/>
          </a:xfrm>
          <a:prstGeom prst="roundRect">
            <a:avLst/>
          </a:prstGeom>
          <a:solidFill>
            <a:srgbClr val="C0504D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王五，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25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FE01C4-5E86-5147-27F7-9DAA297E6BB3}"/>
              </a:ext>
            </a:extLst>
          </p:cNvPr>
          <p:cNvSpPr/>
          <p:nvPr/>
        </p:nvSpPr>
        <p:spPr>
          <a:xfrm>
            <a:off x="658314" y="5509144"/>
            <a:ext cx="3514725" cy="131693"/>
          </a:xfrm>
          <a:prstGeom prst="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EA4DFC5-DFE8-BE01-96CF-A7E525E3E1F1}"/>
              </a:ext>
            </a:extLst>
          </p:cNvPr>
          <p:cNvSpPr/>
          <p:nvPr/>
        </p:nvSpPr>
        <p:spPr>
          <a:xfrm>
            <a:off x="4610411" y="2740999"/>
            <a:ext cx="1202635" cy="429637"/>
          </a:xfrm>
          <a:prstGeom prst="roundRect">
            <a:avLst/>
          </a:pr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张三，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620C8D9-EE2B-DE53-DDB0-C2D38B0BF557}"/>
              </a:ext>
            </a:extLst>
          </p:cNvPr>
          <p:cNvSpPr/>
          <p:nvPr/>
        </p:nvSpPr>
        <p:spPr>
          <a:xfrm>
            <a:off x="5684963" y="1892927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李四，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00635D2-B0CA-8422-E804-BAD23889093C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342284" y="2322564"/>
            <a:ext cx="943997" cy="423172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BD12C71-01D4-6DAB-9F97-A76C11FD529D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6286281" y="2322563"/>
            <a:ext cx="1202635" cy="418436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314DC6A-5F82-A37F-08F6-CCB31419FD91}"/>
              </a:ext>
            </a:extLst>
          </p:cNvPr>
          <p:cNvSpPr/>
          <p:nvPr/>
        </p:nvSpPr>
        <p:spPr>
          <a:xfrm>
            <a:off x="3762103" y="1887327"/>
            <a:ext cx="1202635" cy="429637"/>
          </a:xfrm>
          <a:prstGeom prst="roundRect">
            <a:avLst/>
          </a:pr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赵六，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26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9BB8CBB8-A746-4EAC-91AD-6A0193EE098A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DC33F83-5B3C-4D8E-8BB7-BFDF90F248DD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2513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E90CFB-5013-47B8-BF42-0596C1816431}"/>
              </a:ext>
            </a:extLst>
          </p:cNvPr>
          <p:cNvSpPr txBox="1"/>
          <p:nvPr/>
        </p:nvSpPr>
        <p:spPr>
          <a:xfrm>
            <a:off x="658314" y="1678109"/>
            <a:ext cx="3514725" cy="5662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TreeSet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排序 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自然排序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b="1" dirty="0">
              <a:solidFill>
                <a:srgbClr val="AD2B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50B4453D-271E-76D4-FD1B-62A3C99A48F1}"/>
              </a:ext>
            </a:extLst>
          </p:cNvPr>
          <p:cNvSpPr txBox="1"/>
          <p:nvPr/>
        </p:nvSpPr>
        <p:spPr>
          <a:xfrm>
            <a:off x="658315" y="2238846"/>
            <a:ext cx="2616629" cy="13161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类实现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Comparable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重写 </a:t>
            </a:r>
            <a:r>
              <a:rPr lang="en-US" altLang="zh-CN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compareTo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根据方法的返回值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来组织排序规则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负数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左边走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正数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右边走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0  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不存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9039FBB-CF05-8E70-74B0-38832E24A529}"/>
              </a:ext>
            </a:extLst>
          </p:cNvPr>
          <p:cNvSpPr txBox="1"/>
          <p:nvPr/>
        </p:nvSpPr>
        <p:spPr>
          <a:xfrm>
            <a:off x="658314" y="3665590"/>
            <a:ext cx="3514725" cy="1061829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implements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Comparable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@Override</a:t>
            </a:r>
            <a:b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int </a:t>
            </a:r>
            <a:r>
              <a:rPr lang="zh-CN" altLang="zh-CN" sz="9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compareTo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o) 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return this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- o.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endParaRPr lang="zh-CN" altLang="zh-CN" sz="900" dirty="0">
              <a:latin typeface="Consolas" panose="020B0609020204030204" pitchFamily="49" charset="0"/>
            </a:endParaRPr>
          </a:p>
          <a:p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900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650141-1EE0-7EBD-9B13-EEE42730BAFC}"/>
              </a:ext>
            </a:extLst>
          </p:cNvPr>
          <p:cNvSpPr txBox="1"/>
          <p:nvPr/>
        </p:nvSpPr>
        <p:spPr>
          <a:xfrm>
            <a:off x="658314" y="4783741"/>
            <a:ext cx="3514725" cy="923330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TreeSet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TreeSet&lt;&gt;();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王五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25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张三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23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李四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24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en-US" altLang="zh-CN" sz="9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赵六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26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zh-CN" altLang="zh-CN" sz="1500" dirty="0">
              <a:latin typeface="Consolas" panose="020B0609020204030204" pitchFamily="49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8FF4369-7830-BE90-42FD-EA8AD6E30471}"/>
              </a:ext>
            </a:extLst>
          </p:cNvPr>
          <p:cNvSpPr/>
          <p:nvPr/>
        </p:nvSpPr>
        <p:spPr>
          <a:xfrm>
            <a:off x="6887598" y="2740999"/>
            <a:ext cx="1202635" cy="429637"/>
          </a:xfrm>
          <a:prstGeom prst="roundRect">
            <a:avLst/>
          </a:prstGeom>
          <a:solidFill>
            <a:srgbClr val="C0504D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王五，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25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FE01C4-5E86-5147-27F7-9DAA297E6BB3}"/>
              </a:ext>
            </a:extLst>
          </p:cNvPr>
          <p:cNvSpPr/>
          <p:nvPr/>
        </p:nvSpPr>
        <p:spPr>
          <a:xfrm>
            <a:off x="658314" y="5509144"/>
            <a:ext cx="3514725" cy="131693"/>
          </a:xfrm>
          <a:prstGeom prst="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EA4DFC5-DFE8-BE01-96CF-A7E525E3E1F1}"/>
              </a:ext>
            </a:extLst>
          </p:cNvPr>
          <p:cNvSpPr/>
          <p:nvPr/>
        </p:nvSpPr>
        <p:spPr>
          <a:xfrm>
            <a:off x="4610411" y="2740999"/>
            <a:ext cx="1202635" cy="429637"/>
          </a:xfrm>
          <a:prstGeom prst="roundRect">
            <a:avLst/>
          </a:pr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张三，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620C8D9-EE2B-DE53-DDB0-C2D38B0BF557}"/>
              </a:ext>
            </a:extLst>
          </p:cNvPr>
          <p:cNvSpPr/>
          <p:nvPr/>
        </p:nvSpPr>
        <p:spPr>
          <a:xfrm>
            <a:off x="5684963" y="1892927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李四，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00635D2-B0CA-8422-E804-BAD23889093C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342284" y="2322564"/>
            <a:ext cx="943997" cy="423172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BD12C71-01D4-6DAB-9F97-A76C11FD529D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6286281" y="2322563"/>
            <a:ext cx="1202635" cy="418436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314DC6A-5F82-A37F-08F6-CCB31419FD91}"/>
              </a:ext>
            </a:extLst>
          </p:cNvPr>
          <p:cNvSpPr/>
          <p:nvPr/>
        </p:nvSpPr>
        <p:spPr>
          <a:xfrm>
            <a:off x="3762103" y="1887327"/>
            <a:ext cx="1202635" cy="429637"/>
          </a:xfrm>
          <a:prstGeom prst="roundRect">
            <a:avLst/>
          </a:pr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赵六，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26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6B0EE12-47EF-916B-0719-17FEDF6A9067}"/>
              </a:ext>
            </a:extLst>
          </p:cNvPr>
          <p:cNvSpPr/>
          <p:nvPr/>
        </p:nvSpPr>
        <p:spPr>
          <a:xfrm>
            <a:off x="925332" y="3920126"/>
            <a:ext cx="2737237" cy="638093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9F189AD-679E-926B-91E2-3C3D244AEBA0}"/>
              </a:ext>
            </a:extLst>
          </p:cNvPr>
          <p:cNvSpPr txBox="1"/>
          <p:nvPr/>
        </p:nvSpPr>
        <p:spPr>
          <a:xfrm>
            <a:off x="3065524" y="3175372"/>
            <a:ext cx="1143262" cy="415498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26</a:t>
            </a:r>
          </a:p>
          <a:p>
            <a:pPr algn="l"/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o.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24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54A5C3E5-1852-4C2E-8050-F1412FD2F112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F1A1B8D-28F0-4A0C-A452-75D9F90CAC4C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72172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E90CFB-5013-47B8-BF42-0596C1816431}"/>
              </a:ext>
            </a:extLst>
          </p:cNvPr>
          <p:cNvSpPr txBox="1"/>
          <p:nvPr/>
        </p:nvSpPr>
        <p:spPr>
          <a:xfrm>
            <a:off x="658314" y="1678109"/>
            <a:ext cx="3514725" cy="5662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TreeSet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排序 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自然排序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b="1" dirty="0">
              <a:solidFill>
                <a:srgbClr val="AD2B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50B4453D-271E-76D4-FD1B-62A3C99A48F1}"/>
              </a:ext>
            </a:extLst>
          </p:cNvPr>
          <p:cNvSpPr txBox="1"/>
          <p:nvPr/>
        </p:nvSpPr>
        <p:spPr>
          <a:xfrm>
            <a:off x="658315" y="2238846"/>
            <a:ext cx="2616629" cy="13161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类实现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Comparable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重写 </a:t>
            </a:r>
            <a:r>
              <a:rPr lang="en-US" altLang="zh-CN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compareTo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根据方法的返回值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来组织排序规则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负数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左边走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正数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右边走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0  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不存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9039FBB-CF05-8E70-74B0-38832E24A529}"/>
              </a:ext>
            </a:extLst>
          </p:cNvPr>
          <p:cNvSpPr txBox="1"/>
          <p:nvPr/>
        </p:nvSpPr>
        <p:spPr>
          <a:xfrm>
            <a:off x="658314" y="3665590"/>
            <a:ext cx="3514725" cy="1061829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implements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Comparable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@Override</a:t>
            </a:r>
            <a:b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int </a:t>
            </a:r>
            <a:r>
              <a:rPr lang="zh-CN" altLang="zh-CN" sz="9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compareTo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o) 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return this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- o.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endParaRPr lang="zh-CN" altLang="zh-CN" sz="900" dirty="0">
              <a:latin typeface="Consolas" panose="020B0609020204030204" pitchFamily="49" charset="0"/>
            </a:endParaRPr>
          </a:p>
          <a:p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900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650141-1EE0-7EBD-9B13-EEE42730BAFC}"/>
              </a:ext>
            </a:extLst>
          </p:cNvPr>
          <p:cNvSpPr txBox="1"/>
          <p:nvPr/>
        </p:nvSpPr>
        <p:spPr>
          <a:xfrm>
            <a:off x="658314" y="4783741"/>
            <a:ext cx="3514725" cy="923330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TreeSet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TreeSet&lt;&gt;();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王五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25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张三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23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李四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24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en-US" altLang="zh-CN" sz="9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赵六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26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zh-CN" altLang="zh-CN" sz="1500" dirty="0">
              <a:latin typeface="Consolas" panose="020B0609020204030204" pitchFamily="49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8FF4369-7830-BE90-42FD-EA8AD6E30471}"/>
              </a:ext>
            </a:extLst>
          </p:cNvPr>
          <p:cNvSpPr/>
          <p:nvPr/>
        </p:nvSpPr>
        <p:spPr>
          <a:xfrm>
            <a:off x="6887598" y="2740999"/>
            <a:ext cx="1202635" cy="429637"/>
          </a:xfrm>
          <a:prstGeom prst="roundRect">
            <a:avLst/>
          </a:prstGeom>
          <a:solidFill>
            <a:srgbClr val="C0504D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王五，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25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FE01C4-5E86-5147-27F7-9DAA297E6BB3}"/>
              </a:ext>
            </a:extLst>
          </p:cNvPr>
          <p:cNvSpPr/>
          <p:nvPr/>
        </p:nvSpPr>
        <p:spPr>
          <a:xfrm>
            <a:off x="658314" y="5509144"/>
            <a:ext cx="3514725" cy="131693"/>
          </a:xfrm>
          <a:prstGeom prst="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EA4DFC5-DFE8-BE01-96CF-A7E525E3E1F1}"/>
              </a:ext>
            </a:extLst>
          </p:cNvPr>
          <p:cNvSpPr/>
          <p:nvPr/>
        </p:nvSpPr>
        <p:spPr>
          <a:xfrm>
            <a:off x="4610411" y="2740999"/>
            <a:ext cx="1202635" cy="429637"/>
          </a:xfrm>
          <a:prstGeom prst="roundRect">
            <a:avLst/>
          </a:pr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张三，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620C8D9-EE2B-DE53-DDB0-C2D38B0BF557}"/>
              </a:ext>
            </a:extLst>
          </p:cNvPr>
          <p:cNvSpPr/>
          <p:nvPr/>
        </p:nvSpPr>
        <p:spPr>
          <a:xfrm>
            <a:off x="5684963" y="1892927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李四，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00635D2-B0CA-8422-E804-BAD23889093C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342284" y="2322564"/>
            <a:ext cx="943997" cy="423172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BD12C71-01D4-6DAB-9F97-A76C11FD529D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6286281" y="2322563"/>
            <a:ext cx="1202635" cy="418436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314DC6A-5F82-A37F-08F6-CCB31419FD91}"/>
              </a:ext>
            </a:extLst>
          </p:cNvPr>
          <p:cNvSpPr/>
          <p:nvPr/>
        </p:nvSpPr>
        <p:spPr>
          <a:xfrm>
            <a:off x="6887598" y="3429000"/>
            <a:ext cx="1202635" cy="429637"/>
          </a:xfrm>
          <a:prstGeom prst="roundRect">
            <a:avLst/>
          </a:pr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赵六，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26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6B0EE12-47EF-916B-0719-17FEDF6A9067}"/>
              </a:ext>
            </a:extLst>
          </p:cNvPr>
          <p:cNvSpPr/>
          <p:nvPr/>
        </p:nvSpPr>
        <p:spPr>
          <a:xfrm>
            <a:off x="925332" y="3920126"/>
            <a:ext cx="2737237" cy="638093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9F189AD-679E-926B-91E2-3C3D244AEBA0}"/>
              </a:ext>
            </a:extLst>
          </p:cNvPr>
          <p:cNvSpPr txBox="1"/>
          <p:nvPr/>
        </p:nvSpPr>
        <p:spPr>
          <a:xfrm>
            <a:off x="3065524" y="3175372"/>
            <a:ext cx="1143262" cy="415498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26</a:t>
            </a:r>
          </a:p>
          <a:p>
            <a:pPr algn="l"/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o.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24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77CD84D-889B-BE44-2004-E87799E72CB0}"/>
              </a:ext>
            </a:extLst>
          </p:cNvPr>
          <p:cNvSpPr txBox="1"/>
          <p:nvPr/>
        </p:nvSpPr>
        <p:spPr>
          <a:xfrm>
            <a:off x="3065524" y="3175372"/>
            <a:ext cx="1143262" cy="415498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26</a:t>
            </a:r>
          </a:p>
          <a:p>
            <a:pPr algn="l"/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o.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25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D16A387B-EEED-4339-B8B0-0F03EF0201F5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7553DC5-E92F-45E2-B6D3-F7FE8AD04BA9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2005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E90CFB-5013-47B8-BF42-0596C1816431}"/>
              </a:ext>
            </a:extLst>
          </p:cNvPr>
          <p:cNvSpPr txBox="1"/>
          <p:nvPr/>
        </p:nvSpPr>
        <p:spPr>
          <a:xfrm>
            <a:off x="658314" y="1678109"/>
            <a:ext cx="3514725" cy="5662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TreeSet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排序 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自然排序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b="1" dirty="0">
              <a:solidFill>
                <a:srgbClr val="AD2B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50B4453D-271E-76D4-FD1B-62A3C99A48F1}"/>
              </a:ext>
            </a:extLst>
          </p:cNvPr>
          <p:cNvSpPr txBox="1"/>
          <p:nvPr/>
        </p:nvSpPr>
        <p:spPr>
          <a:xfrm>
            <a:off x="658315" y="2238846"/>
            <a:ext cx="2616629" cy="13161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类实现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Comparable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重写 </a:t>
            </a:r>
            <a:r>
              <a:rPr lang="en-US" altLang="zh-CN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compareTo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根据方法的返回值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来组织排序规则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负数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左边走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正数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右边走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0  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不存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9039FBB-CF05-8E70-74B0-38832E24A529}"/>
              </a:ext>
            </a:extLst>
          </p:cNvPr>
          <p:cNvSpPr txBox="1"/>
          <p:nvPr/>
        </p:nvSpPr>
        <p:spPr>
          <a:xfrm>
            <a:off x="658314" y="3665590"/>
            <a:ext cx="3514725" cy="1061829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implements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Comparable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@Override</a:t>
            </a:r>
            <a:b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int </a:t>
            </a:r>
            <a:r>
              <a:rPr lang="zh-CN" altLang="zh-CN" sz="9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compareTo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o) 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return this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- o.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endParaRPr lang="zh-CN" altLang="zh-CN" sz="900" dirty="0">
              <a:latin typeface="Consolas" panose="020B0609020204030204" pitchFamily="49" charset="0"/>
            </a:endParaRPr>
          </a:p>
          <a:p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900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650141-1EE0-7EBD-9B13-EEE42730BAFC}"/>
              </a:ext>
            </a:extLst>
          </p:cNvPr>
          <p:cNvSpPr txBox="1"/>
          <p:nvPr/>
        </p:nvSpPr>
        <p:spPr>
          <a:xfrm>
            <a:off x="658314" y="4783741"/>
            <a:ext cx="3514725" cy="923330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TreeSet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TreeSet&lt;&gt;();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王五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25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张三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23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李四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24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en-US" altLang="zh-CN" sz="9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赵六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26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zh-CN" altLang="zh-CN" sz="1500" dirty="0">
              <a:latin typeface="Consolas" panose="020B0609020204030204" pitchFamily="49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8FF4369-7830-BE90-42FD-EA8AD6E30471}"/>
              </a:ext>
            </a:extLst>
          </p:cNvPr>
          <p:cNvSpPr/>
          <p:nvPr/>
        </p:nvSpPr>
        <p:spPr>
          <a:xfrm>
            <a:off x="6887598" y="2740999"/>
            <a:ext cx="1202635" cy="429637"/>
          </a:xfrm>
          <a:prstGeom prst="roundRect">
            <a:avLst/>
          </a:prstGeom>
          <a:solidFill>
            <a:srgbClr val="C0504D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王五，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25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FE01C4-5E86-5147-27F7-9DAA297E6BB3}"/>
              </a:ext>
            </a:extLst>
          </p:cNvPr>
          <p:cNvSpPr/>
          <p:nvPr/>
        </p:nvSpPr>
        <p:spPr>
          <a:xfrm>
            <a:off x="658314" y="5509144"/>
            <a:ext cx="3514725" cy="131693"/>
          </a:xfrm>
          <a:prstGeom prst="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EA4DFC5-DFE8-BE01-96CF-A7E525E3E1F1}"/>
              </a:ext>
            </a:extLst>
          </p:cNvPr>
          <p:cNvSpPr/>
          <p:nvPr/>
        </p:nvSpPr>
        <p:spPr>
          <a:xfrm>
            <a:off x="4610411" y="2740999"/>
            <a:ext cx="1202635" cy="429637"/>
          </a:xfrm>
          <a:prstGeom prst="roundRect">
            <a:avLst/>
          </a:pr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张三，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620C8D9-EE2B-DE53-DDB0-C2D38B0BF557}"/>
              </a:ext>
            </a:extLst>
          </p:cNvPr>
          <p:cNvSpPr/>
          <p:nvPr/>
        </p:nvSpPr>
        <p:spPr>
          <a:xfrm>
            <a:off x="5684963" y="1892927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李四，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00635D2-B0CA-8422-E804-BAD23889093C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342284" y="2322564"/>
            <a:ext cx="943997" cy="423172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BD12C71-01D4-6DAB-9F97-A76C11FD529D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6286281" y="2322563"/>
            <a:ext cx="1202635" cy="418436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314DC6A-5F82-A37F-08F6-CCB31419FD91}"/>
              </a:ext>
            </a:extLst>
          </p:cNvPr>
          <p:cNvSpPr/>
          <p:nvPr/>
        </p:nvSpPr>
        <p:spPr>
          <a:xfrm>
            <a:off x="7819143" y="3567787"/>
            <a:ext cx="1202635" cy="429637"/>
          </a:xfrm>
          <a:prstGeom prst="roundRect">
            <a:avLst/>
          </a:pr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赵六，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26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6B0EE12-47EF-916B-0719-17FEDF6A9067}"/>
              </a:ext>
            </a:extLst>
          </p:cNvPr>
          <p:cNvSpPr/>
          <p:nvPr/>
        </p:nvSpPr>
        <p:spPr>
          <a:xfrm>
            <a:off x="925332" y="3920126"/>
            <a:ext cx="2737237" cy="638093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9F189AD-679E-926B-91E2-3C3D244AEBA0}"/>
              </a:ext>
            </a:extLst>
          </p:cNvPr>
          <p:cNvSpPr txBox="1"/>
          <p:nvPr/>
        </p:nvSpPr>
        <p:spPr>
          <a:xfrm>
            <a:off x="3065524" y="3175372"/>
            <a:ext cx="1143262" cy="415498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26</a:t>
            </a:r>
          </a:p>
          <a:p>
            <a:pPr algn="l"/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o.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24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77CD84D-889B-BE44-2004-E87799E72CB0}"/>
              </a:ext>
            </a:extLst>
          </p:cNvPr>
          <p:cNvSpPr txBox="1"/>
          <p:nvPr/>
        </p:nvSpPr>
        <p:spPr>
          <a:xfrm>
            <a:off x="3065524" y="3175372"/>
            <a:ext cx="1143262" cy="415498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26</a:t>
            </a:r>
          </a:p>
          <a:p>
            <a:pPr algn="l"/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o.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25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JetBrains Mono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B5F07BA-EDF4-04A2-7641-21FC5A321F27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7488915" y="3182228"/>
            <a:ext cx="931546" cy="385559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CB118A2D-A104-73FD-502C-AFE1D7B19175}"/>
              </a:ext>
            </a:extLst>
          </p:cNvPr>
          <p:cNvGrpSpPr/>
          <p:nvPr/>
        </p:nvGrpSpPr>
        <p:grpSpPr>
          <a:xfrm>
            <a:off x="4838954" y="4718709"/>
            <a:ext cx="3044802" cy="275588"/>
            <a:chOff x="7385491" y="3399552"/>
            <a:chExt cx="4059736" cy="367450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D66D2B11-D20B-4FD5-DA4B-42D416DB79B4}"/>
                </a:ext>
              </a:extLst>
            </p:cNvPr>
            <p:cNvSpPr/>
            <p:nvPr/>
          </p:nvSpPr>
          <p:spPr bwMode="auto">
            <a:xfrm>
              <a:off x="7385491" y="3474654"/>
              <a:ext cx="4059736" cy="235008"/>
            </a:xfrm>
            <a:prstGeom prst="roundRect">
              <a:avLst>
                <a:gd name="adj" fmla="val 50000"/>
              </a:avLst>
            </a:prstGeom>
            <a:solidFill>
              <a:srgbClr val="C0504E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5F2F80D9-02B6-F37F-C74D-268ED687A9B6}"/>
                </a:ext>
              </a:extLst>
            </p:cNvPr>
            <p:cNvSpPr/>
            <p:nvPr/>
          </p:nvSpPr>
          <p:spPr>
            <a:xfrm>
              <a:off x="7454131" y="3399552"/>
              <a:ext cx="3156023" cy="3674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将“父”设为黑色，将“叔叔”设为黑色</a:t>
              </a:r>
              <a:endParaRPr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阿里巴巴普惠体" panose="00020600040101010101"/>
                <a:cs typeface="阿里巴巴普惠体" panose="00020600040101010101" pitchFamily="18" charset="-122"/>
                <a:sym typeface="阿里巴巴普惠体" panose="00020600040101010101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2731EC32-A484-EA5C-EDDD-21DEE250B521}"/>
              </a:ext>
            </a:extLst>
          </p:cNvPr>
          <p:cNvGrpSpPr/>
          <p:nvPr/>
        </p:nvGrpSpPr>
        <p:grpSpPr>
          <a:xfrm>
            <a:off x="4838954" y="4931276"/>
            <a:ext cx="3044802" cy="275588"/>
            <a:chOff x="7385491" y="3682977"/>
            <a:chExt cx="4059736" cy="367451"/>
          </a:xfrm>
        </p:grpSpPr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F770D4EB-FADD-607D-B939-20B6CEBA6455}"/>
                </a:ext>
              </a:extLst>
            </p:cNvPr>
            <p:cNvSpPr/>
            <p:nvPr/>
          </p:nvSpPr>
          <p:spPr bwMode="auto">
            <a:xfrm>
              <a:off x="7385491" y="3755641"/>
              <a:ext cx="4059736" cy="235008"/>
            </a:xfrm>
            <a:prstGeom prst="roundRect">
              <a:avLst>
                <a:gd name="adj" fmla="val 50000"/>
              </a:avLst>
            </a:prstGeom>
            <a:solidFill>
              <a:srgbClr val="C0504E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76F44200-C933-1255-B083-30976062B692}"/>
                </a:ext>
              </a:extLst>
            </p:cNvPr>
            <p:cNvSpPr txBox="1"/>
            <p:nvPr/>
          </p:nvSpPr>
          <p:spPr>
            <a:xfrm>
              <a:off x="7454131" y="3682977"/>
              <a:ext cx="1832941" cy="3674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6858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将“祖父”设为“红色”</a:t>
              </a:r>
              <a:endParaRPr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阿里巴巴普惠体" panose="00020600040101010101"/>
                <a:cs typeface="阿里巴巴普惠体" panose="00020600040101010101" pitchFamily="18" charset="-122"/>
                <a:sym typeface="阿里巴巴普惠体" panose="00020600040101010101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2D8EA4B-E9A3-F9B7-A228-3957AAE2554B}"/>
              </a:ext>
            </a:extLst>
          </p:cNvPr>
          <p:cNvGrpSpPr/>
          <p:nvPr/>
        </p:nvGrpSpPr>
        <p:grpSpPr>
          <a:xfrm>
            <a:off x="4838954" y="5141467"/>
            <a:ext cx="3044802" cy="483337"/>
            <a:chOff x="7385491" y="3963227"/>
            <a:chExt cx="4059736" cy="644448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D8126F4D-BAC8-B650-C51A-22EAA6344E53}"/>
                </a:ext>
              </a:extLst>
            </p:cNvPr>
            <p:cNvSpPr/>
            <p:nvPr/>
          </p:nvSpPr>
          <p:spPr bwMode="auto">
            <a:xfrm>
              <a:off x="7385491" y="4036629"/>
              <a:ext cx="4059736" cy="235008"/>
            </a:xfrm>
            <a:prstGeom prst="roundRect">
              <a:avLst>
                <a:gd name="adj" fmla="val 50000"/>
              </a:avLst>
            </a:prstGeom>
            <a:solidFill>
              <a:srgbClr val="C0504E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8E9B76BA-280E-6C7A-2599-24F81C05220B}"/>
                </a:ext>
              </a:extLst>
            </p:cNvPr>
            <p:cNvSpPr txBox="1"/>
            <p:nvPr/>
          </p:nvSpPr>
          <p:spPr>
            <a:xfrm>
              <a:off x="7453175" y="3963227"/>
              <a:ext cx="2325252" cy="6444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6858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如果祖父为根，再将根变回黑色</a:t>
              </a: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3B5CB6EA-A67F-781B-3702-E7A01D794B03}"/>
              </a:ext>
            </a:extLst>
          </p:cNvPr>
          <p:cNvGrpSpPr/>
          <p:nvPr/>
        </p:nvGrpSpPr>
        <p:grpSpPr>
          <a:xfrm>
            <a:off x="4838954" y="5341872"/>
            <a:ext cx="3044802" cy="483337"/>
            <a:chOff x="7385491" y="4230433"/>
            <a:chExt cx="4059736" cy="644450"/>
          </a:xfrm>
        </p:grpSpPr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0B5D76BE-5833-7DB4-EA0D-6FAC0730EC9C}"/>
                </a:ext>
              </a:extLst>
            </p:cNvPr>
            <p:cNvSpPr/>
            <p:nvPr/>
          </p:nvSpPr>
          <p:spPr bwMode="auto">
            <a:xfrm>
              <a:off x="7385491" y="4317616"/>
              <a:ext cx="4059736" cy="235008"/>
            </a:xfrm>
            <a:prstGeom prst="roundRect">
              <a:avLst>
                <a:gd name="adj" fmla="val 50000"/>
              </a:avLst>
            </a:prstGeom>
            <a:solidFill>
              <a:srgbClr val="C0504E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A244867F-C3B8-00C7-C90F-BE04864041AA}"/>
                </a:ext>
              </a:extLst>
            </p:cNvPr>
            <p:cNvSpPr txBox="1"/>
            <p:nvPr/>
          </p:nvSpPr>
          <p:spPr>
            <a:xfrm>
              <a:off x="7443650" y="4230433"/>
              <a:ext cx="3867219" cy="6444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858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如果祖父非根，将祖父设置为当前节点再进行其他判断</a:t>
              </a: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D821FE0-AD15-B627-F1E0-AC84463945D4}"/>
              </a:ext>
            </a:extLst>
          </p:cNvPr>
          <p:cNvGrpSpPr/>
          <p:nvPr/>
        </p:nvGrpSpPr>
        <p:grpSpPr>
          <a:xfrm>
            <a:off x="5684963" y="4177576"/>
            <a:ext cx="1392440" cy="468458"/>
            <a:chOff x="5234774" y="3405553"/>
            <a:chExt cx="1856587" cy="624610"/>
          </a:xfrm>
        </p:grpSpPr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46EC6572-98C7-7CBD-CB05-A1CDC9BDB9ED}"/>
                </a:ext>
              </a:extLst>
            </p:cNvPr>
            <p:cNvSpPr/>
            <p:nvPr/>
          </p:nvSpPr>
          <p:spPr bwMode="auto">
            <a:xfrm>
              <a:off x="5234774" y="3522344"/>
              <a:ext cx="1856587" cy="507819"/>
            </a:xfrm>
            <a:prstGeom prst="roundRect">
              <a:avLst>
                <a:gd name="adj" fmla="val 10906"/>
              </a:avLst>
            </a:prstGeom>
            <a:solidFill>
              <a:schemeClr val="bg1"/>
            </a:solidFill>
            <a:ln w="9525"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AFC67AE0-17F4-2106-9441-85C949B42110}"/>
                </a:ext>
              </a:extLst>
            </p:cNvPr>
            <p:cNvSpPr/>
            <p:nvPr/>
          </p:nvSpPr>
          <p:spPr>
            <a:xfrm>
              <a:off x="5695890" y="3637893"/>
              <a:ext cx="861775" cy="3077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叔叔红色</a:t>
              </a:r>
              <a:endParaRPr lang="zh-CN" altLang="en-US" sz="900" dirty="0">
                <a:latin typeface="微软雅黑" panose="020B0503020204020204" pitchFamily="34" charset="-122"/>
                <a:ea typeface="阿里巴巴普惠体" panose="00020600040101010101"/>
                <a:cs typeface="阿里巴巴普惠体" panose="00020600040101010101" pitchFamily="18" charset="-122"/>
                <a:sym typeface="阿里巴巴普惠体" panose="00020600040101010101"/>
              </a:endParaRP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AB2B4B02-A518-6263-A2DB-1539EBB6647D}"/>
                </a:ext>
              </a:extLst>
            </p:cNvPr>
            <p:cNvSpPr/>
            <p:nvPr/>
          </p:nvSpPr>
          <p:spPr bwMode="auto">
            <a:xfrm>
              <a:off x="5312425" y="3405553"/>
              <a:ext cx="188771" cy="188771"/>
            </a:xfrm>
            <a:prstGeom prst="ellipse">
              <a:avLst/>
            </a:prstGeom>
            <a:solidFill>
              <a:srgbClr val="B6000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 </a:t>
              </a:r>
              <a:endParaRPr lang="zh-CN" altLang="en-US" sz="9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43" name="标题 1">
            <a:extLst>
              <a:ext uri="{FF2B5EF4-FFF2-40B4-BE49-F238E27FC236}">
                <a16:creationId xmlns:a16="http://schemas.microsoft.com/office/drawing/2014/main" id="{DF8D9A80-A905-40D3-A7CD-C80B9D134664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4CF313CC-5D20-44B4-ABD1-68065EFDC37E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2571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E90CFB-5013-47B8-BF42-0596C1816431}"/>
              </a:ext>
            </a:extLst>
          </p:cNvPr>
          <p:cNvSpPr txBox="1"/>
          <p:nvPr/>
        </p:nvSpPr>
        <p:spPr>
          <a:xfrm>
            <a:off x="658314" y="1678109"/>
            <a:ext cx="3514725" cy="5662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TreeSet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排序 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自然排序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b="1" dirty="0">
              <a:solidFill>
                <a:srgbClr val="AD2B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50B4453D-271E-76D4-FD1B-62A3C99A48F1}"/>
              </a:ext>
            </a:extLst>
          </p:cNvPr>
          <p:cNvSpPr txBox="1"/>
          <p:nvPr/>
        </p:nvSpPr>
        <p:spPr>
          <a:xfrm>
            <a:off x="658315" y="2238846"/>
            <a:ext cx="2616629" cy="13161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类实现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Comparable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重写 </a:t>
            </a:r>
            <a:r>
              <a:rPr lang="en-US" altLang="zh-CN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compareTo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根据方法的返回值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来组织排序规则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负数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左边走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正数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右边走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0  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不存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9039FBB-CF05-8E70-74B0-38832E24A529}"/>
              </a:ext>
            </a:extLst>
          </p:cNvPr>
          <p:cNvSpPr txBox="1"/>
          <p:nvPr/>
        </p:nvSpPr>
        <p:spPr>
          <a:xfrm>
            <a:off x="658314" y="3665590"/>
            <a:ext cx="3514725" cy="1061829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implements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Comparable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@Override</a:t>
            </a:r>
            <a:b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int </a:t>
            </a:r>
            <a:r>
              <a:rPr lang="zh-CN" altLang="zh-CN" sz="9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compareTo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o) 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return this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- o.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endParaRPr lang="zh-CN" altLang="zh-CN" sz="900" dirty="0">
              <a:latin typeface="Consolas" panose="020B0609020204030204" pitchFamily="49" charset="0"/>
            </a:endParaRPr>
          </a:p>
          <a:p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900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650141-1EE0-7EBD-9B13-EEE42730BAFC}"/>
              </a:ext>
            </a:extLst>
          </p:cNvPr>
          <p:cNvSpPr txBox="1"/>
          <p:nvPr/>
        </p:nvSpPr>
        <p:spPr>
          <a:xfrm>
            <a:off x="658314" y="4783741"/>
            <a:ext cx="3514725" cy="923330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TreeSet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TreeSet&lt;&gt;();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王五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25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张三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23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李四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24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en-US" altLang="zh-CN" sz="9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赵六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26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zh-CN" altLang="zh-CN" sz="1500" dirty="0">
              <a:latin typeface="Consolas" panose="020B0609020204030204" pitchFamily="49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8FF4369-7830-BE90-42FD-EA8AD6E30471}"/>
              </a:ext>
            </a:extLst>
          </p:cNvPr>
          <p:cNvSpPr/>
          <p:nvPr/>
        </p:nvSpPr>
        <p:spPr>
          <a:xfrm>
            <a:off x="6887598" y="2740999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王五，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25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FE01C4-5E86-5147-27F7-9DAA297E6BB3}"/>
              </a:ext>
            </a:extLst>
          </p:cNvPr>
          <p:cNvSpPr/>
          <p:nvPr/>
        </p:nvSpPr>
        <p:spPr>
          <a:xfrm>
            <a:off x="658314" y="5509144"/>
            <a:ext cx="3514725" cy="131693"/>
          </a:xfrm>
          <a:prstGeom prst="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EA4DFC5-DFE8-BE01-96CF-A7E525E3E1F1}"/>
              </a:ext>
            </a:extLst>
          </p:cNvPr>
          <p:cNvSpPr/>
          <p:nvPr/>
        </p:nvSpPr>
        <p:spPr>
          <a:xfrm>
            <a:off x="4610411" y="2740999"/>
            <a:ext cx="1202635" cy="429637"/>
          </a:xfrm>
          <a:prstGeom prst="roundRect">
            <a:avLst/>
          </a:pr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张三，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620C8D9-EE2B-DE53-DDB0-C2D38B0BF557}"/>
              </a:ext>
            </a:extLst>
          </p:cNvPr>
          <p:cNvSpPr/>
          <p:nvPr/>
        </p:nvSpPr>
        <p:spPr>
          <a:xfrm>
            <a:off x="5684963" y="1892927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李四，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00635D2-B0CA-8422-E804-BAD23889093C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342284" y="2322564"/>
            <a:ext cx="943997" cy="423172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BD12C71-01D4-6DAB-9F97-A76C11FD529D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6286281" y="2322563"/>
            <a:ext cx="1202635" cy="418436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314DC6A-5F82-A37F-08F6-CCB31419FD91}"/>
              </a:ext>
            </a:extLst>
          </p:cNvPr>
          <p:cNvSpPr/>
          <p:nvPr/>
        </p:nvSpPr>
        <p:spPr>
          <a:xfrm>
            <a:off x="7819143" y="3567787"/>
            <a:ext cx="1202635" cy="429637"/>
          </a:xfrm>
          <a:prstGeom prst="roundRect">
            <a:avLst/>
          </a:pr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赵六，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26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6B0EE12-47EF-916B-0719-17FEDF6A9067}"/>
              </a:ext>
            </a:extLst>
          </p:cNvPr>
          <p:cNvSpPr/>
          <p:nvPr/>
        </p:nvSpPr>
        <p:spPr>
          <a:xfrm>
            <a:off x="925332" y="3920126"/>
            <a:ext cx="2737237" cy="638093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9F189AD-679E-926B-91E2-3C3D244AEBA0}"/>
              </a:ext>
            </a:extLst>
          </p:cNvPr>
          <p:cNvSpPr txBox="1"/>
          <p:nvPr/>
        </p:nvSpPr>
        <p:spPr>
          <a:xfrm>
            <a:off x="3065524" y="3175372"/>
            <a:ext cx="1143262" cy="415498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26</a:t>
            </a:r>
          </a:p>
          <a:p>
            <a:pPr algn="l"/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o.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24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77CD84D-889B-BE44-2004-E87799E72CB0}"/>
              </a:ext>
            </a:extLst>
          </p:cNvPr>
          <p:cNvSpPr txBox="1"/>
          <p:nvPr/>
        </p:nvSpPr>
        <p:spPr>
          <a:xfrm>
            <a:off x="3065524" y="3175372"/>
            <a:ext cx="1143262" cy="415498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26</a:t>
            </a:r>
          </a:p>
          <a:p>
            <a:pPr algn="l"/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o.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25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JetBrains Mono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B5F07BA-EDF4-04A2-7641-21FC5A321F27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7488915" y="3182228"/>
            <a:ext cx="931546" cy="385559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CB118A2D-A104-73FD-502C-AFE1D7B19175}"/>
              </a:ext>
            </a:extLst>
          </p:cNvPr>
          <p:cNvGrpSpPr/>
          <p:nvPr/>
        </p:nvGrpSpPr>
        <p:grpSpPr>
          <a:xfrm>
            <a:off x="4838954" y="4718709"/>
            <a:ext cx="3044802" cy="275588"/>
            <a:chOff x="7385491" y="3399552"/>
            <a:chExt cx="4059736" cy="367450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D66D2B11-D20B-4FD5-DA4B-42D416DB79B4}"/>
                </a:ext>
              </a:extLst>
            </p:cNvPr>
            <p:cNvSpPr/>
            <p:nvPr/>
          </p:nvSpPr>
          <p:spPr bwMode="auto">
            <a:xfrm>
              <a:off x="7385491" y="3474654"/>
              <a:ext cx="4059736" cy="235008"/>
            </a:xfrm>
            <a:prstGeom prst="roundRect">
              <a:avLst>
                <a:gd name="adj" fmla="val 50000"/>
              </a:avLst>
            </a:prstGeom>
            <a:solidFill>
              <a:srgbClr val="C0504E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5F2F80D9-02B6-F37F-C74D-268ED687A9B6}"/>
                </a:ext>
              </a:extLst>
            </p:cNvPr>
            <p:cNvSpPr/>
            <p:nvPr/>
          </p:nvSpPr>
          <p:spPr>
            <a:xfrm>
              <a:off x="7454131" y="3399552"/>
              <a:ext cx="3156023" cy="3674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将“父”设为黑色，将“叔叔”设为黑色</a:t>
              </a:r>
              <a:endParaRPr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阿里巴巴普惠体" panose="00020600040101010101"/>
                <a:cs typeface="阿里巴巴普惠体" panose="00020600040101010101" pitchFamily="18" charset="-122"/>
                <a:sym typeface="阿里巴巴普惠体" panose="00020600040101010101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2731EC32-A484-EA5C-EDDD-21DEE250B521}"/>
              </a:ext>
            </a:extLst>
          </p:cNvPr>
          <p:cNvGrpSpPr/>
          <p:nvPr/>
        </p:nvGrpSpPr>
        <p:grpSpPr>
          <a:xfrm>
            <a:off x="4838954" y="4931276"/>
            <a:ext cx="3044802" cy="275588"/>
            <a:chOff x="7385491" y="3682977"/>
            <a:chExt cx="4059736" cy="367451"/>
          </a:xfrm>
        </p:grpSpPr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F770D4EB-FADD-607D-B939-20B6CEBA6455}"/>
                </a:ext>
              </a:extLst>
            </p:cNvPr>
            <p:cNvSpPr/>
            <p:nvPr/>
          </p:nvSpPr>
          <p:spPr bwMode="auto">
            <a:xfrm>
              <a:off x="7385491" y="3755641"/>
              <a:ext cx="4059736" cy="235008"/>
            </a:xfrm>
            <a:prstGeom prst="roundRect">
              <a:avLst>
                <a:gd name="adj" fmla="val 50000"/>
              </a:avLst>
            </a:prstGeom>
            <a:solidFill>
              <a:srgbClr val="C0504E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76F44200-C933-1255-B083-30976062B692}"/>
                </a:ext>
              </a:extLst>
            </p:cNvPr>
            <p:cNvSpPr txBox="1"/>
            <p:nvPr/>
          </p:nvSpPr>
          <p:spPr>
            <a:xfrm>
              <a:off x="7454131" y="3682977"/>
              <a:ext cx="1832941" cy="3674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6858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将“祖父”设为“红色”</a:t>
              </a:r>
              <a:endParaRPr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阿里巴巴普惠体" panose="00020600040101010101"/>
                <a:cs typeface="阿里巴巴普惠体" panose="00020600040101010101" pitchFamily="18" charset="-122"/>
                <a:sym typeface="阿里巴巴普惠体" panose="00020600040101010101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2D8EA4B-E9A3-F9B7-A228-3957AAE2554B}"/>
              </a:ext>
            </a:extLst>
          </p:cNvPr>
          <p:cNvGrpSpPr/>
          <p:nvPr/>
        </p:nvGrpSpPr>
        <p:grpSpPr>
          <a:xfrm>
            <a:off x="4838954" y="5141467"/>
            <a:ext cx="3044802" cy="483337"/>
            <a:chOff x="7385491" y="3963227"/>
            <a:chExt cx="4059736" cy="644448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D8126F4D-BAC8-B650-C51A-22EAA6344E53}"/>
                </a:ext>
              </a:extLst>
            </p:cNvPr>
            <p:cNvSpPr/>
            <p:nvPr/>
          </p:nvSpPr>
          <p:spPr bwMode="auto">
            <a:xfrm>
              <a:off x="7385491" y="4036629"/>
              <a:ext cx="4059736" cy="235008"/>
            </a:xfrm>
            <a:prstGeom prst="roundRect">
              <a:avLst>
                <a:gd name="adj" fmla="val 50000"/>
              </a:avLst>
            </a:prstGeom>
            <a:solidFill>
              <a:srgbClr val="C0504E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8E9B76BA-280E-6C7A-2599-24F81C05220B}"/>
                </a:ext>
              </a:extLst>
            </p:cNvPr>
            <p:cNvSpPr txBox="1"/>
            <p:nvPr/>
          </p:nvSpPr>
          <p:spPr>
            <a:xfrm>
              <a:off x="7453175" y="3963227"/>
              <a:ext cx="2325252" cy="6444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6858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如果祖父为根，再将根变回黑色</a:t>
              </a: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3B5CB6EA-A67F-781B-3702-E7A01D794B03}"/>
              </a:ext>
            </a:extLst>
          </p:cNvPr>
          <p:cNvGrpSpPr/>
          <p:nvPr/>
        </p:nvGrpSpPr>
        <p:grpSpPr>
          <a:xfrm>
            <a:off x="4838954" y="5341872"/>
            <a:ext cx="3044802" cy="483337"/>
            <a:chOff x="7385491" y="4230433"/>
            <a:chExt cx="4059736" cy="644450"/>
          </a:xfrm>
        </p:grpSpPr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0B5D76BE-5833-7DB4-EA0D-6FAC0730EC9C}"/>
                </a:ext>
              </a:extLst>
            </p:cNvPr>
            <p:cNvSpPr/>
            <p:nvPr/>
          </p:nvSpPr>
          <p:spPr bwMode="auto">
            <a:xfrm>
              <a:off x="7385491" y="4317616"/>
              <a:ext cx="4059736" cy="235008"/>
            </a:xfrm>
            <a:prstGeom prst="roundRect">
              <a:avLst>
                <a:gd name="adj" fmla="val 50000"/>
              </a:avLst>
            </a:prstGeom>
            <a:solidFill>
              <a:srgbClr val="C0504E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A244867F-C3B8-00C7-C90F-BE04864041AA}"/>
                </a:ext>
              </a:extLst>
            </p:cNvPr>
            <p:cNvSpPr txBox="1"/>
            <p:nvPr/>
          </p:nvSpPr>
          <p:spPr>
            <a:xfrm>
              <a:off x="7443650" y="4230433"/>
              <a:ext cx="3867219" cy="6444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858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如果祖父非根，将祖父设置为当前节点再进行其他判断</a:t>
              </a: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D821FE0-AD15-B627-F1E0-AC84463945D4}"/>
              </a:ext>
            </a:extLst>
          </p:cNvPr>
          <p:cNvGrpSpPr/>
          <p:nvPr/>
        </p:nvGrpSpPr>
        <p:grpSpPr>
          <a:xfrm>
            <a:off x="5684963" y="4177576"/>
            <a:ext cx="1392440" cy="468458"/>
            <a:chOff x="5234774" y="3405553"/>
            <a:chExt cx="1856587" cy="624610"/>
          </a:xfrm>
        </p:grpSpPr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46EC6572-98C7-7CBD-CB05-A1CDC9BDB9ED}"/>
                </a:ext>
              </a:extLst>
            </p:cNvPr>
            <p:cNvSpPr/>
            <p:nvPr/>
          </p:nvSpPr>
          <p:spPr bwMode="auto">
            <a:xfrm>
              <a:off x="5234774" y="3522344"/>
              <a:ext cx="1856587" cy="507819"/>
            </a:xfrm>
            <a:prstGeom prst="roundRect">
              <a:avLst>
                <a:gd name="adj" fmla="val 10906"/>
              </a:avLst>
            </a:prstGeom>
            <a:solidFill>
              <a:schemeClr val="bg1"/>
            </a:solidFill>
            <a:ln w="9525"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AFC67AE0-17F4-2106-9441-85C949B42110}"/>
                </a:ext>
              </a:extLst>
            </p:cNvPr>
            <p:cNvSpPr/>
            <p:nvPr/>
          </p:nvSpPr>
          <p:spPr>
            <a:xfrm>
              <a:off x="5695890" y="3637893"/>
              <a:ext cx="861775" cy="3077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叔叔红色</a:t>
              </a:r>
              <a:endParaRPr lang="zh-CN" altLang="en-US" sz="900" dirty="0">
                <a:latin typeface="微软雅黑" panose="020B0503020204020204" pitchFamily="34" charset="-122"/>
                <a:ea typeface="阿里巴巴普惠体" panose="00020600040101010101"/>
                <a:cs typeface="阿里巴巴普惠体" panose="00020600040101010101" pitchFamily="18" charset="-122"/>
                <a:sym typeface="阿里巴巴普惠体" panose="00020600040101010101"/>
              </a:endParaRP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AB2B4B02-A518-6263-A2DB-1539EBB6647D}"/>
                </a:ext>
              </a:extLst>
            </p:cNvPr>
            <p:cNvSpPr/>
            <p:nvPr/>
          </p:nvSpPr>
          <p:spPr bwMode="auto">
            <a:xfrm>
              <a:off x="5312425" y="3405553"/>
              <a:ext cx="188771" cy="188771"/>
            </a:xfrm>
            <a:prstGeom prst="ellipse">
              <a:avLst/>
            </a:prstGeom>
            <a:solidFill>
              <a:srgbClr val="B6000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 </a:t>
              </a:r>
              <a:endParaRPr lang="zh-CN" altLang="en-US" sz="9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43" name="标题 1">
            <a:extLst>
              <a:ext uri="{FF2B5EF4-FFF2-40B4-BE49-F238E27FC236}">
                <a16:creationId xmlns:a16="http://schemas.microsoft.com/office/drawing/2014/main" id="{DA08EA50-2BF0-4888-925F-D1E4BD710F50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72C12F35-4B8A-4DEE-ADC4-97FDB1AC401E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8246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E90CFB-5013-47B8-BF42-0596C1816431}"/>
              </a:ext>
            </a:extLst>
          </p:cNvPr>
          <p:cNvSpPr txBox="1"/>
          <p:nvPr/>
        </p:nvSpPr>
        <p:spPr>
          <a:xfrm>
            <a:off x="658314" y="1678109"/>
            <a:ext cx="3514725" cy="5662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TreeSet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排序 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自然排序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b="1" dirty="0">
              <a:solidFill>
                <a:srgbClr val="AD2B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50B4453D-271E-76D4-FD1B-62A3C99A48F1}"/>
              </a:ext>
            </a:extLst>
          </p:cNvPr>
          <p:cNvSpPr txBox="1"/>
          <p:nvPr/>
        </p:nvSpPr>
        <p:spPr>
          <a:xfrm>
            <a:off x="658315" y="2238846"/>
            <a:ext cx="2616629" cy="13161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类实现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Comparable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重写 </a:t>
            </a:r>
            <a:r>
              <a:rPr lang="en-US" altLang="zh-CN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compareTo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根据方法的返回值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来组织排序规则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负数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左边走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正数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右边走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0  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不存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9039FBB-CF05-8E70-74B0-38832E24A529}"/>
              </a:ext>
            </a:extLst>
          </p:cNvPr>
          <p:cNvSpPr txBox="1"/>
          <p:nvPr/>
        </p:nvSpPr>
        <p:spPr>
          <a:xfrm>
            <a:off x="658314" y="3665590"/>
            <a:ext cx="3514725" cy="1061829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implements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Comparable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@Override</a:t>
            </a:r>
            <a:b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int </a:t>
            </a:r>
            <a:r>
              <a:rPr lang="zh-CN" altLang="zh-CN" sz="9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compareTo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o) 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return this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- o.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endParaRPr lang="zh-CN" altLang="zh-CN" sz="900" dirty="0">
              <a:latin typeface="Consolas" panose="020B0609020204030204" pitchFamily="49" charset="0"/>
            </a:endParaRPr>
          </a:p>
          <a:p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900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650141-1EE0-7EBD-9B13-EEE42730BAFC}"/>
              </a:ext>
            </a:extLst>
          </p:cNvPr>
          <p:cNvSpPr txBox="1"/>
          <p:nvPr/>
        </p:nvSpPr>
        <p:spPr>
          <a:xfrm>
            <a:off x="658314" y="4783741"/>
            <a:ext cx="3514725" cy="923330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TreeSet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TreeSet&lt;&gt;();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王五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25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张三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23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李四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24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en-US" altLang="zh-CN" sz="9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赵六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26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zh-CN" altLang="zh-CN" sz="1500" dirty="0">
              <a:latin typeface="Consolas" panose="020B0609020204030204" pitchFamily="49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8FF4369-7830-BE90-42FD-EA8AD6E30471}"/>
              </a:ext>
            </a:extLst>
          </p:cNvPr>
          <p:cNvSpPr/>
          <p:nvPr/>
        </p:nvSpPr>
        <p:spPr>
          <a:xfrm>
            <a:off x="6887598" y="2740999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王五，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25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FE01C4-5E86-5147-27F7-9DAA297E6BB3}"/>
              </a:ext>
            </a:extLst>
          </p:cNvPr>
          <p:cNvSpPr/>
          <p:nvPr/>
        </p:nvSpPr>
        <p:spPr>
          <a:xfrm>
            <a:off x="658314" y="5509144"/>
            <a:ext cx="3514725" cy="131693"/>
          </a:xfrm>
          <a:prstGeom prst="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EA4DFC5-DFE8-BE01-96CF-A7E525E3E1F1}"/>
              </a:ext>
            </a:extLst>
          </p:cNvPr>
          <p:cNvSpPr/>
          <p:nvPr/>
        </p:nvSpPr>
        <p:spPr>
          <a:xfrm>
            <a:off x="4610411" y="2740999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张三，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620C8D9-EE2B-DE53-DDB0-C2D38B0BF557}"/>
              </a:ext>
            </a:extLst>
          </p:cNvPr>
          <p:cNvSpPr/>
          <p:nvPr/>
        </p:nvSpPr>
        <p:spPr>
          <a:xfrm>
            <a:off x="5684963" y="1892927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李四，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00635D2-B0CA-8422-E804-BAD23889093C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342284" y="2322564"/>
            <a:ext cx="943997" cy="423172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BD12C71-01D4-6DAB-9F97-A76C11FD529D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6286281" y="2322563"/>
            <a:ext cx="1202635" cy="418436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314DC6A-5F82-A37F-08F6-CCB31419FD91}"/>
              </a:ext>
            </a:extLst>
          </p:cNvPr>
          <p:cNvSpPr/>
          <p:nvPr/>
        </p:nvSpPr>
        <p:spPr>
          <a:xfrm>
            <a:off x="7819143" y="3567787"/>
            <a:ext cx="1202635" cy="429637"/>
          </a:xfrm>
          <a:prstGeom prst="roundRect">
            <a:avLst/>
          </a:pr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赵六，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26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6B0EE12-47EF-916B-0719-17FEDF6A9067}"/>
              </a:ext>
            </a:extLst>
          </p:cNvPr>
          <p:cNvSpPr/>
          <p:nvPr/>
        </p:nvSpPr>
        <p:spPr>
          <a:xfrm>
            <a:off x="925332" y="3920126"/>
            <a:ext cx="2737237" cy="638093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9F189AD-679E-926B-91E2-3C3D244AEBA0}"/>
              </a:ext>
            </a:extLst>
          </p:cNvPr>
          <p:cNvSpPr txBox="1"/>
          <p:nvPr/>
        </p:nvSpPr>
        <p:spPr>
          <a:xfrm>
            <a:off x="3065524" y="3175372"/>
            <a:ext cx="1143262" cy="415498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26</a:t>
            </a:r>
          </a:p>
          <a:p>
            <a:pPr algn="l"/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o.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24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77CD84D-889B-BE44-2004-E87799E72CB0}"/>
              </a:ext>
            </a:extLst>
          </p:cNvPr>
          <p:cNvSpPr txBox="1"/>
          <p:nvPr/>
        </p:nvSpPr>
        <p:spPr>
          <a:xfrm>
            <a:off x="3065524" y="3175372"/>
            <a:ext cx="1143262" cy="415498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26</a:t>
            </a:r>
          </a:p>
          <a:p>
            <a:pPr algn="l"/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o.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25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JetBrains Mono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B5F07BA-EDF4-04A2-7641-21FC5A321F27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7488915" y="3182228"/>
            <a:ext cx="931546" cy="385559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CB118A2D-A104-73FD-502C-AFE1D7B19175}"/>
              </a:ext>
            </a:extLst>
          </p:cNvPr>
          <p:cNvGrpSpPr/>
          <p:nvPr/>
        </p:nvGrpSpPr>
        <p:grpSpPr>
          <a:xfrm>
            <a:off x="4838954" y="4718709"/>
            <a:ext cx="3044802" cy="275588"/>
            <a:chOff x="7385491" y="3399552"/>
            <a:chExt cx="4059736" cy="367450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D66D2B11-D20B-4FD5-DA4B-42D416DB79B4}"/>
                </a:ext>
              </a:extLst>
            </p:cNvPr>
            <p:cNvSpPr/>
            <p:nvPr/>
          </p:nvSpPr>
          <p:spPr bwMode="auto">
            <a:xfrm>
              <a:off x="7385491" y="3474654"/>
              <a:ext cx="4059736" cy="235008"/>
            </a:xfrm>
            <a:prstGeom prst="roundRect">
              <a:avLst>
                <a:gd name="adj" fmla="val 50000"/>
              </a:avLst>
            </a:prstGeom>
            <a:solidFill>
              <a:srgbClr val="C0504E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5F2F80D9-02B6-F37F-C74D-268ED687A9B6}"/>
                </a:ext>
              </a:extLst>
            </p:cNvPr>
            <p:cNvSpPr/>
            <p:nvPr/>
          </p:nvSpPr>
          <p:spPr>
            <a:xfrm>
              <a:off x="7454131" y="3399552"/>
              <a:ext cx="3156023" cy="3674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将“父”设为黑色，将“叔叔”设为黑色</a:t>
              </a:r>
              <a:endParaRPr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阿里巴巴普惠体" panose="00020600040101010101"/>
                <a:cs typeface="阿里巴巴普惠体" panose="00020600040101010101" pitchFamily="18" charset="-122"/>
                <a:sym typeface="阿里巴巴普惠体" panose="00020600040101010101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2731EC32-A484-EA5C-EDDD-21DEE250B521}"/>
              </a:ext>
            </a:extLst>
          </p:cNvPr>
          <p:cNvGrpSpPr/>
          <p:nvPr/>
        </p:nvGrpSpPr>
        <p:grpSpPr>
          <a:xfrm>
            <a:off x="4838954" y="4931276"/>
            <a:ext cx="3044802" cy="275588"/>
            <a:chOff x="7385491" y="3682977"/>
            <a:chExt cx="4059736" cy="367451"/>
          </a:xfrm>
        </p:grpSpPr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F770D4EB-FADD-607D-B939-20B6CEBA6455}"/>
                </a:ext>
              </a:extLst>
            </p:cNvPr>
            <p:cNvSpPr/>
            <p:nvPr/>
          </p:nvSpPr>
          <p:spPr bwMode="auto">
            <a:xfrm>
              <a:off x="7385491" y="3755641"/>
              <a:ext cx="4059736" cy="235008"/>
            </a:xfrm>
            <a:prstGeom prst="roundRect">
              <a:avLst>
                <a:gd name="adj" fmla="val 50000"/>
              </a:avLst>
            </a:prstGeom>
            <a:solidFill>
              <a:srgbClr val="C0504E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76F44200-C933-1255-B083-30976062B692}"/>
                </a:ext>
              </a:extLst>
            </p:cNvPr>
            <p:cNvSpPr txBox="1"/>
            <p:nvPr/>
          </p:nvSpPr>
          <p:spPr>
            <a:xfrm>
              <a:off x="7454131" y="3682977"/>
              <a:ext cx="1832941" cy="3674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6858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将“祖父”设为“红色”</a:t>
              </a:r>
              <a:endParaRPr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阿里巴巴普惠体" panose="00020600040101010101"/>
                <a:cs typeface="阿里巴巴普惠体" panose="00020600040101010101" pitchFamily="18" charset="-122"/>
                <a:sym typeface="阿里巴巴普惠体" panose="00020600040101010101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2D8EA4B-E9A3-F9B7-A228-3957AAE2554B}"/>
              </a:ext>
            </a:extLst>
          </p:cNvPr>
          <p:cNvGrpSpPr/>
          <p:nvPr/>
        </p:nvGrpSpPr>
        <p:grpSpPr>
          <a:xfrm>
            <a:off x="4838954" y="5141467"/>
            <a:ext cx="3044802" cy="483337"/>
            <a:chOff x="7385491" y="3963227"/>
            <a:chExt cx="4059736" cy="644448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D8126F4D-BAC8-B650-C51A-22EAA6344E53}"/>
                </a:ext>
              </a:extLst>
            </p:cNvPr>
            <p:cNvSpPr/>
            <p:nvPr/>
          </p:nvSpPr>
          <p:spPr bwMode="auto">
            <a:xfrm>
              <a:off x="7385491" y="4036629"/>
              <a:ext cx="4059736" cy="235008"/>
            </a:xfrm>
            <a:prstGeom prst="roundRect">
              <a:avLst>
                <a:gd name="adj" fmla="val 50000"/>
              </a:avLst>
            </a:prstGeom>
            <a:solidFill>
              <a:srgbClr val="C0504E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8E9B76BA-280E-6C7A-2599-24F81C05220B}"/>
                </a:ext>
              </a:extLst>
            </p:cNvPr>
            <p:cNvSpPr txBox="1"/>
            <p:nvPr/>
          </p:nvSpPr>
          <p:spPr>
            <a:xfrm>
              <a:off x="7453175" y="3963227"/>
              <a:ext cx="2325252" cy="6444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6858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如果祖父为根，再将根变回黑色</a:t>
              </a: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3B5CB6EA-A67F-781B-3702-E7A01D794B03}"/>
              </a:ext>
            </a:extLst>
          </p:cNvPr>
          <p:cNvGrpSpPr/>
          <p:nvPr/>
        </p:nvGrpSpPr>
        <p:grpSpPr>
          <a:xfrm>
            <a:off x="4838954" y="5341872"/>
            <a:ext cx="3044802" cy="483337"/>
            <a:chOff x="7385491" y="4230433"/>
            <a:chExt cx="4059736" cy="644450"/>
          </a:xfrm>
        </p:grpSpPr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0B5D76BE-5833-7DB4-EA0D-6FAC0730EC9C}"/>
                </a:ext>
              </a:extLst>
            </p:cNvPr>
            <p:cNvSpPr/>
            <p:nvPr/>
          </p:nvSpPr>
          <p:spPr bwMode="auto">
            <a:xfrm>
              <a:off x="7385491" y="4317616"/>
              <a:ext cx="4059736" cy="235008"/>
            </a:xfrm>
            <a:prstGeom prst="roundRect">
              <a:avLst>
                <a:gd name="adj" fmla="val 50000"/>
              </a:avLst>
            </a:prstGeom>
            <a:solidFill>
              <a:srgbClr val="C0504E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A244867F-C3B8-00C7-C90F-BE04864041AA}"/>
                </a:ext>
              </a:extLst>
            </p:cNvPr>
            <p:cNvSpPr txBox="1"/>
            <p:nvPr/>
          </p:nvSpPr>
          <p:spPr>
            <a:xfrm>
              <a:off x="7443650" y="4230433"/>
              <a:ext cx="3867219" cy="6444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858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如果祖父非根，将祖父设置为当前节点再进行其他判断</a:t>
              </a: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D821FE0-AD15-B627-F1E0-AC84463945D4}"/>
              </a:ext>
            </a:extLst>
          </p:cNvPr>
          <p:cNvGrpSpPr/>
          <p:nvPr/>
        </p:nvGrpSpPr>
        <p:grpSpPr>
          <a:xfrm>
            <a:off x="5684963" y="4177576"/>
            <a:ext cx="1392440" cy="468458"/>
            <a:chOff x="5234774" y="3405553"/>
            <a:chExt cx="1856587" cy="624610"/>
          </a:xfrm>
        </p:grpSpPr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46EC6572-98C7-7CBD-CB05-A1CDC9BDB9ED}"/>
                </a:ext>
              </a:extLst>
            </p:cNvPr>
            <p:cNvSpPr/>
            <p:nvPr/>
          </p:nvSpPr>
          <p:spPr bwMode="auto">
            <a:xfrm>
              <a:off x="5234774" y="3522344"/>
              <a:ext cx="1856587" cy="507819"/>
            </a:xfrm>
            <a:prstGeom prst="roundRect">
              <a:avLst>
                <a:gd name="adj" fmla="val 10906"/>
              </a:avLst>
            </a:prstGeom>
            <a:solidFill>
              <a:schemeClr val="bg1"/>
            </a:solidFill>
            <a:ln w="9525"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AFC67AE0-17F4-2106-9441-85C949B42110}"/>
                </a:ext>
              </a:extLst>
            </p:cNvPr>
            <p:cNvSpPr/>
            <p:nvPr/>
          </p:nvSpPr>
          <p:spPr>
            <a:xfrm>
              <a:off x="5695890" y="3637893"/>
              <a:ext cx="861775" cy="3077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叔叔红色</a:t>
              </a:r>
              <a:endParaRPr lang="zh-CN" altLang="en-US" sz="900" dirty="0">
                <a:latin typeface="微软雅黑" panose="020B0503020204020204" pitchFamily="34" charset="-122"/>
                <a:ea typeface="阿里巴巴普惠体" panose="00020600040101010101"/>
                <a:cs typeface="阿里巴巴普惠体" panose="00020600040101010101" pitchFamily="18" charset="-122"/>
                <a:sym typeface="阿里巴巴普惠体" panose="00020600040101010101"/>
              </a:endParaRP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AB2B4B02-A518-6263-A2DB-1539EBB6647D}"/>
                </a:ext>
              </a:extLst>
            </p:cNvPr>
            <p:cNvSpPr/>
            <p:nvPr/>
          </p:nvSpPr>
          <p:spPr bwMode="auto">
            <a:xfrm>
              <a:off x="5312425" y="3405553"/>
              <a:ext cx="188771" cy="188771"/>
            </a:xfrm>
            <a:prstGeom prst="ellipse">
              <a:avLst/>
            </a:prstGeom>
            <a:solidFill>
              <a:srgbClr val="B6000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 </a:t>
              </a:r>
              <a:endParaRPr lang="zh-CN" altLang="en-US" sz="9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43" name="标题 1">
            <a:extLst>
              <a:ext uri="{FF2B5EF4-FFF2-40B4-BE49-F238E27FC236}">
                <a16:creationId xmlns:a16="http://schemas.microsoft.com/office/drawing/2014/main" id="{45725616-316E-499A-8207-886110160D71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1B6A8ACF-15B4-4C8C-90DF-E224AEDD4940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1969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E90CFB-5013-47B8-BF42-0596C1816431}"/>
              </a:ext>
            </a:extLst>
          </p:cNvPr>
          <p:cNvSpPr txBox="1"/>
          <p:nvPr/>
        </p:nvSpPr>
        <p:spPr>
          <a:xfrm>
            <a:off x="658314" y="1678109"/>
            <a:ext cx="3514725" cy="5662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TreeSet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排序 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自然排序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b="1" dirty="0">
              <a:solidFill>
                <a:srgbClr val="AD2B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50B4453D-271E-76D4-FD1B-62A3C99A48F1}"/>
              </a:ext>
            </a:extLst>
          </p:cNvPr>
          <p:cNvSpPr txBox="1"/>
          <p:nvPr/>
        </p:nvSpPr>
        <p:spPr>
          <a:xfrm>
            <a:off x="658315" y="2238846"/>
            <a:ext cx="2616629" cy="13161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类实现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Comparable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重写 </a:t>
            </a:r>
            <a:r>
              <a:rPr lang="en-US" altLang="zh-CN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compareTo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根据方法的返回值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来组织排序规则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负数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左边走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正数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右边走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0  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不存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9039FBB-CF05-8E70-74B0-38832E24A529}"/>
              </a:ext>
            </a:extLst>
          </p:cNvPr>
          <p:cNvSpPr txBox="1"/>
          <p:nvPr/>
        </p:nvSpPr>
        <p:spPr>
          <a:xfrm>
            <a:off x="658314" y="3665590"/>
            <a:ext cx="3514725" cy="1061829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implements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Comparable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@Override</a:t>
            </a:r>
            <a:b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int </a:t>
            </a:r>
            <a:r>
              <a:rPr lang="zh-CN" altLang="zh-CN" sz="9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compareTo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o) 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return this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- o.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endParaRPr lang="zh-CN" altLang="zh-CN" sz="900" dirty="0">
              <a:latin typeface="Consolas" panose="020B0609020204030204" pitchFamily="49" charset="0"/>
            </a:endParaRPr>
          </a:p>
          <a:p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900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650141-1EE0-7EBD-9B13-EEE42730BAFC}"/>
              </a:ext>
            </a:extLst>
          </p:cNvPr>
          <p:cNvSpPr txBox="1"/>
          <p:nvPr/>
        </p:nvSpPr>
        <p:spPr>
          <a:xfrm>
            <a:off x="658314" y="4783741"/>
            <a:ext cx="3514725" cy="923330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TreeSet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TreeSet&lt;&gt;();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王五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25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张三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23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李四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24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en-US" altLang="zh-CN" sz="9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赵六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26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zh-CN" altLang="zh-CN" sz="1500" dirty="0">
              <a:latin typeface="Consolas" panose="020B0609020204030204" pitchFamily="49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8FF4369-7830-BE90-42FD-EA8AD6E30471}"/>
              </a:ext>
            </a:extLst>
          </p:cNvPr>
          <p:cNvSpPr/>
          <p:nvPr/>
        </p:nvSpPr>
        <p:spPr>
          <a:xfrm>
            <a:off x="6887598" y="2740999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王五，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25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FE01C4-5E86-5147-27F7-9DAA297E6BB3}"/>
              </a:ext>
            </a:extLst>
          </p:cNvPr>
          <p:cNvSpPr/>
          <p:nvPr/>
        </p:nvSpPr>
        <p:spPr>
          <a:xfrm>
            <a:off x="658314" y="5509144"/>
            <a:ext cx="3514725" cy="131693"/>
          </a:xfrm>
          <a:prstGeom prst="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EA4DFC5-DFE8-BE01-96CF-A7E525E3E1F1}"/>
              </a:ext>
            </a:extLst>
          </p:cNvPr>
          <p:cNvSpPr/>
          <p:nvPr/>
        </p:nvSpPr>
        <p:spPr>
          <a:xfrm>
            <a:off x="4610411" y="2740999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张三，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620C8D9-EE2B-DE53-DDB0-C2D38B0BF557}"/>
              </a:ext>
            </a:extLst>
          </p:cNvPr>
          <p:cNvSpPr/>
          <p:nvPr/>
        </p:nvSpPr>
        <p:spPr>
          <a:xfrm>
            <a:off x="5684963" y="1892927"/>
            <a:ext cx="1202635" cy="429637"/>
          </a:xfrm>
          <a:prstGeom prst="roundRect">
            <a:avLst/>
          </a:prstGeom>
          <a:solidFill>
            <a:srgbClr val="C0504D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李四，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 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00635D2-B0CA-8422-E804-BAD23889093C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342284" y="2322564"/>
            <a:ext cx="943997" cy="423172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BD12C71-01D4-6DAB-9F97-A76C11FD529D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6286281" y="2322563"/>
            <a:ext cx="1202635" cy="418436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314DC6A-5F82-A37F-08F6-CCB31419FD91}"/>
              </a:ext>
            </a:extLst>
          </p:cNvPr>
          <p:cNvSpPr/>
          <p:nvPr/>
        </p:nvSpPr>
        <p:spPr>
          <a:xfrm>
            <a:off x="7819143" y="3567787"/>
            <a:ext cx="1202635" cy="429637"/>
          </a:xfrm>
          <a:prstGeom prst="roundRect">
            <a:avLst/>
          </a:pr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赵六，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26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6B0EE12-47EF-916B-0719-17FEDF6A9067}"/>
              </a:ext>
            </a:extLst>
          </p:cNvPr>
          <p:cNvSpPr/>
          <p:nvPr/>
        </p:nvSpPr>
        <p:spPr>
          <a:xfrm>
            <a:off x="925332" y="3920126"/>
            <a:ext cx="2737237" cy="638093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9F189AD-679E-926B-91E2-3C3D244AEBA0}"/>
              </a:ext>
            </a:extLst>
          </p:cNvPr>
          <p:cNvSpPr txBox="1"/>
          <p:nvPr/>
        </p:nvSpPr>
        <p:spPr>
          <a:xfrm>
            <a:off x="3065524" y="3175372"/>
            <a:ext cx="1143262" cy="415498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26</a:t>
            </a:r>
          </a:p>
          <a:p>
            <a:pPr algn="l"/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o.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24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77CD84D-889B-BE44-2004-E87799E72CB0}"/>
              </a:ext>
            </a:extLst>
          </p:cNvPr>
          <p:cNvSpPr txBox="1"/>
          <p:nvPr/>
        </p:nvSpPr>
        <p:spPr>
          <a:xfrm>
            <a:off x="3065524" y="3175372"/>
            <a:ext cx="1143262" cy="415498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26</a:t>
            </a:r>
          </a:p>
          <a:p>
            <a:pPr algn="l"/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o.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25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JetBrains Mono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B5F07BA-EDF4-04A2-7641-21FC5A321F27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7488915" y="3182228"/>
            <a:ext cx="931546" cy="385559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CB118A2D-A104-73FD-502C-AFE1D7B19175}"/>
              </a:ext>
            </a:extLst>
          </p:cNvPr>
          <p:cNvGrpSpPr/>
          <p:nvPr/>
        </p:nvGrpSpPr>
        <p:grpSpPr>
          <a:xfrm>
            <a:off x="4838954" y="4718709"/>
            <a:ext cx="3044802" cy="275588"/>
            <a:chOff x="7385491" y="3399552"/>
            <a:chExt cx="4059736" cy="367450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D66D2B11-D20B-4FD5-DA4B-42D416DB79B4}"/>
                </a:ext>
              </a:extLst>
            </p:cNvPr>
            <p:cNvSpPr/>
            <p:nvPr/>
          </p:nvSpPr>
          <p:spPr bwMode="auto">
            <a:xfrm>
              <a:off x="7385491" y="3474654"/>
              <a:ext cx="4059736" cy="235008"/>
            </a:xfrm>
            <a:prstGeom prst="roundRect">
              <a:avLst>
                <a:gd name="adj" fmla="val 50000"/>
              </a:avLst>
            </a:prstGeom>
            <a:solidFill>
              <a:srgbClr val="C0504E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5F2F80D9-02B6-F37F-C74D-268ED687A9B6}"/>
                </a:ext>
              </a:extLst>
            </p:cNvPr>
            <p:cNvSpPr/>
            <p:nvPr/>
          </p:nvSpPr>
          <p:spPr>
            <a:xfrm>
              <a:off x="7454131" y="3399552"/>
              <a:ext cx="3156023" cy="3674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将“父”设为黑色，将“叔叔”设为黑色</a:t>
              </a:r>
              <a:endParaRPr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阿里巴巴普惠体" panose="00020600040101010101"/>
                <a:cs typeface="阿里巴巴普惠体" panose="00020600040101010101" pitchFamily="18" charset="-122"/>
                <a:sym typeface="阿里巴巴普惠体" panose="00020600040101010101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2731EC32-A484-EA5C-EDDD-21DEE250B521}"/>
              </a:ext>
            </a:extLst>
          </p:cNvPr>
          <p:cNvGrpSpPr/>
          <p:nvPr/>
        </p:nvGrpSpPr>
        <p:grpSpPr>
          <a:xfrm>
            <a:off x="4838954" y="4931276"/>
            <a:ext cx="3044802" cy="275588"/>
            <a:chOff x="7385491" y="3682977"/>
            <a:chExt cx="4059736" cy="367451"/>
          </a:xfrm>
        </p:grpSpPr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F770D4EB-FADD-607D-B939-20B6CEBA6455}"/>
                </a:ext>
              </a:extLst>
            </p:cNvPr>
            <p:cNvSpPr/>
            <p:nvPr/>
          </p:nvSpPr>
          <p:spPr bwMode="auto">
            <a:xfrm>
              <a:off x="7385491" y="3755641"/>
              <a:ext cx="4059736" cy="235008"/>
            </a:xfrm>
            <a:prstGeom prst="roundRect">
              <a:avLst>
                <a:gd name="adj" fmla="val 50000"/>
              </a:avLst>
            </a:prstGeom>
            <a:solidFill>
              <a:srgbClr val="C0504E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76F44200-C933-1255-B083-30976062B692}"/>
                </a:ext>
              </a:extLst>
            </p:cNvPr>
            <p:cNvSpPr txBox="1"/>
            <p:nvPr/>
          </p:nvSpPr>
          <p:spPr>
            <a:xfrm>
              <a:off x="7454131" y="3682977"/>
              <a:ext cx="1832941" cy="3674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6858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将“祖父”设为“红色”</a:t>
              </a:r>
              <a:endParaRPr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阿里巴巴普惠体" panose="00020600040101010101"/>
                <a:cs typeface="阿里巴巴普惠体" panose="00020600040101010101" pitchFamily="18" charset="-122"/>
                <a:sym typeface="阿里巴巴普惠体" panose="00020600040101010101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2D8EA4B-E9A3-F9B7-A228-3957AAE2554B}"/>
              </a:ext>
            </a:extLst>
          </p:cNvPr>
          <p:cNvGrpSpPr/>
          <p:nvPr/>
        </p:nvGrpSpPr>
        <p:grpSpPr>
          <a:xfrm>
            <a:off x="4838954" y="5141467"/>
            <a:ext cx="3044802" cy="483337"/>
            <a:chOff x="7385491" y="3963227"/>
            <a:chExt cx="4059736" cy="644448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D8126F4D-BAC8-B650-C51A-22EAA6344E53}"/>
                </a:ext>
              </a:extLst>
            </p:cNvPr>
            <p:cNvSpPr/>
            <p:nvPr/>
          </p:nvSpPr>
          <p:spPr bwMode="auto">
            <a:xfrm>
              <a:off x="7385491" y="4036629"/>
              <a:ext cx="4059736" cy="235008"/>
            </a:xfrm>
            <a:prstGeom prst="roundRect">
              <a:avLst>
                <a:gd name="adj" fmla="val 50000"/>
              </a:avLst>
            </a:prstGeom>
            <a:solidFill>
              <a:srgbClr val="C0504E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8E9B76BA-280E-6C7A-2599-24F81C05220B}"/>
                </a:ext>
              </a:extLst>
            </p:cNvPr>
            <p:cNvSpPr txBox="1"/>
            <p:nvPr/>
          </p:nvSpPr>
          <p:spPr>
            <a:xfrm>
              <a:off x="7453175" y="3963227"/>
              <a:ext cx="2325252" cy="6444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6858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如果祖父为根，再将根变回黑色</a:t>
              </a: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3B5CB6EA-A67F-781B-3702-E7A01D794B03}"/>
              </a:ext>
            </a:extLst>
          </p:cNvPr>
          <p:cNvGrpSpPr/>
          <p:nvPr/>
        </p:nvGrpSpPr>
        <p:grpSpPr>
          <a:xfrm>
            <a:off x="4838954" y="5341872"/>
            <a:ext cx="3044802" cy="483337"/>
            <a:chOff x="7385491" y="4230433"/>
            <a:chExt cx="4059736" cy="644450"/>
          </a:xfrm>
        </p:grpSpPr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0B5D76BE-5833-7DB4-EA0D-6FAC0730EC9C}"/>
                </a:ext>
              </a:extLst>
            </p:cNvPr>
            <p:cNvSpPr/>
            <p:nvPr/>
          </p:nvSpPr>
          <p:spPr bwMode="auto">
            <a:xfrm>
              <a:off x="7385491" y="4317616"/>
              <a:ext cx="4059736" cy="235008"/>
            </a:xfrm>
            <a:prstGeom prst="roundRect">
              <a:avLst>
                <a:gd name="adj" fmla="val 50000"/>
              </a:avLst>
            </a:prstGeom>
            <a:solidFill>
              <a:srgbClr val="C0504E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A244867F-C3B8-00C7-C90F-BE04864041AA}"/>
                </a:ext>
              </a:extLst>
            </p:cNvPr>
            <p:cNvSpPr txBox="1"/>
            <p:nvPr/>
          </p:nvSpPr>
          <p:spPr>
            <a:xfrm>
              <a:off x="7443650" y="4230433"/>
              <a:ext cx="3867219" cy="6444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858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如果祖父非根，将祖父设置为当前节点再进行其他判断</a:t>
              </a: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D821FE0-AD15-B627-F1E0-AC84463945D4}"/>
              </a:ext>
            </a:extLst>
          </p:cNvPr>
          <p:cNvGrpSpPr/>
          <p:nvPr/>
        </p:nvGrpSpPr>
        <p:grpSpPr>
          <a:xfrm>
            <a:off x="5684963" y="4177576"/>
            <a:ext cx="1392440" cy="468458"/>
            <a:chOff x="5234774" y="3405553"/>
            <a:chExt cx="1856587" cy="624610"/>
          </a:xfrm>
        </p:grpSpPr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46EC6572-98C7-7CBD-CB05-A1CDC9BDB9ED}"/>
                </a:ext>
              </a:extLst>
            </p:cNvPr>
            <p:cNvSpPr/>
            <p:nvPr/>
          </p:nvSpPr>
          <p:spPr bwMode="auto">
            <a:xfrm>
              <a:off x="5234774" y="3522344"/>
              <a:ext cx="1856587" cy="507819"/>
            </a:xfrm>
            <a:prstGeom prst="roundRect">
              <a:avLst>
                <a:gd name="adj" fmla="val 10906"/>
              </a:avLst>
            </a:prstGeom>
            <a:solidFill>
              <a:schemeClr val="bg1"/>
            </a:solidFill>
            <a:ln w="9525"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AFC67AE0-17F4-2106-9441-85C949B42110}"/>
                </a:ext>
              </a:extLst>
            </p:cNvPr>
            <p:cNvSpPr/>
            <p:nvPr/>
          </p:nvSpPr>
          <p:spPr>
            <a:xfrm>
              <a:off x="5695890" y="3637893"/>
              <a:ext cx="861775" cy="3077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叔叔红色</a:t>
              </a:r>
              <a:endParaRPr lang="zh-CN" altLang="en-US" sz="900" dirty="0">
                <a:latin typeface="微软雅黑" panose="020B0503020204020204" pitchFamily="34" charset="-122"/>
                <a:ea typeface="阿里巴巴普惠体" panose="00020600040101010101"/>
                <a:cs typeface="阿里巴巴普惠体" panose="00020600040101010101" pitchFamily="18" charset="-122"/>
                <a:sym typeface="阿里巴巴普惠体" panose="00020600040101010101"/>
              </a:endParaRP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AB2B4B02-A518-6263-A2DB-1539EBB6647D}"/>
                </a:ext>
              </a:extLst>
            </p:cNvPr>
            <p:cNvSpPr/>
            <p:nvPr/>
          </p:nvSpPr>
          <p:spPr bwMode="auto">
            <a:xfrm>
              <a:off x="5312425" y="3405553"/>
              <a:ext cx="188771" cy="188771"/>
            </a:xfrm>
            <a:prstGeom prst="ellipse">
              <a:avLst/>
            </a:prstGeom>
            <a:solidFill>
              <a:srgbClr val="B6000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 </a:t>
              </a:r>
              <a:endParaRPr lang="zh-CN" altLang="en-US" sz="9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43" name="标题 1">
            <a:extLst>
              <a:ext uri="{FF2B5EF4-FFF2-40B4-BE49-F238E27FC236}">
                <a16:creationId xmlns:a16="http://schemas.microsoft.com/office/drawing/2014/main" id="{A9132F77-B0C5-4C3D-9117-866FA6EF5AD1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559D01F1-9D7A-41A7-ACA2-3DE8EA008319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43560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E90CFB-5013-47B8-BF42-0596C1816431}"/>
              </a:ext>
            </a:extLst>
          </p:cNvPr>
          <p:cNvSpPr txBox="1"/>
          <p:nvPr/>
        </p:nvSpPr>
        <p:spPr>
          <a:xfrm>
            <a:off x="658314" y="1678109"/>
            <a:ext cx="3514725" cy="5662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TreeSet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排序 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自然排序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b="1" dirty="0">
              <a:solidFill>
                <a:srgbClr val="AD2B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50B4453D-271E-76D4-FD1B-62A3C99A48F1}"/>
              </a:ext>
            </a:extLst>
          </p:cNvPr>
          <p:cNvSpPr txBox="1"/>
          <p:nvPr/>
        </p:nvSpPr>
        <p:spPr>
          <a:xfrm>
            <a:off x="658315" y="2238846"/>
            <a:ext cx="2616629" cy="13161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类实现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Comparable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重写 </a:t>
            </a:r>
            <a:r>
              <a:rPr lang="en-US" altLang="zh-CN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compareTo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根据方法的返回值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来组织排序规则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负数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左边走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正数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右边走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0  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不存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9039FBB-CF05-8E70-74B0-38832E24A529}"/>
              </a:ext>
            </a:extLst>
          </p:cNvPr>
          <p:cNvSpPr txBox="1"/>
          <p:nvPr/>
        </p:nvSpPr>
        <p:spPr>
          <a:xfrm>
            <a:off x="658314" y="3665590"/>
            <a:ext cx="3514725" cy="1061829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implements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Comparable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@Override</a:t>
            </a:r>
            <a:b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int </a:t>
            </a:r>
            <a:r>
              <a:rPr lang="zh-CN" altLang="zh-CN" sz="9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compareTo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o) 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return this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- o.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endParaRPr lang="zh-CN" altLang="zh-CN" sz="900" dirty="0">
              <a:latin typeface="Consolas" panose="020B0609020204030204" pitchFamily="49" charset="0"/>
            </a:endParaRPr>
          </a:p>
          <a:p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900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650141-1EE0-7EBD-9B13-EEE42730BAFC}"/>
              </a:ext>
            </a:extLst>
          </p:cNvPr>
          <p:cNvSpPr txBox="1"/>
          <p:nvPr/>
        </p:nvSpPr>
        <p:spPr>
          <a:xfrm>
            <a:off x="658314" y="4783741"/>
            <a:ext cx="3514725" cy="923330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TreeSet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TreeSet&lt;&gt;();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王五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25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张三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23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李四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24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en-US" altLang="zh-CN" sz="9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赵六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26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zh-CN" altLang="zh-CN" sz="1500" dirty="0">
              <a:latin typeface="Consolas" panose="020B0609020204030204" pitchFamily="49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8FF4369-7830-BE90-42FD-EA8AD6E30471}"/>
              </a:ext>
            </a:extLst>
          </p:cNvPr>
          <p:cNvSpPr/>
          <p:nvPr/>
        </p:nvSpPr>
        <p:spPr>
          <a:xfrm>
            <a:off x="6887598" y="2740999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王五，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25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FE01C4-5E86-5147-27F7-9DAA297E6BB3}"/>
              </a:ext>
            </a:extLst>
          </p:cNvPr>
          <p:cNvSpPr/>
          <p:nvPr/>
        </p:nvSpPr>
        <p:spPr>
          <a:xfrm>
            <a:off x="658314" y="5509144"/>
            <a:ext cx="3514725" cy="131693"/>
          </a:xfrm>
          <a:prstGeom prst="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EA4DFC5-DFE8-BE01-96CF-A7E525E3E1F1}"/>
              </a:ext>
            </a:extLst>
          </p:cNvPr>
          <p:cNvSpPr/>
          <p:nvPr/>
        </p:nvSpPr>
        <p:spPr>
          <a:xfrm>
            <a:off x="4610411" y="2740999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张三，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620C8D9-EE2B-DE53-DDB0-C2D38B0BF557}"/>
              </a:ext>
            </a:extLst>
          </p:cNvPr>
          <p:cNvSpPr/>
          <p:nvPr/>
        </p:nvSpPr>
        <p:spPr>
          <a:xfrm>
            <a:off x="5684963" y="1892927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李四，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00635D2-B0CA-8422-E804-BAD23889093C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342284" y="2322564"/>
            <a:ext cx="943997" cy="423172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BD12C71-01D4-6DAB-9F97-A76C11FD529D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6286281" y="2322563"/>
            <a:ext cx="1202635" cy="418436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314DC6A-5F82-A37F-08F6-CCB31419FD91}"/>
              </a:ext>
            </a:extLst>
          </p:cNvPr>
          <p:cNvSpPr/>
          <p:nvPr/>
        </p:nvSpPr>
        <p:spPr>
          <a:xfrm>
            <a:off x="7819143" y="3567787"/>
            <a:ext cx="1202635" cy="429637"/>
          </a:xfrm>
          <a:prstGeom prst="roundRect">
            <a:avLst/>
          </a:pr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赵六，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26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6B0EE12-47EF-916B-0719-17FEDF6A9067}"/>
              </a:ext>
            </a:extLst>
          </p:cNvPr>
          <p:cNvSpPr/>
          <p:nvPr/>
        </p:nvSpPr>
        <p:spPr>
          <a:xfrm>
            <a:off x="925332" y="3920126"/>
            <a:ext cx="2737237" cy="638093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9F189AD-679E-926B-91E2-3C3D244AEBA0}"/>
              </a:ext>
            </a:extLst>
          </p:cNvPr>
          <p:cNvSpPr txBox="1"/>
          <p:nvPr/>
        </p:nvSpPr>
        <p:spPr>
          <a:xfrm>
            <a:off x="3065524" y="3175372"/>
            <a:ext cx="1143262" cy="415498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26</a:t>
            </a:r>
          </a:p>
          <a:p>
            <a:pPr algn="l"/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o.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24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77CD84D-889B-BE44-2004-E87799E72CB0}"/>
              </a:ext>
            </a:extLst>
          </p:cNvPr>
          <p:cNvSpPr txBox="1"/>
          <p:nvPr/>
        </p:nvSpPr>
        <p:spPr>
          <a:xfrm>
            <a:off x="3065524" y="3175372"/>
            <a:ext cx="1143262" cy="415498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zh-CN" sz="105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26</a:t>
            </a:r>
          </a:p>
          <a:p>
            <a:pPr algn="l"/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o.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:</a:t>
            </a:r>
            <a:r>
              <a:rPr lang="en-US" altLang="zh-CN" sz="105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JetBrains Mono"/>
              </a:rPr>
              <a:t>25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JetBrains Mono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B5F07BA-EDF4-04A2-7641-21FC5A321F27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7488915" y="3182228"/>
            <a:ext cx="931546" cy="385559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CB118A2D-A104-73FD-502C-AFE1D7B19175}"/>
              </a:ext>
            </a:extLst>
          </p:cNvPr>
          <p:cNvGrpSpPr/>
          <p:nvPr/>
        </p:nvGrpSpPr>
        <p:grpSpPr>
          <a:xfrm>
            <a:off x="4838954" y="4718709"/>
            <a:ext cx="3044802" cy="275588"/>
            <a:chOff x="7385491" y="3399552"/>
            <a:chExt cx="4059736" cy="367450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D66D2B11-D20B-4FD5-DA4B-42D416DB79B4}"/>
                </a:ext>
              </a:extLst>
            </p:cNvPr>
            <p:cNvSpPr/>
            <p:nvPr/>
          </p:nvSpPr>
          <p:spPr bwMode="auto">
            <a:xfrm>
              <a:off x="7385491" y="3474654"/>
              <a:ext cx="4059736" cy="235008"/>
            </a:xfrm>
            <a:prstGeom prst="roundRect">
              <a:avLst>
                <a:gd name="adj" fmla="val 50000"/>
              </a:avLst>
            </a:prstGeom>
            <a:solidFill>
              <a:srgbClr val="C0504E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5F2F80D9-02B6-F37F-C74D-268ED687A9B6}"/>
                </a:ext>
              </a:extLst>
            </p:cNvPr>
            <p:cNvSpPr/>
            <p:nvPr/>
          </p:nvSpPr>
          <p:spPr>
            <a:xfrm>
              <a:off x="7454131" y="3399552"/>
              <a:ext cx="3156023" cy="3674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将“父”设为黑色，将“叔叔”设为黑色</a:t>
              </a:r>
              <a:endParaRPr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阿里巴巴普惠体" panose="00020600040101010101"/>
                <a:cs typeface="阿里巴巴普惠体" panose="00020600040101010101" pitchFamily="18" charset="-122"/>
                <a:sym typeface="阿里巴巴普惠体" panose="00020600040101010101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2731EC32-A484-EA5C-EDDD-21DEE250B521}"/>
              </a:ext>
            </a:extLst>
          </p:cNvPr>
          <p:cNvGrpSpPr/>
          <p:nvPr/>
        </p:nvGrpSpPr>
        <p:grpSpPr>
          <a:xfrm>
            <a:off x="4838954" y="4931276"/>
            <a:ext cx="3044802" cy="275588"/>
            <a:chOff x="7385491" y="3682977"/>
            <a:chExt cx="4059736" cy="367451"/>
          </a:xfrm>
        </p:grpSpPr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F770D4EB-FADD-607D-B939-20B6CEBA6455}"/>
                </a:ext>
              </a:extLst>
            </p:cNvPr>
            <p:cNvSpPr/>
            <p:nvPr/>
          </p:nvSpPr>
          <p:spPr bwMode="auto">
            <a:xfrm>
              <a:off x="7385491" y="3755641"/>
              <a:ext cx="4059736" cy="235008"/>
            </a:xfrm>
            <a:prstGeom prst="roundRect">
              <a:avLst>
                <a:gd name="adj" fmla="val 50000"/>
              </a:avLst>
            </a:prstGeom>
            <a:solidFill>
              <a:srgbClr val="C0504E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76F44200-C933-1255-B083-30976062B692}"/>
                </a:ext>
              </a:extLst>
            </p:cNvPr>
            <p:cNvSpPr txBox="1"/>
            <p:nvPr/>
          </p:nvSpPr>
          <p:spPr>
            <a:xfrm>
              <a:off x="7454131" y="3682977"/>
              <a:ext cx="1832941" cy="3674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6858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将“祖父”设为“红色”</a:t>
              </a:r>
              <a:endParaRPr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阿里巴巴普惠体" panose="00020600040101010101"/>
                <a:cs typeface="阿里巴巴普惠体" panose="00020600040101010101" pitchFamily="18" charset="-122"/>
                <a:sym typeface="阿里巴巴普惠体" panose="00020600040101010101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2D8EA4B-E9A3-F9B7-A228-3957AAE2554B}"/>
              </a:ext>
            </a:extLst>
          </p:cNvPr>
          <p:cNvGrpSpPr/>
          <p:nvPr/>
        </p:nvGrpSpPr>
        <p:grpSpPr>
          <a:xfrm>
            <a:off x="4838954" y="5141467"/>
            <a:ext cx="3044802" cy="483337"/>
            <a:chOff x="7385491" y="3963227"/>
            <a:chExt cx="4059736" cy="644448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D8126F4D-BAC8-B650-C51A-22EAA6344E53}"/>
                </a:ext>
              </a:extLst>
            </p:cNvPr>
            <p:cNvSpPr/>
            <p:nvPr/>
          </p:nvSpPr>
          <p:spPr bwMode="auto">
            <a:xfrm>
              <a:off x="7385491" y="4036629"/>
              <a:ext cx="4059736" cy="235008"/>
            </a:xfrm>
            <a:prstGeom prst="roundRect">
              <a:avLst>
                <a:gd name="adj" fmla="val 50000"/>
              </a:avLst>
            </a:prstGeom>
            <a:solidFill>
              <a:srgbClr val="C0504E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8E9B76BA-280E-6C7A-2599-24F81C05220B}"/>
                </a:ext>
              </a:extLst>
            </p:cNvPr>
            <p:cNvSpPr txBox="1"/>
            <p:nvPr/>
          </p:nvSpPr>
          <p:spPr>
            <a:xfrm>
              <a:off x="7453175" y="3963227"/>
              <a:ext cx="2325252" cy="6444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6858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如果祖父为根，再将根变回黑色</a:t>
              </a: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3B5CB6EA-A67F-781B-3702-E7A01D794B03}"/>
              </a:ext>
            </a:extLst>
          </p:cNvPr>
          <p:cNvGrpSpPr/>
          <p:nvPr/>
        </p:nvGrpSpPr>
        <p:grpSpPr>
          <a:xfrm>
            <a:off x="4838954" y="5341872"/>
            <a:ext cx="3044802" cy="483337"/>
            <a:chOff x="7385491" y="4230433"/>
            <a:chExt cx="4059736" cy="644450"/>
          </a:xfrm>
        </p:grpSpPr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0B5D76BE-5833-7DB4-EA0D-6FAC0730EC9C}"/>
                </a:ext>
              </a:extLst>
            </p:cNvPr>
            <p:cNvSpPr/>
            <p:nvPr/>
          </p:nvSpPr>
          <p:spPr bwMode="auto">
            <a:xfrm>
              <a:off x="7385491" y="4317616"/>
              <a:ext cx="4059736" cy="235008"/>
            </a:xfrm>
            <a:prstGeom prst="roundRect">
              <a:avLst>
                <a:gd name="adj" fmla="val 50000"/>
              </a:avLst>
            </a:prstGeom>
            <a:solidFill>
              <a:srgbClr val="C0504E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A244867F-C3B8-00C7-C90F-BE04864041AA}"/>
                </a:ext>
              </a:extLst>
            </p:cNvPr>
            <p:cNvSpPr txBox="1"/>
            <p:nvPr/>
          </p:nvSpPr>
          <p:spPr>
            <a:xfrm>
              <a:off x="7443650" y="4230433"/>
              <a:ext cx="3867219" cy="6444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858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如果祖父非根，将祖父设置为当前节点再进行其他判断</a:t>
              </a: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D821FE0-AD15-B627-F1E0-AC84463945D4}"/>
              </a:ext>
            </a:extLst>
          </p:cNvPr>
          <p:cNvGrpSpPr/>
          <p:nvPr/>
        </p:nvGrpSpPr>
        <p:grpSpPr>
          <a:xfrm>
            <a:off x="5684963" y="4177576"/>
            <a:ext cx="1392440" cy="468458"/>
            <a:chOff x="5234774" y="3405553"/>
            <a:chExt cx="1856587" cy="624610"/>
          </a:xfrm>
        </p:grpSpPr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46EC6572-98C7-7CBD-CB05-A1CDC9BDB9ED}"/>
                </a:ext>
              </a:extLst>
            </p:cNvPr>
            <p:cNvSpPr/>
            <p:nvPr/>
          </p:nvSpPr>
          <p:spPr bwMode="auto">
            <a:xfrm>
              <a:off x="5234774" y="3522344"/>
              <a:ext cx="1856587" cy="507819"/>
            </a:xfrm>
            <a:prstGeom prst="roundRect">
              <a:avLst>
                <a:gd name="adj" fmla="val 10906"/>
              </a:avLst>
            </a:prstGeom>
            <a:solidFill>
              <a:schemeClr val="bg1"/>
            </a:solidFill>
            <a:ln w="9525"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阿里巴巴普惠体" panose="00020600040101010101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AFC67AE0-17F4-2106-9441-85C949B42110}"/>
                </a:ext>
              </a:extLst>
            </p:cNvPr>
            <p:cNvSpPr/>
            <p:nvPr/>
          </p:nvSpPr>
          <p:spPr>
            <a:xfrm>
              <a:off x="5695890" y="3637893"/>
              <a:ext cx="861775" cy="3077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阿里巴巴普惠体" panose="00020600040101010101"/>
                  <a:cs typeface="阿里巴巴普惠体" panose="00020600040101010101" pitchFamily="18" charset="-122"/>
                  <a:sym typeface="阿里巴巴普惠体" panose="00020600040101010101"/>
                </a:rPr>
                <a:t>叔叔红色</a:t>
              </a:r>
              <a:endParaRPr lang="zh-CN" altLang="en-US" sz="900" dirty="0">
                <a:latin typeface="微软雅黑" panose="020B0503020204020204" pitchFamily="34" charset="-122"/>
                <a:ea typeface="阿里巴巴普惠体" panose="00020600040101010101"/>
                <a:cs typeface="阿里巴巴普惠体" panose="00020600040101010101" pitchFamily="18" charset="-122"/>
                <a:sym typeface="阿里巴巴普惠体" panose="00020600040101010101"/>
              </a:endParaRP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AB2B4B02-A518-6263-A2DB-1539EBB6647D}"/>
                </a:ext>
              </a:extLst>
            </p:cNvPr>
            <p:cNvSpPr/>
            <p:nvPr/>
          </p:nvSpPr>
          <p:spPr bwMode="auto">
            <a:xfrm>
              <a:off x="5312425" y="3405553"/>
              <a:ext cx="188771" cy="188771"/>
            </a:xfrm>
            <a:prstGeom prst="ellipse">
              <a:avLst/>
            </a:prstGeom>
            <a:solidFill>
              <a:srgbClr val="B6000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 </a:t>
              </a:r>
              <a:endParaRPr lang="zh-CN" altLang="en-US" sz="9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43" name="标题 1">
            <a:extLst>
              <a:ext uri="{FF2B5EF4-FFF2-40B4-BE49-F238E27FC236}">
                <a16:creationId xmlns:a16="http://schemas.microsoft.com/office/drawing/2014/main" id="{84955557-025F-45EB-A8D6-C7D2CCB75F1E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8EF68CD9-07E1-46DA-8D26-6A07AE390C68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2613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E90CFB-5013-47B8-BF42-0596C1816431}"/>
              </a:ext>
            </a:extLst>
          </p:cNvPr>
          <p:cNvSpPr txBox="1"/>
          <p:nvPr/>
        </p:nvSpPr>
        <p:spPr>
          <a:xfrm>
            <a:off x="658314" y="1678109"/>
            <a:ext cx="3514725" cy="5662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TreeSet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排序 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自然排序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b="1" dirty="0">
              <a:solidFill>
                <a:srgbClr val="AD2B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50B4453D-271E-76D4-FD1B-62A3C99A48F1}"/>
              </a:ext>
            </a:extLst>
          </p:cNvPr>
          <p:cNvSpPr txBox="1"/>
          <p:nvPr/>
        </p:nvSpPr>
        <p:spPr>
          <a:xfrm>
            <a:off x="658315" y="2238846"/>
            <a:ext cx="2616629" cy="13161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类实现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Comparable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重写 </a:t>
            </a:r>
            <a:r>
              <a:rPr lang="en-US" altLang="zh-CN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compareTo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根据方法的返回值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来组织排序规则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负数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左边走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正数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右边走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0  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不存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9039FBB-CF05-8E70-74B0-38832E24A529}"/>
              </a:ext>
            </a:extLst>
          </p:cNvPr>
          <p:cNvSpPr txBox="1"/>
          <p:nvPr/>
        </p:nvSpPr>
        <p:spPr>
          <a:xfrm>
            <a:off x="658314" y="3665590"/>
            <a:ext cx="3514725" cy="1061829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implements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Comparable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@Override</a:t>
            </a:r>
            <a:b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int </a:t>
            </a:r>
            <a:r>
              <a:rPr lang="zh-CN" altLang="zh-CN" sz="9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compareTo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o) 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return this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- o.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endParaRPr lang="zh-CN" altLang="zh-CN" sz="900" dirty="0">
              <a:latin typeface="Consolas" panose="020B0609020204030204" pitchFamily="49" charset="0"/>
            </a:endParaRPr>
          </a:p>
          <a:p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900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650141-1EE0-7EBD-9B13-EEE42730BAFC}"/>
              </a:ext>
            </a:extLst>
          </p:cNvPr>
          <p:cNvSpPr txBox="1"/>
          <p:nvPr/>
        </p:nvSpPr>
        <p:spPr>
          <a:xfrm>
            <a:off x="658314" y="4783741"/>
            <a:ext cx="3514725" cy="923330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TreeSet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TreeSet&lt;&gt;();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王五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25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张三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23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李四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24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en-US" altLang="zh-CN" sz="9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赵六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26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zh-CN" altLang="zh-CN" sz="1500" dirty="0">
              <a:latin typeface="Consolas" panose="020B0609020204030204" pitchFamily="49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8FF4369-7830-BE90-42FD-EA8AD6E30471}"/>
              </a:ext>
            </a:extLst>
          </p:cNvPr>
          <p:cNvSpPr/>
          <p:nvPr/>
        </p:nvSpPr>
        <p:spPr>
          <a:xfrm>
            <a:off x="6887598" y="2740999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王五，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25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EA4DFC5-DFE8-BE01-96CF-A7E525E3E1F1}"/>
              </a:ext>
            </a:extLst>
          </p:cNvPr>
          <p:cNvSpPr/>
          <p:nvPr/>
        </p:nvSpPr>
        <p:spPr>
          <a:xfrm>
            <a:off x="4610411" y="2740999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张三，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620C8D9-EE2B-DE53-DDB0-C2D38B0BF557}"/>
              </a:ext>
            </a:extLst>
          </p:cNvPr>
          <p:cNvSpPr/>
          <p:nvPr/>
        </p:nvSpPr>
        <p:spPr>
          <a:xfrm>
            <a:off x="5684963" y="1892927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李四，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00635D2-B0CA-8422-E804-BAD23889093C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342284" y="2322564"/>
            <a:ext cx="943997" cy="423172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BD12C71-01D4-6DAB-9F97-A76C11FD529D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6286281" y="2322563"/>
            <a:ext cx="1202635" cy="418436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314DC6A-5F82-A37F-08F6-CCB31419FD91}"/>
              </a:ext>
            </a:extLst>
          </p:cNvPr>
          <p:cNvSpPr/>
          <p:nvPr/>
        </p:nvSpPr>
        <p:spPr>
          <a:xfrm>
            <a:off x="7819143" y="3567787"/>
            <a:ext cx="1202635" cy="429637"/>
          </a:xfrm>
          <a:prstGeom prst="roundRect">
            <a:avLst/>
          </a:pr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赵六，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26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B5F07BA-EDF4-04A2-7641-21FC5A321F27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7488915" y="3182228"/>
            <a:ext cx="931546" cy="385559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053FF73-6AF1-4953-4F4E-650A818C3EEB}"/>
              </a:ext>
            </a:extLst>
          </p:cNvPr>
          <p:cNvSpPr/>
          <p:nvPr/>
        </p:nvSpPr>
        <p:spPr>
          <a:xfrm>
            <a:off x="4009093" y="1887327"/>
            <a:ext cx="1202635" cy="429637"/>
          </a:xfrm>
          <a:prstGeom prst="roundRect">
            <a:avLst/>
          </a:prstGeom>
          <a:solidFill>
            <a:srgbClr val="C0504D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李四，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793AB308-6EB3-4F23-A51D-2BA48F39F87F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C8EB28D-5509-4109-BE48-5E7B821A61E8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2487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E90CFB-5013-47B8-BF42-0596C1816431}"/>
              </a:ext>
            </a:extLst>
          </p:cNvPr>
          <p:cNvSpPr txBox="1"/>
          <p:nvPr/>
        </p:nvSpPr>
        <p:spPr>
          <a:xfrm>
            <a:off x="658314" y="1678109"/>
            <a:ext cx="3514725" cy="5662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TreeSet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排序 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自然排序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b="1" dirty="0">
              <a:solidFill>
                <a:srgbClr val="AD2B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50B4453D-271E-76D4-FD1B-62A3C99A48F1}"/>
              </a:ext>
            </a:extLst>
          </p:cNvPr>
          <p:cNvSpPr txBox="1"/>
          <p:nvPr/>
        </p:nvSpPr>
        <p:spPr>
          <a:xfrm>
            <a:off x="658315" y="2238846"/>
            <a:ext cx="2616629" cy="13161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类实现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Comparable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重写 </a:t>
            </a:r>
            <a:r>
              <a:rPr lang="en-US" altLang="zh-CN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compareTo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57175" indent="-257175">
              <a:lnSpc>
                <a:spcPct val="150000"/>
              </a:lnSpc>
              <a:buAutoNum type="arabicPeriod"/>
              <a:defRPr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根据方法的返回值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来组织排序规则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负数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左边走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正数 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右边走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0  : 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不存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9039FBB-CF05-8E70-74B0-38832E24A529}"/>
              </a:ext>
            </a:extLst>
          </p:cNvPr>
          <p:cNvSpPr txBox="1"/>
          <p:nvPr/>
        </p:nvSpPr>
        <p:spPr>
          <a:xfrm>
            <a:off x="658314" y="3665590"/>
            <a:ext cx="3514725" cy="1061829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implements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Comparable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@Override</a:t>
            </a:r>
            <a:b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int </a:t>
            </a:r>
            <a:r>
              <a:rPr lang="zh-CN" altLang="zh-CN" sz="9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compareTo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o) 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return this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- o.</a:t>
            </a:r>
            <a:r>
              <a:rPr lang="zh-CN" altLang="zh-CN" sz="9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endParaRPr lang="zh-CN" altLang="zh-CN" sz="900" dirty="0">
              <a:latin typeface="Consolas" panose="020B0609020204030204" pitchFamily="49" charset="0"/>
            </a:endParaRPr>
          </a:p>
          <a:p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900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650141-1EE0-7EBD-9B13-EEE42730BAFC}"/>
              </a:ext>
            </a:extLst>
          </p:cNvPr>
          <p:cNvSpPr txBox="1"/>
          <p:nvPr/>
        </p:nvSpPr>
        <p:spPr>
          <a:xfrm>
            <a:off x="658314" y="4783741"/>
            <a:ext cx="3514725" cy="923330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TreeSet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TreeSet&lt;&gt;();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王五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25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张三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23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李四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24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en-US" altLang="zh-CN" sz="9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ts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</a:rPr>
              <a:t>赵六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9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26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));</a:t>
            </a:r>
            <a:endParaRPr lang="zh-CN" altLang="zh-CN" sz="1500" dirty="0">
              <a:latin typeface="Consolas" panose="020B0609020204030204" pitchFamily="49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8FF4369-7830-BE90-42FD-EA8AD6E30471}"/>
              </a:ext>
            </a:extLst>
          </p:cNvPr>
          <p:cNvSpPr/>
          <p:nvPr/>
        </p:nvSpPr>
        <p:spPr>
          <a:xfrm>
            <a:off x="6887598" y="2740999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王五，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25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EA4DFC5-DFE8-BE01-96CF-A7E525E3E1F1}"/>
              </a:ext>
            </a:extLst>
          </p:cNvPr>
          <p:cNvSpPr/>
          <p:nvPr/>
        </p:nvSpPr>
        <p:spPr>
          <a:xfrm>
            <a:off x="4610411" y="2740999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张三，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620C8D9-EE2B-DE53-DDB0-C2D38B0BF557}"/>
              </a:ext>
            </a:extLst>
          </p:cNvPr>
          <p:cNvSpPr/>
          <p:nvPr/>
        </p:nvSpPr>
        <p:spPr>
          <a:xfrm>
            <a:off x="5684963" y="1892927"/>
            <a:ext cx="1202635" cy="42963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李四，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00635D2-B0CA-8422-E804-BAD23889093C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342284" y="2322564"/>
            <a:ext cx="943997" cy="423172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BD12C71-01D4-6DAB-9F97-A76C11FD529D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6286281" y="2322563"/>
            <a:ext cx="1202635" cy="418436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314DC6A-5F82-A37F-08F6-CCB31419FD91}"/>
              </a:ext>
            </a:extLst>
          </p:cNvPr>
          <p:cNvSpPr/>
          <p:nvPr/>
        </p:nvSpPr>
        <p:spPr>
          <a:xfrm>
            <a:off x="7819143" y="3567787"/>
            <a:ext cx="1202635" cy="429637"/>
          </a:xfrm>
          <a:prstGeom prst="roundRect">
            <a:avLst/>
          </a:pr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赵六，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26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B5F07BA-EDF4-04A2-7641-21FC5A321F27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7488915" y="3182228"/>
            <a:ext cx="931546" cy="385559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49F06C82-72C0-2E46-691C-794ADAE98EA1}"/>
              </a:ext>
            </a:extLst>
          </p:cNvPr>
          <p:cNvSpPr txBox="1"/>
          <p:nvPr/>
        </p:nvSpPr>
        <p:spPr>
          <a:xfrm>
            <a:off x="4561337" y="3988755"/>
            <a:ext cx="2294218" cy="4154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取出顺序 </a:t>
            </a:r>
            <a:r>
              <a:rPr lang="en-US" altLang="zh-CN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: </a:t>
            </a:r>
            <a:r>
              <a:rPr lang="zh-CN" alt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左中右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9C546D8-CA64-98CE-54BE-6CD431215E6E}"/>
              </a:ext>
            </a:extLst>
          </p:cNvPr>
          <p:cNvSpPr txBox="1"/>
          <p:nvPr/>
        </p:nvSpPr>
        <p:spPr>
          <a:xfrm>
            <a:off x="4610411" y="4960360"/>
            <a:ext cx="104067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张三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, 23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CFA148F-065B-B23D-7E21-785E0ED618D5}"/>
              </a:ext>
            </a:extLst>
          </p:cNvPr>
          <p:cNvSpPr txBox="1"/>
          <p:nvPr/>
        </p:nvSpPr>
        <p:spPr>
          <a:xfrm>
            <a:off x="5428571" y="4963854"/>
            <a:ext cx="104067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李四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, 24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9BB93B3-EEA7-831C-ED4A-979E22EDD19D}"/>
              </a:ext>
            </a:extLst>
          </p:cNvPr>
          <p:cNvSpPr txBox="1"/>
          <p:nvPr/>
        </p:nvSpPr>
        <p:spPr>
          <a:xfrm>
            <a:off x="6246731" y="4967349"/>
            <a:ext cx="104067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王五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, 25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3ED15A2-7D04-E347-94A0-780DA18A4115}"/>
              </a:ext>
            </a:extLst>
          </p:cNvPr>
          <p:cNvSpPr txBox="1"/>
          <p:nvPr/>
        </p:nvSpPr>
        <p:spPr>
          <a:xfrm>
            <a:off x="7064892" y="4956866"/>
            <a:ext cx="104067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赵六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, 26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DC1EC122-29D8-41DD-9767-A544FCF975FA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6C11D38-C76C-482A-9FAE-D4928888A2F1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8341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0" grpId="0"/>
      <p:bldP spid="11" grpId="0"/>
      <p:bldP spid="12" grpId="0"/>
      <p:bldP spid="17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E90CFB-5013-47B8-BF42-0596C1816431}"/>
              </a:ext>
            </a:extLst>
          </p:cNvPr>
          <p:cNvSpPr txBox="1"/>
          <p:nvPr/>
        </p:nvSpPr>
        <p:spPr>
          <a:xfrm>
            <a:off x="463463" y="899936"/>
            <a:ext cx="3514725" cy="5662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TreeSet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比较器排序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A44EB9F0-C67D-48BD-8E0A-FF70BDFEB414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C16A0C9-B514-4238-9039-B3A863FAF488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3">
            <a:extLst>
              <a:ext uri="{FF2B5EF4-FFF2-40B4-BE49-F238E27FC236}">
                <a16:creationId xmlns:a16="http://schemas.microsoft.com/office/drawing/2014/main" id="{7CB01BA3-F63B-4184-A466-4C8635F86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90" y="2177204"/>
            <a:ext cx="9091314" cy="3717032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buClr>
                <a:schemeClr val="accent2"/>
              </a:buClr>
              <a:buSzPct val="70000"/>
            </a:pP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 static void main(String[] </a:t>
            </a:r>
            <a:r>
              <a:rPr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TreeSet</a:t>
            </a: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&lt;Student&gt; </a:t>
            </a:r>
            <a:r>
              <a:rPr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ts</a:t>
            </a: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TreeSet</a:t>
            </a: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&lt;&gt;(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Comparator&lt;Student&gt;() </a:t>
            </a: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@Override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public int 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compare</a:t>
            </a: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(Student o1, Student o2) {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int </a:t>
            </a:r>
            <a:r>
              <a:rPr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ageResult</a:t>
            </a: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o1.getAge() - o2.getAge();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return </a:t>
            </a:r>
            <a:r>
              <a:rPr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ageResult</a:t>
            </a: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0 ? o1.getName().</a:t>
            </a:r>
            <a:r>
              <a:rPr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compareTo</a:t>
            </a: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(o2.getName()) : </a:t>
            </a:r>
            <a:r>
              <a:rPr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ageResult</a:t>
            </a: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});</a:t>
            </a:r>
          </a:p>
          <a:p>
            <a:pPr marL="0" lvl="1">
              <a:buClr>
                <a:schemeClr val="accent2"/>
              </a:buClr>
              <a:buSzPct val="70000"/>
            </a:pPr>
            <a:endParaRPr lang="en-US" altLang="zh-CN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ts.add</a:t>
            </a: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(new Student("</a:t>
            </a:r>
            <a:r>
              <a:rPr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赵六</a:t>
            </a: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26));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ts.add</a:t>
            </a: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(new Student("</a:t>
            </a:r>
            <a:r>
              <a:rPr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李四</a:t>
            </a: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24));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ts.add</a:t>
            </a: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(new Student("</a:t>
            </a:r>
            <a:r>
              <a:rPr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张三</a:t>
            </a: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23));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ts.add</a:t>
            </a: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(new Student("</a:t>
            </a:r>
            <a:r>
              <a:rPr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王五</a:t>
            </a: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25));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8416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E90CFB-5013-47B8-BF42-0596C1816431}"/>
              </a:ext>
            </a:extLst>
          </p:cNvPr>
          <p:cNvSpPr txBox="1"/>
          <p:nvPr/>
        </p:nvSpPr>
        <p:spPr>
          <a:xfrm>
            <a:off x="658314" y="1464645"/>
            <a:ext cx="3514725" cy="5662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200000"/>
              </a:lnSpc>
              <a:defRPr/>
            </a:pPr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TreeSet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的两种排序方式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50B4453D-271E-76D4-FD1B-62A3C99A48F1}"/>
              </a:ext>
            </a:extLst>
          </p:cNvPr>
          <p:cNvSpPr txBox="1"/>
          <p:nvPr/>
        </p:nvSpPr>
        <p:spPr>
          <a:xfrm>
            <a:off x="658315" y="2238846"/>
            <a:ext cx="7566116" cy="8606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4313" indent="-214313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自然排序 </a:t>
            </a:r>
            <a:endParaRPr lang="en-US" altLang="zh-CN" sz="135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14313" indent="-214313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比较器排序</a:t>
            </a:r>
            <a:endParaRPr lang="en-US" altLang="zh-CN" sz="135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D4DA95B-5E89-56D5-4945-8B3D695269A5}"/>
              </a:ext>
            </a:extLst>
          </p:cNvPr>
          <p:cNvSpPr/>
          <p:nvPr/>
        </p:nvSpPr>
        <p:spPr>
          <a:xfrm>
            <a:off x="658314" y="3515443"/>
            <a:ext cx="7374391" cy="1915909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>
              <a:defRPr/>
            </a:pPr>
            <a:r>
              <a:rPr lang="en-US" altLang="zh-CN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Java</a:t>
            </a:r>
            <a:r>
              <a:rPr lang="zh-CN" altLang="en-US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已经写好类</a:t>
            </a:r>
            <a:r>
              <a:rPr lang="en-US" altLang="zh-CN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大多数都具有自然排序的规则</a:t>
            </a:r>
            <a:r>
              <a:rPr lang="en-US" altLang="zh-CN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这些规则放在源代码中</a:t>
            </a:r>
            <a:r>
              <a:rPr lang="en-US" altLang="zh-CN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我们无法修改</a:t>
            </a:r>
          </a:p>
          <a:p>
            <a:pPr>
              <a:defRPr/>
            </a:pPr>
            <a:r>
              <a:rPr lang="zh-CN" altLang="en-US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	</a:t>
            </a:r>
            <a:r>
              <a:rPr lang="en-US" altLang="zh-CN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(String, Integer, Double...)</a:t>
            </a:r>
          </a:p>
          <a:p>
            <a:pPr>
              <a:defRPr/>
            </a:pPr>
            <a:r>
              <a:rPr lang="en-US" altLang="zh-CN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	String : </a:t>
            </a:r>
            <a:r>
              <a:rPr lang="zh-CN" altLang="en-US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默认是字典顺序排序</a:t>
            </a:r>
          </a:p>
          <a:p>
            <a:pPr>
              <a:defRPr/>
            </a:pPr>
            <a:r>
              <a:rPr lang="zh-CN" altLang="en-US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	</a:t>
            </a:r>
            <a:r>
              <a:rPr lang="en-US" altLang="zh-CN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Integer : </a:t>
            </a:r>
            <a:r>
              <a:rPr lang="zh-CN" altLang="en-US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默认是升序排序</a:t>
            </a:r>
          </a:p>
          <a:p>
            <a:pPr>
              <a:defRPr/>
            </a:pPr>
            <a:r>
              <a:rPr lang="zh-CN" altLang="en-US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	</a:t>
            </a:r>
            <a:r>
              <a:rPr lang="en-US" altLang="zh-CN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Double : </a:t>
            </a:r>
            <a:r>
              <a:rPr lang="zh-CN" altLang="en-US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默认是升序排序</a:t>
            </a:r>
          </a:p>
          <a:p>
            <a:pPr>
              <a:defRPr/>
            </a:pPr>
            <a:endParaRPr lang="zh-CN" altLang="en-US" sz="1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杨任东竹石体-Bold" panose="02000000000000000000" pitchFamily="2" charset="-122"/>
              <a:ea typeface="杨任东竹石体-Bold" panose="02000000000000000000" pitchFamily="2" charset="-122"/>
              <a:cs typeface="阿里巴巴普惠体" panose="00020600040101010101" pitchFamily="18" charset="-122"/>
            </a:endParaRPr>
          </a:p>
          <a:p>
            <a:pPr>
              <a:defRPr/>
            </a:pPr>
            <a:r>
              <a:rPr lang="zh-CN" altLang="en-US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	如果我们要实现的需求</a:t>
            </a:r>
            <a:r>
              <a:rPr lang="en-US" altLang="zh-CN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排序规则</a:t>
            </a:r>
            <a:r>
              <a:rPr lang="en-US" altLang="zh-CN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跟已经具备的自然排序</a:t>
            </a:r>
            <a:r>
              <a:rPr lang="en-US" altLang="zh-CN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不一样</a:t>
            </a:r>
            <a:r>
              <a:rPr lang="en-US" altLang="zh-CN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.</a:t>
            </a:r>
          </a:p>
          <a:p>
            <a:pPr>
              <a:defRPr/>
            </a:pPr>
            <a:r>
              <a:rPr lang="en-US" altLang="zh-CN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	</a:t>
            </a:r>
            <a:r>
              <a:rPr lang="zh-CN" altLang="en-US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这时候就要使用比较器排序</a:t>
            </a:r>
            <a:r>
              <a:rPr lang="en-US" altLang="zh-CN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.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C0CF1B6-81D8-3B99-8A2D-6C1D6222387B}"/>
              </a:ext>
            </a:extLst>
          </p:cNvPr>
          <p:cNvSpPr/>
          <p:nvPr/>
        </p:nvSpPr>
        <p:spPr>
          <a:xfrm>
            <a:off x="3023234" y="2371726"/>
            <a:ext cx="4573101" cy="71225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重点</a:t>
            </a:r>
            <a:r>
              <a:rPr lang="en-US" altLang="zh-CN" dirty="0"/>
              <a:t>: </a:t>
            </a:r>
            <a:r>
              <a:rPr lang="zh-CN" altLang="en-US" dirty="0"/>
              <a:t>如果同具备自然排序</a:t>
            </a:r>
            <a:r>
              <a:rPr lang="en-US" altLang="zh-CN" dirty="0"/>
              <a:t>, </a:t>
            </a:r>
            <a:r>
              <a:rPr lang="zh-CN" altLang="en-US" dirty="0"/>
              <a:t>和比较器排序</a:t>
            </a:r>
            <a:r>
              <a:rPr lang="en-US" altLang="zh-CN" dirty="0"/>
              <a:t>, </a:t>
            </a:r>
            <a:r>
              <a:rPr lang="zh-CN" altLang="en-US" dirty="0"/>
              <a:t>会优先按照比较器进行排序操作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A44EB9F0-C67D-48BD-8E0A-FF70BDFEB414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C16A0C9-B514-4238-9039-B3A863FAF488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533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323529" y="981075"/>
            <a:ext cx="8136903" cy="561627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TreeSet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的陷阱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当把一个对象加入</a:t>
            </a:r>
            <a:r>
              <a:rPr lang="en-US" altLang="zh-CN" sz="2000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TreeSet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集合时，</a:t>
            </a:r>
            <a:r>
              <a:rPr lang="en-US" altLang="zh-CN" sz="2000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TreeSet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调用对象的</a:t>
            </a:r>
            <a:r>
              <a:rPr lang="en-US" altLang="zh-CN" sz="2000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compareTo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()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方法与集合中的其他对象比较大小，然后根据红黑树算法决定它的存储位置。 </a:t>
            </a:r>
          </a:p>
          <a:p>
            <a:pPr lvl="1">
              <a:lnSpc>
                <a:spcPct val="150000"/>
              </a:lnSpc>
            </a:pP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要注意：对象的</a:t>
            </a:r>
            <a:r>
              <a:rPr lang="en-US" altLang="zh-CN" sz="2000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compareTo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方法与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equals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方法的返回值必须一致，否则会带来混乱。 </a:t>
            </a:r>
          </a:p>
          <a:p>
            <a:pPr lvl="1">
              <a:lnSpc>
                <a:spcPct val="150000"/>
              </a:lnSpc>
            </a:pP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Demo: TestTreeSet.java </a:t>
            </a:r>
          </a:p>
          <a:p>
            <a:pPr lvl="1">
              <a:lnSpc>
                <a:spcPct val="150000"/>
              </a:lnSpc>
            </a:pP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如果修改</a:t>
            </a:r>
            <a:r>
              <a:rPr lang="en-US" altLang="zh-CN" sz="2000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TreeSet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集合中对象的属性，导致原先不等的对象“相等”了，很可能会造成混乱。 </a:t>
            </a:r>
          </a:p>
          <a:p>
            <a:pPr lvl="1">
              <a:lnSpc>
                <a:spcPct val="150000"/>
              </a:lnSpc>
            </a:pP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Demo: TestTreeSet2.java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044981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15E82DD2-4220-8FCD-2BB3-DBD2858B51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 dirty="0"/>
              <a:t>存储字符串并遍历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E30BC70D-26A3-CB85-AD8A-E4F9F31A27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4876" y="1816018"/>
            <a:ext cx="6910673" cy="3762373"/>
          </a:xfrm>
        </p:spPr>
        <p:txBody>
          <a:bodyPr/>
          <a:lstStyle/>
          <a:p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利用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Set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系列的集合，添加字符串，并使用多种方式遍历。</a:t>
            </a:r>
            <a:endParaRPr lang="en-US" altLang="zh-CN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）迭代器；</a:t>
            </a:r>
            <a:endParaRPr lang="en-US" altLang="zh-CN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）增强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for</a:t>
            </a:r>
          </a:p>
          <a:p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Lambda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表达式</a:t>
            </a:r>
            <a:endParaRPr lang="en-US" altLang="zh-CN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B148101-DDD7-4746-B7FD-9526AD594E00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DBE19A8-04DA-404B-9191-12E6490257E6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67968"/>
      </p:ext>
    </p:extLst>
  </p:cSld>
  <p:clrMapOvr>
    <a:masterClrMapping/>
  </p:clrMapOvr>
  <p:transition spd="slow">
    <p:randomBar dir="vert"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B148101-DDD7-4746-B7FD-9526AD594E00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DBE19A8-04DA-404B-9191-12E6490257E6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>
            <a:extLst>
              <a:ext uri="{FF2B5EF4-FFF2-40B4-BE49-F238E27FC236}">
                <a16:creationId xmlns:a16="http://schemas.microsoft.com/office/drawing/2014/main" id="{E72C3B4E-C63E-4F6F-97D0-5C74235EF4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44450"/>
            <a:ext cx="8964613" cy="68135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A01_SetDemo1 {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</a:rPr>
              <a:t>     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  <a:cs typeface="Courier New" panose="02070309020205020404" pitchFamily="49" charset="0"/>
            </a:endParaRPr>
          </a:p>
          <a:p>
            <a:pPr marL="0" lvl="1">
              <a:buClr>
                <a:schemeClr val="accent2"/>
              </a:buClr>
              <a:buSzPct val="70000"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  <a:cs typeface="Courier New" panose="02070309020205020404" pitchFamily="49" charset="0"/>
            </a:endParaRP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</a:rPr>
              <a:t>	//1.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</a:rPr>
              <a:t>创建一个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</a:rPr>
              <a:t>Set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</a:rPr>
              <a:t>集合的对象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	Set&lt;String&gt; s = new HashSet&lt;&gt;();</a:t>
            </a:r>
          </a:p>
          <a:p>
            <a:pPr marL="0" lvl="1">
              <a:buClr>
                <a:schemeClr val="accent2"/>
              </a:buClr>
              <a:buSzPct val="70000"/>
            </a:pP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</a:rPr>
              <a:t>        //2,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</a:rPr>
              <a:t>添加元素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</a:rPr>
              <a:t>       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</a:rPr>
              <a:t>//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</a:rPr>
              <a:t>如果当前元素是第一次添加，那么可以添加成功，返回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</a:rPr>
              <a:t>true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</a:rPr>
              <a:t>        //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</a:rPr>
              <a:t>如果当前元素是第二次添加，那么添加失败，返回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</a:rPr>
              <a:t>false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s.add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张三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s.add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张三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s.add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李四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s.add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王五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pPr marL="0" lvl="1">
              <a:buClr>
                <a:schemeClr val="accent2"/>
              </a:buClr>
              <a:buSzPct val="70000"/>
            </a:pP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>
              <a:buClr>
                <a:schemeClr val="accent2"/>
              </a:buClr>
              <a:buSzPct val="70000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3846"/>
      </p:ext>
    </p:extLst>
  </p:cSld>
  <p:clrMapOvr>
    <a:masterClrMapping/>
  </p:clrMapOvr>
  <p:transition spd="slow">
    <p:randomBar dir="vert"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B148101-DDD7-4746-B7FD-9526AD594E00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DBE19A8-04DA-404B-9191-12E6490257E6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>
            <a:extLst>
              <a:ext uri="{FF2B5EF4-FFF2-40B4-BE49-F238E27FC236}">
                <a16:creationId xmlns:a16="http://schemas.microsoft.com/office/drawing/2014/main" id="{E72C3B4E-C63E-4F6F-97D0-5C74235EF4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44450"/>
            <a:ext cx="8964613" cy="68135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</a:rPr>
              <a:t>//3.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</a:rPr>
              <a:t>打印集合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</a:rPr>
              <a:t>       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</a:rPr>
              <a:t>//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</a:rPr>
              <a:t>无序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</a:rPr>
              <a:t>       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</a:rPr>
              <a:t>//</a:t>
            </a:r>
            <a:r>
              <a:rPr lang="en-US" altLang="zh-CN" dirty="0" err="1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</a:rPr>
              <a:t>System.out.println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</a:rPr>
              <a:t>(s);//[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</a:rPr>
              <a:t>李四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</a:rPr>
              <a:t>,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</a:rPr>
              <a:t>张三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</a:rPr>
              <a:t>,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</a:rPr>
              <a:t>王五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Courier New" panose="02070309020205020404" pitchFamily="49" charset="0"/>
              </a:rPr>
              <a:t>]</a:t>
            </a:r>
          </a:p>
          <a:p>
            <a:pPr marL="0" lvl="1">
              <a:buClr>
                <a:schemeClr val="accent2"/>
              </a:buClr>
              <a:buSzPct val="70000"/>
            </a:pP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迭代器遍历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Iterator&lt;String&gt; it = 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s.iterator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while (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it.hasNext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()){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String str = 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it.next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(str);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lvl="1">
              <a:buClr>
                <a:schemeClr val="accent2"/>
              </a:buClr>
              <a:buSzPct val="70000"/>
            </a:pP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//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增强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for (String str : s) {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2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(str);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 marL="0" lvl="1">
              <a:buClr>
                <a:schemeClr val="accent2"/>
              </a:buClr>
              <a:buSzPct val="70000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// Lambda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表达式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s.forEach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str-&gt;</a:t>
            </a:r>
            <a:r>
              <a:rPr lang="en-US" altLang="zh-CN" sz="2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(str));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24547158"/>
      </p:ext>
    </p:extLst>
  </p:cSld>
  <p:clrMapOvr>
    <a:masterClrMapping/>
  </p:clrMapOvr>
  <p:transition spd="slow">
    <p:randomBar dir="vert"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15E82DD2-4220-8FCD-2BB3-DBD2858B51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1800" dirty="0" err="1"/>
              <a:t>TreeSet</a:t>
            </a:r>
            <a:r>
              <a:rPr lang="zh-CN" altLang="en-US" sz="1800" dirty="0"/>
              <a:t>对象排序练习题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E30BC70D-26A3-CB85-AD8A-E4F9F31A27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4876" y="1816018"/>
            <a:ext cx="6910673" cy="3762373"/>
          </a:xfrm>
        </p:spPr>
        <p:txBody>
          <a:bodyPr/>
          <a:lstStyle/>
          <a:p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需求：请自行选择比较器排序和自然排序两种方式；</a:t>
            </a:r>
            <a:endParaRPr lang="en-US" altLang="zh-CN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要求：存入四个字符串，“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ab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df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lang="en-US" altLang="zh-CN" sz="1600" dirty="0" err="1">
                <a:latin typeface="楷体" panose="02010609060101010101" pitchFamily="49" charset="-122"/>
                <a:ea typeface="楷体" panose="02010609060101010101" pitchFamily="49" charset="-122"/>
              </a:rPr>
              <a:t>qwer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endParaRPr lang="en-US" altLang="zh-CN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按照长度排序，如果一样长则按照字母排序。</a:t>
            </a:r>
            <a:endParaRPr lang="en-US" altLang="zh-CN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B148101-DDD7-4746-B7FD-9526AD594E00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DBE19A8-04DA-404B-9191-12E6490257E6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8298075"/>
      </p:ext>
    </p:extLst>
  </p:cSld>
  <p:clrMapOvr>
    <a:masterClrMapping/>
  </p:clrMapOvr>
  <p:transition spd="slow">
    <p:randomBar dir="vert"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B148101-DDD7-4746-B7FD-9526AD594E00}"/>
              </a:ext>
            </a:extLst>
          </p:cNvPr>
          <p:cNvSpPr txBox="1">
            <a:spLocks/>
          </p:cNvSpPr>
          <p:nvPr/>
        </p:nvSpPr>
        <p:spPr>
          <a:xfrm>
            <a:off x="468313" y="188913"/>
            <a:ext cx="7543800" cy="7191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sz="3200" b="0" ker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7.4 Set</a:t>
            </a:r>
            <a:endParaRPr lang="zh-CN" altLang="en-US" sz="32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DBE19A8-04DA-404B-9191-12E6490257E6}"/>
              </a:ext>
            </a:extLst>
          </p:cNvPr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>
            <a:extLst>
              <a:ext uri="{FF2B5EF4-FFF2-40B4-BE49-F238E27FC236}">
                <a16:creationId xmlns:a16="http://schemas.microsoft.com/office/drawing/2014/main" id="{B24F712B-F7EF-417F-A22D-2FDCF6A1E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44450"/>
            <a:ext cx="8964613" cy="68135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A06_TreeSetDemo3 {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//1.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创建集合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//o1: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表示当前要添加的元素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//o2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：表示已经在红黑树存在的元素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返回值规则跟之前是一样的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>
              <a:buClr>
                <a:schemeClr val="accent2"/>
              </a:buClr>
              <a:buSzPct val="70000"/>
            </a:pP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TreeSet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&lt;String&gt;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ts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TreeSet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&lt;&gt;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new Comparator&lt;String&gt;() {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@Override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public int compare(String o1, String o2) {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按照长度排序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zh-CN" alt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zh-CN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o1.length() - o2.length();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如果一样长则按照首字母排序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zh-CN" alt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altLang="zh-CN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CN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0 ? o1.compareTo(o2) : </a:t>
            </a:r>
            <a:r>
              <a:rPr lang="en-US" altLang="zh-CN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return </a:t>
            </a:r>
            <a:r>
              <a:rPr lang="en-US" altLang="zh-CN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//2.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添加元素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ts.add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("c");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ts.add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("ab");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ts.add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("df");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ts.add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qwer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pPr marL="0" lvl="1">
              <a:buClr>
                <a:schemeClr val="accent2"/>
              </a:buClr>
              <a:buSzPct val="70000"/>
            </a:pP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ts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lvl="1">
              <a:buClr>
                <a:schemeClr val="accent2"/>
              </a:buClr>
              <a:buSzPct val="70000"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49CB693-2C6B-4B07-A4A2-86F19C833C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5743420"/>
            <a:ext cx="3543795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761608"/>
      </p:ext>
    </p:extLst>
  </p:cSld>
  <p:clrMapOvr>
    <a:masterClrMapping/>
  </p:clrMapOvr>
  <p:transition spd="slow">
    <p:randomBar dir="vert"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7.5 Map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323529" y="981076"/>
            <a:ext cx="8280920" cy="17278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Map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概述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Map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集合给每个元素定义了一个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Key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，通过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Key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访问对象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要求每个对象的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Key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应该不一样，否则，将无法找到需要的对象。</a:t>
            </a:r>
            <a:endParaRPr lang="en-US" altLang="zh-CN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BE0C67F7-8191-4C23-957B-4452C6F2C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2673914"/>
            <a:ext cx="6274950" cy="4091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50088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7.5 Map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323529" y="981076"/>
            <a:ext cx="8280920" cy="64771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Map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接口中的成员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D83E55D7-3753-4A7A-8118-9DEF45FAB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287" y="1014457"/>
            <a:ext cx="2644089" cy="281934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9189BA2-6DE8-440A-BA59-F5BFBC1F42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2132856"/>
            <a:ext cx="2834586" cy="480051"/>
          </a:xfrm>
          <a:prstGeom prst="rect">
            <a:avLst/>
          </a:prstGeom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4A382B2D-091F-478C-AEAE-6A8AACA3122A}"/>
              </a:ext>
            </a:extLst>
          </p:cNvPr>
          <p:cNvSpPr txBox="1">
            <a:spLocks/>
          </p:cNvSpPr>
          <p:nvPr/>
        </p:nvSpPr>
        <p:spPr bwMode="auto">
          <a:xfrm>
            <a:off x="346706" y="2996952"/>
            <a:ext cx="8280920" cy="6477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1" charset="-122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+mn-lt"/>
                <a:ea typeface="楷体_GB2312" pitchFamily="1" charset="-122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楷体_GB2312" pitchFamily="1" charset="-122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b="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JDK</a:t>
            </a:r>
            <a:r>
              <a:rPr lang="zh-CN" altLang="en-US" sz="2400" b="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中的</a:t>
            </a:r>
            <a:r>
              <a:rPr lang="en-US" altLang="zh-CN" sz="2400" b="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Map</a:t>
            </a:r>
            <a:r>
              <a:rPr lang="zh-CN" altLang="en-US" sz="2400" b="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类型</a:t>
            </a:r>
            <a:endParaRPr lang="en-US" altLang="zh-CN" sz="24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B1FD892-4E18-43C3-BD47-8E55FDA1B2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1640" y="3833803"/>
            <a:ext cx="5472608" cy="271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25788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7.5 Map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323529" y="981075"/>
            <a:ext cx="8280920" cy="273592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HashMap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HashTable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使用对象的</a:t>
            </a:r>
            <a:r>
              <a:rPr lang="en-US" altLang="zh-CN" sz="2000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hashCode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作为“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Key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”</a:t>
            </a: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两者功能基本一致，但是，</a:t>
            </a:r>
            <a:r>
              <a:rPr lang="en-US" altLang="zh-CN" sz="20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HashTable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是线程安全的，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HashMap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可以使用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null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作为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Key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Demo: NullInHashMap.java</a:t>
            </a:r>
            <a:endParaRPr lang="en-US" altLang="zh-CN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D8A8E67C-03A5-4C5A-BB04-F1BBE6984CD7}"/>
              </a:ext>
            </a:extLst>
          </p:cNvPr>
          <p:cNvSpPr txBox="1"/>
          <p:nvPr/>
        </p:nvSpPr>
        <p:spPr>
          <a:xfrm>
            <a:off x="99753" y="4149080"/>
            <a:ext cx="9008751" cy="87203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public class </a:t>
            </a:r>
            <a:r>
              <a:rPr lang="en-US" altLang="zh-CN" dirty="0" err="1"/>
              <a:t>Hashtable</a:t>
            </a:r>
            <a:r>
              <a:rPr lang="en-US" altLang="zh-CN" dirty="0"/>
              <a:t>&lt;K,V&gt; extends Dictionary&lt;K,V&gt; implements Map&lt;K,V&gt;, Cloneable, Serializable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6063449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7.5 Map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323529" y="981076"/>
            <a:ext cx="8280920" cy="17278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Key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的要求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用作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Key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的对象必须覆盖</a:t>
            </a:r>
            <a:r>
              <a:rPr lang="en-US" altLang="zh-CN" sz="2000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hashCode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equals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Key</a:t>
            </a:r>
            <a:r>
              <a:rPr lang="zh-CN" altLang="en-US" sz="2000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相等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：两个对象的</a:t>
            </a:r>
            <a:r>
              <a:rPr lang="en-US" altLang="zh-CN" sz="2000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hashCode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一致，并且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equals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方法返回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true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 </a:t>
            </a:r>
            <a:r>
              <a:rPr lang="en-US" altLang="zh-CN" sz="2000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Value</a:t>
            </a:r>
            <a:r>
              <a:rPr lang="zh-CN" altLang="en-US" sz="2000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相等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 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equals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方法返回</a:t>
            </a:r>
            <a:r>
              <a:rPr lang="en-US" altLang="zh-CN" sz="20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ture</a:t>
            </a:r>
            <a:endParaRPr lang="en-US" altLang="zh-CN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Demo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TestHashTable.java</a:t>
            </a:r>
            <a:endParaRPr lang="en-US" altLang="zh-CN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506230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7.5 Map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323529" y="981076"/>
            <a:ext cx="8280920" cy="17278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Properties</a:t>
            </a:r>
          </a:p>
          <a:p>
            <a:pPr lvl="1">
              <a:lnSpc>
                <a:spcPct val="150000"/>
              </a:lnSpc>
            </a:pP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Properties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派生自</a:t>
            </a:r>
            <a:r>
              <a:rPr lang="en-US" altLang="zh-CN" sz="20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HashTable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，可以方便地处理“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Key-Value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”对，并且可以将其保存到文件中。在编程中常用。</a:t>
            </a:r>
            <a:endParaRPr lang="en-US" altLang="zh-CN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Demo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TestProperties.java</a:t>
            </a:r>
            <a:endParaRPr lang="en-US" altLang="zh-CN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0CE5B8CA-E80C-488C-A2BD-EB96FA336DCC}"/>
              </a:ext>
            </a:extLst>
          </p:cNvPr>
          <p:cNvSpPr txBox="1">
            <a:spLocks/>
          </p:cNvSpPr>
          <p:nvPr/>
        </p:nvSpPr>
        <p:spPr bwMode="auto">
          <a:xfrm>
            <a:off x="323529" y="3140968"/>
            <a:ext cx="8280920" cy="237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1" charset="-122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+mn-lt"/>
                <a:ea typeface="楷体_GB2312" pitchFamily="1" charset="-122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楷体_GB2312" pitchFamily="1" charset="-122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b="0" kern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IdentityHashMap</a:t>
            </a:r>
            <a:endParaRPr lang="en-US" altLang="zh-CN" sz="24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仅当“</a:t>
            </a:r>
            <a:r>
              <a:rPr lang="en-US" altLang="zh-CN" sz="2000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==</a:t>
            </a:r>
            <a:r>
              <a:rPr lang="zh-CN" altLang="en-US" sz="2000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”返回</a:t>
            </a:r>
            <a:r>
              <a:rPr lang="en-US" altLang="zh-CN" sz="2000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true</a:t>
            </a:r>
            <a:r>
              <a:rPr lang="zh-CN" altLang="en-US" sz="2000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时，两个</a:t>
            </a:r>
            <a:r>
              <a:rPr lang="en-US" altLang="zh-CN" sz="2000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Key</a:t>
            </a:r>
            <a:r>
              <a:rPr lang="zh-CN" altLang="en-US" sz="2000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才认为是相等的。</a:t>
            </a:r>
            <a:endParaRPr lang="en-US" altLang="zh-CN" sz="2000" b="0" kern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在实际开发中使用不多</a:t>
            </a:r>
            <a:endParaRPr lang="en-US" altLang="zh-CN" sz="2000" b="0" kern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Demo: TestIdentityHashMap.java</a:t>
            </a:r>
          </a:p>
        </p:txBody>
      </p:sp>
    </p:spTree>
    <p:extLst>
      <p:ext uri="{BB962C8B-B14F-4D97-AF65-F5344CB8AC3E}">
        <p14:creationId xmlns:p14="http://schemas.microsoft.com/office/powerpoint/2010/main" val="175624319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7.5 Map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323529" y="981076"/>
            <a:ext cx="8280920" cy="17278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LinkedHashMap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使用双向链表来维护通过“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Key-Value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”对， 迭代访问性能较好</a:t>
            </a: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Demo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TestLinkedHashMap.java</a:t>
            </a:r>
            <a:endParaRPr lang="en-US" altLang="zh-CN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DA3A2996-887A-4D13-84F1-ACAA53536749}"/>
              </a:ext>
            </a:extLst>
          </p:cNvPr>
          <p:cNvSpPr txBox="1">
            <a:spLocks/>
          </p:cNvSpPr>
          <p:nvPr/>
        </p:nvSpPr>
        <p:spPr bwMode="auto">
          <a:xfrm>
            <a:off x="323528" y="2715527"/>
            <a:ext cx="8424935" cy="3665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1" charset="-122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+mn-lt"/>
                <a:ea typeface="楷体_GB2312" pitchFamily="1" charset="-122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楷体_GB2312" pitchFamily="1" charset="-122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b="0" kern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WeakHashMap</a:t>
            </a:r>
            <a:r>
              <a:rPr lang="zh-CN" altLang="en-US" sz="2400" b="0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与弱引用</a:t>
            </a:r>
            <a:endParaRPr lang="en-US" altLang="zh-CN" sz="2400" b="0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特点是：它所保存的对象引用是一种“弱引用（</a:t>
            </a:r>
            <a:r>
              <a:rPr lang="en-US" altLang="zh-CN" sz="2000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Weak Reference</a:t>
            </a:r>
            <a:r>
              <a:rPr lang="zh-CN" altLang="en-US" sz="2000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）”</a:t>
            </a:r>
            <a:endParaRPr lang="en-US" altLang="zh-CN" sz="2000" b="0" kern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弱引用：</a:t>
            </a:r>
            <a:r>
              <a:rPr lang="en-US" altLang="zh-CN" sz="2000" b="0" kern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java.lang.ref.WeakReference</a:t>
            </a:r>
            <a:r>
              <a:rPr lang="zh-CN" altLang="en-US" sz="2000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的实例，它引用的对象在资源紧张时可被</a:t>
            </a:r>
            <a:r>
              <a:rPr lang="en-US" altLang="zh-CN" sz="2000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GC</a:t>
            </a:r>
            <a:r>
              <a:rPr lang="zh-CN" altLang="en-US" sz="2000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回收；而普通的对象引用只要有效，其引用的对象就不会被回收。</a:t>
            </a:r>
            <a:endParaRPr lang="en-US" altLang="zh-CN" sz="2000" b="0" kern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b="0" kern="0" dirty="0">
                <a:ea typeface="黑体" panose="02010609060101010101" pitchFamily="49" charset="-122"/>
                <a:cs typeface="Times New Roman" panose="02020603050405020304" pitchFamily="18" charset="0"/>
              </a:rPr>
              <a:t>弱引用通常用于内存受限的环境，如移动终端设备</a:t>
            </a:r>
            <a:endParaRPr lang="en-US" altLang="zh-CN" sz="2000" b="0" kern="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63714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7.5 Map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323529" y="981075"/>
            <a:ext cx="8280920" cy="388808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弱引用的代码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以下代码为一个字符串创建“弱引用”</a:t>
            </a:r>
            <a:endParaRPr lang="en-US" altLang="zh-CN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US" altLang="zh-CN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以下代码尝试访问此字符串，注意字符串有可能被回收，这时将得到一个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null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值</a:t>
            </a:r>
            <a:endParaRPr lang="en-US" altLang="zh-CN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4D69C678-AFEB-4E30-9B8C-405165854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2348880"/>
            <a:ext cx="5562494" cy="41909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565DB55-1206-45B4-85FE-007D911F2D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80" y="4293096"/>
            <a:ext cx="3981374" cy="47624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64EAE02-BD70-4608-A521-B4A3D16A8807}"/>
              </a:ext>
            </a:extLst>
          </p:cNvPr>
          <p:cNvSpPr txBox="1"/>
          <p:nvPr/>
        </p:nvSpPr>
        <p:spPr>
          <a:xfrm>
            <a:off x="719573" y="5042591"/>
            <a:ext cx="748883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WeakHashMap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Object,Object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map = new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WeakHashMap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&lt;&gt;();</a:t>
            </a:r>
          </a:p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WeakHashMap</a:t>
            </a:r>
            <a:r>
              <a:rPr lang="en-US" altLang="zh-CN" dirty="0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&lt;String, String&gt; weak = new </a:t>
            </a:r>
            <a:r>
              <a:rPr lang="en-US" altLang="zh-CN" dirty="0" err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WeakHashMap</a:t>
            </a:r>
            <a:r>
              <a:rPr lang="en-US" altLang="zh-CN" dirty="0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&lt;&gt;();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err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WeakReference</a:t>
            </a:r>
            <a:r>
              <a:rPr lang="en-US" altLang="zh-CN" dirty="0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&lt;Object&gt; </a:t>
            </a:r>
            <a:r>
              <a:rPr lang="en-US" altLang="zh-CN" dirty="0" err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wref</a:t>
            </a:r>
            <a:r>
              <a:rPr lang="en-US" altLang="zh-CN" dirty="0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new </a:t>
            </a:r>
            <a:r>
              <a:rPr lang="en-US" altLang="zh-CN" dirty="0" err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WeakReference</a:t>
            </a:r>
            <a:r>
              <a:rPr lang="en-US" altLang="zh-CN" dirty="0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&lt;&gt;(key);</a:t>
            </a:r>
          </a:p>
          <a:p>
            <a:endParaRPr lang="en-US" altLang="zh-CN" dirty="0">
              <a:solidFill>
                <a:srgbClr val="0099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8961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7.5 Map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323529" y="981076"/>
            <a:ext cx="8280920" cy="172784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NavigatableMap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接口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Navigatable</a:t>
            </a:r>
            <a:r>
              <a:rPr lang="en-US" altLang="zh-CN" sz="2000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Map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接口定义了一组方法，保证在遍历集合时，一定是按照升序进行的。</a:t>
            </a:r>
            <a:endParaRPr lang="en-US" altLang="zh-CN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A29D78DE-49CD-4A33-8907-308618EA2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484" y="2708917"/>
            <a:ext cx="5115032" cy="329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68941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7.5 Map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323528" y="908050"/>
            <a:ext cx="8280920" cy="237591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Map.Entry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&lt;K,V&gt;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接口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 Unicode MS"/>
                <a:ea typeface="Source Code Pro" panose="020B0509030403020204" pitchFamily="49" charset="0"/>
              </a:rPr>
              <a:t>entrySet（）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-apple-system"/>
              </a:rPr>
              <a:t>：</a:t>
            </a:r>
            <a:r>
              <a:rPr lang="zh-CN" altLang="zh-CN" sz="1800" b="0" dirty="0">
                <a:latin typeface="楷体" panose="02010609060101010101" pitchFamily="49" charset="-122"/>
                <a:ea typeface="楷体" panose="02010609060101010101" pitchFamily="49" charset="-122"/>
              </a:rPr>
              <a:t>把Map集合内部的多个Entry对象取出来，存储到一个Set集合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Arial Unicode MS"/>
                <a:ea typeface="Source Code Pro" panose="020B0509030403020204" pitchFamily="49" charset="0"/>
              </a:rPr>
              <a:t>getKey（）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-apple-system"/>
              </a:rPr>
              <a:t>：</a:t>
            </a:r>
            <a:r>
              <a:rPr lang="zh-CN" altLang="zh-CN" sz="1800" b="0" dirty="0">
                <a:latin typeface="楷体" panose="02010609060101010101" pitchFamily="49" charset="-122"/>
                <a:ea typeface="楷体" panose="02010609060101010101" pitchFamily="49" charset="-122"/>
              </a:rPr>
              <a:t>Entry对象中的方法，用于获取key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Arial Unicode MS"/>
                <a:ea typeface="Source Code Pro" panose="020B0509030403020204" pitchFamily="49" charset="0"/>
              </a:rPr>
              <a:t>getvalue（）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-apple-system"/>
              </a:rPr>
              <a:t>：</a:t>
            </a:r>
            <a:r>
              <a:rPr lang="zh-CN" altLang="zh-CN" sz="1800" b="0" dirty="0">
                <a:latin typeface="楷体" panose="02010609060101010101" pitchFamily="49" charset="-122"/>
                <a:ea typeface="楷体" panose="02010609060101010101" pitchFamily="49" charset="-122"/>
              </a:rPr>
              <a:t>Entry对象中的方法，用于获取value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1">
            <a:extLst>
              <a:ext uri="{FF2B5EF4-FFF2-40B4-BE49-F238E27FC236}">
                <a16:creationId xmlns:a16="http://schemas.microsoft.com/office/drawing/2014/main" id="{A19B8906-060F-4AE1-8AED-88DC31C71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F9F2F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D177E86-22B9-41CE-8C72-9870819769B6}"/>
              </a:ext>
            </a:extLst>
          </p:cNvPr>
          <p:cNvSpPr txBox="1"/>
          <p:nvPr/>
        </p:nvSpPr>
        <p:spPr>
          <a:xfrm>
            <a:off x="323528" y="2909140"/>
            <a:ext cx="59046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7030A0"/>
                </a:solidFill>
              </a:rPr>
              <a:t>Set&lt;</a:t>
            </a:r>
            <a:r>
              <a:rPr lang="en-US" altLang="zh-CN" sz="2000" dirty="0" err="1">
                <a:solidFill>
                  <a:srgbClr val="7030A0"/>
                </a:solidFill>
              </a:rPr>
              <a:t>Map.Entry</a:t>
            </a:r>
            <a:r>
              <a:rPr lang="en-US" altLang="zh-CN" sz="2000" dirty="0">
                <a:solidFill>
                  <a:srgbClr val="7030A0"/>
                </a:solidFill>
              </a:rPr>
              <a:t>&lt;String, List&lt;String&gt;&gt;&gt;    </a:t>
            </a:r>
            <a:r>
              <a:rPr lang="en-US" altLang="zh-CN" sz="2000" dirty="0" err="1">
                <a:solidFill>
                  <a:srgbClr val="7030A0"/>
                </a:solidFill>
              </a:rPr>
              <a:t>entrySet</a:t>
            </a:r>
            <a:r>
              <a:rPr lang="en-US" altLang="zh-CN" sz="2000" dirty="0">
                <a:solidFill>
                  <a:srgbClr val="7030A0"/>
                </a:solidFill>
              </a:rPr>
              <a:t>()</a:t>
            </a:r>
            <a:endParaRPr lang="zh-CN" altLang="en-US" sz="2000" dirty="0">
              <a:solidFill>
                <a:srgbClr val="7030A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D0A5AD4-C9F6-4EE0-83F9-869E0EC343CF}"/>
              </a:ext>
            </a:extLst>
          </p:cNvPr>
          <p:cNvSpPr txBox="1"/>
          <p:nvPr/>
        </p:nvSpPr>
        <p:spPr>
          <a:xfrm>
            <a:off x="468313" y="3568703"/>
            <a:ext cx="7272041" cy="30469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Map&lt;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String,String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map = new HashMap&lt;&gt;();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map.put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(“1", "value1");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map.put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(“2", "value2");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map.put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(“3", "value3");</a:t>
            </a: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Map.Entry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&lt;String, String&gt;  entry 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：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map.entrySet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String key =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entry.getKey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String value =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entry.getValue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(key + "=" + value);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285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7.5 Map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323529" y="981076"/>
            <a:ext cx="8280920" cy="17278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TreeMap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实现</a:t>
            </a:r>
            <a:r>
              <a:rPr lang="en-US" altLang="zh-CN" sz="20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NavigableMap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接口最常用的类型是</a:t>
            </a:r>
            <a:r>
              <a:rPr lang="en-US" altLang="zh-CN" sz="20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TreeMap</a:t>
            </a: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TreeMap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在内部基于红黑树（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Red Black Tree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）对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Key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进行排序</a:t>
            </a: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Demo: TestTreeMap.java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988951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7.6 Collections Methods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323529" y="981076"/>
            <a:ext cx="8280920" cy="540025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Collections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中的一些有用方法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提供了一个工具类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Collections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封装了一些集合的常规操作</a:t>
            </a: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1600" b="0" dirty="0">
                <a:ea typeface="黑体" panose="02010609060101010101" pitchFamily="49" charset="-122"/>
                <a:cs typeface="Times New Roman" panose="02020603050405020304" pitchFamily="18" charset="0"/>
              </a:rPr>
              <a:t>更改集合中元素的顺序：</a:t>
            </a:r>
            <a:r>
              <a:rPr lang="en-US" altLang="zh-CN" sz="1600" b="0" dirty="0">
                <a:ea typeface="黑体" panose="02010609060101010101" pitchFamily="49" charset="-122"/>
                <a:cs typeface="Times New Roman" panose="02020603050405020304" pitchFamily="18" charset="0"/>
              </a:rPr>
              <a:t>reverse, rotate, shuffle, sort, swap</a:t>
            </a:r>
          </a:p>
          <a:p>
            <a:pPr lvl="2">
              <a:lnSpc>
                <a:spcPct val="150000"/>
              </a:lnSpc>
            </a:pPr>
            <a:r>
              <a:rPr lang="zh-CN" altLang="en-US" sz="1600" dirty="0">
                <a:ea typeface="黑体" panose="02010609060101010101" pitchFamily="49" charset="-122"/>
                <a:cs typeface="Times New Roman" panose="02020603050405020304" pitchFamily="18" charset="0"/>
              </a:rPr>
              <a:t>用一个集合填充另一个集合：</a:t>
            </a:r>
            <a:r>
              <a:rPr lang="en-US" altLang="zh-CN" sz="1600" dirty="0">
                <a:ea typeface="黑体" panose="02010609060101010101" pitchFamily="49" charset="-122"/>
                <a:cs typeface="Times New Roman" panose="02020603050405020304" pitchFamily="18" charset="0"/>
              </a:rPr>
              <a:t>copy, fill, </a:t>
            </a:r>
            <a:r>
              <a:rPr lang="en-US" altLang="zh-CN" sz="1600" dirty="0" err="1">
                <a:ea typeface="黑体" panose="02010609060101010101" pitchFamily="49" charset="-122"/>
                <a:cs typeface="Times New Roman" panose="02020603050405020304" pitchFamily="18" charset="0"/>
              </a:rPr>
              <a:t>replaceAll</a:t>
            </a:r>
            <a:r>
              <a:rPr lang="en-US" altLang="zh-CN" sz="1600" dirty="0"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1600" dirty="0" err="1">
                <a:ea typeface="黑体" panose="02010609060101010101" pitchFamily="49" charset="-122"/>
                <a:cs typeface="Times New Roman" panose="02020603050405020304" pitchFamily="18" charset="0"/>
              </a:rPr>
              <a:t>addAll</a:t>
            </a:r>
            <a:endParaRPr lang="en-US" altLang="zh-CN" sz="160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1600" b="0" dirty="0">
                <a:ea typeface="黑体" panose="02010609060101010101" pitchFamily="49" charset="-122"/>
                <a:cs typeface="Times New Roman" panose="02020603050405020304" pitchFamily="18" charset="0"/>
              </a:rPr>
              <a:t>获取集合中的最大和最小元素：</a:t>
            </a:r>
            <a:r>
              <a:rPr lang="en-US" altLang="zh-CN" sz="1600" b="0" dirty="0">
                <a:ea typeface="黑体" panose="02010609060101010101" pitchFamily="49" charset="-122"/>
                <a:cs typeface="Times New Roman" panose="02020603050405020304" pitchFamily="18" charset="0"/>
              </a:rPr>
              <a:t>max</a:t>
            </a:r>
            <a:r>
              <a:rPr lang="en-US" altLang="zh-CN" sz="1600" dirty="0"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1600" dirty="0"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ea typeface="黑体" panose="02010609060101010101" pitchFamily="49" charset="-122"/>
                <a:cs typeface="Times New Roman" panose="02020603050405020304" pitchFamily="18" charset="0"/>
              </a:rPr>
              <a:t>min</a:t>
            </a:r>
          </a:p>
          <a:p>
            <a:pPr lvl="2">
              <a:lnSpc>
                <a:spcPct val="150000"/>
              </a:lnSpc>
            </a:pPr>
            <a:r>
              <a:rPr lang="zh-CN" altLang="en-US" sz="1600" b="0" dirty="0">
                <a:ea typeface="黑体" panose="02010609060101010101" pitchFamily="49" charset="-122"/>
                <a:cs typeface="Times New Roman" panose="02020603050405020304" pitchFamily="18" charset="0"/>
              </a:rPr>
              <a:t>查找元素：</a:t>
            </a:r>
            <a:r>
              <a:rPr lang="en-US" altLang="zh-CN" sz="1600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binarySearch</a:t>
            </a:r>
            <a:r>
              <a:rPr lang="zh-CN" altLang="en-US" sz="1600" b="0" dirty="0">
                <a:ea typeface="黑体" panose="02010609060101010101" pitchFamily="49" charset="-122"/>
                <a:cs typeface="Times New Roman" panose="02020603050405020304" pitchFamily="18" charset="0"/>
              </a:rPr>
              <a:t>， </a:t>
            </a:r>
            <a:r>
              <a:rPr lang="en-US" altLang="zh-CN" sz="1600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indexOfSubList</a:t>
            </a:r>
            <a:r>
              <a:rPr lang="en-US" altLang="zh-CN" sz="1600" b="0" dirty="0"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1600" b="0" dirty="0" err="1">
                <a:ea typeface="黑体" panose="02010609060101010101" pitchFamily="49" charset="-122"/>
                <a:cs typeface="Times New Roman" panose="02020603050405020304" pitchFamily="18" charset="0"/>
              </a:rPr>
              <a:t>lastIndexOfSubList</a:t>
            </a:r>
            <a:endParaRPr lang="en-US" altLang="zh-CN" sz="16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1600" dirty="0">
                <a:ea typeface="黑体" panose="02010609060101010101" pitchFamily="49" charset="-122"/>
                <a:cs typeface="Times New Roman" panose="02020603050405020304" pitchFamily="18" charset="0"/>
              </a:rPr>
              <a:t>创建包容多个相同元素的集合：</a:t>
            </a:r>
            <a:r>
              <a:rPr lang="en-US" altLang="zh-CN" sz="1600" dirty="0" err="1">
                <a:ea typeface="黑体" panose="02010609060101010101" pitchFamily="49" charset="-122"/>
                <a:cs typeface="Times New Roman" panose="02020603050405020304" pitchFamily="18" charset="0"/>
              </a:rPr>
              <a:t>nCopies</a:t>
            </a:r>
            <a:endParaRPr lang="en-US" altLang="zh-CN" sz="160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1600" dirty="0">
                <a:ea typeface="黑体" panose="02010609060101010101" pitchFamily="49" charset="-122"/>
                <a:cs typeface="Times New Roman" panose="02020603050405020304" pitchFamily="18" charset="0"/>
              </a:rPr>
              <a:t>统计频次：</a:t>
            </a:r>
            <a:r>
              <a:rPr lang="en-US" altLang="zh-CN" sz="1600" dirty="0">
                <a:ea typeface="黑体" panose="02010609060101010101" pitchFamily="49" charset="-122"/>
                <a:cs typeface="Times New Roman" panose="02020603050405020304" pitchFamily="18" charset="0"/>
              </a:rPr>
              <a:t>frequency</a:t>
            </a:r>
          </a:p>
          <a:p>
            <a:pPr lvl="2">
              <a:lnSpc>
                <a:spcPct val="150000"/>
              </a:lnSpc>
            </a:pPr>
            <a:r>
              <a:rPr lang="zh-CN" altLang="en-US" sz="1600" b="0" dirty="0">
                <a:ea typeface="黑体" panose="02010609060101010101" pitchFamily="49" charset="-122"/>
                <a:cs typeface="Times New Roman" panose="02020603050405020304" pitchFamily="18" charset="0"/>
              </a:rPr>
              <a:t>判断交集：</a:t>
            </a:r>
            <a:r>
              <a:rPr lang="en-US" altLang="zh-CN" sz="1600" b="0" dirty="0">
                <a:ea typeface="黑体" panose="02010609060101010101" pitchFamily="49" charset="-122"/>
                <a:cs typeface="Times New Roman" panose="02020603050405020304" pitchFamily="18" charset="0"/>
              </a:rPr>
              <a:t>disjoint</a:t>
            </a:r>
          </a:p>
          <a:p>
            <a:pPr lvl="2">
              <a:lnSpc>
                <a:spcPct val="150000"/>
              </a:lnSpc>
            </a:pPr>
            <a:r>
              <a:rPr lang="zh-CN" altLang="en-US" sz="1600" dirty="0">
                <a:ea typeface="黑体" panose="02010609060101010101" pitchFamily="49" charset="-122"/>
                <a:cs typeface="Times New Roman" panose="02020603050405020304" pitchFamily="18" charset="0"/>
              </a:rPr>
              <a:t>创建不可改的集合：</a:t>
            </a:r>
            <a:r>
              <a:rPr lang="en-US" altLang="zh-CN" sz="1600" dirty="0" err="1">
                <a:ea typeface="黑体" panose="02010609060101010101" pitchFamily="49" charset="-122"/>
                <a:cs typeface="Times New Roman" panose="02020603050405020304" pitchFamily="18" charset="0"/>
              </a:rPr>
              <a:t>unmodifiableCollection</a:t>
            </a:r>
            <a:r>
              <a:rPr lang="en-US" altLang="zh-CN" sz="1600" dirty="0"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1600" dirty="0" err="1">
                <a:ea typeface="黑体" panose="02010609060101010101" pitchFamily="49" charset="-122"/>
                <a:cs typeface="Times New Roman" panose="02020603050405020304" pitchFamily="18" charset="0"/>
              </a:rPr>
              <a:t>unmodifiableSet</a:t>
            </a:r>
            <a:r>
              <a:rPr lang="en-US" altLang="zh-CN" sz="1600" dirty="0"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1600" dirty="0" err="1">
                <a:ea typeface="黑体" panose="02010609060101010101" pitchFamily="49" charset="-122"/>
                <a:cs typeface="Times New Roman" panose="02020603050405020304" pitchFamily="18" charset="0"/>
              </a:rPr>
              <a:t>unmodifiableList</a:t>
            </a:r>
            <a:r>
              <a:rPr lang="en-US" altLang="zh-CN" sz="1600" dirty="0">
                <a:ea typeface="黑体" panose="02010609060101010101" pitchFamily="49" charset="-122"/>
                <a:cs typeface="Times New Roman" panose="02020603050405020304" pitchFamily="18" charset="0"/>
              </a:rPr>
              <a:t>, …</a:t>
            </a:r>
          </a:p>
          <a:p>
            <a:pPr lvl="2">
              <a:lnSpc>
                <a:spcPct val="150000"/>
              </a:lnSpc>
            </a:pPr>
            <a:endParaRPr lang="en-US" altLang="zh-CN" sz="16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0860155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7.6 Collections Methods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323529" y="981076"/>
            <a:ext cx="8280920" cy="540025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排序示例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Sort1.java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：给字符串数组排序</a:t>
            </a: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Sort2.java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：给字符串数组降序排序</a:t>
            </a:r>
            <a:endParaRPr lang="en-US" altLang="zh-CN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Sort3.java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：使用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Comparator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给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Time2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对象排序</a:t>
            </a: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DeckOfCards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.java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打乱集合元素的排序顺序</a:t>
            </a:r>
            <a:endParaRPr lang="en-US" altLang="zh-CN" sz="16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72906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7.6 Collections Methods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323529" y="981076"/>
            <a:ext cx="8280920" cy="540025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处理集合元素示例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Algorithm1.java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：使用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reverse,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fill,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copy,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max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min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Algorithm2.java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：使用</a:t>
            </a:r>
            <a:r>
              <a:rPr lang="en-US" altLang="zh-CN" sz="20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addAll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frequency, disjoint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  <a:endParaRPr lang="en-US" altLang="zh-CN" sz="20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BinarySearchTest.java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：实现二分查找</a:t>
            </a:r>
            <a:endParaRPr lang="en-US" altLang="zh-CN" sz="20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12731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7.6 Collections Methods</a:t>
            </a:r>
            <a:endParaRPr lang="zh-CN" altLang="en-US" sz="32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323529" y="981076"/>
            <a:ext cx="7128791" cy="324000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集合类型小结</a:t>
            </a:r>
            <a:endParaRPr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由于历史原因， 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JDK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中提供了相当多的各种集合类型，显得比较混乱。 </a:t>
            </a:r>
          </a:p>
          <a:p>
            <a:pPr lvl="1">
              <a:lnSpc>
                <a:spcPct val="150000"/>
              </a:lnSpc>
            </a:pP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在实际开发中，一定要注意不同种集合类型所应用的场景，以及它所包容的一些“陷阱”，否则，可能会给程序</a:t>
            </a:r>
            <a:r>
              <a:rPr lang="en-US" altLang="zh-CN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BUG</a:t>
            </a:r>
            <a:r>
              <a:rPr lang="zh-CN" altLang="en-US" sz="2000" b="0" dirty="0">
                <a:ea typeface="黑体" panose="02010609060101010101" pitchFamily="49" charset="-122"/>
                <a:cs typeface="Times New Roman" panose="02020603050405020304" pitchFamily="18" charset="0"/>
              </a:rPr>
              <a:t>调试带来问题。 </a:t>
            </a:r>
          </a:p>
          <a:p>
            <a:pPr lvl="2">
              <a:lnSpc>
                <a:spcPct val="150000"/>
              </a:lnSpc>
            </a:pPr>
            <a:endParaRPr lang="en-US" altLang="zh-CN" sz="1600" b="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AB14F5B5-A703-4049-9803-DEE2C5F48977}"/>
              </a:ext>
            </a:extLst>
          </p:cNvPr>
          <p:cNvSpPr txBox="1"/>
          <p:nvPr/>
        </p:nvSpPr>
        <p:spPr>
          <a:xfrm>
            <a:off x="1763688" y="4227303"/>
            <a:ext cx="4824536" cy="15420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692150" lvl="1" indent="-347663" eaLnBrk="0" hangingPunct="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Times New Roman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Set</a:t>
            </a:r>
            <a:r>
              <a:rPr lang="zh-CN" altLang="en-US" sz="2000" dirty="0">
                <a:latin typeface="Times New Roman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：无序、不可重复的集合 </a:t>
            </a:r>
          </a:p>
          <a:p>
            <a:pPr marL="692150" lvl="1" indent="-347663" eaLnBrk="0" hangingPunct="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Times New Roman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List</a:t>
            </a:r>
            <a:r>
              <a:rPr lang="zh-CN" altLang="en-US" sz="2000" dirty="0">
                <a:latin typeface="Times New Roman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：有序、可重复 </a:t>
            </a:r>
          </a:p>
          <a:p>
            <a:pPr marL="692150" lvl="1" indent="-347663" eaLnBrk="0" hangingPunct="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Times New Roman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Map</a:t>
            </a:r>
            <a:r>
              <a:rPr lang="zh-CN" altLang="en-US" sz="2000" dirty="0">
                <a:latin typeface="Times New Roman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：具有映射关系的集合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62551284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作业</a:t>
            </a: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xfrm>
            <a:off x="468313" y="1556792"/>
            <a:ext cx="7956376" cy="4536156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如果某程序中需要使用一些预定义的颜色进行绘图，请编写一个</a:t>
            </a:r>
            <a:r>
              <a:rPr lang="en-US" altLang="zh-CN" sz="2000" b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MyColor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类，在内部使用一个合适的集合对象保存这些颜色对象。 </a:t>
            </a:r>
          </a:p>
          <a:p>
            <a:pPr algn="just">
              <a:lnSpc>
                <a:spcPct val="150000"/>
              </a:lnSpc>
            </a:pP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写一个程序，可以找出在一个英文语句中出现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次以上的单词（不区分大小写） </a:t>
            </a:r>
          </a:p>
          <a:p>
            <a:pPr algn="just">
              <a:lnSpc>
                <a:spcPct val="150000"/>
              </a:lnSpc>
            </a:pP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随机生成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100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en-US" altLang="zh-CN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1~1000</a:t>
            </a: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之间的随机数，把它们排序，之后输出其排序结果。</a:t>
            </a:r>
            <a:endParaRPr lang="zh-CN" altLang="en-US" b="0" dirty="0"/>
          </a:p>
          <a:p>
            <a:pPr algn="just">
              <a:lnSpc>
                <a:spcPct val="150000"/>
              </a:lnSpc>
            </a:pPr>
            <a:r>
              <a:rPr lang="zh-CN" altLang="en-US" sz="2000" b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假设有两个包容了多个单词的集合，编写一个程序合并这两个集合，合并后的两个集合不包容重复的单词，并且是按照字母表顺序排列的。 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1572331"/>
      </p:ext>
    </p:extLst>
  </p:cSld>
  <p:clrMapOvr>
    <a:masterClrMapping/>
  </p:clrMapOvr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12399</TotalTime>
  <Words>10819</Words>
  <Application>Microsoft Office PowerPoint</Application>
  <PresentationFormat>全屏显示(4:3)</PresentationFormat>
  <Paragraphs>1642</Paragraphs>
  <Slides>119</Slides>
  <Notes>96</Notes>
  <HiddenSlides>5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119</vt:i4>
      </vt:variant>
    </vt:vector>
  </HeadingPairs>
  <TitlesOfParts>
    <vt:vector size="133" baseType="lpstr">
      <vt:lpstr>Alibaba PuHuiTi B</vt:lpstr>
      <vt:lpstr>Alibaba PuHuiTi Medium</vt:lpstr>
      <vt:lpstr>Arial Unicode MS</vt:lpstr>
      <vt:lpstr>阿里巴巴普惠体</vt:lpstr>
      <vt:lpstr>楷体</vt:lpstr>
      <vt:lpstr>微软雅黑</vt:lpstr>
      <vt:lpstr>杨任东竹石体-Bold</vt:lpstr>
      <vt:lpstr>Arial</vt:lpstr>
      <vt:lpstr>Calibri</vt:lpstr>
      <vt:lpstr>Consolas</vt:lpstr>
      <vt:lpstr>Courier New</vt:lpstr>
      <vt:lpstr>Times New Roman</vt:lpstr>
      <vt:lpstr>Wingdings</vt:lpstr>
      <vt:lpstr>Network</vt:lpstr>
      <vt:lpstr>第七章 集合</vt:lpstr>
      <vt:lpstr>7.1 集合</vt:lpstr>
      <vt:lpstr>7.1 集合</vt:lpstr>
      <vt:lpstr>7.1 集合 ArrayList</vt:lpstr>
      <vt:lpstr>7.1 集合 ArrayList</vt:lpstr>
      <vt:lpstr>7.1 集合 ArrayList</vt:lpstr>
      <vt:lpstr>7.1 集合 ArrayList</vt:lpstr>
      <vt:lpstr>7.1 集合 ArrayList</vt:lpstr>
      <vt:lpstr>7.1 集合 ArrayList</vt:lpstr>
      <vt:lpstr>7.1 集合 ArrayList</vt:lpstr>
      <vt:lpstr>7.1 集合 ArrayList</vt:lpstr>
      <vt:lpstr>7.1 集合 ArrayList</vt:lpstr>
      <vt:lpstr>7.1 集合</vt:lpstr>
      <vt:lpstr>7.1 集合</vt:lpstr>
      <vt:lpstr>7.1 集合</vt:lpstr>
      <vt:lpstr>7.2 集合框架</vt:lpstr>
      <vt:lpstr>7.2 集合框架</vt:lpstr>
      <vt:lpstr>7.2 集合框架</vt:lpstr>
      <vt:lpstr>7.2 集合框架</vt:lpstr>
      <vt:lpstr>7.2 集合框架</vt:lpstr>
      <vt:lpstr>7.2 集合框架</vt:lpstr>
      <vt:lpstr>7.2 集合框架</vt:lpstr>
      <vt:lpstr>7.2 集合框架</vt:lpstr>
      <vt:lpstr>7.2 集合框架</vt:lpstr>
      <vt:lpstr>7.2 集合框架</vt:lpstr>
      <vt:lpstr>7.2 集合框架</vt:lpstr>
      <vt:lpstr>7.2 集合框架</vt:lpstr>
      <vt:lpstr>7.2 集合框架</vt:lpstr>
      <vt:lpstr>7.2 集合框架</vt:lpstr>
      <vt:lpstr>7.2 集合框架</vt:lpstr>
      <vt:lpstr>7.2 集合框架</vt:lpstr>
      <vt:lpstr>PowerPoint 演示文稿</vt:lpstr>
      <vt:lpstr>PowerPoint 演示文稿</vt:lpstr>
      <vt:lpstr>7.2 集合框架</vt:lpstr>
      <vt:lpstr>7.2 集合框架</vt:lpstr>
      <vt:lpstr>7.3 List</vt:lpstr>
      <vt:lpstr>7.3 List</vt:lpstr>
      <vt:lpstr>7.3 List</vt:lpstr>
      <vt:lpstr>7.3 List</vt:lpstr>
      <vt:lpstr>7.3 List</vt:lpstr>
      <vt:lpstr>7.3 List</vt:lpstr>
      <vt:lpstr>7.3 List</vt:lpstr>
      <vt:lpstr>7.3 List</vt:lpstr>
      <vt:lpstr>7.3 List</vt:lpstr>
      <vt:lpstr>7.3 List</vt:lpstr>
      <vt:lpstr>7.3 List</vt:lpstr>
      <vt:lpstr>7.3 List</vt:lpstr>
      <vt:lpstr>7.3 List</vt:lpstr>
      <vt:lpstr>7.3 List</vt:lpstr>
      <vt:lpstr>7.3 List</vt:lpstr>
      <vt:lpstr>7.3 List</vt:lpstr>
      <vt:lpstr>7.3 List</vt:lpstr>
      <vt:lpstr>7.3 List</vt:lpstr>
      <vt:lpstr>7.4 Set</vt:lpstr>
      <vt:lpstr>7.4 Set</vt:lpstr>
      <vt:lpstr>7.4 Set</vt:lpstr>
      <vt:lpstr>7.4 Set</vt:lpstr>
      <vt:lpstr>7.4 Set</vt:lpstr>
      <vt:lpstr>7.4 Set</vt:lpstr>
      <vt:lpstr>7.4 Set</vt:lpstr>
      <vt:lpstr>7.4 Set</vt:lpstr>
      <vt:lpstr>PowerPoint 演示文稿</vt:lpstr>
      <vt:lpstr>PowerPoint 演示文稿</vt:lpstr>
      <vt:lpstr>PowerPoint 演示文稿</vt:lpstr>
      <vt:lpstr>PowerPoint 演示文稿</vt:lpstr>
      <vt:lpstr>7.4 Set</vt:lpstr>
      <vt:lpstr>7.4 Set</vt:lpstr>
      <vt:lpstr>7.4 Set</vt:lpstr>
      <vt:lpstr>7.4 Set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7.4 Set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7.5 Map</vt:lpstr>
      <vt:lpstr>7.5 Map</vt:lpstr>
      <vt:lpstr>7.5 Map</vt:lpstr>
      <vt:lpstr>7.5 Map</vt:lpstr>
      <vt:lpstr>7.5 Map</vt:lpstr>
      <vt:lpstr>7.5 Map</vt:lpstr>
      <vt:lpstr>7.5 Map</vt:lpstr>
      <vt:lpstr>7.5 Map</vt:lpstr>
      <vt:lpstr>7.5 Map</vt:lpstr>
      <vt:lpstr>7.5 Map</vt:lpstr>
      <vt:lpstr>7.6 Collections Methods</vt:lpstr>
      <vt:lpstr>7.6 Collections Methods</vt:lpstr>
      <vt:lpstr>7.6 Collections Methods</vt:lpstr>
      <vt:lpstr>7.6 Collections Methods</vt:lpstr>
      <vt:lpstr>作业</vt:lpstr>
    </vt:vector>
  </TitlesOfParts>
  <Company>HHU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 Java面向对象程序设计</dc:title>
  <dc:creator>Yingchi Mao</dc:creator>
  <cp:lastModifiedBy>Yanyan</cp:lastModifiedBy>
  <cp:revision>460</cp:revision>
  <dcterms:created xsi:type="dcterms:W3CDTF">2012-10-29T00:47:36Z</dcterms:created>
  <dcterms:modified xsi:type="dcterms:W3CDTF">2024-06-19T02:33:46Z</dcterms:modified>
</cp:coreProperties>
</file>