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12190413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6BAAF3-C7CB-49B0-A1DB-94FB260C9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A6106CD-801D-445C-B8B1-5733D04C8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4D97-D050-44F1-9261-B4929598A7D7}" type="datetimeFigureOut">
              <a:rPr lang="zh-CN" altLang="en-US" smtClean="0"/>
              <a:t>2023/9/27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0ABB7A-766B-498A-BC67-7FA2AD546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0FAC75-7423-4848-A5CE-21225964A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E242-F276-433A-A95B-F01D4AC1D1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639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754D054-17A3-42BF-B487-FBD0D9DDE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126"/>
            <a:ext cx="105142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3A35A8-5648-4901-8059-E25DFC3AE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5625"/>
            <a:ext cx="10514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9B0F05-67FF-405B-BD84-F518773A7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34D97-D050-44F1-9261-B4929598A7D7}" type="datetimeFigureOut">
              <a:rPr lang="zh-CN" altLang="en-US" smtClean="0"/>
              <a:t>2023/9/27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B06854-67FD-45E1-ADDB-3779E0C080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6351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66E25E-598D-47D9-8BE7-876F92AE50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2E242-F276-433A-A95B-F01D4AC1D1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326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66438E2-71E4-47DA-BCB5-4289BBFEA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8BDF0B-F2D0-4E93-9DEE-8632F59510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955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B580CBB-F88B-461F-820C-01D4DF5D0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FAA859-B8BC-4488-96E5-E85B5F3E6D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946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20B96F0-8388-434A-919D-A66EFC9DF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例：初步软件需求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9AC879-5597-47C6-80F1-DF43B6DFF0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029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00F56E7-9707-4165-9F84-48E1A3DAE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 </a:t>
            </a:r>
            <a:r>
              <a:rPr lang="zh-CN" altLang="zh-CN"/>
              <a:t>分析软件需求的任务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D4575D-906E-4E5A-A9BC-008E087935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21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D6E7BDB-EFA6-4495-B52A-69F0478E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1.3 </a:t>
            </a:r>
            <a:r>
              <a:rPr lang="zh-CN" altLang="en-US"/>
              <a:t>软件需求模型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02E8DE-7AA7-4624-96F5-FF218395407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424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9A4E30D-AD74-46CC-AB62-337D1E49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支持需求建模和分析的</a:t>
            </a:r>
            <a:r>
              <a:rPr lang="en-US" altLang="zh-CN"/>
              <a:t>UML</a:t>
            </a:r>
            <a:r>
              <a:rPr lang="zh-CN" altLang="en-US"/>
              <a:t>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230734B-58C5-471C-A233-1C82448EC8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569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531E0A9-49D1-4022-A23E-0860296E9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zh-CN" altLang="zh-CN"/>
              <a:t>顺序图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EB6D75D-9BE8-4608-ABF4-A0ADEDFE66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27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BF2DC0A-DF90-429F-8E45-47243BD8D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例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用户登录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589C88-4327-4A78-A28A-6F182E6A493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1994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0E166C3-CEE5-425B-86FE-994FC3818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例：监视老人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643E7E-9300-4A1B-BDA8-F2D95F0AE79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24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C731C2B-8EF0-476D-8002-F11D8268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、类图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15EE0F8-B327-4072-8D03-498F38F6A7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45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0AD3D7C-DA8F-40F6-A5F6-7CDED65CA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类的</a:t>
            </a:r>
            <a:r>
              <a:rPr lang="en-US" altLang="zh-CN"/>
              <a:t>UML</a:t>
            </a:r>
            <a:r>
              <a:rPr lang="zh-CN" altLang="en-US"/>
              <a:t>表示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F7308CE-A406-43D5-9ABC-664EA58EB8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18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3BE8D56-5174-4716-BAD4-332E854D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属性的表示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B4B1EC-8618-4F56-94A6-02FA9C28D0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33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8F98D6C-8676-4572-A07E-9C7A09AE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方法的表示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A608AA1-BB7F-45D9-B22C-D95561A4048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06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1787028-D4C7-4A1D-8C75-9F54655E7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接口</a:t>
            </a:r>
            <a:r>
              <a:rPr lang="en-US" altLang="zh-CN"/>
              <a:t>(Interface)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F3082E-0272-4A2A-BF00-17136B8905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92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C47ADAE-EE5D-42A9-8AAE-6C6393C45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类间的关系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53C6152-898B-4CC9-9A57-85B00A538C3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313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9A98890-B380-4C1E-95BB-978070B36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关联关系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AB74699-9624-44AC-A01E-ADBCDAB2CB3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201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48CDFF8-1183-44A4-B3D2-3914F5B92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关联关系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B4F4DF-F887-4A6B-8F06-610F4925A9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88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9E217DA-5DEB-44C6-9CCF-26F6F9402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聚合关系</a:t>
            </a:r>
            <a:r>
              <a:rPr lang="en-US" altLang="zh-CN"/>
              <a:t> </a:t>
            </a:r>
            <a:r>
              <a:rPr lang="zh-CN" altLang="en-US"/>
              <a:t>：</a:t>
            </a:r>
            <a:r>
              <a:rPr lang="en-US" altLang="zh-CN"/>
              <a:t>“has-a”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204E72-DC3F-4391-8DF0-4AC3EB4E7D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072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5449566-6F0C-4E57-8CB6-9CFD04576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组合关系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B58766F-2979-466D-936D-5212985BC7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00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8F2526C-997D-4A0D-9741-98F10F5F1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泛化：</a:t>
            </a:r>
            <a:r>
              <a:rPr lang="en-US" altLang="zh-CN"/>
              <a:t>“is-a”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AE10C5-93E4-41E0-8829-77BE299D98A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936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BB566BA-1388-467E-9AE4-75E6431E3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类图示例</a:t>
            </a:r>
            <a:br>
              <a:rPr lang="zh-CN" altLang="en-US"/>
            </a:b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70292EA-A7D3-49DF-8C78-549FB5430D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744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247E1B0-5B0F-48B7-914E-EA9163E89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依赖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A10AA9-4326-4F96-9B15-88EC715E11A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956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2CB2E6B-96DE-4B9A-B32F-CB008E4AC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/>
              </a:rPr>
              <a:t>1.3.4  </a:t>
            </a:r>
            <a:r>
              <a:rPr lang="zh-CN" altLang="zh-CN">
                <a:effectLst/>
              </a:rPr>
              <a:t>状态图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32FCA4C-D77D-46FA-AE31-3F6F9CF3E9C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90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BB15F6E-C0DC-4C85-A8A3-0CBB7D0FF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状态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926B0C4-2149-4F0E-97E3-AB7B20AC53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775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285E044-40CB-4B79-A33B-318624893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事件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7BAE93-8815-4C32-B19F-C81B82840B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344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36AC097-440E-4A8B-BB10-81B221646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/>
              <a:t>状态图符号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8AE45F6-59C1-45AA-84F3-EE30C4FB7D2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779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E8ABC3D-20BD-4B6E-ACBC-BE9366A4E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2D9AE7-41CF-4113-90B7-5E02174029F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998992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A2D2567-32CA-4F25-AC5A-88A6020D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0133B6-2051-4129-96A2-AAAAEC22CD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3130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FC3649F-5B33-436F-A9DE-0CFEC4104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F1C1CE-99A8-43E6-8B89-E42F587A7D7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7146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A0E7345-E47B-4335-B0A4-2CEAF86EA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0473E8-AFEA-4D9B-8515-73638126EE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860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D74B77F-2B4C-4D07-8316-09F588A8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A423C0-B422-4DB3-A646-11B29DC088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672014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4FB7FCC-04E4-4320-8DD8-8D0447F22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49ADC5-979D-4197-965D-283962A4D9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29797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6C66BB1-1F7D-4EC7-AE6D-9EE6B7D43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4799781-1DEB-4CCC-9239-542C1BC94ED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0080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C05B9F0-DC6E-4BB3-B909-757FCABEC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需求分析过程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DFF0E4E-65BF-4414-8755-101FE0DC1B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764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952035D-A6CD-49E8-8DC1-180F8E5B4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</a:t>
            </a:r>
            <a:r>
              <a:rPr lang="zh-CN" altLang="zh-CN"/>
              <a:t>分析和确定软件需求优先级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B8FF51-360F-4F1D-9F08-DE9617819B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9046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9077CAD-F317-4051-B869-6711C72C5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zh-CN" altLang="zh-CN"/>
              <a:t>分析软件需求</a:t>
            </a:r>
            <a:r>
              <a:rPr lang="zh-CN" altLang="en-US"/>
              <a:t>的</a:t>
            </a:r>
            <a:r>
              <a:rPr lang="zh-CN" altLang="zh-CN"/>
              <a:t>重要性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0427C3-F5E2-42EE-818A-D9DBB3B44E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5021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62E63A8-5BA8-480B-886E-479BCD759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</a:t>
            </a:r>
            <a:r>
              <a:rPr lang="zh-CN" altLang="zh-CN"/>
              <a:t>“空巢老人看护软件”的需求重要性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46AC68-83A2-41DE-9A0E-415DF54CCA2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069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05173DD-C426-4868-B6CA-99364AD0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 altLang="zh-CN"/>
              <a:t>分析软件需求优先级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A26A8E-0C5E-4945-9DF5-EEE761D5F35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3650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F072448-24D1-4AB6-B142-DF64878FC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</a:t>
            </a:r>
            <a:r>
              <a:rPr lang="zh-CN" altLang="zh-CN"/>
              <a:t>确定</a:t>
            </a:r>
            <a:r>
              <a:rPr lang="en-US" altLang="zh-CN"/>
              <a:t>“</a:t>
            </a:r>
            <a:r>
              <a:rPr lang="zh-CN" altLang="zh-CN"/>
              <a:t>空巢老人看护软件</a:t>
            </a:r>
            <a:r>
              <a:rPr lang="en-US" altLang="zh-CN"/>
              <a:t>”</a:t>
            </a:r>
            <a:r>
              <a:rPr lang="zh-CN" altLang="zh-CN"/>
              <a:t>的需求优先级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24B684F-DA29-43EB-B99D-E948F72B28D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064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5F9799C-D368-4A8E-96E0-473733588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 </a:t>
            </a:r>
            <a:r>
              <a:rPr lang="zh-CN" altLang="zh-CN"/>
              <a:t>确定用例分析和实现的次序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0E19289-8CBF-4FF0-8214-D4F2A8B321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6030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9C0B028-ECE7-4381-9ACF-B870C618E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</a:t>
            </a:r>
            <a:r>
              <a:rPr lang="zh-CN" altLang="zh-CN"/>
              <a:t>“空巢老人看护软件”需求开发安排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BE5F67-2D16-4E07-9ADE-EF459A13FF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2540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2F4AB8E-E957-4AEE-BEDB-FEC028BE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2.2  </a:t>
            </a:r>
            <a:r>
              <a:rPr lang="zh-CN" altLang="zh-CN"/>
              <a:t>分析和建立软件需求模型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69C7CF5-602D-4BF5-9E9E-9770D36D3A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6995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B28272E-0EE3-4958-9C89-1B9BDA69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 </a:t>
            </a:r>
            <a:r>
              <a:rPr lang="zh-CN" altLang="zh-CN"/>
              <a:t>分析和建立用例的交互模型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02FBDC1-EDF4-4DAC-B91C-B1D3EEDEB4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7174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5619965-F088-4C84-AF13-358EF19E1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 altLang="zh-CN"/>
              <a:t>分析和确定用例所涉及的对象及其类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F9E8124-185B-41E6-8EBB-025879469C8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963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90279C7-8759-4144-95E1-E47402668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边界类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614AADB-5CED-4361-89E6-3B5706DB761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740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5047D0A-9E88-40BE-A687-7F6C0D4A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例：边界类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937E83-BB97-4E4E-AE0F-264D506E53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283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931DCAD-C4C4-42B7-87C1-80205B881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控制类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A7E992-583A-4220-B40E-9DC07193C5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924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EF532A6-A9FE-494C-B232-393BA79A5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例：控制类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82FDE9B-82B4-48BD-A814-2550DB91F5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821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60200C4-1085-4945-8161-98472165C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实体类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F4E009A-D3CB-4CD6-B8C9-40229BD6BE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7508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01457E7-EF21-4A19-A70E-B0D95E38B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例：实体类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2231460-6CE9-47AE-ADB0-F2E455CBAE3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334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B2B3B02-119A-4E8C-937D-BFD0F2F0C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zh-CN" altLang="zh-CN"/>
              <a:t>分析和确定对象之间的消息传递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B5CC5C-B748-464B-BE61-53218B2B74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5707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05897CA-5155-47F3-BEE7-9747A90D5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确定消息的名称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5D05938-7704-4418-89F0-AB9778E037B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8074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00267F2-C78F-4A4C-9CA0-2471853A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确定消息传递的信息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BF05DE-FE7B-4852-9B38-5BABB8022B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940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DA71596-B699-4171-B1C6-F665480AB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例：消息的名称和信息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46828C-F7F3-4714-8DE1-D4A75B3CA6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0068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89C719A-CE91-483B-99AE-4643FA450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zh-CN"/>
              <a:t>绘制用例的交互图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EF929E-B8DC-43DE-948A-DA0AF3A6B79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665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C711251-D46B-42F1-8D7D-B6F488354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思考和讨论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193A65-BB4C-40C8-94C0-61C2A46A90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7864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370E971-9253-4639-BDB9-E83AA5B57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 altLang="zh-CN"/>
              <a:t>分析和建立软件需求的分析类模型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7D8C5A-E157-4293-9990-7C5657D3DAF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761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F95C8CD-3428-4C19-AE6A-91375A2C7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分析和建立分析类模型</a:t>
            </a:r>
            <a:r>
              <a:rPr lang="zh-CN" altLang="en-US"/>
              <a:t>的步骤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0237ED-02CB-48E3-BB0F-DB58849CF28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8876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8C80F35-4145-4F4C-AA52-BB302875A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zh-CN"/>
              <a:t>确定分析类</a:t>
            </a:r>
            <a:br>
              <a:rPr lang="zh-CN" altLang="zh-CN"/>
            </a:b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D0F71D-95BD-45F1-A30A-BB39B137D69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636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B754060-5DA2-4D9C-8A2F-0BE4BB2BE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例：根据用例图来确定分析类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BB50608-AAC6-4287-8FC9-2653656711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8895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7D5A421-F4DD-471C-8B02-F013DF109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例：根据交互图来确定分析类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72EC9F-C9D5-4887-B18A-9243F4E3C2F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2273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27F7968-3A41-4996-845B-AA0A83CA2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zh-CN"/>
              <a:t>确定分析类的职责</a:t>
            </a:r>
            <a:br>
              <a:rPr lang="zh-CN" altLang="zh-CN"/>
            </a:b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A1F733-2C5D-441A-8A36-568F57238F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0812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E5DEE68-65F8-4E4A-A768-DD1FFAF32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例：确定分析类的职责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A363FC-E444-41A1-A6F9-DDE55DD4D5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2286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5D32AD0-449E-4E9E-BF7B-B438660CC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zh-CN"/>
              <a:t>确定分析类的属性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C36FF10-8FBA-4274-AF58-E123715532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4601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BC91F5A-3AC6-4FAB-9B6C-0F0ECF641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例：确定分析类的属性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68627B-494A-4BFD-8586-F0AD40E633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593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2FC9876-1A37-420E-A5F3-74DF97B7E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 altLang="zh-CN"/>
              <a:t> </a:t>
            </a:r>
            <a:r>
              <a:rPr lang="zh-CN" altLang="zh-CN"/>
              <a:t>确定分析类之间的关系</a:t>
            </a:r>
            <a:br>
              <a:rPr lang="zh-CN" altLang="zh-CN"/>
            </a:b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16FA92E-2DA3-43CB-B4D4-3A20AF503C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4774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7879BB2-1302-47D9-9788-75A2EE910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例：确定分析类之间的关系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161544-F1D0-4ED8-898A-3C267F74D0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4813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E0E36F8-A2BB-43D9-99F1-31337866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5</a:t>
            </a:r>
            <a:r>
              <a:rPr lang="zh-CN" altLang="en-US"/>
              <a:t>、</a:t>
            </a:r>
            <a:r>
              <a:rPr lang="en-US" altLang="zh-CN"/>
              <a:t> </a:t>
            </a:r>
            <a:r>
              <a:rPr lang="zh-CN" altLang="zh-CN"/>
              <a:t>绘制分析类图</a:t>
            </a:r>
            <a:br>
              <a:rPr lang="zh-CN" altLang="zh-CN"/>
            </a:b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5807F3-A00F-4B3B-AA93-62A816CFCC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3953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28F11B1-61BE-4947-B5B9-38C063898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</a:t>
            </a:r>
            <a:r>
              <a:rPr lang="en-US" altLang="zh-CN"/>
              <a:t>”</a:t>
            </a:r>
            <a:r>
              <a:rPr lang="zh-CN" altLang="en-US"/>
              <a:t>空巢老人看护软件”分析类图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29F0F4-B90B-4A7E-9876-44729A43ED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2299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EFE31D4-8F51-45CB-AC0F-F3F6BAE64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zh-CN" altLang="zh-CN"/>
              <a:t>分析和建立软件需求的状态模型</a:t>
            </a:r>
            <a:br>
              <a:rPr lang="zh-CN" altLang="zh-CN"/>
            </a:b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83931C2-66BE-4AFF-A473-FE730C2502D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61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E87E380-9B3C-410C-852F-400ED5948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: </a:t>
            </a:r>
            <a:r>
              <a:rPr lang="zh-CN" altLang="en-US"/>
              <a:t>分析机器人类对象的状态图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8244F9-4928-40FF-A48B-B5AC28A073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67418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9D95D0E-A199-44A8-898F-C26F6A804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8B07B42-DDD3-4350-A6B3-96EFBCB690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7752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657F86A-16BA-4D67-9452-1E00F610C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 </a:t>
            </a:r>
            <a:r>
              <a:rPr lang="zh-CN" altLang="en-US"/>
              <a:t>软件需求规格说明书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507023E-FE84-4542-97C5-0D20B6D7C7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9811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E940041-F804-422D-B852-450DD5AED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需求验证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8402A95-3870-4C96-863C-D87594CBB7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163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0BFF4CF-B90C-42C7-B8BD-F6913710F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4D3EB26-E4AF-48F7-8D6E-110300B62C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66624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C60377F-EB4A-4D81-8BB4-972562021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综合实践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53882D-EF4B-4A1A-8BE3-DF422660188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22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PresentationFormat>自定义</PresentationFormat>
  <Paragraphs>69</Paragraphs>
  <Slides>76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81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内容</vt:lpstr>
      <vt:lpstr>例：初步软件需求</vt:lpstr>
      <vt:lpstr>1.2 分析软件需求的任务</vt:lpstr>
      <vt:lpstr>1.3 软件需求模型</vt:lpstr>
      <vt:lpstr>支持需求建模和分析的UML图</vt:lpstr>
      <vt:lpstr>1、顺序图</vt:lpstr>
      <vt:lpstr>例：用户登录</vt:lpstr>
      <vt:lpstr>例：监视老人</vt:lpstr>
      <vt:lpstr>2、类图</vt:lpstr>
      <vt:lpstr>类的UML表示</vt:lpstr>
      <vt:lpstr>属性的表示</vt:lpstr>
      <vt:lpstr>方法的表示</vt:lpstr>
      <vt:lpstr>接口(Interface)</vt:lpstr>
      <vt:lpstr>类间的关系</vt:lpstr>
      <vt:lpstr>关联关系</vt:lpstr>
      <vt:lpstr>关联关系</vt:lpstr>
      <vt:lpstr>聚合关系 ：“has-a”</vt:lpstr>
      <vt:lpstr>组合关系</vt:lpstr>
      <vt:lpstr>泛化：“is-a”</vt:lpstr>
      <vt:lpstr>类图示例 </vt:lpstr>
      <vt:lpstr>依赖</vt:lpstr>
      <vt:lpstr>1.3.4  状态图</vt:lpstr>
      <vt:lpstr>状态 </vt:lpstr>
      <vt:lpstr>事件</vt:lpstr>
      <vt:lpstr>状态图符号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内容</vt:lpstr>
      <vt:lpstr>需求分析过程</vt:lpstr>
      <vt:lpstr>2.1 分析和确定软件需求优先级</vt:lpstr>
      <vt:lpstr>1、分析软件需求的重要性</vt:lpstr>
      <vt:lpstr>例：“空巢老人看护软件”的需求重要性</vt:lpstr>
      <vt:lpstr>2、分析软件需求优先级</vt:lpstr>
      <vt:lpstr>例：确定“空巢老人看护软件”的需求优先级</vt:lpstr>
      <vt:lpstr>3、 确定用例分析和实现的次序</vt:lpstr>
      <vt:lpstr>例：“空巢老人看护软件”需求开发安排</vt:lpstr>
      <vt:lpstr>2.2  分析和建立软件需求模型</vt:lpstr>
      <vt:lpstr>1、 分析和建立用例的交互模型</vt:lpstr>
      <vt:lpstr>（1）分析和确定用例所涉及的对象及其类</vt:lpstr>
      <vt:lpstr>边界类</vt:lpstr>
      <vt:lpstr>例：边界类</vt:lpstr>
      <vt:lpstr>控制类</vt:lpstr>
      <vt:lpstr>例：控制类</vt:lpstr>
      <vt:lpstr>实体类</vt:lpstr>
      <vt:lpstr>例：实体类</vt:lpstr>
      <vt:lpstr>（2）分析和确定对象之间的消息传递</vt:lpstr>
      <vt:lpstr>确定消息的名称</vt:lpstr>
      <vt:lpstr>确定消息传递的信息</vt:lpstr>
      <vt:lpstr>例：消息的名称和信息</vt:lpstr>
      <vt:lpstr>（3） 绘制用例的交互图</vt:lpstr>
      <vt:lpstr>思考和讨论</vt:lpstr>
      <vt:lpstr>2、分析和建立软件需求的分析类模型</vt:lpstr>
      <vt:lpstr>分析和建立分析类模型的步骤</vt:lpstr>
      <vt:lpstr>（1） 确定分析类 </vt:lpstr>
      <vt:lpstr>例：根据用例图来确定分析类</vt:lpstr>
      <vt:lpstr>例：根据交互图来确定分析类</vt:lpstr>
      <vt:lpstr>（2） 确定分析类的职责 </vt:lpstr>
      <vt:lpstr>例：确定分析类的职责</vt:lpstr>
      <vt:lpstr>（3） 确定分析类的属性</vt:lpstr>
      <vt:lpstr>例：确定分析类的属性</vt:lpstr>
      <vt:lpstr>4、 确定分析类之间的关系 </vt:lpstr>
      <vt:lpstr>例：确定分析类之间的关系</vt:lpstr>
      <vt:lpstr>5、 绘制分析类图 </vt:lpstr>
      <vt:lpstr>例：”空巢老人看护软件”分析类图</vt:lpstr>
      <vt:lpstr>3、分析和建立软件需求的状态模型 </vt:lpstr>
      <vt:lpstr>例: 分析机器人类对象的状态图</vt:lpstr>
      <vt:lpstr>内容</vt:lpstr>
      <vt:lpstr>3.1 软件需求规格说明书</vt:lpstr>
      <vt:lpstr>3.2 需求验证</vt:lpstr>
      <vt:lpstr>小结</vt:lpstr>
      <vt:lpstr>综合实践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18465</dc:creator>
  <cp:lastModifiedBy>18465</cp:lastModifiedBy>
  <cp:revision>1</cp:revision>
  <dcterms:created xsi:type="dcterms:W3CDTF">2023-09-27T14:41:23Z</dcterms:created>
  <dcterms:modified xsi:type="dcterms:W3CDTF">2023-09-27T14:41:23Z</dcterms:modified>
</cp:coreProperties>
</file>