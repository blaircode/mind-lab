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5076" r:id="rId2"/>
    <p:sldMasterId id="2147485089" r:id="rId3"/>
  </p:sldMasterIdLst>
  <p:notesMasterIdLst>
    <p:notesMasterId r:id="rId87"/>
  </p:notesMasterIdLst>
  <p:sldIdLst>
    <p:sldId id="396" r:id="rId4"/>
    <p:sldId id="3232" r:id="rId5"/>
    <p:sldId id="604" r:id="rId6"/>
    <p:sldId id="3221" r:id="rId7"/>
    <p:sldId id="3233" r:id="rId8"/>
    <p:sldId id="3234" r:id="rId9"/>
    <p:sldId id="3235" r:id="rId10"/>
    <p:sldId id="3238" r:id="rId11"/>
    <p:sldId id="3236" r:id="rId12"/>
    <p:sldId id="3237" r:id="rId13"/>
    <p:sldId id="3245" r:id="rId14"/>
    <p:sldId id="3239" r:id="rId15"/>
    <p:sldId id="3241" r:id="rId16"/>
    <p:sldId id="3242" r:id="rId17"/>
    <p:sldId id="3243" r:id="rId18"/>
    <p:sldId id="3250" r:id="rId19"/>
    <p:sldId id="3244" r:id="rId20"/>
    <p:sldId id="3226" r:id="rId21"/>
    <p:sldId id="3222" r:id="rId22"/>
    <p:sldId id="1675" r:id="rId23"/>
    <p:sldId id="1703" r:id="rId24"/>
    <p:sldId id="521" r:id="rId25"/>
    <p:sldId id="523" r:id="rId26"/>
    <p:sldId id="453" r:id="rId27"/>
    <p:sldId id="465" r:id="rId28"/>
    <p:sldId id="466" r:id="rId29"/>
    <p:sldId id="548" r:id="rId30"/>
    <p:sldId id="3227" r:id="rId31"/>
    <p:sldId id="3223" r:id="rId32"/>
    <p:sldId id="510" r:id="rId33"/>
    <p:sldId id="562" r:id="rId34"/>
    <p:sldId id="563" r:id="rId35"/>
    <p:sldId id="514" r:id="rId36"/>
    <p:sldId id="3255" r:id="rId37"/>
    <p:sldId id="564" r:id="rId38"/>
    <p:sldId id="2053" r:id="rId39"/>
    <p:sldId id="3228" r:id="rId40"/>
    <p:sldId id="3224" r:id="rId41"/>
    <p:sldId id="2600" r:id="rId42"/>
    <p:sldId id="2605" r:id="rId43"/>
    <p:sldId id="2607" r:id="rId44"/>
    <p:sldId id="3252" r:id="rId45"/>
    <p:sldId id="589" r:id="rId46"/>
    <p:sldId id="2654" r:id="rId47"/>
    <p:sldId id="2634" r:id="rId48"/>
    <p:sldId id="2626" r:id="rId49"/>
    <p:sldId id="2656" r:id="rId50"/>
    <p:sldId id="2805" r:id="rId51"/>
    <p:sldId id="2809" r:id="rId52"/>
    <p:sldId id="2810" r:id="rId53"/>
    <p:sldId id="2815" r:id="rId54"/>
    <p:sldId id="2830" r:id="rId55"/>
    <p:sldId id="2831" r:id="rId56"/>
    <p:sldId id="2832" r:id="rId57"/>
    <p:sldId id="2836" r:id="rId58"/>
    <p:sldId id="3229" r:id="rId59"/>
    <p:sldId id="3225" r:id="rId60"/>
    <p:sldId id="577" r:id="rId61"/>
    <p:sldId id="2062" r:id="rId62"/>
    <p:sldId id="3256" r:id="rId63"/>
    <p:sldId id="2063" r:id="rId64"/>
    <p:sldId id="3269" r:id="rId65"/>
    <p:sldId id="3270" r:id="rId66"/>
    <p:sldId id="3257" r:id="rId67"/>
    <p:sldId id="3263" r:id="rId68"/>
    <p:sldId id="3258" r:id="rId69"/>
    <p:sldId id="3264" r:id="rId70"/>
    <p:sldId id="3265" r:id="rId71"/>
    <p:sldId id="3268" r:id="rId72"/>
    <p:sldId id="3259" r:id="rId73"/>
    <p:sldId id="3271" r:id="rId74"/>
    <p:sldId id="3272" r:id="rId75"/>
    <p:sldId id="3273" r:id="rId76"/>
    <p:sldId id="3277" r:id="rId77"/>
    <p:sldId id="3278" r:id="rId78"/>
    <p:sldId id="3279" r:id="rId79"/>
    <p:sldId id="3280" r:id="rId80"/>
    <p:sldId id="3281" r:id="rId81"/>
    <p:sldId id="3260" r:id="rId82"/>
    <p:sldId id="3274" r:id="rId83"/>
    <p:sldId id="3275" r:id="rId84"/>
    <p:sldId id="3276" r:id="rId85"/>
    <p:sldId id="3261" r:id="rId8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8000"/>
    <a:srgbClr val="009900"/>
    <a:srgbClr val="FFFFFF"/>
    <a:srgbClr val="FF9966"/>
    <a:srgbClr val="FFCC66"/>
    <a:srgbClr val="CCCC00"/>
    <a:srgbClr val="FFCC00"/>
    <a:srgbClr val="ADF2FD"/>
    <a:srgbClr val="C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8851" autoAdjust="0"/>
  </p:normalViewPr>
  <p:slideViewPr>
    <p:cSldViewPr>
      <p:cViewPr>
        <p:scale>
          <a:sx n="107" d="100"/>
          <a:sy n="107" d="100"/>
        </p:scale>
        <p:origin x="5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viewProps" Target="view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theme" Target="theme/theme1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C826EA3-E467-4E26-97D1-0C60DD1D9D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A7E2F4-D10F-47FC-B75C-45DDE28453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1D3A68E-CFDD-4961-8241-FEAC3DBDB60F}" type="datetimeFigureOut">
              <a:rPr lang="zh-CN" altLang="en-US"/>
              <a:pPr>
                <a:defRPr/>
              </a:pPr>
              <a:t>2024/7/3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290EDA1E-616B-4E87-BB5C-81C67E5E2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4F5C2D8-5E8F-44C3-98D7-B8F5E0F99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021BE9-B113-4380-A420-643F3954B0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AC05BE-A2B4-4F74-B7BE-D15D70941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0E4F810-B9C7-4E4D-8989-FB779884BA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58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F9145-F2F2-4F08-8904-809DDD91B1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4723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592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56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058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82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792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75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742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417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378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397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678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944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F9145-F2F2-4F08-8904-809DDD91B1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654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16CC94-8A0D-40D0-A583-0E42F0F0FC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864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366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138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648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727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8344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F9145-F2F2-4F08-8904-809DDD91B1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574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1099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2874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51769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8393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343DAFBA-C6F6-450B-AFB3-BA4BC073EB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98308299-A1D4-4067-A9F8-12910459DD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422DE9BC-4559-4274-A721-BCDB05C21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7CB8D3B-63E8-4DDF-909F-C8B61FB6589C}" type="slidenum">
              <a:rPr lang="zh-CN" altLang="en-US">
                <a:solidFill>
                  <a:srgbClr val="000000"/>
                </a:solidFill>
              </a:rPr>
              <a:pPr/>
              <a:t>36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186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F9145-F2F2-4F08-8904-809DDD91B1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5707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4F810-B9C7-4E4D-8989-FB779884BA1C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8588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7061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1407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0080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79008810-D77B-4E40-A671-02409678F1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91D06D9A-2F1D-412E-A471-AF49C91123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9A2C53D4-C612-4EB0-9C60-3922DA9E6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DEB466-FE9A-40E9-97FD-4345BD42E7E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FF8181-36FB-453D-BB7A-7CBA702883D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6305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756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2584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2637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6316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2889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2097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FF8181-36FB-453D-BB7A-7CBA702883D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5367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FF8181-36FB-453D-BB7A-7CBA702883D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6684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756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3853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397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F9145-F2F2-4F08-8904-809DDD91B1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3609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7833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8865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3605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4804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75328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14260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0834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9398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49420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58664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30768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87569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3670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2271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495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96651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1513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61136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91090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20032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24020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30608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32887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87248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147577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5DD97-DC81-4DEF-BBA7-ECD6B6FE60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620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72329AEF-8502-465A-BC6A-1F0695D27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9AA9D969-C2F3-49C3-816D-4FAE45328533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0" y="0"/>
            <a:chExt cx="843" cy="1379"/>
          </a:xfrm>
        </p:grpSpPr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0D88B838-0B5A-4696-A909-71A2E5FF8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66E95EE1-2555-4941-A53E-F964D2B89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487C5C07-6BB9-48AA-A11D-C1B627111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BBDC8B8B-97E1-4732-9763-BE5D95233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A99FD143-B5D8-41B6-A544-555D0FD4E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ADD138EA-69B9-4CD0-8873-E10B7A6EF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A73BA9D5-2B7A-43E8-8F3F-494A1E1A6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1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8AB8132A-3744-4C67-B0BA-A69F189C3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1E5A7C0C-9268-4560-A332-E831D6E9A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915E4933-60BA-49AE-BECF-E9BB51F60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B5E14C4B-870C-43CA-85D4-8B11FC159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F175C0FD-F103-48A8-80C2-42FE47FCF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3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756F40BA-4923-495C-BD97-4D80C3CCE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36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49A947F8-CB2A-4AEE-9BC7-D9E70A272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F1ABCCF4-7B42-4362-B09E-05D82EED4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48961A73-09BF-43A4-8264-E617614C7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536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C2F596C5-8731-4646-8A13-8F2B10BD6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9F3CD109-7991-45FB-8273-A8DBF8654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2D597DD5-A711-452C-A045-6C9EE77EB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8BAF7D67-77CB-4F96-BFD2-0A534B819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7F5B5A21-E4C6-4F06-AD5C-DAAE7606A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715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A5305F25-1633-4263-A793-5AA3425F6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9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54E15C6E-C95B-4246-8171-49E989AC7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DE820AD7-58EA-44AA-BC94-A52233EF7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0" name="Oval 33">
              <a:extLst>
                <a:ext uri="{FF2B5EF4-FFF2-40B4-BE49-F238E27FC236}">
                  <a16:creationId xmlns:a16="http://schemas.microsoft.com/office/drawing/2014/main" id="{7E786181-8A7C-4894-9DA6-10CB83E4A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894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317A78FC-584E-40AA-B011-5208609FD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2" name="Oval 35">
              <a:extLst>
                <a:ext uri="{FF2B5EF4-FFF2-40B4-BE49-F238E27FC236}">
                  <a16:creationId xmlns:a16="http://schemas.microsoft.com/office/drawing/2014/main" id="{A1A90A60-A5D6-490B-8ABC-297AE6580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4F53C282-1E66-4EA6-B8A8-A6B27D275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9A62AE19-186C-47D9-87D3-4716D8B8C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3C333F2F-4F12-476E-BF2B-44E624EFC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537DCE8C-E9AE-4A8C-8D15-48390A6D9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37" name="Line 40">
            <a:extLst>
              <a:ext uri="{FF2B5EF4-FFF2-40B4-BE49-F238E27FC236}">
                <a16:creationId xmlns:a16="http://schemas.microsoft.com/office/drawing/2014/main" id="{48B31706-45B6-4AE5-9EE4-B40D6623A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600"/>
            </a:lvl1pPr>
          </a:lstStyle>
          <a:p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GB" altLang="zh-CN"/>
              <a:t>Click to edit Master subtitle style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5BF6C255-43D8-4292-96E1-02FACED35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DF033219-C30F-4308-8167-C64A96BB4E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1582C389-1490-4A82-8D98-473AEFBA6A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13A8411-1996-46E0-9B34-BADF0B01FFD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3569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170D0-DB24-44EE-AAA0-A778D4D8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9F807-B50E-4F4B-ADD9-4C4AF684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0FB37-D497-4486-94FB-E302E641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C72092-E0FC-4A49-8C9C-7E346A26617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2931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271F7E-0FAE-467D-803D-628DB040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584E5F-488E-410A-9334-5A3EC4CD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A2BAE9-705C-4A18-92BD-05E25FDA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2EC21-1225-4DCF-9F2A-09FDC9EB7F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996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1EDB3A-02D3-4649-B885-AD606CF6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15E6CD-2F79-4BA8-9511-454F0427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D3F8E2-E8C8-4588-9F14-A1EFF7F3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D0CA9-4FCE-445F-81B5-4B57004C986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8760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4BE751-4952-488E-A343-C75A9317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78A208-A112-41C2-9047-AF98082F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47CA42-C82A-46C2-9B25-2DC86DDE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15C13-DCAF-4B33-A5CB-5C992812352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2531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C91BD8-0550-4893-8E3B-6D184D37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1A20F3-EBE0-49F7-8ED0-AAF762E92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595369-944C-4DEC-ACFE-2DAE9978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B1FA2-E974-4AB4-B8B1-614F9EAC51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947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8E4FA8-E62F-4944-9706-3C7A983D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EF040F-D8AA-48BA-9CDE-0735BE68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F0977-3D4D-448B-A104-A40BCD13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69BD3-4812-434D-9210-84753A86E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3917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5505EA-00FF-4694-B894-C85FEF09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217421-B077-4766-B242-89B4D0ED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F744EA-F66C-4982-A14D-3D14BB3C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D67BA-B9BA-44F5-92A2-E02ACE6BF31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3471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F883EC-B976-4B4B-B185-CC005AC7D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1F8545-0B5F-4613-9FF4-06BCCE5C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212660-C64F-4726-8CB2-51C2BCC1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D22F92-08AC-428E-A336-81ED312BE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07484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94E6F9-EC7F-4663-A3A6-20DA293D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4E855-7BF9-4936-B93B-AEDF8DFA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E2DFDA-E5C4-4BA8-A3A3-49CD894A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B6CFE-061F-427D-9F9E-BF75371DF58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0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190A7C-1764-4F26-9AF8-D627A80F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742B2F-F74A-4DAB-88B4-D0FA4E03A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C500C-BFB8-4141-A3D0-59604EBF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6DB5A-9E00-44BF-95A9-A5235B3018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4344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0198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81000" y="1066800"/>
            <a:ext cx="8382000" cy="54864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690286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074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0" y="0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0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179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358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0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79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358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37" y="1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0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79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58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37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716" y="3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0" y="536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179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58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37" y="536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0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179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358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37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716" y="715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0" y="89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179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358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37" y="894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0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179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358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37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179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37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600"/>
            </a:lvl1pPr>
          </a:lstStyle>
          <a:p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GB" altLang="zh-CN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000" b="0">
                <a:solidFill>
                  <a:srgbClr val="000000"/>
                </a:solidFill>
              </a:defRPr>
            </a:lvl1pPr>
          </a:lstStyle>
          <a:p>
            <a:fld id="{E78107EF-F330-44FB-BF2A-65312386222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41114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A14B2D-3654-43C9-A9D7-258C7EA07EE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0381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EC5E83-C5C1-4FFD-AAA6-15A1251E065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4977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2BE22-03C2-4BBC-843C-7F2595224C4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2061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D374B5-BDF2-4AC4-B76F-908967EEAE2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61182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3539E2-223E-4453-844B-C8B2D836D9B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84068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79F1D3-DBB1-4DBE-A937-1940A6C81D3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34379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0B4D-FF21-4D62-A30B-267369FBD20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64277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B3A873-C490-4AF8-866A-68064D612C7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30254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CA10AB-0F6B-4E9F-AD4A-089BBCA04DD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73188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50D51-C500-402F-A2C6-D7F6CCBA1AA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5785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0198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81000" y="1066800"/>
            <a:ext cx="8382000" cy="54864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484796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1518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0" y="0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0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179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358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0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79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358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37" y="1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0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79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58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37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716" y="3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0" y="536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179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58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37" y="536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0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179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358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37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716" y="715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0" y="89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179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358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37" y="894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0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179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358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37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179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37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600"/>
            </a:lvl1pPr>
          </a:lstStyle>
          <a:p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GB" altLang="zh-CN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000" b="0">
                <a:solidFill>
                  <a:srgbClr val="000000"/>
                </a:solidFill>
              </a:defRPr>
            </a:lvl1pPr>
          </a:lstStyle>
          <a:p>
            <a:fld id="{E95F5AE1-B278-4172-B5B9-915FF06CA8C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5994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F770A-BA1C-4F89-B23C-E2BCA3DC8D5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951297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682A99-3BA0-4770-A835-BFD47F51C79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37245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79F54-6D24-4173-8971-861591EFD3D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587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52D595-B2B3-486D-8FAB-8ABC8731915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211753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5DB87-5F95-481F-A8CE-BEA488C6B9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2683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01190-B905-4658-9052-54C97C51EC8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079533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41AAC-7B67-408C-A82D-E51CD8910B8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92863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7FDCD0-7857-4A01-9082-4DD4914D122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441292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F71BD7-AFEE-4FAF-A032-119EA69281E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5057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17EC3-E1C5-4DF1-A4E7-B6F76F25200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71171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0198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81000" y="1066800"/>
            <a:ext cx="8382000" cy="54864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403045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0" y="1002232"/>
            <a:ext cx="80241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160" y="1624205"/>
            <a:ext cx="80241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443091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5835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604730" y="1056254"/>
            <a:ext cx="921357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397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500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6587" y="1103440"/>
            <a:ext cx="6910673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6587" y="1743281"/>
            <a:ext cx="6910673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717" y="1246948"/>
            <a:ext cx="15126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5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4938" y="1463040"/>
            <a:ext cx="4320404" cy="4511040"/>
          </a:xfrm>
          <a:prstGeom prst="rect">
            <a:avLst/>
          </a:prstGeom>
        </p:spPr>
        <p:txBody>
          <a:bodyPr anchor="ctr"/>
          <a:lstStyle>
            <a:lvl1pPr marL="257175" marR="0" indent="-257175" algn="l" defTabSz="6858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3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457189" indent="0">
              <a:buNone/>
              <a:defRPr/>
            </a:lvl2pPr>
            <a:lvl3pPr marL="914378" indent="0">
              <a:buNone/>
              <a:defRPr/>
            </a:lvl3pPr>
            <a:lvl4pPr marL="1371566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3829050" cy="10795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533160" y="1813093"/>
            <a:ext cx="2690512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3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19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66D5F3BF-AD65-4199-9323-32E86FA53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685DA-459D-4686-A7B6-776B805A3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D73347-D3B6-4E85-8A3A-545F6A27B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0E53A91-FF42-435A-96E4-B857F23F51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ACD5721-5787-4569-9D16-6F73D5EF7A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6891CF9-E08A-4BE4-8A24-06DA78F1555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solidFill>
                  <a:srgbClr val="CC0000"/>
                </a:solidFill>
              </a:defRPr>
            </a:lvl1pPr>
          </a:lstStyle>
          <a:p>
            <a:pPr>
              <a:defRPr/>
            </a:pPr>
            <a:fld id="{B9070CAD-D074-4EDA-B826-DF1BF6E72E8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F25EF4B3-88F3-425A-A2A3-EC2DD038ED2E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1034" name="Oval 9">
              <a:extLst>
                <a:ext uri="{FF2B5EF4-FFF2-40B4-BE49-F238E27FC236}">
                  <a16:creationId xmlns:a16="http://schemas.microsoft.com/office/drawing/2014/main" id="{612CEF8D-CDE4-494A-A931-71E79540B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5" name="Oval 10">
              <a:extLst>
                <a:ext uri="{FF2B5EF4-FFF2-40B4-BE49-F238E27FC236}">
                  <a16:creationId xmlns:a16="http://schemas.microsoft.com/office/drawing/2014/main" id="{5220C560-8A3F-4A71-A34C-D0D3DAB29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6" name="Oval 11">
              <a:extLst>
                <a:ext uri="{FF2B5EF4-FFF2-40B4-BE49-F238E27FC236}">
                  <a16:creationId xmlns:a16="http://schemas.microsoft.com/office/drawing/2014/main" id="{35A21E15-94BB-487B-ACC5-3E602838F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0"/>
              <a:ext cx="78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7" name="Oval 12">
              <a:extLst>
                <a:ext uri="{FF2B5EF4-FFF2-40B4-BE49-F238E27FC236}">
                  <a16:creationId xmlns:a16="http://schemas.microsoft.com/office/drawing/2014/main" id="{3B136B26-623D-4565-BD7D-F1D5B496F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2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8" name="Oval 13">
              <a:extLst>
                <a:ext uri="{FF2B5EF4-FFF2-40B4-BE49-F238E27FC236}">
                  <a16:creationId xmlns:a16="http://schemas.microsoft.com/office/drawing/2014/main" id="{C083EC5C-C222-4686-B7C4-C51AED2B3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112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9" name="Oval 14">
              <a:extLst>
                <a:ext uri="{FF2B5EF4-FFF2-40B4-BE49-F238E27FC236}">
                  <a16:creationId xmlns:a16="http://schemas.microsoft.com/office/drawing/2014/main" id="{A2BF5452-69FF-4389-A3BC-74E0B6C0B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12"/>
              <a:ext cx="78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0" name="Oval 15">
              <a:extLst>
                <a:ext uri="{FF2B5EF4-FFF2-40B4-BE49-F238E27FC236}">
                  <a16:creationId xmlns:a16="http://schemas.microsoft.com/office/drawing/2014/main" id="{7F9DAC1D-64AD-4C0C-95B4-8D7F817AB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12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1" name="Oval 16">
              <a:extLst>
                <a:ext uri="{FF2B5EF4-FFF2-40B4-BE49-F238E27FC236}">
                  <a16:creationId xmlns:a16="http://schemas.microsoft.com/office/drawing/2014/main" id="{74DF5E5D-3DAB-4384-94AF-843E8D94D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4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2" name="Oval 17">
              <a:extLst>
                <a:ext uri="{FF2B5EF4-FFF2-40B4-BE49-F238E27FC236}">
                  <a16:creationId xmlns:a16="http://schemas.microsoft.com/office/drawing/2014/main" id="{FDEEB31C-A89B-4B10-9F31-CE889BD27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224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3" name="Oval 18">
              <a:extLst>
                <a:ext uri="{FF2B5EF4-FFF2-40B4-BE49-F238E27FC236}">
                  <a16:creationId xmlns:a16="http://schemas.microsoft.com/office/drawing/2014/main" id="{4989162A-3B14-41C8-A86E-9ADF8AC73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2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4" name="Oval 19">
              <a:extLst>
                <a:ext uri="{FF2B5EF4-FFF2-40B4-BE49-F238E27FC236}">
                  <a16:creationId xmlns:a16="http://schemas.microsoft.com/office/drawing/2014/main" id="{BD5C3F0F-8549-44D0-B2A0-0A59B4496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5" name="Oval 20">
              <a:extLst>
                <a:ext uri="{FF2B5EF4-FFF2-40B4-BE49-F238E27FC236}">
                  <a16:creationId xmlns:a16="http://schemas.microsoft.com/office/drawing/2014/main" id="{F1447D0A-9B0C-476A-BB94-19C8510E3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" y="224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6" name="Oval 21">
              <a:extLst>
                <a:ext uri="{FF2B5EF4-FFF2-40B4-BE49-F238E27FC236}">
                  <a16:creationId xmlns:a16="http://schemas.microsoft.com/office/drawing/2014/main" id="{134BF28D-A4B9-49AA-931C-6C6B60A4C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7" name="Oval 22">
              <a:extLst>
                <a:ext uri="{FF2B5EF4-FFF2-40B4-BE49-F238E27FC236}">
                  <a16:creationId xmlns:a16="http://schemas.microsoft.com/office/drawing/2014/main" id="{546F6E1E-D1DF-4815-86AD-1361EC281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33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8" name="Oval 23">
              <a:extLst>
                <a:ext uri="{FF2B5EF4-FFF2-40B4-BE49-F238E27FC236}">
                  <a16:creationId xmlns:a16="http://schemas.microsoft.com/office/drawing/2014/main" id="{32938A84-3D88-413F-A848-1E1DB3A19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336"/>
              <a:ext cx="78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9" name="Oval 24">
              <a:extLst>
                <a:ext uri="{FF2B5EF4-FFF2-40B4-BE49-F238E27FC236}">
                  <a16:creationId xmlns:a16="http://schemas.microsoft.com/office/drawing/2014/main" id="{C107886D-4370-4492-87F5-EC1B4E299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36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0" name="Oval 25">
              <a:extLst>
                <a:ext uri="{FF2B5EF4-FFF2-40B4-BE49-F238E27FC236}">
                  <a16:creationId xmlns:a16="http://schemas.microsoft.com/office/drawing/2014/main" id="{AE4632D6-B252-483F-80F6-F32204A71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1" name="Oval 26">
              <a:extLst>
                <a:ext uri="{FF2B5EF4-FFF2-40B4-BE49-F238E27FC236}">
                  <a16:creationId xmlns:a16="http://schemas.microsoft.com/office/drawing/2014/main" id="{D8E47AAA-DE02-4228-A0E3-37B4E798C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44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2" name="Oval 27">
              <a:extLst>
                <a:ext uri="{FF2B5EF4-FFF2-40B4-BE49-F238E27FC236}">
                  <a16:creationId xmlns:a16="http://schemas.microsoft.com/office/drawing/2014/main" id="{AF49F96E-FEFB-419C-AB22-61823AD45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44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3" name="Oval 28">
              <a:extLst>
                <a:ext uri="{FF2B5EF4-FFF2-40B4-BE49-F238E27FC236}">
                  <a16:creationId xmlns:a16="http://schemas.microsoft.com/office/drawing/2014/main" id="{0401B0D0-66AA-4927-9366-A6C8233E1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4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4" name="Oval 29">
              <a:extLst>
                <a:ext uri="{FF2B5EF4-FFF2-40B4-BE49-F238E27FC236}">
                  <a16:creationId xmlns:a16="http://schemas.microsoft.com/office/drawing/2014/main" id="{704FDE2D-CF18-4E58-ABFB-3202F3898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5" name="Oval 30">
              <a:extLst>
                <a:ext uri="{FF2B5EF4-FFF2-40B4-BE49-F238E27FC236}">
                  <a16:creationId xmlns:a16="http://schemas.microsoft.com/office/drawing/2014/main" id="{FCB68BD9-7CA0-4958-A24C-DC0A7FB65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6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6" name="Oval 31">
              <a:extLst>
                <a:ext uri="{FF2B5EF4-FFF2-40B4-BE49-F238E27FC236}">
                  <a16:creationId xmlns:a16="http://schemas.microsoft.com/office/drawing/2014/main" id="{A2F50836-C285-4648-B245-21B56507D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56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7" name="Oval 32">
              <a:extLst>
                <a:ext uri="{FF2B5EF4-FFF2-40B4-BE49-F238E27FC236}">
                  <a16:creationId xmlns:a16="http://schemas.microsoft.com/office/drawing/2014/main" id="{7617B5A5-2C6C-4387-A027-45FCD67F2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560"/>
              <a:ext cx="78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8" name="Oval 33">
              <a:extLst>
                <a:ext uri="{FF2B5EF4-FFF2-40B4-BE49-F238E27FC236}">
                  <a16:creationId xmlns:a16="http://schemas.microsoft.com/office/drawing/2014/main" id="{AA7EBD9A-53D2-4ABC-8DF4-D82E7E399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560"/>
              <a:ext cx="78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9" name="Oval 34">
              <a:extLst>
                <a:ext uri="{FF2B5EF4-FFF2-40B4-BE49-F238E27FC236}">
                  <a16:creationId xmlns:a16="http://schemas.microsoft.com/office/drawing/2014/main" id="{5D3B4FD2-6B87-4915-990A-2E0EDB4DF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72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0" name="Oval 35">
              <a:extLst>
                <a:ext uri="{FF2B5EF4-FFF2-40B4-BE49-F238E27FC236}">
                  <a16:creationId xmlns:a16="http://schemas.microsoft.com/office/drawing/2014/main" id="{D4345F30-9F9D-4F9C-A368-6C07E590B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672"/>
              <a:ext cx="79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1" name="Oval 36">
              <a:extLst>
                <a:ext uri="{FF2B5EF4-FFF2-40B4-BE49-F238E27FC236}">
                  <a16:creationId xmlns:a16="http://schemas.microsoft.com/office/drawing/2014/main" id="{37475A8E-BABA-45A6-BEDF-423C70907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67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2" name="Oval 37">
              <a:extLst>
                <a:ext uri="{FF2B5EF4-FFF2-40B4-BE49-F238E27FC236}">
                  <a16:creationId xmlns:a16="http://schemas.microsoft.com/office/drawing/2014/main" id="{C1A75720-6FFE-4F96-B01D-97B8732E9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67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3" name="Oval 38">
              <a:extLst>
                <a:ext uri="{FF2B5EF4-FFF2-40B4-BE49-F238E27FC236}">
                  <a16:creationId xmlns:a16="http://schemas.microsoft.com/office/drawing/2014/main" id="{40A925ED-178F-411A-9C1C-DC8083C0B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78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4" name="Oval 39">
              <a:extLst>
                <a:ext uri="{FF2B5EF4-FFF2-40B4-BE49-F238E27FC236}">
                  <a16:creationId xmlns:a16="http://schemas.microsoft.com/office/drawing/2014/main" id="{4B621A2D-9890-4219-91AA-56444AE1D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784"/>
              <a:ext cx="78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33" name="Text Box 40">
            <a:extLst>
              <a:ext uri="{FF2B5EF4-FFF2-40B4-BE49-F238E27FC236}">
                <a16:creationId xmlns:a16="http://schemas.microsoft.com/office/drawing/2014/main" id="{32FF355A-1367-44ED-A353-0F3B6EF7A0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32813" y="6308725"/>
            <a:ext cx="436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C09B08D1-DB80-4166-B4B2-C94706E2B159}" type="slidenum">
              <a:rPr lang="en-GB" altLang="en-US" b="1" smtClean="0">
                <a:solidFill>
                  <a:srgbClr val="CC0000"/>
                </a:solidFill>
              </a:rPr>
              <a:pPr eaLnBrk="1" hangingPunct="1">
                <a:defRPr/>
              </a:pPr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64" r:id="rId1"/>
    <p:sldLayoutId id="2147485065" r:id="rId2"/>
    <p:sldLayoutId id="2147485066" r:id="rId3"/>
    <p:sldLayoutId id="2147485067" r:id="rId4"/>
    <p:sldLayoutId id="2147485068" r:id="rId5"/>
    <p:sldLayoutId id="2147485069" r:id="rId6"/>
    <p:sldLayoutId id="2147485070" r:id="rId7"/>
    <p:sldLayoutId id="2147485071" r:id="rId8"/>
    <p:sldLayoutId id="2147485072" r:id="rId9"/>
    <p:sldLayoutId id="2147485073" r:id="rId10"/>
    <p:sldLayoutId id="2147485074" r:id="rId11"/>
    <p:sldLayoutId id="2147485075" r:id="rId12"/>
    <p:sldLayoutId id="214748510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1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1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楷体_GB2312" pitchFamily="1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CC0000"/>
                </a:solidFill>
              </a:defRPr>
            </a:lvl1pPr>
          </a:lstStyle>
          <a:p>
            <a:fld id="{DF0622E9-B5C9-41D2-9FBA-AF05A83F6B40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1034" name="Oval 9"/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5" name="Oval 10"/>
            <p:cNvSpPr>
              <a:spLocks noChangeArrowheads="1"/>
            </p:cNvSpPr>
            <p:nvPr/>
          </p:nvSpPr>
          <p:spPr bwMode="auto">
            <a:xfrm>
              <a:off x="112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6" name="Oval 11"/>
            <p:cNvSpPr>
              <a:spLocks noChangeArrowheads="1"/>
            </p:cNvSpPr>
            <p:nvPr/>
          </p:nvSpPr>
          <p:spPr bwMode="auto">
            <a:xfrm>
              <a:off x="224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7" name="Oval 12"/>
            <p:cNvSpPr>
              <a:spLocks noChangeArrowheads="1"/>
            </p:cNvSpPr>
            <p:nvPr/>
          </p:nvSpPr>
          <p:spPr bwMode="auto">
            <a:xfrm>
              <a:off x="0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8" name="Oval 13"/>
            <p:cNvSpPr>
              <a:spLocks noChangeArrowheads="1"/>
            </p:cNvSpPr>
            <p:nvPr/>
          </p:nvSpPr>
          <p:spPr bwMode="auto">
            <a:xfrm>
              <a:off x="112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9" name="Oval 14"/>
            <p:cNvSpPr>
              <a:spLocks noChangeArrowheads="1"/>
            </p:cNvSpPr>
            <p:nvPr/>
          </p:nvSpPr>
          <p:spPr bwMode="auto">
            <a:xfrm>
              <a:off x="224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0" name="Oval 15"/>
            <p:cNvSpPr>
              <a:spLocks noChangeArrowheads="1"/>
            </p:cNvSpPr>
            <p:nvPr/>
          </p:nvSpPr>
          <p:spPr bwMode="auto">
            <a:xfrm>
              <a:off x="336" y="11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1" name="Oval 16"/>
            <p:cNvSpPr>
              <a:spLocks noChangeArrowheads="1"/>
            </p:cNvSpPr>
            <p:nvPr/>
          </p:nvSpPr>
          <p:spPr bwMode="auto">
            <a:xfrm>
              <a:off x="0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2" name="Oval 17"/>
            <p:cNvSpPr>
              <a:spLocks noChangeArrowheads="1"/>
            </p:cNvSpPr>
            <p:nvPr/>
          </p:nvSpPr>
          <p:spPr bwMode="auto">
            <a:xfrm>
              <a:off x="112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3" name="Oval 18"/>
            <p:cNvSpPr>
              <a:spLocks noChangeArrowheads="1"/>
            </p:cNvSpPr>
            <p:nvPr/>
          </p:nvSpPr>
          <p:spPr bwMode="auto">
            <a:xfrm>
              <a:off x="224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4" name="Oval 19"/>
            <p:cNvSpPr>
              <a:spLocks noChangeArrowheads="1"/>
            </p:cNvSpPr>
            <p:nvPr/>
          </p:nvSpPr>
          <p:spPr bwMode="auto">
            <a:xfrm>
              <a:off x="336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5" name="Oval 20"/>
            <p:cNvSpPr>
              <a:spLocks noChangeArrowheads="1"/>
            </p:cNvSpPr>
            <p:nvPr/>
          </p:nvSpPr>
          <p:spPr bwMode="auto">
            <a:xfrm>
              <a:off x="448" y="22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6" name="Oval 21"/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7" name="Oval 22"/>
            <p:cNvSpPr>
              <a:spLocks noChangeArrowheads="1"/>
            </p:cNvSpPr>
            <p:nvPr/>
          </p:nvSpPr>
          <p:spPr bwMode="auto">
            <a:xfrm>
              <a:off x="112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8" name="Oval 23"/>
            <p:cNvSpPr>
              <a:spLocks noChangeArrowheads="1"/>
            </p:cNvSpPr>
            <p:nvPr/>
          </p:nvSpPr>
          <p:spPr bwMode="auto">
            <a:xfrm>
              <a:off x="224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9" name="Oval 24"/>
            <p:cNvSpPr>
              <a:spLocks noChangeArrowheads="1"/>
            </p:cNvSpPr>
            <p:nvPr/>
          </p:nvSpPr>
          <p:spPr bwMode="auto">
            <a:xfrm>
              <a:off x="336" y="33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0" name="Oval 25"/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1" name="Oval 26"/>
            <p:cNvSpPr>
              <a:spLocks noChangeArrowheads="1"/>
            </p:cNvSpPr>
            <p:nvPr/>
          </p:nvSpPr>
          <p:spPr bwMode="auto">
            <a:xfrm>
              <a:off x="112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2" name="Oval 27"/>
            <p:cNvSpPr>
              <a:spLocks noChangeArrowheads="1"/>
            </p:cNvSpPr>
            <p:nvPr/>
          </p:nvSpPr>
          <p:spPr bwMode="auto">
            <a:xfrm>
              <a:off x="224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3" name="Oval 28"/>
            <p:cNvSpPr>
              <a:spLocks noChangeArrowheads="1"/>
            </p:cNvSpPr>
            <p:nvPr/>
          </p:nvSpPr>
          <p:spPr bwMode="auto">
            <a:xfrm>
              <a:off x="336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4" name="Oval 29"/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5" name="Oval 30"/>
            <p:cNvSpPr>
              <a:spLocks noChangeArrowheads="1"/>
            </p:cNvSpPr>
            <p:nvPr/>
          </p:nvSpPr>
          <p:spPr bwMode="auto">
            <a:xfrm>
              <a:off x="0" y="56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6" name="Oval 31"/>
            <p:cNvSpPr>
              <a:spLocks noChangeArrowheads="1"/>
            </p:cNvSpPr>
            <p:nvPr/>
          </p:nvSpPr>
          <p:spPr bwMode="auto">
            <a:xfrm>
              <a:off x="112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7" name="Oval 32"/>
            <p:cNvSpPr>
              <a:spLocks noChangeArrowheads="1"/>
            </p:cNvSpPr>
            <p:nvPr/>
          </p:nvSpPr>
          <p:spPr bwMode="auto">
            <a:xfrm>
              <a:off x="224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8" name="Oval 33"/>
            <p:cNvSpPr>
              <a:spLocks noChangeArrowheads="1"/>
            </p:cNvSpPr>
            <p:nvPr/>
          </p:nvSpPr>
          <p:spPr bwMode="auto">
            <a:xfrm>
              <a:off x="336" y="56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9" name="Oval 34"/>
            <p:cNvSpPr>
              <a:spLocks noChangeArrowheads="1"/>
            </p:cNvSpPr>
            <p:nvPr/>
          </p:nvSpPr>
          <p:spPr bwMode="auto">
            <a:xfrm>
              <a:off x="0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0" name="Oval 35"/>
            <p:cNvSpPr>
              <a:spLocks noChangeArrowheads="1"/>
            </p:cNvSpPr>
            <p:nvPr/>
          </p:nvSpPr>
          <p:spPr bwMode="auto">
            <a:xfrm>
              <a:off x="112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1" name="Oval 36"/>
            <p:cNvSpPr>
              <a:spLocks noChangeArrowheads="1"/>
            </p:cNvSpPr>
            <p:nvPr/>
          </p:nvSpPr>
          <p:spPr bwMode="auto">
            <a:xfrm>
              <a:off x="224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2" name="Oval 37"/>
            <p:cNvSpPr>
              <a:spLocks noChangeArrowheads="1"/>
            </p:cNvSpPr>
            <p:nvPr/>
          </p:nvSpPr>
          <p:spPr bwMode="auto">
            <a:xfrm>
              <a:off x="336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3" name="Oval 38"/>
            <p:cNvSpPr>
              <a:spLocks noChangeArrowheads="1"/>
            </p:cNvSpPr>
            <p:nvPr/>
          </p:nvSpPr>
          <p:spPr bwMode="auto">
            <a:xfrm>
              <a:off x="112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4" name="Oval 39"/>
            <p:cNvSpPr>
              <a:spLocks noChangeArrowheads="1"/>
            </p:cNvSpPr>
            <p:nvPr/>
          </p:nvSpPr>
          <p:spPr bwMode="auto">
            <a:xfrm>
              <a:off x="336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33" name="Text Box 40"/>
          <p:cNvSpPr txBox="1">
            <a:spLocks noChangeArrowheads="1"/>
          </p:cNvSpPr>
          <p:nvPr userDrawn="1"/>
        </p:nvSpPr>
        <p:spPr bwMode="auto">
          <a:xfrm>
            <a:off x="8532813" y="6308725"/>
            <a:ext cx="436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60D178A-4032-4D22-8EE6-B31BBFC2C5E5}" type="slidenum">
              <a:rPr lang="en-GB" altLang="en-US" b="1">
                <a:solidFill>
                  <a:srgbClr val="CC0000"/>
                </a:solidFill>
              </a:rPr>
              <a:pPr eaLnBrk="1" hangingPunct="1"/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12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  <p:sldLayoutId id="2147485087" r:id="rId11"/>
    <p:sldLayoutId id="2147485088" r:id="rId12"/>
    <p:sldLayoutId id="2147485106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1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1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楷体_GB2312" pitchFamily="1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CC0000"/>
                </a:solidFill>
              </a:defRPr>
            </a:lvl1pPr>
          </a:lstStyle>
          <a:p>
            <a:fld id="{1F853BB6-0C74-4BBA-B433-FF5F6B7026DF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1034" name="Oval 9"/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5" name="Oval 10"/>
            <p:cNvSpPr>
              <a:spLocks noChangeArrowheads="1"/>
            </p:cNvSpPr>
            <p:nvPr/>
          </p:nvSpPr>
          <p:spPr bwMode="auto">
            <a:xfrm>
              <a:off x="112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6" name="Oval 11"/>
            <p:cNvSpPr>
              <a:spLocks noChangeArrowheads="1"/>
            </p:cNvSpPr>
            <p:nvPr/>
          </p:nvSpPr>
          <p:spPr bwMode="auto">
            <a:xfrm>
              <a:off x="224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7" name="Oval 12"/>
            <p:cNvSpPr>
              <a:spLocks noChangeArrowheads="1"/>
            </p:cNvSpPr>
            <p:nvPr/>
          </p:nvSpPr>
          <p:spPr bwMode="auto">
            <a:xfrm>
              <a:off x="0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8" name="Oval 13"/>
            <p:cNvSpPr>
              <a:spLocks noChangeArrowheads="1"/>
            </p:cNvSpPr>
            <p:nvPr/>
          </p:nvSpPr>
          <p:spPr bwMode="auto">
            <a:xfrm>
              <a:off x="112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9" name="Oval 14"/>
            <p:cNvSpPr>
              <a:spLocks noChangeArrowheads="1"/>
            </p:cNvSpPr>
            <p:nvPr/>
          </p:nvSpPr>
          <p:spPr bwMode="auto">
            <a:xfrm>
              <a:off x="224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0" name="Oval 15"/>
            <p:cNvSpPr>
              <a:spLocks noChangeArrowheads="1"/>
            </p:cNvSpPr>
            <p:nvPr/>
          </p:nvSpPr>
          <p:spPr bwMode="auto">
            <a:xfrm>
              <a:off x="336" y="11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1" name="Oval 16"/>
            <p:cNvSpPr>
              <a:spLocks noChangeArrowheads="1"/>
            </p:cNvSpPr>
            <p:nvPr/>
          </p:nvSpPr>
          <p:spPr bwMode="auto">
            <a:xfrm>
              <a:off x="0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2" name="Oval 17"/>
            <p:cNvSpPr>
              <a:spLocks noChangeArrowheads="1"/>
            </p:cNvSpPr>
            <p:nvPr/>
          </p:nvSpPr>
          <p:spPr bwMode="auto">
            <a:xfrm>
              <a:off x="112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3" name="Oval 18"/>
            <p:cNvSpPr>
              <a:spLocks noChangeArrowheads="1"/>
            </p:cNvSpPr>
            <p:nvPr/>
          </p:nvSpPr>
          <p:spPr bwMode="auto">
            <a:xfrm>
              <a:off x="224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4" name="Oval 19"/>
            <p:cNvSpPr>
              <a:spLocks noChangeArrowheads="1"/>
            </p:cNvSpPr>
            <p:nvPr/>
          </p:nvSpPr>
          <p:spPr bwMode="auto">
            <a:xfrm>
              <a:off x="336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5" name="Oval 20"/>
            <p:cNvSpPr>
              <a:spLocks noChangeArrowheads="1"/>
            </p:cNvSpPr>
            <p:nvPr/>
          </p:nvSpPr>
          <p:spPr bwMode="auto">
            <a:xfrm>
              <a:off x="448" y="22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6" name="Oval 21"/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7" name="Oval 22"/>
            <p:cNvSpPr>
              <a:spLocks noChangeArrowheads="1"/>
            </p:cNvSpPr>
            <p:nvPr/>
          </p:nvSpPr>
          <p:spPr bwMode="auto">
            <a:xfrm>
              <a:off x="112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8" name="Oval 23"/>
            <p:cNvSpPr>
              <a:spLocks noChangeArrowheads="1"/>
            </p:cNvSpPr>
            <p:nvPr/>
          </p:nvSpPr>
          <p:spPr bwMode="auto">
            <a:xfrm>
              <a:off x="224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9" name="Oval 24"/>
            <p:cNvSpPr>
              <a:spLocks noChangeArrowheads="1"/>
            </p:cNvSpPr>
            <p:nvPr/>
          </p:nvSpPr>
          <p:spPr bwMode="auto">
            <a:xfrm>
              <a:off x="336" y="33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0" name="Oval 25"/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1" name="Oval 26"/>
            <p:cNvSpPr>
              <a:spLocks noChangeArrowheads="1"/>
            </p:cNvSpPr>
            <p:nvPr/>
          </p:nvSpPr>
          <p:spPr bwMode="auto">
            <a:xfrm>
              <a:off x="112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2" name="Oval 27"/>
            <p:cNvSpPr>
              <a:spLocks noChangeArrowheads="1"/>
            </p:cNvSpPr>
            <p:nvPr/>
          </p:nvSpPr>
          <p:spPr bwMode="auto">
            <a:xfrm>
              <a:off x="224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3" name="Oval 28"/>
            <p:cNvSpPr>
              <a:spLocks noChangeArrowheads="1"/>
            </p:cNvSpPr>
            <p:nvPr/>
          </p:nvSpPr>
          <p:spPr bwMode="auto">
            <a:xfrm>
              <a:off x="336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4" name="Oval 29"/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5" name="Oval 30"/>
            <p:cNvSpPr>
              <a:spLocks noChangeArrowheads="1"/>
            </p:cNvSpPr>
            <p:nvPr/>
          </p:nvSpPr>
          <p:spPr bwMode="auto">
            <a:xfrm>
              <a:off x="0" y="56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6" name="Oval 31"/>
            <p:cNvSpPr>
              <a:spLocks noChangeArrowheads="1"/>
            </p:cNvSpPr>
            <p:nvPr/>
          </p:nvSpPr>
          <p:spPr bwMode="auto">
            <a:xfrm>
              <a:off x="112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7" name="Oval 32"/>
            <p:cNvSpPr>
              <a:spLocks noChangeArrowheads="1"/>
            </p:cNvSpPr>
            <p:nvPr/>
          </p:nvSpPr>
          <p:spPr bwMode="auto">
            <a:xfrm>
              <a:off x="224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8" name="Oval 33"/>
            <p:cNvSpPr>
              <a:spLocks noChangeArrowheads="1"/>
            </p:cNvSpPr>
            <p:nvPr/>
          </p:nvSpPr>
          <p:spPr bwMode="auto">
            <a:xfrm>
              <a:off x="336" y="56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9" name="Oval 34"/>
            <p:cNvSpPr>
              <a:spLocks noChangeArrowheads="1"/>
            </p:cNvSpPr>
            <p:nvPr/>
          </p:nvSpPr>
          <p:spPr bwMode="auto">
            <a:xfrm>
              <a:off x="0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0" name="Oval 35"/>
            <p:cNvSpPr>
              <a:spLocks noChangeArrowheads="1"/>
            </p:cNvSpPr>
            <p:nvPr/>
          </p:nvSpPr>
          <p:spPr bwMode="auto">
            <a:xfrm>
              <a:off x="112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1" name="Oval 36"/>
            <p:cNvSpPr>
              <a:spLocks noChangeArrowheads="1"/>
            </p:cNvSpPr>
            <p:nvPr/>
          </p:nvSpPr>
          <p:spPr bwMode="auto">
            <a:xfrm>
              <a:off x="224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2" name="Oval 37"/>
            <p:cNvSpPr>
              <a:spLocks noChangeArrowheads="1"/>
            </p:cNvSpPr>
            <p:nvPr/>
          </p:nvSpPr>
          <p:spPr bwMode="auto">
            <a:xfrm>
              <a:off x="336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3" name="Oval 38"/>
            <p:cNvSpPr>
              <a:spLocks noChangeArrowheads="1"/>
            </p:cNvSpPr>
            <p:nvPr/>
          </p:nvSpPr>
          <p:spPr bwMode="auto">
            <a:xfrm>
              <a:off x="112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4" name="Oval 39"/>
            <p:cNvSpPr>
              <a:spLocks noChangeArrowheads="1"/>
            </p:cNvSpPr>
            <p:nvPr/>
          </p:nvSpPr>
          <p:spPr bwMode="auto">
            <a:xfrm>
              <a:off x="336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33" name="Text Box 40"/>
          <p:cNvSpPr txBox="1">
            <a:spLocks noChangeArrowheads="1"/>
          </p:cNvSpPr>
          <p:nvPr userDrawn="1"/>
        </p:nvSpPr>
        <p:spPr bwMode="auto">
          <a:xfrm>
            <a:off x="8532813" y="6308725"/>
            <a:ext cx="436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4AA881-C16F-4825-ADFE-01D66AE0706A}" type="slidenum">
              <a:rPr lang="en-GB" altLang="en-US" b="1">
                <a:solidFill>
                  <a:srgbClr val="CC0000"/>
                </a:solidFill>
              </a:rPr>
              <a:pPr eaLnBrk="1" hangingPunct="1"/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39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0" r:id="rId1"/>
    <p:sldLayoutId id="2147485091" r:id="rId2"/>
    <p:sldLayoutId id="2147485092" r:id="rId3"/>
    <p:sldLayoutId id="2147485093" r:id="rId4"/>
    <p:sldLayoutId id="2147485094" r:id="rId5"/>
    <p:sldLayoutId id="2147485095" r:id="rId6"/>
    <p:sldLayoutId id="2147485096" r:id="rId7"/>
    <p:sldLayoutId id="2147485097" r:id="rId8"/>
    <p:sldLayoutId id="2147485098" r:id="rId9"/>
    <p:sldLayoutId id="2147485099" r:id="rId10"/>
    <p:sldLayoutId id="2147485100" r:id="rId11"/>
    <p:sldLayoutId id="2147485101" r:id="rId12"/>
    <p:sldLayoutId id="2147485102" r:id="rId13"/>
    <p:sldLayoutId id="2147485103" r:id="rId14"/>
    <p:sldLayoutId id="2147485104" r:id="rId15"/>
    <p:sldLayoutId id="2147485105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1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1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楷体_GB2312" pitchFamily="1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74CFB2C-8F77-4A8A-8ECC-A126100C1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74651"/>
            <a:ext cx="685800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总结复习</a:t>
            </a:r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406F8AA-F09E-4E31-924D-697848C722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5257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类与对象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封装、继承、多态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数组与集合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异常处理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输入输出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多线程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950A6BC-CE42-4EBF-A088-E9D8A3F6B19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类与对象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09F8FBD-3DE3-4619-9D65-E6BAE9E36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340768"/>
            <a:ext cx="8642350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(Object-Oriented Programming)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与结构化程序设计方法相比，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更符合人类认识现实世界的思维方式 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已成为程序设计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软件分析与设计的主流方向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涉及的主要概念</a:t>
            </a:r>
            <a:endParaRPr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抽象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——abstract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——encapsulation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——inheritance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多态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 polymorphism 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37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>
          <a:xfrm>
            <a:off x="468313" y="116632"/>
            <a:ext cx="7543800" cy="648072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内容小结</a:t>
            </a: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>
          <a:xfrm>
            <a:off x="468312" y="981075"/>
            <a:ext cx="7632079" cy="568828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面向对象程序设计的基本概念和思想</a:t>
            </a:r>
          </a:p>
          <a:p>
            <a:pPr lvl="1">
              <a:lnSpc>
                <a:spcPct val="120000"/>
              </a:lnSpc>
            </a:pP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语言类与对象的基本概念和语法，包括类的声明、类成员的访问，方法的重载，以及对象的构造、初始化和回收</a:t>
            </a: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理解类和对象的概念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熟练使用类及其成员的访问控制方法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掌握方法重载的含义，并熟练应用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熟练掌握各种构造方法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193FDE7-6A6D-45B4-B12F-F6310277D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1847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encapsulation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是一种信息隐蔽技术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基于数据的操作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封装在一起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用户只能看到对象的封装接口信息，对象的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内部细节对用户是隐蔽的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封装的目的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在于将对象的使用者和设计者分开，使用者不必知道行为实现的细节，只需使用设计者提供的消息来访问对象</a:t>
            </a:r>
          </a:p>
        </p:txBody>
      </p:sp>
    </p:spTree>
    <p:extLst>
      <p:ext uri="{BB962C8B-B14F-4D97-AF65-F5344CB8AC3E}">
        <p14:creationId xmlns:p14="http://schemas.microsoft.com/office/powerpoint/2010/main" val="148520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A28B4AA-C906-492F-9F5D-A55D3F23B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981075"/>
            <a:ext cx="8352159" cy="56880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封装的定义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清楚的边界</a:t>
            </a:r>
          </a:p>
          <a:p>
            <a:pPr lvl="2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所有对象的内部信息被限定在这个边界内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  <a:p>
            <a:pPr lvl="2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对象向外界提供的方法，外界可以通过这些方法与对象进行交互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受保护的内部实现</a:t>
            </a:r>
          </a:p>
          <a:p>
            <a:pPr lvl="2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功能的实现细节，不能从类外访问。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封装的意义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在面向对象程序设计中，</a:t>
            </a:r>
            <a:r>
              <a:rPr lang="zh-CN" altLang="en-US" b="0" dirty="0">
                <a:solidFill>
                  <a:srgbClr val="008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类封装了数据及对数据的操作，是程序中的最小模块</a:t>
            </a:r>
          </a:p>
        </p:txBody>
      </p:sp>
    </p:spTree>
    <p:extLst>
      <p:ext uri="{BB962C8B-B14F-4D97-AF65-F5344CB8AC3E}">
        <p14:creationId xmlns:p14="http://schemas.microsoft.com/office/powerpoint/2010/main" val="368766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D31861F-0462-4AFD-B401-85BF9C12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2" y="981075"/>
            <a:ext cx="8280151" cy="489619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inheritance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是指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新的类可以获得已有类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（称为超类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基类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父类）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的属性和行为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，称新类为已有类的派生类（也称为子类）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继承过程中派生类继承了基类的特性，包括属性和方法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派生类也可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修改继承的方法或增加新的方法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，使之更适合特殊的需要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有助于解决软件的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可重用性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问题，使程序结构清晰，降低了编码和维护的工作量</a:t>
            </a:r>
          </a:p>
        </p:txBody>
      </p:sp>
    </p:spTree>
    <p:extLst>
      <p:ext uri="{BB962C8B-B14F-4D97-AF65-F5344CB8AC3E}">
        <p14:creationId xmlns:p14="http://schemas.microsoft.com/office/powerpoint/2010/main" val="52449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F73CF120-1358-4142-8A4E-EF70ECF634E0}"/>
              </a:ext>
            </a:extLst>
          </p:cNvPr>
          <p:cNvSpPr txBox="1">
            <a:spLocks/>
          </p:cNvSpPr>
          <p:nvPr/>
        </p:nvSpPr>
        <p:spPr>
          <a:xfrm>
            <a:off x="107504" y="1061805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>
                <a:solidFill>
                  <a:srgbClr val="AD2B26"/>
                </a:solidFill>
                <a:latin typeface="Consolas" panose="020B0609020204030204" pitchFamily="49" charset="0"/>
              </a:rPr>
              <a:t>继承中的成员访问特点 </a:t>
            </a:r>
            <a:r>
              <a:rPr kumimoji="1" lang="en-US" altLang="zh-CN">
                <a:solidFill>
                  <a:srgbClr val="AD2B26"/>
                </a:solidFill>
                <a:latin typeface="Consolas" panose="020B0609020204030204" pitchFamily="49" charset="0"/>
              </a:rPr>
              <a:t>- </a:t>
            </a:r>
            <a:r>
              <a:rPr kumimoji="1">
                <a:solidFill>
                  <a:srgbClr val="AD2B26"/>
                </a:solidFill>
                <a:latin typeface="Consolas" panose="020B0609020204030204" pitchFamily="49" charset="0"/>
              </a:rPr>
              <a:t>成员变量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2EF60A-1544-4007-A561-FAE144A7B463}"/>
              </a:ext>
            </a:extLst>
          </p:cNvPr>
          <p:cNvSpPr txBox="1"/>
          <p:nvPr/>
        </p:nvSpPr>
        <p:spPr>
          <a:xfrm>
            <a:off x="107504" y="1757697"/>
            <a:ext cx="7138493" cy="4259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思考：子父类中，如果出现了重名的成员变量，使用的时候会优先使用？？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0E60A3B-C29E-47AB-AB11-416BF7EC26AE}"/>
              </a:ext>
            </a:extLst>
          </p:cNvPr>
          <p:cNvSpPr txBox="1"/>
          <p:nvPr/>
        </p:nvSpPr>
        <p:spPr>
          <a:xfrm>
            <a:off x="107504" y="2377802"/>
            <a:ext cx="3338606" cy="738664"/>
          </a:xfrm>
          <a:prstGeom prst="rect">
            <a:avLst/>
          </a:prstGeom>
          <a:solidFill>
            <a:srgbClr val="FFFFE4"/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class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Fu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int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num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=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10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}</a:t>
            </a:r>
            <a:endParaRPr kumimoji="0" lang="zh-CN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C1C6CDB-6220-4261-AF21-E30BD08F8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197" y="4539037"/>
            <a:ext cx="1163132" cy="116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DB42B6-F0BE-4262-8C6C-7AF5CB509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062" y="3587168"/>
            <a:ext cx="1618695" cy="1600439"/>
          </a:xfrm>
          <a:prstGeom prst="rect">
            <a:avLst/>
          </a:prstGeom>
        </p:spPr>
      </p:pic>
      <p:sp>
        <p:nvSpPr>
          <p:cNvPr id="10" name="对话气泡: 椭圆形 9">
            <a:extLst>
              <a:ext uri="{FF2B5EF4-FFF2-40B4-BE49-F238E27FC236}">
                <a16:creationId xmlns:a16="http://schemas.microsoft.com/office/drawing/2014/main" id="{9B140146-FBD3-4D24-84DC-AE5EDC89232D}"/>
              </a:ext>
            </a:extLst>
          </p:cNvPr>
          <p:cNvSpPr/>
          <p:nvPr/>
        </p:nvSpPr>
        <p:spPr>
          <a:xfrm>
            <a:off x="4708598" y="2582452"/>
            <a:ext cx="3338606" cy="910987"/>
          </a:xfrm>
          <a:prstGeom prst="wedgeEllipseCallout">
            <a:avLst>
              <a:gd name="adj1" fmla="val 45181"/>
              <a:gd name="adj2" fmla="val 46591"/>
            </a:avLst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根据就近原则，优先使用子类的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20070D22-8CC2-48D8-BD6C-7A8E2EF86E35}"/>
              </a:ext>
            </a:extLst>
          </p:cNvPr>
          <p:cNvSpPr txBox="1"/>
          <p:nvPr/>
        </p:nvSpPr>
        <p:spPr>
          <a:xfrm>
            <a:off x="5921345" y="3959814"/>
            <a:ext cx="1527628" cy="307777"/>
          </a:xfrm>
          <a:prstGeom prst="rect">
            <a:avLst/>
          </a:prstGeom>
          <a:solidFill>
            <a:srgbClr val="0C0C0C"/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思源黑体 CN Bold" panose="020B0800000000000000" pitchFamily="34" charset="-122"/>
                <a:cs typeface="Arial Unicode MS" panose="020B0604020202020204" pitchFamily="34" charset="-122"/>
              </a:rPr>
              <a:t>20</a:t>
            </a:r>
            <a:endParaRPr kumimoji="0" lang="zh-CN" altLang="zh-CN" sz="1400" b="0" i="0" u="none" strike="noStrike" kern="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5B762507-0D4A-4B2D-AA97-49D670402492}"/>
              </a:ext>
            </a:extLst>
          </p:cNvPr>
          <p:cNvSpPr txBox="1"/>
          <p:nvPr/>
        </p:nvSpPr>
        <p:spPr>
          <a:xfrm>
            <a:off x="107505" y="3402954"/>
            <a:ext cx="4280997" cy="1600438"/>
          </a:xfrm>
          <a:prstGeom prst="rect">
            <a:avLst/>
          </a:prstGeom>
          <a:solidFill>
            <a:srgbClr val="FFFFE4"/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class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Zi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extends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Fu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int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num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=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20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void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method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(){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System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.</a:t>
            </a:r>
            <a:r>
              <a:rPr kumimoji="0" lang="zh-CN" altLang="zh-CN" sz="1400" b="0" i="1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out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.println(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num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);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}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}</a:t>
            </a:r>
            <a:endParaRPr kumimoji="0" lang="zh-CN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黑体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BAD47238-C3BD-4499-A37E-C986977232E5}"/>
              </a:ext>
            </a:extLst>
          </p:cNvPr>
          <p:cNvSpPr txBox="1"/>
          <p:nvPr/>
        </p:nvSpPr>
        <p:spPr>
          <a:xfrm>
            <a:off x="107504" y="5289880"/>
            <a:ext cx="4747528" cy="1384995"/>
          </a:xfrm>
          <a:prstGeom prst="rect">
            <a:avLst/>
          </a:prstGeom>
          <a:solidFill>
            <a:srgbClr val="FFFFE4"/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class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Test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static void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main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(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String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[] args) 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    Zi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z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=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new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Zi();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   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z.method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();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}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}</a:t>
            </a:r>
            <a:endParaRPr kumimoji="0" lang="zh-CN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18037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F73CF120-1358-4142-8A4E-EF70ECF634E0}"/>
              </a:ext>
            </a:extLst>
          </p:cNvPr>
          <p:cNvSpPr txBox="1">
            <a:spLocks/>
          </p:cNvSpPr>
          <p:nvPr/>
        </p:nvSpPr>
        <p:spPr>
          <a:xfrm>
            <a:off x="107504" y="1061805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>
                <a:solidFill>
                  <a:srgbClr val="AD2B26"/>
                </a:solidFill>
                <a:latin typeface="Consolas" panose="020B0609020204030204" pitchFamily="49" charset="0"/>
              </a:rPr>
              <a:t>继承中的成员访问特点 </a:t>
            </a:r>
            <a:r>
              <a:rPr kumimoji="1" lang="en-US" altLang="zh-CN">
                <a:solidFill>
                  <a:srgbClr val="AD2B26"/>
                </a:solidFill>
                <a:latin typeface="Consolas" panose="020B0609020204030204" pitchFamily="49" charset="0"/>
              </a:rPr>
              <a:t>- </a:t>
            </a:r>
            <a:r>
              <a:rPr kumimoji="1">
                <a:solidFill>
                  <a:srgbClr val="AD2B26"/>
                </a:solidFill>
                <a:latin typeface="Consolas" panose="020B0609020204030204" pitchFamily="49" charset="0"/>
              </a:rPr>
              <a:t>成员变量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2EF60A-1544-4007-A561-FAE144A7B463}"/>
              </a:ext>
            </a:extLst>
          </p:cNvPr>
          <p:cNvSpPr txBox="1"/>
          <p:nvPr/>
        </p:nvSpPr>
        <p:spPr>
          <a:xfrm>
            <a:off x="107504" y="1757697"/>
            <a:ext cx="7138493" cy="4259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思考：子父类中，如果出现了重名的成员变量，使用的时候会优先使用？？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0E60A3B-C29E-47AB-AB11-416BF7EC26AE}"/>
              </a:ext>
            </a:extLst>
          </p:cNvPr>
          <p:cNvSpPr txBox="1"/>
          <p:nvPr/>
        </p:nvSpPr>
        <p:spPr>
          <a:xfrm>
            <a:off x="107504" y="2377802"/>
            <a:ext cx="3338606" cy="738664"/>
          </a:xfrm>
          <a:prstGeom prst="rect">
            <a:avLst/>
          </a:prstGeom>
          <a:solidFill>
            <a:srgbClr val="FFFFE4"/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class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Fu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int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num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=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10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}</a:t>
            </a:r>
            <a:endParaRPr kumimoji="0" lang="zh-CN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C1C6CDB-6220-4261-AF21-E30BD08F8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197" y="4539037"/>
            <a:ext cx="1163132" cy="116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DB42B6-F0BE-4262-8C6C-7AF5CB509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062" y="3587168"/>
            <a:ext cx="1618695" cy="1600439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5B762507-0D4A-4B2D-AA97-49D670402492}"/>
              </a:ext>
            </a:extLst>
          </p:cNvPr>
          <p:cNvSpPr txBox="1"/>
          <p:nvPr/>
        </p:nvSpPr>
        <p:spPr>
          <a:xfrm>
            <a:off x="107505" y="3402954"/>
            <a:ext cx="4280997" cy="1600438"/>
          </a:xfrm>
          <a:prstGeom prst="rect">
            <a:avLst/>
          </a:prstGeom>
          <a:solidFill>
            <a:srgbClr val="FFFFE4"/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class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Zi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extends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Fu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int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num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=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20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void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method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(){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System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.</a:t>
            </a:r>
            <a:r>
              <a:rPr kumimoji="0" lang="zh-CN" altLang="zh-CN" sz="1400" b="0" i="1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out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.println(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super.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num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);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}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}</a:t>
            </a:r>
            <a:endParaRPr kumimoji="0" lang="zh-CN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黑体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BAD47238-C3BD-4499-A37E-C986977232E5}"/>
              </a:ext>
            </a:extLst>
          </p:cNvPr>
          <p:cNvSpPr txBox="1"/>
          <p:nvPr/>
        </p:nvSpPr>
        <p:spPr>
          <a:xfrm>
            <a:off x="107504" y="5289880"/>
            <a:ext cx="4747528" cy="1384995"/>
          </a:xfrm>
          <a:prstGeom prst="rect">
            <a:avLst/>
          </a:prstGeom>
          <a:solidFill>
            <a:srgbClr val="FFFFE4"/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class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Test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public static void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main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(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String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[] args) {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    Zi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z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=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new 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Zi();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   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z.method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();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    }</a:t>
            </a:r>
            <a:b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</a:b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</a:rPr>
              <a:t>}</a:t>
            </a:r>
            <a:endParaRPr kumimoji="0" lang="zh-CN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/>
            </a:endParaRPr>
          </a:p>
        </p:txBody>
      </p:sp>
      <p:sp>
        <p:nvSpPr>
          <p:cNvPr id="14" name="对话气泡: 椭圆形 13">
            <a:extLst>
              <a:ext uri="{FF2B5EF4-FFF2-40B4-BE49-F238E27FC236}">
                <a16:creationId xmlns:a16="http://schemas.microsoft.com/office/drawing/2014/main" id="{0594D099-12CE-4249-B3DF-2957F7FFBEB4}"/>
              </a:ext>
            </a:extLst>
          </p:cNvPr>
          <p:cNvSpPr/>
          <p:nvPr/>
        </p:nvSpPr>
        <p:spPr>
          <a:xfrm>
            <a:off x="4673507" y="2706843"/>
            <a:ext cx="3338606" cy="910987"/>
          </a:xfrm>
          <a:prstGeom prst="wedgeEllipseCallout">
            <a:avLst>
              <a:gd name="adj1" fmla="val 45181"/>
              <a:gd name="adj2" fmla="val 46591"/>
            </a:avLst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super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关键字来进行解决</a:t>
            </a:r>
          </a:p>
        </p:txBody>
      </p:sp>
      <p:sp>
        <p:nvSpPr>
          <p:cNvPr id="15" name="对话气泡: 椭圆形 14">
            <a:extLst>
              <a:ext uri="{FF2B5EF4-FFF2-40B4-BE49-F238E27FC236}">
                <a16:creationId xmlns:a16="http://schemas.microsoft.com/office/drawing/2014/main" id="{CD4C5844-07FA-4EBE-84A6-C156AD92444D}"/>
              </a:ext>
            </a:extLst>
          </p:cNvPr>
          <p:cNvSpPr/>
          <p:nvPr/>
        </p:nvSpPr>
        <p:spPr>
          <a:xfrm>
            <a:off x="5292080" y="3747679"/>
            <a:ext cx="2244365" cy="910987"/>
          </a:xfrm>
          <a:prstGeom prst="wedgeEllipseCallout">
            <a:avLst>
              <a:gd name="adj1" fmla="val -31226"/>
              <a:gd name="adj2" fmla="val 53282"/>
            </a:avLst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那我就要用父类的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怎么办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842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49603C61-31A9-4672-B5E1-3291381F378F}"/>
              </a:ext>
            </a:extLst>
          </p:cNvPr>
          <p:cNvSpPr txBox="1">
            <a:spLocks/>
          </p:cNvSpPr>
          <p:nvPr/>
        </p:nvSpPr>
        <p:spPr>
          <a:xfrm>
            <a:off x="-36512" y="105273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>
                <a:solidFill>
                  <a:srgbClr val="AD2B26"/>
                </a:solidFill>
                <a:latin typeface="Consolas" panose="020B0609020204030204" pitchFamily="49" charset="0"/>
              </a:rPr>
              <a:t>继承中的成员访问特点 </a:t>
            </a:r>
            <a:r>
              <a:rPr kumimoji="1" lang="en-US" altLang="zh-CN">
                <a:solidFill>
                  <a:srgbClr val="AD2B26"/>
                </a:solidFill>
                <a:latin typeface="Consolas" panose="020B0609020204030204" pitchFamily="49" charset="0"/>
              </a:rPr>
              <a:t>- </a:t>
            </a:r>
            <a:r>
              <a:rPr kumimoji="1">
                <a:solidFill>
                  <a:srgbClr val="AD2B26"/>
                </a:solidFill>
                <a:latin typeface="Consolas" panose="020B0609020204030204" pitchFamily="49" charset="0"/>
              </a:rPr>
              <a:t>成员方法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BF6E0E61-1F9F-4469-92AA-CDC1111A2268}"/>
              </a:ext>
            </a:extLst>
          </p:cNvPr>
          <p:cNvSpPr txBox="1"/>
          <p:nvPr/>
        </p:nvSpPr>
        <p:spPr>
          <a:xfrm>
            <a:off x="-36512" y="1751646"/>
            <a:ext cx="8927642" cy="116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在继承体系中，子类可以继承到父类的方法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但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有时子类并不想原封不动地继承父类的方法，而是想作一定的修改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这就需要采用</a:t>
            </a:r>
            <a:r>
              <a:rPr lang="zh-CN" altLang="en-US" sz="1600" b="1" dirty="0">
                <a:solidFill>
                  <a:prstClr val="black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方法的重写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，方法重写又称</a:t>
            </a:r>
            <a:r>
              <a:rPr lang="zh-CN" altLang="en-US" sz="1600" b="1" dirty="0">
                <a:solidFill>
                  <a:prstClr val="black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方法覆盖</a:t>
            </a:r>
            <a:endParaRPr lang="en-US" altLang="zh-CN" sz="1600" b="1" dirty="0">
              <a:solidFill>
                <a:prstClr val="black">
                  <a:lumMod val="85000"/>
                  <a:lumOff val="15000"/>
                </a:prst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721B9D-3137-44B8-B4B2-827F8B2F9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53" y="3541655"/>
            <a:ext cx="2039736" cy="24556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212C67A-953B-476C-A8F9-097FEDE35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570" y="4157446"/>
            <a:ext cx="1626279" cy="1839857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1566B2F3-C90C-4DD2-93E5-D490195B4D47}"/>
              </a:ext>
            </a:extLst>
          </p:cNvPr>
          <p:cNvSpPr/>
          <p:nvPr/>
        </p:nvSpPr>
        <p:spPr>
          <a:xfrm>
            <a:off x="2079784" y="3163765"/>
            <a:ext cx="1626279" cy="559837"/>
          </a:xfrm>
          <a:prstGeom prst="round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捉羊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34BFB7A-04E7-4194-9F84-D11660F6E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815" y="437916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8B5EFE0-595B-4C82-BCEE-5FC1C1714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731" y="4060070"/>
            <a:ext cx="2234719" cy="2248446"/>
          </a:xfrm>
          <a:prstGeom prst="rect">
            <a:avLst/>
          </a:prstGeom>
        </p:spPr>
      </p:pic>
      <p:sp>
        <p:nvSpPr>
          <p:cNvPr id="12" name="对话气泡: 椭圆形 11">
            <a:extLst>
              <a:ext uri="{FF2B5EF4-FFF2-40B4-BE49-F238E27FC236}">
                <a16:creationId xmlns:a16="http://schemas.microsoft.com/office/drawing/2014/main" id="{CEF380F5-3D9F-47C1-AC4A-015812568C63}"/>
              </a:ext>
            </a:extLst>
          </p:cNvPr>
          <p:cNvSpPr/>
          <p:nvPr/>
        </p:nvSpPr>
        <p:spPr>
          <a:xfrm>
            <a:off x="5979979" y="3097980"/>
            <a:ext cx="2491274" cy="1059466"/>
          </a:xfrm>
          <a:prstGeom prst="wedgeEllipseCallout">
            <a:avLst>
              <a:gd name="adj1" fmla="val 30478"/>
              <a:gd name="adj2" fmla="val 61619"/>
            </a:avLst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父亲，时代变了</a:t>
            </a:r>
          </a:p>
        </p:txBody>
      </p:sp>
    </p:spTree>
    <p:extLst>
      <p:ext uri="{BB962C8B-B14F-4D97-AF65-F5344CB8AC3E}">
        <p14:creationId xmlns:p14="http://schemas.microsoft.com/office/powerpoint/2010/main" val="255958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A5A4A015-0820-4EA6-8FC2-85C6AB64FB18}"/>
              </a:ext>
            </a:extLst>
          </p:cNvPr>
          <p:cNvSpPr txBox="1">
            <a:spLocks/>
          </p:cNvSpPr>
          <p:nvPr/>
        </p:nvSpPr>
        <p:spPr>
          <a:xfrm>
            <a:off x="28245" y="1196752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AD2B26"/>
                </a:solidFill>
                <a:latin typeface="Consolas" panose="020B0609020204030204" pitchFamily="49" charset="0"/>
              </a:rPr>
              <a:t>继承中的成员访问特点 </a:t>
            </a:r>
            <a:r>
              <a:rPr kumimoji="1" lang="en-US" altLang="zh-CN" dirty="0">
                <a:solidFill>
                  <a:srgbClr val="AD2B26"/>
                </a:solidFill>
                <a:latin typeface="Consolas" panose="020B0609020204030204" pitchFamily="49" charset="0"/>
              </a:rPr>
              <a:t>- </a:t>
            </a:r>
            <a:r>
              <a:rPr kumimoji="1" lang="zh-CN" altLang="en-US" dirty="0">
                <a:solidFill>
                  <a:srgbClr val="AD2B26"/>
                </a:solidFill>
                <a:latin typeface="Consolas" panose="020B0609020204030204" pitchFamily="49" charset="0"/>
              </a:rPr>
              <a:t>成员方法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B1579C0A-9FF7-452A-8B26-4FB3550874B0}"/>
              </a:ext>
            </a:extLst>
          </p:cNvPr>
          <p:cNvSpPr txBox="1"/>
          <p:nvPr/>
        </p:nvSpPr>
        <p:spPr>
          <a:xfrm>
            <a:off x="28245" y="1895662"/>
            <a:ext cx="8927642" cy="42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子类重写父类方法，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需要保证方法声明完全一致（方法名，参数，返回值类型需要保持一致）</a:t>
            </a:r>
            <a:endParaRPr lang="en-US" altLang="zh-CN" sz="1600" dirty="0">
              <a:solidFill>
                <a:srgbClr val="008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0A5E58A-ADD4-4FB2-BB33-2977C34AFDCB}"/>
              </a:ext>
            </a:extLst>
          </p:cNvPr>
          <p:cNvSpPr txBox="1"/>
          <p:nvPr/>
        </p:nvSpPr>
        <p:spPr>
          <a:xfrm>
            <a:off x="28245" y="2632780"/>
            <a:ext cx="8927642" cy="79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1: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能够独立识别出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方法是不是重写的方法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@Override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CE970D0-CB24-4428-936F-4CA857C76E8C}"/>
              </a:ext>
            </a:extLst>
          </p:cNvPr>
          <p:cNvSpPr txBox="1"/>
          <p:nvPr/>
        </p:nvSpPr>
        <p:spPr>
          <a:xfrm>
            <a:off x="28244" y="3739230"/>
            <a:ext cx="10588491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2: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清楚方法重写的使用场景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当子类需要父类的方法, 但是觉得父类的方法逻辑不好 (修改 | 增强) 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就可以对父类的方法进行重写</a:t>
            </a:r>
            <a:endParaRPr lang="zh-CN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902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7ABA575-D090-4268-8B8B-AEB64815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6162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方法重载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overloading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  <a:endParaRPr lang="zh-CN" altLang="en-GB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一个类中</a:t>
            </a:r>
            <a:r>
              <a:rPr lang="zh-CN" altLang="en-GB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名字相同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的多个方法</a:t>
            </a:r>
          </a:p>
          <a:p>
            <a:pPr lvl="1">
              <a:lnSpc>
                <a:spcPct val="150000"/>
              </a:lnSpc>
            </a:pP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这些方法的</a:t>
            </a:r>
            <a:r>
              <a:rPr lang="zh-CN" altLang="en-GB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参数必须不同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GB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可通过参数列表的不同来辨别重载的方法</a:t>
            </a:r>
          </a:p>
          <a:p>
            <a:pPr lvl="2">
              <a:lnSpc>
                <a:spcPct val="150000"/>
              </a:lnSpc>
            </a:pPr>
            <a:r>
              <a:rPr lang="zh-CN" altLang="en-GB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或者参数个数不同</a:t>
            </a:r>
          </a:p>
          <a:p>
            <a:pPr lvl="2">
              <a:lnSpc>
                <a:spcPct val="150000"/>
              </a:lnSpc>
            </a:pPr>
            <a:r>
              <a:rPr lang="zh-CN" altLang="en-GB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或者参数类型不同</a:t>
            </a:r>
          </a:p>
          <a:p>
            <a:pPr lvl="1">
              <a:lnSpc>
                <a:spcPct val="150000"/>
              </a:lnSpc>
            </a:pP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返回值可以相同，也可以不同</a:t>
            </a:r>
          </a:p>
          <a:p>
            <a:pPr lvl="1">
              <a:lnSpc>
                <a:spcPct val="150000"/>
              </a:lnSpc>
            </a:pP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重载的价值在于它允许通过使用一个方法名来访问多个方法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17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5382F0D-A52E-47D1-9535-AEDDEE002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68" y="3200429"/>
            <a:ext cx="5740824" cy="70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69875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父类中私有方法不能被重写</a:t>
            </a:r>
            <a:endParaRPr lang="en-US" altLang="zh-CN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9875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子类重写父类方法时，访问权限必须大于等于父类</a:t>
            </a:r>
            <a:endParaRPr lang="en-US" altLang="zh-CN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三角形 9">
            <a:extLst>
              <a:ext uri="{FF2B5EF4-FFF2-40B4-BE49-F238E27FC236}">
                <a16:creationId xmlns:a16="http://schemas.microsoft.com/office/drawing/2014/main" id="{5AD52E29-D802-455E-94E6-D155DC7DAADC}"/>
              </a:ext>
            </a:extLst>
          </p:cNvPr>
          <p:cNvSpPr/>
          <p:nvPr/>
        </p:nvSpPr>
        <p:spPr>
          <a:xfrm rot="2651319">
            <a:off x="-93314" y="3109733"/>
            <a:ext cx="145648" cy="78105"/>
          </a:xfrm>
          <a:prstGeom prst="triangle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8094DD-5618-4381-9052-AE0FB62663CD}"/>
              </a:ext>
            </a:extLst>
          </p:cNvPr>
          <p:cNvSpPr/>
          <p:nvPr/>
        </p:nvSpPr>
        <p:spPr>
          <a:xfrm>
            <a:off x="0" y="2753151"/>
            <a:ext cx="5983392" cy="1351698"/>
          </a:xfrm>
          <a:prstGeom prst="rect">
            <a:avLst/>
          </a:prstGeom>
          <a:noFill/>
          <a:ln w="9525" cap="flat" cmpd="sng" algn="ctr">
            <a:solidFill>
              <a:srgbClr val="AD2B2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1AC546-3052-4913-8E88-96C9B5B492EC}"/>
              </a:ext>
            </a:extLst>
          </p:cNvPr>
          <p:cNvSpPr/>
          <p:nvPr/>
        </p:nvSpPr>
        <p:spPr>
          <a:xfrm>
            <a:off x="-99928" y="2825620"/>
            <a:ext cx="1053296" cy="300942"/>
          </a:xfrm>
          <a:prstGeom prst="rect">
            <a:avLst/>
          </a:prstGeom>
          <a:solidFill>
            <a:srgbClr val="AD2B2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0B2454F1-5CA7-432B-BFED-820C72AA9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998348"/>
              </p:ext>
            </p:extLst>
          </p:nvPr>
        </p:nvGraphicFramePr>
        <p:xfrm>
          <a:off x="6727372" y="2753150"/>
          <a:ext cx="1769898" cy="2628629"/>
        </p:xfrm>
        <a:graphic>
          <a:graphicData uri="http://schemas.openxmlformats.org/drawingml/2006/table">
            <a:tbl>
              <a:tblPr/>
              <a:tblGrid>
                <a:gridCol w="1769898">
                  <a:extLst>
                    <a:ext uri="{9D8B030D-6E8A-4147-A177-3AD203B41FA5}">
                      <a16:colId xmlns:a16="http://schemas.microsoft.com/office/drawing/2014/main" val="1488295056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权限修饰符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311345"/>
                  </a:ext>
                </a:extLst>
              </a:tr>
              <a:tr h="50954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private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637580"/>
                  </a:ext>
                </a:extLst>
              </a:tr>
              <a:tr h="50954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(default)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96109"/>
                  </a:ext>
                </a:extLst>
              </a:tr>
              <a:tr h="50954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protected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54427"/>
                  </a:ext>
                </a:extLst>
              </a:tr>
              <a:tr h="50954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public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  <a:alpha val="79999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539450"/>
                  </a:ext>
                </a:extLst>
              </a:tr>
            </a:tbl>
          </a:graphicData>
        </a:graphic>
      </p:graphicFrame>
      <p:sp>
        <p:nvSpPr>
          <p:cNvPr id="17" name="文本占位符 3">
            <a:extLst>
              <a:ext uri="{FF2B5EF4-FFF2-40B4-BE49-F238E27FC236}">
                <a16:creationId xmlns:a16="http://schemas.microsoft.com/office/drawing/2014/main" id="{B64C3C5E-3C37-46BA-B85C-ED8DD0348D9D}"/>
              </a:ext>
            </a:extLst>
          </p:cNvPr>
          <p:cNvSpPr txBox="1">
            <a:spLocks/>
          </p:cNvSpPr>
          <p:nvPr/>
        </p:nvSpPr>
        <p:spPr>
          <a:xfrm>
            <a:off x="-11537" y="1128196"/>
            <a:ext cx="7463858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dirty="0">
                <a:solidFill>
                  <a:srgbClr val="AD2B26"/>
                </a:solidFill>
                <a:latin typeface="Consolas" panose="020B0609020204030204" pitchFamily="49" charset="0"/>
              </a:rPr>
              <a:t>继承中的成员访问特点 </a:t>
            </a:r>
            <a:r>
              <a:rPr kumimoji="1" lang="en-US" altLang="zh-CN" dirty="0">
                <a:solidFill>
                  <a:srgbClr val="AD2B26"/>
                </a:solidFill>
                <a:latin typeface="Consolas" panose="020B0609020204030204" pitchFamily="49" charset="0"/>
              </a:rPr>
              <a:t>- </a:t>
            </a:r>
            <a:r>
              <a:rPr kumimoji="1" dirty="0">
                <a:solidFill>
                  <a:srgbClr val="AD2B26"/>
                </a:solidFill>
                <a:latin typeface="Consolas" panose="020B0609020204030204" pitchFamily="49" charset="0"/>
              </a:rPr>
              <a:t>成员方法</a:t>
            </a:r>
          </a:p>
        </p:txBody>
      </p:sp>
    </p:spTree>
    <p:extLst>
      <p:ext uri="{BB962C8B-B14F-4D97-AF65-F5344CB8AC3E}">
        <p14:creationId xmlns:p14="http://schemas.microsoft.com/office/powerpoint/2010/main" val="205241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0F4FC21-79C6-4E1A-8B2A-062074993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616277"/>
          </a:xfrm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多态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是指不同类型的对象可以响应相同的消息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从相同的基类派生出来的多个类型可被当作同一种类型对待，这些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不同派生类对象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响应同一方法时的行为是有所差别的 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</a:p>
          <a:p>
            <a:pPr lvl="2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所有的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Object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类的对象都响应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toString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  <a:p>
            <a:pPr lvl="2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所有的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BankAccount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类的对象都响应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deposit()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  <a:p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多态的目的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所有的对象都可被塑型为相同的类型，响应相同的消息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使代码变得简单且容易理解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使程序具有很好的“扩展性”</a:t>
            </a:r>
          </a:p>
        </p:txBody>
      </p:sp>
    </p:spTree>
    <p:extLst>
      <p:ext uri="{BB962C8B-B14F-4D97-AF65-F5344CB8AC3E}">
        <p14:creationId xmlns:p14="http://schemas.microsoft.com/office/powerpoint/2010/main" val="3181684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B2A76F6-A951-400E-8B43-E5E63A387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1847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仍以绘图为例，所有类都放在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binding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包中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基类</a:t>
            </a:r>
            <a:r>
              <a:rPr lang="en-US" altLang="zh-CN" b="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Shape</a:t>
            </a:r>
            <a:endParaRPr lang="zh-CN" altLang="en-US" b="0" dirty="0">
              <a:solidFill>
                <a:srgbClr val="0000CC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class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Shape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{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void draw()    { }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void erase()   { }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 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派生类覆盖了</a:t>
            </a:r>
            <a:r>
              <a:rPr lang="en-US" altLang="zh-CN" b="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draw</a:t>
            </a:r>
            <a:r>
              <a:rPr lang="zh-CN" altLang="en-US" b="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方法，为每种特殊的几何形状都提供独一无二的行为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11D21D-44CB-4158-B84C-D866B814C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6" y="4134224"/>
            <a:ext cx="4553184" cy="196225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39ACCF-14C6-4983-A5B8-7E022AF08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765" y="4134224"/>
            <a:ext cx="4572235" cy="190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5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723EED4-7390-4B65-908D-EFAB2927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2" y="981075"/>
            <a:ext cx="8280151" cy="51847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抽象类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代表一个抽象概念的类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没有具体实例对象的类，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不能使用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new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方法进行实例化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类前需加修饰符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abstract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可包含常规类能够包含的任何东西，例如构造方法，非抽象方法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也可包含抽象方法，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这种方法只有方法的声明，而没有方法的实现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2509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708F5C5-3E0F-4504-921E-3747829F9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196752"/>
            <a:ext cx="8064127" cy="496909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存在意义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抽象类是类层次中较</a:t>
            </a:r>
            <a:r>
              <a:rPr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高层次的概括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，抽象类的作用是</a:t>
            </a:r>
            <a:r>
              <a:rPr lang="zh-CN" altLang="en-US" b="0" dirty="0">
                <a:solidFill>
                  <a:srgbClr val="00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让其他类来继承它的抽象化的特征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抽象类中可以包括被它的所有子类共享的公共行为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抽象类可以包括被它的所有子类共享的公共属性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在用户生成实例时</a:t>
            </a:r>
            <a:r>
              <a:rPr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强迫用户生成更具体的实例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，保证代码的安全性</a:t>
            </a:r>
          </a:p>
        </p:txBody>
      </p:sp>
    </p:spTree>
    <p:extLst>
      <p:ext uri="{BB962C8B-B14F-4D97-AF65-F5344CB8AC3E}">
        <p14:creationId xmlns:p14="http://schemas.microsoft.com/office/powerpoint/2010/main" val="3759787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封装、继承、多态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7D1B7B1-4267-4600-BBCA-750BAE2C0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981075"/>
            <a:ext cx="7920111" cy="417611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接口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(interface)</a:t>
            </a:r>
            <a:endParaRPr lang="zh-CN" altLang="en-US" b="0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与抽象类一样，</a:t>
            </a:r>
            <a:r>
              <a:rPr lang="zh-CN" altLang="en-US" b="0" dirty="0">
                <a:solidFill>
                  <a:srgbClr val="0099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定义多个类的共同属性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使抽象的概念更深入了一层，是一个“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纯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”抽象类，它只提供一种形式，并不提供实现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允许创建者规定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的基本形式：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方法名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、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参数列表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以及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返回类型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，但不规定方法主体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也可以包含基本数据类型的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数据成员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，但它们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都默认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为</a:t>
            </a:r>
            <a:r>
              <a:rPr lang="en-US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static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</a:t>
            </a:r>
            <a:endParaRPr lang="zh-CN" altLang="en-US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0486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>
          <a:xfrm>
            <a:off x="468313" y="116632"/>
            <a:ext cx="7543800" cy="648072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内容小结</a:t>
            </a: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568828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掌握封装、继承、多态相关概念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掌握重写和重载；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abstract(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抽象类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interface(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关键字；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static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关键字；多态。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498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8D4F6DF-8011-4D1F-B8D5-2E7E48998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713" y="1133475"/>
            <a:ext cx="7632079" cy="202230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GB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数组由同一类型的一连串对象或者基本数据组成，并封装在同一个标识符（数组名称）下。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占用连续的内存地址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数组的静态性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ea typeface="黑体" panose="02010609060101010101" pitchFamily="49" charset="-122"/>
                <a:cs typeface="Times New Roman" panose="02020603050405020304" pitchFamily="18" charset="0"/>
              </a:rPr>
              <a:t>一旦创建就不能修改数组的长度</a:t>
            </a:r>
          </a:p>
          <a:p>
            <a:endParaRPr lang="en-GB" altLang="zh-CN" sz="2400" dirty="0">
              <a:ea typeface="宋体" panose="02010600030101010101" pitchFamily="2" charset="-122"/>
            </a:endParaRP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88A0C895-65DC-48FA-A049-813931315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75" y="440372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数组元素的值</a:t>
            </a:r>
          </a:p>
        </p:txBody>
      </p:sp>
      <p:sp>
        <p:nvSpPr>
          <p:cNvPr id="7" name="Line 26">
            <a:extLst>
              <a:ext uri="{FF2B5EF4-FFF2-40B4-BE49-F238E27FC236}">
                <a16:creationId xmlns:a16="http://schemas.microsoft.com/office/drawing/2014/main" id="{84725255-C32D-4120-9EFA-792018FD51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53250" y="4610100"/>
            <a:ext cx="636588" cy="15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Group 92">
            <a:extLst>
              <a:ext uri="{FF2B5EF4-FFF2-40B4-BE49-F238E27FC236}">
                <a16:creationId xmlns:a16="http://schemas.microsoft.com/office/drawing/2014/main" id="{9F7C0A09-9B7F-43BE-B750-06557AC5A9D5}"/>
              </a:ext>
            </a:extLst>
          </p:cNvPr>
          <p:cNvGraphicFramePr>
            <a:graphicFrameLocks/>
          </p:cNvGraphicFramePr>
          <p:nvPr/>
        </p:nvGraphicFramePr>
        <p:xfrm>
          <a:off x="6151563" y="3343275"/>
          <a:ext cx="1028700" cy="3502028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80.5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73.5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78.5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 90">
            <a:extLst>
              <a:ext uri="{FF2B5EF4-FFF2-40B4-BE49-F238E27FC236}">
                <a16:creationId xmlns:a16="http://schemas.microsoft.com/office/drawing/2014/main" id="{8B50C6F5-3760-43CA-B626-CD905CA08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44" y="5759415"/>
            <a:ext cx="4536182" cy="4810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[] scores =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[10];</a:t>
            </a:r>
          </a:p>
        </p:txBody>
      </p:sp>
      <p:graphicFrame>
        <p:nvGraphicFramePr>
          <p:cNvPr id="10" name="Group 139">
            <a:extLst>
              <a:ext uri="{FF2B5EF4-FFF2-40B4-BE49-F238E27FC236}">
                <a16:creationId xmlns:a16="http://schemas.microsoft.com/office/drawing/2014/main" id="{CA843F51-19F0-43C2-A673-F1819DE7A806}"/>
              </a:ext>
            </a:extLst>
          </p:cNvPr>
          <p:cNvGraphicFramePr>
            <a:graphicFrameLocks noGrp="1"/>
          </p:cNvGraphicFramePr>
          <p:nvPr/>
        </p:nvGraphicFramePr>
        <p:xfrm>
          <a:off x="4691063" y="3343275"/>
          <a:ext cx="1371600" cy="35020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scores[0]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scores[1]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scores[2]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scores[3]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scores[4]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scores[5]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scores[6]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scores[7]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scores[8]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scores[9]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Line 141">
            <a:extLst>
              <a:ext uri="{FF2B5EF4-FFF2-40B4-BE49-F238E27FC236}">
                <a16:creationId xmlns:a16="http://schemas.microsoft.com/office/drawing/2014/main" id="{9AB2FFD4-8C1F-42DE-97A7-5E93B452F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4608513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142">
            <a:extLst>
              <a:ext uri="{FF2B5EF4-FFF2-40B4-BE49-F238E27FC236}">
                <a16:creationId xmlns:a16="http://schemas.microsoft.com/office/drawing/2014/main" id="{D025035E-CF7A-4442-B939-45AF67BE8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238" y="4436204"/>
            <a:ext cx="22303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索引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的数组元素</a:t>
            </a:r>
          </a:p>
        </p:txBody>
      </p:sp>
      <p:sp>
        <p:nvSpPr>
          <p:cNvPr id="13" name="Line 143">
            <a:extLst>
              <a:ext uri="{FF2B5EF4-FFF2-40B4-BE49-F238E27FC236}">
                <a16:creationId xmlns:a16="http://schemas.microsoft.com/office/drawing/2014/main" id="{569E97C3-B6A4-491F-863C-AF69310617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2738" y="3351213"/>
            <a:ext cx="2017712" cy="4762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44">
            <a:extLst>
              <a:ext uri="{FF2B5EF4-FFF2-40B4-BE49-F238E27FC236}">
                <a16:creationId xmlns:a16="http://schemas.microsoft.com/office/drawing/2014/main" id="{AC555324-796F-43F4-953A-42A91CFEB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104" y="3170238"/>
            <a:ext cx="2114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scores</a:t>
            </a:r>
            <a:r>
              <a:rPr lang="en-US" altLang="zh-CN" b="1" dirty="0"/>
              <a:t>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数组引用</a:t>
            </a:r>
          </a:p>
        </p:txBody>
      </p:sp>
    </p:spTree>
    <p:extLst>
      <p:ext uri="{BB962C8B-B14F-4D97-AF65-F5344CB8AC3E}">
        <p14:creationId xmlns:p14="http://schemas.microsoft.com/office/powerpoint/2010/main" val="1321044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0">
            <a:extLst>
              <a:ext uri="{FF2B5EF4-FFF2-40B4-BE49-F238E27FC236}">
                <a16:creationId xmlns:a16="http://schemas.microsoft.com/office/drawing/2014/main" id="{39B7C29E-2D43-496A-BE3D-8D631D3AF461}"/>
              </a:ext>
            </a:extLst>
          </p:cNvPr>
          <p:cNvSpPr txBox="1"/>
          <p:nvPr/>
        </p:nvSpPr>
        <p:spPr>
          <a:xfrm>
            <a:off x="355774" y="1840468"/>
            <a:ext cx="7015156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集合是一种容器，用来装数据的，类似于数组。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5C9DCA-B6D5-4EA9-8E8F-704EC4983FFA}"/>
              </a:ext>
            </a:extLst>
          </p:cNvPr>
          <p:cNvSpPr txBox="1"/>
          <p:nvPr/>
        </p:nvSpPr>
        <p:spPr>
          <a:xfrm>
            <a:off x="344046" y="3090097"/>
            <a:ext cx="4095993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数组定义完成并启动后，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长度就固定了。</a:t>
            </a:r>
            <a:endParaRPr lang="zh-CN" altLang="en-US" sz="1600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054917B-E8D3-4822-A46B-989635D7163B}"/>
              </a:ext>
            </a:extLst>
          </p:cNvPr>
          <p:cNvCxnSpPr>
            <a:cxnSpLocks/>
          </p:cNvCxnSpPr>
          <p:nvPr/>
        </p:nvCxnSpPr>
        <p:spPr>
          <a:xfrm>
            <a:off x="489669" y="3570632"/>
            <a:ext cx="3527425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49C177C-D0D4-4AF0-95A4-8F0CAD240283}"/>
              </a:ext>
            </a:extLst>
          </p:cNvPr>
          <p:cNvCxnSpPr/>
          <p:nvPr/>
        </p:nvCxnSpPr>
        <p:spPr>
          <a:xfrm>
            <a:off x="506322" y="4258429"/>
            <a:ext cx="3527425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08EE1E8-61DB-4BA9-B124-DDAE99CA72D5}"/>
              </a:ext>
            </a:extLst>
          </p:cNvPr>
          <p:cNvCxnSpPr>
            <a:cxnSpLocks/>
          </p:cNvCxnSpPr>
          <p:nvPr/>
        </p:nvCxnSpPr>
        <p:spPr>
          <a:xfrm>
            <a:off x="489668" y="3570632"/>
            <a:ext cx="0" cy="687797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5B5DD41-4569-4E64-BFCF-FA0200B07E33}"/>
              </a:ext>
            </a:extLst>
          </p:cNvPr>
          <p:cNvCxnSpPr>
            <a:cxnSpLocks/>
          </p:cNvCxnSpPr>
          <p:nvPr/>
        </p:nvCxnSpPr>
        <p:spPr>
          <a:xfrm>
            <a:off x="1603458" y="3586507"/>
            <a:ext cx="0" cy="65811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6E5B7D9-275F-4824-A22C-BB3C8AF7A566}"/>
              </a:ext>
            </a:extLst>
          </p:cNvPr>
          <p:cNvCxnSpPr>
            <a:cxnSpLocks/>
          </p:cNvCxnSpPr>
          <p:nvPr/>
        </p:nvCxnSpPr>
        <p:spPr>
          <a:xfrm>
            <a:off x="2793131" y="3570631"/>
            <a:ext cx="0" cy="696749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087C6BE-C58E-4926-B49F-8457A10D495F}"/>
              </a:ext>
            </a:extLst>
          </p:cNvPr>
          <p:cNvCxnSpPr>
            <a:cxnSpLocks/>
          </p:cNvCxnSpPr>
          <p:nvPr/>
        </p:nvCxnSpPr>
        <p:spPr>
          <a:xfrm>
            <a:off x="4033746" y="3586507"/>
            <a:ext cx="0" cy="671922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D6F32454-7D6A-4E2D-80D5-B5344B8A54FE}"/>
              </a:ext>
            </a:extLst>
          </p:cNvPr>
          <p:cNvSpPr/>
          <p:nvPr/>
        </p:nvSpPr>
        <p:spPr>
          <a:xfrm>
            <a:off x="969992" y="4238466"/>
            <a:ext cx="217848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endParaRPr lang="zh-CN" altLang="en-US" sz="1050" dirty="0">
              <a:solidFill>
                <a:prstClr val="black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75AA49-BD9D-4F0B-8AFA-C26F870BDB64}"/>
              </a:ext>
            </a:extLst>
          </p:cNvPr>
          <p:cNvSpPr/>
          <p:nvPr/>
        </p:nvSpPr>
        <p:spPr>
          <a:xfrm>
            <a:off x="2136727" y="4244617"/>
            <a:ext cx="217848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endParaRPr lang="zh-CN" altLang="en-US" sz="1050" dirty="0">
              <a:solidFill>
                <a:prstClr val="black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323EA55-FD04-42BE-A0F1-8BF60C946240}"/>
              </a:ext>
            </a:extLst>
          </p:cNvPr>
          <p:cNvSpPr/>
          <p:nvPr/>
        </p:nvSpPr>
        <p:spPr>
          <a:xfrm>
            <a:off x="3373973" y="4238466"/>
            <a:ext cx="228270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lang="zh-CN" altLang="en-US" sz="1050" dirty="0">
              <a:solidFill>
                <a:prstClr val="black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80F6C51-EE4B-4BE9-85ED-25E6A56D1D38}"/>
              </a:ext>
            </a:extLst>
          </p:cNvPr>
          <p:cNvSpPr txBox="1"/>
          <p:nvPr/>
        </p:nvSpPr>
        <p:spPr>
          <a:xfrm>
            <a:off x="387550" y="4604208"/>
            <a:ext cx="3480440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集合大小可变，开发中用的更多。</a:t>
            </a:r>
          </a:p>
        </p:txBody>
      </p:sp>
      <p:sp>
        <p:nvSpPr>
          <p:cNvPr id="38" name="标题 3">
            <a:extLst>
              <a:ext uri="{FF2B5EF4-FFF2-40B4-BE49-F238E27FC236}">
                <a16:creationId xmlns:a16="http://schemas.microsoft.com/office/drawing/2014/main" id="{C8941E5B-9082-43E2-8CA6-744C91D8A96C}"/>
              </a:ext>
            </a:extLst>
          </p:cNvPr>
          <p:cNvSpPr txBox="1">
            <a:spLocks/>
          </p:cNvSpPr>
          <p:nvPr/>
        </p:nvSpPr>
        <p:spPr>
          <a:xfrm>
            <a:off x="384787" y="1166784"/>
            <a:ext cx="4767416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914378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什么是集合？</a:t>
            </a:r>
          </a:p>
        </p:txBody>
      </p:sp>
      <p:sp>
        <p:nvSpPr>
          <p:cNvPr id="39" name="标题 3">
            <a:extLst>
              <a:ext uri="{FF2B5EF4-FFF2-40B4-BE49-F238E27FC236}">
                <a16:creationId xmlns:a16="http://schemas.microsoft.com/office/drawing/2014/main" id="{BE830D33-07CD-422C-B5B7-8EFBF5A9472F}"/>
              </a:ext>
            </a:extLst>
          </p:cNvPr>
          <p:cNvSpPr txBox="1">
            <a:spLocks/>
          </p:cNvSpPr>
          <p:nvPr/>
        </p:nvSpPr>
        <p:spPr>
          <a:xfrm>
            <a:off x="402860" y="2659334"/>
            <a:ext cx="3114394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lnSpc>
                <a:spcPct val="120000"/>
              </a:lnSpc>
            </a:pPr>
            <a:r>
              <a:rPr sz="18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有数组，为啥还学习集合？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B9D94A0-C280-414E-8723-13D00948AA6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5" b="16837"/>
          <a:stretch/>
        </p:blipFill>
        <p:spPr>
          <a:xfrm>
            <a:off x="5544895" y="1973572"/>
            <a:ext cx="2163542" cy="3648803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AC4C7721-8D8C-4F70-89F5-95873F273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61" y="3675559"/>
            <a:ext cx="700340" cy="42876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CB72716B-A685-4272-A49C-1C7E82A18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109" y="3622902"/>
            <a:ext cx="444286" cy="578965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9EE5C59B-67E4-4BEB-97F0-5E7EF8AD1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486" y="3622901"/>
            <a:ext cx="508830" cy="621716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8F53AD01-C922-4AEC-B4BA-CBB94EDE80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5951" y="3570632"/>
            <a:ext cx="614734" cy="673985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71FF0824-2D52-4092-8AD6-0AB8DA643BE3}"/>
              </a:ext>
            </a:extLst>
          </p:cNvPr>
          <p:cNvSpPr txBox="1"/>
          <p:nvPr/>
        </p:nvSpPr>
        <p:spPr>
          <a:xfrm>
            <a:off x="358137" y="2296541"/>
            <a:ext cx="4172937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数组定义完成并启动后，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长度就固定了。</a:t>
            </a:r>
            <a:endParaRPr lang="zh-CN" altLang="en-US" sz="1600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标题 1">
            <a:extLst>
              <a:ext uri="{FF2B5EF4-FFF2-40B4-BE49-F238E27FC236}">
                <a16:creationId xmlns:a16="http://schemas.microsoft.com/office/drawing/2014/main" id="{60641387-C96E-43EC-92FD-F2344ED5C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</p:spTree>
    <p:extLst>
      <p:ext uri="{BB962C8B-B14F-4D97-AF65-F5344CB8AC3E}">
        <p14:creationId xmlns:p14="http://schemas.microsoft.com/office/powerpoint/2010/main" val="4025903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2">
            <a:extLst>
              <a:ext uri="{FF2B5EF4-FFF2-40B4-BE49-F238E27FC236}">
                <a16:creationId xmlns:a16="http://schemas.microsoft.com/office/drawing/2014/main" id="{148E57CF-36A7-45E2-9F6F-FB2E896B9063}"/>
              </a:ext>
            </a:extLst>
          </p:cNvPr>
          <p:cNvSpPr txBox="1">
            <a:spLocks/>
          </p:cNvSpPr>
          <p:nvPr/>
        </p:nvSpPr>
        <p:spPr>
          <a:xfrm>
            <a:off x="533159" y="1650912"/>
            <a:ext cx="3462777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集合和数组的使用选择</a:t>
            </a:r>
            <a:endParaRPr lang="en-US" altLang="zh-CN" sz="24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7DF2BB3C-081D-465B-8EFD-859A48692B11}"/>
              </a:ext>
            </a:extLst>
          </p:cNvPr>
          <p:cNvSpPr txBox="1"/>
          <p:nvPr/>
        </p:nvSpPr>
        <p:spPr>
          <a:xfrm>
            <a:off x="533159" y="2255488"/>
            <a:ext cx="5726367" cy="943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数组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存储的元素个数固定不变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楷体" panose="02010609060101010101" pitchFamily="49" charset="-122"/>
              <a:ea typeface="楷体" panose="02010609060101010101" pitchFamily="49" charset="-122"/>
              <a:cs typeface="阿里巴巴普惠体" panose="00020600040101010101" pitchFamily="18" charset="-122"/>
            </a:endParaRPr>
          </a:p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集合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存储的元素个数经常发生改变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楷体" panose="02010609060101010101" pitchFamily="49" charset="-122"/>
              <a:ea typeface="楷体" panose="02010609060101010101" pitchFamily="49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31D871B-4B9E-4291-A199-8616222AB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</p:spTree>
    <p:extLst>
      <p:ext uri="{BB962C8B-B14F-4D97-AF65-F5344CB8AC3E}">
        <p14:creationId xmlns:p14="http://schemas.microsoft.com/office/powerpoint/2010/main" val="1875918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数组的优点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提供的随机访问对象序列的最有效方法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是一个简单的线性序列，访问元素的速度较快</a:t>
            </a: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数组的缺点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大小自创建以后就固定了，在其整个生存期内其大小不可改变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数组元素只能是同一类型</a:t>
            </a: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可动态改变其大小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可在序列中存储不同类型的数据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F59CC17A-0EE7-4B71-9659-20412FC68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</p:spTree>
    <p:extLst>
      <p:ext uri="{BB962C8B-B14F-4D97-AF65-F5344CB8AC3E}">
        <p14:creationId xmlns:p14="http://schemas.microsoft.com/office/powerpoint/2010/main" val="808120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064127" cy="5184775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集合和数组的区别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数组和集合类都是容器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数组长度是固定的，集合长度是可变的。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数组中可以存储基本数据类型，集合只能存储对象。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数组中存储数据类型是单一的，集合中可以存储任意类型的对象。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CEE3346F-57C7-4440-8CA2-747593B11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</p:spTree>
    <p:extLst>
      <p:ext uri="{BB962C8B-B14F-4D97-AF65-F5344CB8AC3E}">
        <p14:creationId xmlns:p14="http://schemas.microsoft.com/office/powerpoint/2010/main" val="32390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CA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把具有相同性质的一类东西，汇聚成一个整体</a:t>
            </a:r>
          </a:p>
          <a:p>
            <a:pPr lvl="1">
              <a:lnSpc>
                <a:spcPct val="110000"/>
              </a:lnSpc>
            </a:pP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CA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Java2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中有很多与集合有关的接口及类</a:t>
            </a:r>
          </a:p>
          <a:p>
            <a:pPr lvl="1">
              <a:lnSpc>
                <a:spcPct val="110000"/>
              </a:lnSpc>
            </a:pP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它们被组织在以</a:t>
            </a:r>
            <a:r>
              <a:rPr lang="en-CA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lang="en-CA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接口为根的层次结构中，称为</a:t>
            </a:r>
            <a:r>
              <a:rPr lang="zh-CN" altLang="en-CA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CA" b="0" dirty="0">
              <a:solidFill>
                <a:srgbClr val="0000FF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F04ACCB7-794B-42AF-800E-0D1FA0BA3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对外的接口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CA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集合框架接口</a:t>
            </a:r>
          </a:p>
          <a:p>
            <a:pPr lvl="1"/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声明了对各种集合类型执行的一般操作</a:t>
            </a:r>
          </a:p>
          <a:p>
            <a:pPr lvl="1"/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包括</a:t>
            </a:r>
            <a:r>
              <a:rPr lang="en-CA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SortedMap</a:t>
            </a:r>
            <a:endParaRPr lang="en-CA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接口在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java.util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*包中</a:t>
            </a:r>
            <a:endParaRPr lang="en-CA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基本结构如图</a:t>
            </a:r>
            <a:endParaRPr lang="zh-CN" altLang="en-US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b="0" dirty="0">
              <a:ea typeface="宋体" panose="02010600030101010101" pitchFamily="2" charset="-122"/>
            </a:endParaRPr>
          </a:p>
        </p:txBody>
      </p:sp>
      <p:pic>
        <p:nvPicPr>
          <p:cNvPr id="118788" name="Picture 9" descr="ccinter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40968"/>
            <a:ext cx="5464175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1">
            <a:extLst>
              <a:ext uri="{FF2B5EF4-FFF2-40B4-BE49-F238E27FC236}">
                <a16:creationId xmlns:a16="http://schemas.microsoft.com/office/drawing/2014/main" id="{2E1D2AB5-E21F-4997-9A90-D13127666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en-US" altLang="zh-CN" b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类层次如图，包括</a:t>
            </a:r>
            <a:r>
              <a:rPr lang="en-CA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个接口、</a:t>
            </a:r>
            <a:r>
              <a:rPr lang="en-CA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个抽象类及</a:t>
            </a:r>
            <a:r>
              <a:rPr lang="en-CA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个具体类</a:t>
            </a:r>
          </a:p>
          <a:p>
            <a:pPr lvl="1"/>
            <a:endParaRPr lang="zh-CN" altLang="en-US" b="0" dirty="0">
              <a:ea typeface="楷体_GB2312" pitchFamily="49" charset="-122"/>
            </a:endParaRPr>
          </a:p>
        </p:txBody>
      </p:sp>
      <p:grpSp>
        <p:nvGrpSpPr>
          <p:cNvPr id="119812" name="Group 5"/>
          <p:cNvGrpSpPr>
            <a:grpSpLocks/>
          </p:cNvGrpSpPr>
          <p:nvPr/>
        </p:nvGrpSpPr>
        <p:grpSpPr bwMode="auto">
          <a:xfrm>
            <a:off x="395288" y="2205038"/>
            <a:ext cx="8280400" cy="3960812"/>
            <a:chOff x="1156" y="2733"/>
            <a:chExt cx="7609" cy="4444"/>
          </a:xfrm>
        </p:grpSpPr>
        <p:sp>
          <p:nvSpPr>
            <p:cNvPr id="119813" name="Line 6"/>
            <p:cNvSpPr>
              <a:spLocks noChangeShapeType="1"/>
            </p:cNvSpPr>
            <p:nvPr/>
          </p:nvSpPr>
          <p:spPr bwMode="auto">
            <a:xfrm>
              <a:off x="8435" y="4254"/>
              <a:ext cx="330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14" name="Line 7"/>
            <p:cNvSpPr>
              <a:spLocks noChangeShapeType="1"/>
            </p:cNvSpPr>
            <p:nvPr/>
          </p:nvSpPr>
          <p:spPr bwMode="auto">
            <a:xfrm>
              <a:off x="8752" y="4271"/>
              <a:ext cx="0" cy="191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15" name="Line 8"/>
            <p:cNvSpPr>
              <a:spLocks noChangeShapeType="1"/>
            </p:cNvSpPr>
            <p:nvPr/>
          </p:nvSpPr>
          <p:spPr bwMode="auto">
            <a:xfrm>
              <a:off x="8296" y="6179"/>
              <a:ext cx="456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16" name="Text Box 9"/>
            <p:cNvSpPr txBox="1">
              <a:spLocks noChangeArrowheads="1"/>
            </p:cNvSpPr>
            <p:nvPr/>
          </p:nvSpPr>
          <p:spPr bwMode="auto">
            <a:xfrm>
              <a:off x="4481" y="2733"/>
              <a:ext cx="1369" cy="409"/>
            </a:xfrm>
            <a:prstGeom prst="rect">
              <a:avLst/>
            </a:prstGeom>
            <a:solidFill>
              <a:srgbClr val="CC99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Collection</a:t>
              </a: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17" name="Text Box 10"/>
            <p:cNvSpPr txBox="1">
              <a:spLocks noChangeArrowheads="1"/>
            </p:cNvSpPr>
            <p:nvPr/>
          </p:nvSpPr>
          <p:spPr bwMode="auto">
            <a:xfrm>
              <a:off x="4266" y="3961"/>
              <a:ext cx="1849" cy="377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AbstractCollection</a:t>
              </a:r>
            </a:p>
            <a:p>
              <a:pPr algn="just" eaLnBrk="1" hangingPunct="1"/>
              <a:endParaRPr lang="en-US" altLang="zh-CN" sz="1400" b="1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18" name="Text Box 11"/>
            <p:cNvSpPr txBox="1">
              <a:spLocks noChangeArrowheads="1"/>
            </p:cNvSpPr>
            <p:nvPr/>
          </p:nvSpPr>
          <p:spPr bwMode="auto">
            <a:xfrm>
              <a:off x="3591" y="5993"/>
              <a:ext cx="926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/>
                <a:t>Vector</a:t>
              </a:r>
            </a:p>
            <a:p>
              <a:pPr eaLnBrk="1" hangingPunct="1"/>
              <a:endParaRPr lang="en-US" altLang="zh-CN" sz="3600" b="1" dirty="0">
                <a:solidFill>
                  <a:schemeClr val="bg2"/>
                </a:solidFill>
              </a:endParaRPr>
            </a:p>
          </p:txBody>
        </p:sp>
        <p:sp>
          <p:nvSpPr>
            <p:cNvPr id="119819" name="Text Box 12"/>
            <p:cNvSpPr txBox="1">
              <a:spLocks noChangeArrowheads="1"/>
            </p:cNvSpPr>
            <p:nvPr/>
          </p:nvSpPr>
          <p:spPr bwMode="auto">
            <a:xfrm>
              <a:off x="4709" y="5993"/>
              <a:ext cx="1065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 err="1"/>
                <a:t>ArrayList</a:t>
              </a:r>
              <a:endParaRPr lang="en-US" altLang="zh-CN" sz="1600" b="1" dirty="0"/>
            </a:p>
          </p:txBody>
        </p:sp>
        <p:sp>
          <p:nvSpPr>
            <p:cNvPr id="119820" name="Text Box 13"/>
            <p:cNvSpPr txBox="1">
              <a:spLocks noChangeArrowheads="1"/>
            </p:cNvSpPr>
            <p:nvPr/>
          </p:nvSpPr>
          <p:spPr bwMode="auto">
            <a:xfrm>
              <a:off x="3632" y="6808"/>
              <a:ext cx="900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Stack</a:t>
              </a:r>
            </a:p>
          </p:txBody>
        </p:sp>
        <p:sp>
          <p:nvSpPr>
            <p:cNvPr id="119821" name="AutoShape 14"/>
            <p:cNvSpPr>
              <a:spLocks noChangeArrowheads="1"/>
            </p:cNvSpPr>
            <p:nvPr/>
          </p:nvSpPr>
          <p:spPr bwMode="auto">
            <a:xfrm>
              <a:off x="3366" y="3744"/>
              <a:ext cx="152" cy="123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9822" name="AutoShape 15"/>
            <p:cNvSpPr>
              <a:spLocks noChangeArrowheads="1"/>
            </p:cNvSpPr>
            <p:nvPr/>
          </p:nvSpPr>
          <p:spPr bwMode="auto">
            <a:xfrm>
              <a:off x="5115" y="3154"/>
              <a:ext cx="152" cy="122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9823" name="Line 16"/>
            <p:cNvSpPr>
              <a:spLocks noChangeShapeType="1"/>
            </p:cNvSpPr>
            <p:nvPr/>
          </p:nvSpPr>
          <p:spPr bwMode="auto">
            <a:xfrm flipV="1">
              <a:off x="5188" y="3276"/>
              <a:ext cx="0" cy="662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4" name="Line 17"/>
            <p:cNvSpPr>
              <a:spLocks noChangeShapeType="1"/>
            </p:cNvSpPr>
            <p:nvPr/>
          </p:nvSpPr>
          <p:spPr bwMode="auto">
            <a:xfrm>
              <a:off x="3442" y="3874"/>
              <a:ext cx="0" cy="1051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5" name="Text Box 18"/>
            <p:cNvSpPr txBox="1">
              <a:spLocks noChangeArrowheads="1"/>
            </p:cNvSpPr>
            <p:nvPr/>
          </p:nvSpPr>
          <p:spPr bwMode="auto">
            <a:xfrm>
              <a:off x="2960" y="3324"/>
              <a:ext cx="938" cy="408"/>
            </a:xfrm>
            <a:prstGeom prst="rect">
              <a:avLst/>
            </a:prstGeom>
            <a:solidFill>
              <a:srgbClr val="CC99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List</a:t>
              </a: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26" name="Text Box 19"/>
            <p:cNvSpPr txBox="1">
              <a:spLocks noChangeArrowheads="1"/>
            </p:cNvSpPr>
            <p:nvPr/>
          </p:nvSpPr>
          <p:spPr bwMode="auto">
            <a:xfrm>
              <a:off x="7295" y="3335"/>
              <a:ext cx="951" cy="409"/>
            </a:xfrm>
            <a:prstGeom prst="rect">
              <a:avLst/>
            </a:prstGeom>
            <a:solidFill>
              <a:srgbClr val="CC99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Set</a:t>
              </a: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27" name="Text Box 20"/>
            <p:cNvSpPr txBox="1">
              <a:spLocks noChangeArrowheads="1"/>
            </p:cNvSpPr>
            <p:nvPr/>
          </p:nvSpPr>
          <p:spPr bwMode="auto">
            <a:xfrm>
              <a:off x="7126" y="4044"/>
              <a:ext cx="1158" cy="409"/>
            </a:xfrm>
            <a:prstGeom prst="rect">
              <a:avLst/>
            </a:prstGeom>
            <a:solidFill>
              <a:srgbClr val="CC99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SortedSet</a:t>
              </a: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28" name="Text Box 21"/>
            <p:cNvSpPr txBox="1">
              <a:spLocks noChangeArrowheads="1"/>
            </p:cNvSpPr>
            <p:nvPr/>
          </p:nvSpPr>
          <p:spPr bwMode="auto">
            <a:xfrm>
              <a:off x="6456" y="4836"/>
              <a:ext cx="1344" cy="385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AbstractSet</a:t>
              </a:r>
            </a:p>
            <a:p>
              <a:pPr algn="just" eaLnBrk="1" hangingPunct="1"/>
              <a:endParaRPr lang="en-US" altLang="zh-CN" sz="1400" b="1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29" name="Text Box 22"/>
            <p:cNvSpPr txBox="1">
              <a:spLocks noChangeArrowheads="1"/>
            </p:cNvSpPr>
            <p:nvPr/>
          </p:nvSpPr>
          <p:spPr bwMode="auto">
            <a:xfrm>
              <a:off x="3236" y="4859"/>
              <a:ext cx="1471" cy="385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AbstractList</a:t>
              </a:r>
            </a:p>
            <a:p>
              <a:pPr algn="just" eaLnBrk="1" hangingPunct="1"/>
              <a:endParaRPr lang="en-US" altLang="zh-CN" sz="1400" b="1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30" name="Text Box 23"/>
            <p:cNvSpPr txBox="1">
              <a:spLocks noChangeArrowheads="1"/>
            </p:cNvSpPr>
            <p:nvPr/>
          </p:nvSpPr>
          <p:spPr bwMode="auto">
            <a:xfrm>
              <a:off x="1156" y="5980"/>
              <a:ext cx="2270" cy="386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 err="1"/>
                <a:t>AbstractSequentialList</a:t>
              </a:r>
              <a:endParaRPr lang="en-US" altLang="zh-CN" sz="1600" b="1" dirty="0"/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 dirty="0">
                <a:solidFill>
                  <a:schemeClr val="bg2"/>
                </a:solidFill>
              </a:endParaRPr>
            </a:p>
          </p:txBody>
        </p:sp>
        <p:sp>
          <p:nvSpPr>
            <p:cNvPr id="119831" name="Line 24"/>
            <p:cNvSpPr>
              <a:spLocks noChangeShapeType="1"/>
            </p:cNvSpPr>
            <p:nvPr/>
          </p:nvSpPr>
          <p:spPr bwMode="auto">
            <a:xfrm>
              <a:off x="3399" y="2956"/>
              <a:ext cx="0" cy="378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2" name="Line 25"/>
            <p:cNvSpPr>
              <a:spLocks noChangeShapeType="1"/>
            </p:cNvSpPr>
            <p:nvPr/>
          </p:nvSpPr>
          <p:spPr bwMode="auto">
            <a:xfrm>
              <a:off x="3387" y="2956"/>
              <a:ext cx="1102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3" name="Text Box 26"/>
            <p:cNvSpPr txBox="1">
              <a:spLocks noChangeArrowheads="1"/>
            </p:cNvSpPr>
            <p:nvPr/>
          </p:nvSpPr>
          <p:spPr bwMode="auto">
            <a:xfrm>
              <a:off x="5989" y="6005"/>
              <a:ext cx="1065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/>
                <a:t>HashSet</a:t>
              </a:r>
            </a:p>
          </p:txBody>
        </p:sp>
        <p:sp>
          <p:nvSpPr>
            <p:cNvPr id="119834" name="Text Box 27"/>
            <p:cNvSpPr txBox="1">
              <a:spLocks noChangeArrowheads="1"/>
            </p:cNvSpPr>
            <p:nvPr/>
          </p:nvSpPr>
          <p:spPr bwMode="auto">
            <a:xfrm>
              <a:off x="7244" y="6005"/>
              <a:ext cx="1065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 err="1"/>
                <a:t>TreeSet</a:t>
              </a:r>
              <a:endParaRPr lang="en-US" altLang="zh-CN" sz="1600" b="1" dirty="0"/>
            </a:p>
          </p:txBody>
        </p:sp>
        <p:sp>
          <p:nvSpPr>
            <p:cNvPr id="119835" name="Text Box 28"/>
            <p:cNvSpPr txBox="1">
              <a:spLocks noChangeArrowheads="1"/>
            </p:cNvSpPr>
            <p:nvPr/>
          </p:nvSpPr>
          <p:spPr bwMode="auto">
            <a:xfrm>
              <a:off x="1870" y="6808"/>
              <a:ext cx="1217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/>
                <a:t>LinkedList</a:t>
              </a: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 dirty="0">
                <a:solidFill>
                  <a:schemeClr val="bg2"/>
                </a:solidFill>
              </a:endParaRPr>
            </a:p>
          </p:txBody>
        </p:sp>
        <p:sp>
          <p:nvSpPr>
            <p:cNvPr id="119836" name="Line 29"/>
            <p:cNvSpPr>
              <a:spLocks noChangeShapeType="1"/>
            </p:cNvSpPr>
            <p:nvPr/>
          </p:nvSpPr>
          <p:spPr bwMode="auto">
            <a:xfrm flipV="1">
              <a:off x="4071" y="6370"/>
              <a:ext cx="0" cy="425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7" name="Line 30"/>
            <p:cNvSpPr>
              <a:spLocks noChangeShapeType="1"/>
            </p:cNvSpPr>
            <p:nvPr/>
          </p:nvSpPr>
          <p:spPr bwMode="auto">
            <a:xfrm flipV="1">
              <a:off x="2474" y="6370"/>
              <a:ext cx="0" cy="437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8" name="Line 31"/>
            <p:cNvSpPr>
              <a:spLocks noChangeShapeType="1"/>
            </p:cNvSpPr>
            <p:nvPr/>
          </p:nvSpPr>
          <p:spPr bwMode="auto">
            <a:xfrm>
              <a:off x="2423" y="5673"/>
              <a:ext cx="0" cy="307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9" name="Line 32"/>
            <p:cNvSpPr>
              <a:spLocks noChangeShapeType="1"/>
            </p:cNvSpPr>
            <p:nvPr/>
          </p:nvSpPr>
          <p:spPr bwMode="auto">
            <a:xfrm>
              <a:off x="3982" y="5673"/>
              <a:ext cx="0" cy="319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0" name="Line 33"/>
            <p:cNvSpPr>
              <a:spLocks noChangeShapeType="1"/>
            </p:cNvSpPr>
            <p:nvPr/>
          </p:nvSpPr>
          <p:spPr bwMode="auto">
            <a:xfrm>
              <a:off x="5212" y="5673"/>
              <a:ext cx="0" cy="319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1" name="Line 34"/>
            <p:cNvSpPr>
              <a:spLocks noChangeShapeType="1"/>
            </p:cNvSpPr>
            <p:nvPr/>
          </p:nvSpPr>
          <p:spPr bwMode="auto">
            <a:xfrm>
              <a:off x="2423" y="5673"/>
              <a:ext cx="2789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2" name="Line 35"/>
            <p:cNvSpPr>
              <a:spLocks noChangeShapeType="1"/>
            </p:cNvSpPr>
            <p:nvPr/>
          </p:nvSpPr>
          <p:spPr bwMode="auto">
            <a:xfrm>
              <a:off x="6480" y="5649"/>
              <a:ext cx="1242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3" name="Line 36"/>
            <p:cNvSpPr>
              <a:spLocks noChangeShapeType="1"/>
            </p:cNvSpPr>
            <p:nvPr/>
          </p:nvSpPr>
          <p:spPr bwMode="auto">
            <a:xfrm>
              <a:off x="6480" y="5649"/>
              <a:ext cx="0" cy="35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4" name="Line 37"/>
            <p:cNvSpPr>
              <a:spLocks noChangeShapeType="1"/>
            </p:cNvSpPr>
            <p:nvPr/>
          </p:nvSpPr>
          <p:spPr bwMode="auto">
            <a:xfrm>
              <a:off x="7735" y="5649"/>
              <a:ext cx="0" cy="35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5" name="Line 38"/>
            <p:cNvSpPr>
              <a:spLocks noChangeShapeType="1"/>
            </p:cNvSpPr>
            <p:nvPr/>
          </p:nvSpPr>
          <p:spPr bwMode="auto">
            <a:xfrm flipV="1">
              <a:off x="3982" y="5259"/>
              <a:ext cx="0" cy="437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6" name="Line 39"/>
            <p:cNvSpPr>
              <a:spLocks noChangeShapeType="1"/>
            </p:cNvSpPr>
            <p:nvPr/>
          </p:nvSpPr>
          <p:spPr bwMode="auto">
            <a:xfrm flipV="1">
              <a:off x="7126" y="5236"/>
              <a:ext cx="0" cy="413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7" name="Line 40"/>
            <p:cNvSpPr>
              <a:spLocks noChangeShapeType="1"/>
            </p:cNvSpPr>
            <p:nvPr/>
          </p:nvSpPr>
          <p:spPr bwMode="auto">
            <a:xfrm>
              <a:off x="3957" y="4610"/>
              <a:ext cx="2751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8" name="Line 41"/>
            <p:cNvSpPr>
              <a:spLocks noChangeShapeType="1"/>
            </p:cNvSpPr>
            <p:nvPr/>
          </p:nvSpPr>
          <p:spPr bwMode="auto">
            <a:xfrm>
              <a:off x="3957" y="4610"/>
              <a:ext cx="0" cy="259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9" name="Line 42"/>
            <p:cNvSpPr>
              <a:spLocks noChangeShapeType="1"/>
            </p:cNvSpPr>
            <p:nvPr/>
          </p:nvSpPr>
          <p:spPr bwMode="auto">
            <a:xfrm>
              <a:off x="6720" y="4598"/>
              <a:ext cx="0" cy="236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0" name="Line 43"/>
            <p:cNvSpPr>
              <a:spLocks noChangeShapeType="1"/>
            </p:cNvSpPr>
            <p:nvPr/>
          </p:nvSpPr>
          <p:spPr bwMode="auto">
            <a:xfrm flipV="1">
              <a:off x="5212" y="4338"/>
              <a:ext cx="0" cy="283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1" name="Line 44"/>
            <p:cNvSpPr>
              <a:spLocks noChangeShapeType="1"/>
            </p:cNvSpPr>
            <p:nvPr/>
          </p:nvSpPr>
          <p:spPr bwMode="auto">
            <a:xfrm>
              <a:off x="6902" y="3548"/>
              <a:ext cx="0" cy="1311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2" name="Line 45"/>
            <p:cNvSpPr>
              <a:spLocks noChangeShapeType="1"/>
            </p:cNvSpPr>
            <p:nvPr/>
          </p:nvSpPr>
          <p:spPr bwMode="auto">
            <a:xfrm flipV="1">
              <a:off x="6915" y="3543"/>
              <a:ext cx="253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9853" name="Group 46"/>
            <p:cNvGrpSpPr>
              <a:grpSpLocks/>
            </p:cNvGrpSpPr>
            <p:nvPr/>
          </p:nvGrpSpPr>
          <p:grpSpPr bwMode="auto">
            <a:xfrm>
              <a:off x="7139" y="3464"/>
              <a:ext cx="152" cy="177"/>
              <a:chOff x="8175" y="3780"/>
              <a:chExt cx="180" cy="225"/>
            </a:xfrm>
          </p:grpSpPr>
          <p:sp>
            <p:nvSpPr>
              <p:cNvPr id="119861" name="Line 47"/>
              <p:cNvSpPr>
                <a:spLocks noChangeShapeType="1"/>
              </p:cNvSpPr>
              <p:nvPr/>
            </p:nvSpPr>
            <p:spPr bwMode="auto">
              <a:xfrm>
                <a:off x="8175" y="3795"/>
                <a:ext cx="0" cy="19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62" name="Line 48"/>
              <p:cNvSpPr>
                <a:spLocks noChangeShapeType="1"/>
              </p:cNvSpPr>
              <p:nvPr/>
            </p:nvSpPr>
            <p:spPr bwMode="auto">
              <a:xfrm>
                <a:off x="8175" y="3780"/>
                <a:ext cx="165" cy="10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63" name="Line 49"/>
              <p:cNvSpPr>
                <a:spLocks noChangeShapeType="1"/>
              </p:cNvSpPr>
              <p:nvPr/>
            </p:nvSpPr>
            <p:spPr bwMode="auto">
              <a:xfrm flipV="1">
                <a:off x="8175" y="3900"/>
                <a:ext cx="180" cy="10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9854" name="Group 50"/>
            <p:cNvGrpSpPr>
              <a:grpSpLocks/>
            </p:cNvGrpSpPr>
            <p:nvPr/>
          </p:nvGrpSpPr>
          <p:grpSpPr bwMode="auto">
            <a:xfrm>
              <a:off x="8267" y="4173"/>
              <a:ext cx="152" cy="177"/>
              <a:chOff x="9480" y="3780"/>
              <a:chExt cx="180" cy="225"/>
            </a:xfrm>
          </p:grpSpPr>
          <p:sp>
            <p:nvSpPr>
              <p:cNvPr id="119858" name="Line 51"/>
              <p:cNvSpPr>
                <a:spLocks noChangeShapeType="1"/>
              </p:cNvSpPr>
              <p:nvPr/>
            </p:nvSpPr>
            <p:spPr bwMode="auto">
              <a:xfrm>
                <a:off x="9660" y="3780"/>
                <a:ext cx="0" cy="22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59" name="Line 52"/>
              <p:cNvSpPr>
                <a:spLocks noChangeShapeType="1"/>
              </p:cNvSpPr>
              <p:nvPr/>
            </p:nvSpPr>
            <p:spPr bwMode="auto">
              <a:xfrm flipH="1" flipV="1">
                <a:off x="9495" y="3900"/>
                <a:ext cx="165" cy="10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60" name="Line 53"/>
              <p:cNvSpPr>
                <a:spLocks noChangeShapeType="1"/>
              </p:cNvSpPr>
              <p:nvPr/>
            </p:nvSpPr>
            <p:spPr bwMode="auto">
              <a:xfrm flipH="1">
                <a:off x="9480" y="3780"/>
                <a:ext cx="180" cy="120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9855" name="Line 54"/>
            <p:cNvSpPr>
              <a:spLocks noChangeShapeType="1"/>
            </p:cNvSpPr>
            <p:nvPr/>
          </p:nvSpPr>
          <p:spPr bwMode="auto">
            <a:xfrm flipV="1">
              <a:off x="7798" y="3747"/>
              <a:ext cx="0" cy="296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6" name="Line 55"/>
            <p:cNvSpPr>
              <a:spLocks noChangeShapeType="1"/>
            </p:cNvSpPr>
            <p:nvPr/>
          </p:nvSpPr>
          <p:spPr bwMode="auto">
            <a:xfrm flipV="1">
              <a:off x="7773" y="2956"/>
              <a:ext cx="0" cy="39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7" name="Line 56"/>
            <p:cNvSpPr>
              <a:spLocks noChangeShapeType="1"/>
            </p:cNvSpPr>
            <p:nvPr/>
          </p:nvSpPr>
          <p:spPr bwMode="auto">
            <a:xfrm flipH="1">
              <a:off x="5833" y="2956"/>
              <a:ext cx="1940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56" name="直接连接符 5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标题 1">
            <a:extLst>
              <a:ext uri="{FF2B5EF4-FFF2-40B4-BE49-F238E27FC236}">
                <a16:creationId xmlns:a16="http://schemas.microsoft.com/office/drawing/2014/main" id="{E24E632E-72A6-4D87-BDF6-05799C472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17278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集合给每个元素定义了一个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，通过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访问对象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要求每个对象的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应该不一样，否则，将无法找到需要的对象。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E0C67F7-8191-4C23-957B-4452C6F2C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673914"/>
            <a:ext cx="6274950" cy="4091862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5A3B6FA2-7FF8-4622-A8E1-1DF2FF645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数组与集合</a:t>
            </a:r>
          </a:p>
        </p:txBody>
      </p:sp>
    </p:spTree>
    <p:extLst>
      <p:ext uri="{BB962C8B-B14F-4D97-AF65-F5344CB8AC3E}">
        <p14:creationId xmlns:p14="http://schemas.microsoft.com/office/powerpoint/2010/main" val="2676500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>
          <a:xfrm>
            <a:off x="468313" y="116632"/>
            <a:ext cx="7543800" cy="648072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内容小结</a:t>
            </a: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568828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掌握数组、集合相关概念；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掌握基于数组与集合进行数据存储和操作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965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3D066F8-2534-4381-8B11-E07CDB554846}"/>
              </a:ext>
            </a:extLst>
          </p:cNvPr>
          <p:cNvSpPr/>
          <p:nvPr/>
        </p:nvSpPr>
        <p:spPr>
          <a:xfrm>
            <a:off x="1043608" y="1757981"/>
            <a:ext cx="3641267" cy="56042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能够看懂异常信息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DF29CDA-E4CC-4B21-9882-3B0B050A741C}"/>
              </a:ext>
            </a:extLst>
          </p:cNvPr>
          <p:cNvSpPr/>
          <p:nvPr/>
        </p:nvSpPr>
        <p:spPr>
          <a:xfrm>
            <a:off x="1043608" y="3371827"/>
            <a:ext cx="3664400" cy="56042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掌握异常的两种处理方式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529F71D-60C3-4C8E-8E30-549AE1DA1D2A}"/>
              </a:ext>
            </a:extLst>
          </p:cNvPr>
          <p:cNvSpPr/>
          <p:nvPr/>
        </p:nvSpPr>
        <p:spPr>
          <a:xfrm>
            <a:off x="1043608" y="4178749"/>
            <a:ext cx="3664400" cy="56042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自定义异常</a:t>
            </a:r>
            <a:endParaRPr lang="en-US" altLang="zh-CN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481221D3-3C5F-4D34-A5A2-06C02EB90421}"/>
              </a:ext>
            </a:extLst>
          </p:cNvPr>
          <p:cNvSpPr/>
          <p:nvPr/>
        </p:nvSpPr>
        <p:spPr>
          <a:xfrm>
            <a:off x="1043608" y="2564904"/>
            <a:ext cx="3641267" cy="56042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了解异常体系结构和分类</a:t>
            </a:r>
          </a:p>
        </p:txBody>
      </p:sp>
    </p:spTree>
    <p:extLst>
      <p:ext uri="{BB962C8B-B14F-4D97-AF65-F5344CB8AC3E}">
        <p14:creationId xmlns:p14="http://schemas.microsoft.com/office/powerpoint/2010/main" val="83742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任意多边形 52"/>
          <p:cNvSpPr>
            <a:spLocks noChangeArrowheads="1"/>
          </p:cNvSpPr>
          <p:nvPr/>
        </p:nvSpPr>
        <p:spPr bwMode="auto">
          <a:xfrm>
            <a:off x="2366963" y="1954213"/>
            <a:ext cx="6526212" cy="4759325"/>
          </a:xfrm>
          <a:custGeom>
            <a:avLst/>
            <a:gdLst>
              <a:gd name="T0" fmla="*/ 1565934 w 6526060"/>
              <a:gd name="T1" fmla="*/ 863783 h 4759891"/>
              <a:gd name="T2" fmla="*/ 3670550 w 6526060"/>
              <a:gd name="T3" fmla="*/ 863783 h 4759891"/>
              <a:gd name="T4" fmla="*/ 3670550 w 6526060"/>
              <a:gd name="T5" fmla="*/ 0 h 4759891"/>
              <a:gd name="T6" fmla="*/ 6526820 w 6526060"/>
              <a:gd name="T7" fmla="*/ 0 h 4759891"/>
              <a:gd name="T8" fmla="*/ 6526820 w 6526060"/>
              <a:gd name="T9" fmla="*/ 3042018 h 4759891"/>
              <a:gd name="T10" fmla="*/ 3983740 w 6526060"/>
              <a:gd name="T11" fmla="*/ 3029499 h 4759891"/>
              <a:gd name="T12" fmla="*/ 3983740 w 6526060"/>
              <a:gd name="T13" fmla="*/ 4757063 h 4759891"/>
              <a:gd name="T14" fmla="*/ 0 w 6526060"/>
              <a:gd name="T15" fmla="*/ 4757063 h 4759891"/>
              <a:gd name="T16" fmla="*/ 0 w 6526060"/>
              <a:gd name="T17" fmla="*/ 2328457 h 4759891"/>
              <a:gd name="T18" fmla="*/ 3683082 w 6526060"/>
              <a:gd name="T19" fmla="*/ 2328457 h 4759891"/>
              <a:gd name="T20" fmla="*/ 3683082 w 6526060"/>
              <a:gd name="T21" fmla="*/ 1402082 h 4759891"/>
              <a:gd name="T22" fmla="*/ 1565934 w 6526060"/>
              <a:gd name="T23" fmla="*/ 1402082 h 4759891"/>
              <a:gd name="T24" fmla="*/ 1565934 w 6526060"/>
              <a:gd name="T25" fmla="*/ 863783 h 475989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6526060"/>
              <a:gd name="T40" fmla="*/ 0 h 4759891"/>
              <a:gd name="T41" fmla="*/ 6526060 w 6526060"/>
              <a:gd name="T42" fmla="*/ 4759891 h 475989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6526060" h="4759891">
                <a:moveTo>
                  <a:pt x="1565754" y="864296"/>
                </a:moveTo>
                <a:lnTo>
                  <a:pt x="3670126" y="864296"/>
                </a:lnTo>
                <a:lnTo>
                  <a:pt x="3670126" y="0"/>
                </a:lnTo>
                <a:lnTo>
                  <a:pt x="6526060" y="0"/>
                </a:lnTo>
                <a:lnTo>
                  <a:pt x="6526060" y="3043825"/>
                </a:lnTo>
                <a:lnTo>
                  <a:pt x="3983277" y="3031299"/>
                </a:lnTo>
                <a:lnTo>
                  <a:pt x="3983277" y="4759891"/>
                </a:lnTo>
                <a:lnTo>
                  <a:pt x="0" y="4759891"/>
                </a:lnTo>
                <a:lnTo>
                  <a:pt x="0" y="2329841"/>
                </a:lnTo>
                <a:lnTo>
                  <a:pt x="3682652" y="2329841"/>
                </a:lnTo>
                <a:lnTo>
                  <a:pt x="3682652" y="1402915"/>
                </a:lnTo>
                <a:lnTo>
                  <a:pt x="1565754" y="1402915"/>
                </a:lnTo>
                <a:lnTo>
                  <a:pt x="1565754" y="864296"/>
                </a:lnTo>
                <a:close/>
              </a:path>
            </a:pathLst>
          </a:custGeom>
          <a:solidFill>
            <a:srgbClr val="AD5CFF">
              <a:alpha val="39999"/>
            </a:srgbClr>
          </a:solidFill>
          <a:ln w="25400">
            <a:solidFill>
              <a:srgbClr val="9595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矩形 3"/>
          <p:cNvSpPr>
            <a:spLocks noChangeArrowheads="1"/>
          </p:cNvSpPr>
          <p:nvPr/>
        </p:nvSpPr>
        <p:spPr bwMode="auto">
          <a:xfrm>
            <a:off x="250825" y="3506788"/>
            <a:ext cx="738188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Object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48133" name="Group 5"/>
          <p:cNvGrpSpPr>
            <a:grpSpLocks/>
          </p:cNvGrpSpPr>
          <p:nvPr/>
        </p:nvGrpSpPr>
        <p:grpSpPr bwMode="auto">
          <a:xfrm>
            <a:off x="995363" y="3551238"/>
            <a:ext cx="407987" cy="312737"/>
            <a:chOff x="0" y="0"/>
            <a:chExt cx="407096" cy="313150"/>
          </a:xfrm>
        </p:grpSpPr>
        <p:sp>
          <p:nvSpPr>
            <p:cNvPr id="48174" name="等腰三角形 4"/>
            <p:cNvSpPr>
              <a:spLocks noChangeArrowheads="1"/>
            </p:cNvSpPr>
            <p:nvPr/>
          </p:nvSpPr>
          <p:spPr bwMode="auto">
            <a:xfrm rot="-5400000">
              <a:off x="-94006" y="94006"/>
              <a:ext cx="313150" cy="125138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8175" name="直接连接符 6"/>
            <p:cNvCxnSpPr>
              <a:cxnSpLocks noChangeShapeType="1"/>
              <a:stCxn id="48174" idx="3"/>
            </p:cNvCxnSpPr>
            <p:nvPr/>
          </p:nvCxnSpPr>
          <p:spPr bwMode="auto">
            <a:xfrm>
              <a:off x="125138" y="157370"/>
              <a:ext cx="28195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8134" name="矩形 7"/>
          <p:cNvSpPr>
            <a:spLocks noChangeArrowheads="1"/>
          </p:cNvSpPr>
          <p:nvPr/>
        </p:nvSpPr>
        <p:spPr bwMode="auto">
          <a:xfrm>
            <a:off x="1277938" y="3506788"/>
            <a:ext cx="1014412" cy="388937"/>
          </a:xfrm>
          <a:prstGeom prst="rect">
            <a:avLst/>
          </a:prstGeom>
          <a:gradFill rotWithShape="1">
            <a:gsLst>
              <a:gs pos="0">
                <a:srgbClr val="447676"/>
              </a:gs>
              <a:gs pos="80000">
                <a:srgbClr val="5B9B9B"/>
              </a:gs>
              <a:gs pos="100000">
                <a:srgbClr val="5A9D9D"/>
              </a:gs>
            </a:gsLst>
            <a:lin ang="5400000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3000" dir="5400000" algn="ctr" rotWithShape="0">
              <a:srgbClr val="000000">
                <a:alpha val="34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Throwable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35" name="矩形 8"/>
          <p:cNvSpPr>
            <a:spLocks noChangeArrowheads="1"/>
          </p:cNvSpPr>
          <p:nvPr/>
        </p:nvSpPr>
        <p:spPr bwMode="auto">
          <a:xfrm>
            <a:off x="2717800" y="2016125"/>
            <a:ext cx="1014413" cy="388938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36" name="矩形 9"/>
          <p:cNvSpPr>
            <a:spLocks noChangeArrowheads="1"/>
          </p:cNvSpPr>
          <p:nvPr/>
        </p:nvSpPr>
        <p:spPr bwMode="auto">
          <a:xfrm>
            <a:off x="2717800" y="5010150"/>
            <a:ext cx="1014413" cy="388938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Error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37" name="矩形 10"/>
          <p:cNvSpPr>
            <a:spLocks noChangeArrowheads="1"/>
          </p:cNvSpPr>
          <p:nvPr/>
        </p:nvSpPr>
        <p:spPr bwMode="auto">
          <a:xfrm>
            <a:off x="4159250" y="2881313"/>
            <a:ext cx="1690688" cy="387350"/>
          </a:xfrm>
          <a:prstGeom prst="rect">
            <a:avLst/>
          </a:prstGeom>
          <a:gradFill rotWithShape="1">
            <a:gsLst>
              <a:gs pos="0">
                <a:srgbClr val="FFFF90"/>
              </a:gs>
              <a:gs pos="35001">
                <a:srgbClr val="FFFFB2"/>
              </a:gs>
              <a:gs pos="100000">
                <a:srgbClr val="FFFFE0"/>
              </a:gs>
            </a:gsLst>
            <a:lin ang="5400000" scaled="1"/>
          </a:gra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RuntimeException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38" name="矩形 11"/>
          <p:cNvSpPr>
            <a:spLocks noChangeArrowheads="1"/>
          </p:cNvSpPr>
          <p:nvPr/>
        </p:nvSpPr>
        <p:spPr bwMode="auto">
          <a:xfrm>
            <a:off x="6350000" y="29686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IndexOutOfBoundException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39" name="矩形 12"/>
          <p:cNvSpPr>
            <a:spLocks noChangeArrowheads="1"/>
          </p:cNvSpPr>
          <p:nvPr/>
        </p:nvSpPr>
        <p:spPr bwMode="auto">
          <a:xfrm>
            <a:off x="4159250" y="2317750"/>
            <a:ext cx="1690688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AWTException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40" name="矩形 13"/>
          <p:cNvSpPr>
            <a:spLocks noChangeArrowheads="1"/>
          </p:cNvSpPr>
          <p:nvPr/>
        </p:nvSpPr>
        <p:spPr bwMode="auto">
          <a:xfrm>
            <a:off x="4159250" y="1754188"/>
            <a:ext cx="1690688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IOException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41" name="矩形 14"/>
          <p:cNvSpPr>
            <a:spLocks noChangeArrowheads="1"/>
          </p:cNvSpPr>
          <p:nvPr/>
        </p:nvSpPr>
        <p:spPr bwMode="auto">
          <a:xfrm>
            <a:off x="4159250" y="1177925"/>
            <a:ext cx="2266950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ClassNotFoundException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42" name="矩形 15"/>
          <p:cNvSpPr>
            <a:spLocks noChangeArrowheads="1"/>
          </p:cNvSpPr>
          <p:nvPr/>
        </p:nvSpPr>
        <p:spPr bwMode="auto">
          <a:xfrm>
            <a:off x="4233863" y="4446588"/>
            <a:ext cx="1690687" cy="388937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LinkageError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43" name="矩形 16"/>
          <p:cNvSpPr>
            <a:spLocks noChangeArrowheads="1"/>
          </p:cNvSpPr>
          <p:nvPr/>
        </p:nvSpPr>
        <p:spPr bwMode="auto">
          <a:xfrm>
            <a:off x="4233863" y="4972050"/>
            <a:ext cx="1941512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VirtualMachineError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44" name="矩形 17"/>
          <p:cNvSpPr>
            <a:spLocks noChangeArrowheads="1"/>
          </p:cNvSpPr>
          <p:nvPr/>
        </p:nvSpPr>
        <p:spPr bwMode="auto">
          <a:xfrm>
            <a:off x="4233863" y="5524500"/>
            <a:ext cx="1690687" cy="387350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AWTError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45" name="矩形 18"/>
          <p:cNvSpPr>
            <a:spLocks noChangeArrowheads="1"/>
          </p:cNvSpPr>
          <p:nvPr/>
        </p:nvSpPr>
        <p:spPr bwMode="auto">
          <a:xfrm>
            <a:off x="6350000" y="341947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IllegalArgumentException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46" name="矩形 19"/>
          <p:cNvSpPr>
            <a:spLocks noChangeArrowheads="1"/>
          </p:cNvSpPr>
          <p:nvPr/>
        </p:nvSpPr>
        <p:spPr bwMode="auto">
          <a:xfrm>
            <a:off x="6350000" y="250507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NullPointerException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47" name="矩形 20"/>
          <p:cNvSpPr>
            <a:spLocks noChangeArrowheads="1"/>
          </p:cNvSpPr>
          <p:nvPr/>
        </p:nvSpPr>
        <p:spPr bwMode="auto">
          <a:xfrm>
            <a:off x="6350000" y="20415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ArithmeticException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48148" name="Group 22"/>
          <p:cNvGrpSpPr>
            <a:grpSpLocks/>
          </p:cNvGrpSpPr>
          <p:nvPr/>
        </p:nvGrpSpPr>
        <p:grpSpPr bwMode="auto">
          <a:xfrm>
            <a:off x="2286000" y="3551238"/>
            <a:ext cx="269875" cy="312737"/>
            <a:chOff x="0" y="0"/>
            <a:chExt cx="269310" cy="313150"/>
          </a:xfrm>
        </p:grpSpPr>
        <p:sp>
          <p:nvSpPr>
            <p:cNvPr id="48172" name="等腰三角形 23"/>
            <p:cNvSpPr>
              <a:spLocks noChangeArrowheads="1"/>
            </p:cNvSpPr>
            <p:nvPr/>
          </p:nvSpPr>
          <p:spPr bwMode="auto">
            <a:xfrm rot="-5400000">
              <a:off x="-94000" y="94000"/>
              <a:ext cx="313150" cy="12515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8173" name="直接连接符 24"/>
            <p:cNvCxnSpPr>
              <a:cxnSpLocks noChangeShapeType="1"/>
              <a:stCxn id="48172" idx="3"/>
            </p:cNvCxnSpPr>
            <p:nvPr/>
          </p:nvCxnSpPr>
          <p:spPr bwMode="auto">
            <a:xfrm>
              <a:off x="125150" y="157370"/>
              <a:ext cx="14416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8149" name="肘形连接符 29"/>
          <p:cNvCxnSpPr>
            <a:cxnSpLocks noChangeShapeType="1"/>
            <a:stCxn id="48135" idx="1"/>
            <a:endCxn id="48136" idx="1"/>
          </p:cNvCxnSpPr>
          <p:nvPr/>
        </p:nvCxnSpPr>
        <p:spPr bwMode="auto">
          <a:xfrm rot="10800000" flipV="1">
            <a:off x="2717800" y="2211388"/>
            <a:ext cx="1588" cy="2992437"/>
          </a:xfrm>
          <a:prstGeom prst="bentConnector3">
            <a:avLst>
              <a:gd name="adj1" fmla="val 10451454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150" name="Group 26"/>
          <p:cNvGrpSpPr>
            <a:grpSpLocks/>
          </p:cNvGrpSpPr>
          <p:nvPr/>
        </p:nvGrpSpPr>
        <p:grpSpPr bwMode="auto">
          <a:xfrm>
            <a:off x="3751263" y="2060575"/>
            <a:ext cx="269875" cy="312738"/>
            <a:chOff x="0" y="0"/>
            <a:chExt cx="269310" cy="313150"/>
          </a:xfrm>
        </p:grpSpPr>
        <p:sp>
          <p:nvSpPr>
            <p:cNvPr id="48170" name="等腰三角形 34"/>
            <p:cNvSpPr>
              <a:spLocks noChangeArrowheads="1"/>
            </p:cNvSpPr>
            <p:nvPr/>
          </p:nvSpPr>
          <p:spPr bwMode="auto">
            <a:xfrm rot="-5400000">
              <a:off x="-94000" y="93999"/>
              <a:ext cx="313150" cy="125149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8171" name="直接连接符 35"/>
            <p:cNvCxnSpPr>
              <a:cxnSpLocks noChangeShapeType="1"/>
              <a:stCxn id="48170" idx="3"/>
            </p:cNvCxnSpPr>
            <p:nvPr/>
          </p:nvCxnSpPr>
          <p:spPr bwMode="auto">
            <a:xfrm>
              <a:off x="125149" y="157370"/>
              <a:ext cx="14416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8151" name="肘形连接符 37"/>
          <p:cNvCxnSpPr>
            <a:cxnSpLocks noChangeShapeType="1"/>
            <a:stCxn id="48141" idx="1"/>
            <a:endCxn id="48154" idx="1"/>
          </p:cNvCxnSpPr>
          <p:nvPr/>
        </p:nvCxnSpPr>
        <p:spPr bwMode="auto">
          <a:xfrm rot="10800000" flipH="1" flipV="1">
            <a:off x="4159250" y="1371600"/>
            <a:ext cx="23813" cy="2330450"/>
          </a:xfrm>
          <a:prstGeom prst="bentConnector3">
            <a:avLst>
              <a:gd name="adj1" fmla="val -56250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2" name="肘形连接符 42"/>
          <p:cNvCxnSpPr>
            <a:cxnSpLocks noChangeShapeType="1"/>
            <a:stCxn id="48140" idx="1"/>
            <a:endCxn id="48139" idx="1"/>
          </p:cNvCxnSpPr>
          <p:nvPr/>
        </p:nvCxnSpPr>
        <p:spPr bwMode="auto">
          <a:xfrm rot="10800000" flipV="1">
            <a:off x="4159250" y="1947863"/>
            <a:ext cx="1588" cy="563562"/>
          </a:xfrm>
          <a:prstGeom prst="bentConnector3">
            <a:avLst>
              <a:gd name="adj1" fmla="val 8873931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153" name="Group 31"/>
          <p:cNvGrpSpPr>
            <a:grpSpLocks/>
          </p:cNvGrpSpPr>
          <p:nvPr/>
        </p:nvGrpSpPr>
        <p:grpSpPr bwMode="auto">
          <a:xfrm>
            <a:off x="3729038" y="5043488"/>
            <a:ext cx="268287" cy="312737"/>
            <a:chOff x="0" y="0"/>
            <a:chExt cx="269310" cy="313150"/>
          </a:xfrm>
        </p:grpSpPr>
        <p:sp>
          <p:nvSpPr>
            <p:cNvPr id="48168" name="等腰三角形 46"/>
            <p:cNvSpPr>
              <a:spLocks noChangeArrowheads="1"/>
            </p:cNvSpPr>
            <p:nvPr/>
          </p:nvSpPr>
          <p:spPr bwMode="auto">
            <a:xfrm rot="-5400000">
              <a:off x="-93630" y="93630"/>
              <a:ext cx="313150" cy="12589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8169" name="直接连接符 47"/>
            <p:cNvCxnSpPr>
              <a:cxnSpLocks noChangeShapeType="1"/>
              <a:stCxn id="48168" idx="3"/>
            </p:cNvCxnSpPr>
            <p:nvPr/>
          </p:nvCxnSpPr>
          <p:spPr bwMode="auto">
            <a:xfrm>
              <a:off x="125890" y="157370"/>
              <a:ext cx="1434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8154" name="矩形 49"/>
          <p:cNvSpPr>
            <a:spLocks noChangeArrowheads="1"/>
          </p:cNvSpPr>
          <p:nvPr/>
        </p:nvSpPr>
        <p:spPr bwMode="auto">
          <a:xfrm>
            <a:off x="4183063" y="3444875"/>
            <a:ext cx="1692275" cy="512763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Other Exception classes...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55" name="矩形 50"/>
          <p:cNvSpPr>
            <a:spLocks noChangeArrowheads="1"/>
          </p:cNvSpPr>
          <p:nvPr/>
        </p:nvSpPr>
        <p:spPr bwMode="auto">
          <a:xfrm>
            <a:off x="4233863" y="6075363"/>
            <a:ext cx="1690687" cy="525462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Other Error classes...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48156" name="肘形连接符 54"/>
          <p:cNvCxnSpPr>
            <a:cxnSpLocks noChangeShapeType="1"/>
            <a:stCxn id="48137" idx="1"/>
            <a:endCxn id="48139" idx="1"/>
          </p:cNvCxnSpPr>
          <p:nvPr/>
        </p:nvCxnSpPr>
        <p:spPr bwMode="auto">
          <a:xfrm rot="10800000">
            <a:off x="4159250" y="2511425"/>
            <a:ext cx="1588" cy="563563"/>
          </a:xfrm>
          <a:prstGeom prst="bentConnector3">
            <a:avLst>
              <a:gd name="adj1" fmla="val 8873866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7" name="肘形连接符 57"/>
          <p:cNvCxnSpPr>
            <a:cxnSpLocks noChangeShapeType="1"/>
            <a:stCxn id="48142" idx="1"/>
            <a:endCxn id="48155" idx="1"/>
          </p:cNvCxnSpPr>
          <p:nvPr/>
        </p:nvCxnSpPr>
        <p:spPr bwMode="auto">
          <a:xfrm rot="10800000" flipV="1">
            <a:off x="4233863" y="4640263"/>
            <a:ext cx="1587" cy="1698625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8" name="肘形连接符 59"/>
          <p:cNvCxnSpPr>
            <a:cxnSpLocks noChangeShapeType="1"/>
            <a:stCxn id="48143" idx="1"/>
            <a:endCxn id="48144" idx="1"/>
          </p:cNvCxnSpPr>
          <p:nvPr/>
        </p:nvCxnSpPr>
        <p:spPr bwMode="auto">
          <a:xfrm rot="10800000" flipV="1">
            <a:off x="4233863" y="5167313"/>
            <a:ext cx="1587" cy="550862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159" name="Group 39"/>
          <p:cNvGrpSpPr>
            <a:grpSpLocks/>
          </p:cNvGrpSpPr>
          <p:nvPr/>
        </p:nvGrpSpPr>
        <p:grpSpPr bwMode="auto">
          <a:xfrm>
            <a:off x="5856288" y="2913063"/>
            <a:ext cx="268287" cy="312737"/>
            <a:chOff x="0" y="0"/>
            <a:chExt cx="269310" cy="313150"/>
          </a:xfrm>
        </p:grpSpPr>
        <p:sp>
          <p:nvSpPr>
            <p:cNvPr id="48166" name="等腰三角形 61"/>
            <p:cNvSpPr>
              <a:spLocks noChangeArrowheads="1"/>
            </p:cNvSpPr>
            <p:nvPr/>
          </p:nvSpPr>
          <p:spPr bwMode="auto">
            <a:xfrm rot="-5400000">
              <a:off x="-93630" y="93630"/>
              <a:ext cx="313150" cy="125890"/>
            </a:xfrm>
            <a:prstGeom prst="triangle">
              <a:avLst>
                <a:gd name="adj" fmla="val 50000"/>
              </a:avLst>
            </a:prstGeom>
            <a:noFill/>
            <a:ln w="63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8167" name="直接连接符 62"/>
            <p:cNvCxnSpPr>
              <a:cxnSpLocks noChangeShapeType="1"/>
              <a:stCxn id="48166" idx="3"/>
            </p:cNvCxnSpPr>
            <p:nvPr/>
          </p:nvCxnSpPr>
          <p:spPr bwMode="auto">
            <a:xfrm>
              <a:off x="125890" y="157370"/>
              <a:ext cx="1434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8160" name="矩形 63"/>
          <p:cNvSpPr>
            <a:spLocks noChangeArrowheads="1"/>
          </p:cNvSpPr>
          <p:nvPr/>
        </p:nvSpPr>
        <p:spPr bwMode="auto">
          <a:xfrm>
            <a:off x="6350000" y="4359275"/>
            <a:ext cx="2455863" cy="525463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Other Runtime Exception classes ...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48161" name="肘形连接符 70"/>
          <p:cNvCxnSpPr>
            <a:cxnSpLocks noChangeShapeType="1"/>
            <a:stCxn id="48147" idx="1"/>
            <a:endCxn id="48160" idx="1"/>
          </p:cNvCxnSpPr>
          <p:nvPr/>
        </p:nvCxnSpPr>
        <p:spPr bwMode="auto">
          <a:xfrm rot="10800000" flipV="1">
            <a:off x="6350000" y="2235200"/>
            <a:ext cx="1588" cy="23876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2" name="肘形连接符 72"/>
          <p:cNvCxnSpPr>
            <a:cxnSpLocks noChangeShapeType="1"/>
            <a:stCxn id="48146" idx="1"/>
            <a:endCxn id="48145" idx="1"/>
          </p:cNvCxnSpPr>
          <p:nvPr/>
        </p:nvCxnSpPr>
        <p:spPr bwMode="auto">
          <a:xfrm rot="10800000" flipV="1">
            <a:off x="6350000" y="2698750"/>
            <a:ext cx="1588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3" name="肘形连接符 74"/>
          <p:cNvCxnSpPr>
            <a:cxnSpLocks noChangeShapeType="1"/>
            <a:stCxn id="48164" idx="1"/>
            <a:endCxn id="48138" idx="1"/>
          </p:cNvCxnSpPr>
          <p:nvPr/>
        </p:nvCxnSpPr>
        <p:spPr bwMode="auto">
          <a:xfrm rot="10800000">
            <a:off x="6350000" y="3162300"/>
            <a:ext cx="1588" cy="914400"/>
          </a:xfrm>
          <a:prstGeom prst="bentConnector3">
            <a:avLst>
              <a:gd name="adj1" fmla="val 1439546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64" name="矩形 76"/>
          <p:cNvSpPr>
            <a:spLocks noChangeArrowheads="1"/>
          </p:cNvSpPr>
          <p:nvPr/>
        </p:nvSpPr>
        <p:spPr bwMode="auto">
          <a:xfrm>
            <a:off x="6350000" y="3883025"/>
            <a:ext cx="2455863" cy="388938"/>
          </a:xfrm>
          <a:prstGeom prst="rect">
            <a:avLst/>
          </a:prstGeom>
          <a:gradFill rotWithShape="1">
            <a:gsLst>
              <a:gs pos="0">
                <a:srgbClr val="B8E2E2"/>
              </a:gs>
              <a:gs pos="35001">
                <a:srgbClr val="CEEAEA"/>
              </a:gs>
              <a:gs pos="100000">
                <a:srgbClr val="ECF7F7"/>
              </a:gs>
            </a:gsLst>
            <a:lin ang="5400000" scaled="1"/>
          </a:gradFill>
          <a:ln w="9525">
            <a:solidFill>
              <a:srgbClr val="629797"/>
            </a:solidFill>
            <a:miter lim="800000"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InputMismatchException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8165" name="TextBox 48"/>
          <p:cNvSpPr txBox="1">
            <a:spLocks noChangeArrowheads="1"/>
          </p:cNvSpPr>
          <p:nvPr/>
        </p:nvSpPr>
        <p:spPr bwMode="auto">
          <a:xfrm>
            <a:off x="69850" y="4572000"/>
            <a:ext cx="2630488" cy="1015663"/>
          </a:xfrm>
          <a:prstGeom prst="rect">
            <a:avLst/>
          </a:prstGeom>
          <a:noFill/>
          <a:ln>
            <a:noFill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免检异常：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RuntimeException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Error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及其子类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标题 1">
            <a:extLst>
              <a:ext uri="{FF2B5EF4-FFF2-40B4-BE49-F238E27FC236}">
                <a16:creationId xmlns:a16="http://schemas.microsoft.com/office/drawing/2014/main" id="{A3649717-B199-4299-9BBF-7C6870F8FF79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412576" y="941875"/>
            <a:ext cx="7543800" cy="738663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奇怪的现象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829084" y="1916832"/>
            <a:ext cx="6911269" cy="165717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public class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TestThrows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public static void main(String[]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FileInputStream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FileInputStream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("a.txt");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829085" y="3845417"/>
            <a:ext cx="6911268" cy="5196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为什么“完全正确”的代码不能编译？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3B1AD9B-F705-4845-AA6B-F24ADF81375C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8D77E5-8D5D-45D1-979E-FFE5706BD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797152"/>
            <a:ext cx="7606692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3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412576" y="941875"/>
            <a:ext cx="7543800" cy="738663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修正错误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727480" y="1767027"/>
            <a:ext cx="6911269" cy="22322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public class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TestThrows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public static void main(String[]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throws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FileNotFoundException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FileInputStream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FileInputStream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(“a.txt”);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411760" y="4365104"/>
            <a:ext cx="3312368" cy="5196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必检异常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3851920" y="2780928"/>
            <a:ext cx="0" cy="15121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>
            <a:extLst>
              <a:ext uri="{FF2B5EF4-FFF2-40B4-BE49-F238E27FC236}">
                <a16:creationId xmlns:a16="http://schemas.microsoft.com/office/drawing/2014/main" id="{F7FDCC02-F77F-4045-9C4E-61D8BFD275BD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695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412576" y="908720"/>
            <a:ext cx="7543800" cy="663626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声明、抛出和捕获异常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1190625" y="2347888"/>
            <a:ext cx="3017838" cy="28813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method1()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invoke method2();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catch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(Exception ex)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process Exception;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4759325" y="2347888"/>
            <a:ext cx="3444875" cy="28813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method2()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throws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Exception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do something;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(an error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occours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throw new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Exception();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0181" name="直接箭头连接符 6"/>
          <p:cNvCxnSpPr>
            <a:cxnSpLocks noChangeShapeType="1"/>
          </p:cNvCxnSpPr>
          <p:nvPr/>
        </p:nvCxnSpPr>
        <p:spPr bwMode="auto">
          <a:xfrm flipV="1">
            <a:off x="3883025" y="2524100"/>
            <a:ext cx="939800" cy="7270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2" name="矩形 7"/>
          <p:cNvSpPr>
            <a:spLocks noChangeArrowheads="1"/>
          </p:cNvSpPr>
          <p:nvPr/>
        </p:nvSpPr>
        <p:spPr bwMode="auto">
          <a:xfrm>
            <a:off x="1403350" y="2849538"/>
            <a:ext cx="2617788" cy="1703387"/>
          </a:xfrm>
          <a:prstGeom prst="rect">
            <a:avLst/>
          </a:prstGeom>
          <a:solidFill>
            <a:srgbClr val="CD9BFF">
              <a:alpha val="29803"/>
            </a:srgbClr>
          </a:solidFill>
          <a:ln w="31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4823" name="直接连接符 9"/>
          <p:cNvCxnSpPr>
            <a:cxnSpLocks noChangeShapeType="1"/>
          </p:cNvCxnSpPr>
          <p:nvPr/>
        </p:nvCxnSpPr>
        <p:spPr bwMode="auto">
          <a:xfrm flipV="1">
            <a:off x="1476375" y="3892525"/>
            <a:ext cx="2098675" cy="95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4" name="矩形 15"/>
          <p:cNvSpPr>
            <a:spLocks noChangeArrowheads="1"/>
          </p:cNvSpPr>
          <p:nvPr/>
        </p:nvSpPr>
        <p:spPr bwMode="auto">
          <a:xfrm>
            <a:off x="5724525" y="2385988"/>
            <a:ext cx="1954213" cy="276225"/>
          </a:xfrm>
          <a:prstGeom prst="rect">
            <a:avLst/>
          </a:prstGeom>
          <a:solidFill>
            <a:srgbClr val="CD9BFF">
              <a:alpha val="29803"/>
            </a:srgbClr>
          </a:solidFill>
          <a:ln w="31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5" name="TextBox 16"/>
          <p:cNvSpPr txBox="1">
            <a:spLocks noChangeArrowheads="1"/>
          </p:cNvSpPr>
          <p:nvPr/>
        </p:nvSpPr>
        <p:spPr bwMode="auto">
          <a:xfrm>
            <a:off x="6388100" y="1684313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声明异常</a:t>
            </a:r>
          </a:p>
        </p:txBody>
      </p:sp>
      <p:sp>
        <p:nvSpPr>
          <p:cNvPr id="34826" name="矩形 17"/>
          <p:cNvSpPr>
            <a:spLocks noChangeArrowheads="1"/>
          </p:cNvSpPr>
          <p:nvPr/>
        </p:nvSpPr>
        <p:spPr bwMode="auto">
          <a:xfrm>
            <a:off x="5219700" y="3638525"/>
            <a:ext cx="2392363" cy="276225"/>
          </a:xfrm>
          <a:prstGeom prst="rect">
            <a:avLst/>
          </a:prstGeom>
          <a:solidFill>
            <a:srgbClr val="CD9BFF">
              <a:alpha val="29803"/>
            </a:srgbClr>
          </a:solidFill>
          <a:ln w="31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4827" name="直接箭头连接符 19"/>
          <p:cNvCxnSpPr>
            <a:cxnSpLocks noChangeShapeType="1"/>
            <a:stCxn id="34825" idx="2"/>
            <a:endCxn id="34824" idx="0"/>
          </p:cNvCxnSpPr>
          <p:nvPr/>
        </p:nvCxnSpPr>
        <p:spPr bwMode="auto">
          <a:xfrm flipH="1">
            <a:off x="6701632" y="2053645"/>
            <a:ext cx="243672" cy="33234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8" name="TextBox 20"/>
          <p:cNvSpPr txBox="1">
            <a:spLocks noChangeArrowheads="1"/>
          </p:cNvSpPr>
          <p:nvPr/>
        </p:nvSpPr>
        <p:spPr bwMode="auto">
          <a:xfrm>
            <a:off x="6175375" y="3976663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抛出异常</a:t>
            </a:r>
          </a:p>
        </p:txBody>
      </p:sp>
      <p:sp>
        <p:nvSpPr>
          <p:cNvPr id="34829" name="TextBox 21"/>
          <p:cNvSpPr txBox="1">
            <a:spLocks noChangeArrowheads="1"/>
          </p:cNvSpPr>
          <p:nvPr/>
        </p:nvSpPr>
        <p:spPr bwMode="auto">
          <a:xfrm>
            <a:off x="107504" y="4052863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捕获异常</a:t>
            </a:r>
          </a:p>
        </p:txBody>
      </p:sp>
      <p:cxnSp>
        <p:nvCxnSpPr>
          <p:cNvPr id="34830" name="直接箭头连接符 23"/>
          <p:cNvCxnSpPr>
            <a:cxnSpLocks noChangeShapeType="1"/>
            <a:stCxn id="34829" idx="0"/>
          </p:cNvCxnSpPr>
          <p:nvPr/>
        </p:nvCxnSpPr>
        <p:spPr bwMode="auto">
          <a:xfrm flipV="1">
            <a:off x="664708" y="3863951"/>
            <a:ext cx="958859" cy="188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 1">
            <a:extLst>
              <a:ext uri="{FF2B5EF4-FFF2-40B4-BE49-F238E27FC236}">
                <a16:creationId xmlns:a16="http://schemas.microsoft.com/office/drawing/2014/main" id="{90798E23-F823-4840-896F-60FF70A9BE60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>
          <a:xfrm>
            <a:off x="395191" y="908720"/>
            <a:ext cx="7543800" cy="483106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捕获异常</a:t>
            </a:r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auto">
          <a:xfrm>
            <a:off x="839788" y="1590675"/>
            <a:ext cx="7277100" cy="48625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statements.   // statements may throw exceptions.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catch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(Exception1 ex1)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handle for Exception1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catch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(Exception2 ex2)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handle for Exception2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...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catch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ExceptionN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handle for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ExceptionN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304FB6CF-5DCD-4D6A-A42B-54480508E1E5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295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4294967295"/>
          </p:nvPr>
        </p:nvSpPr>
        <p:spPr>
          <a:xfrm>
            <a:off x="468313" y="981075"/>
            <a:ext cx="8229600" cy="863749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throws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语句中声明的异常称为必检异常（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checked 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），通常直接派生自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730250" y="1844825"/>
            <a:ext cx="7683500" cy="194421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6600"/>
                </a:solidFill>
              </a:rPr>
              <a:t>// </a:t>
            </a:r>
            <a:r>
              <a:rPr lang="zh-CN" altLang="en-US" b="1" dirty="0">
                <a:solidFill>
                  <a:srgbClr val="006600"/>
                </a:solidFill>
              </a:rPr>
              <a:t>可以声明多个异常，用逗号分开</a:t>
            </a:r>
            <a:endParaRPr lang="en-US" b="1" dirty="0">
              <a:solidFill>
                <a:srgbClr val="00660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006600"/>
                </a:solidFill>
              </a:rPr>
              <a:t>// </a:t>
            </a:r>
            <a:r>
              <a:rPr lang="zh-CN" altLang="en-US" b="1" dirty="0">
                <a:solidFill>
                  <a:srgbClr val="006600"/>
                </a:solidFill>
              </a:rPr>
              <a:t>也可以声明自定义异常，如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altLang="zh-CN" b="1" dirty="0" err="1">
                <a:solidFill>
                  <a:srgbClr val="006600"/>
                </a:solidFill>
              </a:rPr>
              <a:t>MyException</a:t>
            </a:r>
            <a:endParaRPr lang="en-US" altLang="zh-CN" b="1" dirty="0"/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public void </a:t>
            </a:r>
            <a:r>
              <a:rPr lang="en-US" altLang="zh-CN" b="1" dirty="0" err="1"/>
              <a:t>writeFile</a:t>
            </a:r>
            <a:r>
              <a:rPr lang="en-US" altLang="zh-CN" b="1" dirty="0"/>
              <a:t>() </a:t>
            </a:r>
            <a:r>
              <a:rPr lang="en-US" altLang="zh-CN" b="1" dirty="0">
                <a:solidFill>
                  <a:srgbClr val="0000FF"/>
                </a:solidFill>
              </a:rPr>
              <a:t>throws</a:t>
            </a:r>
            <a:r>
              <a:rPr lang="en-US" altLang="zh-CN" b="1" dirty="0"/>
              <a:t> </a:t>
            </a:r>
            <a:r>
              <a:rPr lang="en-US" altLang="zh-CN" b="1" dirty="0" err="1"/>
              <a:t>IOException</a:t>
            </a:r>
            <a:r>
              <a:rPr lang="en-US" altLang="zh-CN" b="1" dirty="0"/>
              <a:t>, </a:t>
            </a:r>
            <a:r>
              <a:rPr lang="en-US" altLang="zh-CN" b="1" dirty="0" err="1"/>
              <a:t>MyException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{</a:t>
            </a:r>
          </a:p>
          <a:p>
            <a:pPr eaLnBrk="1" hangingPunct="1"/>
            <a:r>
              <a:rPr lang="en-US" altLang="zh-CN" b="1" dirty="0"/>
              <a:t>    // ... ...</a:t>
            </a:r>
          </a:p>
          <a:p>
            <a:pPr eaLnBrk="1" hangingPunct="1"/>
            <a:r>
              <a:rPr lang="en-US" altLang="zh-CN" b="1" dirty="0"/>
              <a:t>}</a:t>
            </a:r>
          </a:p>
          <a:p>
            <a:pPr eaLnBrk="1" hangingPunct="1"/>
            <a:endParaRPr lang="en-US" altLang="zh-CN" sz="14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68313" y="4077072"/>
            <a:ext cx="8229600" cy="86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注意：当一个方法</a:t>
            </a:r>
            <a:r>
              <a:rPr lang="zh-CN" altLang="en-US" sz="2400" b="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声明抛出多个异常</a:t>
            </a:r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时，在此方法调用语句处</a:t>
            </a:r>
            <a:r>
              <a:rPr lang="zh-CN" altLang="en-US" sz="2400" b="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只要</a:t>
            </a:r>
            <a:r>
              <a:rPr lang="en-US" altLang="zh-CN" sz="2400" b="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catch</a:t>
            </a:r>
            <a:r>
              <a:rPr lang="zh-CN" altLang="en-US" sz="2400" b="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其中任何一个异常</a:t>
            </a:r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，代码就可以顺利编译。</a:t>
            </a:r>
            <a:endParaRPr lang="en-US" altLang="zh-CN" sz="24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ABF54B5-7447-4E04-A495-C5854BAF1F72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</a:p>
        </p:txBody>
      </p:sp>
    </p:spTree>
    <p:extLst>
      <p:ext uri="{BB962C8B-B14F-4D97-AF65-F5344CB8AC3E}">
        <p14:creationId xmlns:p14="http://schemas.microsoft.com/office/powerpoint/2010/main" val="927403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902396-1194-1B6C-66B1-9F4F2BC489DB}"/>
              </a:ext>
            </a:extLst>
          </p:cNvPr>
          <p:cNvSpPr txBox="1"/>
          <p:nvPr/>
        </p:nvSpPr>
        <p:spPr>
          <a:xfrm>
            <a:off x="628649" y="1315368"/>
            <a:ext cx="8130540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eaLnBrk="0" hangingPunct="0">
              <a:lnSpc>
                <a:spcPct val="200000"/>
              </a:lnSpc>
            </a:pPr>
            <a:r>
              <a:rPr kumimoji="0" lang="zh-CN" altLang="en-US" sz="2400" b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异常的细节</a:t>
            </a:r>
            <a:endParaRPr kumimoji="0" lang="en-US" altLang="zh-CN" sz="2400" b="1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F75F65-C30F-A4DC-485E-9503C49A031C}"/>
              </a:ext>
            </a:extLst>
          </p:cNvPr>
          <p:cNvSpPr txBox="1"/>
          <p:nvPr/>
        </p:nvSpPr>
        <p:spPr>
          <a:xfrm>
            <a:off x="628650" y="2214325"/>
            <a:ext cx="7391944" cy="510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Throwable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的常用方法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C5E5EA-85DF-4720-A59F-17DDF9576733}"/>
              </a:ext>
            </a:extLst>
          </p:cNvPr>
          <p:cNvSpPr txBox="1"/>
          <p:nvPr/>
        </p:nvSpPr>
        <p:spPr>
          <a:xfrm>
            <a:off x="628649" y="4052048"/>
            <a:ext cx="7391944" cy="510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子类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重写父类方法时，不能抛出父类没有的异常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或者比父类更大的异常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B60A2FB-F20F-B8CC-BE0A-E341B762BF56}"/>
              </a:ext>
            </a:extLst>
          </p:cNvPr>
          <p:cNvGraphicFramePr>
            <a:graphicFrameLocks noGrp="1"/>
          </p:cNvGraphicFramePr>
          <p:nvPr/>
        </p:nvGraphicFramePr>
        <p:xfrm>
          <a:off x="1006540" y="2810355"/>
          <a:ext cx="6096000" cy="10622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2872704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51763360"/>
                    </a:ext>
                  </a:extLst>
                </a:gridCol>
              </a:tblGrid>
              <a:tr h="3434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9006827"/>
                  </a:ext>
                </a:extLst>
              </a:tr>
              <a:tr h="3441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getMessage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400" dirty="0"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获取异常的错误原因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839594"/>
                  </a:ext>
                </a:extLst>
              </a:tr>
              <a:tr h="3441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void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printStackTrace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400" dirty="0"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展示完整的异常错误信息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69630676"/>
                  </a:ext>
                </a:extLst>
              </a:tr>
            </a:tbl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DFE01B-CBB8-4B99-BE85-C481CB4CBA54}"/>
              </a:ext>
            </a:extLst>
          </p:cNvPr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>
            <a:extLst>
              <a:ext uri="{FF2B5EF4-FFF2-40B4-BE49-F238E27FC236}">
                <a16:creationId xmlns:a16="http://schemas.microsoft.com/office/drawing/2014/main" id="{EF9B2AC3-7285-47A4-AF9A-B5BDA534FD67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异常处理</a:t>
            </a:r>
          </a:p>
        </p:txBody>
      </p:sp>
    </p:spTree>
    <p:extLst>
      <p:ext uri="{BB962C8B-B14F-4D97-AF65-F5344CB8AC3E}">
        <p14:creationId xmlns:p14="http://schemas.microsoft.com/office/powerpoint/2010/main" val="3738813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>
          <a:xfrm>
            <a:off x="468313" y="116632"/>
            <a:ext cx="7543800" cy="648072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内容小结</a:t>
            </a: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568828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掌握异常的体系结构与分类；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掌握异常处理机制；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掌握异常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多线程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文件与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IO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流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529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143DF65-079D-46C4-9939-90BE19A49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72816"/>
            <a:ext cx="8790922" cy="439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07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7B8B1D-E70F-6788-832F-F07605E38FE8}"/>
              </a:ext>
            </a:extLst>
          </p:cNvPr>
          <p:cNvSpPr txBox="1"/>
          <p:nvPr/>
        </p:nvSpPr>
        <p:spPr>
          <a:xfrm>
            <a:off x="456613" y="914994"/>
            <a:ext cx="3414435" cy="72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sz="2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类创建对象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63B2A64-3BD6-B3C1-C55F-DD07294907B3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1844824"/>
          <a:ext cx="7543800" cy="1506204"/>
        </p:xfrm>
        <a:graphic>
          <a:graphicData uri="http://schemas.openxmlformats.org/drawingml/2006/table">
            <a:tbl>
              <a:tblPr/>
              <a:tblGrid>
                <a:gridCol w="3549136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994664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819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945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File​(String pathname)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根据文件路径创建文件对象</a:t>
                      </a:r>
                      <a:endParaRPr lang="en-US" altLang="zh-CN" sz="12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File​(String parent, String child)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根据父路径名字符串和子路径名字符串创建文件对象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59233"/>
                  </a:ext>
                </a:extLst>
              </a:tr>
              <a:tr h="3796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File​(File  parent, String child)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根据父路径对应文件对象和子路径名字符串创建文件对象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3221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CFD5824-8A4A-9D4C-7B65-A172A56C0C4F}"/>
              </a:ext>
            </a:extLst>
          </p:cNvPr>
          <p:cNvSpPr txBox="1"/>
          <p:nvPr/>
        </p:nvSpPr>
        <p:spPr>
          <a:xfrm>
            <a:off x="556651" y="3429000"/>
            <a:ext cx="7367124" cy="88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74" indent="-268274"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对象可以定位文件和文件夹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74" indent="-268274"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封装的对象仅仅是一个路径名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98C754C-0BAC-4C14-B73C-C8ACC061DB77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>
            <a:extLst>
              <a:ext uri="{FF2B5EF4-FFF2-40B4-BE49-F238E27FC236}">
                <a16:creationId xmlns:a16="http://schemas.microsoft.com/office/drawing/2014/main" id="{A31DB489-BBE0-4BDA-921D-E951E3060495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208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7B8B1D-E70F-6788-832F-F07605E38FE8}"/>
              </a:ext>
            </a:extLst>
          </p:cNvPr>
          <p:cNvSpPr txBox="1"/>
          <p:nvPr/>
        </p:nvSpPr>
        <p:spPr>
          <a:xfrm>
            <a:off x="611560" y="1325797"/>
            <a:ext cx="3514725" cy="6189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类的常用方法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C4A95A8-8696-F0DD-E246-BE6EDB23F68A}"/>
              </a:ext>
            </a:extLst>
          </p:cNvPr>
          <p:cNvGraphicFramePr>
            <a:graphicFrameLocks noGrp="1"/>
          </p:cNvGraphicFramePr>
          <p:nvPr/>
        </p:nvGraphicFramePr>
        <p:xfrm>
          <a:off x="573117" y="2276873"/>
          <a:ext cx="7416824" cy="3448323"/>
        </p:xfrm>
        <a:graphic>
          <a:graphicData uri="http://schemas.openxmlformats.org/drawingml/2006/table">
            <a:tbl>
              <a:tblPr/>
              <a:tblGrid>
                <a:gridCol w="3527057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889767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23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667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isDirectory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</a:rPr>
                        <a:t>判断此路径名表示的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</a:rPr>
                        <a:t>File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</a:rPr>
                        <a:t>是否为文件夹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6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isFile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判断此路径名表示的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File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是否为文件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59233"/>
                  </a:ext>
                </a:extLst>
              </a:tr>
              <a:tr h="36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exists()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判断此路径名表示的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File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是否存在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32218"/>
                  </a:ext>
                </a:extLst>
              </a:tr>
              <a:tr h="377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long length()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</a:rPr>
                        <a:t>返回文件的大小（字节数量）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048127"/>
                  </a:ext>
                </a:extLst>
              </a:tr>
              <a:tr h="377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String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getAbsolutePath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</a:rPr>
                        <a:t>返回文件的绝对路径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178387"/>
                  </a:ext>
                </a:extLst>
              </a:tr>
              <a:tr h="377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String </a:t>
                      </a:r>
                      <a:r>
                        <a:rPr lang="en-US" altLang="zh-CN" sz="16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getPath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返回定义文件时使用的路径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443818"/>
                  </a:ext>
                </a:extLst>
              </a:tr>
              <a:tr h="377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String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getName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</a:rPr>
                        <a:t>返回文件的名称，带后缀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50725"/>
                  </a:ext>
                </a:extLst>
              </a:tr>
              <a:tr h="377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public long 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lastModified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</a:rPr>
                        <a:t>返回文件的最后修改时间（时间毫秒值）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01616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6CDD55B-A1CE-4A5B-B37C-22F4E2B55DC0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3F672CA0-58B0-4CB7-84D5-8BDD40C87137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388621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7B8B1D-E70F-6788-832F-F07605E38FE8}"/>
              </a:ext>
            </a:extLst>
          </p:cNvPr>
          <p:cNvSpPr txBox="1"/>
          <p:nvPr/>
        </p:nvSpPr>
        <p:spPr>
          <a:xfrm>
            <a:off x="650447" y="1357925"/>
            <a:ext cx="3514725" cy="6189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类的创建和删除方法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615413-5B8A-EE43-E235-EC9CCAAAE505}"/>
              </a:ext>
            </a:extLst>
          </p:cNvPr>
          <p:cNvGraphicFramePr>
            <a:graphicFrameLocks noGrp="1"/>
          </p:cNvGraphicFramePr>
          <p:nvPr/>
        </p:nvGraphicFramePr>
        <p:xfrm>
          <a:off x="717429" y="2230911"/>
          <a:ext cx="6806899" cy="1511174"/>
        </p:xfrm>
        <a:graphic>
          <a:graphicData uri="http://schemas.openxmlformats.org/drawingml/2006/table">
            <a:tbl>
              <a:tblPr/>
              <a:tblGrid>
                <a:gridCol w="3237011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569888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368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77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0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createNewFile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()</a:t>
                      </a:r>
                      <a:endParaRPr lang="zh-CN" altLang="en-US" sz="16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创建一个新的空的文件</a:t>
                      </a:r>
                      <a:endParaRPr lang="en-US" altLang="zh-C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829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0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mkdir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()</a:t>
                      </a:r>
                      <a:endParaRPr lang="zh-CN" altLang="en-US" sz="16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只能创建一级文件夹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59233"/>
                  </a:ext>
                </a:extLst>
              </a:tr>
              <a:tr h="336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0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mkdirs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()</a:t>
                      </a:r>
                      <a:endParaRPr lang="zh-CN" altLang="en-US" sz="16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可以创建多级文件夹</a:t>
                      </a:r>
                      <a:endParaRPr lang="en-US" altLang="zh-C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3221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0635B73-3D1A-D1B3-3739-D443A2E779E7}"/>
              </a:ext>
            </a:extLst>
          </p:cNvPr>
          <p:cNvGraphicFramePr>
            <a:graphicFrameLocks noGrp="1"/>
          </p:cNvGraphicFramePr>
          <p:nvPr/>
        </p:nvGraphicFramePr>
        <p:xfrm>
          <a:off x="717428" y="4063083"/>
          <a:ext cx="6806900" cy="752916"/>
        </p:xfrm>
        <a:graphic>
          <a:graphicData uri="http://schemas.openxmlformats.org/drawingml/2006/table">
            <a:tbl>
              <a:tblPr/>
              <a:tblGrid>
                <a:gridCol w="3196253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610647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160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阿里巴巴普惠体" panose="00020600040101010101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105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public boolean delete​()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18" marR="91418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itchFamily="34" charset="-122"/>
                          <a:ea typeface="阿里巴巴普惠体" panose="00020600040101010101"/>
                        </a:rPr>
                        <a:t>删除由此抽象路径名表示的文件或空文件夹</a:t>
                      </a:r>
                      <a:endParaRPr lang="en-US" altLang="zh-C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itchFamily="34" charset="-122"/>
                        <a:ea typeface="阿里巴巴普惠体" panose="00020600040101010101"/>
                      </a:endParaRPr>
                    </a:p>
                  </a:txBody>
                  <a:tcPr marL="91418" marR="91418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</a:tbl>
          </a:graphicData>
        </a:graphic>
      </p:graphicFrame>
      <p:sp>
        <p:nvSpPr>
          <p:cNvPr id="6" name="TextBox 6">
            <a:extLst>
              <a:ext uri="{FF2B5EF4-FFF2-40B4-BE49-F238E27FC236}">
                <a16:creationId xmlns:a16="http://schemas.microsoft.com/office/drawing/2014/main" id="{46591D52-549B-7F64-33BB-78DE09DCAABE}"/>
              </a:ext>
            </a:extLst>
          </p:cNvPr>
          <p:cNvSpPr txBox="1"/>
          <p:nvPr/>
        </p:nvSpPr>
        <p:spPr>
          <a:xfrm>
            <a:off x="916616" y="5379187"/>
            <a:ext cx="4519479" cy="3801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delete()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方法只能删除空文件夹，且不走回收站 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DFDB7F-5AE4-1E0D-12A2-8B83C45A0785}"/>
              </a:ext>
            </a:extLst>
          </p:cNvPr>
          <p:cNvSpPr/>
          <p:nvPr/>
        </p:nvSpPr>
        <p:spPr>
          <a:xfrm>
            <a:off x="836707" y="5144141"/>
            <a:ext cx="4311357" cy="772358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AB2A95-62A2-E414-7F3D-99193E1E45DD}"/>
              </a:ext>
            </a:extLst>
          </p:cNvPr>
          <p:cNvSpPr/>
          <p:nvPr/>
        </p:nvSpPr>
        <p:spPr>
          <a:xfrm>
            <a:off x="717428" y="5144141"/>
            <a:ext cx="789972" cy="22570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78281F8-1B23-4522-B1E9-72D375B56025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781047A4-507B-4651-A352-CB50D1DAAD09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834630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CF7D745-C0CA-4E5D-A8DC-352BEFFED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0364"/>
            <a:ext cx="9144000" cy="405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580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82EEC4B-B124-80E3-963C-4A0EFA3D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60" y="1002232"/>
            <a:ext cx="2310648" cy="517190"/>
          </a:xfrm>
        </p:spPr>
        <p:txBody>
          <a:bodyPr/>
          <a:lstStyle/>
          <a:p>
            <a:r>
              <a:rPr lang="en-US" altLang="zh-CN" sz="2400" dirty="0">
                <a:latin typeface="Consolas" panose="020B0609020204030204" pitchFamily="49" charset="0"/>
              </a:rPr>
              <a:t>IO</a:t>
            </a:r>
            <a:r>
              <a:rPr lang="en-US" altLang="zh-CN" sz="2400" dirty="0"/>
              <a:t> </a:t>
            </a:r>
            <a:r>
              <a:rPr lang="zh-CN" altLang="en-US" sz="2400" dirty="0"/>
              <a:t>流体系结构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30350FD-1272-2401-09F4-123CC473CE80}"/>
              </a:ext>
            </a:extLst>
          </p:cNvPr>
          <p:cNvSpPr/>
          <p:nvPr/>
        </p:nvSpPr>
        <p:spPr>
          <a:xfrm>
            <a:off x="437727" y="2671149"/>
            <a:ext cx="1444619" cy="43387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字节流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FC624BE-003F-4E1E-C10B-3DEEAE18AC8C}"/>
              </a:ext>
            </a:extLst>
          </p:cNvPr>
          <p:cNvSpPr/>
          <p:nvPr/>
        </p:nvSpPr>
        <p:spPr>
          <a:xfrm>
            <a:off x="385160" y="4656356"/>
            <a:ext cx="1444619" cy="43387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字符流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7C1B344-8493-FF60-D6E4-6645D799280C}"/>
              </a:ext>
            </a:extLst>
          </p:cNvPr>
          <p:cNvSpPr/>
          <p:nvPr/>
        </p:nvSpPr>
        <p:spPr>
          <a:xfrm>
            <a:off x="2183055" y="2245179"/>
            <a:ext cx="1605001" cy="3315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杨任东竹石体-Bold" panose="02000000000000000000" pitchFamily="2" charset="-122"/>
                <a:cs typeface="+mn-cs"/>
              </a:rPr>
              <a:t>InputStream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杨任东竹石体-Bold" panose="02000000000000000000" pitchFamily="2" charset="-122"/>
              <a:cs typeface="+mn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3FF2949-4FD0-B817-0991-9B0B459B5296}"/>
              </a:ext>
            </a:extLst>
          </p:cNvPr>
          <p:cNvSpPr/>
          <p:nvPr/>
        </p:nvSpPr>
        <p:spPr>
          <a:xfrm>
            <a:off x="2183055" y="3152126"/>
            <a:ext cx="1554459" cy="3315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杨任东竹石体-Bold" panose="02000000000000000000" pitchFamily="2" charset="-122"/>
                <a:cs typeface="+mn-cs"/>
              </a:rPr>
              <a:t>OutputStream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杨任东竹石体-Bold" panose="02000000000000000000" pitchFamily="2" charset="-122"/>
              <a:cs typeface="+mn-cs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92FE01-6499-5BC3-6CA5-F0BF03E47265}"/>
              </a:ext>
            </a:extLst>
          </p:cNvPr>
          <p:cNvSpPr/>
          <p:nvPr/>
        </p:nvSpPr>
        <p:spPr>
          <a:xfrm>
            <a:off x="1967948" y="1996817"/>
            <a:ext cx="3388420" cy="1782538"/>
          </a:xfrm>
          <a:custGeom>
            <a:avLst/>
            <a:gdLst>
              <a:gd name="connsiteX0" fmla="*/ 0 w 3388420"/>
              <a:gd name="connsiteY0" fmla="*/ 297096 h 1782538"/>
              <a:gd name="connsiteX1" fmla="*/ 297096 w 3388420"/>
              <a:gd name="connsiteY1" fmla="*/ 0 h 1782538"/>
              <a:gd name="connsiteX2" fmla="*/ 1023595 w 3388420"/>
              <a:gd name="connsiteY2" fmla="*/ 0 h 1782538"/>
              <a:gd name="connsiteX3" fmla="*/ 1694210 w 3388420"/>
              <a:gd name="connsiteY3" fmla="*/ 0 h 1782538"/>
              <a:gd name="connsiteX4" fmla="*/ 2420709 w 3388420"/>
              <a:gd name="connsiteY4" fmla="*/ 0 h 1782538"/>
              <a:gd name="connsiteX5" fmla="*/ 3091324 w 3388420"/>
              <a:gd name="connsiteY5" fmla="*/ 0 h 1782538"/>
              <a:gd name="connsiteX6" fmla="*/ 3388420 w 3388420"/>
              <a:gd name="connsiteY6" fmla="*/ 297096 h 1782538"/>
              <a:gd name="connsiteX7" fmla="*/ 3388420 w 3388420"/>
              <a:gd name="connsiteY7" fmla="*/ 855619 h 1782538"/>
              <a:gd name="connsiteX8" fmla="*/ 3388420 w 3388420"/>
              <a:gd name="connsiteY8" fmla="*/ 1485442 h 1782538"/>
              <a:gd name="connsiteX9" fmla="*/ 3091324 w 3388420"/>
              <a:gd name="connsiteY9" fmla="*/ 1782538 h 1782538"/>
              <a:gd name="connsiteX10" fmla="*/ 2420709 w 3388420"/>
              <a:gd name="connsiteY10" fmla="*/ 1782538 h 1782538"/>
              <a:gd name="connsiteX11" fmla="*/ 1805979 w 3388420"/>
              <a:gd name="connsiteY11" fmla="*/ 1782538 h 1782538"/>
              <a:gd name="connsiteX12" fmla="*/ 1079480 w 3388420"/>
              <a:gd name="connsiteY12" fmla="*/ 1782538 h 1782538"/>
              <a:gd name="connsiteX13" fmla="*/ 297096 w 3388420"/>
              <a:gd name="connsiteY13" fmla="*/ 1782538 h 1782538"/>
              <a:gd name="connsiteX14" fmla="*/ 0 w 3388420"/>
              <a:gd name="connsiteY14" fmla="*/ 1485442 h 1782538"/>
              <a:gd name="connsiteX15" fmla="*/ 0 w 3388420"/>
              <a:gd name="connsiteY15" fmla="*/ 926919 h 1782538"/>
              <a:gd name="connsiteX16" fmla="*/ 0 w 3388420"/>
              <a:gd name="connsiteY16" fmla="*/ 297096 h 1782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88420" h="1782538" extrusionOk="0">
                <a:moveTo>
                  <a:pt x="0" y="297096"/>
                </a:moveTo>
                <a:cubicBezTo>
                  <a:pt x="28715" y="133850"/>
                  <a:pt x="106463" y="8417"/>
                  <a:pt x="297096" y="0"/>
                </a:cubicBezTo>
                <a:cubicBezTo>
                  <a:pt x="615229" y="-21055"/>
                  <a:pt x="766499" y="101"/>
                  <a:pt x="1023595" y="0"/>
                </a:cubicBezTo>
                <a:cubicBezTo>
                  <a:pt x="1280691" y="-101"/>
                  <a:pt x="1542941" y="15369"/>
                  <a:pt x="1694210" y="0"/>
                </a:cubicBezTo>
                <a:cubicBezTo>
                  <a:pt x="1845480" y="-15369"/>
                  <a:pt x="2167937" y="32234"/>
                  <a:pt x="2420709" y="0"/>
                </a:cubicBezTo>
                <a:cubicBezTo>
                  <a:pt x="2673481" y="-32234"/>
                  <a:pt x="2954297" y="-3133"/>
                  <a:pt x="3091324" y="0"/>
                </a:cubicBezTo>
                <a:cubicBezTo>
                  <a:pt x="3220070" y="-144"/>
                  <a:pt x="3385097" y="166637"/>
                  <a:pt x="3388420" y="297096"/>
                </a:cubicBezTo>
                <a:cubicBezTo>
                  <a:pt x="3389950" y="456246"/>
                  <a:pt x="3376794" y="612276"/>
                  <a:pt x="3388420" y="855619"/>
                </a:cubicBezTo>
                <a:cubicBezTo>
                  <a:pt x="3400046" y="1098962"/>
                  <a:pt x="3413220" y="1299862"/>
                  <a:pt x="3388420" y="1485442"/>
                </a:cubicBezTo>
                <a:cubicBezTo>
                  <a:pt x="3391955" y="1636943"/>
                  <a:pt x="3254855" y="1773304"/>
                  <a:pt x="3091324" y="1782538"/>
                </a:cubicBezTo>
                <a:cubicBezTo>
                  <a:pt x="2810575" y="1805405"/>
                  <a:pt x="2690804" y="1787232"/>
                  <a:pt x="2420709" y="1782538"/>
                </a:cubicBezTo>
                <a:cubicBezTo>
                  <a:pt x="2150614" y="1777844"/>
                  <a:pt x="1978578" y="1811014"/>
                  <a:pt x="1805979" y="1782538"/>
                </a:cubicBezTo>
                <a:cubicBezTo>
                  <a:pt x="1633380" y="1754063"/>
                  <a:pt x="1268785" y="1807339"/>
                  <a:pt x="1079480" y="1782538"/>
                </a:cubicBezTo>
                <a:cubicBezTo>
                  <a:pt x="890175" y="1757737"/>
                  <a:pt x="528186" y="1755924"/>
                  <a:pt x="297096" y="1782538"/>
                </a:cubicBezTo>
                <a:cubicBezTo>
                  <a:pt x="116289" y="1795503"/>
                  <a:pt x="9090" y="1649510"/>
                  <a:pt x="0" y="1485442"/>
                </a:cubicBezTo>
                <a:cubicBezTo>
                  <a:pt x="-8753" y="1350250"/>
                  <a:pt x="569" y="1109050"/>
                  <a:pt x="0" y="926919"/>
                </a:cubicBezTo>
                <a:cubicBezTo>
                  <a:pt x="-569" y="744788"/>
                  <a:pt x="-8012" y="439681"/>
                  <a:pt x="0" y="297096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019377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C219E-B02F-A2C4-3888-C9BEC6692E0B}"/>
              </a:ext>
            </a:extLst>
          </p:cNvPr>
          <p:cNvSpPr txBox="1"/>
          <p:nvPr/>
        </p:nvSpPr>
        <p:spPr>
          <a:xfrm>
            <a:off x="3813073" y="2272449"/>
            <a:ext cx="14623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字节输入流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B3E4E5-A595-AE12-8AA8-CDE47AEDA5B7}"/>
              </a:ext>
            </a:extLst>
          </p:cNvPr>
          <p:cNvSpPr txBox="1"/>
          <p:nvPr/>
        </p:nvSpPr>
        <p:spPr>
          <a:xfrm>
            <a:off x="3813073" y="3179396"/>
            <a:ext cx="14623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字节输出流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DDEF7D-4673-BB93-9F8B-09AF7C4C9E1C}"/>
              </a:ext>
            </a:extLst>
          </p:cNvPr>
          <p:cNvSpPr txBox="1"/>
          <p:nvPr/>
        </p:nvSpPr>
        <p:spPr>
          <a:xfrm>
            <a:off x="2526105" y="2742024"/>
            <a:ext cx="9580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抽象类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90B8326-A094-9890-9F12-8B3808B881C6}"/>
              </a:ext>
            </a:extLst>
          </p:cNvPr>
          <p:cNvSpPr/>
          <p:nvPr/>
        </p:nvSpPr>
        <p:spPr>
          <a:xfrm>
            <a:off x="5527572" y="2069824"/>
            <a:ext cx="2356795" cy="1595231"/>
          </a:xfrm>
          <a:custGeom>
            <a:avLst/>
            <a:gdLst>
              <a:gd name="connsiteX0" fmla="*/ 0 w 2356795"/>
              <a:gd name="connsiteY0" fmla="*/ 265877 h 1595231"/>
              <a:gd name="connsiteX1" fmla="*/ 265877 w 2356795"/>
              <a:gd name="connsiteY1" fmla="*/ 0 h 1595231"/>
              <a:gd name="connsiteX2" fmla="*/ 892474 w 2356795"/>
              <a:gd name="connsiteY2" fmla="*/ 0 h 1595231"/>
              <a:gd name="connsiteX3" fmla="*/ 1482571 w 2356795"/>
              <a:gd name="connsiteY3" fmla="*/ 0 h 1595231"/>
              <a:gd name="connsiteX4" fmla="*/ 2090918 w 2356795"/>
              <a:gd name="connsiteY4" fmla="*/ 0 h 1595231"/>
              <a:gd name="connsiteX5" fmla="*/ 2356795 w 2356795"/>
              <a:gd name="connsiteY5" fmla="*/ 265877 h 1595231"/>
              <a:gd name="connsiteX6" fmla="*/ 2356795 w 2356795"/>
              <a:gd name="connsiteY6" fmla="*/ 808250 h 1595231"/>
              <a:gd name="connsiteX7" fmla="*/ 2356795 w 2356795"/>
              <a:gd name="connsiteY7" fmla="*/ 1329354 h 1595231"/>
              <a:gd name="connsiteX8" fmla="*/ 2090918 w 2356795"/>
              <a:gd name="connsiteY8" fmla="*/ 1595231 h 1595231"/>
              <a:gd name="connsiteX9" fmla="*/ 1464321 w 2356795"/>
              <a:gd name="connsiteY9" fmla="*/ 1595231 h 1595231"/>
              <a:gd name="connsiteX10" fmla="*/ 874224 w 2356795"/>
              <a:gd name="connsiteY10" fmla="*/ 1595231 h 1595231"/>
              <a:gd name="connsiteX11" fmla="*/ 265877 w 2356795"/>
              <a:gd name="connsiteY11" fmla="*/ 1595231 h 1595231"/>
              <a:gd name="connsiteX12" fmla="*/ 0 w 2356795"/>
              <a:gd name="connsiteY12" fmla="*/ 1329354 h 1595231"/>
              <a:gd name="connsiteX13" fmla="*/ 0 w 2356795"/>
              <a:gd name="connsiteY13" fmla="*/ 808250 h 1595231"/>
              <a:gd name="connsiteX14" fmla="*/ 0 w 2356795"/>
              <a:gd name="connsiteY14" fmla="*/ 265877 h 159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56795" h="1595231" extrusionOk="0">
                <a:moveTo>
                  <a:pt x="0" y="265877"/>
                </a:moveTo>
                <a:cubicBezTo>
                  <a:pt x="24373" y="119747"/>
                  <a:pt x="115555" y="1104"/>
                  <a:pt x="265877" y="0"/>
                </a:cubicBezTo>
                <a:cubicBezTo>
                  <a:pt x="396204" y="3449"/>
                  <a:pt x="634792" y="-14041"/>
                  <a:pt x="892474" y="0"/>
                </a:cubicBezTo>
                <a:cubicBezTo>
                  <a:pt x="1150156" y="14041"/>
                  <a:pt x="1336590" y="3067"/>
                  <a:pt x="1482571" y="0"/>
                </a:cubicBezTo>
                <a:cubicBezTo>
                  <a:pt x="1628552" y="-3067"/>
                  <a:pt x="1815084" y="19222"/>
                  <a:pt x="2090918" y="0"/>
                </a:cubicBezTo>
                <a:cubicBezTo>
                  <a:pt x="2255446" y="-1115"/>
                  <a:pt x="2371554" y="92480"/>
                  <a:pt x="2356795" y="265877"/>
                </a:cubicBezTo>
                <a:cubicBezTo>
                  <a:pt x="2353918" y="529888"/>
                  <a:pt x="2334557" y="628080"/>
                  <a:pt x="2356795" y="808250"/>
                </a:cubicBezTo>
                <a:cubicBezTo>
                  <a:pt x="2379033" y="988420"/>
                  <a:pt x="2362116" y="1203351"/>
                  <a:pt x="2356795" y="1329354"/>
                </a:cubicBezTo>
                <a:cubicBezTo>
                  <a:pt x="2389700" y="1465420"/>
                  <a:pt x="2228962" y="1619869"/>
                  <a:pt x="2090918" y="1595231"/>
                </a:cubicBezTo>
                <a:cubicBezTo>
                  <a:pt x="1854780" y="1589586"/>
                  <a:pt x="1718052" y="1576262"/>
                  <a:pt x="1464321" y="1595231"/>
                </a:cubicBezTo>
                <a:cubicBezTo>
                  <a:pt x="1210590" y="1614200"/>
                  <a:pt x="1107372" y="1621255"/>
                  <a:pt x="874224" y="1595231"/>
                </a:cubicBezTo>
                <a:cubicBezTo>
                  <a:pt x="641076" y="1569207"/>
                  <a:pt x="492048" y="1568972"/>
                  <a:pt x="265877" y="1595231"/>
                </a:cubicBezTo>
                <a:cubicBezTo>
                  <a:pt x="99809" y="1578576"/>
                  <a:pt x="-14107" y="1501739"/>
                  <a:pt x="0" y="1329354"/>
                </a:cubicBezTo>
                <a:cubicBezTo>
                  <a:pt x="17072" y="1193616"/>
                  <a:pt x="-1198" y="924225"/>
                  <a:pt x="0" y="808250"/>
                </a:cubicBezTo>
                <a:cubicBezTo>
                  <a:pt x="1198" y="692275"/>
                  <a:pt x="-15355" y="534842"/>
                  <a:pt x="0" y="265877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019377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74FD025-0022-334D-DA15-EA52F823A997}"/>
              </a:ext>
            </a:extLst>
          </p:cNvPr>
          <p:cNvSpPr/>
          <p:nvPr/>
        </p:nvSpPr>
        <p:spPr>
          <a:xfrm>
            <a:off x="5696538" y="2247667"/>
            <a:ext cx="2043812" cy="3315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杨任东竹石体-Bold" panose="02000000000000000000" pitchFamily="2" charset="-122"/>
                <a:cs typeface="+mn-cs"/>
              </a:rPr>
              <a:t>FileInputStream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杨任东竹石体-Bold" panose="02000000000000000000" pitchFamily="2" charset="-122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0F8E55C-F88C-A7FE-AF43-12F76846906A}"/>
              </a:ext>
            </a:extLst>
          </p:cNvPr>
          <p:cNvSpPr/>
          <p:nvPr/>
        </p:nvSpPr>
        <p:spPr>
          <a:xfrm>
            <a:off x="5696537" y="3154548"/>
            <a:ext cx="2043813" cy="3315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杨任东竹石体-Bold" panose="02000000000000000000" pitchFamily="2" charset="-122"/>
                <a:cs typeface="+mn-cs"/>
              </a:rPr>
              <a:t>FileOutputStream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杨任东竹石体-Bold" panose="02000000000000000000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66C80C-C645-68EE-C001-0D863AF039E2}"/>
              </a:ext>
            </a:extLst>
          </p:cNvPr>
          <p:cNvSpPr txBox="1"/>
          <p:nvPr/>
        </p:nvSpPr>
        <p:spPr>
          <a:xfrm>
            <a:off x="6025898" y="2724737"/>
            <a:ext cx="17144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抽象类的子类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1B10D4-EB55-B7EA-146E-7E366FDC10FF}"/>
              </a:ext>
            </a:extLst>
          </p:cNvPr>
          <p:cNvSpPr/>
          <p:nvPr/>
        </p:nvSpPr>
        <p:spPr>
          <a:xfrm>
            <a:off x="1967948" y="4073741"/>
            <a:ext cx="3446658" cy="1653684"/>
          </a:xfrm>
          <a:custGeom>
            <a:avLst/>
            <a:gdLst>
              <a:gd name="connsiteX0" fmla="*/ 0 w 3446658"/>
              <a:gd name="connsiteY0" fmla="*/ 275620 h 1653684"/>
              <a:gd name="connsiteX1" fmla="*/ 275620 w 3446658"/>
              <a:gd name="connsiteY1" fmla="*/ 0 h 1653684"/>
              <a:gd name="connsiteX2" fmla="*/ 883658 w 3446658"/>
              <a:gd name="connsiteY2" fmla="*/ 0 h 1653684"/>
              <a:gd name="connsiteX3" fmla="*/ 1433787 w 3446658"/>
              <a:gd name="connsiteY3" fmla="*/ 0 h 1653684"/>
              <a:gd name="connsiteX4" fmla="*/ 2041825 w 3446658"/>
              <a:gd name="connsiteY4" fmla="*/ 0 h 1653684"/>
              <a:gd name="connsiteX5" fmla="*/ 2591954 w 3446658"/>
              <a:gd name="connsiteY5" fmla="*/ 0 h 1653684"/>
              <a:gd name="connsiteX6" fmla="*/ 3171038 w 3446658"/>
              <a:gd name="connsiteY6" fmla="*/ 0 h 1653684"/>
              <a:gd name="connsiteX7" fmla="*/ 3446658 w 3446658"/>
              <a:gd name="connsiteY7" fmla="*/ 275620 h 1653684"/>
              <a:gd name="connsiteX8" fmla="*/ 3446658 w 3446658"/>
              <a:gd name="connsiteY8" fmla="*/ 837866 h 1653684"/>
              <a:gd name="connsiteX9" fmla="*/ 3446658 w 3446658"/>
              <a:gd name="connsiteY9" fmla="*/ 1378064 h 1653684"/>
              <a:gd name="connsiteX10" fmla="*/ 3171038 w 3446658"/>
              <a:gd name="connsiteY10" fmla="*/ 1653684 h 1653684"/>
              <a:gd name="connsiteX11" fmla="*/ 2620909 w 3446658"/>
              <a:gd name="connsiteY11" fmla="*/ 1653684 h 1653684"/>
              <a:gd name="connsiteX12" fmla="*/ 2012871 w 3446658"/>
              <a:gd name="connsiteY12" fmla="*/ 1653684 h 1653684"/>
              <a:gd name="connsiteX13" fmla="*/ 1433787 w 3446658"/>
              <a:gd name="connsiteY13" fmla="*/ 1653684 h 1653684"/>
              <a:gd name="connsiteX14" fmla="*/ 796795 w 3446658"/>
              <a:gd name="connsiteY14" fmla="*/ 1653684 h 1653684"/>
              <a:gd name="connsiteX15" fmla="*/ 275620 w 3446658"/>
              <a:gd name="connsiteY15" fmla="*/ 1653684 h 1653684"/>
              <a:gd name="connsiteX16" fmla="*/ 0 w 3446658"/>
              <a:gd name="connsiteY16" fmla="*/ 1378064 h 1653684"/>
              <a:gd name="connsiteX17" fmla="*/ 0 w 3446658"/>
              <a:gd name="connsiteY17" fmla="*/ 859915 h 1653684"/>
              <a:gd name="connsiteX18" fmla="*/ 0 w 3446658"/>
              <a:gd name="connsiteY18" fmla="*/ 275620 h 1653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46658" h="1653684" extrusionOk="0">
                <a:moveTo>
                  <a:pt x="0" y="275620"/>
                </a:moveTo>
                <a:cubicBezTo>
                  <a:pt x="21096" y="124014"/>
                  <a:pt x="107950" y="4898"/>
                  <a:pt x="275620" y="0"/>
                </a:cubicBezTo>
                <a:cubicBezTo>
                  <a:pt x="533793" y="-5154"/>
                  <a:pt x="675695" y="1777"/>
                  <a:pt x="883658" y="0"/>
                </a:cubicBezTo>
                <a:cubicBezTo>
                  <a:pt x="1091621" y="-1777"/>
                  <a:pt x="1211868" y="23061"/>
                  <a:pt x="1433787" y="0"/>
                </a:cubicBezTo>
                <a:cubicBezTo>
                  <a:pt x="1655706" y="-23061"/>
                  <a:pt x="1776676" y="6621"/>
                  <a:pt x="2041825" y="0"/>
                </a:cubicBezTo>
                <a:cubicBezTo>
                  <a:pt x="2306974" y="-6621"/>
                  <a:pt x="2402176" y="-8844"/>
                  <a:pt x="2591954" y="0"/>
                </a:cubicBezTo>
                <a:cubicBezTo>
                  <a:pt x="2781732" y="8844"/>
                  <a:pt x="3015797" y="10408"/>
                  <a:pt x="3171038" y="0"/>
                </a:cubicBezTo>
                <a:cubicBezTo>
                  <a:pt x="3338410" y="-26624"/>
                  <a:pt x="3415264" y="124477"/>
                  <a:pt x="3446658" y="275620"/>
                </a:cubicBezTo>
                <a:cubicBezTo>
                  <a:pt x="3421646" y="497008"/>
                  <a:pt x="3469722" y="572834"/>
                  <a:pt x="3446658" y="837866"/>
                </a:cubicBezTo>
                <a:cubicBezTo>
                  <a:pt x="3423594" y="1102898"/>
                  <a:pt x="3446363" y="1207848"/>
                  <a:pt x="3446658" y="1378064"/>
                </a:cubicBezTo>
                <a:cubicBezTo>
                  <a:pt x="3457096" y="1537894"/>
                  <a:pt x="3305993" y="1675458"/>
                  <a:pt x="3171038" y="1653684"/>
                </a:cubicBezTo>
                <a:cubicBezTo>
                  <a:pt x="2930450" y="1648343"/>
                  <a:pt x="2787580" y="1639726"/>
                  <a:pt x="2620909" y="1653684"/>
                </a:cubicBezTo>
                <a:cubicBezTo>
                  <a:pt x="2454238" y="1667642"/>
                  <a:pt x="2247193" y="1629287"/>
                  <a:pt x="2012871" y="1653684"/>
                </a:cubicBezTo>
                <a:cubicBezTo>
                  <a:pt x="1778549" y="1678081"/>
                  <a:pt x="1632398" y="1663214"/>
                  <a:pt x="1433787" y="1653684"/>
                </a:cubicBezTo>
                <a:cubicBezTo>
                  <a:pt x="1235176" y="1644154"/>
                  <a:pt x="997989" y="1649349"/>
                  <a:pt x="796795" y="1653684"/>
                </a:cubicBezTo>
                <a:cubicBezTo>
                  <a:pt x="595601" y="1658019"/>
                  <a:pt x="439887" y="1642904"/>
                  <a:pt x="275620" y="1653684"/>
                </a:cubicBezTo>
                <a:cubicBezTo>
                  <a:pt x="103340" y="1633435"/>
                  <a:pt x="8655" y="1556454"/>
                  <a:pt x="0" y="1378064"/>
                </a:cubicBezTo>
                <a:cubicBezTo>
                  <a:pt x="6163" y="1149163"/>
                  <a:pt x="15483" y="1098011"/>
                  <a:pt x="0" y="859915"/>
                </a:cubicBezTo>
                <a:cubicBezTo>
                  <a:pt x="-15483" y="621819"/>
                  <a:pt x="22008" y="551377"/>
                  <a:pt x="0" y="27562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019377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9862313-FDD7-24E2-2ACB-6379F0525457}"/>
              </a:ext>
            </a:extLst>
          </p:cNvPr>
          <p:cNvSpPr/>
          <p:nvPr/>
        </p:nvSpPr>
        <p:spPr>
          <a:xfrm>
            <a:off x="2200807" y="4324182"/>
            <a:ext cx="1390340" cy="42423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杨任东竹石体-Bold" panose="02000000000000000000" pitchFamily="2" charset="-122"/>
                <a:cs typeface="+mn-cs"/>
              </a:rPr>
              <a:t>Reader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杨任东竹石体-Bold" panose="02000000000000000000" pitchFamily="2" charset="-122"/>
              <a:cs typeface="+mn-cs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A6EE7E6-D9B1-1284-D630-17897FD8FD0D}"/>
              </a:ext>
            </a:extLst>
          </p:cNvPr>
          <p:cNvSpPr/>
          <p:nvPr/>
        </p:nvSpPr>
        <p:spPr>
          <a:xfrm>
            <a:off x="2200807" y="5090230"/>
            <a:ext cx="1390340" cy="42423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杨任东竹石体-Bold" panose="02000000000000000000" pitchFamily="2" charset="-122"/>
                <a:cs typeface="+mn-cs"/>
              </a:rPr>
              <a:t>Writer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杨任东竹石体-Bold" panose="02000000000000000000" pitchFamily="2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EDC3C58-E237-EF2A-B8AB-7015604707BA}"/>
              </a:ext>
            </a:extLst>
          </p:cNvPr>
          <p:cNvSpPr txBox="1"/>
          <p:nvPr/>
        </p:nvSpPr>
        <p:spPr>
          <a:xfrm>
            <a:off x="3894040" y="4330510"/>
            <a:ext cx="14623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字符输入流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D5B3CBB-9177-2013-B6E0-04B7A070C337}"/>
              </a:ext>
            </a:extLst>
          </p:cNvPr>
          <p:cNvSpPr txBox="1"/>
          <p:nvPr/>
        </p:nvSpPr>
        <p:spPr>
          <a:xfrm>
            <a:off x="3894040" y="5237456"/>
            <a:ext cx="14623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字符输出流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A3797C2-DB8F-5BE0-5EE6-BD2E6AA23057}"/>
              </a:ext>
            </a:extLst>
          </p:cNvPr>
          <p:cNvSpPr txBox="1"/>
          <p:nvPr/>
        </p:nvSpPr>
        <p:spPr>
          <a:xfrm>
            <a:off x="2510134" y="4780825"/>
            <a:ext cx="9580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抽象类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FFF555F-6D6D-E582-641C-94837AE65BF2}"/>
              </a:ext>
            </a:extLst>
          </p:cNvPr>
          <p:cNvSpPr/>
          <p:nvPr/>
        </p:nvSpPr>
        <p:spPr>
          <a:xfrm>
            <a:off x="5587208" y="4132194"/>
            <a:ext cx="2245638" cy="1595231"/>
          </a:xfrm>
          <a:custGeom>
            <a:avLst/>
            <a:gdLst>
              <a:gd name="connsiteX0" fmla="*/ 0 w 2245638"/>
              <a:gd name="connsiteY0" fmla="*/ 265877 h 1595231"/>
              <a:gd name="connsiteX1" fmla="*/ 265877 w 2245638"/>
              <a:gd name="connsiteY1" fmla="*/ 0 h 1595231"/>
              <a:gd name="connsiteX2" fmla="*/ 854311 w 2245638"/>
              <a:gd name="connsiteY2" fmla="*/ 0 h 1595231"/>
              <a:gd name="connsiteX3" fmla="*/ 1408466 w 2245638"/>
              <a:gd name="connsiteY3" fmla="*/ 0 h 1595231"/>
              <a:gd name="connsiteX4" fmla="*/ 1979761 w 2245638"/>
              <a:gd name="connsiteY4" fmla="*/ 0 h 1595231"/>
              <a:gd name="connsiteX5" fmla="*/ 2245638 w 2245638"/>
              <a:gd name="connsiteY5" fmla="*/ 265877 h 1595231"/>
              <a:gd name="connsiteX6" fmla="*/ 2245638 w 2245638"/>
              <a:gd name="connsiteY6" fmla="*/ 808250 h 1595231"/>
              <a:gd name="connsiteX7" fmla="*/ 2245638 w 2245638"/>
              <a:gd name="connsiteY7" fmla="*/ 1329354 h 1595231"/>
              <a:gd name="connsiteX8" fmla="*/ 1979761 w 2245638"/>
              <a:gd name="connsiteY8" fmla="*/ 1595231 h 1595231"/>
              <a:gd name="connsiteX9" fmla="*/ 1391327 w 2245638"/>
              <a:gd name="connsiteY9" fmla="*/ 1595231 h 1595231"/>
              <a:gd name="connsiteX10" fmla="*/ 837172 w 2245638"/>
              <a:gd name="connsiteY10" fmla="*/ 1595231 h 1595231"/>
              <a:gd name="connsiteX11" fmla="*/ 265877 w 2245638"/>
              <a:gd name="connsiteY11" fmla="*/ 1595231 h 1595231"/>
              <a:gd name="connsiteX12" fmla="*/ 0 w 2245638"/>
              <a:gd name="connsiteY12" fmla="*/ 1329354 h 1595231"/>
              <a:gd name="connsiteX13" fmla="*/ 0 w 2245638"/>
              <a:gd name="connsiteY13" fmla="*/ 808250 h 1595231"/>
              <a:gd name="connsiteX14" fmla="*/ 0 w 2245638"/>
              <a:gd name="connsiteY14" fmla="*/ 265877 h 159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45638" h="1595231" extrusionOk="0">
                <a:moveTo>
                  <a:pt x="0" y="265877"/>
                </a:moveTo>
                <a:cubicBezTo>
                  <a:pt x="24373" y="119747"/>
                  <a:pt x="115555" y="1104"/>
                  <a:pt x="265877" y="0"/>
                </a:cubicBezTo>
                <a:cubicBezTo>
                  <a:pt x="388109" y="-14183"/>
                  <a:pt x="574215" y="-1751"/>
                  <a:pt x="854311" y="0"/>
                </a:cubicBezTo>
                <a:cubicBezTo>
                  <a:pt x="1134407" y="1751"/>
                  <a:pt x="1231735" y="-2695"/>
                  <a:pt x="1408466" y="0"/>
                </a:cubicBezTo>
                <a:cubicBezTo>
                  <a:pt x="1585197" y="2695"/>
                  <a:pt x="1845356" y="13502"/>
                  <a:pt x="1979761" y="0"/>
                </a:cubicBezTo>
                <a:cubicBezTo>
                  <a:pt x="2144289" y="-1115"/>
                  <a:pt x="2260397" y="92480"/>
                  <a:pt x="2245638" y="265877"/>
                </a:cubicBezTo>
                <a:cubicBezTo>
                  <a:pt x="2242761" y="529888"/>
                  <a:pt x="2223400" y="628080"/>
                  <a:pt x="2245638" y="808250"/>
                </a:cubicBezTo>
                <a:cubicBezTo>
                  <a:pt x="2267876" y="988420"/>
                  <a:pt x="2250959" y="1203351"/>
                  <a:pt x="2245638" y="1329354"/>
                </a:cubicBezTo>
                <a:cubicBezTo>
                  <a:pt x="2278543" y="1465420"/>
                  <a:pt x="2117805" y="1619869"/>
                  <a:pt x="1979761" y="1595231"/>
                </a:cubicBezTo>
                <a:cubicBezTo>
                  <a:pt x="1741715" y="1616565"/>
                  <a:pt x="1524638" y="1573583"/>
                  <a:pt x="1391327" y="1595231"/>
                </a:cubicBezTo>
                <a:cubicBezTo>
                  <a:pt x="1258016" y="1616879"/>
                  <a:pt x="1009868" y="1604375"/>
                  <a:pt x="837172" y="1595231"/>
                </a:cubicBezTo>
                <a:cubicBezTo>
                  <a:pt x="664476" y="1586087"/>
                  <a:pt x="547926" y="1593244"/>
                  <a:pt x="265877" y="1595231"/>
                </a:cubicBezTo>
                <a:cubicBezTo>
                  <a:pt x="99809" y="1578576"/>
                  <a:pt x="-14107" y="1501739"/>
                  <a:pt x="0" y="1329354"/>
                </a:cubicBezTo>
                <a:cubicBezTo>
                  <a:pt x="17072" y="1193616"/>
                  <a:pt x="-1198" y="924225"/>
                  <a:pt x="0" y="808250"/>
                </a:cubicBezTo>
                <a:cubicBezTo>
                  <a:pt x="1198" y="692275"/>
                  <a:pt x="-15355" y="534842"/>
                  <a:pt x="0" y="265877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019377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D075BB3-A653-CF02-0689-85830D7BC5F7}"/>
              </a:ext>
            </a:extLst>
          </p:cNvPr>
          <p:cNvSpPr/>
          <p:nvPr/>
        </p:nvSpPr>
        <p:spPr>
          <a:xfrm>
            <a:off x="5756173" y="4310037"/>
            <a:ext cx="1860250" cy="33154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杨任东竹石体-Bold" panose="02000000000000000000" pitchFamily="2" charset="-122"/>
                <a:cs typeface="+mn-cs"/>
              </a:rPr>
              <a:t>FileReader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杨任东竹石体-Bold" panose="02000000000000000000" pitchFamily="2" charset="-122"/>
              <a:cs typeface="+mn-cs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F718672-9F49-4704-7623-73F2CC6A10C1}"/>
              </a:ext>
            </a:extLst>
          </p:cNvPr>
          <p:cNvSpPr/>
          <p:nvPr/>
        </p:nvSpPr>
        <p:spPr>
          <a:xfrm>
            <a:off x="5756173" y="5216917"/>
            <a:ext cx="1860250" cy="33154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杨任东竹石体-Bold" panose="02000000000000000000" pitchFamily="2" charset="-122"/>
                <a:cs typeface="+mn-cs"/>
              </a:rPr>
              <a:t>FileWriter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杨任东竹石体-Bold" panose="02000000000000000000" pitchFamily="2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9EFFDBD-DAB9-F7EA-6F67-952EE02420C7}"/>
              </a:ext>
            </a:extLst>
          </p:cNvPr>
          <p:cNvSpPr txBox="1"/>
          <p:nvPr/>
        </p:nvSpPr>
        <p:spPr>
          <a:xfrm>
            <a:off x="6085533" y="4787107"/>
            <a:ext cx="17144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抽象类的子类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22AF77A-3FEC-0EE8-D6AC-11A34E5DF302}"/>
              </a:ext>
            </a:extLst>
          </p:cNvPr>
          <p:cNvSpPr txBox="1"/>
          <p:nvPr/>
        </p:nvSpPr>
        <p:spPr>
          <a:xfrm>
            <a:off x="705092" y="2279118"/>
            <a:ext cx="9580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万能流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0CBC81D-25D7-74F3-5A0E-D77948C693C2}"/>
              </a:ext>
            </a:extLst>
          </p:cNvPr>
          <p:cNvSpPr txBox="1"/>
          <p:nvPr/>
        </p:nvSpPr>
        <p:spPr>
          <a:xfrm>
            <a:off x="447382" y="4241626"/>
            <a:ext cx="14623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纯文本文件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7085BC9-4E9A-4C43-BE04-7561B68A4A69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标题 1">
            <a:extLst>
              <a:ext uri="{FF2B5EF4-FFF2-40B4-BE49-F238E27FC236}">
                <a16:creationId xmlns:a16="http://schemas.microsoft.com/office/drawing/2014/main" id="{FA75BD54-B985-4AC9-B22F-CE73AD273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7B8B1D-E70F-6788-832F-F07605E38FE8}"/>
              </a:ext>
            </a:extLst>
          </p:cNvPr>
          <p:cNvSpPr txBox="1"/>
          <p:nvPr/>
        </p:nvSpPr>
        <p:spPr>
          <a:xfrm>
            <a:off x="658314" y="1385114"/>
            <a:ext cx="4561758" cy="56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字节缓冲流介绍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BufferedInputStream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F8ADC3EC-E617-7F3F-7870-426EADC66B9B}"/>
              </a:ext>
            </a:extLst>
          </p:cNvPr>
          <p:cNvSpPr txBox="1"/>
          <p:nvPr/>
        </p:nvSpPr>
        <p:spPr>
          <a:xfrm>
            <a:off x="658314" y="2233452"/>
            <a:ext cx="6184778" cy="4212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14313" marR="0" lvl="0" indent="-21431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字节缓冲流在源代码中内置了字节数组，可以提高读写效率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9B6551-536F-F0F7-1BDC-632F4B10B903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2773179"/>
          <a:ext cx="8075138" cy="1116015"/>
        </p:xfrm>
        <a:graphic>
          <a:graphicData uri="http://schemas.openxmlformats.org/drawingml/2006/table">
            <a:tbl>
              <a:tblPr/>
              <a:tblGrid>
                <a:gridCol w="4464496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3610642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3589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3608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BufferedInputStream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InputStream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 in)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对传入的字节输入流进行包装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362732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BufferedOutputStream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 out)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对传入的字节输出流进行包装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BA64598-54DB-A08E-7AD4-947FCCFF091E}"/>
              </a:ext>
            </a:extLst>
          </p:cNvPr>
          <p:cNvSpPr txBox="1"/>
          <p:nvPr/>
        </p:nvSpPr>
        <p:spPr>
          <a:xfrm>
            <a:off x="497716" y="4829844"/>
            <a:ext cx="6505973" cy="9460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注意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: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缓冲流不具备读写功能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,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它们只是对普通的流对象进行包装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杨任东竹石体-Bold" panose="02000000000000000000" pitchFamily="2" charset="-122"/>
              <a:ea typeface="杨任东竹石体-Bold" panose="02000000000000000000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	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真正和文件建立关联的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,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杨任东竹石体-Bold" panose="02000000000000000000" pitchFamily="2" charset="-122"/>
                <a:ea typeface="杨任东竹石体-Bold" panose="02000000000000000000" pitchFamily="2" charset="-122"/>
                <a:cs typeface="+mn-cs"/>
              </a:rPr>
              <a:t>还是普通的流对象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19CF2A-0F44-460C-0D9E-7E6772BF1BEB}"/>
              </a:ext>
            </a:extLst>
          </p:cNvPr>
          <p:cNvSpPr txBox="1"/>
          <p:nvPr/>
        </p:nvSpPr>
        <p:spPr>
          <a:xfrm>
            <a:off x="3156680" y="2614815"/>
            <a:ext cx="2669320" cy="27699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new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FileInputStream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(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文件路径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);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JetBrains Mono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A55753-6073-2C55-D6C0-4E4E37CBA2B7}"/>
              </a:ext>
            </a:extLst>
          </p:cNvPr>
          <p:cNvSpPr txBox="1"/>
          <p:nvPr/>
        </p:nvSpPr>
        <p:spPr>
          <a:xfrm>
            <a:off x="3138788" y="3832464"/>
            <a:ext cx="2754280" cy="27699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new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FileOutputStream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(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文件路径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  <a:cs typeface="+mn-cs"/>
              </a:rPr>
              <a:t>);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JetBrains Mono"/>
              <a:cs typeface="+mn-cs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466213-CE51-4C18-8BAC-68585AA35D7C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>
            <a:extLst>
              <a:ext uri="{FF2B5EF4-FFF2-40B4-BE49-F238E27FC236}">
                <a16:creationId xmlns:a16="http://schemas.microsoft.com/office/drawing/2014/main" id="{D06E4A60-32BA-4AC3-87F3-A382E8508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3512091748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折角 3">
            <a:extLst>
              <a:ext uri="{FF2B5EF4-FFF2-40B4-BE49-F238E27FC236}">
                <a16:creationId xmlns:a16="http://schemas.microsoft.com/office/drawing/2014/main" id="{921E5A0B-F875-4D04-6B72-D65D987DE309}"/>
              </a:ext>
            </a:extLst>
          </p:cNvPr>
          <p:cNvSpPr/>
          <p:nvPr/>
        </p:nvSpPr>
        <p:spPr>
          <a:xfrm>
            <a:off x="5891266" y="2618053"/>
            <a:ext cx="1586038" cy="463808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788" dirty="0">
                <a:latin typeface="Consolas" panose="020B0609020204030204" pitchFamily="49" charset="0"/>
              </a:rPr>
              <a:t>D:\A.txt</a:t>
            </a:r>
          </a:p>
          <a:p>
            <a:endParaRPr lang="en-US" altLang="zh-CN" sz="788" dirty="0">
              <a:latin typeface="Consolas" panose="020B0609020204030204" pitchFamily="49" charset="0"/>
            </a:endParaRPr>
          </a:p>
          <a:p>
            <a:endParaRPr lang="zh-CN" altLang="en-US" sz="788" dirty="0">
              <a:latin typeface="Consolas" panose="020B0609020204030204" pitchFamily="49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E75459D-30BB-F653-2DAC-C35A7964F175}"/>
              </a:ext>
            </a:extLst>
          </p:cNvPr>
          <p:cNvSpPr/>
          <p:nvPr/>
        </p:nvSpPr>
        <p:spPr>
          <a:xfrm>
            <a:off x="2077278" y="2676810"/>
            <a:ext cx="3813988" cy="346293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09791-2B32-07AA-367C-48869AE9FF3A}"/>
              </a:ext>
            </a:extLst>
          </p:cNvPr>
          <p:cNvSpPr txBox="1"/>
          <p:nvPr/>
        </p:nvSpPr>
        <p:spPr>
          <a:xfrm>
            <a:off x="5935596" y="2723189"/>
            <a:ext cx="4220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JetBrains Mono"/>
              </a:rPr>
              <a:t>a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E7BF78-F73B-7415-FBF1-2CAD94AF333B}"/>
              </a:ext>
            </a:extLst>
          </p:cNvPr>
          <p:cNvGraphicFramePr>
            <a:graphicFrameLocks noGrp="1"/>
          </p:cNvGraphicFramePr>
          <p:nvPr/>
        </p:nvGraphicFramePr>
        <p:xfrm>
          <a:off x="323528" y="3511536"/>
          <a:ext cx="8640960" cy="1982447"/>
        </p:xfrm>
        <a:graphic>
          <a:graphicData uri="http://schemas.openxmlformats.org/drawingml/2006/table">
            <a:tbl>
              <a:tblPr/>
              <a:tblGrid>
                <a:gridCol w="4531843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109117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2808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3934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FileOutputStream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name)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文件路径以字符串形式给出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 err="1">
                          <a:latin typeface="Consolas" panose="020B0609020204030204" pitchFamily="49" charset="0"/>
                        </a:rPr>
                        <a:t>FileOutputStream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(String name,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 append)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</a:rPr>
                        <a:t>第二个参数是追加写入的开关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FileOutputStream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文件路径以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16911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 err="1">
                          <a:latin typeface="Consolas" panose="020B0609020204030204" pitchFamily="49" charset="0"/>
                        </a:rPr>
                        <a:t>FileOutputStream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(File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</a:rPr>
                        <a:t>file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 append)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</a:rPr>
                        <a:t>第二个参数是追加写入的开关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96799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A339B63-793A-491B-880D-515C18C17E4F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磁盘 10">
            <a:extLst>
              <a:ext uri="{FF2B5EF4-FFF2-40B4-BE49-F238E27FC236}">
                <a16:creationId xmlns:a16="http://schemas.microsoft.com/office/drawing/2014/main" id="{97EE7CBA-9558-4FE7-9B30-450496EB0567}"/>
              </a:ext>
            </a:extLst>
          </p:cNvPr>
          <p:cNvSpPr/>
          <p:nvPr/>
        </p:nvSpPr>
        <p:spPr>
          <a:xfrm>
            <a:off x="659892" y="2486533"/>
            <a:ext cx="1832843" cy="618411"/>
          </a:xfrm>
          <a:prstGeom prst="flowChartMagneticDisk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Java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程序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90DB199D-37A8-4310-8435-6DB6CC8CB775}"/>
              </a:ext>
            </a:extLst>
          </p:cNvPr>
          <p:cNvSpPr txBox="1"/>
          <p:nvPr/>
        </p:nvSpPr>
        <p:spPr>
          <a:xfrm>
            <a:off x="539006" y="1312834"/>
            <a:ext cx="3960986" cy="61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FileOutputStream</a:t>
            </a: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字节输出流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BDA9F9EC-0B2C-43C7-97E0-4E53C9F38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157243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折角 3">
            <a:extLst>
              <a:ext uri="{FF2B5EF4-FFF2-40B4-BE49-F238E27FC236}">
                <a16:creationId xmlns:a16="http://schemas.microsoft.com/office/drawing/2014/main" id="{921E5A0B-F875-4D04-6B72-D65D987DE309}"/>
              </a:ext>
            </a:extLst>
          </p:cNvPr>
          <p:cNvSpPr/>
          <p:nvPr/>
        </p:nvSpPr>
        <p:spPr>
          <a:xfrm>
            <a:off x="5891266" y="2618053"/>
            <a:ext cx="1586038" cy="463808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788" dirty="0">
                <a:latin typeface="Consolas" panose="020B0609020204030204" pitchFamily="49" charset="0"/>
              </a:rPr>
              <a:t>D:\A.txt</a:t>
            </a:r>
          </a:p>
          <a:p>
            <a:endParaRPr lang="en-US" altLang="zh-CN" sz="788" dirty="0">
              <a:latin typeface="Consolas" panose="020B0609020204030204" pitchFamily="49" charset="0"/>
            </a:endParaRPr>
          </a:p>
          <a:p>
            <a:endParaRPr lang="zh-CN" altLang="en-US" sz="788" dirty="0">
              <a:latin typeface="Consolas" panose="020B0609020204030204" pitchFamily="49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E75459D-30BB-F653-2DAC-C35A7964F175}"/>
              </a:ext>
            </a:extLst>
          </p:cNvPr>
          <p:cNvSpPr/>
          <p:nvPr/>
        </p:nvSpPr>
        <p:spPr>
          <a:xfrm>
            <a:off x="2077278" y="2676810"/>
            <a:ext cx="3813988" cy="346293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09791-2B32-07AA-367C-48869AE9FF3A}"/>
              </a:ext>
            </a:extLst>
          </p:cNvPr>
          <p:cNvSpPr txBox="1"/>
          <p:nvPr/>
        </p:nvSpPr>
        <p:spPr>
          <a:xfrm>
            <a:off x="5935596" y="2723189"/>
            <a:ext cx="4220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JetBrains Mono"/>
              </a:rPr>
              <a:t>a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E7BF78-F73B-7415-FBF1-2CAD94AF333B}"/>
              </a:ext>
            </a:extLst>
          </p:cNvPr>
          <p:cNvGraphicFramePr>
            <a:graphicFrameLocks noGrp="1"/>
          </p:cNvGraphicFramePr>
          <p:nvPr/>
        </p:nvGraphicFramePr>
        <p:xfrm>
          <a:off x="658314" y="3511536"/>
          <a:ext cx="8077338" cy="1982447"/>
        </p:xfrm>
        <a:graphic>
          <a:graphicData uri="http://schemas.openxmlformats.org/drawingml/2006/table">
            <a:tbl>
              <a:tblPr/>
              <a:tblGrid>
                <a:gridCol w="4236246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3841092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2808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3934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FileOutputStream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name)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文件路径以字符串形式给出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err="1">
                          <a:latin typeface="Consolas" panose="020B0609020204030204" pitchFamily="49" charset="0"/>
                        </a:rPr>
                        <a:t>FileOutputStream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</a:rPr>
                        <a:t>(String name, </a:t>
                      </a:r>
                      <a:r>
                        <a:rPr lang="en-US" altLang="zh-CN" sz="120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</a:rPr>
                        <a:t> append)</a:t>
                      </a:r>
                      <a:endParaRPr lang="zh-CN" altLang="en-US" sz="12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</a:rPr>
                        <a:t>第二个参数是追加写入的开关</a:t>
                      </a:r>
                      <a:endParaRPr lang="en-US" altLang="zh-CN" sz="12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FileOutputStream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  <a:endParaRPr lang="zh-CN" altLang="en-US" sz="12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Alibaba PuHuiTi R"/>
                        </a:rPr>
                        <a:t>文件路径以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2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16911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err="1">
                          <a:latin typeface="Consolas" panose="020B0609020204030204" pitchFamily="49" charset="0"/>
                        </a:rPr>
                        <a:t>FileOutputStream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</a:rPr>
                        <a:t>(File </a:t>
                      </a:r>
                      <a:r>
                        <a:rPr lang="en-US" altLang="zh-CN" sz="1200" dirty="0" err="1">
                          <a:latin typeface="Consolas" panose="020B0609020204030204" pitchFamily="49" charset="0"/>
                        </a:rPr>
                        <a:t>file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20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</a:rPr>
                        <a:t> append)</a:t>
                      </a:r>
                      <a:endParaRPr lang="zh-CN" altLang="en-US" sz="12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</a:rPr>
                        <a:t>第二个参数是追加写入的开关</a:t>
                      </a:r>
                      <a:endParaRPr lang="en-US" altLang="zh-CN" sz="12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9679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0C0C576-D6D7-75BF-8F78-BE659C876E08}"/>
              </a:ext>
            </a:extLst>
          </p:cNvPr>
          <p:cNvGraphicFramePr>
            <a:graphicFrameLocks noGrp="1"/>
          </p:cNvGraphicFramePr>
          <p:nvPr/>
        </p:nvGraphicFramePr>
        <p:xfrm>
          <a:off x="658314" y="4187906"/>
          <a:ext cx="8077338" cy="1565958"/>
        </p:xfrm>
        <a:graphic>
          <a:graphicData uri="http://schemas.openxmlformats.org/drawingml/2006/table">
            <a:tbl>
              <a:tblPr/>
              <a:tblGrid>
                <a:gridCol w="4236246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3841092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2808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3934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void write(int b)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写出单个字节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void write(byte[] b)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写出一个字节数组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702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void write(byte[] b, int off, int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len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写出字节数组的一部分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93561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AC02777-60F5-4F28-B815-9A39DC3D4B09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磁盘 10">
            <a:extLst>
              <a:ext uri="{FF2B5EF4-FFF2-40B4-BE49-F238E27FC236}">
                <a16:creationId xmlns:a16="http://schemas.microsoft.com/office/drawing/2014/main" id="{BF2A270E-792C-4A5F-8FB6-3B6A367908B5}"/>
              </a:ext>
            </a:extLst>
          </p:cNvPr>
          <p:cNvSpPr/>
          <p:nvPr/>
        </p:nvSpPr>
        <p:spPr>
          <a:xfrm>
            <a:off x="659892" y="2486533"/>
            <a:ext cx="1832843" cy="618411"/>
          </a:xfrm>
          <a:prstGeom prst="flowChartMagneticDisk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Java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程序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E2504CD8-F361-4DC5-88FE-259C4F3899A4}"/>
              </a:ext>
            </a:extLst>
          </p:cNvPr>
          <p:cNvSpPr txBox="1"/>
          <p:nvPr/>
        </p:nvSpPr>
        <p:spPr>
          <a:xfrm>
            <a:off x="539006" y="1312834"/>
            <a:ext cx="3960986" cy="61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FileOutputStream</a:t>
            </a: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字节输出流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92EA3D0-6867-4890-AA6F-354FDDCA8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28468311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折角 4">
            <a:extLst>
              <a:ext uri="{FF2B5EF4-FFF2-40B4-BE49-F238E27FC236}">
                <a16:creationId xmlns:a16="http://schemas.microsoft.com/office/drawing/2014/main" id="{2422EA2A-B23F-A4CD-305A-0DF4D728A197}"/>
              </a:ext>
            </a:extLst>
          </p:cNvPr>
          <p:cNvSpPr/>
          <p:nvPr/>
        </p:nvSpPr>
        <p:spPr>
          <a:xfrm>
            <a:off x="489522" y="2553266"/>
            <a:ext cx="2542086" cy="869705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abc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C2F6593-736E-EB5B-6437-274FBB9185E6}"/>
              </a:ext>
            </a:extLst>
          </p:cNvPr>
          <p:cNvSpPr/>
          <p:nvPr/>
        </p:nvSpPr>
        <p:spPr>
          <a:xfrm rot="10800000">
            <a:off x="3090857" y="2780112"/>
            <a:ext cx="3813988" cy="346293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75B4A3-26F0-5AA7-07CB-B66BB2496AB9}"/>
              </a:ext>
            </a:extLst>
          </p:cNvPr>
          <p:cNvSpPr txBox="1"/>
          <p:nvPr/>
        </p:nvSpPr>
        <p:spPr>
          <a:xfrm>
            <a:off x="489136" y="3183407"/>
            <a:ext cx="33214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97</a:t>
            </a:r>
            <a:endParaRPr lang="zh-CN" altLang="en-US" sz="105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605B2-9139-9610-A399-0CCF0354F747}"/>
              </a:ext>
            </a:extLst>
          </p:cNvPr>
          <p:cNvSpPr txBox="1"/>
          <p:nvPr/>
        </p:nvSpPr>
        <p:spPr>
          <a:xfrm>
            <a:off x="829224" y="3183407"/>
            <a:ext cx="33214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98</a:t>
            </a:r>
            <a:endParaRPr lang="zh-CN" altLang="en-US" sz="105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E0622F-D98A-5EBC-6D19-EFE41E55AA12}"/>
              </a:ext>
            </a:extLst>
          </p:cNvPr>
          <p:cNvSpPr txBox="1"/>
          <p:nvPr/>
        </p:nvSpPr>
        <p:spPr>
          <a:xfrm>
            <a:off x="1169310" y="3183407"/>
            <a:ext cx="33214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99</a:t>
            </a:r>
            <a:endParaRPr lang="zh-CN" altLang="en-US" sz="105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27487C4-72F0-4DF0-B55E-3E0F60CCF907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">
            <a:extLst>
              <a:ext uri="{FF2B5EF4-FFF2-40B4-BE49-F238E27FC236}">
                <a16:creationId xmlns:a16="http://schemas.microsoft.com/office/drawing/2014/main" id="{8EF7E907-604E-4B3D-B91E-2514298483BD}"/>
              </a:ext>
            </a:extLst>
          </p:cNvPr>
          <p:cNvSpPr txBox="1"/>
          <p:nvPr/>
        </p:nvSpPr>
        <p:spPr>
          <a:xfrm>
            <a:off x="539006" y="1312834"/>
            <a:ext cx="3960986" cy="61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</a:p>
        </p:txBody>
      </p:sp>
      <p:sp>
        <p:nvSpPr>
          <p:cNvPr id="15" name="流程图: 磁盘 14">
            <a:extLst>
              <a:ext uri="{FF2B5EF4-FFF2-40B4-BE49-F238E27FC236}">
                <a16:creationId xmlns:a16="http://schemas.microsoft.com/office/drawing/2014/main" id="{D9800353-B261-4B15-B178-2440B746775C}"/>
              </a:ext>
            </a:extLst>
          </p:cNvPr>
          <p:cNvSpPr/>
          <p:nvPr/>
        </p:nvSpPr>
        <p:spPr>
          <a:xfrm>
            <a:off x="6993968" y="2644053"/>
            <a:ext cx="1832843" cy="618411"/>
          </a:xfrm>
          <a:prstGeom prst="flowChartMagneticDisk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Java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程序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8BCFDC-DF2A-41BA-BA71-C8A1A882445C}"/>
              </a:ext>
            </a:extLst>
          </p:cNvPr>
          <p:cNvSpPr txBox="1"/>
          <p:nvPr/>
        </p:nvSpPr>
        <p:spPr>
          <a:xfrm>
            <a:off x="7736323" y="3281464"/>
            <a:ext cx="33214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97</a:t>
            </a:r>
            <a:endParaRPr lang="zh-CN" altLang="en-US" sz="105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12830C6-0B46-43E9-A3AE-7B398BB63114}"/>
              </a:ext>
            </a:extLst>
          </p:cNvPr>
          <p:cNvSpPr txBox="1"/>
          <p:nvPr/>
        </p:nvSpPr>
        <p:spPr>
          <a:xfrm>
            <a:off x="7736323" y="3602570"/>
            <a:ext cx="33214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98</a:t>
            </a:r>
            <a:endParaRPr lang="zh-CN" altLang="en-US" sz="105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5B79D7-BE3E-43F2-B84C-474E1D25624D}"/>
              </a:ext>
            </a:extLst>
          </p:cNvPr>
          <p:cNvSpPr txBox="1"/>
          <p:nvPr/>
        </p:nvSpPr>
        <p:spPr>
          <a:xfrm>
            <a:off x="7736323" y="3925135"/>
            <a:ext cx="33214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99</a:t>
            </a:r>
            <a:endParaRPr lang="zh-CN" altLang="en-US" sz="105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AE7FFAFF-F356-4A8D-97B8-A4A642D4AE30}"/>
              </a:ext>
            </a:extLst>
          </p:cNvPr>
          <p:cNvGraphicFramePr>
            <a:graphicFrameLocks noGrp="1"/>
          </p:cNvGraphicFramePr>
          <p:nvPr/>
        </p:nvGraphicFramePr>
        <p:xfrm>
          <a:off x="468314" y="4138728"/>
          <a:ext cx="7268010" cy="1559598"/>
        </p:xfrm>
        <a:graphic>
          <a:graphicData uri="http://schemas.openxmlformats.org/drawingml/2006/table">
            <a:tbl>
              <a:tblPr/>
              <a:tblGrid>
                <a:gridCol w="2015454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5252556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4749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int read()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读取一个字节并返回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如果到达文件结尾则返回 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-1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  <a:tr h="7451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int read(byte[] b)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将读取到字节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放到传入的数组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 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返回读取到的有效字节个数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如果到达文件结尾则返回 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-1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702"/>
                  </a:ext>
                </a:extLst>
              </a:tr>
            </a:tbl>
          </a:graphicData>
        </a:graphic>
      </p:graphicFrame>
      <p:sp>
        <p:nvSpPr>
          <p:cNvPr id="19" name="标题 1">
            <a:extLst>
              <a:ext uri="{FF2B5EF4-FFF2-40B4-BE49-F238E27FC236}">
                <a16:creationId xmlns:a16="http://schemas.microsoft.com/office/drawing/2014/main" id="{A45420F1-A048-4552-A59C-A62BD490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2261091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7B8B1D-E70F-6788-832F-F07605E38FE8}"/>
              </a:ext>
            </a:extLst>
          </p:cNvPr>
          <p:cNvSpPr txBox="1"/>
          <p:nvPr/>
        </p:nvSpPr>
        <p:spPr>
          <a:xfrm>
            <a:off x="539552" y="948933"/>
            <a:ext cx="3514725" cy="6189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FileReader</a:t>
            </a: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字符输入流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1756AF5-628E-47D3-265E-9D583E585B71}"/>
              </a:ext>
            </a:extLst>
          </p:cNvPr>
          <p:cNvGraphicFramePr>
            <a:graphicFrameLocks noGrp="1"/>
          </p:cNvGraphicFramePr>
          <p:nvPr/>
        </p:nvGraphicFramePr>
        <p:xfrm>
          <a:off x="611560" y="2269706"/>
          <a:ext cx="7660922" cy="1082512"/>
        </p:xfrm>
        <a:graphic>
          <a:graphicData uri="http://schemas.openxmlformats.org/drawingml/2006/table">
            <a:tbl>
              <a:tblPr/>
              <a:tblGrid>
                <a:gridCol w="3628474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3589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3608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FileReader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fileName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字符输入流关联文件，路径以字符串形式给出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362732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FileReader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字符输入流关联文件，路径以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</a:tbl>
          </a:graphicData>
        </a:graphic>
      </p:graphicFrame>
      <p:sp>
        <p:nvSpPr>
          <p:cNvPr id="17" name="TextBox 6">
            <a:extLst>
              <a:ext uri="{FF2B5EF4-FFF2-40B4-BE49-F238E27FC236}">
                <a16:creationId xmlns:a16="http://schemas.microsoft.com/office/drawing/2014/main" id="{E503AC6C-58AA-8487-C8B0-9D639A83C445}"/>
              </a:ext>
            </a:extLst>
          </p:cNvPr>
          <p:cNvSpPr txBox="1"/>
          <p:nvPr/>
        </p:nvSpPr>
        <p:spPr>
          <a:xfrm>
            <a:off x="539552" y="1708816"/>
            <a:ext cx="6577373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14313" indent="-214313" defTabSz="685800" eaLnBrk="0" hangingPunc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用于读取纯文本文件，解决中文乱码问题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99983C9-8FBA-8EAB-F28D-6DAA789ADE3F}"/>
              </a:ext>
            </a:extLst>
          </p:cNvPr>
          <p:cNvGraphicFramePr>
            <a:graphicFrameLocks noGrp="1"/>
          </p:cNvGraphicFramePr>
          <p:nvPr/>
        </p:nvGraphicFramePr>
        <p:xfrm>
          <a:off x="611560" y="3564281"/>
          <a:ext cx="7660922" cy="1093937"/>
        </p:xfrm>
        <a:graphic>
          <a:graphicData uri="http://schemas.openxmlformats.org/drawingml/2006/table">
            <a:tbl>
              <a:tblPr/>
              <a:tblGrid>
                <a:gridCol w="3628475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4032447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2808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3106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public int read()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读取单个字符</a:t>
                      </a:r>
                      <a:endParaRPr lang="en-US" altLang="zh-CN" sz="14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  <a:tr h="40350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public int read(char[]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</a:rPr>
                        <a:t>cbuf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读取一个字符数组</a:t>
                      </a:r>
                      <a:r>
                        <a:rPr lang="en-US" altLang="zh-CN" sz="14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4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返回读取到的有效字符个数</a:t>
                      </a:r>
                      <a:endParaRPr lang="en-US" altLang="zh-CN" sz="14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702"/>
                  </a:ext>
                </a:extLst>
              </a:tr>
            </a:tbl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1D2A8F1-2676-4BCF-9276-6B967919F074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10389B3-1FC6-4151-A84E-4EF2E6203375}"/>
              </a:ext>
            </a:extLst>
          </p:cNvPr>
          <p:cNvGraphicFramePr>
            <a:graphicFrameLocks noGrp="1"/>
          </p:cNvGraphicFramePr>
          <p:nvPr/>
        </p:nvGraphicFramePr>
        <p:xfrm>
          <a:off x="611560" y="4862200"/>
          <a:ext cx="7704856" cy="1781303"/>
        </p:xfrm>
        <a:graphic>
          <a:graphicData uri="http://schemas.openxmlformats.org/drawingml/2006/table">
            <a:tbl>
              <a:tblPr/>
              <a:tblGrid>
                <a:gridCol w="4248472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1245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public String</a:t>
                      </a:r>
                    </a:p>
                    <a:p>
                      <a:pPr algn="l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(char[] value, int offset, int count)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将字节数组转换为字符串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1 :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 字符数组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2 :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起始索引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3 :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转换的个数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</a:tbl>
          </a:graphicData>
        </a:graphic>
      </p:graphicFrame>
      <p:sp>
        <p:nvSpPr>
          <p:cNvPr id="11" name="标题 1">
            <a:extLst>
              <a:ext uri="{FF2B5EF4-FFF2-40B4-BE49-F238E27FC236}">
                <a16:creationId xmlns:a16="http://schemas.microsoft.com/office/drawing/2014/main" id="{88CEC631-1A89-4589-8FC9-4775679A0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2002767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7B8B1D-E70F-6788-832F-F07605E38FE8}"/>
              </a:ext>
            </a:extLst>
          </p:cNvPr>
          <p:cNvSpPr txBox="1"/>
          <p:nvPr/>
        </p:nvSpPr>
        <p:spPr>
          <a:xfrm>
            <a:off x="395536" y="1340768"/>
            <a:ext cx="3514725" cy="6189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FileWriter</a:t>
            </a: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字符输出流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1756AF5-628E-47D3-265E-9D583E585B71}"/>
              </a:ext>
            </a:extLst>
          </p:cNvPr>
          <p:cNvGraphicFramePr>
            <a:graphicFrameLocks noGrp="1"/>
          </p:cNvGraphicFramePr>
          <p:nvPr/>
        </p:nvGraphicFramePr>
        <p:xfrm>
          <a:off x="497095" y="2240869"/>
          <a:ext cx="8424168" cy="2376262"/>
        </p:xfrm>
        <a:graphic>
          <a:graphicData uri="http://schemas.openxmlformats.org/drawingml/2006/table">
            <a:tbl>
              <a:tblPr/>
              <a:tblGrid>
                <a:gridCol w="4418145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006023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4717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4742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FileWriter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fileName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字符输出流关联文件，路径以字符串形式给出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476746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FileWriter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(String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fileName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,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 append) 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2: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追加写入的开关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  <a:tr h="476746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FileWriter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字符输出流关联文件，路径以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574392"/>
                  </a:ext>
                </a:extLst>
              </a:tr>
              <a:tr h="476746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FileWriter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,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 append)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2: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追加写入的开关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974860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C4A5115-E51D-457D-B76F-239820C3391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1">
            <a:extLst>
              <a:ext uri="{FF2B5EF4-FFF2-40B4-BE49-F238E27FC236}">
                <a16:creationId xmlns:a16="http://schemas.microsoft.com/office/drawing/2014/main" id="{6B796997-FA5E-48B4-906A-0833D80E5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780500266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7B8B1D-E70F-6788-832F-F07605E38FE8}"/>
              </a:ext>
            </a:extLst>
          </p:cNvPr>
          <p:cNvSpPr txBox="1"/>
          <p:nvPr/>
        </p:nvSpPr>
        <p:spPr>
          <a:xfrm>
            <a:off x="539552" y="1428413"/>
            <a:ext cx="3633487" cy="61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FileWriter</a:t>
            </a: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字符输出流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1756AF5-628E-47D3-265E-9D583E585B71}"/>
              </a:ext>
            </a:extLst>
          </p:cNvPr>
          <p:cNvGraphicFramePr>
            <a:graphicFrameLocks noGrp="1"/>
          </p:cNvGraphicFramePr>
          <p:nvPr/>
        </p:nvGraphicFramePr>
        <p:xfrm>
          <a:off x="395536" y="2343646"/>
          <a:ext cx="8041815" cy="2170708"/>
        </p:xfrm>
        <a:graphic>
          <a:graphicData uri="http://schemas.openxmlformats.org/drawingml/2006/table">
            <a:tbl>
              <a:tblPr/>
              <a:tblGrid>
                <a:gridCol w="4896544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3145271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3589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3608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public void write(int c)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写出单个字符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36273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public void write(char[]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cbuf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 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写出一个字符数组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  <a:tr h="36273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public write(char[]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cbuf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, int off, int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len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写出字符数组的一部分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574392"/>
                  </a:ext>
                </a:extLst>
              </a:tr>
              <a:tr h="36273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public void write(String str) 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写出字符串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974860"/>
                  </a:ext>
                </a:extLst>
              </a:tr>
              <a:tr h="36273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public void write(String str, int off, int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len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 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写出字符串的一部分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849088"/>
                  </a:ext>
                </a:extLst>
              </a:tr>
            </a:tbl>
          </a:graphicData>
        </a:graphic>
      </p:graphicFrame>
      <p:sp>
        <p:nvSpPr>
          <p:cNvPr id="3" name="三角形 9">
            <a:extLst>
              <a:ext uri="{FF2B5EF4-FFF2-40B4-BE49-F238E27FC236}">
                <a16:creationId xmlns:a16="http://schemas.microsoft.com/office/drawing/2014/main" id="{241BC1B2-C55B-016B-DF8D-B7F901C64C6F}"/>
              </a:ext>
            </a:extLst>
          </p:cNvPr>
          <p:cNvSpPr/>
          <p:nvPr/>
        </p:nvSpPr>
        <p:spPr>
          <a:xfrm rot="2651319">
            <a:off x="711611" y="5017692"/>
            <a:ext cx="109236" cy="5857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5D138F-8850-01AF-8E44-BFD0ADB00108}"/>
              </a:ext>
            </a:extLst>
          </p:cNvPr>
          <p:cNvSpPr/>
          <p:nvPr/>
        </p:nvSpPr>
        <p:spPr>
          <a:xfrm>
            <a:off x="781597" y="4750254"/>
            <a:ext cx="4654500" cy="1271033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EC4CB3-A612-D1F9-B480-E38CCFB799C1}"/>
              </a:ext>
            </a:extLst>
          </p:cNvPr>
          <p:cNvSpPr/>
          <p:nvPr/>
        </p:nvSpPr>
        <p:spPr>
          <a:xfrm>
            <a:off x="706650" y="4668106"/>
            <a:ext cx="1201053" cy="319803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8230587-4DD6-B756-E10D-C804FC528C0E}"/>
              </a:ext>
            </a:extLst>
          </p:cNvPr>
          <p:cNvSpPr txBox="1"/>
          <p:nvPr/>
        </p:nvSpPr>
        <p:spPr>
          <a:xfrm>
            <a:off x="900755" y="5084665"/>
            <a:ext cx="4535341" cy="7033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字符输出流写出数据，需要调用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flush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close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方法，数据才会写出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8DA48B-D1C8-AA11-FD69-62BC68F07EE2}"/>
              </a:ext>
            </a:extLst>
          </p:cNvPr>
          <p:cNvSpPr txBox="1"/>
          <p:nvPr/>
        </p:nvSpPr>
        <p:spPr>
          <a:xfrm>
            <a:off x="5868144" y="4924105"/>
            <a:ext cx="3061253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杨任东竹石体-Bold" panose="02000000000000000000" pitchFamily="2" charset="-122"/>
              </a:rPr>
              <a:t>Flush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后可以继续写出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杨任东竹石体-Bold" panose="02000000000000000000" pitchFamily="2" charset="-122"/>
              </a:rPr>
              <a:t>Close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后不能继续写出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2A0F6F6-632B-4FA7-8792-65B488B54BF4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1">
            <a:extLst>
              <a:ext uri="{FF2B5EF4-FFF2-40B4-BE49-F238E27FC236}">
                <a16:creationId xmlns:a16="http://schemas.microsoft.com/office/drawing/2014/main" id="{66984B58-2062-4B35-8961-C8FEB5083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3428589605"/>
      </p:ext>
    </p:extLst>
  </p:cSld>
  <p:clrMapOvr>
    <a:masterClrMapping/>
  </p:clrMapOvr>
  <p:transition spd="slow">
    <p:randomBar dir="vert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7B8B1D-E70F-6788-832F-F07605E38FE8}"/>
              </a:ext>
            </a:extLst>
          </p:cNvPr>
          <p:cNvSpPr txBox="1"/>
          <p:nvPr/>
        </p:nvSpPr>
        <p:spPr>
          <a:xfrm>
            <a:off x="440585" y="1562965"/>
            <a:ext cx="3514725" cy="6189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序列化流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D63C739-3E38-0835-7FDF-A6B0E22E9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039" y="2784127"/>
            <a:ext cx="4830781" cy="282430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C582A051-2AC5-AFCC-6376-545BD9530760}"/>
              </a:ext>
            </a:extLst>
          </p:cNvPr>
          <p:cNvSpPr txBox="1"/>
          <p:nvPr/>
        </p:nvSpPr>
        <p:spPr>
          <a:xfrm>
            <a:off x="442174" y="2292830"/>
            <a:ext cx="4087621" cy="3801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14313" marR="0" lvl="0" indent="-21431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可以在流中，以字节的形式直接读写对象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067525D6-A1D2-C2D1-85C0-9C894B67549F}"/>
              </a:ext>
            </a:extLst>
          </p:cNvPr>
          <p:cNvSpPr txBox="1"/>
          <p:nvPr/>
        </p:nvSpPr>
        <p:spPr>
          <a:xfrm>
            <a:off x="323528" y="3175085"/>
            <a:ext cx="3631782" cy="307777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new Student(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,23);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032DC8AF-2EAF-B6A7-EC0F-F338BBC7FF0F}"/>
              </a:ext>
            </a:extLst>
          </p:cNvPr>
          <p:cNvSpPr txBox="1"/>
          <p:nvPr/>
        </p:nvSpPr>
        <p:spPr>
          <a:xfrm>
            <a:off x="323526" y="3616434"/>
            <a:ext cx="3413587" cy="307777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writeObejct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stu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);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5B3C0FAA-1000-4FFF-0F9D-5B7FD78DC034}"/>
              </a:ext>
            </a:extLst>
          </p:cNvPr>
          <p:cNvSpPr txBox="1"/>
          <p:nvPr/>
        </p:nvSpPr>
        <p:spPr>
          <a:xfrm>
            <a:off x="323526" y="4057782"/>
            <a:ext cx="3413587" cy="307777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Student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stu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readObject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+mn-cs"/>
              </a:rPr>
              <a:t>();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9A41990-942E-4543-A1D9-25DEFC552F6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>
            <a:extLst>
              <a:ext uri="{FF2B5EF4-FFF2-40B4-BE49-F238E27FC236}">
                <a16:creationId xmlns:a16="http://schemas.microsoft.com/office/drawing/2014/main" id="{0220E489-F1F5-4C49-A1A8-11808ADE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389009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id="{30301FEC-B8F4-1CD9-D10E-8C374B4C37F5}"/>
              </a:ext>
            </a:extLst>
          </p:cNvPr>
          <p:cNvSpPr txBox="1"/>
          <p:nvPr/>
        </p:nvSpPr>
        <p:spPr>
          <a:xfrm>
            <a:off x="658314" y="2706282"/>
            <a:ext cx="6184778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14313" marR="0" lvl="0" indent="-21431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ObjectInputStream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57F5B6A-3EE9-1A8A-A47D-56556FF52B50}"/>
              </a:ext>
            </a:extLst>
          </p:cNvPr>
          <p:cNvSpPr txBox="1"/>
          <p:nvPr/>
        </p:nvSpPr>
        <p:spPr>
          <a:xfrm>
            <a:off x="658314" y="3901830"/>
            <a:ext cx="6184778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14313" marR="0" lvl="0" indent="-21431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ObjectOutputStream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0123BFE-8C26-F49C-C68F-F6211A4A4E45}"/>
              </a:ext>
            </a:extLst>
          </p:cNvPr>
          <p:cNvGraphicFramePr>
            <a:graphicFrameLocks noGrp="1"/>
          </p:cNvGraphicFramePr>
          <p:nvPr/>
        </p:nvGraphicFramePr>
        <p:xfrm>
          <a:off x="365684" y="3099652"/>
          <a:ext cx="8418920" cy="732980"/>
        </p:xfrm>
        <a:graphic>
          <a:graphicData uri="http://schemas.openxmlformats.org/drawingml/2006/table">
            <a:tbl>
              <a:tblPr/>
              <a:tblGrid>
                <a:gridCol w="4415392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003528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2808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3934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public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ObjectInputStream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InputStream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 in)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对象输入流关联文件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关联方式使用字节输入流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8031D48-5D37-4F88-FC73-5B4F0B217495}"/>
              </a:ext>
            </a:extLst>
          </p:cNvPr>
          <p:cNvGraphicFramePr>
            <a:graphicFrameLocks noGrp="1"/>
          </p:cNvGraphicFramePr>
          <p:nvPr/>
        </p:nvGraphicFramePr>
        <p:xfrm>
          <a:off x="365684" y="4349117"/>
          <a:ext cx="8418920" cy="732980"/>
        </p:xfrm>
        <a:graphic>
          <a:graphicData uri="http://schemas.openxmlformats.org/drawingml/2006/table">
            <a:tbl>
              <a:tblPr/>
              <a:tblGrid>
                <a:gridCol w="4415392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003528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2808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3934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public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ObjectOutputStream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OutputStream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 out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2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对象输出流关联文件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关联方式使用字节输出流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069208A-CADB-8695-1708-7536A27A2474}"/>
              </a:ext>
            </a:extLst>
          </p:cNvPr>
          <p:cNvGraphicFramePr>
            <a:graphicFrameLocks noGrp="1"/>
          </p:cNvGraphicFramePr>
          <p:nvPr/>
        </p:nvGraphicFramePr>
        <p:xfrm>
          <a:off x="3419872" y="5305005"/>
          <a:ext cx="5387653" cy="693167"/>
        </p:xfrm>
        <a:graphic>
          <a:graphicData uri="http://schemas.openxmlformats.org/drawingml/2006/table">
            <a:tbl>
              <a:tblPr/>
              <a:tblGrid>
                <a:gridCol w="2825612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2562041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2808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3129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void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writeObject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(Object obj)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在流中将对象写出 </a:t>
                      </a:r>
                      <a:r>
                        <a:rPr lang="en-US" altLang="zh-CN" sz="1400" b="1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(</a:t>
                      </a:r>
                      <a:r>
                        <a:rPr lang="zh-CN" altLang="en-US" sz="1400" b="1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序列化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)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E585CFC-B094-9925-DA4F-4C198AC87ABE}"/>
              </a:ext>
            </a:extLst>
          </p:cNvPr>
          <p:cNvGraphicFramePr>
            <a:graphicFrameLocks noGrp="1"/>
          </p:cNvGraphicFramePr>
          <p:nvPr/>
        </p:nvGraphicFramePr>
        <p:xfrm>
          <a:off x="3750703" y="2459329"/>
          <a:ext cx="5027613" cy="693167"/>
        </p:xfrm>
        <a:graphic>
          <a:graphicData uri="http://schemas.openxmlformats.org/drawingml/2006/table">
            <a:tbl>
              <a:tblPr/>
              <a:tblGrid>
                <a:gridCol w="2636785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2390828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2808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3129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Object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readObject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() 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从流中读取对象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(</a:t>
                      </a:r>
                      <a:r>
                        <a:rPr lang="zh-CN" altLang="en-US" sz="1400" b="1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反序列化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)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2E455FE-9FFD-4D25-B618-9B659E95ADFD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">
            <a:extLst>
              <a:ext uri="{FF2B5EF4-FFF2-40B4-BE49-F238E27FC236}">
                <a16:creationId xmlns:a16="http://schemas.microsoft.com/office/drawing/2014/main" id="{76E4B218-0EFF-4502-8762-538114AFE5CB}"/>
              </a:ext>
            </a:extLst>
          </p:cNvPr>
          <p:cNvSpPr txBox="1"/>
          <p:nvPr/>
        </p:nvSpPr>
        <p:spPr>
          <a:xfrm>
            <a:off x="442174" y="1088622"/>
            <a:ext cx="3514725" cy="6189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序列化流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13225420-0ECA-4A59-BBCE-1126940DDBA5}"/>
              </a:ext>
            </a:extLst>
          </p:cNvPr>
          <p:cNvSpPr txBox="1"/>
          <p:nvPr/>
        </p:nvSpPr>
        <p:spPr>
          <a:xfrm>
            <a:off x="442174" y="1914583"/>
            <a:ext cx="4087621" cy="4212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14313" marR="0" lvl="0" indent="-21431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可以在流中，以字节的形式直接读写对象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EC408275-30F5-4FA3-B275-0C2EFDD8E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402309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F25EE5F-8A57-E645-0344-9458AE3E8B57}"/>
              </a:ext>
            </a:extLst>
          </p:cNvPr>
          <p:cNvSpPr txBox="1"/>
          <p:nvPr/>
        </p:nvSpPr>
        <p:spPr>
          <a:xfrm>
            <a:off x="544983" y="1190073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序列化流的操作流程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09B2215-6F41-BD33-6E8A-DA5A07A924B7}"/>
              </a:ext>
            </a:extLst>
          </p:cNvPr>
          <p:cNvSpPr txBox="1"/>
          <p:nvPr/>
        </p:nvSpPr>
        <p:spPr>
          <a:xfrm>
            <a:off x="733834" y="2038339"/>
            <a:ext cx="4187011" cy="1015663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hangingPunct="0"/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Serializable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...</a:t>
            </a:r>
          </a:p>
          <a:p>
            <a:pPr defTabSz="685800" eaLnBrk="0" hangingPunct="0"/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 </a:t>
            </a:r>
            <a:endParaRPr lang="zh-CN" altLang="zh-CN" sz="1200" dirty="0">
              <a:latin typeface="Consolas" panose="020B0609020204030204" pitchFamily="49" charset="0"/>
            </a:endParaRPr>
          </a:p>
        </p:txBody>
      </p:sp>
      <p:sp>
        <p:nvSpPr>
          <p:cNvPr id="9" name="矩形: 折角 8">
            <a:extLst>
              <a:ext uri="{FF2B5EF4-FFF2-40B4-BE49-F238E27FC236}">
                <a16:creationId xmlns:a16="http://schemas.microsoft.com/office/drawing/2014/main" id="{452B584F-AC9B-D33E-21F7-C08CD53302CC}"/>
              </a:ext>
            </a:extLst>
          </p:cNvPr>
          <p:cNvSpPr/>
          <p:nvPr/>
        </p:nvSpPr>
        <p:spPr>
          <a:xfrm>
            <a:off x="5471317" y="5125414"/>
            <a:ext cx="3242795" cy="771095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788" dirty="0">
              <a:latin typeface="Consolas" panose="020B0609020204030204" pitchFamily="49" charset="0"/>
            </a:endParaRPr>
          </a:p>
          <a:p>
            <a:endParaRPr lang="zh-CN" altLang="en-US" sz="788" dirty="0">
              <a:latin typeface="Consolas" panose="020B0609020204030204" pitchFamily="49" charset="0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F639D786-B85C-DA03-C060-BD0C73F7FB1A}"/>
              </a:ext>
            </a:extLst>
          </p:cNvPr>
          <p:cNvSpPr/>
          <p:nvPr/>
        </p:nvSpPr>
        <p:spPr>
          <a:xfrm>
            <a:off x="2392707" y="5510962"/>
            <a:ext cx="2988248" cy="346992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JetBrains Mono"/>
              </a:rPr>
              <a:t>writeObject</a:t>
            </a:r>
            <a:endParaRPr lang="zh-CN" alt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B7858B-E00E-960E-0FB1-1A3D82DA6BBB}"/>
              </a:ext>
            </a:extLst>
          </p:cNvPr>
          <p:cNvSpPr txBox="1"/>
          <p:nvPr/>
        </p:nvSpPr>
        <p:spPr>
          <a:xfrm>
            <a:off x="5580112" y="5199337"/>
            <a:ext cx="3657167" cy="6232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杨任东竹石体-Bold" panose="02000000000000000000" pitchFamily="2" charset="-122"/>
              </a:rPr>
              <a:t>张三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杨任东竹石体-Bold" panose="02000000000000000000" pitchFamily="2" charset="-122"/>
              </a:rPr>
              <a:t>,23</a:t>
            </a:r>
          </a:p>
          <a:p>
            <a:pPr algn="l"/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杨任东竹石体-Bold" panose="02000000000000000000" pitchFamily="2" charset="-122"/>
            </a:endParaRPr>
          </a:p>
          <a:p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serialVersionUID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= </a:t>
            </a:r>
            <a:r>
              <a:rPr lang="zh-CN" altLang="zh-CN" sz="105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6849794470754667710L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B8B006-D2B9-06D3-2F0C-F7AC13C8BE29}"/>
              </a:ext>
            </a:extLst>
          </p:cNvPr>
          <p:cNvSpPr txBox="1"/>
          <p:nvPr/>
        </p:nvSpPr>
        <p:spPr>
          <a:xfrm>
            <a:off x="5580112" y="4737672"/>
            <a:ext cx="14194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D:\A.txt</a:t>
            </a:r>
          </a:p>
          <a:p>
            <a:pPr algn="l"/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8316F285-D9DA-9FB2-8FEB-48CC2E35911C}"/>
              </a:ext>
            </a:extLst>
          </p:cNvPr>
          <p:cNvSpPr/>
          <p:nvPr/>
        </p:nvSpPr>
        <p:spPr>
          <a:xfrm>
            <a:off x="2341949" y="5046022"/>
            <a:ext cx="2988248" cy="346992"/>
          </a:xfrm>
          <a:prstGeom prst="lef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</a:rPr>
              <a:t>readObject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EA1998A-EB27-D050-CEFF-53EDA335C187}"/>
              </a:ext>
            </a:extLst>
          </p:cNvPr>
          <p:cNvSpPr/>
          <p:nvPr/>
        </p:nvSpPr>
        <p:spPr>
          <a:xfrm>
            <a:off x="5037321" y="2345932"/>
            <a:ext cx="3771900" cy="59012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3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serialVersionUID</a:t>
            </a:r>
            <a:r>
              <a:rPr lang="en-US" altLang="zh-CN" sz="13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 algn="ctr"/>
            <a:r>
              <a:rPr lang="zh-CN" altLang="zh-CN" sz="135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6849794470754667710L</a:t>
            </a:r>
            <a:endParaRPr lang="zh-CN" altLang="en-US" sz="1350" dirty="0">
              <a:solidFill>
                <a:srgbClr val="1750EB"/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D4667BC4-030E-93C4-D765-323C9160281C}"/>
              </a:ext>
            </a:extLst>
          </p:cNvPr>
          <p:cNvSpPr txBox="1"/>
          <p:nvPr/>
        </p:nvSpPr>
        <p:spPr>
          <a:xfrm>
            <a:off x="733833" y="3188009"/>
            <a:ext cx="4187011" cy="12003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hangingPunct="0"/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Serializable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String address;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...</a:t>
            </a:r>
          </a:p>
          <a:p>
            <a:pPr defTabSz="685800" eaLnBrk="0" hangingPunct="0"/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 </a:t>
            </a:r>
            <a:endParaRPr lang="zh-CN" altLang="zh-CN" sz="1200" dirty="0">
              <a:latin typeface="Consolas" panose="020B0609020204030204" pitchFamily="49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A280896-0EA6-5615-77F7-0AFD227834F0}"/>
              </a:ext>
            </a:extLst>
          </p:cNvPr>
          <p:cNvSpPr/>
          <p:nvPr/>
        </p:nvSpPr>
        <p:spPr>
          <a:xfrm>
            <a:off x="5037321" y="3190302"/>
            <a:ext cx="3771900" cy="59012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3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serialVersionUID</a:t>
            </a:r>
            <a:r>
              <a:rPr lang="en-US" altLang="zh-CN" sz="13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8683452581122892189L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A5B49F1-FEBD-4911-9950-B96727E53845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D587A2A0-5EA9-46A4-9B2F-9201A1C993F6}"/>
              </a:ext>
            </a:extLst>
          </p:cNvPr>
          <p:cNvSpPr/>
          <p:nvPr/>
        </p:nvSpPr>
        <p:spPr>
          <a:xfrm>
            <a:off x="544982" y="4870022"/>
            <a:ext cx="1742569" cy="1079928"/>
          </a:xfrm>
          <a:prstGeom prst="flowChartMagneticDisk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Java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程序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DF514A72-FB78-4DC0-B09A-B81AFA39C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25706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F25EE5F-8A57-E645-0344-9458AE3E8B57}"/>
              </a:ext>
            </a:extLst>
          </p:cNvPr>
          <p:cNvSpPr txBox="1"/>
          <p:nvPr/>
        </p:nvSpPr>
        <p:spPr>
          <a:xfrm>
            <a:off x="683568" y="1371185"/>
            <a:ext cx="3514725" cy="6189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序列化流的操作流程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09B2215-6F41-BD33-6E8A-DA5A07A924B7}"/>
              </a:ext>
            </a:extLst>
          </p:cNvPr>
          <p:cNvSpPr txBox="1"/>
          <p:nvPr/>
        </p:nvSpPr>
        <p:spPr>
          <a:xfrm>
            <a:off x="755576" y="2289356"/>
            <a:ext cx="5404554" cy="1384995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hangingPunct="0"/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Serializable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final long 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serialVersionUID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L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...</a:t>
            </a:r>
          </a:p>
          <a:p>
            <a:pPr defTabSz="685800" eaLnBrk="0" hangingPunct="0"/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 </a:t>
            </a:r>
            <a:endParaRPr lang="zh-CN" altLang="zh-CN" sz="1400" dirty="0">
              <a:latin typeface="Consolas" panose="020B0609020204030204" pitchFamily="49" charset="0"/>
            </a:endParaRPr>
          </a:p>
        </p:txBody>
      </p:sp>
      <p:sp>
        <p:nvSpPr>
          <p:cNvPr id="9" name="矩形: 折角 8">
            <a:extLst>
              <a:ext uri="{FF2B5EF4-FFF2-40B4-BE49-F238E27FC236}">
                <a16:creationId xmlns:a16="http://schemas.microsoft.com/office/drawing/2014/main" id="{452B584F-AC9B-D33E-21F7-C08CD53302CC}"/>
              </a:ext>
            </a:extLst>
          </p:cNvPr>
          <p:cNvSpPr/>
          <p:nvPr/>
        </p:nvSpPr>
        <p:spPr>
          <a:xfrm>
            <a:off x="5320667" y="4416640"/>
            <a:ext cx="3242795" cy="771095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788" dirty="0">
              <a:latin typeface="Consolas" panose="020B0609020204030204" pitchFamily="49" charset="0"/>
            </a:endParaRPr>
          </a:p>
          <a:p>
            <a:endParaRPr lang="zh-CN" altLang="en-US" sz="788" dirty="0">
              <a:latin typeface="Consolas" panose="020B0609020204030204" pitchFamily="49" charset="0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F639D786-B85C-DA03-C060-BD0C73F7FB1A}"/>
              </a:ext>
            </a:extLst>
          </p:cNvPr>
          <p:cNvSpPr/>
          <p:nvPr/>
        </p:nvSpPr>
        <p:spPr>
          <a:xfrm>
            <a:off x="2339317" y="4628692"/>
            <a:ext cx="2988248" cy="346992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JetBrains Mono"/>
              </a:rPr>
              <a:t>writeObject</a:t>
            </a:r>
            <a:endParaRPr lang="zh-CN" alt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B7858B-E00E-960E-0FB1-1A3D82DA6BBB}"/>
              </a:ext>
            </a:extLst>
          </p:cNvPr>
          <p:cNvSpPr txBox="1"/>
          <p:nvPr/>
        </p:nvSpPr>
        <p:spPr>
          <a:xfrm>
            <a:off x="5434156" y="4490563"/>
            <a:ext cx="3657167" cy="6232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杨任东竹石体-Bold" panose="02000000000000000000" pitchFamily="2" charset="-122"/>
              </a:rPr>
              <a:t>张三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杨任东竹石体-Bold" panose="02000000000000000000" pitchFamily="2" charset="-122"/>
              </a:rPr>
              <a:t>,23</a:t>
            </a:r>
          </a:p>
          <a:p>
            <a:pPr algn="l"/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杨任东竹石体-Bold" panose="02000000000000000000" pitchFamily="2" charset="-122"/>
            </a:endParaRPr>
          </a:p>
          <a:p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serialVersionUID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= </a:t>
            </a:r>
            <a:r>
              <a:rPr lang="en-US" altLang="zh-CN" sz="105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zh-CN" altLang="zh-CN" sz="105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L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B8B006-D2B9-06D3-2F0C-F7AC13C8BE29}"/>
              </a:ext>
            </a:extLst>
          </p:cNvPr>
          <p:cNvSpPr txBox="1"/>
          <p:nvPr/>
        </p:nvSpPr>
        <p:spPr>
          <a:xfrm>
            <a:off x="5292080" y="3938388"/>
            <a:ext cx="14194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D:\A.txt</a:t>
            </a:r>
          </a:p>
          <a:p>
            <a:pPr algn="l"/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04BE8FA-E947-4F99-871D-0DAD4A0844C9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流程图: 磁盘 13">
            <a:extLst>
              <a:ext uri="{FF2B5EF4-FFF2-40B4-BE49-F238E27FC236}">
                <a16:creationId xmlns:a16="http://schemas.microsoft.com/office/drawing/2014/main" id="{C008A797-562F-435E-98EB-903DE013FBA8}"/>
              </a:ext>
            </a:extLst>
          </p:cNvPr>
          <p:cNvSpPr/>
          <p:nvPr/>
        </p:nvSpPr>
        <p:spPr>
          <a:xfrm>
            <a:off x="395536" y="4317068"/>
            <a:ext cx="1816826" cy="1082759"/>
          </a:xfrm>
          <a:prstGeom prst="flowChartMagneticDisk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Java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黑体"/>
                <a:cs typeface="+mn-cs"/>
              </a:rPr>
              <a:t>程序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9DED608B-1606-4CC2-9EC4-94E175A1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24836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F25EE5F-8A57-E645-0344-9458AE3E8B57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序列化流的操作流程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F670B0-875A-8B35-06FB-FCC954BF2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0808" y="2021009"/>
            <a:ext cx="4320404" cy="33832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Consolas" panose="020B0609020204030204" pitchFamily="49" charset="0"/>
              </a:rPr>
              <a:t>序列化流的作用是？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可以在流中，以字节的形式直接读写对象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序列化流我们用的是哪个类读取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又是哪个类在写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ObjectInputStream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ObjectOutputStream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调用的方法是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readObject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() 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writeObject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zh-CN" altLang="en-US" sz="1200" dirty="0">
                <a:latin typeface="Consolas" panose="020B0609020204030204" pitchFamily="49" charset="0"/>
              </a:rPr>
              <a:t>类需要实现什么接口才可以序列化？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zh-CN" altLang="zh-CN" sz="1200" b="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Serializabl</a:t>
            </a:r>
            <a:r>
              <a:rPr lang="en-US" altLang="zh-CN" sz="1200" b="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e</a:t>
            </a:r>
            <a:r>
              <a:rPr lang="zh-CN" altLang="en-US" sz="1200" b="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接口</a:t>
            </a:r>
            <a:endParaRPr lang="en-US" altLang="zh-CN" sz="1200" b="0" dirty="0">
              <a:solidFill>
                <a:srgbClr val="000000"/>
              </a:solidFill>
              <a:latin typeface="Consolas" panose="020B0609020204030204" pitchFamily="49" charset="0"/>
              <a:ea typeface="JetBrains Mono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实现接口后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推荐多做一步操作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这一步是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?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手动加入 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serialVersionUID</a:t>
            </a:r>
            <a:endParaRPr lang="en-US" altLang="zh-CN" sz="1200" i="1" dirty="0">
              <a:solidFill>
                <a:srgbClr val="871094"/>
              </a:solidFill>
              <a:latin typeface="Consolas" panose="020B0609020204030204" pitchFamily="49" charset="0"/>
              <a:ea typeface="JetBrains Mono"/>
            </a:endParaRPr>
          </a:p>
          <a:p>
            <a:pPr marL="0" indent="0">
              <a:buNone/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transient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关键字的作用是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?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被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transient 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修饰的成员变量不会被序列化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JetBrains Mono"/>
            </a:endParaRPr>
          </a:p>
          <a:p>
            <a:pPr marL="0" indent="0"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	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B63839-4910-460E-9927-8AE8DF891C7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6F4615F7-3DB9-4AA6-9823-1FC099CBB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</a:t>
            </a:r>
          </a:p>
        </p:txBody>
      </p:sp>
    </p:spTree>
    <p:extLst>
      <p:ext uri="{BB962C8B-B14F-4D97-AF65-F5344CB8AC3E}">
        <p14:creationId xmlns:p14="http://schemas.microsoft.com/office/powerpoint/2010/main" val="134323930"/>
      </p:ext>
    </p:extLst>
  </p:cSld>
  <p:clrMapOvr>
    <a:masterClrMapping/>
  </p:clrMapOvr>
  <p:transition spd="med">
    <p:pull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>
          <a:xfrm>
            <a:off x="468313" y="116632"/>
            <a:ext cx="7543800" cy="648072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内容小结</a:t>
            </a: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568828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流的概念以及分类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掌握文本文件读写、二进制文件读写、处理流类的概念和用法、对象序列化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读写文本文件、二进制文件的方法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File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8425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70657E6E-CC41-44FB-8DE8-CB64A9A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多线程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E0B9C6-189F-4C96-80A1-3E711C377D73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91BE4F7-C863-47FD-A969-DE779B5A7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568828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掌握线程的相关概念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学会如何通过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Thread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类和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Runnable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接口创建线程，如何实现多线程的资源共享和通信，及如何控制线程通信</a:t>
            </a:r>
          </a:p>
        </p:txBody>
      </p:sp>
    </p:spTree>
    <p:extLst>
      <p:ext uri="{BB962C8B-B14F-4D97-AF65-F5344CB8AC3E}">
        <p14:creationId xmlns:p14="http://schemas.microsoft.com/office/powerpoint/2010/main" val="10061450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2515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定义一个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交通工具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(Vehicle)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的类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请定义一个交通工具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(Vehicle)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的类其中有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属性速度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(speed)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体积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(size)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方法移动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(move())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设置速度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setSpeed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(int speed))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加速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speedUp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(),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减速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speedDown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最后在测试类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Vehicle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main()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实例化一个交通工具对象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并通过方法给它初始化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speed,size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的值并且通过打印出来。另外调用加速减速的方法对速度进行改变。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1422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29925" y="116632"/>
            <a:ext cx="8964612" cy="669674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class Vehicle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int speed; 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速度属性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 size;  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体积属性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void move()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setSpeed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(int speed)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this.speed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speed;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speedUp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speed = speed+1;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this.speed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speed;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减速方法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speedDown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speed=speed-1;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this.speed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speed;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实例化一个交通工具对象并初始化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speed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size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Vehicle a = new Vehicle();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a.setSpeed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(50);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a.size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100;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a.speedUp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("Speed : " +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a.speed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+ " \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nSize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: " +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a.size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71113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2515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手机类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定义手机类，手机有品牌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(brand),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(price)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和颜色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(color)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三个属性，有打电话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call()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sendMessage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两个功能。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请定义出手机类，类中要有空参、有参构造方法，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set/get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方法。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定义测试类，在主方法中使用空参构造创建对象，使用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方法赋值。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调用对象的两个功能，打印效果如下：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正在使用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3998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黑色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小米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手机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打电话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正在使用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3998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黑色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小米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手机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发短信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30687711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29925" y="116632"/>
            <a:ext cx="8964612" cy="727280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Phone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private String brand;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private double price;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private String color;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Phone()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Phone(String brand, double price, String color)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this.brand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brand;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this.price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price;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this.color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color;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String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getBrand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return brand;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setBrand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(String brand)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this.brand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brand;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double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getPrice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return price;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setPrice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(double price)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this.price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price;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41309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29925" y="116632"/>
            <a:ext cx="8964612" cy="727280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String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getColor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return color;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setColor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(String color)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this.color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color;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call()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正在使用价格为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 + price +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 + color +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色的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 + brand +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手机打电话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....");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sendMessage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正在使用价格为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 + price +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 + color +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色的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 + brand +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手机发短信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....");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86911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0"/>
            <a:ext cx="8964612" cy="727280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Test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Phone p = new Phone();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p.setBrand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小米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p.setColor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黑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p.setPrice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(3998);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p.call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p.sendMessage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08361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343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继承多态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创建一个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Vehicle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类并将它声明为抽象类。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Vehicle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类中声明一个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NoOfWheels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创建两个类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Motorbike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Vehicle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类继承并在这两个类中实现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NoOfWheels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类中应当显示“四轮车”信息 而在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Motorbike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类中应当显示“双轮车”信息。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创建另一个带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main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方法的类 在该类中创建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Motorbike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的实例 并在控制台中显示消息。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2126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38100"/>
            <a:ext cx="8964612" cy="68961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lianxi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dsa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Car c=new Car();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c.NoOfWheels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Motorbike m=new Motorbike();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m.NoOfWheels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abstract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class Vehicle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NoOfWheels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(){}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class Car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extends Vehicle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NoOfWheels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四轮车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class Motorbike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extends Vehicle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NoOfWheels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双轮车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78705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36462" y="1052736"/>
            <a:ext cx="9214230" cy="160573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模拟支付接口</a:t>
            </a:r>
            <a:endParaRPr lang="en-US" altLang="zh-CN" sz="20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某网站需要开发一个支付功能，需要支持多种支付方式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0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支付平台支付、银行卡网银支付、信用卡快捷支付</a:t>
            </a:r>
            <a:r>
              <a:rPr lang="en-US" altLang="zh-CN" sz="20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，如下所示</a:t>
            </a: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20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343D49-D3B4-43F5-8C89-0E64C9154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874491"/>
            <a:ext cx="4802323" cy="23474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AA12D65-E543-4B47-BDC9-B237BA08E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44" y="5510704"/>
            <a:ext cx="7483488" cy="102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082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8964612" cy="679851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interface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Payment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void pay(double money);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BankcardPaymentImpl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implements Payment{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@Override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pay(double money)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通过银行卡网银支付了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:" + money +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!");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1400" b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CreditCardPaymentImpl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implements Payment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@Override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public void pay(double money)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通过信用卡快捷支付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:" + money + "</a:t>
            </a:r>
            <a:r>
              <a:rPr lang="zh-CN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元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!");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PlatformPaymentImpl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implements Payment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@Override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pay(double money)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通过支付平台支付了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:" + money +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!");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082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8964612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java.util.Scanner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Test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Scanner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sc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Scanner(System.in);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请选择支付方式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:  1.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支付平台支付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银行卡网银支付  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信用卡快捷支付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 choice =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sc.nextInt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Payment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payment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null;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switch (choice)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case 1 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payment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PlatformPaymentImpl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break;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case 2: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payment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BankcardPaymentImpl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break;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case 3: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payment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CreditCardPaymentImpl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break;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请输入您的支付金额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: 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double money =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sc.nextDouble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payment.pay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(money);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47087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8964612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Test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Scanner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sc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Scanner(System.in);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请选择支付方式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:  1.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支付平台支付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银行卡网银支付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信用卡快捷支付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Boolean flag = true;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while(flag)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flag = false;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try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int choice =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sc.nextInt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Payment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payment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null;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switch (choice)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case 1: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    payment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PlatformPaymentImpl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    break;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case 2: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    payment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BankcardPaymentImpl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    break;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case 3: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    payment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CreditCardPaymentImpl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        break;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请输入您的支付金额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: 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double money =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sc.nextDouble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payment.pay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(money);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 catch 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InputMismatchException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输入有误，请重新输入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: 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flag = true;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sc.nextLine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65727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343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数组集合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有如下员工信息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姓名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张三，工资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:2000;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姓名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李四，工资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:2500;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姓名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王五，工资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:3000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姓名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赵六，工资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:3500;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姓名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田七，工资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:4000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先需要将所有的员工信息都存入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集合中，并完成如下操作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、判断是否有姓名为“王五”的员工，如果有，改名为“王小五”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、判断是否有姓名为“赵六”的员工，如果有，将其删除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、给姓名为“田七”的员工，涨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工资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4132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8964612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Worker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private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String name;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private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int salary;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Worker()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Worker(String name, int salary)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this.name = name;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this.salary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salary;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String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getName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return name;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setName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(String name)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this.name = name;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int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getSalary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return salary;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void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setSalary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(int salary)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this.salary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salary;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10715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9252520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java.util.ArrayList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Test03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创建集合对象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ArrayList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&lt;Worker&gt; list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ArrayList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&lt;&gt;();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创建员工对象并添加到集合中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list.add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(new Worker("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张三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", 2000));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list.add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(new Worker("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李四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", 2500));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list.add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(new Worker("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王五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", 3000));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list.add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(new Worker("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赵六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", 3500));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list.add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(new Worker("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田七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", 4000));</a:t>
            </a:r>
          </a:p>
          <a:p>
            <a:pPr eaLnBrk="1" hangingPunct="1"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//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判断是否有王五，如果有，改名为王小五；判断是否有赵六，如果有，删除赵六；给田七加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500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块工资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for (int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0;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&lt;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list.size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++)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Worker w =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list.get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返回列表中指定位置的元素。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if 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王五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".equals(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w.getName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()))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w.setName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王小五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list.set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, w);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用指定元素替换此列表中指定位置的元素。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if 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赵六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".equals(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w.getName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()))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注意，一旦删除元素，后面的元素会往前走，索引再加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就会有元素遗漏，所以删除后要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--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list.remove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--);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if ("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田七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".equals(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w.getName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()))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w.setSalary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w.getSalary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+ 500);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list.set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, w);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//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再次遍历查看结果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for (int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0;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&lt;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list.size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++)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Worker w =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list.get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w.getName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+ "---" +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w.getSalary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E0C7F1-70FB-4F60-8518-CFDE5AE70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725144"/>
            <a:ext cx="2152761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2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9252520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再次遍历查看结果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for(Worker w : list)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w.getName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+ " " +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w.getSalary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E0C7F1-70FB-4F60-8518-CFDE5AE70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725144"/>
            <a:ext cx="2152761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9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343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输入输出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盘中创建文件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在项目中创建</a:t>
            </a:r>
            <a:r>
              <a:rPr lang="en-US" altLang="zh-CN" sz="1800" dirty="0" err="1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FileTest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类，在主方法中判断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盘的根目录中是否存在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word.txt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文件：如果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该文件存在，则删除它；如果该文件不存在，就创建它。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4750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8964612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java.io.File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FileTest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{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File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File("D:\\word.txt");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创建文件对象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if (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file.exists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()) {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如果该文件存在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file.delete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将文件删除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文件已删除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输出的提示信息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 else {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如果文件不存在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try {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try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语句块捕捉可能出现的异常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file.createNewFile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创建该文件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文件已创建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");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输出的提示信息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 catch (Exception e)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e.printStackTrace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58875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34320" y="1319213"/>
            <a:ext cx="9214230" cy="160573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输入输出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盘中创建文件，使用</a:t>
            </a:r>
            <a:r>
              <a:rPr lang="en-US" altLang="zh-CN" sz="1800" dirty="0" err="1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FileWriter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sz="1800" dirty="0" err="1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FileReader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类，在</a:t>
            </a: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盘根目录下的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word.txt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文件中写一句话，然后读取出来输出在控制台上。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1507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8964612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java.io.File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java.io.FileReader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java.io.FileWriter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java.io.IOException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FileReaderDemo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File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File("D:\\word.txt");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创建文件对象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try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FileWriter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fw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FileWriter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(file);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创建字符输出流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String word = "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明月几时有，把酒问青天。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写入的字符串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fw.write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(word);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将字符串写入到文件中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fw.close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关闭流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 catch 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e.printStackTrace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try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FileReader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FileReader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(file);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创建字符输入流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[] = new char[1024];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缓存字符数组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fr.read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将文件中的字符读入到缓存数组中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文件中的信息是：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 + new String(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, 0,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));//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将字符转为字符串输出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fr.close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关闭流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 catch 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e.printStackTrace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97647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8964612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java.io.File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java.io.FileReader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java.io.FileWriter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java.io.IOException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FileReaderDemo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File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File("D:\\word.txt");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创建文件对象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try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FileWriter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fw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FileWriter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(file))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String word = "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明月几时有，把酒问青天。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写入的字符串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fw.write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(word);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将字符串写入到文件中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 catch 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e.printStackTrace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try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FileReader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FileReader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(file))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char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[] = new char[1024];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缓存字符数组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fr.read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将文件中的字符读入到缓存数组中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文件中的信息是：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" + new String(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, 0,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));//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将字符转为字符串输出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 catch (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e.printStackTrace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64236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343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输入输出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序列化与反序列化一个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Book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类对象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Book</a:t>
            </a:r>
            <a:r>
              <a:rPr lang="zh-CN" altLang="en-US" sz="18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 属性：书籍名，价格是隐私的；</a:t>
            </a: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把书名与价格输出到控制台上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4847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-57150"/>
            <a:ext cx="8964612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import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java.io.Serializable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Book implements  Serializable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private  String name;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private  Double price;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Book()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Book(String name, Double price)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this.name = name;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this.price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price;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String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toString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return "Book{" 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"name='" + name + '\'' 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", price=" + price 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    '}';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9538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-180528" y="-28575"/>
            <a:ext cx="9505056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public class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BookOutTest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public static void main(String[]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创建对象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Book b1 = new Book("Java", 100.0);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Book b2 = new Book("Python", 80.0);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Book b3 = new Book("C++", 60.0);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创建文件对象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File("D:book.dat");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try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ObjectOutputStream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oos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ObjectOutputStream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FileOutputStream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)))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//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写入对象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oos.writeObject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(b1);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oos.writeObject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(b2);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oos.writeObject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(b3);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 catch (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e.printStackTrace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7703907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-252536" y="0"/>
            <a:ext cx="10153128" cy="6915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//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反序列化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try 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ObjectInputStream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ois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= 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ObjectInputStream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(new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FileInputStream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(file))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)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读取对象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Book b11 = (Book)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ois.readObject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Book b22 = (Book)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ois.readObject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 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Book b33 = (Book)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ois.readObject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打印对象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(b11);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(b22);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(b33);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 catch (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|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ClassNotFoundException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e)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e.printStackTrace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13531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488063" cy="647799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练习题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FB0D9AE-A56C-4664-A141-79207CF5A05F}"/>
              </a:ext>
            </a:extLst>
          </p:cNvPr>
          <p:cNvSpPr txBox="1">
            <a:spLocks/>
          </p:cNvSpPr>
          <p:nvPr/>
        </p:nvSpPr>
        <p:spPr>
          <a:xfrm>
            <a:off x="343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多线程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需求：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）创建两个线程，一个线程负责打印数组中的每个元素，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另一个线程负责打印字母；两个线程交替打印。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数组中元素总数为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800" dirty="0">
              <a:solidFill>
                <a:sysClr val="windowText" lastClr="000000">
                  <a:lumMod val="85000"/>
                  <a:lumOff val="15000"/>
                </a:sys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）开启两个线程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，打印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，线程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打印奇数（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打印偶数（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01871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9260</TotalTime>
  <Words>7028</Words>
  <Application>Microsoft Office PowerPoint</Application>
  <PresentationFormat>全屏显示(4:3)</PresentationFormat>
  <Paragraphs>1176</Paragraphs>
  <Slides>83</Slides>
  <Notes>72</Notes>
  <HiddenSlides>2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83</vt:i4>
      </vt:variant>
    </vt:vector>
  </HeadingPairs>
  <TitlesOfParts>
    <vt:vector size="103" baseType="lpstr">
      <vt:lpstr>Alibaba PuHuiTi B</vt:lpstr>
      <vt:lpstr>Alibaba PuHuiTi Medium</vt:lpstr>
      <vt:lpstr>Alibaba PuHuiTi R</vt:lpstr>
      <vt:lpstr>阿里巴巴普惠体</vt:lpstr>
      <vt:lpstr>黑体</vt:lpstr>
      <vt:lpstr>楷体</vt:lpstr>
      <vt:lpstr>楷体_GB2312</vt:lpstr>
      <vt:lpstr>宋体</vt:lpstr>
      <vt:lpstr>微软雅黑</vt:lpstr>
      <vt:lpstr>杨任东竹石体-Bold</vt:lpstr>
      <vt:lpstr>Arial</vt:lpstr>
      <vt:lpstr>Calibri</vt:lpstr>
      <vt:lpstr>Century Schoolbook</vt:lpstr>
      <vt:lpstr>Consolas</vt:lpstr>
      <vt:lpstr>Courier New</vt:lpstr>
      <vt:lpstr>Times New Roman</vt:lpstr>
      <vt:lpstr>Wingdings</vt:lpstr>
      <vt:lpstr>Network</vt:lpstr>
      <vt:lpstr>1_Network</vt:lpstr>
      <vt:lpstr>2_Network</vt:lpstr>
      <vt:lpstr>总结复习</vt:lpstr>
      <vt:lpstr>1 类与对象</vt:lpstr>
      <vt:lpstr>内容小结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2 封装、继承、多态</vt:lpstr>
      <vt:lpstr>内容小结</vt:lpstr>
      <vt:lpstr>3 数组与集合</vt:lpstr>
      <vt:lpstr>3 数组与集合</vt:lpstr>
      <vt:lpstr>3 数组与集合</vt:lpstr>
      <vt:lpstr>3 数组与集合</vt:lpstr>
      <vt:lpstr>3 数组与集合</vt:lpstr>
      <vt:lpstr>3 数组与集合</vt:lpstr>
      <vt:lpstr>3 数组与集合</vt:lpstr>
      <vt:lpstr>3 数组与集合</vt:lpstr>
      <vt:lpstr>3 数组与集合</vt:lpstr>
      <vt:lpstr>内容小结</vt:lpstr>
      <vt:lpstr>4 异常处理</vt:lpstr>
      <vt:lpstr>PowerPoint 演示文稿</vt:lpstr>
      <vt:lpstr>奇怪的现象</vt:lpstr>
      <vt:lpstr>修正错误</vt:lpstr>
      <vt:lpstr>声明、抛出和捕获异常</vt:lpstr>
      <vt:lpstr>捕获异常</vt:lpstr>
      <vt:lpstr>PowerPoint 演示文稿</vt:lpstr>
      <vt:lpstr>PowerPoint 演示文稿</vt:lpstr>
      <vt:lpstr>内容小结</vt:lpstr>
      <vt:lpstr>5 输入输出</vt:lpstr>
      <vt:lpstr>PowerPoint 演示文稿</vt:lpstr>
      <vt:lpstr>PowerPoint 演示文稿</vt:lpstr>
      <vt:lpstr>PowerPoint 演示文稿</vt:lpstr>
      <vt:lpstr>5 输入输出</vt:lpstr>
      <vt:lpstr>IO 流体系结构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内容小结</vt:lpstr>
      <vt:lpstr>6 多线程</vt:lpstr>
      <vt:lpstr>练习题-综合</vt:lpstr>
      <vt:lpstr>PowerPoint 演示文稿</vt:lpstr>
      <vt:lpstr>练习题-综合</vt:lpstr>
      <vt:lpstr>PowerPoint 演示文稿</vt:lpstr>
      <vt:lpstr>PowerPoint 演示文稿</vt:lpstr>
      <vt:lpstr>PowerPoint 演示文稿</vt:lpstr>
      <vt:lpstr>练习题-综合</vt:lpstr>
      <vt:lpstr>PowerPoint 演示文稿</vt:lpstr>
      <vt:lpstr>练习题-综合</vt:lpstr>
      <vt:lpstr>PowerPoint 演示文稿</vt:lpstr>
      <vt:lpstr>PowerPoint 演示文稿</vt:lpstr>
      <vt:lpstr>PowerPoint 演示文稿</vt:lpstr>
      <vt:lpstr>练习题-综合</vt:lpstr>
      <vt:lpstr>PowerPoint 演示文稿</vt:lpstr>
      <vt:lpstr>PowerPoint 演示文稿</vt:lpstr>
      <vt:lpstr>PowerPoint 演示文稿</vt:lpstr>
      <vt:lpstr>练习题-综合</vt:lpstr>
      <vt:lpstr>PowerPoint 演示文稿</vt:lpstr>
      <vt:lpstr>练习题-综合</vt:lpstr>
      <vt:lpstr>PowerPoint 演示文稿</vt:lpstr>
      <vt:lpstr>PowerPoint 演示文稿</vt:lpstr>
      <vt:lpstr>练习题-综合</vt:lpstr>
      <vt:lpstr>PowerPoint 演示文稿</vt:lpstr>
      <vt:lpstr>PowerPoint 演示文稿</vt:lpstr>
      <vt:lpstr>PowerPoint 演示文稿</vt:lpstr>
      <vt:lpstr>练习题-综合</vt:lpstr>
    </vt:vector>
  </TitlesOfParts>
  <Company>HHU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Java面向对象程序设计</dc:title>
  <dc:creator>Yingchi Mao</dc:creator>
  <cp:lastModifiedBy>厚冰 张</cp:lastModifiedBy>
  <cp:revision>644</cp:revision>
  <dcterms:created xsi:type="dcterms:W3CDTF">2012-10-29T00:47:36Z</dcterms:created>
  <dcterms:modified xsi:type="dcterms:W3CDTF">2024-07-03T06:50:40Z</dcterms:modified>
</cp:coreProperties>
</file>