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4327" r:id="rId2"/>
    <p:sldMasterId id="2147484584" r:id="rId3"/>
    <p:sldMasterId id="2147484600" r:id="rId4"/>
  </p:sldMasterIdLst>
  <p:notesMasterIdLst>
    <p:notesMasterId r:id="rId116"/>
  </p:notesMasterIdLst>
  <p:sldIdLst>
    <p:sldId id="396" r:id="rId5"/>
    <p:sldId id="397" r:id="rId6"/>
    <p:sldId id="398" r:id="rId7"/>
    <p:sldId id="399" r:id="rId8"/>
    <p:sldId id="400" r:id="rId9"/>
    <p:sldId id="401" r:id="rId10"/>
    <p:sldId id="402" r:id="rId11"/>
    <p:sldId id="414" r:id="rId12"/>
    <p:sldId id="415" r:id="rId13"/>
    <p:sldId id="403" r:id="rId14"/>
    <p:sldId id="405" r:id="rId15"/>
    <p:sldId id="416" r:id="rId16"/>
    <p:sldId id="427" r:id="rId17"/>
    <p:sldId id="428" r:id="rId18"/>
    <p:sldId id="430" r:id="rId19"/>
    <p:sldId id="429" r:id="rId20"/>
    <p:sldId id="431" r:id="rId21"/>
    <p:sldId id="432" r:id="rId22"/>
    <p:sldId id="433" r:id="rId23"/>
    <p:sldId id="434" r:id="rId24"/>
    <p:sldId id="435" r:id="rId25"/>
    <p:sldId id="436" r:id="rId26"/>
    <p:sldId id="437" r:id="rId27"/>
    <p:sldId id="438" r:id="rId28"/>
    <p:sldId id="439" r:id="rId29"/>
    <p:sldId id="407" r:id="rId30"/>
    <p:sldId id="408" r:id="rId31"/>
    <p:sldId id="409" r:id="rId32"/>
    <p:sldId id="410" r:id="rId33"/>
    <p:sldId id="411" r:id="rId34"/>
    <p:sldId id="412" r:id="rId35"/>
    <p:sldId id="440" r:id="rId36"/>
    <p:sldId id="441" r:id="rId37"/>
    <p:sldId id="442" r:id="rId38"/>
    <p:sldId id="443" r:id="rId39"/>
    <p:sldId id="444" r:id="rId40"/>
    <p:sldId id="445" r:id="rId41"/>
    <p:sldId id="446" r:id="rId42"/>
    <p:sldId id="447" r:id="rId43"/>
    <p:sldId id="448" r:id="rId44"/>
    <p:sldId id="449" r:id="rId45"/>
    <p:sldId id="450" r:id="rId46"/>
    <p:sldId id="467" r:id="rId47"/>
    <p:sldId id="521" r:id="rId48"/>
    <p:sldId id="504" r:id="rId49"/>
    <p:sldId id="474" r:id="rId50"/>
    <p:sldId id="475" r:id="rId51"/>
    <p:sldId id="476" r:id="rId52"/>
    <p:sldId id="529" r:id="rId53"/>
    <p:sldId id="505" r:id="rId54"/>
    <p:sldId id="506" r:id="rId55"/>
    <p:sldId id="477" r:id="rId56"/>
    <p:sldId id="478" r:id="rId57"/>
    <p:sldId id="479" r:id="rId58"/>
    <p:sldId id="480" r:id="rId59"/>
    <p:sldId id="481" r:id="rId60"/>
    <p:sldId id="482" r:id="rId61"/>
    <p:sldId id="483" r:id="rId62"/>
    <p:sldId id="484" r:id="rId63"/>
    <p:sldId id="485" r:id="rId64"/>
    <p:sldId id="486" r:id="rId65"/>
    <p:sldId id="487" r:id="rId66"/>
    <p:sldId id="488" r:id="rId67"/>
    <p:sldId id="489" r:id="rId68"/>
    <p:sldId id="490" r:id="rId69"/>
    <p:sldId id="491" r:id="rId70"/>
    <p:sldId id="492" r:id="rId71"/>
    <p:sldId id="493" r:id="rId72"/>
    <p:sldId id="494" r:id="rId73"/>
    <p:sldId id="495" r:id="rId74"/>
    <p:sldId id="496" r:id="rId75"/>
    <p:sldId id="508" r:id="rId76"/>
    <p:sldId id="497" r:id="rId77"/>
    <p:sldId id="498" r:id="rId78"/>
    <p:sldId id="509" r:id="rId79"/>
    <p:sldId id="510" r:id="rId80"/>
    <p:sldId id="499" r:id="rId81"/>
    <p:sldId id="511" r:id="rId82"/>
    <p:sldId id="512" r:id="rId83"/>
    <p:sldId id="500" r:id="rId84"/>
    <p:sldId id="531" r:id="rId85"/>
    <p:sldId id="535" r:id="rId86"/>
    <p:sldId id="536" r:id="rId87"/>
    <p:sldId id="537" r:id="rId88"/>
    <p:sldId id="538" r:id="rId89"/>
    <p:sldId id="501" r:id="rId90"/>
    <p:sldId id="523" r:id="rId91"/>
    <p:sldId id="524" r:id="rId92"/>
    <p:sldId id="525" r:id="rId93"/>
    <p:sldId id="1706" r:id="rId94"/>
    <p:sldId id="526" r:id="rId95"/>
    <p:sldId id="502" r:id="rId96"/>
    <p:sldId id="503" r:id="rId97"/>
    <p:sldId id="1692" r:id="rId98"/>
    <p:sldId id="1693" r:id="rId99"/>
    <p:sldId id="1694" r:id="rId100"/>
    <p:sldId id="1695" r:id="rId101"/>
    <p:sldId id="1696" r:id="rId102"/>
    <p:sldId id="1697" r:id="rId103"/>
    <p:sldId id="527" r:id="rId104"/>
    <p:sldId id="530" r:id="rId105"/>
    <p:sldId id="532" r:id="rId106"/>
    <p:sldId id="533" r:id="rId107"/>
    <p:sldId id="1707" r:id="rId108"/>
    <p:sldId id="1711" r:id="rId109"/>
    <p:sldId id="1712" r:id="rId110"/>
    <p:sldId id="1709" r:id="rId111"/>
    <p:sldId id="1710" r:id="rId112"/>
    <p:sldId id="1713" r:id="rId113"/>
    <p:sldId id="1714" r:id="rId114"/>
    <p:sldId id="1708" r:id="rId11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FF"/>
    <a:srgbClr val="FFE181"/>
    <a:srgbClr val="008000"/>
    <a:srgbClr val="FFFF00"/>
    <a:srgbClr val="009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46" autoAdjust="0"/>
    <p:restoredTop sz="82816" autoAdjust="0"/>
  </p:normalViewPr>
  <p:slideViewPr>
    <p:cSldViewPr showGuides="1">
      <p:cViewPr>
        <p:scale>
          <a:sx n="125" d="100"/>
          <a:sy n="125" d="100"/>
        </p:scale>
        <p:origin x="90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presProps" Target="presProps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viewProps" Target="view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4899845-3118-4647-BA0C-4F82A435B84A}" type="datetimeFigureOut">
              <a:rPr lang="zh-CN" altLang="en-US"/>
              <a:pPr>
                <a:defRPr/>
              </a:pPr>
              <a:t>2024/5/23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716CC94-8A0D-40D0-A583-0E42F0F0FC4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8959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150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076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681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99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190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733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24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527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342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800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513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735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9379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062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2404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0688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47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549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180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5861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3147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8843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2597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0078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3597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6921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073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7765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8666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6989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5605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5620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2348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7524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1258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6307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005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5724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9458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4746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272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6079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500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4299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5401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0515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5205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1555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997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77857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29513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7942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00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0" y="0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0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179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358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0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179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358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37" y="1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0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179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58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37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716" y="3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0" y="536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179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58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37" y="536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0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179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358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37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716" y="715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0" y="89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179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358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37" y="894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0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179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358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37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179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37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600"/>
            </a:lvl1pPr>
          </a:lstStyle>
          <a:p>
            <a:r>
              <a:rPr lang="en-GB" altLang="zh-CN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000"/>
            </a:lvl1pPr>
          </a:lstStyle>
          <a:p>
            <a:r>
              <a:rPr lang="en-GB" altLang="zh-CN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000" b="0">
                <a:solidFill>
                  <a:srgbClr val="000000"/>
                </a:solidFill>
              </a:defRPr>
            </a:lvl1pPr>
          </a:lstStyle>
          <a:p>
            <a:fld id="{FDC0C7D8-A986-4A1D-B9EF-1F97E7C1DF4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3861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4459F7-7CA8-4F5C-B865-3877F161309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770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F4487A-7074-4502-B5B0-85DEA82FF59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2974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2BB5A6-A7E8-4FF6-8055-14FF5BBC366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50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5E4627-4099-409D-884F-AA676C9391E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8825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1FC84-389C-417A-B348-8C2D25E7BF4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497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0A40F-049D-44B9-863A-3B75A99A73B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099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DD69F-E8DC-44F5-A2E2-8C078E7CC33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8627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D2A316-4B5C-4114-A768-1E7329BF438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41836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6ABF51-56EC-48ED-AAA0-FD3E2185F0B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0839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188913"/>
            <a:ext cx="2057400" cy="59769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88913"/>
            <a:ext cx="6019800" cy="59769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144FE4-707D-4881-9F18-BF30EC9E0F1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96820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0198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381000" y="1066800"/>
            <a:ext cx="8382000" cy="54864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34358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8B1CA-00D0-45D6-A492-36ED3E1B403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06127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FB2A52-1113-455C-86A4-CC8EADCD903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20868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2EAE6F-BC8F-4E46-B0B7-F79A1DFE3C7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85749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D8F540-363B-470D-8658-151D337145C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9937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8BB07-C264-4E48-A8B2-4C93B1F5D9E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757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783074-E7DF-40B7-84DD-B1FE5F50D84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7633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0D8968-62C5-4DFE-9188-E269B33F211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27275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13621E-EAA9-4F99-844C-34C33A2A785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068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9A615-2194-4025-9D2C-0CC262BF858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3826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5DCEFF-82C3-4EBA-AB9A-B08D1EA3CE5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149241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188913"/>
            <a:ext cx="2057400" cy="59769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88913"/>
            <a:ext cx="6019800" cy="59769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36B241-6CA2-4D07-A513-5DBF065B645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77262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160" y="1002232"/>
            <a:ext cx="80241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160" y="1624205"/>
            <a:ext cx="80241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294326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161" y="1590102"/>
            <a:ext cx="8062199" cy="3850540"/>
          </a:xfrm>
          <a:prstGeom prst="rect">
            <a:avLst/>
          </a:prstGeom>
        </p:spPr>
        <p:txBody>
          <a:bodyPr/>
          <a:lstStyle>
            <a:lvl1pPr marL="270000" indent="-27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539354" indent="-269081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05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809625" indent="-269081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05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161" y="1002119"/>
            <a:ext cx="80621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31265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159" y="1603185"/>
            <a:ext cx="8039340" cy="3819718"/>
          </a:xfrm>
          <a:prstGeom prst="rect">
            <a:avLst/>
          </a:prstGeom>
        </p:spPr>
        <p:txBody>
          <a:bodyPr/>
          <a:lstStyle>
            <a:lvl1pPr marL="270000" indent="-27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540000" indent="-270000">
              <a:lnSpc>
                <a:spcPct val="150000"/>
              </a:lnSpc>
              <a:buFont typeface="+mj-lt"/>
              <a:buAutoNum type="arabicPeriod"/>
              <a:tabLst/>
              <a:defRPr lang="en-US" altLang="zh-CN" sz="105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809625" indent="-269081">
              <a:lnSpc>
                <a:spcPct val="150000"/>
              </a:lnSpc>
              <a:buFont typeface="+mj-ea"/>
              <a:buAutoNum type="circleNumDbPlain"/>
              <a:tabLst/>
              <a:defRPr lang="zh-CN" altLang="en-US" sz="105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161" y="1002233"/>
            <a:ext cx="803933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772054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160" y="1002232"/>
            <a:ext cx="8061042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160" y="1628518"/>
            <a:ext cx="8061043" cy="3922461"/>
          </a:xfrm>
          <a:prstGeom prst="rect">
            <a:avLst/>
          </a:prstGeom>
        </p:spPr>
        <p:txBody>
          <a:bodyPr/>
          <a:lstStyle>
            <a:lvl1pPr marL="270000" indent="-27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2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539354" indent="-269081">
              <a:buFont typeface="Wingdings" pitchFamily="2" charset="2"/>
              <a:buChar char="l"/>
              <a:tabLst/>
              <a:defRPr lang="en-US" altLang="zh-CN" sz="105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809625" indent="-269081">
              <a:buFont typeface="Wingdings" pitchFamily="2" charset="2"/>
              <a:buChar char="l"/>
              <a:tabLst/>
              <a:defRPr lang="zh-CN" altLang="en-US" sz="105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540000" lvl="1" indent="-27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540000" lvl="1" indent="-27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809625" lvl="2" indent="-269081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809625" lvl="2" indent="-269081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39698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161" y="1612212"/>
            <a:ext cx="7384256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161" y="1000749"/>
            <a:ext cx="73842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55588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161" y="1002232"/>
            <a:ext cx="803933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159" y="1598036"/>
            <a:ext cx="8039340" cy="4219575"/>
          </a:xfrm>
          <a:prstGeom prst="rect">
            <a:avLst/>
          </a:prstGeom>
        </p:spPr>
        <p:txBody>
          <a:bodyPr/>
          <a:lstStyle>
            <a:lvl1pPr marL="270000" indent="-27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540000" indent="-270000">
              <a:lnSpc>
                <a:spcPct val="150000"/>
              </a:lnSpc>
              <a:buFont typeface="+mj-lt"/>
              <a:buAutoNum type="arabicPeriod"/>
              <a:tabLst/>
              <a:defRPr lang="en-US" altLang="zh-CN" sz="105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809625" indent="-269081">
              <a:lnSpc>
                <a:spcPct val="150000"/>
              </a:lnSpc>
              <a:buFont typeface="+mj-ea"/>
              <a:buAutoNum type="circleNumDbPlain"/>
              <a:tabLst/>
              <a:defRPr lang="zh-CN" altLang="en-US" sz="105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6152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160" y="1002233"/>
            <a:ext cx="8061043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160" y="1618708"/>
            <a:ext cx="8061043" cy="4219575"/>
          </a:xfrm>
          <a:prstGeom prst="rect">
            <a:avLst/>
          </a:prstGeom>
        </p:spPr>
        <p:txBody>
          <a:bodyPr/>
          <a:lstStyle>
            <a:lvl1pPr marL="270000" indent="-27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2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539354" indent="-269081">
              <a:buFont typeface="Wingdings" pitchFamily="2" charset="2"/>
              <a:buChar char="l"/>
              <a:tabLst/>
              <a:defRPr lang="en-US" altLang="zh-CN" sz="105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809625" indent="-269081">
              <a:buFont typeface="Wingdings" pitchFamily="2" charset="2"/>
              <a:buChar char="l"/>
              <a:tabLst/>
              <a:defRPr lang="zh-CN" altLang="en-US" sz="105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540000" lvl="1" indent="-27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540000" lvl="1" indent="-27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809625" lvl="2" indent="-269081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809625" lvl="2" indent="-269081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08349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160" y="1002232"/>
            <a:ext cx="8058604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633552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604730" y="1056254"/>
            <a:ext cx="921357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397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500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6587" y="1103440"/>
            <a:ext cx="6910673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6587" y="1743281"/>
            <a:ext cx="6910673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717" y="1246948"/>
            <a:ext cx="15126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333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604730" y="1060146"/>
            <a:ext cx="921357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397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500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6587" y="1107332"/>
            <a:ext cx="6910673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6587" y="1747172"/>
            <a:ext cx="6910673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717" y="1250840"/>
            <a:ext cx="15126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793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604730" y="1054782"/>
            <a:ext cx="921357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397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500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6587" y="1101968"/>
            <a:ext cx="6910673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6587" y="1741809"/>
            <a:ext cx="6910673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717" y="1245476"/>
            <a:ext cx="15126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6937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552864" y="3638947"/>
            <a:ext cx="1225219" cy="792167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869948" y="2736980"/>
            <a:ext cx="1944550" cy="1257252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4938" y="1436556"/>
            <a:ext cx="4320404" cy="4710244"/>
          </a:xfrm>
          <a:prstGeom prst="rect">
            <a:avLst/>
          </a:prstGeom>
        </p:spPr>
        <p:txBody>
          <a:bodyPr anchor="ctr"/>
          <a:lstStyle>
            <a:lvl1pPr marL="257175" marR="0" indent="-257175" algn="l" defTabSz="6858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3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457189" indent="0">
              <a:buNone/>
              <a:defRPr/>
            </a:lvl2pPr>
            <a:lvl3pPr marL="914378" indent="0">
              <a:buNone/>
              <a:defRPr/>
            </a:lvl3pPr>
            <a:lvl4pPr marL="1371566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1565" y="2882670"/>
            <a:ext cx="1175657" cy="10795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2399729" y="2210161"/>
            <a:ext cx="566610" cy="366343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861400" y="4158649"/>
            <a:ext cx="298934" cy="193277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2661031" y="4446323"/>
            <a:ext cx="566612" cy="366344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786109" y="1807181"/>
            <a:ext cx="854974" cy="552785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6649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4938" y="1463040"/>
            <a:ext cx="4320404" cy="4511040"/>
          </a:xfrm>
          <a:prstGeom prst="rect">
            <a:avLst/>
          </a:prstGeom>
        </p:spPr>
        <p:txBody>
          <a:bodyPr anchor="ctr"/>
          <a:lstStyle>
            <a:lvl1pPr marL="257175" marR="0" indent="-257175" algn="l" defTabSz="6858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3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457189" indent="0">
              <a:buNone/>
              <a:defRPr/>
            </a:lvl2pPr>
            <a:lvl3pPr marL="914378" indent="0">
              <a:buNone/>
              <a:defRPr/>
            </a:lvl3pPr>
            <a:lvl4pPr marL="1371566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3829050" cy="10795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533160" y="1813093"/>
            <a:ext cx="2690512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3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34739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4938" y="1463040"/>
            <a:ext cx="4320404" cy="4511040"/>
          </a:xfrm>
          <a:prstGeom prst="rect">
            <a:avLst/>
          </a:prstGeom>
        </p:spPr>
        <p:txBody>
          <a:bodyPr anchor="ctr"/>
          <a:lstStyle>
            <a:lvl1pPr marL="257175" marR="0" indent="-257175" algn="l" defTabSz="6858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3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457189" indent="0">
              <a:buNone/>
              <a:defRPr/>
            </a:lvl2pPr>
            <a:lvl3pPr marL="914378" indent="0">
              <a:buNone/>
              <a:defRPr/>
            </a:lvl3pPr>
            <a:lvl4pPr marL="1371566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3829050" cy="10795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760458" y="3138371"/>
            <a:ext cx="104925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234022" y="2308178"/>
            <a:ext cx="1513463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53645" y="2553627"/>
            <a:ext cx="1175657" cy="154657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27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27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2747485" y="3963112"/>
            <a:ext cx="329943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1614366" y="1924997"/>
            <a:ext cx="195343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633747" y="3255023"/>
            <a:ext cx="421658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7374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2556263" y="3070142"/>
            <a:ext cx="936368" cy="702276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2702875" y="3976576"/>
            <a:ext cx="643144" cy="482358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169477" y="2031453"/>
            <a:ext cx="219635" cy="164726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107640" y="4173076"/>
            <a:ext cx="494750" cy="371063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694699" y="2070289"/>
            <a:ext cx="361655" cy="271241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133134" y="2629718"/>
            <a:ext cx="1828800" cy="13716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4938" y="1371600"/>
            <a:ext cx="4320404" cy="4673600"/>
          </a:xfrm>
          <a:prstGeom prst="rect">
            <a:avLst/>
          </a:prstGeom>
        </p:spPr>
        <p:txBody>
          <a:bodyPr anchor="ctr"/>
          <a:lstStyle>
            <a:lvl1pPr marL="257175" marR="0" indent="-257175" algn="l" defTabSz="6858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3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457189" indent="0">
              <a:buNone/>
              <a:defRPr/>
            </a:lvl2pPr>
            <a:lvl3pPr marL="914378" indent="0">
              <a:buNone/>
              <a:defRPr/>
            </a:lvl3pPr>
            <a:lvl4pPr marL="1371566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53645" y="2543117"/>
            <a:ext cx="1175657" cy="154657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27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27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27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3172113" y="2362767"/>
            <a:ext cx="263657" cy="197743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9365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244726"/>
            <a:ext cx="7905750" cy="1158875"/>
          </a:xfrm>
          <a:prstGeom prst="rect">
            <a:avLst/>
          </a:prstGeom>
        </p:spPr>
        <p:txBody>
          <a:bodyPr anchor="ctr"/>
          <a:lstStyle>
            <a:lvl1pPr>
              <a:defRPr sz="54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1" y="3454402"/>
            <a:ext cx="790574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241550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81075"/>
            <a:ext cx="82296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248400"/>
            <a:ext cx="1090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CC0000"/>
                </a:solidFill>
              </a:defRPr>
            </a:lvl1pPr>
          </a:lstStyle>
          <a:p>
            <a:fld id="{B41058CD-05C1-4343-BCB0-7C2419A04D2F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0" y="0"/>
            <a:chExt cx="528" cy="864"/>
          </a:xfrm>
        </p:grpSpPr>
        <p:sp>
          <p:nvSpPr>
            <p:cNvPr id="1034" name="Oval 9"/>
            <p:cNvSpPr>
              <a:spLocks noChangeArrowheads="1"/>
            </p:cNvSpPr>
            <p:nvPr/>
          </p:nvSpPr>
          <p:spPr bwMode="auto">
            <a:xfrm>
              <a:off x="0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5" name="Oval 10"/>
            <p:cNvSpPr>
              <a:spLocks noChangeArrowheads="1"/>
            </p:cNvSpPr>
            <p:nvPr/>
          </p:nvSpPr>
          <p:spPr bwMode="auto">
            <a:xfrm>
              <a:off x="112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6" name="Oval 11"/>
            <p:cNvSpPr>
              <a:spLocks noChangeArrowheads="1"/>
            </p:cNvSpPr>
            <p:nvPr/>
          </p:nvSpPr>
          <p:spPr bwMode="auto">
            <a:xfrm>
              <a:off x="224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7" name="Oval 12"/>
            <p:cNvSpPr>
              <a:spLocks noChangeArrowheads="1"/>
            </p:cNvSpPr>
            <p:nvPr/>
          </p:nvSpPr>
          <p:spPr bwMode="auto">
            <a:xfrm>
              <a:off x="0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8" name="Oval 13"/>
            <p:cNvSpPr>
              <a:spLocks noChangeArrowheads="1"/>
            </p:cNvSpPr>
            <p:nvPr/>
          </p:nvSpPr>
          <p:spPr bwMode="auto">
            <a:xfrm>
              <a:off x="112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9" name="Oval 14"/>
            <p:cNvSpPr>
              <a:spLocks noChangeArrowheads="1"/>
            </p:cNvSpPr>
            <p:nvPr/>
          </p:nvSpPr>
          <p:spPr bwMode="auto">
            <a:xfrm>
              <a:off x="224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0" name="Oval 15"/>
            <p:cNvSpPr>
              <a:spLocks noChangeArrowheads="1"/>
            </p:cNvSpPr>
            <p:nvPr/>
          </p:nvSpPr>
          <p:spPr bwMode="auto">
            <a:xfrm>
              <a:off x="336" y="11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1" name="Oval 16"/>
            <p:cNvSpPr>
              <a:spLocks noChangeArrowheads="1"/>
            </p:cNvSpPr>
            <p:nvPr/>
          </p:nvSpPr>
          <p:spPr bwMode="auto">
            <a:xfrm>
              <a:off x="0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2" name="Oval 17"/>
            <p:cNvSpPr>
              <a:spLocks noChangeArrowheads="1"/>
            </p:cNvSpPr>
            <p:nvPr/>
          </p:nvSpPr>
          <p:spPr bwMode="auto">
            <a:xfrm>
              <a:off x="112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3" name="Oval 18"/>
            <p:cNvSpPr>
              <a:spLocks noChangeArrowheads="1"/>
            </p:cNvSpPr>
            <p:nvPr/>
          </p:nvSpPr>
          <p:spPr bwMode="auto">
            <a:xfrm>
              <a:off x="224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4" name="Oval 19"/>
            <p:cNvSpPr>
              <a:spLocks noChangeArrowheads="1"/>
            </p:cNvSpPr>
            <p:nvPr/>
          </p:nvSpPr>
          <p:spPr bwMode="auto">
            <a:xfrm>
              <a:off x="336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5" name="Oval 20"/>
            <p:cNvSpPr>
              <a:spLocks noChangeArrowheads="1"/>
            </p:cNvSpPr>
            <p:nvPr/>
          </p:nvSpPr>
          <p:spPr bwMode="auto">
            <a:xfrm>
              <a:off x="448" y="22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6" name="Oval 21"/>
            <p:cNvSpPr>
              <a:spLocks noChangeArrowheads="1"/>
            </p:cNvSpPr>
            <p:nvPr/>
          </p:nvSpPr>
          <p:spPr bwMode="auto">
            <a:xfrm>
              <a:off x="0" y="33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7" name="Oval 22"/>
            <p:cNvSpPr>
              <a:spLocks noChangeArrowheads="1"/>
            </p:cNvSpPr>
            <p:nvPr/>
          </p:nvSpPr>
          <p:spPr bwMode="auto">
            <a:xfrm>
              <a:off x="112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8" name="Oval 23"/>
            <p:cNvSpPr>
              <a:spLocks noChangeArrowheads="1"/>
            </p:cNvSpPr>
            <p:nvPr/>
          </p:nvSpPr>
          <p:spPr bwMode="auto">
            <a:xfrm>
              <a:off x="224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9" name="Oval 24"/>
            <p:cNvSpPr>
              <a:spLocks noChangeArrowheads="1"/>
            </p:cNvSpPr>
            <p:nvPr/>
          </p:nvSpPr>
          <p:spPr bwMode="auto">
            <a:xfrm>
              <a:off x="336" y="33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0" name="Oval 25"/>
            <p:cNvSpPr>
              <a:spLocks noChangeArrowheads="1"/>
            </p:cNvSpPr>
            <p:nvPr/>
          </p:nvSpPr>
          <p:spPr bwMode="auto">
            <a:xfrm>
              <a:off x="0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1" name="Oval 26"/>
            <p:cNvSpPr>
              <a:spLocks noChangeArrowheads="1"/>
            </p:cNvSpPr>
            <p:nvPr/>
          </p:nvSpPr>
          <p:spPr bwMode="auto">
            <a:xfrm>
              <a:off x="112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2" name="Oval 27"/>
            <p:cNvSpPr>
              <a:spLocks noChangeArrowheads="1"/>
            </p:cNvSpPr>
            <p:nvPr/>
          </p:nvSpPr>
          <p:spPr bwMode="auto">
            <a:xfrm>
              <a:off x="224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3" name="Oval 28"/>
            <p:cNvSpPr>
              <a:spLocks noChangeArrowheads="1"/>
            </p:cNvSpPr>
            <p:nvPr/>
          </p:nvSpPr>
          <p:spPr bwMode="auto">
            <a:xfrm>
              <a:off x="336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4" name="Oval 29"/>
            <p:cNvSpPr>
              <a:spLocks noChangeArrowheads="1"/>
            </p:cNvSpPr>
            <p:nvPr/>
          </p:nvSpPr>
          <p:spPr bwMode="auto">
            <a:xfrm>
              <a:off x="448" y="44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5" name="Oval 30"/>
            <p:cNvSpPr>
              <a:spLocks noChangeArrowheads="1"/>
            </p:cNvSpPr>
            <p:nvPr/>
          </p:nvSpPr>
          <p:spPr bwMode="auto">
            <a:xfrm>
              <a:off x="0" y="56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6" name="Oval 31"/>
            <p:cNvSpPr>
              <a:spLocks noChangeArrowheads="1"/>
            </p:cNvSpPr>
            <p:nvPr/>
          </p:nvSpPr>
          <p:spPr bwMode="auto">
            <a:xfrm>
              <a:off x="112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7" name="Oval 32"/>
            <p:cNvSpPr>
              <a:spLocks noChangeArrowheads="1"/>
            </p:cNvSpPr>
            <p:nvPr/>
          </p:nvSpPr>
          <p:spPr bwMode="auto">
            <a:xfrm>
              <a:off x="224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8" name="Oval 33"/>
            <p:cNvSpPr>
              <a:spLocks noChangeArrowheads="1"/>
            </p:cNvSpPr>
            <p:nvPr/>
          </p:nvSpPr>
          <p:spPr bwMode="auto">
            <a:xfrm>
              <a:off x="336" y="56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9" name="Oval 34"/>
            <p:cNvSpPr>
              <a:spLocks noChangeArrowheads="1"/>
            </p:cNvSpPr>
            <p:nvPr/>
          </p:nvSpPr>
          <p:spPr bwMode="auto">
            <a:xfrm>
              <a:off x="0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0" name="Oval 35"/>
            <p:cNvSpPr>
              <a:spLocks noChangeArrowheads="1"/>
            </p:cNvSpPr>
            <p:nvPr/>
          </p:nvSpPr>
          <p:spPr bwMode="auto">
            <a:xfrm>
              <a:off x="112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1" name="Oval 36"/>
            <p:cNvSpPr>
              <a:spLocks noChangeArrowheads="1"/>
            </p:cNvSpPr>
            <p:nvPr/>
          </p:nvSpPr>
          <p:spPr bwMode="auto">
            <a:xfrm>
              <a:off x="224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2" name="Oval 37"/>
            <p:cNvSpPr>
              <a:spLocks noChangeArrowheads="1"/>
            </p:cNvSpPr>
            <p:nvPr/>
          </p:nvSpPr>
          <p:spPr bwMode="auto">
            <a:xfrm>
              <a:off x="336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3" name="Oval 38"/>
            <p:cNvSpPr>
              <a:spLocks noChangeArrowheads="1"/>
            </p:cNvSpPr>
            <p:nvPr/>
          </p:nvSpPr>
          <p:spPr bwMode="auto">
            <a:xfrm>
              <a:off x="112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4" name="Oval 39"/>
            <p:cNvSpPr>
              <a:spLocks noChangeArrowheads="1"/>
            </p:cNvSpPr>
            <p:nvPr/>
          </p:nvSpPr>
          <p:spPr bwMode="auto">
            <a:xfrm>
              <a:off x="336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033" name="Text Box 40"/>
          <p:cNvSpPr txBox="1">
            <a:spLocks noChangeArrowheads="1"/>
          </p:cNvSpPr>
          <p:nvPr userDrawn="1"/>
        </p:nvSpPr>
        <p:spPr bwMode="auto">
          <a:xfrm>
            <a:off x="8532813" y="6308725"/>
            <a:ext cx="436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A11E58A-4DC0-4297-9F8F-6F54B394C81F}" type="slidenum">
              <a:rPr lang="en-GB" altLang="en-US" b="1">
                <a:solidFill>
                  <a:srgbClr val="CC0000"/>
                </a:solidFill>
              </a:rPr>
              <a:pPr eaLnBrk="1" hangingPunct="1"/>
              <a:t>‹#›</a:t>
            </a:fld>
            <a:endParaRPr lang="zh-CN" altLang="en-US" b="1">
              <a:solidFill>
                <a:srgbClr val="CC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72" r:id="rId1"/>
    <p:sldLayoutId id="2147484573" r:id="rId2"/>
    <p:sldLayoutId id="2147484574" r:id="rId3"/>
    <p:sldLayoutId id="2147484575" r:id="rId4"/>
    <p:sldLayoutId id="2147484576" r:id="rId5"/>
    <p:sldLayoutId id="2147484577" r:id="rId6"/>
    <p:sldLayoutId id="2147484578" r:id="rId7"/>
    <p:sldLayoutId id="2147484579" r:id="rId8"/>
    <p:sldLayoutId id="2147484580" r:id="rId9"/>
    <p:sldLayoutId id="2147484581" r:id="rId10"/>
    <p:sldLayoutId id="2147484582" r:id="rId11"/>
    <p:sldLayoutId id="214748458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Times New Roman" pitchFamily="18" charset="0"/>
          <a:ea typeface="楷体_GB2312" pitchFamily="1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楷体_GB2312" pitchFamily="1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楷体_GB2312" pitchFamily="1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81075"/>
            <a:ext cx="82296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248400"/>
            <a:ext cx="1090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CC0000"/>
                </a:solidFill>
              </a:defRPr>
            </a:lvl1pPr>
          </a:lstStyle>
          <a:p>
            <a:fld id="{7112BFB2-C792-4C0D-A438-D3B8604AF4C0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2056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0" y="0"/>
            <a:chExt cx="528" cy="864"/>
          </a:xfrm>
        </p:grpSpPr>
        <p:sp>
          <p:nvSpPr>
            <p:cNvPr id="2058" name="Oval 9"/>
            <p:cNvSpPr>
              <a:spLocks noChangeArrowheads="1"/>
            </p:cNvSpPr>
            <p:nvPr/>
          </p:nvSpPr>
          <p:spPr bwMode="auto">
            <a:xfrm>
              <a:off x="0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59" name="Oval 10"/>
            <p:cNvSpPr>
              <a:spLocks noChangeArrowheads="1"/>
            </p:cNvSpPr>
            <p:nvPr/>
          </p:nvSpPr>
          <p:spPr bwMode="auto">
            <a:xfrm>
              <a:off x="112" y="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0" name="Oval 11"/>
            <p:cNvSpPr>
              <a:spLocks noChangeArrowheads="1"/>
            </p:cNvSpPr>
            <p:nvPr/>
          </p:nvSpPr>
          <p:spPr bwMode="auto">
            <a:xfrm>
              <a:off x="224" y="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1" name="Oval 12"/>
            <p:cNvSpPr>
              <a:spLocks noChangeArrowheads="1"/>
            </p:cNvSpPr>
            <p:nvPr/>
          </p:nvSpPr>
          <p:spPr bwMode="auto">
            <a:xfrm>
              <a:off x="0" y="112"/>
              <a:ext cx="80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2" name="Oval 13"/>
            <p:cNvSpPr>
              <a:spLocks noChangeArrowheads="1"/>
            </p:cNvSpPr>
            <p:nvPr/>
          </p:nvSpPr>
          <p:spPr bwMode="auto">
            <a:xfrm>
              <a:off x="112" y="112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3" name="Oval 14"/>
            <p:cNvSpPr>
              <a:spLocks noChangeArrowheads="1"/>
            </p:cNvSpPr>
            <p:nvPr/>
          </p:nvSpPr>
          <p:spPr bwMode="auto">
            <a:xfrm>
              <a:off x="224" y="112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4" name="Oval 15"/>
            <p:cNvSpPr>
              <a:spLocks noChangeArrowheads="1"/>
            </p:cNvSpPr>
            <p:nvPr/>
          </p:nvSpPr>
          <p:spPr bwMode="auto">
            <a:xfrm>
              <a:off x="336" y="112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5" name="Oval 16"/>
            <p:cNvSpPr>
              <a:spLocks noChangeArrowheads="1"/>
            </p:cNvSpPr>
            <p:nvPr/>
          </p:nvSpPr>
          <p:spPr bwMode="auto">
            <a:xfrm>
              <a:off x="0" y="224"/>
              <a:ext cx="80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6" name="Oval 17"/>
            <p:cNvSpPr>
              <a:spLocks noChangeArrowheads="1"/>
            </p:cNvSpPr>
            <p:nvPr/>
          </p:nvSpPr>
          <p:spPr bwMode="auto">
            <a:xfrm>
              <a:off x="112" y="224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7" name="Oval 18"/>
            <p:cNvSpPr>
              <a:spLocks noChangeArrowheads="1"/>
            </p:cNvSpPr>
            <p:nvPr/>
          </p:nvSpPr>
          <p:spPr bwMode="auto">
            <a:xfrm>
              <a:off x="224" y="224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8" name="Oval 19"/>
            <p:cNvSpPr>
              <a:spLocks noChangeArrowheads="1"/>
            </p:cNvSpPr>
            <p:nvPr/>
          </p:nvSpPr>
          <p:spPr bwMode="auto">
            <a:xfrm>
              <a:off x="336" y="224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69" name="Oval 20"/>
            <p:cNvSpPr>
              <a:spLocks noChangeArrowheads="1"/>
            </p:cNvSpPr>
            <p:nvPr/>
          </p:nvSpPr>
          <p:spPr bwMode="auto">
            <a:xfrm>
              <a:off x="448" y="224"/>
              <a:ext cx="80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0" name="Oval 21"/>
            <p:cNvSpPr>
              <a:spLocks noChangeArrowheads="1"/>
            </p:cNvSpPr>
            <p:nvPr/>
          </p:nvSpPr>
          <p:spPr bwMode="auto">
            <a:xfrm>
              <a:off x="0" y="33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1" name="Oval 22"/>
            <p:cNvSpPr>
              <a:spLocks noChangeArrowheads="1"/>
            </p:cNvSpPr>
            <p:nvPr/>
          </p:nvSpPr>
          <p:spPr bwMode="auto">
            <a:xfrm>
              <a:off x="112" y="33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2" name="Oval 23"/>
            <p:cNvSpPr>
              <a:spLocks noChangeArrowheads="1"/>
            </p:cNvSpPr>
            <p:nvPr/>
          </p:nvSpPr>
          <p:spPr bwMode="auto">
            <a:xfrm>
              <a:off x="224" y="33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3" name="Oval 24"/>
            <p:cNvSpPr>
              <a:spLocks noChangeArrowheads="1"/>
            </p:cNvSpPr>
            <p:nvPr/>
          </p:nvSpPr>
          <p:spPr bwMode="auto">
            <a:xfrm>
              <a:off x="336" y="336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4" name="Oval 25"/>
            <p:cNvSpPr>
              <a:spLocks noChangeArrowheads="1"/>
            </p:cNvSpPr>
            <p:nvPr/>
          </p:nvSpPr>
          <p:spPr bwMode="auto">
            <a:xfrm>
              <a:off x="0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5" name="Oval 26"/>
            <p:cNvSpPr>
              <a:spLocks noChangeArrowheads="1"/>
            </p:cNvSpPr>
            <p:nvPr/>
          </p:nvSpPr>
          <p:spPr bwMode="auto">
            <a:xfrm>
              <a:off x="112" y="44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6" name="Oval 27"/>
            <p:cNvSpPr>
              <a:spLocks noChangeArrowheads="1"/>
            </p:cNvSpPr>
            <p:nvPr/>
          </p:nvSpPr>
          <p:spPr bwMode="auto">
            <a:xfrm>
              <a:off x="224" y="448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7" name="Oval 28"/>
            <p:cNvSpPr>
              <a:spLocks noChangeArrowheads="1"/>
            </p:cNvSpPr>
            <p:nvPr/>
          </p:nvSpPr>
          <p:spPr bwMode="auto">
            <a:xfrm>
              <a:off x="336" y="448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8" name="Oval 29"/>
            <p:cNvSpPr>
              <a:spLocks noChangeArrowheads="1"/>
            </p:cNvSpPr>
            <p:nvPr/>
          </p:nvSpPr>
          <p:spPr bwMode="auto">
            <a:xfrm>
              <a:off x="448" y="44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79" name="Oval 30"/>
            <p:cNvSpPr>
              <a:spLocks noChangeArrowheads="1"/>
            </p:cNvSpPr>
            <p:nvPr/>
          </p:nvSpPr>
          <p:spPr bwMode="auto">
            <a:xfrm>
              <a:off x="0" y="56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0" name="Oval 31"/>
            <p:cNvSpPr>
              <a:spLocks noChangeArrowheads="1"/>
            </p:cNvSpPr>
            <p:nvPr/>
          </p:nvSpPr>
          <p:spPr bwMode="auto">
            <a:xfrm>
              <a:off x="112" y="56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1" name="Oval 32"/>
            <p:cNvSpPr>
              <a:spLocks noChangeArrowheads="1"/>
            </p:cNvSpPr>
            <p:nvPr/>
          </p:nvSpPr>
          <p:spPr bwMode="auto">
            <a:xfrm>
              <a:off x="224" y="56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2" name="Oval 33"/>
            <p:cNvSpPr>
              <a:spLocks noChangeArrowheads="1"/>
            </p:cNvSpPr>
            <p:nvPr/>
          </p:nvSpPr>
          <p:spPr bwMode="auto">
            <a:xfrm>
              <a:off x="336" y="560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3" name="Oval 34"/>
            <p:cNvSpPr>
              <a:spLocks noChangeArrowheads="1"/>
            </p:cNvSpPr>
            <p:nvPr/>
          </p:nvSpPr>
          <p:spPr bwMode="auto">
            <a:xfrm>
              <a:off x="0" y="672"/>
              <a:ext cx="80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4" name="Oval 35"/>
            <p:cNvSpPr>
              <a:spLocks noChangeArrowheads="1"/>
            </p:cNvSpPr>
            <p:nvPr/>
          </p:nvSpPr>
          <p:spPr bwMode="auto">
            <a:xfrm>
              <a:off x="112" y="672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5" name="Oval 36"/>
            <p:cNvSpPr>
              <a:spLocks noChangeArrowheads="1"/>
            </p:cNvSpPr>
            <p:nvPr/>
          </p:nvSpPr>
          <p:spPr bwMode="auto">
            <a:xfrm>
              <a:off x="224" y="672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6" name="Oval 37"/>
            <p:cNvSpPr>
              <a:spLocks noChangeArrowheads="1"/>
            </p:cNvSpPr>
            <p:nvPr/>
          </p:nvSpPr>
          <p:spPr bwMode="auto">
            <a:xfrm>
              <a:off x="336" y="672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7" name="Oval 38"/>
            <p:cNvSpPr>
              <a:spLocks noChangeArrowheads="1"/>
            </p:cNvSpPr>
            <p:nvPr/>
          </p:nvSpPr>
          <p:spPr bwMode="auto">
            <a:xfrm>
              <a:off x="112" y="78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88" name="Oval 39"/>
            <p:cNvSpPr>
              <a:spLocks noChangeArrowheads="1"/>
            </p:cNvSpPr>
            <p:nvPr/>
          </p:nvSpPr>
          <p:spPr bwMode="auto">
            <a:xfrm>
              <a:off x="336" y="78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033" name="Text Box 40"/>
          <p:cNvSpPr txBox="1">
            <a:spLocks noChangeArrowheads="1"/>
          </p:cNvSpPr>
          <p:nvPr userDrawn="1"/>
        </p:nvSpPr>
        <p:spPr bwMode="auto">
          <a:xfrm>
            <a:off x="8532813" y="6308725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E1C50F-8402-4AFB-AE32-0A8179A7378F}" type="slidenum">
              <a:rPr lang="en-GB" altLang="en-US" b="1">
                <a:solidFill>
                  <a:srgbClr val="CC0000"/>
                </a:solidFill>
              </a:rPr>
              <a:pPr eaLnBrk="1" hangingPunct="1"/>
              <a:t>‹#›</a:t>
            </a:fld>
            <a:endParaRPr lang="zh-CN" altLang="en-US" b="1">
              <a:solidFill>
                <a:srgbClr val="CC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1" r:id="rId1"/>
    <p:sldLayoutId id="2147484562" r:id="rId2"/>
    <p:sldLayoutId id="2147484563" r:id="rId3"/>
    <p:sldLayoutId id="2147484564" r:id="rId4"/>
    <p:sldLayoutId id="2147484565" r:id="rId5"/>
    <p:sldLayoutId id="2147484566" r:id="rId6"/>
    <p:sldLayoutId id="2147484567" r:id="rId7"/>
    <p:sldLayoutId id="2147484568" r:id="rId8"/>
    <p:sldLayoutId id="2147484569" r:id="rId9"/>
    <p:sldLayoutId id="2147484570" r:id="rId10"/>
    <p:sldLayoutId id="21474845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Times New Roman" pitchFamily="18" charset="0"/>
          <a:ea typeface="楷体_GB2312" pitchFamily="1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楷体_GB2312" pitchFamily="1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楷体_GB2312" pitchFamily="1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5pPr>
      <a:lvl6pPr marL="20558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6pPr>
      <a:lvl7pPr marL="25130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7pPr>
      <a:lvl8pPr marL="29702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8pPr>
      <a:lvl9pPr marL="34274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3378201" y="260139"/>
            <a:ext cx="5765795" cy="334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75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39413" y="1"/>
            <a:ext cx="168593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39413" y="719893"/>
            <a:ext cx="1674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1925300" y="719635"/>
            <a:ext cx="52677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7111427" y="719635"/>
            <a:ext cx="16227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7209441" y="6582370"/>
            <a:ext cx="300674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7937" y="6779345"/>
            <a:ext cx="7543452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18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7359778" y="6582370"/>
            <a:ext cx="1784222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18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7462678" y="6535936"/>
            <a:ext cx="16813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B9BDD19A-C7FB-7D47-8606-6F7EF76E2F39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404" y="-85784"/>
            <a:ext cx="2000044" cy="117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46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5" r:id="rId1"/>
    <p:sldLayoutId id="2147484586" r:id="rId2"/>
    <p:sldLayoutId id="2147484587" r:id="rId3"/>
    <p:sldLayoutId id="2147484588" r:id="rId4"/>
    <p:sldLayoutId id="2147484589" r:id="rId5"/>
    <p:sldLayoutId id="2147484590" r:id="rId6"/>
    <p:sldLayoutId id="2147484591" r:id="rId7"/>
    <p:sldLayoutId id="2147484592" r:id="rId8"/>
    <p:sldLayoutId id="2147484593" r:id="rId9"/>
    <p:sldLayoutId id="2147484594" r:id="rId10"/>
    <p:sldLayoutId id="2147484595" r:id="rId11"/>
    <p:sldLayoutId id="2147484596" r:id="rId12"/>
    <p:sldLayoutId id="2147484597" r:id="rId13"/>
    <p:sldLayoutId id="2147484598" r:id="rId14"/>
    <p:sldLayoutId id="214748459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189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378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566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754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6374981" y="-102153"/>
            <a:ext cx="1034350" cy="852487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7075425" y="810254"/>
            <a:ext cx="523072" cy="338194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5955574" y="1053323"/>
            <a:ext cx="523072" cy="338194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7691087" y="162098"/>
            <a:ext cx="196767" cy="127220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2652724" y="989228"/>
            <a:ext cx="886529" cy="573188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8423824" y="1247417"/>
            <a:ext cx="206955" cy="133808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662999" y="698801"/>
            <a:ext cx="206955" cy="133808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3377562" y="815356"/>
            <a:ext cx="369001" cy="238579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7497910" y="1131213"/>
            <a:ext cx="485317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2923812" y="466241"/>
            <a:ext cx="518961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764" y="5296484"/>
            <a:ext cx="2674473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8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2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9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9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9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685800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第四章 数组与字符串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341438"/>
            <a:ext cx="7467600" cy="5257800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4.3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4.1.1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数组的概念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632079" cy="202230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GB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数组由同一类型的一连串对象或者基本数据组成，并封装在同一个标识符（数组名称）下。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占用连续的内存地址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数组的静态性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一旦创建就不能修改数组的长度</a:t>
            </a:r>
          </a:p>
          <a:p>
            <a:endParaRPr lang="en-GB" altLang="zh-CN" sz="2400" dirty="0">
              <a:ea typeface="宋体" panose="02010600030101010101" pitchFamily="2" charset="-122"/>
            </a:endParaRPr>
          </a:p>
        </p:txBody>
      </p:sp>
      <p:sp>
        <p:nvSpPr>
          <p:cNvPr id="16388" name="Text Box 20"/>
          <p:cNvSpPr txBox="1">
            <a:spLocks noChangeArrowheads="1"/>
          </p:cNvSpPr>
          <p:nvPr/>
        </p:nvSpPr>
        <p:spPr bwMode="auto">
          <a:xfrm>
            <a:off x="7546975" y="425132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数组元素的值</a:t>
            </a:r>
          </a:p>
        </p:txBody>
      </p:sp>
      <p:sp>
        <p:nvSpPr>
          <p:cNvPr id="16389" name="Line 26"/>
          <p:cNvSpPr>
            <a:spLocks noChangeShapeType="1"/>
          </p:cNvSpPr>
          <p:nvPr/>
        </p:nvSpPr>
        <p:spPr bwMode="auto">
          <a:xfrm flipH="1" flipV="1">
            <a:off x="6800850" y="4457700"/>
            <a:ext cx="636588" cy="158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Group 92"/>
          <p:cNvGraphicFramePr>
            <a:graphicFrameLocks/>
          </p:cNvGraphicFramePr>
          <p:nvPr/>
        </p:nvGraphicFramePr>
        <p:xfrm>
          <a:off x="5999163" y="3190875"/>
          <a:ext cx="1028700" cy="3502028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80.5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73.5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91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78.5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414" name="Rectangle 90"/>
          <p:cNvSpPr>
            <a:spLocks noChangeArrowheads="1"/>
          </p:cNvSpPr>
          <p:nvPr/>
        </p:nvSpPr>
        <p:spPr bwMode="auto">
          <a:xfrm>
            <a:off x="-8056" y="5607015"/>
            <a:ext cx="4536182" cy="4810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[] scores =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[10];</a:t>
            </a:r>
          </a:p>
        </p:txBody>
      </p:sp>
      <p:graphicFrame>
        <p:nvGraphicFramePr>
          <p:cNvPr id="8" name="Group 139"/>
          <p:cNvGraphicFramePr>
            <a:graphicFrameLocks noGrp="1"/>
          </p:cNvGraphicFramePr>
          <p:nvPr/>
        </p:nvGraphicFramePr>
        <p:xfrm>
          <a:off x="4538663" y="3190875"/>
          <a:ext cx="1371600" cy="35020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scores[0]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scores[1]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scores[2]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scores[3]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scores[4]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scores[5]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scores[6]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scores[7]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scores[8]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scores[9]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426" name="Line 141"/>
          <p:cNvSpPr>
            <a:spLocks noChangeShapeType="1"/>
          </p:cNvSpPr>
          <p:nvPr/>
        </p:nvSpPr>
        <p:spPr bwMode="auto">
          <a:xfrm>
            <a:off x="3944938" y="4456113"/>
            <a:ext cx="658812" cy="158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7" name="Text Box 142"/>
          <p:cNvSpPr txBox="1">
            <a:spLocks noChangeArrowheads="1"/>
          </p:cNvSpPr>
          <p:nvPr/>
        </p:nvSpPr>
        <p:spPr bwMode="auto">
          <a:xfrm>
            <a:off x="1747838" y="4283804"/>
            <a:ext cx="22303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索引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的数组元素</a:t>
            </a:r>
          </a:p>
        </p:txBody>
      </p:sp>
      <p:sp>
        <p:nvSpPr>
          <p:cNvPr id="16428" name="Line 143"/>
          <p:cNvSpPr>
            <a:spLocks noChangeShapeType="1"/>
          </p:cNvSpPr>
          <p:nvPr/>
        </p:nvSpPr>
        <p:spPr bwMode="auto">
          <a:xfrm>
            <a:off x="3970338" y="3198813"/>
            <a:ext cx="2017712" cy="4762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9" name="Text Box 144"/>
          <p:cNvSpPr txBox="1">
            <a:spLocks noChangeArrowheads="1"/>
          </p:cNvSpPr>
          <p:nvPr/>
        </p:nvSpPr>
        <p:spPr bwMode="auto">
          <a:xfrm>
            <a:off x="1907704" y="3017838"/>
            <a:ext cx="2114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scores</a:t>
            </a:r>
            <a:r>
              <a:rPr lang="en-US" altLang="zh-CN" b="1" dirty="0"/>
              <a:t>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数组引用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4.1.1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数组的概念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616575"/>
          </a:xfrm>
        </p:spPr>
        <p:txBody>
          <a:bodyPr/>
          <a:lstStyle/>
          <a:p>
            <a:r>
              <a:rPr lang="zh-CN" altLang="en-GB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数组是对象</a:t>
            </a:r>
            <a:endParaRPr lang="en-GB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动态初始化</a:t>
            </a:r>
            <a:endParaRPr lang="en-GB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可以赋值给</a:t>
            </a:r>
            <a:r>
              <a:rPr lang="en-GB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Object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类型的变量</a:t>
            </a:r>
            <a:endParaRPr lang="en-GB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在数组中可以调用类</a:t>
            </a:r>
            <a:r>
              <a:rPr lang="en-GB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Object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 的所有方法</a:t>
            </a:r>
            <a:endParaRPr lang="en-GB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GB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数组元素</a:t>
            </a:r>
            <a:endParaRPr lang="en-GB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数组中的变量被称作数组的元素</a:t>
            </a:r>
          </a:p>
          <a:p>
            <a:pPr lvl="1"/>
            <a:r>
              <a:rPr lang="zh-CN" altLang="en-GB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元素没有名字，通过数组名字和非负整数下标值引用数组元素。</a:t>
            </a:r>
            <a:endParaRPr lang="en-GB" altLang="zh-CN" b="0" dirty="0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920111" cy="5688013"/>
          </a:xfrm>
        </p:spPr>
        <p:txBody>
          <a:bodyPr/>
          <a:lstStyle/>
          <a:p>
            <a:r>
              <a:rPr lang="zh-CN" altLang="en-GB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数组声明</a:t>
            </a:r>
            <a:r>
              <a:rPr lang="en-GB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GB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GB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Declaration</a:t>
            </a:r>
            <a:r>
              <a:rPr lang="zh-CN" altLang="en-GB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lvl="1">
              <a:lnSpc>
                <a:spcPct val="110000"/>
              </a:lnSpc>
            </a:pP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声明数组时无需指明数组元素的个数，也不为数组元素分配内存空间</a:t>
            </a:r>
          </a:p>
          <a:p>
            <a:pPr lvl="1">
              <a:lnSpc>
                <a:spcPct val="110000"/>
              </a:lnSpc>
            </a:pP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不能直接使用，必须经过初始化分配内存后才能使用</a:t>
            </a:r>
            <a:endParaRPr lang="zh-CN" alt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语法：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Type[ ] </a:t>
            </a:r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arrayName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</a:p>
          <a:p>
            <a:pPr lvl="2"/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[]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intArray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String[] 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stringArray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lvl="1"/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Type  </a:t>
            </a:r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arrayName</a:t>
            </a:r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 ];   </a:t>
            </a:r>
          </a:p>
          <a:p>
            <a:pPr lvl="2"/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intArray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[];  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 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stringArray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[];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250825" y="1052513"/>
            <a:ext cx="7921575" cy="51847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关键字</a:t>
            </a:r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new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构成数组的创建表达式，可以指定数组的类型和数组元素的个数。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元素个数可以是常量也可以是变量 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基本类型数组的每个元素都是一个基本类型的变量；引用类型数组的每个元素都是对象的的引用 。</a:t>
            </a:r>
            <a:endParaRPr lang="zh-CN" altLang="en-US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arryName</a:t>
            </a:r>
            <a:r>
              <a:rPr lang="en-GB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GB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new</a:t>
            </a:r>
            <a:r>
              <a:rPr lang="en-GB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GB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Type</a:t>
            </a:r>
            <a:r>
              <a:rPr lang="en-GB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[components number];</a:t>
            </a:r>
            <a:endParaRPr lang="en-GB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例如：</a:t>
            </a:r>
          </a:p>
          <a:p>
            <a:pPr lvl="1">
              <a:buFontTx/>
              <a:buNone/>
            </a:pPr>
            <a:r>
              <a:rPr lang="en-GB" altLang="zh-CN" b="0" dirty="0">
                <a:solidFill>
                  <a:srgbClr val="66FF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GB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GB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[] </a:t>
            </a:r>
            <a:r>
              <a:rPr lang="en-GB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ai</a:t>
            </a:r>
            <a:r>
              <a:rPr lang="en-GB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;    </a:t>
            </a:r>
            <a:r>
              <a:rPr lang="en-GB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ai</a:t>
            </a:r>
            <a:r>
              <a:rPr lang="en-GB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=new </a:t>
            </a:r>
            <a:r>
              <a:rPr lang="en-GB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GB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[10];</a:t>
            </a:r>
          </a:p>
          <a:p>
            <a:pPr lvl="1">
              <a:buFontTx/>
              <a:buNone/>
            </a:pPr>
            <a:r>
              <a:rPr lang="en-GB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	String[] s;   s=new String[3];</a:t>
            </a: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或者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可以将数组的声明和创建一并执行</a:t>
            </a:r>
            <a:endParaRPr lang="en-GB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zh-CN" altLang="en-US" b="0" dirty="0">
                <a:solidFill>
                  <a:srgbClr val="66FF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[] </a:t>
            </a:r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ai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= new </a:t>
            </a:r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[10];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可以在一条声明语句中创建多个数组</a:t>
            </a:r>
            <a:r>
              <a:rPr lang="zh-CN" altLang="en-US" b="0" dirty="0">
                <a:solidFill>
                  <a:srgbClr val="66FF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lvl="1">
              <a:buFontTx/>
              <a:buNone/>
            </a:pPr>
            <a:r>
              <a:rPr lang="zh-CN" altLang="en-US" b="0" dirty="0">
                <a:solidFill>
                  <a:srgbClr val="66FF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String[]  s1=new String[3],  s2=new String[8];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数组下标从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开始。</a:t>
            </a:r>
            <a:b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s2[0]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代表数组的第一个元素；</a:t>
            </a:r>
            <a:b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s2[7]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代表数组的最后一个元素。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GB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数组元素的初始化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200" b="0" dirty="0">
                <a:ea typeface="黑体" panose="02010609060101010101" pitchFamily="49" charset="-122"/>
                <a:cs typeface="Times New Roman" panose="02020603050405020304" pitchFamily="18" charset="0"/>
              </a:rPr>
              <a:t>声明数组名时，给出了数组的初始值，程序便会利用数组初始值创建数组并对它的各个元素进行初始化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[]  a={22, 33, 44, 55}; </a:t>
            </a:r>
            <a:endParaRPr lang="zh-CN" altLang="en-GB" sz="2400" b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200" b="0" dirty="0">
                <a:ea typeface="黑体" panose="02010609060101010101" pitchFamily="49" charset="-122"/>
                <a:cs typeface="Times New Roman" panose="02020603050405020304" pitchFamily="18" charset="0"/>
              </a:rPr>
              <a:t>创建数组的时，如果没有指定初始值，数组便被赋予默认值初始值。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zh-CN" altLang="en-US" sz="2200" b="0" dirty="0">
                <a:ea typeface="黑体" panose="02010609060101010101" pitchFamily="49" charset="-122"/>
                <a:cs typeface="Times New Roman" panose="02020603050405020304" pitchFamily="18" charset="0"/>
              </a:rPr>
              <a:t>程序也可以在数组被构造</a:t>
            </a:r>
            <a:endParaRPr lang="en-US" altLang="zh-CN" sz="22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200" b="0" dirty="0"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200" b="0" dirty="0">
                <a:ea typeface="黑体" panose="02010609060101010101" pitchFamily="49" charset="-122"/>
                <a:cs typeface="Times New Roman" panose="02020603050405020304" pitchFamily="18" charset="0"/>
              </a:rPr>
              <a:t>之后改变数组元素值</a:t>
            </a:r>
            <a:endParaRPr lang="zh-CN" alt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Group 118"/>
          <p:cNvGraphicFramePr>
            <a:graphicFrameLocks noGrp="1"/>
          </p:cNvGraphicFramePr>
          <p:nvPr/>
        </p:nvGraphicFramePr>
        <p:xfrm>
          <a:off x="4716463" y="3141663"/>
          <a:ext cx="3189287" cy="3571876"/>
        </p:xfrm>
        <a:graphic>
          <a:graphicData uri="http://schemas.openxmlformats.org/drawingml/2006/table">
            <a:tbl>
              <a:tblPr/>
              <a:tblGrid>
                <a:gridCol w="1411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类型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缺省值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byte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short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long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float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double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boolean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char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\u0000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Object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null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68313" y="981075"/>
            <a:ext cx="8424862" cy="5184775"/>
          </a:xfrm>
        </p:spPr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定义、创建、初始化数组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如果在创建数组时，就可以确定数组的值，则可以使用一条语句来完成数组的定义、创建、初始化</a:t>
            </a: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 lvl="1"/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注</a:t>
            </a:r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1: 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如果用这种方法创建数组，则不能指定数组大小：</a:t>
            </a: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1163638" y="2336800"/>
            <a:ext cx="7369175" cy="26050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b="1" dirty="0">
                <a:latin typeface="Courier New" panose="02070309020205020404" pitchFamily="49" charset="0"/>
              </a:rPr>
              <a:t>[] scores =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b="1" dirty="0">
                <a:latin typeface="Courier New" panose="02070309020205020404" pitchFamily="49" charset="0"/>
              </a:rPr>
              <a:t>[]{63.0, 82.5, 47, 73};</a:t>
            </a:r>
          </a:p>
          <a:p>
            <a:pPr eaLnBrk="1" hangingPunct="1"/>
            <a:r>
              <a:rPr lang="zh-CN" altLang="en-US" b="1" dirty="0">
                <a:latin typeface="Courier New" panose="02070309020205020404" pitchFamily="49" charset="0"/>
              </a:rPr>
              <a:t>或者：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b="1" dirty="0">
                <a:latin typeface="Courier New" panose="02070309020205020404" pitchFamily="49" charset="0"/>
              </a:rPr>
              <a:t>[] scores = {63.0, 82.5, 47, 73};</a:t>
            </a:r>
          </a:p>
          <a:p>
            <a:pPr eaLnBrk="1" hangingPunct="1"/>
            <a:r>
              <a:rPr lang="zh-CN" altLang="en-US" b="1" dirty="0">
                <a:latin typeface="Courier New" panose="02070309020205020404" pitchFamily="49" charset="0"/>
              </a:rPr>
              <a:t>相当于：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b="1" dirty="0">
                <a:latin typeface="Courier New" panose="02070309020205020404" pitchFamily="49" charset="0"/>
              </a:rPr>
              <a:t>[] scores =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b="1" dirty="0">
                <a:latin typeface="Courier New" panose="02070309020205020404" pitchFamily="49" charset="0"/>
              </a:rPr>
              <a:t>[4];</a:t>
            </a:r>
          </a:p>
          <a:p>
            <a:pPr eaLnBrk="1" hangingPunct="1"/>
            <a:r>
              <a:rPr lang="en-US" altLang="zh-CN" b="1" dirty="0">
                <a:latin typeface="Courier New" panose="02070309020205020404" pitchFamily="49" charset="0"/>
              </a:rPr>
              <a:t>scores[0] = 63.0;</a:t>
            </a:r>
          </a:p>
          <a:p>
            <a:pPr eaLnBrk="1" hangingPunct="1"/>
            <a:r>
              <a:rPr lang="en-US" altLang="zh-CN" b="1" dirty="0">
                <a:latin typeface="Courier New" panose="02070309020205020404" pitchFamily="49" charset="0"/>
              </a:rPr>
              <a:t>scores[1] = 82.5;</a:t>
            </a:r>
          </a:p>
          <a:p>
            <a:pPr eaLnBrk="1" hangingPunct="1"/>
            <a:r>
              <a:rPr lang="en-US" altLang="zh-CN" b="1" dirty="0">
                <a:latin typeface="Courier New" panose="02070309020205020404" pitchFamily="49" charset="0"/>
              </a:rPr>
              <a:t>scores[2] = 47;</a:t>
            </a:r>
          </a:p>
          <a:p>
            <a:pPr eaLnBrk="1" hangingPunct="1"/>
            <a:r>
              <a:rPr lang="en-US" altLang="zh-CN" b="1" dirty="0">
                <a:latin typeface="Courier New" panose="02070309020205020404" pitchFamily="49" charset="0"/>
              </a:rPr>
              <a:t>scores[3] = 73;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533" name="Rectangle 11"/>
          <p:cNvSpPr>
            <a:spLocks noChangeArrowheads="1"/>
          </p:cNvSpPr>
          <p:nvPr/>
        </p:nvSpPr>
        <p:spPr bwMode="auto">
          <a:xfrm>
            <a:off x="1201738" y="5475288"/>
            <a:ext cx="7331075" cy="10398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b="1">
                <a:solidFill>
                  <a:srgbClr val="008000"/>
                </a:solidFill>
                <a:latin typeface="Courier New" panose="02070309020205020404" pitchFamily="49" charset="0"/>
              </a:rPr>
              <a:t>错误的写法：</a:t>
            </a: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b="1">
                <a:latin typeface="Courier New" panose="02070309020205020404" pitchFamily="49" charset="0"/>
              </a:rPr>
              <a:t>[] scores = </a:t>
            </a:r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b="1">
                <a:latin typeface="Courier New" panose="02070309020205020404" pitchFamily="49" charset="0"/>
              </a:rPr>
              <a:t> </a:t>
            </a:r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b="1">
                <a:latin typeface="Courier New" panose="02070309020205020404" pitchFamily="49" charset="0"/>
              </a:rPr>
              <a:t>[4]{63.0, 82.5, 47, 73};</a:t>
            </a:r>
          </a:p>
        </p:txBody>
      </p:sp>
      <p:sp>
        <p:nvSpPr>
          <p:cNvPr id="22534" name="Line 12"/>
          <p:cNvSpPr>
            <a:spLocks noChangeShapeType="1"/>
          </p:cNvSpPr>
          <p:nvPr/>
        </p:nvSpPr>
        <p:spPr bwMode="auto">
          <a:xfrm>
            <a:off x="3712988" y="2638425"/>
            <a:ext cx="42433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5" name="Line 13"/>
          <p:cNvSpPr>
            <a:spLocks noChangeShapeType="1"/>
          </p:cNvSpPr>
          <p:nvPr/>
        </p:nvSpPr>
        <p:spPr bwMode="auto">
          <a:xfrm flipH="1">
            <a:off x="5394325" y="2638425"/>
            <a:ext cx="601663" cy="30940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23528" y="1125091"/>
            <a:ext cx="8229600" cy="503709"/>
          </a:xfrm>
        </p:spPr>
        <p:txBody>
          <a:bodyPr/>
          <a:lstStyle/>
          <a:p>
            <a:pPr lvl="1"/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注</a:t>
            </a:r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：简写的方式，必须在一行语句中完成。</a:t>
            </a:r>
          </a:p>
        </p:txBody>
      </p:sp>
      <p:sp>
        <p:nvSpPr>
          <p:cNvPr id="23556" name="Rectangle 9"/>
          <p:cNvSpPr>
            <a:spLocks noChangeArrowheads="1"/>
          </p:cNvSpPr>
          <p:nvPr/>
        </p:nvSpPr>
        <p:spPr bwMode="auto">
          <a:xfrm>
            <a:off x="1235076" y="1931987"/>
            <a:ext cx="6777037" cy="29940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错误的写法</a:t>
            </a:r>
            <a:r>
              <a:rPr lang="en-US" altLang="zh-CN" sz="2400" b="1">
                <a:solidFill>
                  <a:srgbClr val="00800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：</a:t>
            </a:r>
          </a:p>
          <a:p>
            <a:pPr eaLnBrk="1" hangingPunct="1"/>
            <a:r>
              <a:rPr lang="en-US" altLang="zh-CN" sz="2400" b="1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sz="2400" b="1">
                <a:latin typeface="Courier New" panose="02070309020205020404" pitchFamily="49" charset="0"/>
              </a:rPr>
              <a:t>[] scores;</a:t>
            </a:r>
          </a:p>
          <a:p>
            <a:pPr eaLnBrk="1" hangingPunct="1"/>
            <a:r>
              <a:rPr lang="en-US" altLang="zh-CN" sz="2400" b="1">
                <a:latin typeface="Courier New" panose="02070309020205020404" pitchFamily="49" charset="0"/>
              </a:rPr>
              <a:t>scores = {63.0, 82.5, 47, 73};</a:t>
            </a:r>
          </a:p>
          <a:p>
            <a:pPr eaLnBrk="1" hangingPunct="1"/>
            <a:endParaRPr lang="en-US" altLang="zh-CN" sz="24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400" b="1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错误的写法</a:t>
            </a:r>
            <a:r>
              <a:rPr lang="en-US" altLang="zh-CN" sz="2400" b="1">
                <a:solidFill>
                  <a:srgbClr val="008000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：</a:t>
            </a:r>
          </a:p>
          <a:p>
            <a:pPr eaLnBrk="1" hangingPunct="1"/>
            <a:r>
              <a:rPr lang="en-US" altLang="zh-CN" sz="2400" b="1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sz="2400" b="1">
                <a:latin typeface="Courier New" panose="02070309020205020404" pitchFamily="49" charset="0"/>
              </a:rPr>
              <a:t>[] scores = </a:t>
            </a:r>
            <a:r>
              <a:rPr lang="en-US" altLang="zh-CN" sz="2400" b="1">
                <a:solidFill>
                  <a:srgbClr val="0000FF"/>
                </a:solidFill>
                <a:latin typeface="Courier New" panose="02070309020205020404" pitchFamily="49" charset="0"/>
              </a:rPr>
              <a:t>new double</a:t>
            </a:r>
            <a:r>
              <a:rPr lang="en-US" altLang="zh-CN" sz="2400" b="1">
                <a:latin typeface="Courier New" panose="02070309020205020404" pitchFamily="49" charset="0"/>
              </a:rPr>
              <a:t>[4];</a:t>
            </a:r>
          </a:p>
          <a:p>
            <a:pPr eaLnBrk="1" hangingPunct="1"/>
            <a:r>
              <a:rPr lang="en-US" altLang="zh-CN" sz="2400" b="1">
                <a:latin typeface="Courier New" panose="02070309020205020404" pitchFamily="49" charset="0"/>
              </a:rPr>
              <a:t>scores = {63.0, 82.5, 47, 73};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251520" y="981075"/>
            <a:ext cx="8640637" cy="5616277"/>
          </a:xfrm>
        </p:spPr>
        <p:txBody>
          <a:bodyPr/>
          <a:lstStyle/>
          <a:p>
            <a:r>
              <a:rPr lang="zh-CN" altLang="en-GB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数组的引用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通过下面的表达式引用数组的一个元素：</a:t>
            </a:r>
            <a:endParaRPr lang="en-GB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buFontTx/>
              <a:buNone/>
            </a:pPr>
            <a:r>
              <a:rPr lang="en-GB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</a:t>
            </a:r>
            <a:r>
              <a:rPr lang="en-GB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arrayName</a:t>
            </a:r>
            <a:r>
              <a:rPr lang="en-GB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[index]</a:t>
            </a: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数组下标必须是 </a:t>
            </a:r>
            <a:r>
              <a:rPr lang="en-GB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GB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, short, byte, 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或者</a:t>
            </a:r>
            <a:r>
              <a:rPr lang="en-GB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GB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char.</a:t>
            </a: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下标从零开始计数</a:t>
            </a:r>
            <a:r>
              <a:rPr lang="en-GB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元素的个数即为数组的长度，可以通</a:t>
            </a:r>
            <a:r>
              <a:rPr lang="en-GB" altLang="zh-CN" b="0" dirty="0" err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arrayName.length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引用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每个数组都有一个由 </a:t>
            </a:r>
            <a:r>
              <a:rPr lang="en-GB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public final 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修饰的成员变量：</a:t>
            </a:r>
            <a:r>
              <a:rPr lang="en-GB" altLang="zh-CN" b="0" i="1" dirty="0">
                <a:ea typeface="黑体" panose="02010609060101010101" pitchFamily="49" charset="-122"/>
                <a:cs typeface="Times New Roman" panose="02020603050405020304" pitchFamily="18" charset="0"/>
              </a:rPr>
              <a:t>length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 ，即数组含有元素的个数（</a:t>
            </a:r>
            <a:r>
              <a:rPr lang="en-GB" altLang="zh-CN" b="0" i="1" dirty="0">
                <a:ea typeface="黑体" panose="02010609060101010101" pitchFamily="49" charset="-122"/>
                <a:cs typeface="Times New Roman" panose="02020603050405020304" pitchFamily="18" charset="0"/>
              </a:rPr>
              <a:t>length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可以是正数或零）</a:t>
            </a:r>
            <a:endParaRPr lang="en-GB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scores.length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注意：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length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不是方法，不能写为：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scores.length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zh-CN" altLang="en-GB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元素下标最大值为</a:t>
            </a:r>
            <a:r>
              <a:rPr lang="en-GB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 length – 1，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超过最大值，将会产生数组越界异常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ArrayIndexOutOfBoundsException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28" name="Rectangle 3"/>
          <p:cNvSpPr txBox="1">
            <a:spLocks noChangeArrowheads="1"/>
          </p:cNvSpPr>
          <p:nvPr/>
        </p:nvSpPr>
        <p:spPr bwMode="auto">
          <a:xfrm>
            <a:off x="467544" y="1053107"/>
            <a:ext cx="8135938" cy="52562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MyArray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lvl="1">
              <a:lnSpc>
                <a:spcPct val="150000"/>
              </a:lnSpc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0" lvl="1">
              <a:lnSpc>
                <a:spcPct val="150000"/>
              </a:lnSpc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myArray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[];              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声明数组</a:t>
            </a:r>
          </a:p>
          <a:p>
            <a:pPr marL="0" lvl="1">
              <a:lnSpc>
                <a:spcPct val="150000"/>
              </a:lnSpc>
              <a:buClr>
                <a:schemeClr val="accent2"/>
              </a:buClr>
              <a:buSzPct val="70000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myArray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=new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[10];        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创建数组</a:t>
            </a:r>
          </a:p>
          <a:p>
            <a:pPr marL="0" lvl="1">
              <a:lnSpc>
                <a:spcPct val="150000"/>
              </a:lnSpc>
              <a:buClr>
                <a:schemeClr val="accent2"/>
              </a:buClr>
              <a:buSzPct val="70000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("Index\t\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tValue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marL="0" lvl="1">
              <a:lnSpc>
                <a:spcPct val="150000"/>
              </a:lnSpc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myArray.length;i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lvl="1">
              <a:lnSpc>
                <a:spcPct val="150000"/>
              </a:lnSpc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+"\t\t"+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myArray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marL="0" lvl="1">
              <a:lnSpc>
                <a:spcPct val="150000"/>
              </a:lnSpc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证明数组元素默认初始化为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marL="0" lvl="1">
              <a:lnSpc>
                <a:spcPct val="150000"/>
              </a:lnSpc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myArray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[10]=100;  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将产生数组越界异常</a:t>
            </a:r>
          </a:p>
          <a:p>
            <a:pPr marL="0" lvl="1">
              <a:lnSpc>
                <a:spcPct val="150000"/>
              </a:lnSpc>
              <a:buClr>
                <a:schemeClr val="accent2"/>
              </a:buClr>
              <a:buSzPct val="70000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lvl="1">
              <a:lnSpc>
                <a:spcPct val="150000"/>
              </a:lnSpc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-9216" y="83346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630238" y="1765300"/>
            <a:ext cx="4999037" cy="29845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>
                <a:solidFill>
                  <a:srgbClr val="0000CC"/>
                </a:solidFill>
                <a:latin typeface="Courier New" panose="02070309020205020404" pitchFamily="49" charset="0"/>
              </a:rPr>
              <a:t>public class</a:t>
            </a:r>
            <a:r>
              <a:rPr lang="en-US" altLang="zh-CN" sz="1400" b="1">
                <a:latin typeface="Courier New" panose="02070309020205020404" pitchFamily="49" charset="0"/>
              </a:rPr>
              <a:t> ArrayTest</a:t>
            </a:r>
          </a:p>
          <a:p>
            <a:pPr eaLnBrk="1" hangingPunct="1"/>
            <a:r>
              <a:rPr lang="en-US" altLang="zh-CN" sz="1400" b="1"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400" b="1">
                <a:latin typeface="Courier New" panose="02070309020205020404" pitchFamily="49" charset="0"/>
              </a:rPr>
              <a:t>    </a:t>
            </a:r>
            <a:r>
              <a:rPr lang="en-US" altLang="zh-CN" sz="1400" b="1">
                <a:solidFill>
                  <a:srgbClr val="0000CC"/>
                </a:solidFill>
                <a:latin typeface="Courier New" panose="02070309020205020404" pitchFamily="49" charset="0"/>
              </a:rPr>
              <a:t>public static void</a:t>
            </a:r>
            <a:r>
              <a:rPr lang="en-US" altLang="zh-CN" sz="1400" b="1">
                <a:latin typeface="Courier New" panose="02070309020205020404" pitchFamily="49" charset="0"/>
              </a:rPr>
              <a:t> main(String[] args)</a:t>
            </a:r>
          </a:p>
          <a:p>
            <a:pPr eaLnBrk="1" hangingPunct="1"/>
            <a:r>
              <a:rPr lang="en-US" altLang="zh-CN" sz="1400" b="1">
                <a:latin typeface="Courier New" panose="02070309020205020404" pitchFamily="49" charset="0"/>
              </a:rPr>
              <a:t>    {</a:t>
            </a:r>
          </a:p>
          <a:p>
            <a:pPr eaLnBrk="1" hangingPunct="1"/>
            <a:r>
              <a:rPr lang="en-US" altLang="zh-CN" sz="1400" b="1">
                <a:solidFill>
                  <a:srgbClr val="0000CC"/>
                </a:solidFill>
                <a:latin typeface="Courier New" panose="02070309020205020404" pitchFamily="49" charset="0"/>
              </a:rPr>
              <a:t>        int</a:t>
            </a:r>
            <a:r>
              <a:rPr lang="en-US" altLang="zh-CN" sz="1400" b="1">
                <a:latin typeface="Courier New" panose="02070309020205020404" pitchFamily="49" charset="0"/>
              </a:rPr>
              <a:t> values = </a:t>
            </a:r>
            <a:r>
              <a:rPr lang="en-US" altLang="zh-CN" sz="1400" b="1">
                <a:solidFill>
                  <a:srgbClr val="0000FF"/>
                </a:solidFill>
                <a:latin typeface="Courier New" panose="02070309020205020404" pitchFamily="49" charset="0"/>
              </a:rPr>
              <a:t>new int</a:t>
            </a:r>
            <a:r>
              <a:rPr lang="en-US" altLang="zh-CN" sz="1400" b="1">
                <a:latin typeface="Courier New" panose="02070309020205020404" pitchFamily="49" charset="0"/>
              </a:rPr>
              <a:t>[5];</a:t>
            </a:r>
          </a:p>
          <a:p>
            <a:pPr eaLnBrk="1" hangingPunct="1"/>
            <a:r>
              <a:rPr lang="en-US" altLang="zh-CN" sz="1400" b="1">
                <a:latin typeface="Courier New" panose="02070309020205020404" pitchFamily="49" charset="0"/>
              </a:rPr>
              <a:t>        </a:t>
            </a:r>
            <a:r>
              <a:rPr lang="en-US" altLang="zh-CN" sz="14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sz="1400" b="1">
                <a:latin typeface="Courier New" panose="02070309020205020404" pitchFamily="49" charset="0"/>
              </a:rPr>
              <a:t> (</a:t>
            </a:r>
            <a:r>
              <a:rPr lang="en-US" altLang="zh-CN" sz="1400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400" b="1">
                <a:latin typeface="Courier New" panose="02070309020205020404" pitchFamily="49" charset="0"/>
              </a:rPr>
              <a:t> i=1; i&lt;values.length; i++)</a:t>
            </a:r>
          </a:p>
          <a:p>
            <a:pPr eaLnBrk="1" hangingPunct="1"/>
            <a:r>
              <a:rPr lang="en-US" altLang="zh-CN" sz="1400" b="1">
                <a:latin typeface="Courier New" panose="02070309020205020404" pitchFamily="49" charset="0"/>
              </a:rPr>
              <a:t>        {</a:t>
            </a:r>
          </a:p>
          <a:p>
            <a:pPr eaLnBrk="1" hangingPunct="1"/>
            <a:r>
              <a:rPr lang="en-US" altLang="zh-CN" sz="1400" b="1">
                <a:latin typeface="Courier New" panose="02070309020205020404" pitchFamily="49" charset="0"/>
              </a:rPr>
              <a:t>            values[i] = i + values[i-1];</a:t>
            </a:r>
          </a:p>
          <a:p>
            <a:pPr eaLnBrk="1" hangingPunct="1"/>
            <a:r>
              <a:rPr lang="en-US" altLang="zh-CN" sz="1400" b="1"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400" b="1">
                <a:latin typeface="Courier New" panose="02070309020205020404" pitchFamily="49" charset="0"/>
              </a:rPr>
              <a:t>        values[0] = values[1] + values[4];</a:t>
            </a:r>
          </a:p>
          <a:p>
            <a:pPr eaLnBrk="1" hangingPunct="1"/>
            <a:r>
              <a:rPr lang="en-US" altLang="zh-CN" sz="1400" b="1"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例：</a:t>
            </a:r>
            <a:r>
              <a:rPr lang="en-US" altLang="zh-CN">
                <a:ea typeface="宋体" panose="02010600030101010101" pitchFamily="2" charset="-122"/>
              </a:rPr>
              <a:t>Array</a:t>
            </a:r>
            <a:r>
              <a:rPr lang="zh-CN" altLang="en-US">
                <a:ea typeface="宋体" panose="02010600030101010101" pitchFamily="2" charset="-122"/>
              </a:rPr>
              <a:t>的使用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跟踪方法调用</a:t>
            </a:r>
          </a:p>
        </p:txBody>
      </p:sp>
      <p:sp>
        <p:nvSpPr>
          <p:cNvPr id="27653" name="AutoShape 5"/>
          <p:cNvSpPr>
            <a:spLocks noChangeArrowheads="1"/>
          </p:cNvSpPr>
          <p:nvPr/>
        </p:nvSpPr>
        <p:spPr bwMode="auto">
          <a:xfrm>
            <a:off x="4673600" y="1181100"/>
            <a:ext cx="3187700" cy="444500"/>
          </a:xfrm>
          <a:prstGeom prst="wedgeRectCallout">
            <a:avLst>
              <a:gd name="adj1" fmla="val -35458"/>
              <a:gd name="adj2" fmla="val 285356"/>
            </a:avLst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定义、创建数组，并分配默认值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1143000" y="2667000"/>
            <a:ext cx="4308475" cy="203200"/>
          </a:xfrm>
          <a:prstGeom prst="rect">
            <a:avLst/>
          </a:prstGeom>
          <a:solidFill>
            <a:srgbClr val="993366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7026" name="Group 66"/>
          <p:cNvGraphicFramePr>
            <a:graphicFrameLocks noGrp="1"/>
          </p:cNvGraphicFramePr>
          <p:nvPr/>
        </p:nvGraphicFramePr>
        <p:xfrm>
          <a:off x="7389813" y="2593975"/>
          <a:ext cx="1028700" cy="1743076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7033" name="Group 73"/>
          <p:cNvGraphicFramePr>
            <a:graphicFrameLocks noGrp="1"/>
          </p:cNvGraphicFramePr>
          <p:nvPr/>
        </p:nvGraphicFramePr>
        <p:xfrm>
          <a:off x="6488113" y="2593975"/>
          <a:ext cx="660400" cy="1743076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675" name="Text Box 74"/>
          <p:cNvSpPr txBox="1">
            <a:spLocks noChangeArrowheads="1"/>
          </p:cNvSpPr>
          <p:nvPr/>
        </p:nvSpPr>
        <p:spPr bwMode="auto">
          <a:xfrm>
            <a:off x="6600825" y="2157413"/>
            <a:ext cx="165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index      value</a:t>
            </a:r>
          </a:p>
        </p:txBody>
      </p:sp>
      <p:sp>
        <p:nvSpPr>
          <p:cNvPr id="27676" name="Line 75"/>
          <p:cNvSpPr>
            <a:spLocks noChangeShapeType="1"/>
          </p:cNvSpPr>
          <p:nvPr/>
        </p:nvSpPr>
        <p:spPr bwMode="auto">
          <a:xfrm>
            <a:off x="5410200" y="2768600"/>
            <a:ext cx="1384300" cy="431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883668"/>
            <a:ext cx="8229600" cy="4641676"/>
          </a:xfrm>
        </p:spPr>
        <p:txBody>
          <a:bodyPr/>
          <a:lstStyle/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在程序中，经常需要复制数组的内容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</a:rPr>
              <a:t>使用赋值语句。</a:t>
            </a:r>
            <a:br>
              <a:rPr lang="zh-CN" altLang="en-US" dirty="0">
                <a:ea typeface="楷体_GB2312" pitchFamily="49" charset="-122"/>
              </a:rPr>
            </a:br>
            <a:br>
              <a:rPr lang="zh-CN" altLang="en-US" dirty="0">
                <a:ea typeface="楷体_GB2312" pitchFamily="49" charset="-122"/>
              </a:rPr>
            </a:br>
            <a:br>
              <a:rPr lang="zh-CN" altLang="en-US" dirty="0">
                <a:ea typeface="楷体_GB2312" pitchFamily="49" charset="-122"/>
              </a:rPr>
            </a:br>
            <a:br>
              <a:rPr lang="zh-CN" altLang="en-US" dirty="0">
                <a:ea typeface="楷体_GB2312" pitchFamily="49" charset="-122"/>
              </a:rPr>
            </a:br>
            <a:br>
              <a:rPr lang="zh-CN" altLang="en-US" dirty="0">
                <a:ea typeface="楷体_GB2312" pitchFamily="49" charset="-122"/>
              </a:rPr>
            </a:br>
            <a:br>
              <a:rPr lang="zh-CN" altLang="en-US" dirty="0">
                <a:ea typeface="楷体_GB2312" pitchFamily="49" charset="-122"/>
              </a:rPr>
            </a:br>
            <a:br>
              <a:rPr lang="zh-CN" altLang="en-US" dirty="0">
                <a:ea typeface="楷体_GB2312" pitchFamily="49" charset="-122"/>
              </a:rPr>
            </a:br>
            <a:br>
              <a:rPr lang="zh-CN" altLang="en-US" dirty="0">
                <a:ea typeface="楷体_GB2312" pitchFamily="49" charset="-122"/>
              </a:rPr>
            </a:br>
            <a:br>
              <a:rPr lang="zh-CN" altLang="en-US" dirty="0">
                <a:ea typeface="楷体_GB2312" pitchFamily="49" charset="-122"/>
              </a:rPr>
            </a:br>
            <a:r>
              <a:rPr lang="zh-CN" altLang="en-US" dirty="0">
                <a:ea typeface="楷体" panose="02010609060101010101" pitchFamily="49" charset="-122"/>
              </a:rPr>
              <a:t>在这种情况下，</a:t>
            </a:r>
            <a:r>
              <a:rPr lang="en-US" altLang="zh-CN" dirty="0">
                <a:ea typeface="楷体" panose="02010609060101010101" pitchFamily="49" charset="-122"/>
              </a:rPr>
              <a:t>list1</a:t>
            </a:r>
            <a:r>
              <a:rPr lang="zh-CN" altLang="en-US" dirty="0">
                <a:ea typeface="楷体" panose="02010609060101010101" pitchFamily="49" charset="-122"/>
              </a:rPr>
              <a:t>和</a:t>
            </a:r>
            <a:r>
              <a:rPr lang="en-US" altLang="zh-CN" dirty="0">
                <a:ea typeface="楷体" panose="02010609060101010101" pitchFamily="49" charset="-122"/>
              </a:rPr>
              <a:t>list2</a:t>
            </a:r>
            <a:r>
              <a:rPr lang="zh-CN" altLang="en-US" dirty="0">
                <a:ea typeface="楷体" panose="02010609060101010101" pitchFamily="49" charset="-122"/>
              </a:rPr>
              <a:t>指向相同的内存区域，修改</a:t>
            </a:r>
            <a:r>
              <a:rPr lang="en-US" altLang="zh-CN" dirty="0">
                <a:ea typeface="楷体" panose="02010609060101010101" pitchFamily="49" charset="-122"/>
              </a:rPr>
              <a:t>list1</a:t>
            </a:r>
            <a:r>
              <a:rPr lang="zh-CN" altLang="en-US" dirty="0">
                <a:ea typeface="楷体" panose="02010609060101010101" pitchFamily="49" charset="-122"/>
              </a:rPr>
              <a:t>的内容，会影响</a:t>
            </a:r>
            <a:r>
              <a:rPr lang="en-US" altLang="zh-CN" dirty="0">
                <a:ea typeface="楷体" panose="02010609060101010101" pitchFamily="49" charset="-122"/>
              </a:rPr>
              <a:t>list2</a:t>
            </a:r>
            <a:r>
              <a:rPr lang="zh-CN" altLang="en-US" dirty="0">
                <a:ea typeface="楷体" panose="02010609060101010101" pitchFamily="49" charset="-122"/>
              </a:rPr>
              <a:t>。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</a:rPr>
              <a:t>不是真正意义上的复制</a:t>
            </a:r>
            <a:r>
              <a:rPr lang="zh-CN" altLang="en-US" b="0" dirty="0">
                <a:ea typeface="楷体" panose="02010609060101010101" pitchFamily="49" charset="-122"/>
              </a:rPr>
              <a:t>。</a:t>
            </a:r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2451100" y="3074764"/>
            <a:ext cx="1104900" cy="812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latin typeface="Times New Roman" panose="02020603050405020304" pitchFamily="18" charset="0"/>
              </a:rPr>
              <a:t>list1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2451100" y="4547964"/>
            <a:ext cx="1104900" cy="8128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latin typeface="Times New Roman" panose="02020603050405020304" pitchFamily="18" charset="0"/>
              </a:rPr>
              <a:t>list2</a:t>
            </a:r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>
            <a:off x="1792288" y="3085877"/>
            <a:ext cx="658812" cy="158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1792288" y="4559077"/>
            <a:ext cx="658812" cy="158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1203325" y="2871564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list1</a:t>
            </a: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1203325" y="4382864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list2</a:t>
            </a: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1079500" y="2871564"/>
            <a:ext cx="2857500" cy="26456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6883400" y="3074764"/>
            <a:ext cx="1104900" cy="812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latin typeface="Times New Roman" panose="02020603050405020304" pitchFamily="18" charset="0"/>
              </a:rPr>
              <a:t>list1</a:t>
            </a:r>
          </a:p>
        </p:txBody>
      </p:sp>
      <p:sp>
        <p:nvSpPr>
          <p:cNvPr id="38924" name="Rectangle 12"/>
          <p:cNvSpPr>
            <a:spLocks noChangeArrowheads="1"/>
          </p:cNvSpPr>
          <p:nvPr/>
        </p:nvSpPr>
        <p:spPr bwMode="auto">
          <a:xfrm>
            <a:off x="6883400" y="4547964"/>
            <a:ext cx="1104900" cy="8128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latin typeface="Times New Roman" panose="02020603050405020304" pitchFamily="18" charset="0"/>
              </a:rPr>
              <a:t>list2</a:t>
            </a:r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6224588" y="3085877"/>
            <a:ext cx="658812" cy="158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6" name="Line 14"/>
          <p:cNvSpPr>
            <a:spLocks noChangeShapeType="1"/>
          </p:cNvSpPr>
          <p:nvPr/>
        </p:nvSpPr>
        <p:spPr bwMode="auto">
          <a:xfrm flipV="1">
            <a:off x="6224588" y="3074764"/>
            <a:ext cx="646112" cy="963613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7" name="Text Box 15"/>
          <p:cNvSpPr txBox="1">
            <a:spLocks noChangeArrowheads="1"/>
          </p:cNvSpPr>
          <p:nvPr/>
        </p:nvSpPr>
        <p:spPr bwMode="auto">
          <a:xfrm>
            <a:off x="5635625" y="2871564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list1</a:t>
            </a:r>
          </a:p>
        </p:txBody>
      </p:sp>
      <p:sp>
        <p:nvSpPr>
          <p:cNvPr id="38928" name="Text Box 16"/>
          <p:cNvSpPr txBox="1">
            <a:spLocks noChangeArrowheads="1"/>
          </p:cNvSpPr>
          <p:nvPr/>
        </p:nvSpPr>
        <p:spPr bwMode="auto">
          <a:xfrm>
            <a:off x="5635625" y="3862164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list2</a:t>
            </a:r>
          </a:p>
        </p:txBody>
      </p:sp>
      <p:sp>
        <p:nvSpPr>
          <p:cNvPr id="38929" name="Rectangle 17"/>
          <p:cNvSpPr>
            <a:spLocks noChangeArrowheads="1"/>
          </p:cNvSpPr>
          <p:nvPr/>
        </p:nvSpPr>
        <p:spPr bwMode="auto">
          <a:xfrm>
            <a:off x="5511800" y="2871564"/>
            <a:ext cx="2857500" cy="26456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30" name="AutoShape 18"/>
          <p:cNvSpPr>
            <a:spLocks noChangeArrowheads="1"/>
          </p:cNvSpPr>
          <p:nvPr/>
        </p:nvSpPr>
        <p:spPr bwMode="auto">
          <a:xfrm>
            <a:off x="4127500" y="3976464"/>
            <a:ext cx="1219200" cy="342900"/>
          </a:xfrm>
          <a:prstGeom prst="rightArrow">
            <a:avLst>
              <a:gd name="adj1" fmla="val 50000"/>
              <a:gd name="adj2" fmla="val 888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31" name="Text Box 19"/>
          <p:cNvSpPr txBox="1">
            <a:spLocks noChangeArrowheads="1"/>
          </p:cNvSpPr>
          <p:nvPr/>
        </p:nvSpPr>
        <p:spPr bwMode="auto">
          <a:xfrm>
            <a:off x="3951468" y="3519512"/>
            <a:ext cx="15712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list1 = list2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10667" y="1149454"/>
            <a:ext cx="19736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拷贝数组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229600" cy="3392487"/>
          </a:xfrm>
        </p:spPr>
        <p:txBody>
          <a:bodyPr/>
          <a:lstStyle/>
          <a:p>
            <a:pPr lvl="1"/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2. 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</a:rPr>
              <a:t>使用循环：</a:t>
            </a:r>
            <a:br>
              <a:rPr lang="zh-CN" altLang="en-US" sz="2000" dirty="0">
                <a:ea typeface="楷体_GB2312" pitchFamily="49" charset="-122"/>
              </a:rPr>
            </a:br>
            <a:br>
              <a:rPr lang="zh-CN" altLang="en-US" sz="2000" dirty="0">
                <a:ea typeface="楷体_GB2312" pitchFamily="49" charset="-122"/>
              </a:rPr>
            </a:br>
            <a:br>
              <a:rPr lang="zh-CN" altLang="en-US" sz="2000" dirty="0">
                <a:ea typeface="楷体_GB2312" pitchFamily="49" charset="-122"/>
              </a:rPr>
            </a:br>
            <a:br>
              <a:rPr lang="zh-CN" altLang="en-US" sz="2000" dirty="0">
                <a:ea typeface="楷体_GB2312" pitchFamily="49" charset="-122"/>
              </a:rPr>
            </a:br>
            <a:br>
              <a:rPr lang="zh-CN" altLang="en-US" sz="2000" dirty="0">
                <a:ea typeface="楷体_GB2312" pitchFamily="49" charset="-122"/>
              </a:rPr>
            </a:br>
            <a:br>
              <a:rPr lang="zh-CN" altLang="en-US" sz="2000" dirty="0">
                <a:ea typeface="楷体_GB2312" pitchFamily="49" charset="-122"/>
              </a:rPr>
            </a:br>
            <a:br>
              <a:rPr lang="zh-CN" altLang="en-US" sz="2000" dirty="0">
                <a:ea typeface="楷体_GB2312" pitchFamily="49" charset="-122"/>
              </a:rPr>
            </a:br>
            <a:endParaRPr lang="en-US" altLang="zh-CN" sz="2000" dirty="0">
              <a:ea typeface="楷体_GB2312" pitchFamily="49" charset="-122"/>
            </a:endParaRPr>
          </a:p>
          <a:p>
            <a:pPr lvl="1"/>
            <a:r>
              <a:rPr lang="zh-CN" altLang="en-US" sz="2000" dirty="0">
                <a:ea typeface="楷体" panose="02010609060101010101" pitchFamily="49" charset="-122"/>
              </a:rPr>
              <a:t>此时，</a:t>
            </a:r>
            <a:r>
              <a:rPr lang="en-US" altLang="zh-CN" sz="2000" dirty="0">
                <a:ea typeface="楷体" panose="02010609060101010101" pitchFamily="49" charset="-122"/>
              </a:rPr>
              <a:t>list1</a:t>
            </a:r>
            <a:r>
              <a:rPr lang="zh-CN" altLang="en-US" sz="2000" dirty="0"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ea typeface="楷体" panose="02010609060101010101" pitchFamily="49" charset="-122"/>
              </a:rPr>
              <a:t>list2</a:t>
            </a:r>
            <a:r>
              <a:rPr lang="zh-CN" altLang="en-US" sz="2000" dirty="0">
                <a:ea typeface="楷体" panose="02010609060101010101" pitchFamily="49" charset="-122"/>
              </a:rPr>
              <a:t>指向不同的内存区域，但是内容相同。修改</a:t>
            </a:r>
            <a:r>
              <a:rPr lang="en-US" altLang="zh-CN" sz="2000" dirty="0">
                <a:ea typeface="楷体" panose="02010609060101010101" pitchFamily="49" charset="-122"/>
              </a:rPr>
              <a:t>list1</a:t>
            </a:r>
            <a:r>
              <a:rPr lang="zh-CN" altLang="en-US" sz="2000" dirty="0">
                <a:ea typeface="楷体" panose="02010609060101010101" pitchFamily="49" charset="-122"/>
              </a:rPr>
              <a:t>的内容，不会影响到</a:t>
            </a:r>
            <a:r>
              <a:rPr lang="en-US" altLang="zh-CN" sz="2000" dirty="0">
                <a:ea typeface="楷体" panose="02010609060101010101" pitchFamily="49" charset="-122"/>
              </a:rPr>
              <a:t>list2.</a:t>
            </a:r>
          </a:p>
        </p:txBody>
      </p:sp>
      <p:sp>
        <p:nvSpPr>
          <p:cNvPr id="39939" name="Rectangle 4"/>
          <p:cNvSpPr>
            <a:spLocks noChangeArrowheads="1"/>
          </p:cNvSpPr>
          <p:nvPr/>
        </p:nvSpPr>
        <p:spPr bwMode="auto">
          <a:xfrm>
            <a:off x="1187624" y="1340768"/>
            <a:ext cx="6350000" cy="20637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>
                <a:latin typeface="Courier New" panose="02070309020205020404" pitchFamily="49" charset="0"/>
              </a:rPr>
              <a:t>[] list1 = {2, 3, 4, 5, 6};</a:t>
            </a: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>
                <a:latin typeface="Courier New" panose="02070309020205020404" pitchFamily="49" charset="0"/>
              </a:rPr>
              <a:t>[] list2 = </a:t>
            </a:r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b="1">
                <a:latin typeface="Courier New" panose="02070309020205020404" pitchFamily="49" charset="0"/>
              </a:rPr>
              <a:t> </a:t>
            </a:r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>
                <a:latin typeface="Courier New" panose="02070309020205020404" pitchFamily="49" charset="0"/>
              </a:rPr>
              <a:t>[list1.length];</a:t>
            </a:r>
          </a:p>
          <a:p>
            <a:pPr eaLnBrk="1" hangingPunct="1"/>
            <a:endParaRPr lang="en-US" altLang="zh-CN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b="1">
                <a:latin typeface="Courier New" panose="02070309020205020404" pitchFamily="49" charset="0"/>
              </a:rPr>
              <a:t> (</a:t>
            </a:r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>
                <a:latin typeface="Courier New" panose="02070309020205020404" pitchFamily="49" charset="0"/>
              </a:rPr>
              <a:t> i=0; i&lt;list1.length; i++)</a:t>
            </a:r>
          </a:p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    list2[i] = list1[i];</a:t>
            </a:r>
          </a:p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9940" name="Rectangle 5"/>
          <p:cNvSpPr>
            <a:spLocks noChangeArrowheads="1"/>
          </p:cNvSpPr>
          <p:nvPr/>
        </p:nvSpPr>
        <p:spPr bwMode="auto">
          <a:xfrm>
            <a:off x="2271192" y="4555232"/>
            <a:ext cx="1104900" cy="812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latin typeface="Times New Roman" panose="02020603050405020304" pitchFamily="18" charset="0"/>
              </a:rPr>
              <a:t>list1</a:t>
            </a:r>
          </a:p>
        </p:txBody>
      </p:sp>
      <p:sp>
        <p:nvSpPr>
          <p:cNvPr id="39941" name="Rectangle 6"/>
          <p:cNvSpPr>
            <a:spLocks noChangeArrowheads="1"/>
          </p:cNvSpPr>
          <p:nvPr/>
        </p:nvSpPr>
        <p:spPr bwMode="auto">
          <a:xfrm>
            <a:off x="2271192" y="5698232"/>
            <a:ext cx="1104900" cy="81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latin typeface="Times New Roman" panose="02020603050405020304" pitchFamily="18" charset="0"/>
              </a:rPr>
              <a:t>list2</a:t>
            </a:r>
          </a:p>
        </p:txBody>
      </p:sp>
      <p:sp>
        <p:nvSpPr>
          <p:cNvPr id="39942" name="Line 7"/>
          <p:cNvSpPr>
            <a:spLocks noChangeShapeType="1"/>
          </p:cNvSpPr>
          <p:nvPr/>
        </p:nvSpPr>
        <p:spPr bwMode="auto">
          <a:xfrm>
            <a:off x="1612380" y="4566345"/>
            <a:ext cx="658812" cy="158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3" name="Line 8"/>
          <p:cNvSpPr>
            <a:spLocks noChangeShapeType="1"/>
          </p:cNvSpPr>
          <p:nvPr/>
        </p:nvSpPr>
        <p:spPr bwMode="auto">
          <a:xfrm>
            <a:off x="1612380" y="5709345"/>
            <a:ext cx="658812" cy="158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4" name="Text Box 9"/>
          <p:cNvSpPr txBox="1">
            <a:spLocks noChangeArrowheads="1"/>
          </p:cNvSpPr>
          <p:nvPr/>
        </p:nvSpPr>
        <p:spPr bwMode="auto">
          <a:xfrm>
            <a:off x="1023417" y="4352032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list1</a:t>
            </a:r>
          </a:p>
        </p:txBody>
      </p:sp>
      <p:sp>
        <p:nvSpPr>
          <p:cNvPr id="39945" name="Text Box 10"/>
          <p:cNvSpPr txBox="1">
            <a:spLocks noChangeArrowheads="1"/>
          </p:cNvSpPr>
          <p:nvPr/>
        </p:nvSpPr>
        <p:spPr bwMode="auto">
          <a:xfrm>
            <a:off x="1023417" y="5533132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list2</a:t>
            </a:r>
          </a:p>
        </p:txBody>
      </p:sp>
      <p:sp>
        <p:nvSpPr>
          <p:cNvPr id="39946" name="Rectangle 11"/>
          <p:cNvSpPr>
            <a:spLocks noChangeArrowheads="1"/>
          </p:cNvSpPr>
          <p:nvPr/>
        </p:nvSpPr>
        <p:spPr bwMode="auto">
          <a:xfrm>
            <a:off x="899592" y="4352032"/>
            <a:ext cx="2857500" cy="2317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7" name="Rectangle 12"/>
          <p:cNvSpPr>
            <a:spLocks noChangeArrowheads="1"/>
          </p:cNvSpPr>
          <p:nvPr/>
        </p:nvSpPr>
        <p:spPr bwMode="auto">
          <a:xfrm>
            <a:off x="6703492" y="4555232"/>
            <a:ext cx="1104900" cy="812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latin typeface="Times New Roman" panose="02020603050405020304" pitchFamily="18" charset="0"/>
              </a:rPr>
              <a:t>list1</a:t>
            </a:r>
          </a:p>
        </p:txBody>
      </p:sp>
      <p:sp>
        <p:nvSpPr>
          <p:cNvPr id="39948" name="Rectangle 13"/>
          <p:cNvSpPr>
            <a:spLocks noChangeArrowheads="1"/>
          </p:cNvSpPr>
          <p:nvPr/>
        </p:nvSpPr>
        <p:spPr bwMode="auto">
          <a:xfrm>
            <a:off x="6703492" y="5698232"/>
            <a:ext cx="1104900" cy="812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latin typeface="Times New Roman" panose="02020603050405020304" pitchFamily="18" charset="0"/>
              </a:rPr>
              <a:t>list1</a:t>
            </a:r>
          </a:p>
        </p:txBody>
      </p:sp>
      <p:sp>
        <p:nvSpPr>
          <p:cNvPr id="39949" name="Line 14"/>
          <p:cNvSpPr>
            <a:spLocks noChangeShapeType="1"/>
          </p:cNvSpPr>
          <p:nvPr/>
        </p:nvSpPr>
        <p:spPr bwMode="auto">
          <a:xfrm>
            <a:off x="6044680" y="4566345"/>
            <a:ext cx="658812" cy="158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0" name="Text Box 16"/>
          <p:cNvSpPr txBox="1">
            <a:spLocks noChangeArrowheads="1"/>
          </p:cNvSpPr>
          <p:nvPr/>
        </p:nvSpPr>
        <p:spPr bwMode="auto">
          <a:xfrm>
            <a:off x="5455717" y="4352032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list1</a:t>
            </a:r>
          </a:p>
        </p:txBody>
      </p:sp>
      <p:sp>
        <p:nvSpPr>
          <p:cNvPr id="39951" name="Rectangle 18"/>
          <p:cNvSpPr>
            <a:spLocks noChangeArrowheads="1"/>
          </p:cNvSpPr>
          <p:nvPr/>
        </p:nvSpPr>
        <p:spPr bwMode="auto">
          <a:xfrm>
            <a:off x="5331892" y="4352032"/>
            <a:ext cx="2857500" cy="2317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2" name="AutoShape 19"/>
          <p:cNvSpPr>
            <a:spLocks noChangeArrowheads="1"/>
          </p:cNvSpPr>
          <p:nvPr/>
        </p:nvSpPr>
        <p:spPr bwMode="auto">
          <a:xfrm>
            <a:off x="3947592" y="5456932"/>
            <a:ext cx="1219200" cy="342900"/>
          </a:xfrm>
          <a:prstGeom prst="rightArrow">
            <a:avLst>
              <a:gd name="adj1" fmla="val 50000"/>
              <a:gd name="adj2" fmla="val 888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3" name="Text Box 20"/>
          <p:cNvSpPr txBox="1">
            <a:spLocks noChangeArrowheads="1"/>
          </p:cNvSpPr>
          <p:nvPr/>
        </p:nvSpPr>
        <p:spPr bwMode="auto">
          <a:xfrm>
            <a:off x="3842817" y="5012432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</a:rPr>
              <a:t>copy via loop</a:t>
            </a:r>
          </a:p>
        </p:txBody>
      </p:sp>
      <p:sp>
        <p:nvSpPr>
          <p:cNvPr id="39954" name="Line 21"/>
          <p:cNvSpPr>
            <a:spLocks noChangeShapeType="1"/>
          </p:cNvSpPr>
          <p:nvPr/>
        </p:nvSpPr>
        <p:spPr bwMode="auto">
          <a:xfrm>
            <a:off x="6057380" y="5709345"/>
            <a:ext cx="658812" cy="158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5" name="Text Box 22"/>
          <p:cNvSpPr txBox="1">
            <a:spLocks noChangeArrowheads="1"/>
          </p:cNvSpPr>
          <p:nvPr/>
        </p:nvSpPr>
        <p:spPr bwMode="auto">
          <a:xfrm>
            <a:off x="5468417" y="5533132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list2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内容占位符 2"/>
          <p:cNvSpPr>
            <a:spLocks noGrp="1"/>
          </p:cNvSpPr>
          <p:nvPr>
            <p:ph idx="1"/>
          </p:nvPr>
        </p:nvSpPr>
        <p:spPr>
          <a:xfrm>
            <a:off x="323528" y="1196752"/>
            <a:ext cx="8229600" cy="5184775"/>
          </a:xfrm>
        </p:spPr>
        <p:txBody>
          <a:bodyPr/>
          <a:lstStyle/>
          <a:p>
            <a:pPr lvl="1"/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</a:rPr>
              <a:t>3. 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</a:rPr>
              <a:t>使用 </a:t>
            </a:r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</a:rPr>
              <a:t>System 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</a:rPr>
              <a:t>类的 </a:t>
            </a:r>
            <a:r>
              <a:rPr lang="en-US" altLang="zh-CN" dirty="0" err="1">
                <a:solidFill>
                  <a:srgbClr val="FF0000"/>
                </a:solidFill>
                <a:ea typeface="楷体" panose="02010609060101010101" pitchFamily="49" charset="-122"/>
              </a:rPr>
              <a:t>arrayCopy</a:t>
            </a:r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</a:rPr>
              <a:t>() 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</a:rPr>
              <a:t>方法：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public static void </a:t>
            </a:r>
            <a:r>
              <a:rPr lang="en-GB" altLang="zh-CN" sz="24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arraycopy</a:t>
            </a:r>
            <a:r>
              <a:rPr lang="en-GB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(Object</a:t>
            </a:r>
            <a:r>
              <a:rPr lang="en-GB" altLang="zh-CN" sz="2400" dirty="0">
                <a:ea typeface="宋体" panose="02010600030101010101" pitchFamily="2" charset="-122"/>
              </a:rPr>
              <a:t> </a:t>
            </a:r>
            <a:r>
              <a:rPr lang="en-GB" altLang="zh-CN" sz="2400" i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source</a:t>
            </a:r>
            <a:r>
              <a:rPr lang="en-GB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, </a:t>
            </a:r>
            <a:r>
              <a:rPr lang="en-GB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GB" altLang="zh-CN" sz="2400" dirty="0">
                <a:ea typeface="宋体" panose="02010600030101010101" pitchFamily="2" charset="-122"/>
              </a:rPr>
              <a:t> </a:t>
            </a:r>
            <a:r>
              <a:rPr lang="en-GB" altLang="zh-CN" sz="2400" i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srcIndex</a:t>
            </a:r>
            <a:r>
              <a:rPr lang="en-GB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, 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Object</a:t>
            </a:r>
            <a:r>
              <a:rPr lang="en-GB" altLang="zh-CN" sz="2400" dirty="0">
                <a:ea typeface="宋体" panose="02010600030101010101" pitchFamily="2" charset="-122"/>
              </a:rPr>
              <a:t> </a:t>
            </a:r>
            <a:r>
              <a:rPr lang="en-GB" altLang="zh-CN" sz="2400" i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dest</a:t>
            </a:r>
            <a:r>
              <a:rPr lang="en-GB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, </a:t>
            </a:r>
            <a:r>
              <a:rPr lang="en-GB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GB" altLang="zh-CN" sz="2400" dirty="0">
                <a:ea typeface="宋体" panose="02010600030101010101" pitchFamily="2" charset="-122"/>
              </a:rPr>
              <a:t> </a:t>
            </a:r>
            <a:r>
              <a:rPr lang="en-GB" altLang="zh-CN" sz="2400" i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destIndex</a:t>
            </a:r>
            <a:r>
              <a:rPr lang="en-GB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, </a:t>
            </a:r>
            <a:r>
              <a:rPr lang="en-GB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GB" altLang="zh-CN" sz="2400" dirty="0">
                <a:ea typeface="宋体" panose="02010600030101010101" pitchFamily="2" charset="-122"/>
              </a:rPr>
              <a:t> </a:t>
            </a:r>
            <a:r>
              <a:rPr lang="en-GB" altLang="zh-CN" sz="2400" i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length</a:t>
            </a:r>
            <a:r>
              <a:rPr lang="en-GB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)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40963" name="Group 4"/>
          <p:cNvGrpSpPr>
            <a:grpSpLocks/>
          </p:cNvGrpSpPr>
          <p:nvPr/>
        </p:nvGrpSpPr>
        <p:grpSpPr bwMode="auto">
          <a:xfrm>
            <a:off x="1403176" y="2999678"/>
            <a:ext cx="6553200" cy="3406775"/>
            <a:chOff x="1200" y="2352"/>
            <a:chExt cx="3298" cy="1368"/>
          </a:xfrm>
        </p:grpSpPr>
        <p:pic>
          <p:nvPicPr>
            <p:cNvPr id="40964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2352"/>
              <a:ext cx="3298" cy="13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248" y="2928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GB" altLang="zh-CN" sz="1400" b="1" kern="0">
                  <a:solidFill>
                    <a:srgbClr val="000000"/>
                  </a:solidFill>
                  <a:latin typeface="Times New Roman" pitchFamily="18" charset="0"/>
                  <a:ea typeface="隶书" pitchFamily="49" charset="-122"/>
                </a:rPr>
                <a:t>source</a:t>
              </a: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836712"/>
            <a:ext cx="8229600" cy="470395"/>
          </a:xfrm>
        </p:spPr>
        <p:txBody>
          <a:bodyPr/>
          <a:lstStyle/>
          <a:p>
            <a:pPr lvl="1"/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</a:rPr>
              <a:t>3. 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</a:rPr>
              <a:t>使用 </a:t>
            </a:r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</a:rPr>
              <a:t>System 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</a:rPr>
              <a:t>类的 </a:t>
            </a:r>
            <a:r>
              <a:rPr lang="en-US" altLang="zh-CN" dirty="0" err="1">
                <a:solidFill>
                  <a:srgbClr val="FF0000"/>
                </a:solidFill>
                <a:ea typeface="楷体" panose="02010609060101010101" pitchFamily="49" charset="-122"/>
              </a:rPr>
              <a:t>arrayCopy</a:t>
            </a:r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</a:rPr>
              <a:t>() 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</a:rPr>
              <a:t>方法：</a:t>
            </a: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815181" y="1341239"/>
            <a:ext cx="7461250" cy="206094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en-US" altLang="zh-CN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sourceArray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源数组</a:t>
            </a:r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en-US" altLang="zh-CN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src_pos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  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源数组中的起始位置</a:t>
            </a:r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en-US" altLang="zh-CN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targetArray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目标数组</a:t>
            </a:r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en-US" altLang="zh-CN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tar_pos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  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目标数组的起始位置</a:t>
            </a:r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 length:     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要复制的数组元素的数量</a:t>
            </a:r>
          </a:p>
          <a:p>
            <a:pPr eaLnBrk="1" hangingPunct="1"/>
            <a:r>
              <a:rPr lang="en-US" altLang="zh-CN" b="1" dirty="0" err="1">
                <a:latin typeface="Courier New" panose="02070309020205020404" pitchFamily="49" charset="0"/>
              </a:rPr>
              <a:t>System.arrayCopy</a:t>
            </a:r>
            <a:r>
              <a:rPr lang="en-US" altLang="zh-CN" b="1" dirty="0">
                <a:latin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</a:rPr>
              <a:t>sourceArray</a:t>
            </a:r>
            <a:r>
              <a:rPr lang="en-US" altLang="zh-CN" b="1" dirty="0">
                <a:latin typeface="Courier New" panose="02070309020205020404" pitchFamily="49" charset="0"/>
              </a:rPr>
              <a:t>, </a:t>
            </a:r>
            <a:r>
              <a:rPr lang="en-US" altLang="zh-CN" b="1" dirty="0" err="1">
                <a:latin typeface="Courier New" panose="02070309020205020404" pitchFamily="49" charset="0"/>
              </a:rPr>
              <a:t>src_pos</a:t>
            </a:r>
            <a:r>
              <a:rPr lang="en-US" altLang="zh-CN" b="1" dirty="0">
                <a:latin typeface="Courier New" panose="02070309020205020404" pitchFamily="49" charset="0"/>
              </a:rPr>
              <a:t>, </a:t>
            </a:r>
          </a:p>
          <a:p>
            <a:pPr eaLnBrk="1" hangingPunct="1"/>
            <a:r>
              <a:rPr lang="en-US" altLang="zh-CN" b="1" dirty="0">
                <a:latin typeface="Courier New" panose="02070309020205020404" pitchFamily="49" charset="0"/>
              </a:rPr>
              <a:t>                 </a:t>
            </a:r>
            <a:r>
              <a:rPr lang="en-US" altLang="zh-CN" b="1" dirty="0" err="1">
                <a:latin typeface="Courier New" panose="02070309020205020404" pitchFamily="49" charset="0"/>
              </a:rPr>
              <a:t>targetArray</a:t>
            </a:r>
            <a:r>
              <a:rPr lang="en-US" altLang="zh-CN" b="1" dirty="0">
                <a:latin typeface="Courier New" panose="02070309020205020404" pitchFamily="49" charset="0"/>
              </a:rPr>
              <a:t>, </a:t>
            </a:r>
            <a:r>
              <a:rPr lang="en-US" altLang="zh-CN" b="1" dirty="0" err="1">
                <a:latin typeface="Courier New" panose="02070309020205020404" pitchFamily="49" charset="0"/>
              </a:rPr>
              <a:t>tar_pos</a:t>
            </a:r>
            <a:r>
              <a:rPr lang="en-US" altLang="zh-CN" b="1" dirty="0">
                <a:latin typeface="Courier New" panose="02070309020205020404" pitchFamily="49" charset="0"/>
              </a:rPr>
              <a:t>, length);</a:t>
            </a:r>
          </a:p>
        </p:txBody>
      </p:sp>
      <p:sp>
        <p:nvSpPr>
          <p:cNvPr id="41988" name="Rectangle 5"/>
          <p:cNvSpPr>
            <a:spLocks noChangeArrowheads="1"/>
          </p:cNvSpPr>
          <p:nvPr/>
        </p:nvSpPr>
        <p:spPr bwMode="auto">
          <a:xfrm>
            <a:off x="2463800" y="3717032"/>
            <a:ext cx="1104900" cy="189388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2000" b="1" i="1">
              <a:latin typeface="Times New Roman" panose="02020603050405020304" pitchFamily="18" charset="0"/>
            </a:endParaRPr>
          </a:p>
        </p:txBody>
      </p:sp>
      <p:sp>
        <p:nvSpPr>
          <p:cNvPr id="41989" name="Text Box 7"/>
          <p:cNvSpPr txBox="1">
            <a:spLocks noChangeArrowheads="1"/>
          </p:cNvSpPr>
          <p:nvPr/>
        </p:nvSpPr>
        <p:spPr bwMode="auto">
          <a:xfrm>
            <a:off x="2355354" y="3350320"/>
            <a:ext cx="1352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 err="1">
                <a:latin typeface="Times New Roman" panose="02020603050405020304" pitchFamily="18" charset="0"/>
              </a:rPr>
              <a:t>sourceArray</a:t>
            </a:r>
            <a:endParaRPr lang="en-US" altLang="zh-CN" b="1" i="1" dirty="0">
              <a:latin typeface="Times New Roman" panose="02020603050405020304" pitchFamily="18" charset="0"/>
            </a:endParaRPr>
          </a:p>
        </p:txBody>
      </p:sp>
      <p:sp>
        <p:nvSpPr>
          <p:cNvPr id="41990" name="Line 8"/>
          <p:cNvSpPr>
            <a:spLocks noChangeShapeType="1"/>
          </p:cNvSpPr>
          <p:nvPr/>
        </p:nvSpPr>
        <p:spPr bwMode="auto">
          <a:xfrm>
            <a:off x="1804988" y="4439344"/>
            <a:ext cx="658812" cy="158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1" name="Text Box 9"/>
          <p:cNvSpPr txBox="1">
            <a:spLocks noChangeArrowheads="1"/>
          </p:cNvSpPr>
          <p:nvPr/>
        </p:nvSpPr>
        <p:spPr bwMode="auto">
          <a:xfrm>
            <a:off x="923925" y="4212332"/>
            <a:ext cx="895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latin typeface="Times New Roman" panose="02020603050405020304" pitchFamily="18" charset="0"/>
              </a:rPr>
              <a:t>src_pos</a:t>
            </a:r>
          </a:p>
        </p:txBody>
      </p:sp>
      <p:sp>
        <p:nvSpPr>
          <p:cNvPr id="41992" name="Rectangle 10" descr="浅色下对角线"/>
          <p:cNvSpPr>
            <a:spLocks noChangeArrowheads="1"/>
          </p:cNvSpPr>
          <p:nvPr/>
        </p:nvSpPr>
        <p:spPr bwMode="auto">
          <a:xfrm>
            <a:off x="2463800" y="4440932"/>
            <a:ext cx="1104900" cy="787400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2000" b="1" i="1">
              <a:latin typeface="Times New Roman" panose="02020603050405020304" pitchFamily="18" charset="0"/>
            </a:endParaRPr>
          </a:p>
        </p:txBody>
      </p:sp>
      <p:sp>
        <p:nvSpPr>
          <p:cNvPr id="41993" name="AutoShape 11"/>
          <p:cNvSpPr>
            <a:spLocks/>
          </p:cNvSpPr>
          <p:nvPr/>
        </p:nvSpPr>
        <p:spPr bwMode="auto">
          <a:xfrm>
            <a:off x="2286000" y="4491732"/>
            <a:ext cx="139700" cy="6985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4" name="Text Box 12"/>
          <p:cNvSpPr txBox="1">
            <a:spLocks noChangeArrowheads="1"/>
          </p:cNvSpPr>
          <p:nvPr/>
        </p:nvSpPr>
        <p:spPr bwMode="auto">
          <a:xfrm>
            <a:off x="1520825" y="4656832"/>
            <a:ext cx="755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latin typeface="Times New Roman" panose="02020603050405020304" pitchFamily="18" charset="0"/>
              </a:rPr>
              <a:t>length</a:t>
            </a:r>
          </a:p>
        </p:txBody>
      </p:sp>
      <p:sp>
        <p:nvSpPr>
          <p:cNvPr id="41995" name="Rectangle 13"/>
          <p:cNvSpPr>
            <a:spLocks noChangeArrowheads="1"/>
          </p:cNvSpPr>
          <p:nvPr/>
        </p:nvSpPr>
        <p:spPr bwMode="auto">
          <a:xfrm>
            <a:off x="5638800" y="3717032"/>
            <a:ext cx="1104900" cy="2401887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2000" b="1" i="1">
              <a:latin typeface="Times New Roman" panose="02020603050405020304" pitchFamily="18" charset="0"/>
            </a:endParaRPr>
          </a:p>
        </p:txBody>
      </p:sp>
      <p:sp>
        <p:nvSpPr>
          <p:cNvPr id="41996" name="Text Box 14"/>
          <p:cNvSpPr txBox="1">
            <a:spLocks noChangeArrowheads="1"/>
          </p:cNvSpPr>
          <p:nvPr/>
        </p:nvSpPr>
        <p:spPr bwMode="auto">
          <a:xfrm>
            <a:off x="5527898" y="3350320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 err="1">
                <a:latin typeface="Times New Roman" panose="02020603050405020304" pitchFamily="18" charset="0"/>
              </a:rPr>
              <a:t>targetArray</a:t>
            </a:r>
            <a:endParaRPr lang="en-US" altLang="zh-CN" b="1" i="1" dirty="0">
              <a:latin typeface="Times New Roman" panose="02020603050405020304" pitchFamily="18" charset="0"/>
            </a:endParaRPr>
          </a:p>
        </p:txBody>
      </p:sp>
      <p:sp>
        <p:nvSpPr>
          <p:cNvPr id="41997" name="Line 15"/>
          <p:cNvSpPr>
            <a:spLocks noChangeShapeType="1"/>
          </p:cNvSpPr>
          <p:nvPr/>
        </p:nvSpPr>
        <p:spPr bwMode="auto">
          <a:xfrm>
            <a:off x="6796088" y="4845744"/>
            <a:ext cx="658812" cy="158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8" name="Text Box 16"/>
          <p:cNvSpPr txBox="1">
            <a:spLocks noChangeArrowheads="1"/>
          </p:cNvSpPr>
          <p:nvPr/>
        </p:nvSpPr>
        <p:spPr bwMode="auto">
          <a:xfrm>
            <a:off x="7502525" y="4618732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latin typeface="Times New Roman" panose="02020603050405020304" pitchFamily="18" charset="0"/>
              </a:rPr>
              <a:t>tar_pos</a:t>
            </a:r>
          </a:p>
        </p:txBody>
      </p:sp>
      <p:sp>
        <p:nvSpPr>
          <p:cNvPr id="41999" name="Text Box 19"/>
          <p:cNvSpPr txBox="1">
            <a:spLocks noChangeArrowheads="1"/>
          </p:cNvSpPr>
          <p:nvPr/>
        </p:nvSpPr>
        <p:spPr bwMode="auto">
          <a:xfrm>
            <a:off x="6943725" y="5075932"/>
            <a:ext cx="755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latin typeface="Times New Roman" panose="02020603050405020304" pitchFamily="18" charset="0"/>
              </a:rPr>
              <a:t>length</a:t>
            </a:r>
          </a:p>
        </p:txBody>
      </p:sp>
      <p:sp>
        <p:nvSpPr>
          <p:cNvPr id="42000" name="AutoShape 20"/>
          <p:cNvSpPr>
            <a:spLocks/>
          </p:cNvSpPr>
          <p:nvPr/>
        </p:nvSpPr>
        <p:spPr bwMode="auto">
          <a:xfrm>
            <a:off x="6769100" y="4898132"/>
            <a:ext cx="152400" cy="736600"/>
          </a:xfrm>
          <a:prstGeom prst="rightBrace">
            <a:avLst>
              <a:gd name="adj1" fmla="val 402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01" name="AutoShape 21"/>
          <p:cNvSpPr>
            <a:spLocks noChangeArrowheads="1"/>
          </p:cNvSpPr>
          <p:nvPr/>
        </p:nvSpPr>
        <p:spPr bwMode="auto">
          <a:xfrm rot="728415">
            <a:off x="3886200" y="4733032"/>
            <a:ext cx="1397000" cy="5588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02" name="Text Box 22"/>
          <p:cNvSpPr txBox="1">
            <a:spLocks noChangeArrowheads="1"/>
          </p:cNvSpPr>
          <p:nvPr/>
        </p:nvSpPr>
        <p:spPr bwMode="auto">
          <a:xfrm>
            <a:off x="3921125" y="4263132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</a:rPr>
              <a:t>arrayCopy</a:t>
            </a:r>
          </a:p>
        </p:txBody>
      </p:sp>
      <p:sp>
        <p:nvSpPr>
          <p:cNvPr id="42003" name="Text Box 23"/>
          <p:cNvSpPr txBox="1">
            <a:spLocks noChangeArrowheads="1"/>
          </p:cNvSpPr>
          <p:nvPr/>
        </p:nvSpPr>
        <p:spPr bwMode="auto">
          <a:xfrm>
            <a:off x="144463" y="6092825"/>
            <a:ext cx="88026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Courier New" panose="02070309020205020404" pitchFamily="49" charset="0"/>
              </a:rPr>
              <a:t>完全复制：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System.arrayCopy</a:t>
            </a:r>
            <a:r>
              <a:rPr lang="en-US" altLang="zh-CN" sz="2000" b="1" dirty="0">
                <a:latin typeface="Courier New" panose="02070309020205020404" pitchFamily="49" charset="0"/>
              </a:rPr>
              <a:t>(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sourceArray</a:t>
            </a:r>
            <a:r>
              <a:rPr lang="en-US" altLang="zh-CN" sz="2000" b="1" dirty="0">
                <a:latin typeface="Courier New" panose="02070309020205020404" pitchFamily="49" charset="0"/>
              </a:rPr>
              <a:t>, 0, </a:t>
            </a:r>
          </a:p>
          <a:p>
            <a:pPr eaLnBrk="1" hangingPunct="1"/>
            <a:r>
              <a:rPr lang="en-US" altLang="zh-CN" sz="2000" b="1" dirty="0">
                <a:latin typeface="Courier New" panose="02070309020205020404" pitchFamily="49" charset="0"/>
              </a:rPr>
              <a:t>                  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targetArray</a:t>
            </a:r>
            <a:r>
              <a:rPr lang="en-US" altLang="zh-CN" sz="2000" b="1" dirty="0">
                <a:latin typeface="Courier New" panose="02070309020205020404" pitchFamily="49" charset="0"/>
              </a:rPr>
              <a:t>, 0,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sourceArray.length</a:t>
            </a:r>
            <a:r>
              <a:rPr lang="en-US" altLang="zh-CN" sz="2000" b="1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42004" name="Rectangle 24" descr="浅色下对角线"/>
          <p:cNvSpPr>
            <a:spLocks noChangeArrowheads="1"/>
          </p:cNvSpPr>
          <p:nvPr/>
        </p:nvSpPr>
        <p:spPr bwMode="auto">
          <a:xfrm>
            <a:off x="5638800" y="4860032"/>
            <a:ext cx="1104900" cy="787400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2000" b="1" i="1">
              <a:latin typeface="Times New Roman" panose="02020603050405020304" pitchFamily="18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0" y="83671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49027"/>
            <a:ext cx="8229600" cy="479773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例子：将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传递给方法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684213" y="1700560"/>
            <a:ext cx="7775575" cy="3962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printArray(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i=0; i&lt;array.length; i++)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System.out.print(array[i] + " ");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args)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[] list = {1, 2, 3, 4, 5};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printArray(list);</a:t>
            </a:r>
          </a:p>
          <a:p>
            <a:pPr eaLnBrk="1" hangingPunct="1">
              <a:lnSpc>
                <a:spcPct val="80000"/>
              </a:lnSpc>
            </a:pP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printArray(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[]{1, 2, 3, 4, 5});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3013" name="Line 6"/>
          <p:cNvSpPr>
            <a:spLocks noChangeShapeType="1"/>
          </p:cNvSpPr>
          <p:nvPr/>
        </p:nvSpPr>
        <p:spPr bwMode="auto">
          <a:xfrm>
            <a:off x="2268538" y="4724747"/>
            <a:ext cx="508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4" name="Line 7"/>
          <p:cNvSpPr>
            <a:spLocks noChangeShapeType="1"/>
          </p:cNvSpPr>
          <p:nvPr/>
        </p:nvSpPr>
        <p:spPr bwMode="auto">
          <a:xfrm flipV="1">
            <a:off x="2601913" y="2135535"/>
            <a:ext cx="1562100" cy="23495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5" name="Line 8"/>
          <p:cNvSpPr>
            <a:spLocks noChangeShapeType="1"/>
          </p:cNvSpPr>
          <p:nvPr/>
        </p:nvSpPr>
        <p:spPr bwMode="auto">
          <a:xfrm>
            <a:off x="2268538" y="5229572"/>
            <a:ext cx="2514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6" name="Line 9"/>
          <p:cNvSpPr>
            <a:spLocks noChangeShapeType="1"/>
          </p:cNvSpPr>
          <p:nvPr/>
        </p:nvSpPr>
        <p:spPr bwMode="auto">
          <a:xfrm flipV="1">
            <a:off x="3881438" y="2135535"/>
            <a:ext cx="690562" cy="27209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7" name="Line 10"/>
          <p:cNvSpPr>
            <a:spLocks noChangeShapeType="1"/>
          </p:cNvSpPr>
          <p:nvPr/>
        </p:nvSpPr>
        <p:spPr bwMode="auto">
          <a:xfrm flipH="1">
            <a:off x="3632200" y="5235128"/>
            <a:ext cx="249238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8" name="Text Box 11"/>
          <p:cNvSpPr txBox="1">
            <a:spLocks noChangeArrowheads="1"/>
          </p:cNvSpPr>
          <p:nvPr/>
        </p:nvSpPr>
        <p:spPr bwMode="auto">
          <a:xfrm>
            <a:off x="1258888" y="5681663"/>
            <a:ext cx="665638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Anonymous array (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匿名数组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这种 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new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dataType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{literal-0, literal-1, ... , literal-n};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的写法，没有将数组赋值给一个引用变量，所以称为匿名数组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019" name="Line 15"/>
          <p:cNvSpPr>
            <a:spLocks noChangeShapeType="1"/>
          </p:cNvSpPr>
          <p:nvPr/>
        </p:nvSpPr>
        <p:spPr bwMode="auto">
          <a:xfrm>
            <a:off x="3563938" y="2060922"/>
            <a:ext cx="12017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556792"/>
            <a:ext cx="8363272" cy="4824536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中，给方法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(method)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传递参数时，使用“按值传递”规则。</a:t>
            </a:r>
          </a:p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但是，在传递原始类型（</a:t>
            </a: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double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）与传递数组的时候，不同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当传递原始类型时，在方法内部修改本地变量，不会影响到外部变量</a:t>
            </a:r>
          </a:p>
          <a:p>
            <a:pPr lvl="1"/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当传递数组时，参数是一个数组的引用，该引用被传递给了方法。因此，在方法内部对数组元素的修改，会影响到外部的数组。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4"/>
          <p:cNvSpPr>
            <a:spLocks noChangeArrowheads="1"/>
          </p:cNvSpPr>
          <p:nvPr/>
        </p:nvSpPr>
        <p:spPr bwMode="auto">
          <a:xfrm>
            <a:off x="288722" y="1268760"/>
            <a:ext cx="8607425" cy="525713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PassByValueTest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1;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y = {10, 6, 23};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z = {27, 18, 36};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test(x, y, z);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("x=" + x);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("y[0]=" + y[0]);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("z[0]=" + z[0]);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test(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value,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array1,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array2)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value = 3;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array1[0] = 11;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array2 =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[]{100, 200};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7044914" y="5026819"/>
            <a:ext cx="168751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x=1</a:t>
            </a:r>
          </a:p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y[0]=11</a:t>
            </a:r>
          </a:p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z[0]=27</a:t>
            </a:r>
            <a:endParaRPr lang="zh-CN" altLang="en-US" sz="28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5752277" y="5352256"/>
            <a:ext cx="1327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输出结果：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数组的创建与引用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/>
          <p:cNvSpPr>
            <a:spLocks noChangeArrowheads="1"/>
          </p:cNvSpPr>
          <p:nvPr/>
        </p:nvSpPr>
        <p:spPr bwMode="auto">
          <a:xfrm>
            <a:off x="323850" y="260350"/>
            <a:ext cx="5102225" cy="62642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PassByValueTest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args)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x = 1;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y = {10, 6, 23};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z = {27, 18, 36};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test(x, y, z);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System.out.println("x=" + x);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System.out.println("y[0]=" + y[0]);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System.out.println("z[0]=" + z[0]);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test(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value,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array1,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array2)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value = 3;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array1[0] = 11;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array2 =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[]{100, 200};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6083" name="Rectangle 5"/>
          <p:cNvSpPr>
            <a:spLocks noChangeArrowheads="1"/>
          </p:cNvSpPr>
          <p:nvPr/>
        </p:nvSpPr>
        <p:spPr bwMode="auto">
          <a:xfrm>
            <a:off x="6819900" y="20447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</a:t>
            </a:r>
          </a:p>
        </p:txBody>
      </p:sp>
      <p:sp>
        <p:nvSpPr>
          <p:cNvPr id="46084" name="Rectangle 6"/>
          <p:cNvSpPr>
            <a:spLocks noChangeArrowheads="1"/>
          </p:cNvSpPr>
          <p:nvPr/>
        </p:nvSpPr>
        <p:spPr bwMode="auto">
          <a:xfrm>
            <a:off x="6819900" y="2616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10</a:t>
            </a:r>
          </a:p>
        </p:txBody>
      </p:sp>
      <p:sp>
        <p:nvSpPr>
          <p:cNvPr id="46085" name="Rectangle 7"/>
          <p:cNvSpPr>
            <a:spLocks noChangeArrowheads="1"/>
          </p:cNvSpPr>
          <p:nvPr/>
        </p:nvSpPr>
        <p:spPr bwMode="auto">
          <a:xfrm>
            <a:off x="6819900" y="2946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6</a:t>
            </a:r>
          </a:p>
        </p:txBody>
      </p:sp>
      <p:sp>
        <p:nvSpPr>
          <p:cNvPr id="46086" name="Rectangle 8"/>
          <p:cNvSpPr>
            <a:spLocks noChangeArrowheads="1"/>
          </p:cNvSpPr>
          <p:nvPr/>
        </p:nvSpPr>
        <p:spPr bwMode="auto">
          <a:xfrm>
            <a:off x="6819900" y="32766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23</a:t>
            </a:r>
          </a:p>
        </p:txBody>
      </p:sp>
      <p:sp>
        <p:nvSpPr>
          <p:cNvPr id="46087" name="Rectangle 9"/>
          <p:cNvSpPr>
            <a:spLocks noChangeArrowheads="1"/>
          </p:cNvSpPr>
          <p:nvPr/>
        </p:nvSpPr>
        <p:spPr bwMode="auto">
          <a:xfrm>
            <a:off x="6819900" y="3886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27</a:t>
            </a:r>
          </a:p>
        </p:txBody>
      </p:sp>
      <p:sp>
        <p:nvSpPr>
          <p:cNvPr id="46088" name="Rectangle 10"/>
          <p:cNvSpPr>
            <a:spLocks noChangeArrowheads="1"/>
          </p:cNvSpPr>
          <p:nvPr/>
        </p:nvSpPr>
        <p:spPr bwMode="auto">
          <a:xfrm>
            <a:off x="6819900" y="4216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18</a:t>
            </a:r>
          </a:p>
        </p:txBody>
      </p:sp>
      <p:sp>
        <p:nvSpPr>
          <p:cNvPr id="46089" name="Rectangle 11"/>
          <p:cNvSpPr>
            <a:spLocks noChangeArrowheads="1"/>
          </p:cNvSpPr>
          <p:nvPr/>
        </p:nvSpPr>
        <p:spPr bwMode="auto">
          <a:xfrm>
            <a:off x="6819900" y="45466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36</a:t>
            </a:r>
          </a:p>
        </p:txBody>
      </p:sp>
      <p:sp>
        <p:nvSpPr>
          <p:cNvPr id="46090" name="Line 12"/>
          <p:cNvSpPr>
            <a:spLocks noChangeShapeType="1"/>
          </p:cNvSpPr>
          <p:nvPr/>
        </p:nvSpPr>
        <p:spPr bwMode="auto">
          <a:xfrm>
            <a:off x="6108700" y="20574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1" name="Text Box 13"/>
          <p:cNvSpPr txBox="1">
            <a:spLocks noChangeArrowheads="1"/>
          </p:cNvSpPr>
          <p:nvPr/>
        </p:nvSpPr>
        <p:spPr bwMode="auto">
          <a:xfrm>
            <a:off x="6029325" y="1758950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46092" name="Line 14"/>
          <p:cNvSpPr>
            <a:spLocks noChangeShapeType="1"/>
          </p:cNvSpPr>
          <p:nvPr/>
        </p:nvSpPr>
        <p:spPr bwMode="auto">
          <a:xfrm>
            <a:off x="6108700" y="20574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3" name="Text Box 15"/>
          <p:cNvSpPr txBox="1">
            <a:spLocks noChangeArrowheads="1"/>
          </p:cNvSpPr>
          <p:nvPr/>
        </p:nvSpPr>
        <p:spPr bwMode="auto">
          <a:xfrm>
            <a:off x="6029325" y="1758950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46094" name="Line 16"/>
          <p:cNvSpPr>
            <a:spLocks noChangeShapeType="1"/>
          </p:cNvSpPr>
          <p:nvPr/>
        </p:nvSpPr>
        <p:spPr bwMode="auto">
          <a:xfrm>
            <a:off x="6108700" y="26289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5" name="Text Box 17"/>
          <p:cNvSpPr txBox="1">
            <a:spLocks noChangeArrowheads="1"/>
          </p:cNvSpPr>
          <p:nvPr/>
        </p:nvSpPr>
        <p:spPr bwMode="auto">
          <a:xfrm>
            <a:off x="6029325" y="2305050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y</a:t>
            </a:r>
          </a:p>
        </p:txBody>
      </p:sp>
      <p:sp>
        <p:nvSpPr>
          <p:cNvPr id="46096" name="Line 18"/>
          <p:cNvSpPr>
            <a:spLocks noChangeShapeType="1"/>
          </p:cNvSpPr>
          <p:nvPr/>
        </p:nvSpPr>
        <p:spPr bwMode="auto">
          <a:xfrm>
            <a:off x="6108700" y="38989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7" name="Text Box 19"/>
          <p:cNvSpPr txBox="1">
            <a:spLocks noChangeArrowheads="1"/>
          </p:cNvSpPr>
          <p:nvPr/>
        </p:nvSpPr>
        <p:spPr bwMode="auto">
          <a:xfrm>
            <a:off x="6029325" y="3600450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z</a:t>
            </a:r>
          </a:p>
        </p:txBody>
      </p:sp>
      <p:sp>
        <p:nvSpPr>
          <p:cNvPr id="46098" name="Rectangle 20"/>
          <p:cNvSpPr>
            <a:spLocks noChangeArrowheads="1"/>
          </p:cNvSpPr>
          <p:nvPr/>
        </p:nvSpPr>
        <p:spPr bwMode="auto">
          <a:xfrm>
            <a:off x="800100" y="2286000"/>
            <a:ext cx="4625975" cy="279400"/>
          </a:xfrm>
          <a:prstGeom prst="rect">
            <a:avLst/>
          </a:prstGeom>
          <a:solidFill>
            <a:srgbClr val="993366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099" name="Text Box 21"/>
          <p:cNvSpPr txBox="1">
            <a:spLocks noChangeArrowheads="1"/>
          </p:cNvSpPr>
          <p:nvPr/>
        </p:nvSpPr>
        <p:spPr bwMode="auto">
          <a:xfrm>
            <a:off x="5838825" y="1484784"/>
            <a:ext cx="30718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变量     值     内存地址</a:t>
            </a:r>
          </a:p>
        </p:txBody>
      </p:sp>
      <p:sp>
        <p:nvSpPr>
          <p:cNvPr id="46100" name="Text Box 22"/>
          <p:cNvSpPr txBox="1">
            <a:spLocks noChangeArrowheads="1"/>
          </p:cNvSpPr>
          <p:nvPr/>
        </p:nvSpPr>
        <p:spPr bwMode="auto">
          <a:xfrm>
            <a:off x="7604125" y="20304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1024</a:t>
            </a:r>
          </a:p>
        </p:txBody>
      </p:sp>
      <p:sp>
        <p:nvSpPr>
          <p:cNvPr id="46101" name="Text Box 23"/>
          <p:cNvSpPr txBox="1">
            <a:spLocks noChangeArrowheads="1"/>
          </p:cNvSpPr>
          <p:nvPr/>
        </p:nvSpPr>
        <p:spPr bwMode="auto">
          <a:xfrm>
            <a:off x="7604125" y="26019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1152</a:t>
            </a:r>
          </a:p>
        </p:txBody>
      </p:sp>
      <p:sp>
        <p:nvSpPr>
          <p:cNvPr id="46102" name="Text Box 26"/>
          <p:cNvSpPr txBox="1">
            <a:spLocks noChangeArrowheads="1"/>
          </p:cNvSpPr>
          <p:nvPr/>
        </p:nvSpPr>
        <p:spPr bwMode="auto">
          <a:xfrm>
            <a:off x="7604125" y="29575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1156</a:t>
            </a:r>
          </a:p>
        </p:txBody>
      </p:sp>
      <p:sp>
        <p:nvSpPr>
          <p:cNvPr id="46103" name="Text Box 27"/>
          <p:cNvSpPr txBox="1">
            <a:spLocks noChangeArrowheads="1"/>
          </p:cNvSpPr>
          <p:nvPr/>
        </p:nvSpPr>
        <p:spPr bwMode="auto">
          <a:xfrm>
            <a:off x="7604125" y="32877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1160</a:t>
            </a:r>
          </a:p>
        </p:txBody>
      </p:sp>
      <p:sp>
        <p:nvSpPr>
          <p:cNvPr id="46104" name="Text Box 28"/>
          <p:cNvSpPr txBox="1">
            <a:spLocks noChangeArrowheads="1"/>
          </p:cNvSpPr>
          <p:nvPr/>
        </p:nvSpPr>
        <p:spPr bwMode="auto">
          <a:xfrm>
            <a:off x="7604125" y="38465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1408</a:t>
            </a:r>
          </a:p>
        </p:txBody>
      </p:sp>
      <p:sp>
        <p:nvSpPr>
          <p:cNvPr id="46105" name="Text Box 29"/>
          <p:cNvSpPr txBox="1">
            <a:spLocks noChangeArrowheads="1"/>
          </p:cNvSpPr>
          <p:nvPr/>
        </p:nvSpPr>
        <p:spPr bwMode="auto">
          <a:xfrm>
            <a:off x="7604125" y="42021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1412</a:t>
            </a:r>
          </a:p>
        </p:txBody>
      </p:sp>
      <p:sp>
        <p:nvSpPr>
          <p:cNvPr id="46106" name="Text Box 30"/>
          <p:cNvSpPr txBox="1">
            <a:spLocks noChangeArrowheads="1"/>
          </p:cNvSpPr>
          <p:nvPr/>
        </p:nvSpPr>
        <p:spPr bwMode="auto">
          <a:xfrm>
            <a:off x="7604125" y="45323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ChangeArrowheads="1"/>
          </p:cNvSpPr>
          <p:nvPr/>
        </p:nvSpPr>
        <p:spPr bwMode="auto">
          <a:xfrm>
            <a:off x="6819900" y="20447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</a:t>
            </a:r>
          </a:p>
        </p:txBody>
      </p:sp>
      <p:sp>
        <p:nvSpPr>
          <p:cNvPr id="47107" name="Rectangle 4"/>
          <p:cNvSpPr>
            <a:spLocks noChangeArrowheads="1"/>
          </p:cNvSpPr>
          <p:nvPr/>
        </p:nvSpPr>
        <p:spPr bwMode="auto">
          <a:xfrm>
            <a:off x="6819900" y="2616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10</a:t>
            </a:r>
          </a:p>
        </p:txBody>
      </p:sp>
      <p:sp>
        <p:nvSpPr>
          <p:cNvPr id="47108" name="Rectangle 5"/>
          <p:cNvSpPr>
            <a:spLocks noChangeArrowheads="1"/>
          </p:cNvSpPr>
          <p:nvPr/>
        </p:nvSpPr>
        <p:spPr bwMode="auto">
          <a:xfrm>
            <a:off x="6819900" y="2946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6</a:t>
            </a:r>
          </a:p>
        </p:txBody>
      </p:sp>
      <p:sp>
        <p:nvSpPr>
          <p:cNvPr id="47109" name="Rectangle 6"/>
          <p:cNvSpPr>
            <a:spLocks noChangeArrowheads="1"/>
          </p:cNvSpPr>
          <p:nvPr/>
        </p:nvSpPr>
        <p:spPr bwMode="auto">
          <a:xfrm>
            <a:off x="6819900" y="32766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23</a:t>
            </a:r>
          </a:p>
        </p:txBody>
      </p:sp>
      <p:sp>
        <p:nvSpPr>
          <p:cNvPr id="47110" name="Rectangle 7"/>
          <p:cNvSpPr>
            <a:spLocks noChangeArrowheads="1"/>
          </p:cNvSpPr>
          <p:nvPr/>
        </p:nvSpPr>
        <p:spPr bwMode="auto">
          <a:xfrm>
            <a:off x="6819900" y="3886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27</a:t>
            </a:r>
          </a:p>
        </p:txBody>
      </p:sp>
      <p:sp>
        <p:nvSpPr>
          <p:cNvPr id="47111" name="Rectangle 8"/>
          <p:cNvSpPr>
            <a:spLocks noChangeArrowheads="1"/>
          </p:cNvSpPr>
          <p:nvPr/>
        </p:nvSpPr>
        <p:spPr bwMode="auto">
          <a:xfrm>
            <a:off x="6819900" y="4216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18</a:t>
            </a:r>
          </a:p>
        </p:txBody>
      </p:sp>
      <p:sp>
        <p:nvSpPr>
          <p:cNvPr id="47112" name="Rectangle 9"/>
          <p:cNvSpPr>
            <a:spLocks noChangeArrowheads="1"/>
          </p:cNvSpPr>
          <p:nvPr/>
        </p:nvSpPr>
        <p:spPr bwMode="auto">
          <a:xfrm>
            <a:off x="6819900" y="45466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36</a:t>
            </a:r>
          </a:p>
        </p:txBody>
      </p:sp>
      <p:sp>
        <p:nvSpPr>
          <p:cNvPr id="47113" name="Line 14"/>
          <p:cNvSpPr>
            <a:spLocks noChangeShapeType="1"/>
          </p:cNvSpPr>
          <p:nvPr/>
        </p:nvSpPr>
        <p:spPr bwMode="auto">
          <a:xfrm>
            <a:off x="6108700" y="26289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4" name="Text Box 15"/>
          <p:cNvSpPr txBox="1">
            <a:spLocks noChangeArrowheads="1"/>
          </p:cNvSpPr>
          <p:nvPr/>
        </p:nvSpPr>
        <p:spPr bwMode="auto">
          <a:xfrm>
            <a:off x="5876925" y="227965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array1</a:t>
            </a:r>
          </a:p>
        </p:txBody>
      </p:sp>
      <p:sp>
        <p:nvSpPr>
          <p:cNvPr id="47115" name="Line 16"/>
          <p:cNvSpPr>
            <a:spLocks noChangeShapeType="1"/>
          </p:cNvSpPr>
          <p:nvPr/>
        </p:nvSpPr>
        <p:spPr bwMode="auto">
          <a:xfrm>
            <a:off x="6108700" y="38989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6" name="Text Box 17"/>
          <p:cNvSpPr txBox="1">
            <a:spLocks noChangeArrowheads="1"/>
          </p:cNvSpPr>
          <p:nvPr/>
        </p:nvSpPr>
        <p:spPr bwMode="auto">
          <a:xfrm>
            <a:off x="5876925" y="357505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array2</a:t>
            </a:r>
          </a:p>
        </p:txBody>
      </p:sp>
      <p:sp>
        <p:nvSpPr>
          <p:cNvPr id="47117" name="Text Box 19"/>
          <p:cNvSpPr txBox="1">
            <a:spLocks noChangeArrowheads="1"/>
          </p:cNvSpPr>
          <p:nvPr/>
        </p:nvSpPr>
        <p:spPr bwMode="auto">
          <a:xfrm>
            <a:off x="5838825" y="1484313"/>
            <a:ext cx="30718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FF"/>
                </a:solidFill>
              </a:rPr>
              <a:t>变量      值           内存地址</a:t>
            </a:r>
          </a:p>
        </p:txBody>
      </p:sp>
      <p:sp>
        <p:nvSpPr>
          <p:cNvPr id="47118" name="Text Box 20"/>
          <p:cNvSpPr txBox="1">
            <a:spLocks noChangeArrowheads="1"/>
          </p:cNvSpPr>
          <p:nvPr/>
        </p:nvSpPr>
        <p:spPr bwMode="auto">
          <a:xfrm>
            <a:off x="7604125" y="20304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1024</a:t>
            </a:r>
          </a:p>
        </p:txBody>
      </p:sp>
      <p:sp>
        <p:nvSpPr>
          <p:cNvPr id="47119" name="Text Box 21"/>
          <p:cNvSpPr txBox="1">
            <a:spLocks noChangeArrowheads="1"/>
          </p:cNvSpPr>
          <p:nvPr/>
        </p:nvSpPr>
        <p:spPr bwMode="auto">
          <a:xfrm>
            <a:off x="7604125" y="26019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1152</a:t>
            </a:r>
          </a:p>
        </p:txBody>
      </p:sp>
      <p:sp>
        <p:nvSpPr>
          <p:cNvPr id="47120" name="Text Box 22"/>
          <p:cNvSpPr txBox="1">
            <a:spLocks noChangeArrowheads="1"/>
          </p:cNvSpPr>
          <p:nvPr/>
        </p:nvSpPr>
        <p:spPr bwMode="auto">
          <a:xfrm>
            <a:off x="7604125" y="29575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1156</a:t>
            </a:r>
          </a:p>
        </p:txBody>
      </p:sp>
      <p:sp>
        <p:nvSpPr>
          <p:cNvPr id="47121" name="Text Box 23"/>
          <p:cNvSpPr txBox="1">
            <a:spLocks noChangeArrowheads="1"/>
          </p:cNvSpPr>
          <p:nvPr/>
        </p:nvSpPr>
        <p:spPr bwMode="auto">
          <a:xfrm>
            <a:off x="7604125" y="32877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1160</a:t>
            </a:r>
          </a:p>
        </p:txBody>
      </p:sp>
      <p:sp>
        <p:nvSpPr>
          <p:cNvPr id="47122" name="Text Box 24"/>
          <p:cNvSpPr txBox="1">
            <a:spLocks noChangeArrowheads="1"/>
          </p:cNvSpPr>
          <p:nvPr/>
        </p:nvSpPr>
        <p:spPr bwMode="auto">
          <a:xfrm>
            <a:off x="7604125" y="38465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1408</a:t>
            </a:r>
          </a:p>
        </p:txBody>
      </p:sp>
      <p:sp>
        <p:nvSpPr>
          <p:cNvPr id="47123" name="Text Box 25"/>
          <p:cNvSpPr txBox="1">
            <a:spLocks noChangeArrowheads="1"/>
          </p:cNvSpPr>
          <p:nvPr/>
        </p:nvSpPr>
        <p:spPr bwMode="auto">
          <a:xfrm>
            <a:off x="7604125" y="42021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1412</a:t>
            </a:r>
          </a:p>
        </p:txBody>
      </p:sp>
      <p:sp>
        <p:nvSpPr>
          <p:cNvPr id="47124" name="Text Box 26"/>
          <p:cNvSpPr txBox="1">
            <a:spLocks noChangeArrowheads="1"/>
          </p:cNvSpPr>
          <p:nvPr/>
        </p:nvSpPr>
        <p:spPr bwMode="auto">
          <a:xfrm>
            <a:off x="7604125" y="45323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1416</a:t>
            </a:r>
          </a:p>
        </p:txBody>
      </p:sp>
      <p:sp>
        <p:nvSpPr>
          <p:cNvPr id="47125" name="Rectangle 28"/>
          <p:cNvSpPr>
            <a:spLocks noChangeArrowheads="1"/>
          </p:cNvSpPr>
          <p:nvPr/>
        </p:nvSpPr>
        <p:spPr bwMode="auto">
          <a:xfrm>
            <a:off x="6819900" y="5105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7126" name="Text Box 29"/>
          <p:cNvSpPr txBox="1">
            <a:spLocks noChangeArrowheads="1"/>
          </p:cNvSpPr>
          <p:nvPr/>
        </p:nvSpPr>
        <p:spPr bwMode="auto">
          <a:xfrm>
            <a:off x="7604125" y="50784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2432</a:t>
            </a:r>
          </a:p>
        </p:txBody>
      </p:sp>
      <p:sp>
        <p:nvSpPr>
          <p:cNvPr id="47127" name="Line 30"/>
          <p:cNvSpPr>
            <a:spLocks noChangeShapeType="1"/>
          </p:cNvSpPr>
          <p:nvPr/>
        </p:nvSpPr>
        <p:spPr bwMode="auto">
          <a:xfrm>
            <a:off x="6108700" y="51181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8" name="Text Box 31"/>
          <p:cNvSpPr txBox="1">
            <a:spLocks noChangeArrowheads="1"/>
          </p:cNvSpPr>
          <p:nvPr/>
        </p:nvSpPr>
        <p:spPr bwMode="auto">
          <a:xfrm>
            <a:off x="5902325" y="4743450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  <a:latin typeface="Courier New" panose="02070309020205020404" pitchFamily="49" charset="0"/>
              </a:rPr>
              <a:t>value</a:t>
            </a:r>
          </a:p>
        </p:txBody>
      </p:sp>
      <p:sp>
        <p:nvSpPr>
          <p:cNvPr id="47129" name="Rectangle 4"/>
          <p:cNvSpPr>
            <a:spLocks noChangeArrowheads="1"/>
          </p:cNvSpPr>
          <p:nvPr/>
        </p:nvSpPr>
        <p:spPr bwMode="auto">
          <a:xfrm>
            <a:off x="323850" y="260350"/>
            <a:ext cx="5102225" cy="62642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PassByValueTest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args)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x = 1;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y = {10, 6, 23};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z = {27, 18, 36};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test(x, y, z);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System.out.println("x=" + x);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System.out.println("y[0]=" + y[0]);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System.out.println("z[0]=" + z[0]);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test(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value,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array1,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array2)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value = 3;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array1[0] = 11;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array2 =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[]{100, 200};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7130" name="Rectangle 27"/>
          <p:cNvSpPr>
            <a:spLocks noChangeArrowheads="1"/>
          </p:cNvSpPr>
          <p:nvPr/>
        </p:nvSpPr>
        <p:spPr bwMode="auto">
          <a:xfrm>
            <a:off x="561975" y="5038725"/>
            <a:ext cx="4625975" cy="190500"/>
          </a:xfrm>
          <a:prstGeom prst="rect">
            <a:avLst/>
          </a:prstGeom>
          <a:solidFill>
            <a:srgbClr val="993366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ChangeArrowheads="1"/>
          </p:cNvSpPr>
          <p:nvPr/>
        </p:nvSpPr>
        <p:spPr bwMode="auto">
          <a:xfrm>
            <a:off x="6819900" y="20447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</a:t>
            </a:r>
          </a:p>
        </p:txBody>
      </p:sp>
      <p:sp>
        <p:nvSpPr>
          <p:cNvPr id="48131" name="Rectangle 4"/>
          <p:cNvSpPr>
            <a:spLocks noChangeArrowheads="1"/>
          </p:cNvSpPr>
          <p:nvPr/>
        </p:nvSpPr>
        <p:spPr bwMode="auto">
          <a:xfrm>
            <a:off x="6819900" y="2616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48132" name="Rectangle 5"/>
          <p:cNvSpPr>
            <a:spLocks noChangeArrowheads="1"/>
          </p:cNvSpPr>
          <p:nvPr/>
        </p:nvSpPr>
        <p:spPr bwMode="auto">
          <a:xfrm>
            <a:off x="6819900" y="2946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6</a:t>
            </a:r>
          </a:p>
        </p:txBody>
      </p:sp>
      <p:sp>
        <p:nvSpPr>
          <p:cNvPr id="48133" name="Rectangle 6"/>
          <p:cNvSpPr>
            <a:spLocks noChangeArrowheads="1"/>
          </p:cNvSpPr>
          <p:nvPr/>
        </p:nvSpPr>
        <p:spPr bwMode="auto">
          <a:xfrm>
            <a:off x="6819900" y="32766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23</a:t>
            </a:r>
          </a:p>
        </p:txBody>
      </p:sp>
      <p:sp>
        <p:nvSpPr>
          <p:cNvPr id="48134" name="Rectangle 7"/>
          <p:cNvSpPr>
            <a:spLocks noChangeArrowheads="1"/>
          </p:cNvSpPr>
          <p:nvPr/>
        </p:nvSpPr>
        <p:spPr bwMode="auto">
          <a:xfrm>
            <a:off x="6819900" y="3886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27</a:t>
            </a:r>
          </a:p>
        </p:txBody>
      </p:sp>
      <p:sp>
        <p:nvSpPr>
          <p:cNvPr id="48135" name="Rectangle 8"/>
          <p:cNvSpPr>
            <a:spLocks noChangeArrowheads="1"/>
          </p:cNvSpPr>
          <p:nvPr/>
        </p:nvSpPr>
        <p:spPr bwMode="auto">
          <a:xfrm>
            <a:off x="6819900" y="4216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18</a:t>
            </a:r>
          </a:p>
        </p:txBody>
      </p:sp>
      <p:sp>
        <p:nvSpPr>
          <p:cNvPr id="48136" name="Rectangle 9"/>
          <p:cNvSpPr>
            <a:spLocks noChangeArrowheads="1"/>
          </p:cNvSpPr>
          <p:nvPr/>
        </p:nvSpPr>
        <p:spPr bwMode="auto">
          <a:xfrm>
            <a:off x="6819900" y="45466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36</a:t>
            </a:r>
          </a:p>
        </p:txBody>
      </p:sp>
      <p:sp>
        <p:nvSpPr>
          <p:cNvPr id="48137" name="Line 10"/>
          <p:cNvSpPr>
            <a:spLocks noChangeShapeType="1"/>
          </p:cNvSpPr>
          <p:nvPr/>
        </p:nvSpPr>
        <p:spPr bwMode="auto">
          <a:xfrm>
            <a:off x="6108700" y="26289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8" name="Text Box 11"/>
          <p:cNvSpPr txBox="1">
            <a:spLocks noChangeArrowheads="1"/>
          </p:cNvSpPr>
          <p:nvPr/>
        </p:nvSpPr>
        <p:spPr bwMode="auto">
          <a:xfrm>
            <a:off x="5876925" y="227965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array1</a:t>
            </a:r>
          </a:p>
        </p:txBody>
      </p:sp>
      <p:sp>
        <p:nvSpPr>
          <p:cNvPr id="48139" name="Line 12"/>
          <p:cNvSpPr>
            <a:spLocks noChangeShapeType="1"/>
          </p:cNvSpPr>
          <p:nvPr/>
        </p:nvSpPr>
        <p:spPr bwMode="auto">
          <a:xfrm>
            <a:off x="6108700" y="38989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0" name="Text Box 13"/>
          <p:cNvSpPr txBox="1">
            <a:spLocks noChangeArrowheads="1"/>
          </p:cNvSpPr>
          <p:nvPr/>
        </p:nvSpPr>
        <p:spPr bwMode="auto">
          <a:xfrm>
            <a:off x="5876925" y="357505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array2</a:t>
            </a:r>
          </a:p>
        </p:txBody>
      </p:sp>
      <p:sp>
        <p:nvSpPr>
          <p:cNvPr id="48141" name="Text Box 14"/>
          <p:cNvSpPr txBox="1">
            <a:spLocks noChangeArrowheads="1"/>
          </p:cNvSpPr>
          <p:nvPr/>
        </p:nvSpPr>
        <p:spPr bwMode="auto">
          <a:xfrm>
            <a:off x="5838825" y="1484313"/>
            <a:ext cx="3082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FF"/>
                </a:solidFill>
              </a:rPr>
              <a:t>变量      值           内存地址</a:t>
            </a:r>
          </a:p>
        </p:txBody>
      </p:sp>
      <p:sp>
        <p:nvSpPr>
          <p:cNvPr id="48142" name="Text Box 15"/>
          <p:cNvSpPr txBox="1">
            <a:spLocks noChangeArrowheads="1"/>
          </p:cNvSpPr>
          <p:nvPr/>
        </p:nvSpPr>
        <p:spPr bwMode="auto">
          <a:xfrm>
            <a:off x="7604125" y="20304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1024</a:t>
            </a:r>
          </a:p>
        </p:txBody>
      </p:sp>
      <p:sp>
        <p:nvSpPr>
          <p:cNvPr id="48143" name="Text Box 16"/>
          <p:cNvSpPr txBox="1">
            <a:spLocks noChangeArrowheads="1"/>
          </p:cNvSpPr>
          <p:nvPr/>
        </p:nvSpPr>
        <p:spPr bwMode="auto">
          <a:xfrm>
            <a:off x="7604125" y="26019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1152</a:t>
            </a:r>
          </a:p>
        </p:txBody>
      </p:sp>
      <p:sp>
        <p:nvSpPr>
          <p:cNvPr id="48144" name="Text Box 17"/>
          <p:cNvSpPr txBox="1">
            <a:spLocks noChangeArrowheads="1"/>
          </p:cNvSpPr>
          <p:nvPr/>
        </p:nvSpPr>
        <p:spPr bwMode="auto">
          <a:xfrm>
            <a:off x="7604125" y="29575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1156</a:t>
            </a:r>
          </a:p>
        </p:txBody>
      </p:sp>
      <p:sp>
        <p:nvSpPr>
          <p:cNvPr id="48145" name="Text Box 18"/>
          <p:cNvSpPr txBox="1">
            <a:spLocks noChangeArrowheads="1"/>
          </p:cNvSpPr>
          <p:nvPr/>
        </p:nvSpPr>
        <p:spPr bwMode="auto">
          <a:xfrm>
            <a:off x="7604125" y="32877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1160</a:t>
            </a:r>
          </a:p>
        </p:txBody>
      </p:sp>
      <p:sp>
        <p:nvSpPr>
          <p:cNvPr id="48146" name="Text Box 19"/>
          <p:cNvSpPr txBox="1">
            <a:spLocks noChangeArrowheads="1"/>
          </p:cNvSpPr>
          <p:nvPr/>
        </p:nvSpPr>
        <p:spPr bwMode="auto">
          <a:xfrm>
            <a:off x="7604125" y="38465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1408</a:t>
            </a:r>
          </a:p>
        </p:txBody>
      </p:sp>
      <p:sp>
        <p:nvSpPr>
          <p:cNvPr id="48147" name="Text Box 20"/>
          <p:cNvSpPr txBox="1">
            <a:spLocks noChangeArrowheads="1"/>
          </p:cNvSpPr>
          <p:nvPr/>
        </p:nvSpPr>
        <p:spPr bwMode="auto">
          <a:xfrm>
            <a:off x="7604125" y="42021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1412</a:t>
            </a:r>
          </a:p>
        </p:txBody>
      </p:sp>
      <p:sp>
        <p:nvSpPr>
          <p:cNvPr id="48148" name="Text Box 21"/>
          <p:cNvSpPr txBox="1">
            <a:spLocks noChangeArrowheads="1"/>
          </p:cNvSpPr>
          <p:nvPr/>
        </p:nvSpPr>
        <p:spPr bwMode="auto">
          <a:xfrm>
            <a:off x="7604125" y="45323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1416</a:t>
            </a:r>
          </a:p>
        </p:txBody>
      </p:sp>
      <p:sp>
        <p:nvSpPr>
          <p:cNvPr id="48149" name="Rectangle 23"/>
          <p:cNvSpPr>
            <a:spLocks noChangeArrowheads="1"/>
          </p:cNvSpPr>
          <p:nvPr/>
        </p:nvSpPr>
        <p:spPr bwMode="auto">
          <a:xfrm>
            <a:off x="6819900" y="5105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8150" name="Text Box 24"/>
          <p:cNvSpPr txBox="1">
            <a:spLocks noChangeArrowheads="1"/>
          </p:cNvSpPr>
          <p:nvPr/>
        </p:nvSpPr>
        <p:spPr bwMode="auto">
          <a:xfrm>
            <a:off x="7604125" y="50784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2432</a:t>
            </a:r>
          </a:p>
        </p:txBody>
      </p:sp>
      <p:sp>
        <p:nvSpPr>
          <p:cNvPr id="48151" name="Line 25"/>
          <p:cNvSpPr>
            <a:spLocks noChangeShapeType="1"/>
          </p:cNvSpPr>
          <p:nvPr/>
        </p:nvSpPr>
        <p:spPr bwMode="auto">
          <a:xfrm>
            <a:off x="6108700" y="51181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52" name="Text Box 26"/>
          <p:cNvSpPr txBox="1">
            <a:spLocks noChangeArrowheads="1"/>
          </p:cNvSpPr>
          <p:nvPr/>
        </p:nvSpPr>
        <p:spPr bwMode="auto">
          <a:xfrm>
            <a:off x="5902325" y="4743450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  <a:latin typeface="Courier New" panose="02070309020205020404" pitchFamily="49" charset="0"/>
              </a:rPr>
              <a:t>value</a:t>
            </a:r>
          </a:p>
        </p:txBody>
      </p:sp>
      <p:sp>
        <p:nvSpPr>
          <p:cNvPr id="48153" name="Rectangle 4"/>
          <p:cNvSpPr>
            <a:spLocks noChangeArrowheads="1"/>
          </p:cNvSpPr>
          <p:nvPr/>
        </p:nvSpPr>
        <p:spPr bwMode="auto">
          <a:xfrm>
            <a:off x="361950" y="192088"/>
            <a:ext cx="5102225" cy="62642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PassByValueTest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args)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x = 1;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y = {10, 6, 23};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z = {27, 18, 36};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test(x, y, z);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System.out.println("x=" + x);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System.out.println("y[0]=" + y[0]);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System.out.println("z[0]=" + z[0]);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test(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value,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array1,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array2)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value = 3;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array1[0] = 11;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array2 =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[]{100, 200};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8154" name="Rectangle 22"/>
          <p:cNvSpPr>
            <a:spLocks noChangeArrowheads="1"/>
          </p:cNvSpPr>
          <p:nvPr/>
        </p:nvSpPr>
        <p:spPr bwMode="auto">
          <a:xfrm>
            <a:off x="600075" y="5170488"/>
            <a:ext cx="4625975" cy="317500"/>
          </a:xfrm>
          <a:prstGeom prst="rect">
            <a:avLst/>
          </a:prstGeom>
          <a:solidFill>
            <a:srgbClr val="993366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ChangeArrowheads="1"/>
          </p:cNvSpPr>
          <p:nvPr/>
        </p:nvSpPr>
        <p:spPr bwMode="auto">
          <a:xfrm>
            <a:off x="6819900" y="20447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</a:t>
            </a:r>
          </a:p>
        </p:txBody>
      </p:sp>
      <p:sp>
        <p:nvSpPr>
          <p:cNvPr id="49155" name="Rectangle 4"/>
          <p:cNvSpPr>
            <a:spLocks noChangeArrowheads="1"/>
          </p:cNvSpPr>
          <p:nvPr/>
        </p:nvSpPr>
        <p:spPr bwMode="auto">
          <a:xfrm>
            <a:off x="6819900" y="2616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49156" name="Rectangle 5"/>
          <p:cNvSpPr>
            <a:spLocks noChangeArrowheads="1"/>
          </p:cNvSpPr>
          <p:nvPr/>
        </p:nvSpPr>
        <p:spPr bwMode="auto">
          <a:xfrm>
            <a:off x="6819900" y="2946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6</a:t>
            </a: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6819900" y="32766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23</a:t>
            </a:r>
          </a:p>
        </p:txBody>
      </p:sp>
      <p:sp>
        <p:nvSpPr>
          <p:cNvPr id="49158" name="Rectangle 7"/>
          <p:cNvSpPr>
            <a:spLocks noChangeArrowheads="1"/>
          </p:cNvSpPr>
          <p:nvPr/>
        </p:nvSpPr>
        <p:spPr bwMode="auto">
          <a:xfrm>
            <a:off x="6819900" y="3886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27</a:t>
            </a:r>
          </a:p>
        </p:txBody>
      </p:sp>
      <p:sp>
        <p:nvSpPr>
          <p:cNvPr id="49159" name="Rectangle 8"/>
          <p:cNvSpPr>
            <a:spLocks noChangeArrowheads="1"/>
          </p:cNvSpPr>
          <p:nvPr/>
        </p:nvSpPr>
        <p:spPr bwMode="auto">
          <a:xfrm>
            <a:off x="6819900" y="4216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18</a:t>
            </a:r>
          </a:p>
        </p:txBody>
      </p:sp>
      <p:sp>
        <p:nvSpPr>
          <p:cNvPr id="49160" name="Rectangle 9"/>
          <p:cNvSpPr>
            <a:spLocks noChangeArrowheads="1"/>
          </p:cNvSpPr>
          <p:nvPr/>
        </p:nvSpPr>
        <p:spPr bwMode="auto">
          <a:xfrm>
            <a:off x="6819900" y="45466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36</a:t>
            </a:r>
          </a:p>
        </p:txBody>
      </p:sp>
      <p:sp>
        <p:nvSpPr>
          <p:cNvPr id="49161" name="Line 10"/>
          <p:cNvSpPr>
            <a:spLocks noChangeShapeType="1"/>
          </p:cNvSpPr>
          <p:nvPr/>
        </p:nvSpPr>
        <p:spPr bwMode="auto">
          <a:xfrm>
            <a:off x="6108700" y="26289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2" name="Text Box 11"/>
          <p:cNvSpPr txBox="1">
            <a:spLocks noChangeArrowheads="1"/>
          </p:cNvSpPr>
          <p:nvPr/>
        </p:nvSpPr>
        <p:spPr bwMode="auto">
          <a:xfrm>
            <a:off x="5876925" y="227965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array1</a:t>
            </a:r>
          </a:p>
        </p:txBody>
      </p:sp>
      <p:sp>
        <p:nvSpPr>
          <p:cNvPr id="49163" name="Line 12"/>
          <p:cNvSpPr>
            <a:spLocks noChangeShapeType="1"/>
          </p:cNvSpPr>
          <p:nvPr/>
        </p:nvSpPr>
        <p:spPr bwMode="auto">
          <a:xfrm>
            <a:off x="6108700" y="58420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4" name="Text Box 14"/>
          <p:cNvSpPr txBox="1">
            <a:spLocks noChangeArrowheads="1"/>
          </p:cNvSpPr>
          <p:nvPr/>
        </p:nvSpPr>
        <p:spPr bwMode="auto">
          <a:xfrm>
            <a:off x="5838825" y="1484313"/>
            <a:ext cx="3084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FF"/>
                </a:solidFill>
              </a:rPr>
              <a:t>变量      值           内存地址</a:t>
            </a:r>
          </a:p>
        </p:txBody>
      </p:sp>
      <p:sp>
        <p:nvSpPr>
          <p:cNvPr id="49165" name="Text Box 15"/>
          <p:cNvSpPr txBox="1">
            <a:spLocks noChangeArrowheads="1"/>
          </p:cNvSpPr>
          <p:nvPr/>
        </p:nvSpPr>
        <p:spPr bwMode="auto">
          <a:xfrm>
            <a:off x="7604125" y="20304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1024</a:t>
            </a:r>
          </a:p>
        </p:txBody>
      </p:sp>
      <p:sp>
        <p:nvSpPr>
          <p:cNvPr id="49166" name="Text Box 16"/>
          <p:cNvSpPr txBox="1">
            <a:spLocks noChangeArrowheads="1"/>
          </p:cNvSpPr>
          <p:nvPr/>
        </p:nvSpPr>
        <p:spPr bwMode="auto">
          <a:xfrm>
            <a:off x="7604125" y="26019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1152</a:t>
            </a:r>
          </a:p>
        </p:txBody>
      </p:sp>
      <p:sp>
        <p:nvSpPr>
          <p:cNvPr id="49167" name="Text Box 17"/>
          <p:cNvSpPr txBox="1">
            <a:spLocks noChangeArrowheads="1"/>
          </p:cNvSpPr>
          <p:nvPr/>
        </p:nvSpPr>
        <p:spPr bwMode="auto">
          <a:xfrm>
            <a:off x="7604125" y="29575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1156</a:t>
            </a:r>
          </a:p>
        </p:txBody>
      </p:sp>
      <p:sp>
        <p:nvSpPr>
          <p:cNvPr id="49168" name="Text Box 18"/>
          <p:cNvSpPr txBox="1">
            <a:spLocks noChangeArrowheads="1"/>
          </p:cNvSpPr>
          <p:nvPr/>
        </p:nvSpPr>
        <p:spPr bwMode="auto">
          <a:xfrm>
            <a:off x="7604125" y="32877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1160</a:t>
            </a:r>
          </a:p>
        </p:txBody>
      </p:sp>
      <p:sp>
        <p:nvSpPr>
          <p:cNvPr id="49169" name="Text Box 19"/>
          <p:cNvSpPr txBox="1">
            <a:spLocks noChangeArrowheads="1"/>
          </p:cNvSpPr>
          <p:nvPr/>
        </p:nvSpPr>
        <p:spPr bwMode="auto">
          <a:xfrm>
            <a:off x="7604125" y="38465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1408</a:t>
            </a:r>
          </a:p>
        </p:txBody>
      </p:sp>
      <p:sp>
        <p:nvSpPr>
          <p:cNvPr id="49170" name="Text Box 20"/>
          <p:cNvSpPr txBox="1">
            <a:spLocks noChangeArrowheads="1"/>
          </p:cNvSpPr>
          <p:nvPr/>
        </p:nvSpPr>
        <p:spPr bwMode="auto">
          <a:xfrm>
            <a:off x="7604125" y="42021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1412</a:t>
            </a:r>
          </a:p>
        </p:txBody>
      </p:sp>
      <p:sp>
        <p:nvSpPr>
          <p:cNvPr id="49171" name="Text Box 21"/>
          <p:cNvSpPr txBox="1">
            <a:spLocks noChangeArrowheads="1"/>
          </p:cNvSpPr>
          <p:nvPr/>
        </p:nvSpPr>
        <p:spPr bwMode="auto">
          <a:xfrm>
            <a:off x="7604125" y="45323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1416</a:t>
            </a:r>
          </a:p>
        </p:txBody>
      </p:sp>
      <p:sp>
        <p:nvSpPr>
          <p:cNvPr id="49172" name="Rectangle 23"/>
          <p:cNvSpPr>
            <a:spLocks noChangeArrowheads="1"/>
          </p:cNvSpPr>
          <p:nvPr/>
        </p:nvSpPr>
        <p:spPr bwMode="auto">
          <a:xfrm>
            <a:off x="6819900" y="5105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9173" name="Text Box 24"/>
          <p:cNvSpPr txBox="1">
            <a:spLocks noChangeArrowheads="1"/>
          </p:cNvSpPr>
          <p:nvPr/>
        </p:nvSpPr>
        <p:spPr bwMode="auto">
          <a:xfrm>
            <a:off x="7604125" y="50784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2432</a:t>
            </a:r>
          </a:p>
        </p:txBody>
      </p:sp>
      <p:sp>
        <p:nvSpPr>
          <p:cNvPr id="49174" name="Line 25"/>
          <p:cNvSpPr>
            <a:spLocks noChangeShapeType="1"/>
          </p:cNvSpPr>
          <p:nvPr/>
        </p:nvSpPr>
        <p:spPr bwMode="auto">
          <a:xfrm>
            <a:off x="6108700" y="51181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5" name="Text Box 26"/>
          <p:cNvSpPr txBox="1">
            <a:spLocks noChangeArrowheads="1"/>
          </p:cNvSpPr>
          <p:nvPr/>
        </p:nvSpPr>
        <p:spPr bwMode="auto">
          <a:xfrm>
            <a:off x="5902325" y="4743450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value</a:t>
            </a:r>
          </a:p>
        </p:txBody>
      </p:sp>
      <p:sp>
        <p:nvSpPr>
          <p:cNvPr id="49176" name="Text Box 27"/>
          <p:cNvSpPr txBox="1">
            <a:spLocks noChangeArrowheads="1"/>
          </p:cNvSpPr>
          <p:nvPr/>
        </p:nvSpPr>
        <p:spPr bwMode="auto">
          <a:xfrm>
            <a:off x="5876925" y="5480050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  <a:latin typeface="Courier New" panose="02070309020205020404" pitchFamily="49" charset="0"/>
              </a:rPr>
              <a:t>array2</a:t>
            </a:r>
          </a:p>
        </p:txBody>
      </p:sp>
      <p:sp>
        <p:nvSpPr>
          <p:cNvPr id="49177" name="Rectangle 28"/>
          <p:cNvSpPr>
            <a:spLocks noChangeArrowheads="1"/>
          </p:cNvSpPr>
          <p:nvPr/>
        </p:nvSpPr>
        <p:spPr bwMode="auto">
          <a:xfrm>
            <a:off x="6819900" y="58420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49178" name="Rectangle 29"/>
          <p:cNvSpPr>
            <a:spLocks noChangeArrowheads="1"/>
          </p:cNvSpPr>
          <p:nvPr/>
        </p:nvSpPr>
        <p:spPr bwMode="auto">
          <a:xfrm>
            <a:off x="6819900" y="6172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200</a:t>
            </a:r>
          </a:p>
        </p:txBody>
      </p:sp>
      <p:sp>
        <p:nvSpPr>
          <p:cNvPr id="49179" name="Text Box 30"/>
          <p:cNvSpPr txBox="1">
            <a:spLocks noChangeArrowheads="1"/>
          </p:cNvSpPr>
          <p:nvPr/>
        </p:nvSpPr>
        <p:spPr bwMode="auto">
          <a:xfrm>
            <a:off x="7604125" y="58023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2688</a:t>
            </a:r>
          </a:p>
        </p:txBody>
      </p:sp>
      <p:sp>
        <p:nvSpPr>
          <p:cNvPr id="49180" name="Text Box 31"/>
          <p:cNvSpPr txBox="1">
            <a:spLocks noChangeArrowheads="1"/>
          </p:cNvSpPr>
          <p:nvPr/>
        </p:nvSpPr>
        <p:spPr bwMode="auto">
          <a:xfrm>
            <a:off x="7604125" y="61579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2692</a:t>
            </a:r>
          </a:p>
        </p:txBody>
      </p:sp>
      <p:sp>
        <p:nvSpPr>
          <p:cNvPr id="49181" name="Rectangle 4"/>
          <p:cNvSpPr>
            <a:spLocks noChangeArrowheads="1"/>
          </p:cNvSpPr>
          <p:nvPr/>
        </p:nvSpPr>
        <p:spPr bwMode="auto">
          <a:xfrm>
            <a:off x="323850" y="260350"/>
            <a:ext cx="5102225" cy="62642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PassByValueTest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args)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x = 1;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y = {10, 6, 23};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z = {27, 18, 36};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test(x, y, z);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System.out.println("x=" + x);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System.out.println("y[0]=" + y[0]);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System.out.println("z[0]=" + z[0]);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test(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value,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array1,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array2)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value = 3;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array1[0] = 11;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array2 =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[]{100, 200};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9182" name="Rectangle 22"/>
          <p:cNvSpPr>
            <a:spLocks noChangeArrowheads="1"/>
          </p:cNvSpPr>
          <p:nvPr/>
        </p:nvSpPr>
        <p:spPr bwMode="auto">
          <a:xfrm>
            <a:off x="771525" y="5538788"/>
            <a:ext cx="4625975" cy="279400"/>
          </a:xfrm>
          <a:prstGeom prst="rect">
            <a:avLst/>
          </a:prstGeom>
          <a:solidFill>
            <a:srgbClr val="993366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ChangeArrowheads="1"/>
          </p:cNvSpPr>
          <p:nvPr/>
        </p:nvSpPr>
        <p:spPr bwMode="auto">
          <a:xfrm>
            <a:off x="6819900" y="20447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6819900" y="2616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50180" name="Rectangle 5"/>
          <p:cNvSpPr>
            <a:spLocks noChangeArrowheads="1"/>
          </p:cNvSpPr>
          <p:nvPr/>
        </p:nvSpPr>
        <p:spPr bwMode="auto">
          <a:xfrm>
            <a:off x="6819900" y="2946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6</a:t>
            </a:r>
          </a:p>
        </p:txBody>
      </p:sp>
      <p:sp>
        <p:nvSpPr>
          <p:cNvPr id="50181" name="Rectangle 6"/>
          <p:cNvSpPr>
            <a:spLocks noChangeArrowheads="1"/>
          </p:cNvSpPr>
          <p:nvPr/>
        </p:nvSpPr>
        <p:spPr bwMode="auto">
          <a:xfrm>
            <a:off x="6819900" y="32766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23</a:t>
            </a:r>
          </a:p>
        </p:txBody>
      </p:sp>
      <p:sp>
        <p:nvSpPr>
          <p:cNvPr id="50182" name="Rectangle 7"/>
          <p:cNvSpPr>
            <a:spLocks noChangeArrowheads="1"/>
          </p:cNvSpPr>
          <p:nvPr/>
        </p:nvSpPr>
        <p:spPr bwMode="auto">
          <a:xfrm>
            <a:off x="6819900" y="38862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27</a:t>
            </a:r>
          </a:p>
        </p:txBody>
      </p:sp>
      <p:sp>
        <p:nvSpPr>
          <p:cNvPr id="50183" name="Rectangle 8"/>
          <p:cNvSpPr>
            <a:spLocks noChangeArrowheads="1"/>
          </p:cNvSpPr>
          <p:nvPr/>
        </p:nvSpPr>
        <p:spPr bwMode="auto">
          <a:xfrm>
            <a:off x="6819900" y="42164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18</a:t>
            </a:r>
          </a:p>
        </p:txBody>
      </p:sp>
      <p:sp>
        <p:nvSpPr>
          <p:cNvPr id="50184" name="Rectangle 9"/>
          <p:cNvSpPr>
            <a:spLocks noChangeArrowheads="1"/>
          </p:cNvSpPr>
          <p:nvPr/>
        </p:nvSpPr>
        <p:spPr bwMode="auto">
          <a:xfrm>
            <a:off x="6819900" y="4546600"/>
            <a:ext cx="673100" cy="330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1"/>
              <a:t>36</a:t>
            </a:r>
          </a:p>
        </p:txBody>
      </p:sp>
      <p:sp>
        <p:nvSpPr>
          <p:cNvPr id="50185" name="Line 10"/>
          <p:cNvSpPr>
            <a:spLocks noChangeShapeType="1"/>
          </p:cNvSpPr>
          <p:nvPr/>
        </p:nvSpPr>
        <p:spPr bwMode="auto">
          <a:xfrm>
            <a:off x="6108700" y="20574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6" name="Text Box 11"/>
          <p:cNvSpPr txBox="1">
            <a:spLocks noChangeArrowheads="1"/>
          </p:cNvSpPr>
          <p:nvPr/>
        </p:nvSpPr>
        <p:spPr bwMode="auto">
          <a:xfrm>
            <a:off x="6029325" y="1758950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50187" name="Line 12"/>
          <p:cNvSpPr>
            <a:spLocks noChangeShapeType="1"/>
          </p:cNvSpPr>
          <p:nvPr/>
        </p:nvSpPr>
        <p:spPr bwMode="auto">
          <a:xfrm>
            <a:off x="6108700" y="20574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8" name="Text Box 13"/>
          <p:cNvSpPr txBox="1">
            <a:spLocks noChangeArrowheads="1"/>
          </p:cNvSpPr>
          <p:nvPr/>
        </p:nvSpPr>
        <p:spPr bwMode="auto">
          <a:xfrm>
            <a:off x="6029325" y="1758950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50189" name="Line 14"/>
          <p:cNvSpPr>
            <a:spLocks noChangeShapeType="1"/>
          </p:cNvSpPr>
          <p:nvPr/>
        </p:nvSpPr>
        <p:spPr bwMode="auto">
          <a:xfrm>
            <a:off x="6108700" y="26289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0" name="Text Box 15"/>
          <p:cNvSpPr txBox="1">
            <a:spLocks noChangeArrowheads="1"/>
          </p:cNvSpPr>
          <p:nvPr/>
        </p:nvSpPr>
        <p:spPr bwMode="auto">
          <a:xfrm>
            <a:off x="6029325" y="2305050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y</a:t>
            </a:r>
          </a:p>
        </p:txBody>
      </p:sp>
      <p:sp>
        <p:nvSpPr>
          <p:cNvPr id="50191" name="Line 16"/>
          <p:cNvSpPr>
            <a:spLocks noChangeShapeType="1"/>
          </p:cNvSpPr>
          <p:nvPr/>
        </p:nvSpPr>
        <p:spPr bwMode="auto">
          <a:xfrm>
            <a:off x="6108700" y="3898900"/>
            <a:ext cx="698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2" name="Text Box 17"/>
          <p:cNvSpPr txBox="1">
            <a:spLocks noChangeArrowheads="1"/>
          </p:cNvSpPr>
          <p:nvPr/>
        </p:nvSpPr>
        <p:spPr bwMode="auto">
          <a:xfrm>
            <a:off x="6029325" y="3600450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z</a:t>
            </a:r>
          </a:p>
        </p:txBody>
      </p:sp>
      <p:sp>
        <p:nvSpPr>
          <p:cNvPr id="50193" name="Text Box 19"/>
          <p:cNvSpPr txBox="1">
            <a:spLocks noChangeArrowheads="1"/>
          </p:cNvSpPr>
          <p:nvPr/>
        </p:nvSpPr>
        <p:spPr bwMode="auto">
          <a:xfrm>
            <a:off x="5838825" y="1446213"/>
            <a:ext cx="30368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FF"/>
                </a:solidFill>
              </a:rPr>
              <a:t>变量      值           内存地址</a:t>
            </a:r>
          </a:p>
        </p:txBody>
      </p:sp>
      <p:sp>
        <p:nvSpPr>
          <p:cNvPr id="50194" name="Text Box 20"/>
          <p:cNvSpPr txBox="1">
            <a:spLocks noChangeArrowheads="1"/>
          </p:cNvSpPr>
          <p:nvPr/>
        </p:nvSpPr>
        <p:spPr bwMode="auto">
          <a:xfrm>
            <a:off x="7604125" y="20304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1024</a:t>
            </a:r>
          </a:p>
        </p:txBody>
      </p:sp>
      <p:sp>
        <p:nvSpPr>
          <p:cNvPr id="50195" name="Text Box 21"/>
          <p:cNvSpPr txBox="1">
            <a:spLocks noChangeArrowheads="1"/>
          </p:cNvSpPr>
          <p:nvPr/>
        </p:nvSpPr>
        <p:spPr bwMode="auto">
          <a:xfrm>
            <a:off x="7604125" y="26019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1152</a:t>
            </a:r>
          </a:p>
        </p:txBody>
      </p:sp>
      <p:sp>
        <p:nvSpPr>
          <p:cNvPr id="50196" name="Text Box 22"/>
          <p:cNvSpPr txBox="1">
            <a:spLocks noChangeArrowheads="1"/>
          </p:cNvSpPr>
          <p:nvPr/>
        </p:nvSpPr>
        <p:spPr bwMode="auto">
          <a:xfrm>
            <a:off x="7604125" y="29575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1156</a:t>
            </a:r>
          </a:p>
        </p:txBody>
      </p:sp>
      <p:sp>
        <p:nvSpPr>
          <p:cNvPr id="50197" name="Text Box 23"/>
          <p:cNvSpPr txBox="1">
            <a:spLocks noChangeArrowheads="1"/>
          </p:cNvSpPr>
          <p:nvPr/>
        </p:nvSpPr>
        <p:spPr bwMode="auto">
          <a:xfrm>
            <a:off x="7604125" y="32877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1160</a:t>
            </a:r>
          </a:p>
        </p:txBody>
      </p:sp>
      <p:sp>
        <p:nvSpPr>
          <p:cNvPr id="50198" name="Text Box 24"/>
          <p:cNvSpPr txBox="1">
            <a:spLocks noChangeArrowheads="1"/>
          </p:cNvSpPr>
          <p:nvPr/>
        </p:nvSpPr>
        <p:spPr bwMode="auto">
          <a:xfrm>
            <a:off x="7604125" y="38465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1408</a:t>
            </a:r>
          </a:p>
        </p:txBody>
      </p:sp>
      <p:sp>
        <p:nvSpPr>
          <p:cNvPr id="50199" name="Text Box 25"/>
          <p:cNvSpPr txBox="1">
            <a:spLocks noChangeArrowheads="1"/>
          </p:cNvSpPr>
          <p:nvPr/>
        </p:nvSpPr>
        <p:spPr bwMode="auto">
          <a:xfrm>
            <a:off x="7604125" y="42021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1412</a:t>
            </a:r>
          </a:p>
        </p:txBody>
      </p:sp>
      <p:sp>
        <p:nvSpPr>
          <p:cNvPr id="50200" name="Text Box 26"/>
          <p:cNvSpPr txBox="1">
            <a:spLocks noChangeArrowheads="1"/>
          </p:cNvSpPr>
          <p:nvPr/>
        </p:nvSpPr>
        <p:spPr bwMode="auto">
          <a:xfrm>
            <a:off x="7604125" y="4532313"/>
            <a:ext cx="69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1416</a:t>
            </a:r>
          </a:p>
        </p:txBody>
      </p:sp>
      <p:sp>
        <p:nvSpPr>
          <p:cNvPr id="50201" name="Rectangle 4"/>
          <p:cNvSpPr>
            <a:spLocks noChangeArrowheads="1"/>
          </p:cNvSpPr>
          <p:nvPr/>
        </p:nvSpPr>
        <p:spPr bwMode="auto">
          <a:xfrm>
            <a:off x="323850" y="260350"/>
            <a:ext cx="5102225" cy="62642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PassByValueTest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args)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x = 1;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y = {10, 6, 23};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z = {27, 18, 36};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test(x, y, z);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System.out.println("x=" + x);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System.out.println("y[0]=" + y[0]);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System.out.println("z[0]=" + z[0]);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test(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value,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array1,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array2)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value = 3;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array1[0] = 11;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array2 =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[]{100, 200};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0202" name="Rectangle 18"/>
          <p:cNvSpPr>
            <a:spLocks noChangeArrowheads="1"/>
          </p:cNvSpPr>
          <p:nvPr/>
        </p:nvSpPr>
        <p:spPr bwMode="auto">
          <a:xfrm>
            <a:off x="717550" y="2781300"/>
            <a:ext cx="4625975" cy="271463"/>
          </a:xfrm>
          <a:prstGeom prst="rect">
            <a:avLst/>
          </a:prstGeom>
          <a:solidFill>
            <a:srgbClr val="993366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49225" y="161107"/>
            <a:ext cx="7543800" cy="459581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在方法中返回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203" name="Rectangle 4"/>
          <p:cNvSpPr>
            <a:spLocks noChangeArrowheads="1"/>
          </p:cNvSpPr>
          <p:nvPr/>
        </p:nvSpPr>
        <p:spPr bwMode="auto">
          <a:xfrm>
            <a:off x="503465" y="661900"/>
            <a:ext cx="7043737" cy="43529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ReverseListTest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args)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list1 = {1, 2, 3, 4};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reverseList = reverse(list1);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reverse(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list)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[] newlist =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[list.length];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i = 0, j = newlist.length - 1; i &lt; list.length; i++, j--)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newlist[j] = list[i];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newlist;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1204" name="Rectangle 5"/>
          <p:cNvSpPr>
            <a:spLocks noChangeArrowheads="1"/>
          </p:cNvSpPr>
          <p:nvPr/>
        </p:nvSpPr>
        <p:spPr bwMode="auto">
          <a:xfrm>
            <a:off x="2806700" y="5409481"/>
            <a:ext cx="304800" cy="26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05" name="Rectangle 6"/>
          <p:cNvSpPr>
            <a:spLocks noChangeArrowheads="1"/>
          </p:cNvSpPr>
          <p:nvPr/>
        </p:nvSpPr>
        <p:spPr bwMode="auto">
          <a:xfrm>
            <a:off x="3111500" y="5409481"/>
            <a:ext cx="304800" cy="26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06" name="Rectangle 7"/>
          <p:cNvSpPr>
            <a:spLocks noChangeArrowheads="1"/>
          </p:cNvSpPr>
          <p:nvPr/>
        </p:nvSpPr>
        <p:spPr bwMode="auto">
          <a:xfrm>
            <a:off x="3416300" y="5409481"/>
            <a:ext cx="304800" cy="26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07" name="Rectangle 8"/>
          <p:cNvSpPr>
            <a:spLocks noChangeArrowheads="1"/>
          </p:cNvSpPr>
          <p:nvPr/>
        </p:nvSpPr>
        <p:spPr bwMode="auto">
          <a:xfrm>
            <a:off x="3721100" y="5409481"/>
            <a:ext cx="12065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...</a:t>
            </a:r>
          </a:p>
        </p:txBody>
      </p:sp>
      <p:sp>
        <p:nvSpPr>
          <p:cNvPr id="51208" name="Rectangle 9"/>
          <p:cNvSpPr>
            <a:spLocks noChangeArrowheads="1"/>
          </p:cNvSpPr>
          <p:nvPr/>
        </p:nvSpPr>
        <p:spPr bwMode="auto">
          <a:xfrm>
            <a:off x="4927600" y="5409481"/>
            <a:ext cx="304800" cy="26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09" name="Rectangle 10"/>
          <p:cNvSpPr>
            <a:spLocks noChangeArrowheads="1"/>
          </p:cNvSpPr>
          <p:nvPr/>
        </p:nvSpPr>
        <p:spPr bwMode="auto">
          <a:xfrm>
            <a:off x="5232400" y="5409481"/>
            <a:ext cx="304800" cy="26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10" name="Text Box 11"/>
          <p:cNvSpPr txBox="1">
            <a:spLocks noChangeArrowheads="1"/>
          </p:cNvSpPr>
          <p:nvPr/>
        </p:nvSpPr>
        <p:spPr bwMode="auto">
          <a:xfrm>
            <a:off x="1978025" y="5390431"/>
            <a:ext cx="73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list</a:t>
            </a:r>
          </a:p>
        </p:txBody>
      </p:sp>
      <p:sp>
        <p:nvSpPr>
          <p:cNvPr id="51211" name="Rectangle 12"/>
          <p:cNvSpPr>
            <a:spLocks noChangeArrowheads="1"/>
          </p:cNvSpPr>
          <p:nvPr/>
        </p:nvSpPr>
        <p:spPr bwMode="auto">
          <a:xfrm>
            <a:off x="2806700" y="6077818"/>
            <a:ext cx="304800" cy="26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12" name="Rectangle 13"/>
          <p:cNvSpPr>
            <a:spLocks noChangeArrowheads="1"/>
          </p:cNvSpPr>
          <p:nvPr/>
        </p:nvSpPr>
        <p:spPr bwMode="auto">
          <a:xfrm>
            <a:off x="3111500" y="6077818"/>
            <a:ext cx="304800" cy="26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13" name="Rectangle 14"/>
          <p:cNvSpPr>
            <a:spLocks noChangeArrowheads="1"/>
          </p:cNvSpPr>
          <p:nvPr/>
        </p:nvSpPr>
        <p:spPr bwMode="auto">
          <a:xfrm>
            <a:off x="3416300" y="6077818"/>
            <a:ext cx="304800" cy="26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14" name="Rectangle 15"/>
          <p:cNvSpPr>
            <a:spLocks noChangeArrowheads="1"/>
          </p:cNvSpPr>
          <p:nvPr/>
        </p:nvSpPr>
        <p:spPr bwMode="auto">
          <a:xfrm>
            <a:off x="3721100" y="6077818"/>
            <a:ext cx="1206500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...</a:t>
            </a:r>
          </a:p>
        </p:txBody>
      </p:sp>
      <p:sp>
        <p:nvSpPr>
          <p:cNvPr id="51215" name="Rectangle 16"/>
          <p:cNvSpPr>
            <a:spLocks noChangeArrowheads="1"/>
          </p:cNvSpPr>
          <p:nvPr/>
        </p:nvSpPr>
        <p:spPr bwMode="auto">
          <a:xfrm>
            <a:off x="4927600" y="6077818"/>
            <a:ext cx="304800" cy="26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16" name="Rectangle 17"/>
          <p:cNvSpPr>
            <a:spLocks noChangeArrowheads="1"/>
          </p:cNvSpPr>
          <p:nvPr/>
        </p:nvSpPr>
        <p:spPr bwMode="auto">
          <a:xfrm>
            <a:off x="5232400" y="6077818"/>
            <a:ext cx="304800" cy="26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17" name="Text Box 18"/>
          <p:cNvSpPr txBox="1">
            <a:spLocks noChangeArrowheads="1"/>
          </p:cNvSpPr>
          <p:nvPr/>
        </p:nvSpPr>
        <p:spPr bwMode="auto">
          <a:xfrm>
            <a:off x="1622425" y="6058768"/>
            <a:ext cx="1139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Courier New" panose="02070309020205020404" pitchFamily="49" charset="0"/>
              </a:rPr>
              <a:t>newList</a:t>
            </a:r>
          </a:p>
        </p:txBody>
      </p:sp>
      <p:sp>
        <p:nvSpPr>
          <p:cNvPr id="51218" name="Line 19"/>
          <p:cNvSpPr>
            <a:spLocks noChangeShapeType="1"/>
          </p:cNvSpPr>
          <p:nvPr/>
        </p:nvSpPr>
        <p:spPr bwMode="auto">
          <a:xfrm>
            <a:off x="2933700" y="5587281"/>
            <a:ext cx="2463800" cy="5461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9" name="Line 20"/>
          <p:cNvSpPr>
            <a:spLocks noChangeShapeType="1"/>
          </p:cNvSpPr>
          <p:nvPr/>
        </p:nvSpPr>
        <p:spPr bwMode="auto">
          <a:xfrm>
            <a:off x="3263900" y="5536481"/>
            <a:ext cx="1803400" cy="6477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0" name="Line 21"/>
          <p:cNvSpPr>
            <a:spLocks noChangeShapeType="1"/>
          </p:cNvSpPr>
          <p:nvPr/>
        </p:nvSpPr>
        <p:spPr bwMode="auto">
          <a:xfrm flipH="1">
            <a:off x="2933700" y="5549181"/>
            <a:ext cx="2438400" cy="635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1" name="Line 22"/>
          <p:cNvSpPr>
            <a:spLocks noChangeShapeType="1"/>
          </p:cNvSpPr>
          <p:nvPr/>
        </p:nvSpPr>
        <p:spPr bwMode="auto">
          <a:xfrm>
            <a:off x="3098800" y="5257081"/>
            <a:ext cx="20447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2" name="Text Box 23"/>
          <p:cNvSpPr txBox="1">
            <a:spLocks noChangeArrowheads="1"/>
          </p:cNvSpPr>
          <p:nvPr/>
        </p:nvSpPr>
        <p:spPr bwMode="auto">
          <a:xfrm>
            <a:off x="3921125" y="4941168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51223" name="Line 24"/>
          <p:cNvSpPr>
            <a:spLocks noChangeShapeType="1"/>
          </p:cNvSpPr>
          <p:nvPr/>
        </p:nvSpPr>
        <p:spPr bwMode="auto">
          <a:xfrm>
            <a:off x="3098800" y="6476281"/>
            <a:ext cx="20447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4" name="Text Box 25"/>
          <p:cNvSpPr txBox="1">
            <a:spLocks noChangeArrowheads="1"/>
          </p:cNvSpPr>
          <p:nvPr/>
        </p:nvSpPr>
        <p:spPr bwMode="auto">
          <a:xfrm>
            <a:off x="3921125" y="6452468"/>
            <a:ext cx="320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j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多维数组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最常用的多维数组是二维数组</a:t>
            </a:r>
          </a:p>
          <a:p>
            <a:pPr lvl="1">
              <a:buFontTx/>
              <a:buNone/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b="0" dirty="0" err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 ][ ] a </a:t>
            </a:r>
            <a:r>
              <a:rPr lang="en-US" altLang="zh-CN" b="0" dirty="0">
                <a:solidFill>
                  <a:schemeClr val="accent2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new</a:t>
            </a:r>
            <a:r>
              <a:rPr lang="en-US" altLang="zh-CN" b="0" dirty="0">
                <a:solidFill>
                  <a:schemeClr val="accent2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0" dirty="0" err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[3][4];</a:t>
            </a: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二维数组可以理解成如下图示的表格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52228" name="Group 5"/>
          <p:cNvGrpSpPr>
            <a:grpSpLocks/>
          </p:cNvGrpSpPr>
          <p:nvPr/>
        </p:nvGrpSpPr>
        <p:grpSpPr bwMode="auto">
          <a:xfrm>
            <a:off x="323850" y="3382963"/>
            <a:ext cx="8286750" cy="1320800"/>
            <a:chOff x="816" y="2461"/>
            <a:chExt cx="4608" cy="683"/>
          </a:xfrm>
        </p:grpSpPr>
        <p:sp>
          <p:nvSpPr>
            <p:cNvPr id="52233" name="Text Box 6"/>
            <p:cNvSpPr txBox="1">
              <a:spLocks noChangeArrowheads="1"/>
            </p:cNvSpPr>
            <p:nvPr/>
          </p:nvSpPr>
          <p:spPr bwMode="auto">
            <a:xfrm>
              <a:off x="816" y="2461"/>
              <a:ext cx="1152" cy="68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a[ 0 ][ 0 ]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a[ 1 ][ 0 ]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a[ 2 ][ 0 ]</a:t>
              </a:r>
            </a:p>
          </p:txBody>
        </p:sp>
        <p:sp>
          <p:nvSpPr>
            <p:cNvPr id="52234" name="Line 7"/>
            <p:cNvSpPr>
              <a:spLocks noChangeShapeType="1"/>
            </p:cNvSpPr>
            <p:nvPr/>
          </p:nvSpPr>
          <p:spPr bwMode="auto">
            <a:xfrm>
              <a:off x="816" y="2701"/>
              <a:ext cx="11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35" name="Line 8"/>
            <p:cNvSpPr>
              <a:spLocks noChangeShapeType="1"/>
            </p:cNvSpPr>
            <p:nvPr/>
          </p:nvSpPr>
          <p:spPr bwMode="auto">
            <a:xfrm>
              <a:off x="816" y="2941"/>
              <a:ext cx="11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36" name="Text Box 9"/>
            <p:cNvSpPr txBox="1">
              <a:spLocks noChangeArrowheads="1"/>
            </p:cNvSpPr>
            <p:nvPr/>
          </p:nvSpPr>
          <p:spPr bwMode="auto">
            <a:xfrm>
              <a:off x="1968" y="2461"/>
              <a:ext cx="1152" cy="68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a[ 0 ][ 1 ]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a[ 1 ][ 1 ]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a[ 2 ][ 1 ]</a:t>
              </a:r>
            </a:p>
          </p:txBody>
        </p:sp>
        <p:sp>
          <p:nvSpPr>
            <p:cNvPr id="52237" name="Line 10"/>
            <p:cNvSpPr>
              <a:spLocks noChangeShapeType="1"/>
            </p:cNvSpPr>
            <p:nvPr/>
          </p:nvSpPr>
          <p:spPr bwMode="auto">
            <a:xfrm>
              <a:off x="1968" y="2701"/>
              <a:ext cx="11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38" name="Line 11"/>
            <p:cNvSpPr>
              <a:spLocks noChangeShapeType="1"/>
            </p:cNvSpPr>
            <p:nvPr/>
          </p:nvSpPr>
          <p:spPr bwMode="auto">
            <a:xfrm>
              <a:off x="1968" y="2941"/>
              <a:ext cx="11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39" name="Text Box 12"/>
            <p:cNvSpPr txBox="1">
              <a:spLocks noChangeArrowheads="1"/>
            </p:cNvSpPr>
            <p:nvPr/>
          </p:nvSpPr>
          <p:spPr bwMode="auto">
            <a:xfrm>
              <a:off x="3120" y="2461"/>
              <a:ext cx="1152" cy="68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a[ 0 ][ 2 ]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a[ 1 ][ 2 ]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a[ 2 ][ 2 ]</a:t>
              </a:r>
            </a:p>
          </p:txBody>
        </p:sp>
        <p:sp>
          <p:nvSpPr>
            <p:cNvPr id="52240" name="Line 13"/>
            <p:cNvSpPr>
              <a:spLocks noChangeShapeType="1"/>
            </p:cNvSpPr>
            <p:nvPr/>
          </p:nvSpPr>
          <p:spPr bwMode="auto">
            <a:xfrm>
              <a:off x="3120" y="2701"/>
              <a:ext cx="11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41" name="Line 14"/>
            <p:cNvSpPr>
              <a:spLocks noChangeShapeType="1"/>
            </p:cNvSpPr>
            <p:nvPr/>
          </p:nvSpPr>
          <p:spPr bwMode="auto">
            <a:xfrm>
              <a:off x="3120" y="2941"/>
              <a:ext cx="11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42" name="Text Box 15"/>
            <p:cNvSpPr txBox="1">
              <a:spLocks noChangeArrowheads="1"/>
            </p:cNvSpPr>
            <p:nvPr/>
          </p:nvSpPr>
          <p:spPr bwMode="auto">
            <a:xfrm>
              <a:off x="4272" y="2461"/>
              <a:ext cx="1152" cy="68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a[ 0 ][ 3 ]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a[ 1 ][ 3 ]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a[ 2 ][ 3 ]</a:t>
              </a:r>
            </a:p>
          </p:txBody>
        </p:sp>
        <p:sp>
          <p:nvSpPr>
            <p:cNvPr id="52243" name="Line 16"/>
            <p:cNvSpPr>
              <a:spLocks noChangeShapeType="1"/>
            </p:cNvSpPr>
            <p:nvPr/>
          </p:nvSpPr>
          <p:spPr bwMode="auto">
            <a:xfrm>
              <a:off x="4272" y="2701"/>
              <a:ext cx="11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44" name="Line 17"/>
            <p:cNvSpPr>
              <a:spLocks noChangeShapeType="1"/>
            </p:cNvSpPr>
            <p:nvPr/>
          </p:nvSpPr>
          <p:spPr bwMode="auto">
            <a:xfrm>
              <a:off x="4272" y="2941"/>
              <a:ext cx="11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2229" name="Text Box 18"/>
          <p:cNvSpPr txBox="1">
            <a:spLocks noChangeArrowheads="1"/>
          </p:cNvSpPr>
          <p:nvPr/>
        </p:nvSpPr>
        <p:spPr bwMode="auto">
          <a:xfrm>
            <a:off x="4172562" y="5179973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行的下标值</a:t>
            </a:r>
          </a:p>
        </p:txBody>
      </p:sp>
      <p:sp>
        <p:nvSpPr>
          <p:cNvPr id="52230" name="Text Box 19"/>
          <p:cNvSpPr txBox="1">
            <a:spLocks noChangeArrowheads="1"/>
          </p:cNvSpPr>
          <p:nvPr/>
        </p:nvSpPr>
        <p:spPr bwMode="auto">
          <a:xfrm>
            <a:off x="6023432" y="5773658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列的下标值</a:t>
            </a:r>
          </a:p>
        </p:txBody>
      </p:sp>
      <p:sp>
        <p:nvSpPr>
          <p:cNvPr id="52231" name="Line 20"/>
          <p:cNvSpPr>
            <a:spLocks noChangeShapeType="1"/>
          </p:cNvSpPr>
          <p:nvPr/>
        </p:nvSpPr>
        <p:spPr bwMode="auto">
          <a:xfrm flipV="1">
            <a:off x="5334000" y="4632325"/>
            <a:ext cx="1830388" cy="4730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232" name="Line 21"/>
          <p:cNvSpPr>
            <a:spLocks noChangeShapeType="1"/>
          </p:cNvSpPr>
          <p:nvPr/>
        </p:nvSpPr>
        <p:spPr bwMode="auto">
          <a:xfrm flipV="1">
            <a:off x="7162800" y="4632325"/>
            <a:ext cx="793750" cy="10826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多维数组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二维数组的声明和构造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 ][ ] </a:t>
            </a:r>
            <a:r>
              <a:rPr lang="en-US" altLang="zh-CN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myArray</a:t>
            </a:r>
            <a:r>
              <a:rPr lang="en-US" altLang="zh-CN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;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myArray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可以存储一个指向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维整数数组的引用。其初始值为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null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 ][ ] </a:t>
            </a:r>
            <a:r>
              <a:rPr lang="en-US" altLang="zh-CN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myArray</a:t>
            </a:r>
            <a:r>
              <a:rPr lang="en-US" altLang="zh-CN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= new </a:t>
            </a:r>
            <a:r>
              <a:rPr lang="en-US" altLang="zh-CN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[3][5] ;</a:t>
            </a: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建立一个数组对象，把引用存储到</a:t>
            </a:r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myArray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。这个数组所有元素的初始值为零。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[ ][ ] </a:t>
            </a:r>
            <a:r>
              <a:rPr lang="en-US" altLang="zh-CN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myArray</a:t>
            </a:r>
            <a:r>
              <a:rPr lang="en-US" altLang="zh-CN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= { {8,1,2,2,9}, {1,9,4,0,3}, {0,3,0,0,7} };</a:t>
            </a: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建立一个数组并为每一个元素赋值。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多维数组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76263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二维数组的长度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649288" y="1557338"/>
            <a:ext cx="7954962" cy="273526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UnevenExample2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public static void main( String[ ]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 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][ ] uneven = { { 1, 9, 4 }, { 0, 2}, { 0, 1, 2, 3, 4 } };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("Length is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  " +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uneven.length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}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4277" name="内容占位符 2"/>
          <p:cNvSpPr txBox="1">
            <a:spLocks/>
          </p:cNvSpPr>
          <p:nvPr/>
        </p:nvSpPr>
        <p:spPr bwMode="auto">
          <a:xfrm>
            <a:off x="468313" y="4797425"/>
            <a:ext cx="82296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运行结果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Times New Roman" panose="02020603050405020304" pitchFamily="18" charset="0"/>
              </a:rPr>
              <a:t>Length is: 3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多维数组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每行的长度：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649288" y="1512888"/>
            <a:ext cx="7739062" cy="53451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UnevenExample3{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public static void main( String[]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{ </a:t>
            </a:r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//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声明并构造一个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维数组</a:t>
            </a:r>
          </a:p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][ ] uneven = { { 1, 9, 4 },{ 0, 2}, { 0, 1, 2, 3, 4 } };</a:t>
            </a:r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//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数组的长度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行数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("Length of array is: " +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uneven.length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数组每一行的长度（列数）</a:t>
            </a: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("Length of row[0] is: " + uneven[0].length );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("Length of row[1] is: " + uneven[1].length );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("Length of row[2] is: " + uneven[2].length );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eaLnBrk="1" hangingPunct="1"/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1" name="Text Box 6"/>
          <p:cNvSpPr txBox="1">
            <a:spLocks noChangeArrowheads="1"/>
          </p:cNvSpPr>
          <p:nvPr/>
        </p:nvSpPr>
        <p:spPr bwMode="auto">
          <a:xfrm>
            <a:off x="4140200" y="4797425"/>
            <a:ext cx="2952750" cy="1930400"/>
          </a:xfrm>
          <a:prstGeom prst="rect">
            <a:avLst/>
          </a:prstGeom>
          <a:noFill/>
          <a:ln w="12700" cap="sq">
            <a:solidFill>
              <a:srgbClr val="008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运行结果：</a:t>
            </a:r>
          </a:p>
          <a:p>
            <a:pPr eaLnBrk="1" hangingPunct="1"/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Length of array is: 3</a:t>
            </a:r>
          </a:p>
          <a:p>
            <a:pPr eaLnBrk="1" hangingPunct="1"/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Length of row[0] is: 3</a:t>
            </a:r>
          </a:p>
          <a:p>
            <a:pPr eaLnBrk="1" hangingPunct="1"/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Length of row[1] is: 2</a:t>
            </a:r>
          </a:p>
          <a:p>
            <a:pPr eaLnBrk="1" hangingPunct="1"/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Length of row[2] is: 5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4.1.2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多维数组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多维数组的创建和引用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620713" y="1989138"/>
            <a:ext cx="3562350" cy="19161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int[ ][ ] myArray;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myArray = new int[3][ ] ;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myArray[0] = new int[3];</a:t>
            </a:r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4897438" y="1989138"/>
            <a:ext cx="3562350" cy="19161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int[ ] x = {0, 2};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int[ ] y = {0, 1, 2, 3, 4} ;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myArray[1] = x ;           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myArray[2] = y ;</a:t>
            </a:r>
          </a:p>
        </p:txBody>
      </p:sp>
      <p:pic>
        <p:nvPicPr>
          <p:cNvPr id="56326" name="Picture 5" descr="Java4_g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4048125"/>
            <a:ext cx="8661400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4.1.3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对象数组</a:t>
            </a: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107504" y="981075"/>
            <a:ext cx="8928992" cy="568828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GB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提供的存储及随机访问对象序列的各种方法中，数组是效率最高的一种</a:t>
            </a:r>
            <a:endParaRPr lang="en-GB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GB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类型检查</a:t>
            </a:r>
            <a:endParaRPr lang="en-GB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GB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边界检查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优点：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数组知道其元素的类型、编译时类型检查、大小已知</a:t>
            </a:r>
            <a:endParaRPr lang="en-GB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GB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代价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GB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数组对象的大小是固定的，在生存期内大小不可变</a:t>
            </a:r>
            <a:endParaRPr lang="zh-CN" alt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对象数组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用数组存储对象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数组元素是类的对象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所有元素具有相同的类型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每个元素都是一个对象的引用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4.1.3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对象数组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1295400"/>
          </a:xfrm>
        </p:spPr>
        <p:txBody>
          <a:bodyPr/>
          <a:lstStyle/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对象数组的初始化</a:t>
            </a:r>
            <a:endParaRPr lang="en-US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静态初始化：在声明和定义数组的同时对数组元素进行初始化，例如：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620713" y="2376488"/>
            <a:ext cx="7912100" cy="177259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BankAccount[] accounts = {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                new BankAccount(“Zhang", 100.00),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                new BankAccount(“Li", 2380.00),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                new BankAccount(“Wang", 500.00),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                new BankAccount(“Liu", 175.56),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                new BankAccount(“Ma", 924.02)};</a:t>
            </a:r>
          </a:p>
        </p:txBody>
      </p:sp>
      <p:sp>
        <p:nvSpPr>
          <p:cNvPr id="58373" name="内容占位符 2"/>
          <p:cNvSpPr txBox="1">
            <a:spLocks/>
          </p:cNvSpPr>
          <p:nvPr/>
        </p:nvSpPr>
        <p:spPr bwMode="auto">
          <a:xfrm>
            <a:off x="455613" y="4292749"/>
            <a:ext cx="8229600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36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动态初始化：使用运算符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new，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需要经过两步：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首先给数组分配空间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type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arrayName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]=new type[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arraySize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];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然后给每一个数组元素分配空间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arrayName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[0]=new type(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paramList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);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arrayName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[arraySize-1]=new type(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paramList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);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4.1.3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对象数组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472261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使用数组存储一个班的学生信息及考试成绩。学生信息包括学号、姓名、三门课（英语、数学、计算机）的成绩及总成绩。</a:t>
            </a:r>
          </a:p>
          <a:p>
            <a:pPr>
              <a:lnSpc>
                <a:spcPct val="11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首先声明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学生类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Student</a:t>
            </a:r>
          </a:p>
          <a:p>
            <a:pPr lvl="1">
              <a:lnSpc>
                <a:spcPct val="110000"/>
              </a:lnSpc>
            </a:pPr>
            <a:r>
              <a:rPr lang="zh-CN" altLang="en-US" sz="2000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属性包括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学号（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id），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姓名（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name），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英语成绩（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eng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数学成绩（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math），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计算机成绩（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comp），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总成绩（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sum）</a:t>
            </a:r>
          </a:p>
          <a:p>
            <a:pPr lvl="1">
              <a:lnSpc>
                <a:spcPct val="110000"/>
              </a:lnSpc>
            </a:pPr>
            <a:r>
              <a:rPr lang="zh-CN" altLang="en-US" sz="2000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方法包括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构造方法，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get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方法，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toString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equals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compare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方法（比较两个学生的总成绩, 结果分大于，小于，等于），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sum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方法（计算总成绩）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ChangeArrowheads="1"/>
          </p:cNvSpPr>
          <p:nvPr/>
        </p:nvSpPr>
        <p:spPr bwMode="auto">
          <a:xfrm>
            <a:off x="468313" y="260350"/>
            <a:ext cx="8250237" cy="64087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import java.io.*;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public class Student implements Serializable {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	private String id;	//</a:t>
            </a:r>
            <a:r>
              <a:rPr lang="zh-CN" altLang="en-US" sz="2000" dirty="0"/>
              <a:t>学号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private String name;	//</a:t>
            </a:r>
            <a:r>
              <a:rPr lang="zh-CN" altLang="en-US" sz="2000" dirty="0"/>
              <a:t>姓名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private int </a:t>
            </a:r>
            <a:r>
              <a:rPr lang="en-US" altLang="zh-CN" sz="2000" dirty="0" err="1"/>
              <a:t>eng</a:t>
            </a:r>
            <a:r>
              <a:rPr lang="en-US" altLang="zh-CN" sz="2000" dirty="0"/>
              <a:t>;		//</a:t>
            </a:r>
            <a:r>
              <a:rPr lang="zh-CN" altLang="en-US" sz="2000" dirty="0"/>
              <a:t>英语成绩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private int math;	             //</a:t>
            </a:r>
            <a:r>
              <a:rPr lang="zh-CN" altLang="en-US" sz="2000" dirty="0"/>
              <a:t>数学成绩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private int comp;             //</a:t>
            </a:r>
            <a:r>
              <a:rPr lang="zh-CN" altLang="en-US" sz="2000" dirty="0"/>
              <a:t>计算机成绩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private int sum;		//</a:t>
            </a:r>
            <a:r>
              <a:rPr lang="zh-CN" altLang="en-US" sz="2000" dirty="0"/>
              <a:t>总成绩	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public Student(String </a:t>
            </a:r>
            <a:r>
              <a:rPr lang="en-US" altLang="zh-CN" sz="2000" dirty="0" err="1"/>
              <a:t>id,String</a:t>
            </a:r>
            <a:r>
              <a:rPr lang="en-US" altLang="zh-CN" sz="2000" dirty="0"/>
              <a:t> </a:t>
            </a:r>
            <a:r>
              <a:rPr lang="en-US" altLang="zh-CN" sz="2000" dirty="0" err="1"/>
              <a:t>name,int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eng,int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math,int</a:t>
            </a:r>
            <a:r>
              <a:rPr lang="en-US" altLang="zh-CN" sz="2000" dirty="0"/>
              <a:t> comp){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		this.id=id;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		this.name=name;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		</a:t>
            </a:r>
            <a:r>
              <a:rPr lang="en-US" altLang="zh-CN" sz="2000" dirty="0" err="1"/>
              <a:t>this.eng</a:t>
            </a:r>
            <a:r>
              <a:rPr lang="en-US" altLang="zh-CN" sz="2000" dirty="0"/>
              <a:t>=</a:t>
            </a:r>
            <a:r>
              <a:rPr lang="en-US" altLang="zh-CN" sz="2000" dirty="0" err="1"/>
              <a:t>eng</a:t>
            </a:r>
            <a:r>
              <a:rPr lang="en-US" altLang="zh-CN" sz="2000" dirty="0"/>
              <a:t>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		</a:t>
            </a:r>
            <a:r>
              <a:rPr lang="en-US" altLang="zh-CN" sz="2000" dirty="0" err="1"/>
              <a:t>this.math</a:t>
            </a:r>
            <a:r>
              <a:rPr lang="en-US" altLang="zh-CN" sz="2000" dirty="0"/>
              <a:t>=math;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		</a:t>
            </a:r>
            <a:r>
              <a:rPr lang="en-US" altLang="zh-CN" sz="2000" dirty="0" err="1"/>
              <a:t>this.comp</a:t>
            </a:r>
            <a:r>
              <a:rPr lang="en-US" altLang="zh-CN" sz="2000" dirty="0"/>
              <a:t>=comp;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		sum();            //</a:t>
            </a:r>
            <a:r>
              <a:rPr lang="zh-CN" altLang="en-US" sz="2000" dirty="0"/>
              <a:t>计算总成绩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public Student(Student s){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	this.id=s.id;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	this.name=new String(s.name);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this.eng</a:t>
            </a:r>
            <a:r>
              <a:rPr lang="en-US" altLang="zh-CN" sz="2000" dirty="0"/>
              <a:t>=</a:t>
            </a:r>
            <a:r>
              <a:rPr lang="en-US" altLang="zh-CN" sz="2000" dirty="0" err="1"/>
              <a:t>s.eng</a:t>
            </a:r>
            <a:r>
              <a:rPr lang="en-US" altLang="zh-CN" sz="2000" dirty="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this.math</a:t>
            </a:r>
            <a:r>
              <a:rPr lang="en-US" altLang="zh-CN" sz="2000" dirty="0"/>
              <a:t>=</a:t>
            </a:r>
            <a:r>
              <a:rPr lang="en-US" altLang="zh-CN" sz="2000" dirty="0" err="1"/>
              <a:t>s.math</a:t>
            </a:r>
            <a:r>
              <a:rPr lang="en-US" altLang="zh-CN" sz="2000" dirty="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this.comp</a:t>
            </a:r>
            <a:r>
              <a:rPr lang="en-US" altLang="zh-CN" sz="2000" dirty="0"/>
              <a:t>=</a:t>
            </a:r>
            <a:r>
              <a:rPr lang="en-US" altLang="zh-CN" sz="2000" dirty="0" err="1"/>
              <a:t>s.comp</a:t>
            </a:r>
            <a:r>
              <a:rPr lang="en-US" altLang="zh-CN" sz="2000" dirty="0"/>
              <a:t>;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	sum();            //</a:t>
            </a:r>
            <a:r>
              <a:rPr lang="zh-CN" altLang="en-US" sz="2000" dirty="0"/>
              <a:t>计算总成绩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	 }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468313" y="188913"/>
            <a:ext cx="8250237" cy="64801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void setId(String id)  { this.id=id;}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void setName(String name) { this.name=name;}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void setEng(int eng)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   this.eng=eng;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   sum();            //</a:t>
            </a:r>
            <a:r>
              <a:rPr lang="zh-CN" altLang="en-US" sz="2000"/>
              <a:t>计算总成绩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void setMath(int math){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this.math=math;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sum();            //</a:t>
            </a:r>
            <a:r>
              <a:rPr lang="zh-CN" altLang="en-US" sz="2000"/>
              <a:t>计算总成绩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void setComp(int comp){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this.comp=comp;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sum();            //</a:t>
            </a:r>
            <a:r>
              <a:rPr lang="zh-CN" altLang="en-US" sz="2000"/>
              <a:t>计算总成绩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}    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String getId() { return id;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String getName() { return name;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int getEng() { return eng;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int getMath() { return math;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int getComp() { return comp;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int getSum() { return sum;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void sum() { this.sum=eng+math+comp;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/>
          </a:p>
          <a:p>
            <a:pPr lvl="1" eaLnBrk="1" hangingPunct="1">
              <a:lnSpc>
                <a:spcPct val="90000"/>
              </a:lnSpc>
            </a:pPr>
            <a:endParaRPr lang="en-US" altLang="zh-CN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468313" y="188913"/>
            <a:ext cx="8250237" cy="64801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String toString(){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  return getId() + "\t"+getName() + "\t"+getEng() + "\t"+getMath()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             +"\t"+getComp() + "\t"+getSum();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boolean equals(Object x) {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 if (this.getClass() != x.getClass())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        return false;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	    Student b = (Student) x;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	    return (this.getId().equals(b.getId()));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//</a:t>
            </a:r>
            <a:r>
              <a:rPr lang="zh-CN" altLang="en-US"/>
              <a:t>比较成绩大小,当前对象成绩比参数对象成绩大时返回1,相等时返回0,其它返回-1.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public int compare(Student A){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  if(this.getSum()&gt;A.getSum())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         return 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  else if(this.getSum()==A.getSum())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                   return 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      else return -1;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zh-CN" altLang="en-US" sz="2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07504" y="1052537"/>
            <a:ext cx="8856215" cy="51847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下面声明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班级类</a:t>
            </a:r>
            <a:r>
              <a:rPr lang="en-US" altLang="zh-CN" b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StudentClass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属性包括</a:t>
            </a:r>
          </a:p>
          <a:p>
            <a:pPr lvl="2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班级名称（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name），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容量（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capacity），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学生（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students），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实际人数（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size）。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方法包括</a:t>
            </a:r>
          </a:p>
          <a:p>
            <a:pPr lvl="2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构造方法，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get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方法，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方法，</a:t>
            </a:r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toString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方法。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4.1.3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对象数组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468313" y="1016000"/>
            <a:ext cx="8229600" cy="5184775"/>
          </a:xfrm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68313" y="71438"/>
            <a:ext cx="8250237" cy="66706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marL="0" lvl="2">
              <a:defRPr/>
            </a:pPr>
            <a:r>
              <a:rPr lang="en-US" altLang="zh-CN" sz="2000" dirty="0"/>
              <a:t>public class </a:t>
            </a:r>
            <a:r>
              <a:rPr lang="en-US" altLang="zh-CN" sz="2000" dirty="0" err="1"/>
              <a:t>StudentClass</a:t>
            </a:r>
            <a:r>
              <a:rPr lang="en-US" altLang="zh-CN" sz="2000" dirty="0"/>
              <a:t>{</a:t>
            </a:r>
          </a:p>
          <a:p>
            <a:pPr marL="0" lvl="2">
              <a:defRPr/>
            </a:pPr>
            <a:r>
              <a:rPr lang="en-US" altLang="zh-CN" sz="2000" dirty="0"/>
              <a:t>          private String name;             //</a:t>
            </a:r>
            <a:r>
              <a:rPr lang="zh-CN" altLang="en-US" sz="2000" dirty="0"/>
              <a:t>班级名称</a:t>
            </a:r>
            <a:endParaRPr lang="en-US" altLang="zh-CN" sz="2000" dirty="0"/>
          </a:p>
          <a:p>
            <a:pPr marL="0" lvl="2">
              <a:defRPr/>
            </a:pPr>
            <a:r>
              <a:rPr lang="en-US" altLang="zh-CN" sz="2000" dirty="0"/>
              <a:t>          static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capacity = 40;        //</a:t>
            </a:r>
            <a:r>
              <a:rPr lang="zh-CN" altLang="en-US" sz="2000" dirty="0"/>
              <a:t>最大容量</a:t>
            </a:r>
            <a:endParaRPr lang="en-US" altLang="zh-CN" sz="2000" dirty="0"/>
          </a:p>
          <a:p>
            <a:pPr marL="0" lvl="2">
              <a:defRPr/>
            </a:pPr>
            <a:r>
              <a:rPr lang="en-US" altLang="zh-CN" sz="2000" dirty="0"/>
              <a:t>          private Student [] students;      //</a:t>
            </a:r>
            <a:r>
              <a:rPr lang="zh-CN" altLang="en-US" sz="2000" dirty="0"/>
              <a:t>学生</a:t>
            </a:r>
            <a:endParaRPr lang="en-US" altLang="zh-CN" sz="2000" dirty="0"/>
          </a:p>
          <a:p>
            <a:pPr marL="0" lvl="2">
              <a:defRPr/>
            </a:pPr>
            <a:r>
              <a:rPr lang="en-US" altLang="zh-CN" sz="2000" dirty="0"/>
              <a:t>          private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size;                //</a:t>
            </a:r>
            <a:r>
              <a:rPr lang="zh-CN" altLang="en-US" sz="2000" dirty="0"/>
              <a:t>实际人数</a:t>
            </a: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          public </a:t>
            </a:r>
            <a:r>
              <a:rPr lang="en-US" altLang="zh-CN" sz="2000" dirty="0" err="1"/>
              <a:t>StudentClass</a:t>
            </a:r>
            <a:r>
              <a:rPr lang="en-US" altLang="zh-CN" sz="2000" dirty="0"/>
              <a:t>(String name,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size){</a:t>
            </a:r>
          </a:p>
          <a:p>
            <a:pPr>
              <a:defRPr/>
            </a:pPr>
            <a:r>
              <a:rPr lang="en-US" altLang="zh-CN" sz="2000" dirty="0"/>
              <a:t>		this.name = name;</a:t>
            </a:r>
          </a:p>
          <a:p>
            <a:pPr>
              <a:defRPr/>
            </a:pPr>
            <a:r>
              <a:rPr lang="en-US" altLang="zh-CN" sz="2000" dirty="0"/>
              <a:t>		</a:t>
            </a:r>
            <a:r>
              <a:rPr lang="en-US" altLang="zh-CN" sz="2000" dirty="0" err="1"/>
              <a:t>this.size</a:t>
            </a:r>
            <a:r>
              <a:rPr lang="en-US" altLang="zh-CN" sz="2000" dirty="0"/>
              <a:t> = size;</a:t>
            </a:r>
          </a:p>
          <a:p>
            <a:pPr>
              <a:defRPr/>
            </a:pPr>
            <a:r>
              <a:rPr lang="en-US" altLang="zh-CN" sz="2000" dirty="0"/>
              <a:t>		students = new Student[capacity];</a:t>
            </a:r>
          </a:p>
          <a:p>
            <a:pPr>
              <a:defRPr/>
            </a:pPr>
            <a:r>
              <a:rPr lang="en-US" altLang="zh-CN" sz="2000" dirty="0"/>
              <a:t>           }	 </a:t>
            </a:r>
          </a:p>
          <a:p>
            <a:pPr>
              <a:defRPr/>
            </a:pPr>
            <a:r>
              <a:rPr lang="en-US" altLang="zh-CN" sz="2000" dirty="0"/>
              <a:t>           public String </a:t>
            </a:r>
            <a:r>
              <a:rPr lang="en-US" altLang="zh-CN" sz="2000" dirty="0" err="1"/>
              <a:t>getName</a:t>
            </a:r>
            <a:r>
              <a:rPr lang="en-US" altLang="zh-CN" sz="2000" dirty="0"/>
              <a:t>(){</a:t>
            </a:r>
          </a:p>
          <a:p>
            <a:pPr>
              <a:defRPr/>
            </a:pPr>
            <a:r>
              <a:rPr lang="en-US" altLang="zh-CN" sz="2000" dirty="0"/>
              <a:t>		return name;</a:t>
            </a:r>
          </a:p>
          <a:p>
            <a:pPr>
              <a:defRPr/>
            </a:pPr>
            <a:r>
              <a:rPr lang="en-US" altLang="zh-CN" sz="2000" dirty="0"/>
              <a:t>            }        </a:t>
            </a:r>
          </a:p>
          <a:p>
            <a:pPr>
              <a:defRPr/>
            </a:pPr>
            <a:r>
              <a:rPr lang="en-US" altLang="zh-CN" sz="2000" dirty="0"/>
              <a:t>            public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getCapacity</a:t>
            </a:r>
            <a:r>
              <a:rPr lang="en-US" altLang="zh-CN" sz="2000" dirty="0"/>
              <a:t>(){</a:t>
            </a:r>
          </a:p>
          <a:p>
            <a:pPr>
              <a:defRPr/>
            </a:pPr>
            <a:r>
              <a:rPr lang="en-US" altLang="zh-CN" sz="2000" dirty="0"/>
              <a:t>		return capacity;</a:t>
            </a:r>
          </a:p>
          <a:p>
            <a:pPr>
              <a:defRPr/>
            </a:pPr>
            <a:r>
              <a:rPr lang="en-US" altLang="zh-CN" sz="2000" dirty="0"/>
              <a:t>             }        </a:t>
            </a:r>
          </a:p>
          <a:p>
            <a:pPr>
              <a:defRPr/>
            </a:pPr>
            <a:r>
              <a:rPr lang="en-US" altLang="zh-CN" sz="2000" dirty="0"/>
              <a:t>	public Student[] </a:t>
            </a:r>
            <a:r>
              <a:rPr lang="en-US" altLang="zh-CN" sz="2000" dirty="0" err="1"/>
              <a:t>getStudents</a:t>
            </a:r>
            <a:r>
              <a:rPr lang="en-US" altLang="zh-CN" sz="2000" dirty="0"/>
              <a:t>(){</a:t>
            </a:r>
          </a:p>
          <a:p>
            <a:pPr>
              <a:defRPr/>
            </a:pPr>
            <a:r>
              <a:rPr lang="en-US" altLang="zh-CN" sz="2000" dirty="0"/>
              <a:t>		return students;</a:t>
            </a:r>
          </a:p>
          <a:p>
            <a:pPr>
              <a:defRPr/>
            </a:pPr>
            <a:r>
              <a:rPr lang="en-US" altLang="zh-CN" sz="2000" dirty="0"/>
              <a:t>	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             public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getSize</a:t>
            </a:r>
            <a:r>
              <a:rPr lang="en-US" altLang="zh-CN" sz="2000" dirty="0"/>
              <a:t>(){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		return size;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	}    	</a:t>
            </a:r>
            <a:endParaRPr lang="zh-CN" altLang="en-US" sz="2000" dirty="0"/>
          </a:p>
          <a:p>
            <a:pPr lvl="2">
              <a:lnSpc>
                <a:spcPct val="90000"/>
              </a:lnSpc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250825" y="71438"/>
            <a:ext cx="8569325" cy="66706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public void setName(String name){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this.name = name;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}        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         public void setCapacity(int capacity){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this.capacity = capacity;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}        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public void setSize(int size){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this.size = size;		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}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public void setStudents(Student[] students){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for (int i = 0; i&lt;size; i++)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this.students[i] = new Student(students[i]);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}	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public String toString(){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       String s;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        s = " </a:t>
            </a:r>
            <a:r>
              <a:rPr lang="zh-CN" altLang="en-US" sz="2000"/>
              <a:t>班级:" + </a:t>
            </a:r>
            <a:r>
              <a:rPr lang="en-US" altLang="zh-CN" sz="2000"/>
              <a:t>name +"\t" + "</a:t>
            </a:r>
            <a:r>
              <a:rPr lang="zh-CN" altLang="en-US" sz="2000"/>
              <a:t>容量:" + </a:t>
            </a:r>
            <a:r>
              <a:rPr lang="en-US" altLang="zh-CN" sz="2000"/>
              <a:t>capacity + "\t" +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                           "</a:t>
            </a:r>
            <a:r>
              <a:rPr lang="zh-CN" altLang="en-US" sz="2000"/>
              <a:t>实际人数:" + </a:t>
            </a:r>
            <a:r>
              <a:rPr lang="en-US" altLang="zh-CN" sz="2000"/>
              <a:t>size +"\n\n";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        s = s + “</a:t>
            </a:r>
            <a:r>
              <a:rPr lang="zh-CN" altLang="en-US" sz="2000"/>
              <a:t>学号”+“\</a:t>
            </a:r>
            <a:r>
              <a:rPr lang="en-US" altLang="zh-CN" sz="2000"/>
              <a:t>t” + “</a:t>
            </a:r>
            <a:r>
              <a:rPr lang="zh-CN" altLang="en-US" sz="2000"/>
              <a:t>姓名”+“\</a:t>
            </a:r>
            <a:r>
              <a:rPr lang="en-US" altLang="zh-CN" sz="2000"/>
              <a:t>t” + “</a:t>
            </a:r>
            <a:r>
              <a:rPr lang="zh-CN" altLang="en-US" sz="2000"/>
              <a:t>英语”+“\</a:t>
            </a:r>
            <a:r>
              <a:rPr lang="en-US" altLang="zh-CN" sz="2000"/>
              <a:t>t” +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                          “</a:t>
            </a:r>
            <a:r>
              <a:rPr lang="zh-CN" altLang="en-US" sz="2000"/>
              <a:t>数学”+“\</a:t>
            </a:r>
            <a:r>
              <a:rPr lang="en-US" altLang="zh-CN" sz="2000"/>
              <a:t>t” + “</a:t>
            </a:r>
            <a:r>
              <a:rPr lang="zh-CN" altLang="en-US" sz="2000"/>
              <a:t>计算机” +"\</a:t>
            </a:r>
            <a:r>
              <a:rPr lang="en-US" altLang="zh-CN" sz="2000"/>
              <a:t>t" + "</a:t>
            </a:r>
            <a:r>
              <a:rPr lang="zh-CN" altLang="en-US" sz="2000"/>
              <a:t>总成绩\</a:t>
            </a:r>
            <a:r>
              <a:rPr lang="en-US" altLang="zh-CN" sz="2000"/>
              <a:t>n";		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       for (int i=0; i&lt;size; i++)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  s = s + students[i].getId()+"\t"+students[i].getName()+"\t"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       +students[i].getEng()+"\t"+students[i].getMath()+"\t"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                 +students[i].getComp()+"\t"+students[i].getSum()+"\n";  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   	return s;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}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 lvl="2" eaLnBrk="1" hangingPunct="1">
              <a:lnSpc>
                <a:spcPct val="9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344047" cy="5184775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下面声明测试类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Tester1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，为测试简单，仅生成具有5名学生的班级，5名学生的信息从键盘输入，为了避免以后再重复输入，可将输入的学生信息保存到文件中。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250825" y="404813"/>
            <a:ext cx="8569325" cy="63373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dirty="0"/>
              <a:t>import java.io.*;</a:t>
            </a:r>
          </a:p>
          <a:p>
            <a:pPr marL="0"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dirty="0"/>
              <a:t>public class Tester1{		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public static void main(String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[]){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Student[] students;		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</a:t>
            </a:r>
            <a:r>
              <a:rPr lang="en-US" altLang="zh-CN" sz="2000" dirty="0" err="1"/>
              <a:t>StudentClass</a:t>
            </a:r>
            <a:r>
              <a:rPr lang="en-US" altLang="zh-CN" sz="2000" dirty="0"/>
              <a:t> </a:t>
            </a:r>
            <a:r>
              <a:rPr lang="en-US" altLang="zh-CN" sz="2000" dirty="0" err="1"/>
              <a:t>aClass</a:t>
            </a:r>
            <a:r>
              <a:rPr lang="en-US" altLang="zh-CN" sz="2000" dirty="0"/>
              <a:t> = new </a:t>
            </a:r>
            <a:r>
              <a:rPr lang="en-US" altLang="zh-CN" sz="2000" dirty="0" err="1"/>
              <a:t>StudentClass</a:t>
            </a:r>
            <a:r>
              <a:rPr lang="en-US" altLang="zh-CN" sz="2000" dirty="0"/>
              <a:t>("</a:t>
            </a:r>
            <a:r>
              <a:rPr lang="zh-CN" altLang="en-US" sz="2000" dirty="0"/>
              <a:t>软件0201",5); </a:t>
            </a:r>
            <a:endParaRPr lang="en-US" altLang="zh-CN" sz="2000" dirty="0"/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students=new Student[5];		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for 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&lt;5;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	      students[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new Student(</a:t>
            </a:r>
            <a:r>
              <a:rPr lang="en-US" altLang="zh-CN" sz="2000" dirty="0" err="1"/>
              <a:t>getAStudent</a:t>
            </a:r>
            <a:r>
              <a:rPr lang="en-US" altLang="zh-CN" sz="2000" dirty="0"/>
              <a:t>(i+1));	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</a:t>
            </a:r>
            <a:r>
              <a:rPr lang="en-US" altLang="zh-CN" sz="2000" dirty="0" err="1"/>
              <a:t>aClass.setStudents</a:t>
            </a:r>
            <a:r>
              <a:rPr lang="en-US" altLang="zh-CN" sz="2000" dirty="0"/>
              <a:t>(students);		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aClass</a:t>
            </a:r>
            <a:r>
              <a:rPr lang="en-US" altLang="zh-CN" sz="2000" dirty="0"/>
              <a:t>);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try {			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       </a:t>
            </a:r>
            <a:r>
              <a:rPr lang="en-US" altLang="zh-CN" sz="2000" dirty="0" err="1"/>
              <a:t>FileOutputStream</a:t>
            </a:r>
            <a:r>
              <a:rPr lang="en-US" altLang="zh-CN" sz="2000" dirty="0"/>
              <a:t> </a:t>
            </a:r>
            <a:r>
              <a:rPr lang="en-US" altLang="zh-CN" sz="2000" dirty="0" err="1"/>
              <a:t>fo</a:t>
            </a:r>
            <a:r>
              <a:rPr lang="en-US" altLang="zh-CN" sz="2000" dirty="0"/>
              <a:t> = new </a:t>
            </a:r>
            <a:r>
              <a:rPr lang="en-US" altLang="zh-CN" sz="2000" dirty="0" err="1"/>
              <a:t>FileOutputStream</a:t>
            </a:r>
            <a:r>
              <a:rPr lang="en-US" altLang="zh-CN" sz="2000" dirty="0"/>
              <a:t>("</a:t>
            </a:r>
            <a:r>
              <a:rPr lang="en-US" altLang="zh-CN" sz="2000" dirty="0" err="1"/>
              <a:t>stu.ser</a:t>
            </a:r>
            <a:r>
              <a:rPr lang="en-US" altLang="zh-CN" sz="2000" dirty="0"/>
              <a:t>");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       </a:t>
            </a:r>
            <a:r>
              <a:rPr lang="en-US" altLang="zh-CN" sz="2000" dirty="0" err="1"/>
              <a:t>ObjectOutputStream</a:t>
            </a:r>
            <a:r>
              <a:rPr lang="en-US" altLang="zh-CN" sz="2000" dirty="0"/>
              <a:t> so = new </a:t>
            </a:r>
            <a:r>
              <a:rPr lang="en-US" altLang="zh-CN" sz="2000" dirty="0" err="1"/>
              <a:t>ObjectOutputStream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fo</a:t>
            </a:r>
            <a:r>
              <a:rPr lang="en-US" altLang="zh-CN" sz="2000" dirty="0"/>
              <a:t>);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       for 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&lt;5;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             </a:t>
            </a:r>
            <a:r>
              <a:rPr lang="en-US" altLang="zh-CN" sz="2000" dirty="0" err="1"/>
              <a:t>so.writeObject</a:t>
            </a:r>
            <a:r>
              <a:rPr lang="en-US" altLang="zh-CN" sz="2000" dirty="0"/>
              <a:t>(students[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]);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       </a:t>
            </a:r>
            <a:r>
              <a:rPr lang="en-US" altLang="zh-CN" sz="2000" dirty="0" err="1"/>
              <a:t>so.close</a:t>
            </a:r>
            <a:r>
              <a:rPr lang="en-US" altLang="zh-CN" sz="2000" dirty="0"/>
              <a:t>();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 }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 catch(Exception e)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 {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   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(e) ;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            }</a:t>
            </a:r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 dirty="0"/>
          </a:p>
          <a:p>
            <a:pPr marL="0" lvl="1" eaLnBrk="1" hangingPunct="1">
              <a:lnSpc>
                <a:spcPct val="90000"/>
              </a:lnSpc>
            </a:pPr>
            <a:r>
              <a:rPr lang="en-US" altLang="zh-CN" sz="2000" dirty="0"/>
              <a:t>		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323155" y="116632"/>
            <a:ext cx="8569325" cy="6553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1" dirty="0"/>
              <a:t>	</a:t>
            </a:r>
            <a:r>
              <a:rPr lang="en-US" altLang="zh-CN" sz="2000" dirty="0"/>
              <a:t>public static Student </a:t>
            </a:r>
            <a:r>
              <a:rPr lang="en-US" altLang="zh-CN" sz="2000" dirty="0" err="1"/>
              <a:t>getAStudent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){		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		Student </a:t>
            </a:r>
            <a:r>
              <a:rPr lang="en-US" altLang="zh-CN" sz="2000" dirty="0" err="1"/>
              <a:t>studenti</a:t>
            </a:r>
            <a:r>
              <a:rPr lang="en-US" altLang="zh-CN" sz="2000" dirty="0"/>
              <a:t>;		    		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		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</a:t>
            </a:r>
            <a:r>
              <a:rPr lang="zh-CN" altLang="en-US" sz="2000" dirty="0"/>
              <a:t>输入第</a:t>
            </a:r>
            <a:r>
              <a:rPr lang="en-US" altLang="zh-CN" sz="2000" dirty="0"/>
              <a:t>" +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+ "</a:t>
            </a:r>
            <a:r>
              <a:rPr lang="zh-CN" altLang="en-US" sz="2000" dirty="0"/>
              <a:t>个学生的信息</a:t>
            </a:r>
            <a:r>
              <a:rPr lang="en-US" altLang="zh-CN" sz="2000" dirty="0"/>
              <a:t>:");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		</a:t>
            </a:r>
            <a:r>
              <a:rPr lang="en-US" altLang="zh-CN" sz="2000" dirty="0" err="1"/>
              <a:t>System.out.print</a:t>
            </a:r>
            <a:r>
              <a:rPr lang="en-US" altLang="zh-CN" sz="2000" dirty="0"/>
              <a:t>("</a:t>
            </a:r>
            <a:r>
              <a:rPr lang="zh-CN" altLang="en-US" sz="2000" dirty="0"/>
              <a:t>学号</a:t>
            </a:r>
            <a:r>
              <a:rPr lang="en-US" altLang="zh-CN" sz="2000" dirty="0"/>
              <a:t>:");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	String id = </a:t>
            </a:r>
            <a:r>
              <a:rPr lang="en-US" altLang="zh-CN" sz="2000" dirty="0" err="1"/>
              <a:t>Keyboard.getString</a:t>
            </a:r>
            <a:r>
              <a:rPr lang="en-US" altLang="zh-CN" sz="2000" dirty="0"/>
              <a:t>();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 	</a:t>
            </a:r>
            <a:r>
              <a:rPr lang="en-US" altLang="zh-CN" sz="2000" dirty="0" err="1"/>
              <a:t>System.out.print</a:t>
            </a:r>
            <a:r>
              <a:rPr lang="en-US" altLang="zh-CN" sz="2000" dirty="0"/>
              <a:t>("</a:t>
            </a:r>
            <a:r>
              <a:rPr lang="zh-CN" altLang="en-US" sz="2000" dirty="0"/>
              <a:t>姓名</a:t>
            </a:r>
            <a:r>
              <a:rPr lang="en-US" altLang="zh-CN" sz="2000" dirty="0"/>
              <a:t>:");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 	String name = </a:t>
            </a:r>
            <a:r>
              <a:rPr lang="en-US" altLang="zh-CN" sz="2000" dirty="0" err="1"/>
              <a:t>Keyboard.getString</a:t>
            </a:r>
            <a:r>
              <a:rPr lang="en-US" altLang="zh-CN" sz="2000" dirty="0"/>
              <a:t>();        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 	</a:t>
            </a:r>
            <a:r>
              <a:rPr lang="en-US" altLang="zh-CN" sz="2000" dirty="0" err="1"/>
              <a:t>System.out.print</a:t>
            </a:r>
            <a:r>
              <a:rPr lang="en-US" altLang="zh-CN" sz="2000" dirty="0"/>
              <a:t>("</a:t>
            </a:r>
            <a:r>
              <a:rPr lang="zh-CN" altLang="en-US" sz="2000" dirty="0"/>
              <a:t>英语成绩</a:t>
            </a:r>
            <a:r>
              <a:rPr lang="en-US" altLang="zh-CN" sz="2000" dirty="0"/>
              <a:t>:");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 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eng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Keyboard.getInteger</a:t>
            </a:r>
            <a:r>
              <a:rPr lang="en-US" altLang="zh-CN" sz="2000" dirty="0"/>
              <a:t>();        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 	</a:t>
            </a:r>
            <a:r>
              <a:rPr lang="en-US" altLang="zh-CN" sz="2000" dirty="0" err="1"/>
              <a:t>System.out.print</a:t>
            </a:r>
            <a:r>
              <a:rPr lang="en-US" altLang="zh-CN" sz="2000" dirty="0"/>
              <a:t>("</a:t>
            </a:r>
            <a:r>
              <a:rPr lang="zh-CN" altLang="en-US" sz="2000" dirty="0"/>
              <a:t>数学成绩</a:t>
            </a:r>
            <a:r>
              <a:rPr lang="en-US" altLang="zh-CN" sz="2000" dirty="0"/>
              <a:t>:");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 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math = </a:t>
            </a:r>
            <a:r>
              <a:rPr lang="en-US" altLang="zh-CN" sz="2000" dirty="0" err="1"/>
              <a:t>Keyboard.getInteger</a:t>
            </a:r>
            <a:r>
              <a:rPr lang="en-US" altLang="zh-CN" sz="2000" dirty="0"/>
              <a:t>();        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	</a:t>
            </a:r>
            <a:r>
              <a:rPr lang="en-US" altLang="zh-CN" sz="2000" dirty="0" err="1"/>
              <a:t>System.out.print</a:t>
            </a:r>
            <a:r>
              <a:rPr lang="en-US" altLang="zh-CN" sz="2000" dirty="0"/>
              <a:t>("</a:t>
            </a:r>
            <a:r>
              <a:rPr lang="zh-CN" altLang="en-US" sz="2000" dirty="0"/>
              <a:t>计算机成绩</a:t>
            </a:r>
            <a:r>
              <a:rPr lang="en-US" altLang="zh-CN" sz="2000" dirty="0"/>
              <a:t>:");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 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comp = </a:t>
            </a:r>
            <a:r>
              <a:rPr lang="en-US" altLang="zh-CN" sz="2000" dirty="0" err="1"/>
              <a:t>Keyboard.getInteger</a:t>
            </a:r>
            <a:r>
              <a:rPr lang="en-US" altLang="zh-CN" sz="2000" dirty="0"/>
              <a:t>();        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 	</a:t>
            </a:r>
            <a:r>
              <a:rPr lang="en-US" altLang="zh-CN" sz="2000" dirty="0" err="1"/>
              <a:t>studenti</a:t>
            </a:r>
            <a:r>
              <a:rPr lang="en-US" altLang="zh-CN" sz="2000" dirty="0"/>
              <a:t> = new Student(</a:t>
            </a:r>
            <a:r>
              <a:rPr lang="en-US" altLang="zh-CN" sz="2000" dirty="0" err="1"/>
              <a:t>id,name,eng,math,comp</a:t>
            </a:r>
            <a:r>
              <a:rPr lang="en-US" altLang="zh-CN" sz="2000" dirty="0"/>
              <a:t>);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    	return </a:t>
            </a:r>
            <a:r>
              <a:rPr lang="en-US" altLang="zh-CN" sz="2000" dirty="0" err="1"/>
              <a:t>studenti</a:t>
            </a:r>
            <a:r>
              <a:rPr lang="en-US" altLang="zh-CN" sz="2000" dirty="0"/>
              <a:t>;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    	}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dirty="0"/>
              <a:t>}		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内容占位符 2"/>
          <p:cNvSpPr>
            <a:spLocks noGrp="1"/>
          </p:cNvSpPr>
          <p:nvPr>
            <p:ph idx="1"/>
          </p:nvPr>
        </p:nvSpPr>
        <p:spPr>
          <a:xfrm>
            <a:off x="468313" y="260350"/>
            <a:ext cx="8229600" cy="59055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运行结果如下（其中学生信息的输入只显示一部分）：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9635" name="Rectangle 4"/>
          <p:cNvSpPr>
            <a:spLocks noChangeArrowheads="1"/>
          </p:cNvSpPr>
          <p:nvPr/>
        </p:nvSpPr>
        <p:spPr bwMode="auto">
          <a:xfrm>
            <a:off x="250825" y="908050"/>
            <a:ext cx="8569325" cy="583406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/>
              <a:t>输入第</a:t>
            </a:r>
            <a:r>
              <a:rPr lang="en-US" altLang="zh-CN" sz="2000" b="1"/>
              <a:t>1</a:t>
            </a:r>
            <a:r>
              <a:rPr lang="zh-CN" altLang="en-US" sz="2000" b="1"/>
              <a:t>个学生的信息</a:t>
            </a:r>
            <a:r>
              <a:rPr lang="en-US" altLang="zh-CN" sz="2000" b="1"/>
              <a:t>: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/>
              <a:t>学号</a:t>
            </a:r>
            <a:r>
              <a:rPr lang="en-US" altLang="zh-CN" sz="2000" b="1"/>
              <a:t>:250201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/>
              <a:t>姓名</a:t>
            </a:r>
            <a:r>
              <a:rPr lang="en-US" altLang="zh-CN" sz="2000" b="1"/>
              <a:t>:</a:t>
            </a:r>
            <a:r>
              <a:rPr lang="zh-CN" altLang="en-US" sz="2000" b="1"/>
              <a:t>李红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/>
              <a:t>英语成绩</a:t>
            </a:r>
            <a:r>
              <a:rPr lang="en-US" altLang="zh-CN" sz="2000" b="1"/>
              <a:t>:88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/>
              <a:t>数学成绩</a:t>
            </a:r>
            <a:r>
              <a:rPr lang="en-US" altLang="zh-CN" sz="2000" b="1"/>
              <a:t>:76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/>
              <a:t>计算机成绩</a:t>
            </a:r>
            <a:r>
              <a:rPr lang="en-US" altLang="zh-CN" sz="2000" b="1"/>
              <a:t>:60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/>
              <a:t>输入第</a:t>
            </a:r>
            <a:r>
              <a:rPr lang="en-US" altLang="zh-CN" sz="2000" b="1"/>
              <a:t>2</a:t>
            </a:r>
            <a:r>
              <a:rPr lang="zh-CN" altLang="en-US" sz="2000" b="1"/>
              <a:t>个学生的信息</a:t>
            </a:r>
            <a:r>
              <a:rPr lang="en-US" altLang="zh-CN" sz="2000" b="1"/>
              <a:t>: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1"/>
              <a:t>……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1"/>
              <a:t>     </a:t>
            </a:r>
            <a:r>
              <a:rPr lang="zh-CN" altLang="en-US" sz="2000" b="1"/>
              <a:t>班级</a:t>
            </a:r>
            <a:r>
              <a:rPr lang="en-US" altLang="zh-CN" sz="2000" b="1"/>
              <a:t>:</a:t>
            </a:r>
            <a:r>
              <a:rPr lang="zh-CN" altLang="en-US" sz="2000" b="1"/>
              <a:t>软件</a:t>
            </a:r>
            <a:r>
              <a:rPr lang="en-US" altLang="zh-CN" sz="2000" b="1"/>
              <a:t>0201    </a:t>
            </a:r>
            <a:r>
              <a:rPr lang="zh-CN" altLang="en-US" sz="2000" b="1"/>
              <a:t>容量</a:t>
            </a:r>
            <a:r>
              <a:rPr lang="en-US" altLang="zh-CN" sz="2000" b="1"/>
              <a:t>:40 </a:t>
            </a:r>
            <a:r>
              <a:rPr lang="zh-CN" altLang="en-US" sz="2000" b="1"/>
              <a:t>实际人数</a:t>
            </a:r>
            <a:r>
              <a:rPr lang="en-US" altLang="zh-CN" sz="2000" b="1"/>
              <a:t>:5       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zh-CN" sz="2000" b="1"/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/>
              <a:t>学号    姓名    英语    数学    计算机  总成绩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1"/>
              <a:t>250201  </a:t>
            </a:r>
            <a:r>
              <a:rPr lang="zh-CN" altLang="en-US" sz="2000" b="1"/>
              <a:t>李红    </a:t>
            </a:r>
            <a:r>
              <a:rPr lang="en-US" altLang="zh-CN" sz="2000" b="1"/>
              <a:t>88      76      60      224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1"/>
              <a:t>250202  </a:t>
            </a:r>
            <a:r>
              <a:rPr lang="zh-CN" altLang="en-US" sz="2000" b="1"/>
              <a:t>张林    </a:t>
            </a:r>
            <a:r>
              <a:rPr lang="en-US" altLang="zh-CN" sz="2000" b="1"/>
              <a:t>78      67      80      225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1"/>
              <a:t>250203  </a:t>
            </a:r>
            <a:r>
              <a:rPr lang="zh-CN" altLang="en-US" sz="2000" b="1"/>
              <a:t>董玉梅  </a:t>
            </a:r>
            <a:r>
              <a:rPr lang="en-US" altLang="zh-CN" sz="2000" b="1"/>
              <a:t>86      80      75      241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1"/>
              <a:t>250204  </a:t>
            </a:r>
            <a:r>
              <a:rPr lang="zh-CN" altLang="en-US" sz="2000" b="1"/>
              <a:t>张力    </a:t>
            </a:r>
            <a:r>
              <a:rPr lang="en-US" altLang="zh-CN" sz="2000" b="1"/>
              <a:t>70      68      75      213</a:t>
            </a:r>
          </a:p>
          <a:p>
            <a:pPr marL="0" lvl="1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1"/>
              <a:t>250205  </a:t>
            </a:r>
            <a:r>
              <a:rPr lang="zh-CN" altLang="en-US" sz="2000" b="1"/>
              <a:t>何为    </a:t>
            </a:r>
            <a:r>
              <a:rPr lang="en-US" altLang="zh-CN" sz="2000" b="1"/>
              <a:t>80      90      78      248</a:t>
            </a:r>
            <a:endParaRPr lang="zh-CN" altLang="en-US"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685800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第四章 数组与字符串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341438"/>
            <a:ext cx="7467600" cy="5257800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4.3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436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4.2.1 String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76029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 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该类字符串对象的值和长度都不变化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称为常量字符串</a:t>
            </a:r>
            <a:endParaRPr lang="en-US" altLang="zh-CN" b="0" dirty="0">
              <a:solidFill>
                <a:srgbClr val="0000FF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endParaRPr lang="zh-CN" altLang="en-US" b="0" dirty="0">
              <a:solidFill>
                <a:srgbClr val="0000FF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类对象的方法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可以这样生成一个常量字符串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aString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aString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“This is a string” 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调用构造方法生成字符串对象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new String();          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new String(String value);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new String(char[] value);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new String(char[] value,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offset,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count);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new String(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buffer);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4.2.1 String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构造一个字符串</a:t>
            </a:r>
          </a:p>
          <a:p>
            <a:pPr eaLnBrk="1" hangingPunct="1"/>
            <a:endParaRPr lang="zh-CN" altLang="en-US" sz="32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由于字符串使用频繁，所以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提供了创建字符串的快速初始化方法：</a:t>
            </a:r>
          </a:p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977019" y="4653136"/>
            <a:ext cx="7411405" cy="129614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message1 = "Hello World";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message2 =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String("Hello World");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message3 = "";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message4 =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String("");</a:t>
            </a: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935038" y="1670050"/>
            <a:ext cx="7453386" cy="3873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stringRefVal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String(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stringLiteral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960438" y="3536950"/>
            <a:ext cx="7427986" cy="381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stringRefVal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"some string";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4.2.1 String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5"/>
            <a:ext cx="8229600" cy="2251075"/>
          </a:xfrm>
        </p:spPr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对象是永久的（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Immutable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lvl="1" eaLnBrk="1" hangingPunct="1"/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对象是永久的，它的内容不能改变</a:t>
            </a:r>
          </a:p>
          <a:p>
            <a:pPr lvl="1" eaLnBrk="1" hangingPunct="1"/>
            <a:r>
              <a:rPr lang="zh-CN" altLang="en-US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下面的代码能够改变字符串的内容吗</a:t>
            </a:r>
            <a:r>
              <a:rPr lang="en-US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altLang="en-US" b="0" dirty="0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965200" y="2438400"/>
            <a:ext cx="6002337" cy="685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 = "Hello";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 = "World";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960437" y="3434680"/>
            <a:ext cx="6007100" cy="2514600"/>
          </a:xfrm>
          <a:prstGeom prst="rect">
            <a:avLst/>
          </a:prstGeom>
          <a:solidFill>
            <a:srgbClr val="CC99FF">
              <a:alpha val="3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6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1358900" y="4847586"/>
            <a:ext cx="1282700" cy="304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:String</a:t>
            </a:r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1358900" y="5152386"/>
            <a:ext cx="1282700" cy="520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"Hello"</a:t>
            </a:r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1752600" y="3653786"/>
            <a:ext cx="533400" cy="3175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</a:p>
        </p:txBody>
      </p:sp>
      <p:sp>
        <p:nvSpPr>
          <p:cNvPr id="77833" name="Line 9"/>
          <p:cNvSpPr>
            <a:spLocks noChangeShapeType="1"/>
          </p:cNvSpPr>
          <p:nvPr/>
        </p:nvSpPr>
        <p:spPr bwMode="auto">
          <a:xfrm>
            <a:off x="2019300" y="3971286"/>
            <a:ext cx="0" cy="8763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4" name="Rectangle 10"/>
          <p:cNvSpPr>
            <a:spLocks noChangeArrowheads="1"/>
          </p:cNvSpPr>
          <p:nvPr/>
        </p:nvSpPr>
        <p:spPr bwMode="auto">
          <a:xfrm>
            <a:off x="3860800" y="4847586"/>
            <a:ext cx="1282700" cy="304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:String</a:t>
            </a:r>
          </a:p>
        </p:txBody>
      </p:sp>
      <p:sp>
        <p:nvSpPr>
          <p:cNvPr id="77835" name="Rectangle 11"/>
          <p:cNvSpPr>
            <a:spLocks noChangeArrowheads="1"/>
          </p:cNvSpPr>
          <p:nvPr/>
        </p:nvSpPr>
        <p:spPr bwMode="auto">
          <a:xfrm>
            <a:off x="3860800" y="5152386"/>
            <a:ext cx="1282700" cy="520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"Hello"</a:t>
            </a:r>
          </a:p>
        </p:txBody>
      </p:sp>
      <p:sp>
        <p:nvSpPr>
          <p:cNvPr id="77836" name="Rectangle 12"/>
          <p:cNvSpPr>
            <a:spLocks noChangeArrowheads="1"/>
          </p:cNvSpPr>
          <p:nvPr/>
        </p:nvSpPr>
        <p:spPr bwMode="auto">
          <a:xfrm>
            <a:off x="4254500" y="3653786"/>
            <a:ext cx="533400" cy="3175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</a:p>
        </p:txBody>
      </p:sp>
      <p:sp>
        <p:nvSpPr>
          <p:cNvPr id="77837" name="Line 13"/>
          <p:cNvSpPr>
            <a:spLocks noChangeShapeType="1"/>
          </p:cNvSpPr>
          <p:nvPr/>
        </p:nvSpPr>
        <p:spPr bwMode="auto">
          <a:xfrm>
            <a:off x="6134100" y="3806186"/>
            <a:ext cx="0" cy="1041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8" name="Rectangle 14"/>
          <p:cNvSpPr>
            <a:spLocks noChangeArrowheads="1"/>
          </p:cNvSpPr>
          <p:nvPr/>
        </p:nvSpPr>
        <p:spPr bwMode="auto">
          <a:xfrm>
            <a:off x="5486400" y="4847586"/>
            <a:ext cx="1282700" cy="304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:String</a:t>
            </a:r>
          </a:p>
        </p:txBody>
      </p:sp>
      <p:sp>
        <p:nvSpPr>
          <p:cNvPr id="77839" name="Rectangle 15"/>
          <p:cNvSpPr>
            <a:spLocks noChangeArrowheads="1"/>
          </p:cNvSpPr>
          <p:nvPr/>
        </p:nvSpPr>
        <p:spPr bwMode="auto">
          <a:xfrm>
            <a:off x="5486400" y="5152386"/>
            <a:ext cx="1282700" cy="520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"World"</a:t>
            </a:r>
          </a:p>
        </p:txBody>
      </p:sp>
      <p:sp>
        <p:nvSpPr>
          <p:cNvPr id="77840" name="Line 16"/>
          <p:cNvSpPr>
            <a:spLocks noChangeShapeType="1"/>
          </p:cNvSpPr>
          <p:nvPr/>
        </p:nvSpPr>
        <p:spPr bwMode="auto">
          <a:xfrm>
            <a:off x="4787900" y="3818886"/>
            <a:ext cx="1333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41" name="Line 17"/>
          <p:cNvSpPr>
            <a:spLocks noChangeShapeType="1"/>
          </p:cNvSpPr>
          <p:nvPr/>
        </p:nvSpPr>
        <p:spPr bwMode="auto">
          <a:xfrm>
            <a:off x="4521200" y="3971286"/>
            <a:ext cx="0" cy="876300"/>
          </a:xfrm>
          <a:prstGeom prst="line">
            <a:avLst/>
          </a:prstGeom>
          <a:noFill/>
          <a:ln w="28575">
            <a:solidFill>
              <a:srgbClr val="808080"/>
            </a:solidFill>
            <a:prstDash val="dash"/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42" name="Line 18"/>
          <p:cNvSpPr>
            <a:spLocks noChangeShapeType="1"/>
          </p:cNvSpPr>
          <p:nvPr/>
        </p:nvSpPr>
        <p:spPr bwMode="auto">
          <a:xfrm>
            <a:off x="4394200" y="4225286"/>
            <a:ext cx="254000" cy="266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43" name="Line 19"/>
          <p:cNvSpPr>
            <a:spLocks noChangeShapeType="1"/>
          </p:cNvSpPr>
          <p:nvPr/>
        </p:nvSpPr>
        <p:spPr bwMode="auto">
          <a:xfrm flipV="1">
            <a:off x="4368800" y="4225286"/>
            <a:ext cx="266700" cy="254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44" name="AutoShape 20"/>
          <p:cNvSpPr>
            <a:spLocks noChangeArrowheads="1"/>
          </p:cNvSpPr>
          <p:nvPr/>
        </p:nvSpPr>
        <p:spPr bwMode="auto">
          <a:xfrm>
            <a:off x="2971800" y="4237986"/>
            <a:ext cx="660400" cy="368300"/>
          </a:xfrm>
          <a:prstGeom prst="rightArrow">
            <a:avLst>
              <a:gd name="adj1" fmla="val 50000"/>
              <a:gd name="adj2" fmla="val 448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6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77845" name="Text Box 21"/>
          <p:cNvSpPr txBox="1">
            <a:spLocks noChangeArrowheads="1"/>
          </p:cNvSpPr>
          <p:nvPr/>
        </p:nvSpPr>
        <p:spPr bwMode="auto">
          <a:xfrm>
            <a:off x="578178" y="6213445"/>
            <a:ext cx="7581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可以看到，在执行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"World"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时，会产生一个新的字符串对象。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类有</a:t>
            </a:r>
          </a:p>
          <a:p>
            <a:pPr lvl="1" eaLnBrk="1" hangingPunct="1"/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15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个构造方法</a:t>
            </a:r>
          </a:p>
          <a:p>
            <a:pPr lvl="1" eaLnBrk="1" hangingPunct="1"/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65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个方法</a:t>
            </a:r>
          </a:p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详细说明见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JDK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文档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JDK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文档：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F:\Program Files\Java\jdk-22\lib\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src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https://java.cunzaima.cn/jdk21/doc-zh/api/java.base/java/lang/String.html</a:t>
            </a:r>
            <a:endParaRPr lang="zh-CN" altLang="en-US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B26C963-DE09-4C13-AAF1-3EFB321C0B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67344"/>
            <a:ext cx="2952328" cy="21193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5C2A224-071E-4A66-8F52-96682F8EB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667232"/>
            <a:ext cx="3356123" cy="20524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F678E17-BCC4-4B27-84D9-E120A6F52E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4005064"/>
            <a:ext cx="2313897" cy="237598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7ED10D3-2963-41E0-ADB6-7EDC1107BD2D}"/>
              </a:ext>
            </a:extLst>
          </p:cNvPr>
          <p:cNvSpPr txBox="1"/>
          <p:nvPr/>
        </p:nvSpPr>
        <p:spPr>
          <a:xfrm>
            <a:off x="323528" y="104310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字符串在开发应用中的场景：</a:t>
            </a:r>
            <a:endParaRPr lang="zh-CN" altLang="en-US" sz="2000" b="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DB6E1D-1D25-49C2-BC79-4091FFBCCA39}"/>
              </a:ext>
            </a:extLst>
          </p:cNvPr>
          <p:cNvSpPr txBox="1"/>
          <p:nvPr/>
        </p:nvSpPr>
        <p:spPr>
          <a:xfrm>
            <a:off x="1115616" y="3847303"/>
            <a:ext cx="1584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字符串比较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B609580-9BBE-4C02-A515-A8177AA45B77}"/>
              </a:ext>
            </a:extLst>
          </p:cNvPr>
          <p:cNvSpPr txBox="1"/>
          <p:nvPr/>
        </p:nvSpPr>
        <p:spPr>
          <a:xfrm>
            <a:off x="5148064" y="3812540"/>
            <a:ext cx="23138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字符串敏感词替换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8D86AE-1A5A-4BF2-B92F-3661D61B4FAD}"/>
              </a:ext>
            </a:extLst>
          </p:cNvPr>
          <p:cNvSpPr txBox="1"/>
          <p:nvPr/>
        </p:nvSpPr>
        <p:spPr>
          <a:xfrm>
            <a:off x="3150096" y="6457890"/>
            <a:ext cx="1656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字符串转换</a:t>
            </a:r>
          </a:p>
        </p:txBody>
      </p:sp>
    </p:spTree>
    <p:extLst>
      <p:ext uri="{BB962C8B-B14F-4D97-AF65-F5344CB8AC3E}">
        <p14:creationId xmlns:p14="http://schemas.microsoft.com/office/powerpoint/2010/main" val="37107145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978749"/>
              </p:ext>
            </p:extLst>
          </p:nvPr>
        </p:nvGraphicFramePr>
        <p:xfrm>
          <a:off x="323528" y="1268760"/>
          <a:ext cx="8568952" cy="507198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942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6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9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名称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解释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7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length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 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返回字符串中字符的个数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charAt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index)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返回序号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index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处的字符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4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indexOf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(String s)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在接收者字符串中进行查找，如果包含子字符串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s，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则返回匹配的第一个字符的位置序号， 否则返回-1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0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substring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begin,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end)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返回接收者对象中序号从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begin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开始到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end-1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的子字符串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43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public String[] </a:t>
                      </a:r>
                      <a:r>
                        <a:rPr kumimoji="1" lang="en-US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split</a:t>
                      </a:r>
                      <a:r>
                        <a:rPr kumimoji="1" lang="en-US" alt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(String regex)</a:t>
                      </a:r>
                      <a:endParaRPr kumimoji="1" lang="en-US" altLang="zh-CN" sz="2000" b="1" u="none" strike="noStrike" cap="none" normalizeH="0" baseline="0" dirty="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public String[]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split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(String regex,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                    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limit)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以指定字符为分隔符，分解字符串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(String s)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返回接收者字符串与参数字符串</a:t>
                      </a:r>
                      <a:r>
                        <a:rPr kumimoji="1" lang="en-US" altLang="zh-CN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1" lang="zh-CN" altLang="en-US" sz="2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进行连接后的字符串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4" marR="91434" marT="45730" marB="4573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900" name="Rectangle 2"/>
          <p:cNvSpPr txBox="1">
            <a:spLocks noChangeArrowheads="1"/>
          </p:cNvSpPr>
          <p:nvPr/>
        </p:nvSpPr>
        <p:spPr bwMode="auto">
          <a:xfrm>
            <a:off x="412576" y="206259"/>
            <a:ext cx="75438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 txBox="1">
            <a:spLocks noChangeArrowheads="1"/>
          </p:cNvSpPr>
          <p:nvPr/>
        </p:nvSpPr>
        <p:spPr bwMode="auto">
          <a:xfrm>
            <a:off x="468313" y="188640"/>
            <a:ext cx="75438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Group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69685"/>
              </p:ext>
            </p:extLst>
          </p:nvPr>
        </p:nvGraphicFramePr>
        <p:xfrm>
          <a:off x="572294" y="1484784"/>
          <a:ext cx="7999412" cy="450850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4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名称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解释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8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replace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(char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oldChar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char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newChar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); 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将接收者字符串的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oldChar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替换为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newChar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compareTo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(String s); 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将接收者对象与参数对象进行比较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equals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(String s);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接收者对象与参数对象的值进行比较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 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trim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 );          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将接收者字符串两端的空字符串都去掉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toLowerCase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将接收者字符串中的字符都转为小写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 </a:t>
                      </a:r>
                      <a:r>
                        <a:rPr kumimoji="1" lang="en-US" altLang="zh-CN" sz="2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toUpperCase</a:t>
                      </a:r>
                      <a:r>
                        <a:rPr kumimoji="1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将接收者字符串中的字符都转为大写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4" marR="91444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116632"/>
            <a:ext cx="7543800" cy="719137"/>
          </a:xfrm>
        </p:spPr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字符串长度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24744"/>
            <a:ext cx="8229600" cy="5438998"/>
          </a:xfrm>
        </p:spPr>
        <p:txBody>
          <a:bodyPr/>
          <a:lstStyle/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length()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方法得到字符串的长度：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中字符串是用 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Unicode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存储的，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因此 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length() 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得到的是 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Unicode 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字符的个数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不管是中文、英文字符，每个字符长度都是 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/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/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/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/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注意：</a:t>
            </a:r>
          </a:p>
          <a:p>
            <a:pPr lvl="2" eaLnBrk="1" hangingPunct="1"/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length()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是方法</a:t>
            </a:r>
          </a:p>
          <a:p>
            <a:pPr lvl="2" eaLnBrk="1" hangingPunct="1"/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length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不是方法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1115616" y="2996952"/>
            <a:ext cx="6912768" cy="237626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388" indent="12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str1 = "Long time no see";</a:t>
            </a:r>
          </a:p>
          <a:p>
            <a:pPr lvl="1" eaLnBrk="1" hangingPunct="1"/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(str1.length()); 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输出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16</a:t>
            </a:r>
          </a:p>
          <a:p>
            <a:pPr lvl="1" eaLnBrk="1" hangingPunct="1"/>
            <a:endParaRPr lang="en-US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str2 = “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河海大学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";</a:t>
            </a:r>
          </a:p>
          <a:p>
            <a:pPr lvl="1" eaLnBrk="1" hangingPunct="1"/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(str2.length()); 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输出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4</a:t>
            </a:r>
          </a:p>
          <a:p>
            <a:pPr lvl="1" eaLnBrk="1" hangingPunct="1"/>
            <a:endParaRPr lang="en-US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str3 = "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你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happy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了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";</a:t>
            </a:r>
          </a:p>
          <a:p>
            <a:pPr lvl="1" eaLnBrk="1" hangingPunct="1"/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(str3.length()); 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输出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7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08473" y="1252436"/>
            <a:ext cx="8229600" cy="2866768"/>
          </a:xfrm>
        </p:spPr>
        <p:txBody>
          <a:bodyPr/>
          <a:lstStyle/>
          <a:p>
            <a:pPr eaLnBrk="1" hangingPunct="1"/>
            <a:r>
              <a:rPr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获得字符串中的单个字符</a:t>
            </a:r>
            <a:endParaRPr lang="en-US" altLang="zh-CN" b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 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charAt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(index)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如 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message.charAt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(5);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索引从 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0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开始，到 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message.length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()-1  (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message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长度不为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0)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注意，不能用 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message[5] </a:t>
            </a:r>
            <a:endParaRPr lang="zh-CN" alt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24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255282"/>
              </p:ext>
            </p:extLst>
          </p:nvPr>
        </p:nvGraphicFramePr>
        <p:xfrm>
          <a:off x="2476500" y="4849514"/>
          <a:ext cx="4394200" cy="396875"/>
        </p:xfrm>
        <a:graphic>
          <a:graphicData uri="http://schemas.openxmlformats.org/drawingml/2006/table">
            <a:tbl>
              <a:tblPr/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H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o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,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w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o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974" name="Text Box 54"/>
          <p:cNvSpPr txBox="1">
            <a:spLocks noChangeArrowheads="1"/>
          </p:cNvSpPr>
          <p:nvPr/>
        </p:nvSpPr>
        <p:spPr bwMode="auto">
          <a:xfrm>
            <a:off x="1259632" y="4901902"/>
            <a:ext cx="11496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message</a:t>
            </a:r>
          </a:p>
        </p:txBody>
      </p:sp>
      <p:sp>
        <p:nvSpPr>
          <p:cNvPr id="82975" name="Text Box 55"/>
          <p:cNvSpPr txBox="1">
            <a:spLocks noChangeArrowheads="1"/>
          </p:cNvSpPr>
          <p:nvPr/>
        </p:nvSpPr>
        <p:spPr bwMode="auto">
          <a:xfrm>
            <a:off x="1259632" y="4495502"/>
            <a:ext cx="11496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indices</a:t>
            </a:r>
          </a:p>
        </p:txBody>
      </p:sp>
      <p:sp>
        <p:nvSpPr>
          <p:cNvPr id="82976" name="Text Box 56"/>
          <p:cNvSpPr txBox="1">
            <a:spLocks noChangeArrowheads="1"/>
          </p:cNvSpPr>
          <p:nvPr/>
        </p:nvSpPr>
        <p:spPr bwMode="auto">
          <a:xfrm>
            <a:off x="1165225" y="5765502"/>
            <a:ext cx="28007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message.charAt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(0)</a:t>
            </a:r>
          </a:p>
        </p:txBody>
      </p:sp>
      <p:graphicFrame>
        <p:nvGraphicFramePr>
          <p:cNvPr id="10273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451770"/>
              </p:ext>
            </p:extLst>
          </p:nvPr>
        </p:nvGraphicFramePr>
        <p:xfrm>
          <a:off x="2411760" y="4437112"/>
          <a:ext cx="4432300" cy="396240"/>
        </p:xfrm>
        <a:graphic>
          <a:graphicData uri="http://schemas.openxmlformats.org/drawingml/2006/table">
            <a:tbl>
              <a:tblPr/>
              <a:tblGrid>
                <a:gridCol w="4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9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989" name="Line 108"/>
          <p:cNvSpPr>
            <a:spLocks noChangeShapeType="1"/>
          </p:cNvSpPr>
          <p:nvPr/>
        </p:nvSpPr>
        <p:spPr bwMode="auto">
          <a:xfrm flipV="1">
            <a:off x="2336800" y="5205114"/>
            <a:ext cx="317500" cy="558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82990" name="Text Box 109"/>
          <p:cNvSpPr txBox="1">
            <a:spLocks noChangeArrowheads="1"/>
          </p:cNvSpPr>
          <p:nvPr/>
        </p:nvSpPr>
        <p:spPr bwMode="auto">
          <a:xfrm>
            <a:off x="5686425" y="5765502"/>
            <a:ext cx="29546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message.charAt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(10)</a:t>
            </a:r>
          </a:p>
        </p:txBody>
      </p:sp>
      <p:sp>
        <p:nvSpPr>
          <p:cNvPr id="82991" name="Line 110"/>
          <p:cNvSpPr>
            <a:spLocks noChangeShapeType="1"/>
          </p:cNvSpPr>
          <p:nvPr/>
        </p:nvSpPr>
        <p:spPr bwMode="auto">
          <a:xfrm flipH="1" flipV="1">
            <a:off x="6667500" y="5205114"/>
            <a:ext cx="317500" cy="584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82992" name="Text Box 111"/>
          <p:cNvSpPr txBox="1">
            <a:spLocks noChangeArrowheads="1"/>
          </p:cNvSpPr>
          <p:nvPr/>
        </p:nvSpPr>
        <p:spPr bwMode="auto">
          <a:xfrm>
            <a:off x="3097292" y="6259770"/>
            <a:ext cx="35702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Courier New" panose="02070309020205020404" pitchFamily="49" charset="0"/>
              </a:rPr>
              <a:t>message.length() is 11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0728"/>
            <a:ext cx="8229600" cy="4608165"/>
          </a:xfrm>
        </p:spPr>
        <p:txBody>
          <a:bodyPr/>
          <a:lstStyle/>
          <a:p>
            <a:pPr eaLnBrk="1" hangingPunct="1"/>
            <a:r>
              <a:rPr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字符串连接</a:t>
            </a:r>
            <a:endParaRPr lang="en-US" altLang="zh-CN" b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两种方法：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使用 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String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的 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concat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字符串直接相加 （用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"+"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en-US" altLang="zh-CN" dirty="0">
              <a:ea typeface="楷体" panose="02010609060101010101" pitchFamily="49" charset="-122"/>
            </a:endParaRPr>
          </a:p>
          <a:p>
            <a:pPr lvl="1" eaLnBrk="1" hangingPunct="1"/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多个字符串相加，支持连写：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960438" y="2942456"/>
            <a:ext cx="7427986" cy="185469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str1 = "Hello";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str2 = "World";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str3 = str1.concat(str2);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方法一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str4 = str1 + str2;      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方法二</a:t>
            </a: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107504" y="5530304"/>
            <a:ext cx="8940154" cy="635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Courier New" panose="02070309020205020404" pitchFamily="49" charset="0"/>
              </a:rPr>
              <a:t>String str = str1 + str2 + str3 + str4;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Courier New" panose="02070309020205020404" pitchFamily="49" charset="0"/>
              </a:rPr>
              <a:t>String str = str1.concat(str2).concat(str3).concat(str4);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提取子串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981075"/>
            <a:ext cx="7985125" cy="879475"/>
          </a:xfrm>
        </p:spPr>
        <p:txBody>
          <a:bodyPr/>
          <a:lstStyle/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可以使用</a:t>
            </a:r>
            <a:r>
              <a:rPr lang="en-US" altLang="zh-CN" sz="2400" b="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charAt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方法从字符串中提取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单个字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符。也可以使用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类中的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substring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方法从字符串中提取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子串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611560" y="1860590"/>
            <a:ext cx="7848872" cy="69264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message = "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Hello,world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message.substring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(0, 6) + "Java";</a:t>
            </a:r>
          </a:p>
        </p:txBody>
      </p:sp>
      <p:graphicFrame>
        <p:nvGraphicFramePr>
          <p:cNvPr id="1229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702377"/>
              </p:ext>
            </p:extLst>
          </p:nvPr>
        </p:nvGraphicFramePr>
        <p:xfrm>
          <a:off x="2393107" y="3075930"/>
          <a:ext cx="4394200" cy="396875"/>
        </p:xfrm>
        <a:graphic>
          <a:graphicData uri="http://schemas.openxmlformats.org/drawingml/2006/table">
            <a:tbl>
              <a:tblPr/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H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o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,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w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o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23" name="Text Box 31"/>
          <p:cNvSpPr txBox="1">
            <a:spLocks noChangeArrowheads="1"/>
          </p:cNvSpPr>
          <p:nvPr/>
        </p:nvSpPr>
        <p:spPr bwMode="auto">
          <a:xfrm>
            <a:off x="1285032" y="3128318"/>
            <a:ext cx="11496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message</a:t>
            </a:r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1259632" y="2721918"/>
            <a:ext cx="11496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indices</a:t>
            </a:r>
          </a:p>
        </p:txBody>
      </p:sp>
      <p:graphicFrame>
        <p:nvGraphicFramePr>
          <p:cNvPr id="12321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573568"/>
              </p:ext>
            </p:extLst>
          </p:nvPr>
        </p:nvGraphicFramePr>
        <p:xfrm>
          <a:off x="2393107" y="2720330"/>
          <a:ext cx="4432300" cy="396240"/>
        </p:xfrm>
        <a:graphic>
          <a:graphicData uri="http://schemas.openxmlformats.org/drawingml/2006/table">
            <a:tbl>
              <a:tblPr/>
              <a:tblGrid>
                <a:gridCol w="4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9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37" name="AutoShape 69"/>
          <p:cNvSpPr>
            <a:spLocks/>
          </p:cNvSpPr>
          <p:nvPr/>
        </p:nvSpPr>
        <p:spPr bwMode="auto">
          <a:xfrm rot="5400000">
            <a:off x="3477159" y="2982478"/>
            <a:ext cx="177800" cy="1291803"/>
          </a:xfrm>
          <a:prstGeom prst="rightBrace">
            <a:avLst>
              <a:gd name="adj1" fmla="val 6011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6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85038" name="Text Box 70"/>
          <p:cNvSpPr txBox="1">
            <a:spLocks noChangeArrowheads="1"/>
          </p:cNvSpPr>
          <p:nvPr/>
        </p:nvSpPr>
        <p:spPr bwMode="auto">
          <a:xfrm>
            <a:off x="1619672" y="3789040"/>
            <a:ext cx="33554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message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.substring(1, 5)</a:t>
            </a:r>
            <a:endParaRPr lang="zh-CN" altLang="en-US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85039" name="AutoShape 71"/>
          <p:cNvSpPr>
            <a:spLocks/>
          </p:cNvSpPr>
          <p:nvPr/>
        </p:nvSpPr>
        <p:spPr bwMode="auto">
          <a:xfrm rot="5400000">
            <a:off x="5669707" y="2821930"/>
            <a:ext cx="177800" cy="1612900"/>
          </a:xfrm>
          <a:prstGeom prst="rightBrace">
            <a:avLst>
              <a:gd name="adj1" fmla="val 7559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6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85040" name="Text Box 72"/>
          <p:cNvSpPr txBox="1">
            <a:spLocks noChangeArrowheads="1"/>
          </p:cNvSpPr>
          <p:nvPr/>
        </p:nvSpPr>
        <p:spPr bwMode="auto">
          <a:xfrm>
            <a:off x="4968032" y="3789040"/>
            <a:ext cx="29418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message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.substring(6)</a:t>
            </a:r>
            <a:endParaRPr lang="zh-CN" altLang="en-US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85041" name="Text Box 73"/>
          <p:cNvSpPr txBox="1">
            <a:spLocks noChangeArrowheads="1"/>
          </p:cNvSpPr>
          <p:nvPr/>
        </p:nvSpPr>
        <p:spPr bwMode="auto">
          <a:xfrm>
            <a:off x="468313" y="4216400"/>
            <a:ext cx="7992119" cy="2554545"/>
          </a:xfrm>
          <a:prstGeom prst="rect">
            <a:avLst/>
          </a:prstGeom>
          <a:noFill/>
          <a:ln w="952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subString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有两个方法：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String substring(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beginIndex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endIndex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beginIndex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开始点的索引，包含本字符；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endIndex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结束点的索引，不包含本字符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得到从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beginIndex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endIndex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之间的子串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String substring(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beginIndex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beginIndex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开始点的索引，包含本字符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           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得到从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beginIndex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开始直到字符串结束的字串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061712"/>
            <a:ext cx="8229600" cy="1943869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字符串比较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：字符串值是否相等</a:t>
            </a:r>
            <a:endParaRPr lang="en-US" altLang="zh-CN" b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 </a:t>
            </a:r>
            <a:r>
              <a:rPr 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equals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方法，而不是 </a:t>
            </a:r>
            <a:r>
              <a:rPr 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==</a:t>
            </a:r>
          </a:p>
          <a:p>
            <a:pPr lvl="1" eaLnBrk="1" hangingPunct="1">
              <a:defRPr/>
            </a:pPr>
            <a:r>
              <a:rPr 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==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：比较的是字符串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对象引用的值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，即判断是否指向相同的对象</a:t>
            </a:r>
          </a:p>
          <a:p>
            <a:pPr lvl="1" eaLnBrk="1" hangingPunct="1">
              <a:defRPr/>
            </a:pPr>
            <a:r>
              <a:rPr 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equals()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方法：比较的是字符串的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内容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323528" y="5116716"/>
            <a:ext cx="8235950" cy="168304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str1 =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String("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Hello,world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str2 = "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Hello,world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";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(str1 == str2);    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输出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false</a:t>
            </a:r>
          </a:p>
          <a:p>
            <a:pPr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(str1.equals(str2)):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输出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899592" y="3406837"/>
            <a:ext cx="7248525" cy="1534331"/>
          </a:xfrm>
          <a:prstGeom prst="rect">
            <a:avLst/>
          </a:prstGeom>
          <a:solidFill>
            <a:srgbClr val="CCFFCC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boolean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equals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Object anObject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说明：比较两个对象是否相等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参数：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an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Object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待比较的对象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返回值：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true：说明相等； =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false：说明不相等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083327"/>
            <a:ext cx="8229600" cy="617481"/>
          </a:xfrm>
        </p:spPr>
        <p:txBody>
          <a:bodyPr/>
          <a:lstStyle/>
          <a:p>
            <a:pPr eaLnBrk="1" hangingPunct="1"/>
            <a:r>
              <a:rPr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字符串比较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compareTo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87044" name="Text Box 5"/>
          <p:cNvSpPr txBox="1">
            <a:spLocks noChangeArrowheads="1"/>
          </p:cNvSpPr>
          <p:nvPr/>
        </p:nvSpPr>
        <p:spPr bwMode="auto">
          <a:xfrm>
            <a:off x="903329" y="1700808"/>
            <a:ext cx="7300913" cy="2850076"/>
          </a:xfrm>
          <a:prstGeom prst="rect">
            <a:avLst/>
          </a:prstGeom>
          <a:solidFill>
            <a:srgbClr val="CCFFCC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compareTo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anotherString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说明：按照字典序来进行比较两个字符串，如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abcd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abd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字符之间的比较，按照其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Unicode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进行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参数：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anotherString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待比较的字符串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返回值：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：说明两个字符串相等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：说明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this &gt;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anotherString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 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：说明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this &lt;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anotherString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7045" name="Rectangle 6"/>
          <p:cNvSpPr>
            <a:spLocks noChangeArrowheads="1"/>
          </p:cNvSpPr>
          <p:nvPr/>
        </p:nvSpPr>
        <p:spPr bwMode="auto">
          <a:xfrm>
            <a:off x="179512" y="4653136"/>
            <a:ext cx="8748549" cy="166371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str1 =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String("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Hello,world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str2 = "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Hello,world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str3 = "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hello,world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";</a:t>
            </a:r>
          </a:p>
          <a:p>
            <a:pPr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(str1.compareTo(str2));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输出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0</a:t>
            </a:r>
          </a:p>
          <a:p>
            <a:pPr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(str1.compareTo(str3)):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输出一个负数</a:t>
            </a:r>
            <a:endParaRPr lang="en-US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  <p:sp>
        <p:nvSpPr>
          <p:cNvPr id="87046" name="Text Box 7"/>
          <p:cNvSpPr txBox="1">
            <a:spLocks noChangeArrowheads="1"/>
          </p:cNvSpPr>
          <p:nvPr/>
        </p:nvSpPr>
        <p:spPr bwMode="auto">
          <a:xfrm>
            <a:off x="18211" y="6396195"/>
            <a:ext cx="9130769" cy="4001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有一个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compareToIgnoreCase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方法，执行的是不区分大小写的比较。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196752"/>
            <a:ext cx="8229600" cy="4536504"/>
          </a:xfrm>
        </p:spPr>
        <p:txBody>
          <a:bodyPr/>
          <a:lstStyle/>
          <a:p>
            <a:pPr eaLnBrk="1" hangingPunct="1"/>
            <a:r>
              <a:rPr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字符串转换</a:t>
            </a:r>
            <a:endParaRPr lang="en-US" altLang="zh-CN" b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一旦字符串被创建之后它的内容就不能改变。但是可以使用以下方法将字符串转换为新字符串</a:t>
            </a:r>
          </a:p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常用的转换函数有：</a:t>
            </a:r>
          </a:p>
          <a:p>
            <a:pPr lvl="1" eaLnBrk="1" hangingPunct="1"/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toLowerCase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：转换为全小写</a:t>
            </a:r>
          </a:p>
          <a:p>
            <a:pPr lvl="1" eaLnBrk="1" hangingPunct="1"/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toUpperCase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：转换为全大写</a:t>
            </a:r>
          </a:p>
          <a:p>
            <a:pPr lvl="1" eaLnBrk="1" hangingPunct="1"/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trim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：去掉头尾的空格</a:t>
            </a:r>
          </a:p>
          <a:p>
            <a:pPr lvl="1" eaLnBrk="1" hangingPunct="1"/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replace(</a:t>
            </a:r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oldChar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newChar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：将字符串中的 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oldChar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用 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newChar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来代替</a:t>
            </a:r>
          </a:p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详细说明请参见 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JDK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文档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122513"/>
            <a:ext cx="8229600" cy="722311"/>
          </a:xfrm>
        </p:spPr>
        <p:txBody>
          <a:bodyPr/>
          <a:lstStyle/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在字符串中找到一个字符或子串：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indexOf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467544" y="1703388"/>
            <a:ext cx="8352928" cy="495520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fromIndex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fromIndex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fromIndex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fromIndex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endParaRPr lang="en-US" altLang="zh-CN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说明：在本字符串中，查找一个字符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字符串。可以指定开始查找的位置。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indexOf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：从前向后查找；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lastIndexOf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：从后向前查找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返回值：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indexOf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得到第一次出现的位置。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lastIndexOf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：得到最后一次出现的位置。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如果找不到，则返回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90115" name="Rectangle 4"/>
          <p:cNvSpPr>
            <a:spLocks noChangeArrowheads="1"/>
          </p:cNvSpPr>
          <p:nvPr/>
        </p:nvSpPr>
        <p:spPr bwMode="auto">
          <a:xfrm>
            <a:off x="251520" y="1397000"/>
            <a:ext cx="8712968" cy="28240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"Welcome to Java".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('W');         // returns 0.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"Welcome to Java".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('x');         // returns -1.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"Welcome to Java".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('o', 5);      // returns 9.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"Welcome to Java".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("come");      // returns 3.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"Welcome to Java".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("Java", 5);   // returns 11.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"Welcome to Java".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("java", 5);   // returns -1.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"Welcome to Java".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('a');     // returns 14.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"Welcome to Java".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('a', 13);   // returns 12.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"Welcome to Java".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lastIndexOf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("Java", 5); // returns -1.</a:t>
            </a:r>
          </a:p>
        </p:txBody>
      </p:sp>
      <p:graphicFrame>
        <p:nvGraphicFramePr>
          <p:cNvPr id="1741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885924"/>
              </p:ext>
            </p:extLst>
          </p:nvPr>
        </p:nvGraphicFramePr>
        <p:xfrm>
          <a:off x="1917700" y="5048349"/>
          <a:ext cx="5994400" cy="396875"/>
        </p:xfrm>
        <a:graphic>
          <a:graphicData uri="http://schemas.openxmlformats.org/drawingml/2006/table">
            <a:tbl>
              <a:tblPr/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W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o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m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t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o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J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v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150" name="Text Box 31"/>
          <p:cNvSpPr txBox="1">
            <a:spLocks noChangeArrowheads="1"/>
          </p:cNvSpPr>
          <p:nvPr/>
        </p:nvSpPr>
        <p:spPr bwMode="auto">
          <a:xfrm>
            <a:off x="809625" y="5100737"/>
            <a:ext cx="11496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message</a:t>
            </a:r>
          </a:p>
        </p:txBody>
      </p:sp>
      <p:sp>
        <p:nvSpPr>
          <p:cNvPr id="90151" name="Text Box 32"/>
          <p:cNvSpPr txBox="1">
            <a:spLocks noChangeArrowheads="1"/>
          </p:cNvSpPr>
          <p:nvPr/>
        </p:nvSpPr>
        <p:spPr bwMode="auto">
          <a:xfrm>
            <a:off x="784225" y="4694337"/>
            <a:ext cx="11496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</a:rPr>
              <a:t>indices</a:t>
            </a:r>
          </a:p>
        </p:txBody>
      </p:sp>
      <p:graphicFrame>
        <p:nvGraphicFramePr>
          <p:cNvPr id="17448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336885"/>
              </p:ext>
            </p:extLst>
          </p:nvPr>
        </p:nvGraphicFramePr>
        <p:xfrm>
          <a:off x="1917700" y="4718149"/>
          <a:ext cx="5994400" cy="304800"/>
        </p:xfrm>
        <a:graphic>
          <a:graphicData uri="http://schemas.openxmlformats.org/drawingml/2006/table">
            <a:tbl>
              <a:tblPr/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2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3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4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5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9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10 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11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12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13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14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5"/>
            <a:ext cx="8229600" cy="1006475"/>
          </a:xfrm>
        </p:spPr>
        <p:txBody>
          <a:bodyPr/>
          <a:lstStyle/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将字符和数字转换成字符串：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valueOf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67028" y="1653510"/>
            <a:ext cx="9015428" cy="3600986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valueOf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boolean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b);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valueOf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c);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valueOf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char[]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data);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valueOf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char[]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data,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offset,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count);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valueOf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d);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valueOf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float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f);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valueOf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valueOf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long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l);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valueOf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Object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说明：将字符或数字转换为字符串。</a:t>
            </a: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返回值：转换后的字符串</a:t>
            </a:r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453231" y="5372891"/>
            <a:ext cx="8237537" cy="62706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Courier New" panose="02070309020205020404" pitchFamily="49" charset="0"/>
              </a:rPr>
              <a:t>String str1 = String.valueOf(5.44);  </a:t>
            </a:r>
            <a:r>
              <a:rPr lang="en-US" altLang="zh-CN" sz="2000" b="1">
                <a:solidFill>
                  <a:srgbClr val="008000"/>
                </a:solidFill>
                <a:latin typeface="Courier New" panose="02070309020205020404" pitchFamily="49" charset="0"/>
              </a:rPr>
              <a:t>// str1="5.44"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Courier New" panose="02070309020205020404" pitchFamily="49" charset="0"/>
              </a:rPr>
              <a:t>String str2 = String.valueOf(true);  </a:t>
            </a:r>
            <a:r>
              <a:rPr lang="en-US" altLang="zh-CN" sz="2000" b="1">
                <a:solidFill>
                  <a:srgbClr val="008000"/>
                </a:solidFill>
                <a:latin typeface="Courier New" panose="02070309020205020404" pitchFamily="49" charset="0"/>
              </a:rPr>
              <a:t>// str2="true"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5"/>
            <a:ext cx="8229600" cy="2303909"/>
          </a:xfrm>
        </p:spPr>
        <p:txBody>
          <a:bodyPr/>
          <a:lstStyle/>
          <a:p>
            <a:pPr eaLnBrk="1" hangingPunct="1"/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举例：检测回文串</a:t>
            </a:r>
            <a:endParaRPr lang="en-US" altLang="zh-CN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提示用户输入一个字符串，然后报告该串是否为回文串：如果从前向后读它和从后向前读它都一样，则称为回文串。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0" y="37802"/>
            <a:ext cx="9144000" cy="674136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javax.swing.JOptionPane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/>
            <a:endParaRPr lang="en-US" altLang="zh-CN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CheckPalindrome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void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String s =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JOptionPane.showInputDialog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("Enter a string:");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String output = "";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isPalindrome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(s))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output = s + " is a palindrome";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output = s + " is not a palindrome";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JOptionPane.showMessageDialog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, output);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boolean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isPalindrome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s)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low = 0;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high =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s.length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() - 1;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(low &lt; high)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s.charAt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(low) !=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s.charAt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(high))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false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; 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// Not a palindrome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low++;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high--;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;          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// The string is a palindrome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字符串分解：使用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split()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906463" y="3789040"/>
            <a:ext cx="7297737" cy="288032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 = "Hello, world";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String[] arr1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str.split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(",");</a:t>
            </a: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arr1: "Hello"    " world"</a:t>
            </a:r>
          </a:p>
          <a:p>
            <a:pPr eaLnBrk="1" hangingPunct="1"/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String[] arr2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str.split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 ");</a:t>
            </a: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arr2: "Hello,"   "world"</a:t>
            </a:r>
          </a:p>
          <a:p>
            <a:pPr eaLnBrk="1" hangingPunct="1"/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String[] arr3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str.split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("o");</a:t>
            </a: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arr3: "Hell"    ", w"    "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rld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"</a:t>
            </a:r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898525" y="1700808"/>
            <a:ext cx="7305675" cy="1818959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String[] split(String regex);</a:t>
            </a:r>
          </a:p>
          <a:p>
            <a:pPr eaLnBrk="1" hangingPunct="1"/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说明：在本字符串中，根据正则表达式（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regex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），拆分此字符串。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regex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：正则表达式。暂时可以简单理解为“拆分时使用的分隔符”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返回值：拆分后，得到的字符数组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4.2.2 String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4969" y="1196752"/>
            <a:ext cx="8229600" cy="576064"/>
          </a:xfrm>
        </p:spPr>
        <p:txBody>
          <a:bodyPr/>
          <a:lstStyle/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字符串替换：使用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replace()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384969" y="2061516"/>
            <a:ext cx="8062913" cy="387798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replace(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oldChar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newChar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replace(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CharSequence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target,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CharSequence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             replacement);</a:t>
            </a:r>
          </a:p>
          <a:p>
            <a:pPr eaLnBrk="1" hangingPunct="1"/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pubilc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replaceAll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regex, String 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             replacement);</a:t>
            </a:r>
          </a:p>
          <a:p>
            <a:pPr eaLnBrk="1" hangingPunct="1"/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pubilc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replaceFirst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regex, String 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             replacement);</a:t>
            </a:r>
          </a:p>
          <a:p>
            <a:pPr eaLnBrk="1" hangingPunct="1"/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说明：</a:t>
            </a: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一个四个方法，用于字符串替换。</a:t>
            </a: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返回值：</a:t>
            </a: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替换后，得到的新字符串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389955" y="188640"/>
            <a:ext cx="8430517" cy="648072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old = "Hello, world";</a:t>
            </a: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1. 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按字符替换，全部替换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new1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old.replace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('o', '@');  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new1="Hell@, 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w@rld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"</a:t>
            </a: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2.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按字符串替换，全部替换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new2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old.replace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("world", "china"); 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new2="Hello, china"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new3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old.replace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("o", "@");        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new3="Hell@, 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w@rld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"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new4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old.replaceAll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("o", "xyz");   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new4="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Hellxyz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wxyzrld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"</a:t>
            </a:r>
          </a:p>
          <a:p>
            <a:pPr eaLnBrk="1" hangingPunct="1"/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3.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按字符串替换，只替换第一次 （从左向右扫描）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new5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old.replaceFirst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("o", "xyz");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new5="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Hellxyz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, world"</a:t>
            </a:r>
          </a:p>
          <a:p>
            <a:pPr eaLnBrk="1" hangingPunct="1"/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注意：替换时，会从左向右扫描字符串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all_is_a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"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aaa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new6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all_is_a.replace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aa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", "b");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   </a:t>
            </a: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                 // new6="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ba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"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4.2.3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字符类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Character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052537"/>
            <a:ext cx="8136135" cy="5184775"/>
          </a:xfrm>
        </p:spPr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为每个原始类型提供了一个包装类（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Wrapper Class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 dirty="0">
              <a:ea typeface="宋体" panose="02010600030101010101" pitchFamily="2" charset="-122"/>
            </a:endParaRPr>
          </a:p>
          <a:p>
            <a:pPr lvl="1" eaLnBrk="1" hangingPunct="1"/>
            <a:endParaRPr lang="zh-CN" altLang="en-US" sz="2000" dirty="0">
              <a:ea typeface="楷体_GB2312" pitchFamily="49" charset="-122"/>
            </a:endParaRPr>
          </a:p>
          <a:p>
            <a:pPr lvl="1" eaLnBrk="1" hangingPunct="1"/>
            <a:r>
              <a:rPr lang="zh-CN" altLang="en-US" sz="2800" b="0" dirty="0">
                <a:ea typeface="黑体" panose="02010609060101010101" pitchFamily="49" charset="-122"/>
                <a:cs typeface="Times New Roman" panose="02020603050405020304" pitchFamily="18" charset="0"/>
              </a:rPr>
              <a:t>这里先介绍 </a:t>
            </a:r>
            <a:r>
              <a:rPr lang="en-US" altLang="zh-CN" sz="2800" b="0" dirty="0">
                <a:ea typeface="黑体" panose="02010609060101010101" pitchFamily="49" charset="-122"/>
                <a:cs typeface="Times New Roman" panose="02020603050405020304" pitchFamily="18" charset="0"/>
              </a:rPr>
              <a:t>Character</a:t>
            </a:r>
          </a:p>
          <a:p>
            <a:pPr eaLnBrk="1" hangingPunct="1"/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2458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259012"/>
              </p:ext>
            </p:extLst>
          </p:nvPr>
        </p:nvGraphicFramePr>
        <p:xfrm>
          <a:off x="2051720" y="1988840"/>
          <a:ext cx="4521200" cy="3577687"/>
        </p:xfrm>
        <a:graphic>
          <a:graphicData uri="http://schemas.openxmlformats.org/drawingml/2006/table">
            <a:tbl>
              <a:tblPr/>
              <a:tblGrid>
                <a:gridCol w="2262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9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9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原始类型</a:t>
                      </a:r>
                    </a:p>
                  </a:txBody>
                  <a:tcPr marT="45711" marB="45711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对应的包装类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T="45711" marB="45711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Character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boolean</a:t>
                      </a:r>
                    </a:p>
                  </a:txBody>
                  <a:tcPr marT="45711" marB="45711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Boolean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byte</a:t>
                      </a:r>
                    </a:p>
                  </a:txBody>
                  <a:tcPr marT="45711" marB="45711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Byte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short</a:t>
                      </a:r>
                    </a:p>
                  </a:txBody>
                  <a:tcPr marT="45711" marB="45711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Short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T="45711" marB="45711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long</a:t>
                      </a:r>
                    </a:p>
                  </a:txBody>
                  <a:tcPr marT="45711" marB="45711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Long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T="45711" marB="45711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double</a:t>
                      </a:r>
                    </a:p>
                  </a:txBody>
                  <a:tcPr marT="45711" marB="45711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Double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4.2.3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字符类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Character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Character UML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类图（部分）：</a:t>
            </a:r>
          </a:p>
        </p:txBody>
      </p:sp>
      <p:graphicFrame>
        <p:nvGraphicFramePr>
          <p:cNvPr id="2560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109005"/>
              </p:ext>
            </p:extLst>
          </p:nvPr>
        </p:nvGraphicFramePr>
        <p:xfrm>
          <a:off x="323528" y="1766888"/>
          <a:ext cx="8712968" cy="4210685"/>
        </p:xfrm>
        <a:graphic>
          <a:graphicData uri="http://schemas.openxmlformats.org/drawingml/2006/table">
            <a:tbl>
              <a:tblPr/>
              <a:tblGrid>
                <a:gridCol w="5954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java.lang.Character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+Character(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value:char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)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构造函数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charValue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():char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得到原始类型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+compareTo(anotherCharacter:Character):int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比较两个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Character 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的大小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+equals(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anotherCharacter:Character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):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boolean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比较两个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Character 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是否相等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isDigit</a:t>
                      </a: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ch:char</a:t>
                      </a: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):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boolean</a:t>
                      </a:r>
                      <a:endParaRPr kumimoji="0" lang="en-US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是否为数字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isLetter</a:t>
                      </a: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ch:char</a:t>
                      </a: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):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boolean</a:t>
                      </a:r>
                      <a:endParaRPr kumimoji="0" lang="en-US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是否为字母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isLetterOrDigit</a:t>
                      </a: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ch:char</a:t>
                      </a: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):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boolean</a:t>
                      </a:r>
                      <a:endParaRPr kumimoji="0" lang="en-US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是否为字母或数字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isLowerCase</a:t>
                      </a: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ch:char</a:t>
                      </a:r>
                      <a:r>
                        <a:rPr kumimoji="0" lang="en-US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):</a:t>
                      </a:r>
                      <a:r>
                        <a:rPr kumimoji="0" lang="en-US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boolean</a:t>
                      </a:r>
                      <a:endParaRPr kumimoji="0" lang="en-US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是否为小写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+isUpperCase(ch:char):boolean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是否为大写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+toLowerCase(ch:char):char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转换为小写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+toUpperCase(ch:char):char</a:t>
                      </a:r>
                      <a:endParaRPr kumimoji="0" lang="en-US" sz="16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转换为大写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4.2.3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字符类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Character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5"/>
            <a:ext cx="8229600" cy="676275"/>
          </a:xfrm>
        </p:spPr>
        <p:txBody>
          <a:bodyPr/>
          <a:lstStyle/>
          <a:p>
            <a:pPr eaLnBrk="1" hangingPunct="1"/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举例</a:t>
            </a:r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426244" y="1719643"/>
            <a:ext cx="8250237" cy="2634731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Character c = new Character('d’);</a:t>
            </a:r>
          </a:p>
          <a:p>
            <a:pPr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c.compareTo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Character('a'));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返回一个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&gt;0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的值</a:t>
            </a: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c.compareTo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Character('f'));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返回一个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&lt;0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的值</a:t>
            </a:r>
          </a:p>
          <a:p>
            <a:pPr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c.equals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Character('b'));   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返回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false</a:t>
            </a:r>
          </a:p>
          <a:p>
            <a:pPr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c.equals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Character('d'));     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返回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true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Caracter c =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Character.valueOf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(‘d');</a:t>
            </a: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返回表示指定的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char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值的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Character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实例</a:t>
            </a:r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举例：统计字符串中的每个字母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107504" y="920006"/>
            <a:ext cx="8784976" cy="593799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javax.swing.JOptionPane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altLang="zh-CN" sz="16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CountEachLetter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void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String s =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JOptionPane.showInputDialog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("Enter a string:");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[] counts =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countLetters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s.toLowerCase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String output = "";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counts.length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(counts[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!= 0)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output += (char) ('a' +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+ " appears  " +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counts[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+ ((counts[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== 1) ? " time\n" : " time</a:t>
            </a:r>
            <a:r>
              <a:rPr lang="en-US" altLang="zh-CN" sz="1600" b="1" dirty="0">
                <a:solidFill>
                  <a:srgbClr val="009900"/>
                </a:solidFill>
                <a:latin typeface="Courier New" panose="02070309020205020404" pitchFamily="49" charset="0"/>
              </a:rPr>
              <a:t>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\n");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JOptionPane.showMessageDialog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 output);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</a:t>
            </a:r>
            <a:r>
              <a:rPr lang="en-US" altLang="zh-CN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[]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countLetters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s){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[] counts =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 </a:t>
            </a:r>
            <a:r>
              <a:rPr lang="en-US" altLang="zh-CN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[26];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s.length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Character.isLetter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s.charAt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)))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counts[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s.charAt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- 'a']++;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counts;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4.2.4 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zh-CN" altLang="en-US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Immutable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Immutable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特性，因此每次对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的内容的修改，都会导致创建新的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对象</a:t>
            </a: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如：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String </a:t>
            </a:r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str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= "</a:t>
            </a:r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aa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" + "bb" + "cc" + "</a:t>
            </a:r>
            <a:r>
              <a:rPr lang="en-US" altLang="zh-CN" b="0" dirty="0" err="1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dd</a:t>
            </a:r>
            <a: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"</a:t>
            </a:r>
            <a:br>
              <a:rPr lang="en-US" altLang="zh-CN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一共创建了多少个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对象？</a:t>
            </a:r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答：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个：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aa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", "bb", "cc", "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dd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", "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aabb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", "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aabbcc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", "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aabbccdd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"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为了高效地进行字符串的“添加”、“插入”、“修改”操作，引入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StringBuilder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4.2.4 </a:t>
            </a:r>
            <a:r>
              <a:rPr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其对象是可以修改的字符串</a:t>
            </a:r>
          </a:p>
          <a:p>
            <a:pPr lvl="2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字符的个数称为对象的长度(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length)</a:t>
            </a:r>
          </a:p>
          <a:p>
            <a:pPr lvl="2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分配的存储空间称为对象的容量(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capacity)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类的对象相比，执行效率要低一些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该类的方法不能被用于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类的对象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§ </a:t>
            </a:r>
            <a:r>
              <a:rPr lang="en-US" altLang="zh-CN" sz="3200" b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4.2.3 StringBuilder/StringBuffer</a:t>
            </a:r>
            <a:r>
              <a:rPr lang="zh-CN" altLang="en-US" sz="3200" b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类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 err="1">
                <a:ea typeface="宋体" panose="02010600030101010101" pitchFamily="2" charset="-122"/>
              </a:rPr>
              <a:t>StringBuffer</a:t>
            </a:r>
            <a:r>
              <a:rPr lang="zh-CN" altLang="en-US" sz="2400" dirty="0">
                <a:ea typeface="宋体" panose="02010600030101010101" pitchFamily="2" charset="-122"/>
              </a:rPr>
              <a:t>和</a:t>
            </a:r>
            <a:r>
              <a:rPr lang="en-US" altLang="zh-CN" sz="2400" dirty="0" err="1">
                <a:ea typeface="宋体" panose="02010600030101010101" pitchFamily="2" charset="-122"/>
              </a:rPr>
              <a:t>StringBuilder</a:t>
            </a:r>
            <a:r>
              <a:rPr lang="zh-CN" altLang="en-US" sz="2400" dirty="0">
                <a:ea typeface="宋体" panose="02010600030101010101" pitchFamily="2" charset="-122"/>
              </a:rPr>
              <a:t>功能类似：</a:t>
            </a:r>
          </a:p>
          <a:p>
            <a:pPr lvl="1" eaLnBrk="1" hangingPunct="1"/>
            <a:r>
              <a:rPr lang="en-US" altLang="zh-CN" sz="2000" dirty="0" err="1">
                <a:ea typeface="楷体_GB2312" pitchFamily="49" charset="-122"/>
              </a:rPr>
              <a:t>StringBuffer</a:t>
            </a:r>
            <a:r>
              <a:rPr lang="zh-CN" altLang="en-US" sz="2000" dirty="0">
                <a:ea typeface="楷体_GB2312" pitchFamily="49" charset="-122"/>
              </a:rPr>
              <a:t>：线程安全的，在 </a:t>
            </a:r>
            <a:r>
              <a:rPr lang="en-US" altLang="zh-CN" sz="2000" dirty="0">
                <a:ea typeface="楷体_GB2312" pitchFamily="49" charset="-122"/>
              </a:rPr>
              <a:t>JDK1.0 </a:t>
            </a:r>
            <a:r>
              <a:rPr lang="zh-CN" altLang="en-US" sz="2000" dirty="0">
                <a:ea typeface="楷体_GB2312" pitchFamily="49" charset="-122"/>
              </a:rPr>
              <a:t>中引入</a:t>
            </a:r>
          </a:p>
          <a:p>
            <a:pPr lvl="1" eaLnBrk="1" hangingPunct="1"/>
            <a:r>
              <a:rPr lang="en-US" altLang="zh-CN" sz="2000" dirty="0" err="1">
                <a:ea typeface="楷体_GB2312" pitchFamily="49" charset="-122"/>
              </a:rPr>
              <a:t>StringBuilder</a:t>
            </a:r>
            <a:r>
              <a:rPr lang="zh-CN" altLang="en-US" sz="2000" dirty="0">
                <a:ea typeface="楷体_GB2312" pitchFamily="49" charset="-122"/>
              </a:rPr>
              <a:t>：不是线程安全的，在 </a:t>
            </a:r>
            <a:r>
              <a:rPr lang="en-US" altLang="zh-CN" sz="2000" dirty="0">
                <a:ea typeface="楷体_GB2312" pitchFamily="49" charset="-122"/>
              </a:rPr>
              <a:t>JDK1.5 </a:t>
            </a:r>
            <a:r>
              <a:rPr lang="zh-CN" altLang="en-US" sz="2000" dirty="0">
                <a:ea typeface="楷体_GB2312" pitchFamily="49" charset="-122"/>
              </a:rPr>
              <a:t>中引入</a:t>
            </a:r>
          </a:p>
          <a:p>
            <a:pPr eaLnBrk="1" hangingPunct="1"/>
            <a:r>
              <a:rPr lang="zh-CN" altLang="en-US" sz="2400" dirty="0">
                <a:ea typeface="宋体" panose="02010600030101010101" pitchFamily="2" charset="-122"/>
              </a:rPr>
              <a:t>在单线程的程序中，</a:t>
            </a:r>
            <a:r>
              <a:rPr lang="en-US" altLang="zh-CN" sz="2400" dirty="0" err="1">
                <a:ea typeface="宋体" panose="02010600030101010101" pitchFamily="2" charset="-122"/>
              </a:rPr>
              <a:t>StringBuffer</a:t>
            </a:r>
            <a:r>
              <a:rPr lang="zh-CN" altLang="en-US" sz="2400" dirty="0">
                <a:ea typeface="宋体" panose="02010600030101010101" pitchFamily="2" charset="-122"/>
              </a:rPr>
              <a:t>和</a:t>
            </a:r>
            <a:r>
              <a:rPr lang="en-US" altLang="zh-CN" sz="2400" dirty="0" err="1">
                <a:ea typeface="宋体" panose="02010600030101010101" pitchFamily="2" charset="-122"/>
              </a:rPr>
              <a:t>StringBuilder</a:t>
            </a:r>
            <a:r>
              <a:rPr lang="zh-CN" altLang="en-US" sz="2400" dirty="0">
                <a:ea typeface="宋体" panose="02010600030101010101" pitchFamily="2" charset="-122"/>
              </a:rPr>
              <a:t>可以互换</a:t>
            </a:r>
          </a:p>
          <a:p>
            <a:pPr eaLnBrk="1" hangingPunct="1"/>
            <a:r>
              <a:rPr lang="zh-CN" altLang="en-US" sz="2400" dirty="0">
                <a:ea typeface="宋体" panose="02010600030101010101" pitchFamily="2" charset="-122"/>
              </a:rPr>
              <a:t>此处只介绍 </a:t>
            </a:r>
            <a:r>
              <a:rPr lang="en-US" altLang="zh-CN" sz="2400" dirty="0" err="1">
                <a:ea typeface="宋体" panose="02010600030101010101" pitchFamily="2" charset="-122"/>
              </a:rPr>
              <a:t>StringBuffer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12576" y="1029592"/>
            <a:ext cx="7543800" cy="719137"/>
          </a:xfrm>
        </p:spPr>
        <p:txBody>
          <a:bodyPr/>
          <a:lstStyle/>
          <a:p>
            <a:pPr eaLnBrk="1" hangingPunct="1"/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</a:t>
            </a:r>
            <a:r>
              <a:rPr lang="en-US" altLang="zh-CN" sz="32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类的对象</a:t>
            </a:r>
            <a:endParaRPr lang="en-US" altLang="zh-CN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917179"/>
            <a:ext cx="8229600" cy="2231901"/>
          </a:xfrm>
        </p:spPr>
        <p:txBody>
          <a:bodyPr/>
          <a:lstStyle/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顾名思义，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封装了一个</a:t>
            </a:r>
            <a:r>
              <a:rPr lang="zh-CN" altLang="en-US" b="0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字符串缓冲区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，可以给字符串缓冲器中添加、插入或追加内容。使用方法和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类似。</a:t>
            </a:r>
          </a:p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构造方法：</a:t>
            </a:r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323528" y="3933056"/>
            <a:ext cx="8374385" cy="255454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创建一个空的 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StringBuffer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，长度为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16</a:t>
            </a:r>
            <a:endParaRPr lang="en-US" altLang="zh-CN" sz="20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创建一个空的 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StringBuffer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，长度为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capacity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capacity);</a:t>
            </a:r>
          </a:p>
          <a:p>
            <a:pPr eaLnBrk="1" hangingPunct="1"/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和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string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参数一样的字符串。初始容量为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16</a:t>
            </a:r>
            <a:r>
              <a:rPr lang="zh-CN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+ 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str.length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()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3200" b="0" kern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4.2.4 </a:t>
            </a:r>
            <a:r>
              <a:rPr lang="en-US" altLang="zh-CN" sz="3200" b="0" kern="0" dirty="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zh-CN" altLang="en-US" sz="3200" b="0" kern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zh-CN" altLang="en-US" sz="3200" kern="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 txBox="1">
            <a:spLocks noChangeArrowheads="1"/>
          </p:cNvSpPr>
          <p:nvPr/>
        </p:nvSpPr>
        <p:spPr bwMode="auto">
          <a:xfrm>
            <a:off x="395536" y="188640"/>
            <a:ext cx="75438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4.2.5 </a:t>
            </a:r>
            <a:r>
              <a:rPr lang="en-US" altLang="zh-CN" sz="3600" kern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zh-CN" altLang="en-US" sz="36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的常用方法</a:t>
            </a:r>
            <a:endParaRPr lang="zh-CN" altLang="en-US" sz="36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41965"/>
              </p:ext>
            </p:extLst>
          </p:nvPr>
        </p:nvGraphicFramePr>
        <p:xfrm>
          <a:off x="251520" y="1268760"/>
          <a:ext cx="8351837" cy="3536952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762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8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5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名称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解释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length ( 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返回字符串对象的长度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capacity( 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返回字符串对象的容量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void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ensureCapacity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size)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设置字符串对象的容量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void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setLength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len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设置字符串对象的长度。如果</a:t>
                      </a:r>
                      <a:r>
                        <a:rPr kumimoji="1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len</a:t>
                      </a:r>
                      <a:r>
                        <a:rPr kumimoji="1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的值小于当前字符串的长度，则尾部被截掉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 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charAt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index)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index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处的字符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55737" y="908720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 txBox="1">
            <a:spLocks noChangeArrowheads="1"/>
          </p:cNvSpPr>
          <p:nvPr/>
        </p:nvSpPr>
        <p:spPr bwMode="auto">
          <a:xfrm>
            <a:off x="323528" y="188640"/>
            <a:ext cx="75438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4.2.5 </a:t>
            </a:r>
            <a:r>
              <a:rPr lang="en-US" altLang="zh-CN" sz="3200" kern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zh-CN" altLang="en-US" sz="320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的常用方法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026933"/>
              </p:ext>
            </p:extLst>
          </p:nvPr>
        </p:nvGraphicFramePr>
        <p:xfrm>
          <a:off x="323528" y="1340768"/>
          <a:ext cx="8568951" cy="521652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436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2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5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名称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解释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void 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setCharAt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index, char c)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index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处的字符设置为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void 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getChars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start, 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end, char [ ] 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charArray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newStart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将接收者对象中从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start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位置到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end-1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位置的字符拷贝到字符数组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charArray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中，从位置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newStart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开始存放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4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StringBuffer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reverse( )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返回将接收者字符串逆转后的字符串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StringBuffer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insert(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index, Object 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ob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ob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插入到</a:t>
                      </a:r>
                      <a:r>
                        <a:rPr kumimoji="1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index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位置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StringBuffer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append(Object 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ob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将</a:t>
                      </a:r>
                      <a:r>
                        <a:rPr kumimoji="1" lang="en-US" altLang="zh-CN" sz="20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ob</a:t>
                      </a:r>
                      <a:r>
                        <a:rPr kumimoji="1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连接到接收者字符串的末尾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8" marR="91438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4.2.5 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b="0" dirty="0">
              <a:ea typeface="宋体" panose="02010600030101010101" pitchFamily="2" charset="-122"/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追加新内容：用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append()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507999" y="1481078"/>
            <a:ext cx="7885113" cy="2862322"/>
          </a:xfrm>
          <a:prstGeom prst="rect">
            <a:avLst/>
          </a:prstGeom>
          <a:solidFill>
            <a:srgbClr val="CCFFCC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append(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boolean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b);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append(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c);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append(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[]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append(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double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d);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append(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float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f);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append(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append(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long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lng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append(Object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append(String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append(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sb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507999" y="4365103"/>
            <a:ext cx="7885114" cy="230074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sb =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sb.append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("Hello");</a:t>
            </a:r>
          </a:p>
          <a:p>
            <a:pPr eaLnBrk="1" hangingPunct="1"/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sb.append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(' ');</a:t>
            </a:r>
          </a:p>
          <a:p>
            <a:pPr eaLnBrk="1" hangingPunct="1"/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sb.append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("World");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 =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sb.toString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支持连写：</a:t>
            </a:r>
          </a:p>
          <a:p>
            <a:pPr eaLnBrk="1" hangingPunct="1"/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sb.append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("Hello").append(' ').append("World");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内容占位符 2"/>
          <p:cNvSpPr>
            <a:spLocks noGrp="1"/>
          </p:cNvSpPr>
          <p:nvPr>
            <p:ph idx="1"/>
          </p:nvPr>
        </p:nvSpPr>
        <p:spPr>
          <a:xfrm>
            <a:off x="250651" y="876896"/>
            <a:ext cx="7705725" cy="865187"/>
          </a:xfrm>
        </p:spPr>
        <p:txBody>
          <a:bodyPr/>
          <a:lstStyle/>
          <a:p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已知一个字符串，返回将字符串中的非字母字符都删除后的字符串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8547" name="Rectangle 4"/>
          <p:cNvSpPr>
            <a:spLocks noChangeArrowheads="1"/>
          </p:cNvSpPr>
          <p:nvPr/>
        </p:nvSpPr>
        <p:spPr bwMode="auto">
          <a:xfrm>
            <a:off x="107504" y="1628800"/>
            <a:ext cx="8281789" cy="534514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3038" lvl="1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public class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StringEditor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{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public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static</a:t>
            </a:r>
            <a:r>
              <a:rPr lang="en-US" altLang="zh-CN" sz="2400" dirty="0">
                <a:latin typeface="Times New Roman" panose="02020603050405020304" pitchFamily="18" charset="0"/>
              </a:rPr>
              <a:t> String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removeNonLetters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(String original)</a:t>
            </a:r>
            <a:r>
              <a:rPr lang="en-US" altLang="zh-CN" sz="2400" dirty="0">
                <a:latin typeface="Times New Roman" panose="02020603050405020304" pitchFamily="18" charset="0"/>
              </a:rPr>
              <a:t> {   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StringBuffer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</a:rPr>
              <a:t>aBuffer</a:t>
            </a:r>
            <a:r>
              <a:rPr lang="en-US" altLang="zh-CN" sz="2400" dirty="0">
                <a:latin typeface="Times New Roman" panose="02020603050405020304" pitchFamily="18" charset="0"/>
              </a:rPr>
              <a:t> = new </a:t>
            </a:r>
            <a:r>
              <a:rPr lang="en-US" altLang="zh-CN" sz="2400" dirty="0" err="1">
                <a:latin typeface="Times New Roman" panose="02020603050405020304" pitchFamily="18" charset="0"/>
              </a:rPr>
              <a:t>StringBuffer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</a:rPr>
              <a:t>original.length</a:t>
            </a:r>
            <a:r>
              <a:rPr lang="en-US" altLang="zh-CN" sz="2400" dirty="0">
                <a:latin typeface="Times New Roman" panose="02020603050405020304" pitchFamily="18" charset="0"/>
              </a:rPr>
              <a:t>());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char </a:t>
            </a:r>
            <a:r>
              <a:rPr lang="en-US" altLang="zh-CN" sz="2400" dirty="0" err="1">
                <a:latin typeface="Times New Roman" panose="02020603050405020304" pitchFamily="18" charset="0"/>
              </a:rPr>
              <a:t>aCharacter</a:t>
            </a:r>
            <a:r>
              <a:rPr lang="en-US" altLang="zh-CN" sz="2400" dirty="0">
                <a:latin typeface="Times New Roman" panose="02020603050405020304" pitchFamily="18" charset="0"/>
              </a:rPr>
              <a:t>;       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for (int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=0;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&lt;</a:t>
            </a:r>
            <a:r>
              <a:rPr lang="en-US" altLang="zh-CN" sz="2400" dirty="0" err="1">
                <a:latin typeface="Times New Roman" panose="02020603050405020304" pitchFamily="18" charset="0"/>
              </a:rPr>
              <a:t>original.length</a:t>
            </a:r>
            <a:r>
              <a:rPr lang="en-US" altLang="zh-CN" sz="2400" dirty="0">
                <a:latin typeface="Times New Roman" panose="02020603050405020304" pitchFamily="18" charset="0"/>
              </a:rPr>
              <a:t>();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++) {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aCharacter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dirty="0" err="1">
                <a:latin typeface="Times New Roman" panose="02020603050405020304" pitchFamily="18" charset="0"/>
              </a:rPr>
              <a:t>original.charAt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);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     if (</a:t>
            </a:r>
            <a:r>
              <a:rPr lang="en-US" altLang="zh-CN" sz="2400" dirty="0" err="1">
                <a:latin typeface="Times New Roman" panose="02020603050405020304" pitchFamily="18" charset="0"/>
              </a:rPr>
              <a:t>Character.isLetter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</a:rPr>
              <a:t>aCharacter</a:t>
            </a:r>
            <a:r>
              <a:rPr lang="en-US" altLang="zh-CN" sz="2400" dirty="0">
                <a:latin typeface="Times New Roman" panose="02020603050405020304" pitchFamily="18" charset="0"/>
              </a:rPr>
              <a:t>))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aBuffer.append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new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</a:rPr>
              <a:t>Character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</a:rPr>
              <a:t>aCharacter</a:t>
            </a:r>
            <a:r>
              <a:rPr lang="en-US" altLang="zh-CN" sz="2400" dirty="0">
                <a:latin typeface="Times New Roman" panose="02020603050405020304" pitchFamily="18" charset="0"/>
              </a:rPr>
              <a:t>));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            // </a:t>
            </a:r>
            <a:r>
              <a:rPr lang="en-US" altLang="zh-CN" sz="24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aBuffer.append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Character.valueOf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aCharacter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</a:rPr>
              <a:t>));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 }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return new String(</a:t>
            </a:r>
            <a:r>
              <a:rPr lang="en-US" altLang="zh-CN" sz="2400" dirty="0" err="1">
                <a:latin typeface="Times New Roman" panose="02020603050405020304" pitchFamily="18" charset="0"/>
              </a:rPr>
              <a:t>aBuffer</a:t>
            </a:r>
            <a:r>
              <a:rPr lang="en-US" altLang="zh-CN" sz="2400" dirty="0">
                <a:latin typeface="Times New Roman" panose="02020603050405020304" pitchFamily="18" charset="0"/>
              </a:rPr>
              <a:t>);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} </a:t>
            </a:r>
          </a:p>
          <a:p>
            <a:pPr marL="173038" lvl="1"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}</a:t>
            </a:r>
            <a:endParaRPr lang="en-US" altLang="zh-CN" sz="2800" dirty="0">
              <a:solidFill>
                <a:srgbClr val="66FFFF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1359" y="157759"/>
            <a:ext cx="7543800" cy="719137"/>
          </a:xfrm>
        </p:spPr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4.2.5 </a:t>
            </a:r>
            <a:r>
              <a:rPr lang="en-US" altLang="zh-CN" sz="32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StringBuffer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类的常用方法</a:t>
            </a:r>
            <a:endParaRPr lang="zh-CN" altLang="en-US" sz="3200" b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内容占位符 2"/>
          <p:cNvSpPr>
            <a:spLocks noGrp="1"/>
          </p:cNvSpPr>
          <p:nvPr>
            <p:ph idx="1"/>
          </p:nvPr>
        </p:nvSpPr>
        <p:spPr>
          <a:xfrm>
            <a:off x="468313" y="3716338"/>
            <a:ext cx="8229600" cy="24495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运行结果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dirty="0" err="1">
                <a:ea typeface="楷体_GB2312" pitchFamily="49" charset="-122"/>
              </a:rPr>
              <a:t>HelloMyNameisMarkIthinkyouaremyclassmate</a:t>
            </a:r>
            <a:endParaRPr lang="en-US" altLang="zh-CN" dirty="0">
              <a:solidFill>
                <a:srgbClr val="66FFFF"/>
              </a:solidFill>
              <a:ea typeface="楷体_GB2312" pitchFamily="49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359569" y="476250"/>
            <a:ext cx="8424862" cy="29527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3038"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public class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StringEditorTester</a:t>
            </a:r>
            <a:r>
              <a:rPr lang="en-US" altLang="zh-CN" sz="2400" dirty="0">
                <a:latin typeface="Times New Roman" panose="02020603050405020304" pitchFamily="18" charset="0"/>
              </a:rPr>
              <a:t> { </a:t>
            </a:r>
          </a:p>
          <a:p>
            <a:pPr marL="173038"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public static void main(String </a:t>
            </a:r>
            <a:r>
              <a:rPr lang="en-US" altLang="zh-CN" sz="2400" dirty="0" err="1">
                <a:latin typeface="Times New Roman" panose="02020603050405020304" pitchFamily="18" charset="0"/>
              </a:rPr>
              <a:t>args</a:t>
            </a:r>
            <a:r>
              <a:rPr lang="en-US" altLang="zh-CN" sz="2400" dirty="0">
                <a:latin typeface="Times New Roman" panose="02020603050405020304" pitchFamily="18" charset="0"/>
              </a:rPr>
              <a:t>[]) { </a:t>
            </a:r>
          </a:p>
          <a:p>
            <a:pPr marL="173038"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 String original = "Hello123, My Name is Mark,       </a:t>
            </a:r>
          </a:p>
          <a:p>
            <a:pPr marL="173038"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     234I think you are my classmate?!!";            </a:t>
            </a:r>
          </a:p>
          <a:p>
            <a:pPr marL="173038"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</a:p>
          <a:p>
            <a:pPr marL="173038"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StringEditor.removeNonLetters</a:t>
            </a:r>
            <a:r>
              <a:rPr lang="en-US" altLang="zh-CN" sz="2400" dirty="0">
                <a:latin typeface="Times New Roman" panose="02020603050405020304" pitchFamily="18" charset="0"/>
              </a:rPr>
              <a:t>(original)); </a:t>
            </a:r>
          </a:p>
          <a:p>
            <a:pPr marL="173038"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} </a:t>
            </a:r>
          </a:p>
          <a:p>
            <a:pPr marL="173038"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2777" y="116632"/>
            <a:ext cx="8027615" cy="719137"/>
          </a:xfrm>
        </p:spPr>
        <p:txBody>
          <a:bodyPr/>
          <a:lstStyle/>
          <a:p>
            <a:pPr eaLnBrk="1" hangingPunct="1"/>
            <a:r>
              <a:rPr lang="zh-CN" altLang="en-US" sz="28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忽略既非字母又非数字的字符，判断是否为回文串</a:t>
            </a:r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179512" y="949998"/>
            <a:ext cx="8250237" cy="5867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PalindromeIgnoreNonAlphanumeric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public static void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String s =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JOptionPane.showInputDialog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("Enter a string:");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String output = "Ignoring non-alphanumeric characters, \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nis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"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+ s + " a palindrome? " +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isPalindrome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(s);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JOptionPane.showMessageDialog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 output);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</a:t>
            </a:r>
            <a:r>
              <a:rPr lang="en-US" altLang="zh-CN" sz="1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boolean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isPalindrome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s)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String s1 = filter(s);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String s2 = reverse(s1);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return s2.equals(s1);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filter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s)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strBuf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s.length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Character.isLetterOrDigit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s.charAt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)))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strBuf.append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s.charAt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strBuf.toString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</a:t>
            </a:r>
            <a:r>
              <a:rPr lang="en-US" altLang="zh-CN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reverse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s) {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strBuf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(s);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strBuf.reverse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strBuf.toString</a:t>
            </a:r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4">
            <a:extLst>
              <a:ext uri="{FF2B5EF4-FFF2-40B4-BE49-F238E27FC236}">
                <a16:creationId xmlns:a16="http://schemas.microsoft.com/office/drawing/2014/main" id="{05BB030D-7F75-49A4-89F6-1F2C0611C297}"/>
              </a:ext>
            </a:extLst>
          </p:cNvPr>
          <p:cNvSpPr txBox="1">
            <a:spLocks/>
          </p:cNvSpPr>
          <p:nvPr/>
        </p:nvSpPr>
        <p:spPr>
          <a:xfrm>
            <a:off x="251520" y="1319212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拼接字符串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需求：定义一个方法，把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数组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中的数据按照指定的格式拼接成一个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字符串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  调用该方法，并在控制台输出结果。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  例如：数组为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int[]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= {1,2,3};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执行方法后的输出结果为：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[1, 2, 3]</a:t>
            </a:r>
          </a:p>
        </p:txBody>
      </p:sp>
    </p:spTree>
    <p:extLst>
      <p:ext uri="{BB962C8B-B14F-4D97-AF65-F5344CB8AC3E}">
        <p14:creationId xmlns:p14="http://schemas.microsoft.com/office/powerpoint/2010/main" val="13910841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EC651EE-C045-44D4-91F6-A6B5C93CAC49}"/>
              </a:ext>
            </a:extLst>
          </p:cNvPr>
          <p:cNvSpPr txBox="1"/>
          <p:nvPr/>
        </p:nvSpPr>
        <p:spPr>
          <a:xfrm>
            <a:off x="432449" y="1124743"/>
            <a:ext cx="7543800" cy="3719736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String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Buffer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Test2 {</a:t>
            </a: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int[]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{1, 2, 3};</a:t>
            </a:r>
          </a:p>
          <a:p>
            <a:pPr lvl="1"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result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arrayToString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(result);</a:t>
            </a:r>
          </a:p>
          <a:p>
            <a:pPr lvl="1"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lvl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9996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EC651EE-C045-44D4-91F6-A6B5C93CAC49}"/>
              </a:ext>
            </a:extLst>
          </p:cNvPr>
          <p:cNvSpPr txBox="1"/>
          <p:nvPr/>
        </p:nvSpPr>
        <p:spPr>
          <a:xfrm>
            <a:off x="468313" y="954959"/>
            <a:ext cx="7543800" cy="5714128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public static 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arrayToString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1.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创建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Buffer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准备进行拼接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Buffer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sb = new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Buffer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("[");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2.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遍历数组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获取内部元素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arr.length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- 1;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// 3.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将获取到的元素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拼接到字符串缓冲区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sb.append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]).append(", ");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4.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特殊处理最后一个元素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sb.append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arr.length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- 1]).append("]");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sb.toString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46315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4.2.5 </a:t>
            </a:r>
            <a:r>
              <a:rPr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StringJoiner</a:t>
            </a:r>
            <a:r>
              <a:rPr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6"/>
            <a:ext cx="8229600" cy="172784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StringJoiner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</a:p>
          <a:p>
            <a:pPr lvl="1">
              <a:lnSpc>
                <a:spcPct val="120000"/>
              </a:lnSpc>
            </a:pP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StringJoiner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 8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引入的用于拼接字符串的工具类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可以高效、方便的拼接字符串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StringBuilder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实现字符串操作的，非线程安全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EC199E5-E7CF-4FF8-9E09-2BF1B0A54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075963"/>
              </p:ext>
            </p:extLst>
          </p:nvPr>
        </p:nvGraphicFramePr>
        <p:xfrm>
          <a:off x="832490" y="3120461"/>
          <a:ext cx="7179623" cy="1892716"/>
        </p:xfrm>
        <a:graphic>
          <a:graphicData uri="http://schemas.openxmlformats.org/drawingml/2006/table">
            <a:tbl>
              <a:tblPr/>
              <a:tblGrid>
                <a:gridCol w="3310588">
                  <a:extLst>
                    <a:ext uri="{9D8B030D-6E8A-4147-A177-3AD203B41FA5}">
                      <a16:colId xmlns:a16="http://schemas.microsoft.com/office/drawing/2014/main" val="1119929833"/>
                    </a:ext>
                  </a:extLst>
                </a:gridCol>
                <a:gridCol w="3869035">
                  <a:extLst>
                    <a:ext uri="{9D8B030D-6E8A-4147-A177-3AD203B41FA5}">
                      <a16:colId xmlns:a16="http://schemas.microsoft.com/office/drawing/2014/main" val="3467501736"/>
                    </a:ext>
                  </a:extLst>
                </a:gridCol>
              </a:tblGrid>
              <a:tr h="520394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13321"/>
                  </a:ext>
                </a:extLst>
              </a:tr>
              <a:tr h="686161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public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StringJoiner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(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间隔符号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创建一个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StringJoiner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对象，指定拼接时的间隔符号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402376"/>
                  </a:ext>
                </a:extLst>
              </a:tr>
              <a:tr h="686161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public </a:t>
                      </a: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StringJoiner(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间隔符号</a:t>
                      </a: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,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开始符号</a:t>
                      </a: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,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结束符号</a:t>
                      </a: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创建一个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StringJoiner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对象，指定拼接时的间隔符号、开始符号、结束符号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897836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0AFDE80F-B402-4FE6-8BF8-E78A27C01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75" y="4921331"/>
            <a:ext cx="7390637" cy="172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826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4.2.5 </a:t>
            </a:r>
            <a:r>
              <a:rPr lang="en-US" altLang="zh-CN" sz="3200" b="0" dirty="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StringJoiner</a:t>
            </a:r>
            <a:r>
              <a:rPr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6"/>
            <a:ext cx="8229600" cy="71913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StringJoiner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的成员方法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EC199E5-E7CF-4FF8-9E09-2BF1B0A54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701365"/>
              </p:ext>
            </p:extLst>
          </p:nvPr>
        </p:nvGraphicFramePr>
        <p:xfrm>
          <a:off x="215562" y="1909789"/>
          <a:ext cx="7956376" cy="2733333"/>
        </p:xfrm>
        <a:graphic>
          <a:graphicData uri="http://schemas.openxmlformats.org/drawingml/2006/table">
            <a:tbl>
              <a:tblPr/>
              <a:tblGrid>
                <a:gridCol w="3927809">
                  <a:extLst>
                    <a:ext uri="{9D8B030D-6E8A-4147-A177-3AD203B41FA5}">
                      <a16:colId xmlns:a16="http://schemas.microsoft.com/office/drawing/2014/main" val="1119929833"/>
                    </a:ext>
                  </a:extLst>
                </a:gridCol>
                <a:gridCol w="4028567">
                  <a:extLst>
                    <a:ext uri="{9D8B030D-6E8A-4147-A177-3AD203B41FA5}">
                      <a16:colId xmlns:a16="http://schemas.microsoft.com/office/drawing/2014/main" val="3467501736"/>
                    </a:ext>
                  </a:extLst>
                </a:gridCol>
              </a:tblGrid>
              <a:tr h="54794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13321"/>
                  </a:ext>
                </a:extLst>
              </a:tr>
              <a:tr h="84738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public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StringJoiner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 add(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CharSequence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newElement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urier New" panose="02070309020205020404" pitchFamily="49" charset="0"/>
                        <a:ea typeface="Alibaba PuHuiTi R" pitchFamily="18" charset="-122"/>
                        <a:cs typeface="Courier New" panose="020703090202050204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将给定的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CharSequence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值的副本作为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StringJoiner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值的下一个元素添加。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添加数据，并返回对象本身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402376"/>
                  </a:ext>
                </a:extLst>
              </a:tr>
              <a:tr h="84738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public int length()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urier New" panose="02070309020205020404" pitchFamily="49" charset="0"/>
                        <a:ea typeface="Alibaba PuHuiTi R" pitchFamily="18" charset="-122"/>
                        <a:cs typeface="Courier New" panose="020703090202050204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返回长度（字符出现的个数）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897836"/>
                  </a:ext>
                </a:extLst>
              </a:tr>
              <a:tr h="4906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Public String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toString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  <a:ea typeface="Alibaba PuHuiTi R" pitchFamily="18" charset="-122"/>
                          <a:cs typeface="Courier New" panose="02070309020205020404" pitchFamily="49" charset="0"/>
                        </a:rPr>
                        <a:t>()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urier New" panose="02070309020205020404" pitchFamily="49" charset="0"/>
                        <a:ea typeface="Alibaba PuHuiTi R" pitchFamily="18" charset="-122"/>
                        <a:cs typeface="Courier New" panose="020703090202050204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返回一个字符串（拼接之后的结果）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913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1057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4.2.6 main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1124545"/>
            <a:ext cx="8675687" cy="2075853"/>
          </a:xfrm>
        </p:spPr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main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方法只是一个普通方法</a:t>
            </a:r>
          </a:p>
          <a:p>
            <a:pPr lvl="1" eaLnBrk="1" hangingPunct="1"/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main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方法与带有参数的普通方法一样。可以通过传递实参来调用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main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例如，在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类中的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main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方法被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中的方法调用，如下所示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827584" y="2924944"/>
            <a:ext cx="7979022" cy="178244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A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void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String[] strs = {"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BeiJing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", "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ShangHai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", "Xi'an"};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B.main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(strs);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1694017" y="4636231"/>
            <a:ext cx="6348238" cy="2006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B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void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=0;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args.length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++) {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]);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1622" name="Line 6"/>
          <p:cNvSpPr>
            <a:spLocks noChangeShapeType="1"/>
          </p:cNvSpPr>
          <p:nvPr/>
        </p:nvSpPr>
        <p:spPr bwMode="auto">
          <a:xfrm>
            <a:off x="2056780" y="4077072"/>
            <a:ext cx="1435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23" name="Line 7"/>
          <p:cNvSpPr>
            <a:spLocks noChangeShapeType="1"/>
          </p:cNvSpPr>
          <p:nvPr/>
        </p:nvSpPr>
        <p:spPr bwMode="auto">
          <a:xfrm>
            <a:off x="3498428" y="5445224"/>
            <a:ext cx="40259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11624" name="Line 8"/>
          <p:cNvSpPr>
            <a:spLocks noChangeShapeType="1"/>
          </p:cNvSpPr>
          <p:nvPr/>
        </p:nvSpPr>
        <p:spPr bwMode="auto">
          <a:xfrm>
            <a:off x="3130128" y="4115271"/>
            <a:ext cx="2161952" cy="104192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4.2.6 main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5"/>
            <a:ext cx="8229600" cy="1223789"/>
          </a:xfrm>
        </p:spPr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main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方法又不是一个普通的方法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它是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执行程序的入口点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681B2055-82E5-48CA-B485-AD87AB7C7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250990"/>
            <a:ext cx="6732240" cy="339827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45ABC08-B975-4842-8EBC-042B3C2B04FD}"/>
              </a:ext>
            </a:extLst>
          </p:cNvPr>
          <p:cNvSpPr txBox="1"/>
          <p:nvPr/>
        </p:nvSpPr>
        <p:spPr>
          <a:xfrm>
            <a:off x="0" y="5765283"/>
            <a:ext cx="9144000" cy="400110"/>
          </a:xfrm>
          <a:prstGeom prst="rect">
            <a:avLst/>
          </a:prstGeom>
          <a:solidFill>
            <a:srgbClr val="FFE181"/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JVM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启动时，从磁盘中加载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class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文件，然后进行链接和初始化，调用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main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方法。</a:t>
            </a:r>
          </a:p>
        </p:txBody>
      </p:sp>
    </p:spTree>
    <p:extLst>
      <p:ext uri="{BB962C8B-B14F-4D97-AF65-F5344CB8AC3E}">
        <p14:creationId xmlns:p14="http://schemas.microsoft.com/office/powerpoint/2010/main" val="25442892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4.2.6 main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5"/>
            <a:ext cx="8229600" cy="1655837"/>
          </a:xfrm>
        </p:spPr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main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方法又不是一个普通的方法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它是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执行程序的入口点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</a:t>
            </a:r>
            <a:r>
              <a:rPr lang="en-US" altLang="zh-CN" b="1" dirty="0">
                <a:latin typeface="Courier New" panose="02070309020205020404" pitchFamily="49" charset="0"/>
              </a:rPr>
              <a:t>static void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main(String[]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70E6DB55-1E0B-4979-BE70-A6A2D9601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28" y="2780928"/>
            <a:ext cx="8064896" cy="328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7357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4.2.6 main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5"/>
            <a:ext cx="8229600" cy="1655837"/>
          </a:xfrm>
        </p:spPr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main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方法又不是一个普通的方法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它是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执行程序的入口点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b="1" dirty="0">
                <a:latin typeface="Courier New" panose="02070309020205020404" pitchFamily="49" charset="0"/>
              </a:rPr>
              <a:t>public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 static </a:t>
            </a:r>
            <a:r>
              <a:rPr lang="en-US" altLang="zh-CN" b="1" dirty="0">
                <a:latin typeface="Courier New" panose="02070309020205020404" pitchFamily="49" charset="0"/>
              </a:rPr>
              <a:t>void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main(String[]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174675C1-287C-4A94-8FB3-4E14A52BC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977" y="2619965"/>
            <a:ext cx="7020272" cy="383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838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4.2.6 main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5"/>
            <a:ext cx="8229600" cy="1655837"/>
          </a:xfrm>
        </p:spPr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main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方法又不是一个普通的方法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它是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执行程序的入口点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b="1" dirty="0">
                <a:latin typeface="Courier New" panose="02070309020205020404" pitchFamily="49" charset="0"/>
              </a:rPr>
              <a:t>public static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void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main(String[]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EE42C7F-B055-445D-A485-68C4CEFA2B93}"/>
              </a:ext>
            </a:extLst>
          </p:cNvPr>
          <p:cNvSpPr txBox="1"/>
          <p:nvPr/>
        </p:nvSpPr>
        <p:spPr>
          <a:xfrm>
            <a:off x="383265" y="2723978"/>
            <a:ext cx="8280920" cy="2238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void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C/C++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main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函数，都有一个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的返回值。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JVM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退出程序的情况只有两种：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所有的非守护线程全部结束，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JVM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会自动退出；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非守护线程代码调用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System.exit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(0), JVM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会强制退出；</a:t>
            </a:r>
          </a:p>
        </p:txBody>
      </p:sp>
    </p:spTree>
    <p:extLst>
      <p:ext uri="{BB962C8B-B14F-4D97-AF65-F5344CB8AC3E}">
        <p14:creationId xmlns:p14="http://schemas.microsoft.com/office/powerpoint/2010/main" val="31916272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4.2.6 main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981075"/>
            <a:ext cx="8229600" cy="1655837"/>
          </a:xfrm>
        </p:spPr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main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方法又不是一个普通的方法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它是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执行程序的入口点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b="1" dirty="0">
                <a:latin typeface="Courier New" panose="02070309020205020404" pitchFamily="49" charset="0"/>
              </a:rPr>
              <a:t>public static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void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main(String[] </a:t>
            </a:r>
            <a:r>
              <a:rPr lang="en-US" altLang="zh-CN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EA632ACA-33A3-42D5-AB90-2120EBB94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636912"/>
            <a:ext cx="7308304" cy="39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923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4.2.6 main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main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方法又不是一个普通的方法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它是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执行程序的入口点</a:t>
            </a:r>
          </a:p>
          <a:p>
            <a:pPr lvl="1" eaLnBrk="1" hangingPunct="1"/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String[] 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args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参数，又称为“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命令行参数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</a:p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命令行参数</a:t>
            </a: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一般的格式：</a:t>
            </a: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main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方法中，是从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args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[0], 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args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[1], ..., 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args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[n]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中得到参数，它们分别对应命令行中的 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arg0, arg1, ..., 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argn</a:t>
            </a:r>
            <a:endParaRPr lang="zh-CN" alt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2644" name="Rectangle 6"/>
          <p:cNvSpPr>
            <a:spLocks noChangeArrowheads="1"/>
          </p:cNvSpPr>
          <p:nvPr/>
        </p:nvSpPr>
        <p:spPr bwMode="auto">
          <a:xfrm>
            <a:off x="1244600" y="3530600"/>
            <a:ext cx="6362700" cy="1117600"/>
          </a:xfrm>
          <a:prstGeom prst="rect">
            <a:avLst/>
          </a:prstGeom>
          <a:solidFill>
            <a:srgbClr val="CCFFCC">
              <a:alpha val="3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12645" name="Text Box 7"/>
          <p:cNvSpPr txBox="1">
            <a:spLocks noChangeArrowheads="1"/>
          </p:cNvSpPr>
          <p:nvPr/>
        </p:nvSpPr>
        <p:spPr bwMode="auto">
          <a:xfrm>
            <a:off x="1343025" y="3587750"/>
            <a:ext cx="6191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java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ApplicationName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 arg0 arg1 arg2 ...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argn</a:t>
            </a:r>
            <a:endParaRPr lang="en-US" altLang="zh-CN" b="1" dirty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112646" name="Line 8"/>
          <p:cNvSpPr>
            <a:spLocks noChangeShapeType="1"/>
          </p:cNvSpPr>
          <p:nvPr/>
        </p:nvSpPr>
        <p:spPr bwMode="auto">
          <a:xfrm>
            <a:off x="1409700" y="3962400"/>
            <a:ext cx="5969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7" name="Line 9"/>
          <p:cNvSpPr>
            <a:spLocks noChangeShapeType="1"/>
          </p:cNvSpPr>
          <p:nvPr/>
        </p:nvSpPr>
        <p:spPr bwMode="auto">
          <a:xfrm>
            <a:off x="2146300" y="3962400"/>
            <a:ext cx="20193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8" name="Line 10"/>
          <p:cNvSpPr>
            <a:spLocks noChangeShapeType="1"/>
          </p:cNvSpPr>
          <p:nvPr/>
        </p:nvSpPr>
        <p:spPr bwMode="auto">
          <a:xfrm>
            <a:off x="4343400" y="3962400"/>
            <a:ext cx="3086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9" name="Text Box 11"/>
          <p:cNvSpPr txBox="1">
            <a:spLocks noChangeArrowheads="1"/>
          </p:cNvSpPr>
          <p:nvPr/>
        </p:nvSpPr>
        <p:spPr bwMode="auto">
          <a:xfrm>
            <a:off x="1318573" y="3933056"/>
            <a:ext cx="8771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</a:p>
          <a:p>
            <a:pPr algn="ctr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解释器</a:t>
            </a:r>
          </a:p>
        </p:txBody>
      </p:sp>
      <p:sp>
        <p:nvSpPr>
          <p:cNvPr id="112650" name="Text Box 12"/>
          <p:cNvSpPr txBox="1">
            <a:spLocks noChangeArrowheads="1"/>
          </p:cNvSpPr>
          <p:nvPr/>
        </p:nvSpPr>
        <p:spPr bwMode="auto">
          <a:xfrm>
            <a:off x="2456121" y="4040128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程序名称</a:t>
            </a:r>
          </a:p>
        </p:txBody>
      </p:sp>
      <p:sp>
        <p:nvSpPr>
          <p:cNvPr id="112651" name="Text Box 13"/>
          <p:cNvSpPr txBox="1">
            <a:spLocks noChangeArrowheads="1"/>
          </p:cNvSpPr>
          <p:nvPr/>
        </p:nvSpPr>
        <p:spPr bwMode="auto">
          <a:xfrm>
            <a:off x="5121156" y="4037002"/>
            <a:ext cx="1467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命令行参数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举例：</a:t>
            </a: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</p:txBody>
      </p:sp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4.2.6 main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3668" name="Rectangle 14"/>
          <p:cNvSpPr>
            <a:spLocks noChangeArrowheads="1"/>
          </p:cNvSpPr>
          <p:nvPr/>
        </p:nvSpPr>
        <p:spPr bwMode="auto">
          <a:xfrm>
            <a:off x="468312" y="1628800"/>
            <a:ext cx="7956375" cy="233818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class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ArgsTest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public static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viod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new String[]{"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BeiJing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", "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ShangHai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", "Xi'an"};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=0;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args.length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]);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3669" name="Text Box 15"/>
          <p:cNvSpPr txBox="1">
            <a:spLocks noChangeArrowheads="1"/>
          </p:cNvSpPr>
          <p:nvPr/>
        </p:nvSpPr>
        <p:spPr bwMode="auto">
          <a:xfrm>
            <a:off x="1185917" y="3856980"/>
            <a:ext cx="576234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执行：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 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ArgsTest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Beijing Shanghai Xian</a:t>
            </a:r>
          </a:p>
          <a:p>
            <a:pPr eaLnBrk="1" hangingPunct="1"/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输出：</a:t>
            </a: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Beijing</a:t>
            </a: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Shanghai</a:t>
            </a: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Xian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字符串原理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42178B3D-21A6-4C32-8783-AE7F4DCAA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8229600" cy="165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0" kern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底层原理</a:t>
            </a:r>
            <a:r>
              <a:rPr lang="en-US" altLang="zh-CN" b="0" kern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0" kern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：字符串存储的内存原理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直接赋值会复用字符串常量池中的</a:t>
            </a:r>
            <a:endParaRPr lang="en-US" altLang="zh-CN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new </a:t>
            </a: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出来不会复用，而是开辟一个新的空间</a:t>
            </a:r>
            <a:endParaRPr lang="en-US" altLang="zh-CN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lvl="1" indent="-342900" eaLnBrk="1" hangingPunct="1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800" b="0" kern="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底层原理</a:t>
            </a:r>
            <a:r>
              <a:rPr lang="en-US" altLang="zh-CN" sz="2800" b="0" kern="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0" kern="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0" kern="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== </a:t>
            </a:r>
            <a:r>
              <a:rPr lang="zh-CN" altLang="en-US" sz="2800" b="0" kern="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比较的到底是什么</a:t>
            </a:r>
            <a:endParaRPr lang="en-US" altLang="zh-CN" sz="2800" b="0" kern="0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基本数据类型比较数据值</a:t>
            </a:r>
            <a:endParaRPr lang="en-US" altLang="zh-CN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引用数据类型比较地址值</a:t>
            </a:r>
            <a:endParaRPr lang="en-US" altLang="zh-CN" sz="2800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lvl="1" indent="-342900" eaLnBrk="1" hangingPunct="1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800" b="0" kern="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底层原理</a:t>
            </a:r>
            <a:r>
              <a:rPr lang="en-US" altLang="zh-CN" sz="2800" b="0" kern="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0" kern="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：字符串拼接的底层原理</a:t>
            </a:r>
            <a:endParaRPr lang="en-US" altLang="zh-CN" sz="2800" b="0" kern="0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50890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字符串拼接的底层原理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6856BE37-854F-4D6B-9977-DCFECA7C9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6" y="1772816"/>
            <a:ext cx="9120554" cy="289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0108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字符串拼接的底层原理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8ABAF66-9CD5-4405-8F02-7112121F1EF2}"/>
              </a:ext>
            </a:extLst>
          </p:cNvPr>
          <p:cNvSpPr txBox="1"/>
          <p:nvPr/>
        </p:nvSpPr>
        <p:spPr>
          <a:xfrm>
            <a:off x="4134142" y="2103567"/>
            <a:ext cx="4824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拼接的时候没有变量，都是字符串。</a:t>
            </a:r>
            <a:endParaRPr lang="en-US" altLang="zh-CN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触发字符串的优化机制。</a:t>
            </a:r>
            <a:endParaRPr lang="en-US" altLang="zh-CN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kern="0" dirty="0">
                <a:ea typeface="黑体" panose="02010609060101010101" pitchFamily="49" charset="-122"/>
                <a:cs typeface="Times New Roman" panose="02020603050405020304" pitchFamily="18" charset="0"/>
              </a:rPr>
              <a:t>在编译的时候就已经是最终结果了。</a:t>
            </a:r>
            <a:endParaRPr lang="en-US" altLang="zh-CN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883FCB-A604-49F6-9DC9-616F16419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9188"/>
            <a:ext cx="4341920" cy="38884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6C7F264-A170-4EE4-992C-B93EBAEC19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213" y="3591275"/>
            <a:ext cx="4510686" cy="183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3523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字符串拼接的底层原理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3F6C490-75B5-4EF9-BCB8-FF4F5CD4B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44824"/>
            <a:ext cx="8166225" cy="36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60922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字符串拼接的底层原理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E2B150C0-602A-49B5-B2C3-3580B4F11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659703"/>
            <a:ext cx="8338155" cy="37444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A311DA6-FA86-49C8-9739-9FB23E20C80A}"/>
              </a:ext>
            </a:extLst>
          </p:cNvPr>
          <p:cNvSpPr txBox="1"/>
          <p:nvPr/>
        </p:nvSpPr>
        <p:spPr>
          <a:xfrm>
            <a:off x="0" y="1223049"/>
            <a:ext cx="4824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zh-CN" altLang="en-US" sz="2400" b="1" kern="0" dirty="0">
                <a:ea typeface="黑体" panose="02010609060101010101" pitchFamily="49" charset="-122"/>
                <a:cs typeface="Times New Roman" panose="02020603050405020304" pitchFamily="18" charset="0"/>
              </a:rPr>
              <a:t>一个加号</a:t>
            </a:r>
            <a:r>
              <a:rPr lang="en-US" altLang="zh-CN" sz="2400" b="1" kern="0" dirty="0"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400" b="1" kern="0" dirty="0">
                <a:ea typeface="黑体" panose="02010609060101010101" pitchFamily="49" charset="-122"/>
                <a:cs typeface="Times New Roman" panose="02020603050405020304" pitchFamily="18" charset="0"/>
              </a:rPr>
              <a:t>，堆内存中两个对象</a:t>
            </a:r>
            <a:endParaRPr lang="en-US" altLang="zh-CN" sz="2400" b="1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25954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字符串拼接的底层原理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71B000DF-DF30-426F-9A33-DC87733ED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844824"/>
            <a:ext cx="6294622" cy="20882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6E1F2DA-D0CD-4809-99C1-C0EAE39C72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08" y="4137065"/>
            <a:ext cx="3974351" cy="180019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7EABC0B-DEFD-4108-8E29-A22A28718F34}"/>
              </a:ext>
            </a:extLst>
          </p:cNvPr>
          <p:cNvSpPr txBox="1"/>
          <p:nvPr/>
        </p:nvSpPr>
        <p:spPr>
          <a:xfrm>
            <a:off x="0" y="1223049"/>
            <a:ext cx="4824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zh-CN" sz="2400" b="1" kern="0" dirty="0">
                <a:ea typeface="黑体" panose="02010609060101010101" pitchFamily="49" charset="-122"/>
                <a:cs typeface="Times New Roman" panose="02020603050405020304" pitchFamily="18" charset="0"/>
              </a:rPr>
              <a:t>JDK8</a:t>
            </a:r>
            <a:r>
              <a:rPr lang="zh-CN" altLang="en-US" sz="2400" b="1" kern="0" dirty="0">
                <a:ea typeface="黑体" panose="02010609060101010101" pitchFamily="49" charset="-122"/>
                <a:cs typeface="Times New Roman" panose="02020603050405020304" pitchFamily="18" charset="0"/>
              </a:rPr>
              <a:t>的字符串拼接原理</a:t>
            </a:r>
            <a:endParaRPr lang="en-US" altLang="zh-CN" sz="2400" b="1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9344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常见面试题型</a:t>
            </a:r>
            <a:endParaRPr lang="en-US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  <a:p>
            <a:pPr lvl="1" eaLnBrk="1" hangingPunct="1"/>
            <a:endParaRPr lang="zh-CN" altLang="en-US" dirty="0">
              <a:ea typeface="楷体_GB2312" pitchFamily="49" charset="-122"/>
            </a:endParaRPr>
          </a:p>
        </p:txBody>
      </p:sp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思考题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4">
            <a:extLst>
              <a:ext uri="{FF2B5EF4-FFF2-40B4-BE49-F238E27FC236}">
                <a16:creationId xmlns:a16="http://schemas.microsoft.com/office/drawing/2014/main" id="{0CEFE769-3913-4E00-B1F6-7EDAF8540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37" y="1556792"/>
            <a:ext cx="7956375" cy="504028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testString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public static void main(String[]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str1 = "Hello";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str2 = "World";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str3 = “HelloWorld”;</a:t>
            </a:r>
          </a:p>
          <a:p>
            <a:pPr lvl="1"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str4 = str1.concat(str2); 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str5 = str1 + "World";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String str6 = "Hello“+ "World";</a:t>
            </a:r>
          </a:p>
          <a:p>
            <a:pPr lvl="1"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(str3==str4); </a:t>
            </a:r>
          </a:p>
          <a:p>
            <a:pPr lvl="1"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(str3==str5); </a:t>
            </a:r>
          </a:p>
          <a:p>
            <a:pPr lvl="1"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(str4==str5); </a:t>
            </a:r>
          </a:p>
          <a:p>
            <a:pPr lvl="1" eaLnBrk="1" hangingPunct="1"/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(str3==str6); 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191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4">
            <a:extLst>
              <a:ext uri="{FF2B5EF4-FFF2-40B4-BE49-F238E27FC236}">
                <a16:creationId xmlns:a16="http://schemas.microsoft.com/office/drawing/2014/main" id="{05BB030D-7F75-49A4-89F6-1F2C0611C297}"/>
              </a:ext>
            </a:extLst>
          </p:cNvPr>
          <p:cNvSpPr txBox="1">
            <a:spLocks/>
          </p:cNvSpPr>
          <p:nvPr/>
        </p:nvSpPr>
        <p:spPr>
          <a:xfrm>
            <a:off x="251520" y="1319212"/>
            <a:ext cx="921423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0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用户登录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需求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模拟用户登录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一共三次机会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登录之后要给出相应的提示</a:t>
            </a:r>
          </a:p>
        </p:txBody>
      </p:sp>
    </p:spTree>
    <p:extLst>
      <p:ext uri="{BB962C8B-B14F-4D97-AF65-F5344CB8AC3E}">
        <p14:creationId xmlns:p14="http://schemas.microsoft.com/office/powerpoint/2010/main" val="41712152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EC651EE-C045-44D4-91F6-A6B5C93CAC49}"/>
              </a:ext>
            </a:extLst>
          </p:cNvPr>
          <p:cNvSpPr txBox="1"/>
          <p:nvPr/>
        </p:nvSpPr>
        <p:spPr>
          <a:xfrm>
            <a:off x="432449" y="1124743"/>
            <a:ext cx="7543800" cy="504933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StringDemo4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//1.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定义两个变量记录正确的用户名和密码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rightUsername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zhangsan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rightPassword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"123456";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Scanner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Scanner(System.in);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//2.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键盘录入用户名和密码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3;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{// 0 1 2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请输入用户名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String username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sc.next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请输入密码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String password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sc.next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55202214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EC651EE-C045-44D4-91F6-A6B5C93CAC49}"/>
              </a:ext>
            </a:extLst>
          </p:cNvPr>
          <p:cNvSpPr txBox="1"/>
          <p:nvPr/>
        </p:nvSpPr>
        <p:spPr>
          <a:xfrm>
            <a:off x="611560" y="908050"/>
            <a:ext cx="7092280" cy="6726457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//3.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比较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username.equals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rightUsername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password.equals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rightPassword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用户登录成功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break;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 else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2){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最后一次机会也输入错误，此时要提示账号被锁定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账号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 + username + 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被锁定，请联系客服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:XXX-XXXXX");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}else{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用户登录失败，用户名或密码有误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您还剩下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 + (2 -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+ 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次机会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");//2 1 0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531374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EC651EE-C045-44D4-91F6-A6B5C93CAC49}"/>
              </a:ext>
            </a:extLst>
          </p:cNvPr>
          <p:cNvSpPr txBox="1"/>
          <p:nvPr/>
        </p:nvSpPr>
        <p:spPr>
          <a:xfrm>
            <a:off x="611560" y="908050"/>
            <a:ext cx="7092280" cy="6726457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//3.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比较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username.equals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rightUsername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password.equals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rightPassword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用户登录成功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break;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 else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2){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最后一次机会也输入错误，此时要提示账号被锁定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账号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 + username + 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被锁定，请联系客服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:XXX-XXXXX");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}else{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用户登录失败，用户名或密码有误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您还剩下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 + (2 -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+ 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次机会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");//2 1 0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141344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-2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4">
            <a:extLst>
              <a:ext uri="{FF2B5EF4-FFF2-40B4-BE49-F238E27FC236}">
                <a16:creationId xmlns:a16="http://schemas.microsoft.com/office/drawing/2014/main" id="{05BB030D-7F75-49A4-89F6-1F2C0611C297}"/>
              </a:ext>
            </a:extLst>
          </p:cNvPr>
          <p:cNvSpPr txBox="1">
            <a:spLocks/>
          </p:cNvSpPr>
          <p:nvPr/>
        </p:nvSpPr>
        <p:spPr>
          <a:xfrm>
            <a:off x="0" y="1052736"/>
            <a:ext cx="9214230" cy="553878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罗马数字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键盘录入一个字符串，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要求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：长度为小于等于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要求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：只能是数字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将内容变成罗马数字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下面是阿拉伯数字跟罗马数字的对比关系：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Ⅰ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Ⅴ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Ⅵ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Ⅶ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Ⅷ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Ⅸ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注意点：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罗马数字里面是没有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如果键盘录入的数字包含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，可以变成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""(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长度为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的字符串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265942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-2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EC651EE-C045-44D4-91F6-A6B5C93CAC49}"/>
              </a:ext>
            </a:extLst>
          </p:cNvPr>
          <p:cNvSpPr txBox="1"/>
          <p:nvPr/>
        </p:nvSpPr>
        <p:spPr>
          <a:xfrm>
            <a:off x="432449" y="1124743"/>
            <a:ext cx="7543800" cy="2737673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Test1Case1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//1.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键盘录入一个字符串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书写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的代码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Scanner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Scanner(System.in);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str;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121552335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-2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6A23F2B-EB43-4FF5-B013-DC34B0E66307}"/>
              </a:ext>
            </a:extLst>
          </p:cNvPr>
          <p:cNvSpPr txBox="1"/>
          <p:nvPr/>
        </p:nvSpPr>
        <p:spPr>
          <a:xfrm>
            <a:off x="432449" y="1124743"/>
            <a:ext cx="7543800" cy="473206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请输入一个字符串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str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sc.next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//2.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校验字符串是否满足规则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flag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(flag)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break;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 else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当前的字符串不符合规则，请重新输入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continue;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337804654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-2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3ED4A50-7941-4D0F-AF70-E141DDA26555}"/>
              </a:ext>
            </a:extLst>
          </p:cNvPr>
          <p:cNvSpPr txBox="1"/>
          <p:nvPr/>
        </p:nvSpPr>
        <p:spPr>
          <a:xfrm>
            <a:off x="432449" y="1124743"/>
            <a:ext cx="7543800" cy="5396862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//3.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将内容变成罗马数字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下面是阿拉伯数字跟罗马数字的对比关系：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//Ⅰ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Ⅱ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Ⅲ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Ⅳ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Ⅴ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Ⅵ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Ⅶ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Ⅷ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Ⅸ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查表法：数字跟数据产生一个对应关系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StringBuilder sb = new StringBuilder();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(int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str.length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char c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str.charAt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int number = c –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 // 1 2 3 4 5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String s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changeLuoMa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(number);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sb.append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(sb);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73128469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-2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3ED4A50-7941-4D0F-AF70-E141DDA26555}"/>
              </a:ext>
            </a:extLst>
          </p:cNvPr>
          <p:cNvSpPr txBox="1"/>
          <p:nvPr/>
        </p:nvSpPr>
        <p:spPr>
          <a:xfrm>
            <a:off x="432449" y="1124743"/>
            <a:ext cx="7543800" cy="2405274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 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changeLuoMa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 number)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定义一个数组，让索引跟罗马数字产生一个对应关系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String[]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{"", "Ⅰ", "Ⅱ", "Ⅲ", "Ⅳ", "Ⅴ", "Ⅵ", "Ⅶ", "Ⅷ", "Ⅸ"};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[number];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49087796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-2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3ED4A50-7941-4D0F-AF70-E141DDA26555}"/>
              </a:ext>
            </a:extLst>
          </p:cNvPr>
          <p:cNvSpPr txBox="1"/>
          <p:nvPr/>
        </p:nvSpPr>
        <p:spPr>
          <a:xfrm>
            <a:off x="323528" y="692696"/>
            <a:ext cx="7543800" cy="6061659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public static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 str) {//123456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要求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：长度为小于等于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str.length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 &gt; 9)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false;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要求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：只能是数字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str.length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char c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str.charAt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);//0~9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(c &lt; '0' || c &gt; '9')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return false;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只有当字符串里面所有的字符全都判断完毕了，才能认为当前的字符串是符合规则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true;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38511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练习题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-2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778955F-ED9C-4032-B3EC-8C76A3C71285}"/>
              </a:ext>
            </a:extLst>
          </p:cNvPr>
          <p:cNvSpPr txBox="1"/>
          <p:nvPr/>
        </p:nvSpPr>
        <p:spPr>
          <a:xfrm>
            <a:off x="396740" y="939826"/>
            <a:ext cx="7543800" cy="572926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利用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进行匹配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 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changeLuoMa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 number)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str = switch (number)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'0' -&gt; "";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'1' -&gt; "Ⅰ";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'2' -&gt; "Ⅱ";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'3' -&gt; "Ⅲ";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'4' -&gt; "Ⅳ";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'5' -&gt; "Ⅴ";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'6' -&gt; "Ⅵ";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'7' -&gt; "Ⅶ";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'8' -&gt; "Ⅷ";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'9' -&gt; "Ⅸ";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default -&gt; str = "";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str;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600722243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17087</TotalTime>
  <Words>11468</Words>
  <Application>Microsoft Office PowerPoint</Application>
  <PresentationFormat>全屏显示(4:3)</PresentationFormat>
  <Paragraphs>1787</Paragraphs>
  <Slides>111</Slides>
  <Notes>53</Notes>
  <HiddenSlides>2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111</vt:i4>
      </vt:variant>
    </vt:vector>
  </HeadingPairs>
  <TitlesOfParts>
    <vt:vector size="131" baseType="lpstr">
      <vt:lpstr>Alibaba PuHuiTi B</vt:lpstr>
      <vt:lpstr>Alibaba PuHuiTi Medium</vt:lpstr>
      <vt:lpstr>Alibaba PuHuiTi R</vt:lpstr>
      <vt:lpstr>Arial Unicode MS</vt:lpstr>
      <vt:lpstr>阿里巴巴普惠体</vt:lpstr>
      <vt:lpstr>黑体</vt:lpstr>
      <vt:lpstr>华文楷体</vt:lpstr>
      <vt:lpstr>华文楷体</vt:lpstr>
      <vt:lpstr>楷体</vt:lpstr>
      <vt:lpstr>Arial</vt:lpstr>
      <vt:lpstr>Calibri</vt:lpstr>
      <vt:lpstr>Consolas</vt:lpstr>
      <vt:lpstr>Courier New</vt:lpstr>
      <vt:lpstr>Segoe UI</vt:lpstr>
      <vt:lpstr>Times New Roman</vt:lpstr>
      <vt:lpstr>Wingdings</vt:lpstr>
      <vt:lpstr>Network</vt:lpstr>
      <vt:lpstr>1_Network</vt:lpstr>
      <vt:lpstr>正文设计方案</vt:lpstr>
      <vt:lpstr>封面2</vt:lpstr>
      <vt:lpstr>第四章 数组与字符串</vt:lpstr>
      <vt:lpstr>4.1.1 数组的概念</vt:lpstr>
      <vt:lpstr>4.1.1 数组的概念</vt:lpstr>
      <vt:lpstr>4.1.2 数组的创建与引用</vt:lpstr>
      <vt:lpstr>4.1.2 数组的创建与引用</vt:lpstr>
      <vt:lpstr>4.1.2 数组的创建与引用</vt:lpstr>
      <vt:lpstr>4.1.2 数组的创建与引用</vt:lpstr>
      <vt:lpstr>4.1.2 数组的创建与引用</vt:lpstr>
      <vt:lpstr>4.1.2 数组的创建与引用</vt:lpstr>
      <vt:lpstr>4.1.2 数组的创建与引用</vt:lpstr>
      <vt:lpstr>4.1.2 数组的创建与引用</vt:lpstr>
      <vt:lpstr>例：Array的使用</vt:lpstr>
      <vt:lpstr>4.1.2 数组的创建与引用</vt:lpstr>
      <vt:lpstr>4.1.2 数组的创建与引用</vt:lpstr>
      <vt:lpstr>4.1.2 数组的创建与引用</vt:lpstr>
      <vt:lpstr>4.1.2 数组的创建与引用</vt:lpstr>
      <vt:lpstr>4.1.2 数组的创建与引用</vt:lpstr>
      <vt:lpstr>4.1.2 数组的创建与引用</vt:lpstr>
      <vt:lpstr>4.1.2 数组的创建与引用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在方法中返回Array</vt:lpstr>
      <vt:lpstr>4.1.2 多维数组</vt:lpstr>
      <vt:lpstr>4.1.2 多维数组</vt:lpstr>
      <vt:lpstr>4.1.2 多维数组</vt:lpstr>
      <vt:lpstr>4.1.2 多维数组</vt:lpstr>
      <vt:lpstr>4.1.2 多维数组</vt:lpstr>
      <vt:lpstr>4.1.3 对象数组</vt:lpstr>
      <vt:lpstr>4.1.3 对象数组</vt:lpstr>
      <vt:lpstr>4.1.3 对象数组</vt:lpstr>
      <vt:lpstr>PowerPoint 演示文稿</vt:lpstr>
      <vt:lpstr>PowerPoint 演示文稿</vt:lpstr>
      <vt:lpstr>PowerPoint 演示文稿</vt:lpstr>
      <vt:lpstr>4.1.3 对象数组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第四章 数组与字符串</vt:lpstr>
      <vt:lpstr>4.2.1 String类</vt:lpstr>
      <vt:lpstr>4.2.1 String类</vt:lpstr>
      <vt:lpstr>4.2.1 String类</vt:lpstr>
      <vt:lpstr>4.2.2 String类的常用方法</vt:lpstr>
      <vt:lpstr>4.2.2 String类的常用方法</vt:lpstr>
      <vt:lpstr>PowerPoint 演示文稿</vt:lpstr>
      <vt:lpstr>PowerPoint 演示文稿</vt:lpstr>
      <vt:lpstr>4.2.2 String类的常用方法--字符串长度</vt:lpstr>
      <vt:lpstr>4.2.2 String类的常用方法</vt:lpstr>
      <vt:lpstr>4.2.2 String类的常用方法</vt:lpstr>
      <vt:lpstr>4.2.2 String类的常用方法--提取子串</vt:lpstr>
      <vt:lpstr>4.2.2 String类的常用方法</vt:lpstr>
      <vt:lpstr>4.2.2 String类的常用方法</vt:lpstr>
      <vt:lpstr>4.2.2 String类的常用方法</vt:lpstr>
      <vt:lpstr>4.2.2 String类的常用方法</vt:lpstr>
      <vt:lpstr>4.2.2 String类的常用方法</vt:lpstr>
      <vt:lpstr>4.2.2 String类的常用方法</vt:lpstr>
      <vt:lpstr>4.2.2 String类的常用方法</vt:lpstr>
      <vt:lpstr>PowerPoint 演示文稿</vt:lpstr>
      <vt:lpstr>4.2.2 String类的常用方法</vt:lpstr>
      <vt:lpstr>4.2.2 String类的常用方法</vt:lpstr>
      <vt:lpstr>PowerPoint 演示文稿</vt:lpstr>
      <vt:lpstr>4.2.3 字符类 Character</vt:lpstr>
      <vt:lpstr>4.2.3 字符类 Character</vt:lpstr>
      <vt:lpstr>4.2.3 字符类 Character</vt:lpstr>
      <vt:lpstr>举例：统计字符串中的每个字母</vt:lpstr>
      <vt:lpstr>4.2.4 StringBuffer类</vt:lpstr>
      <vt:lpstr>4.2.4 StringBuffer类</vt:lpstr>
      <vt:lpstr>§ 4.2.3 StringBuilder/StringBuffer类</vt:lpstr>
      <vt:lpstr>生成StringBuffer类的对象</vt:lpstr>
      <vt:lpstr>PowerPoint 演示文稿</vt:lpstr>
      <vt:lpstr>PowerPoint 演示文稿</vt:lpstr>
      <vt:lpstr>4.2.5 StringBuffer类的常用方法</vt:lpstr>
      <vt:lpstr>4.2.5 StringBuffer类的常用方法</vt:lpstr>
      <vt:lpstr>PowerPoint 演示文稿</vt:lpstr>
      <vt:lpstr>忽略既非字母又非数字的字符，判断是否为回文串</vt:lpstr>
      <vt:lpstr>练习题</vt:lpstr>
      <vt:lpstr>练习题</vt:lpstr>
      <vt:lpstr>练习题</vt:lpstr>
      <vt:lpstr>4.2.5 StringJoiner类</vt:lpstr>
      <vt:lpstr>4.2.5 StringJoiner类</vt:lpstr>
      <vt:lpstr>4.2.6 main 方法</vt:lpstr>
      <vt:lpstr>4.2.6 main 方法</vt:lpstr>
      <vt:lpstr>4.2.6 main 方法</vt:lpstr>
      <vt:lpstr>4.2.6 main 方法</vt:lpstr>
      <vt:lpstr>4.2.6 main 方法</vt:lpstr>
      <vt:lpstr>4.2.6 main 方法</vt:lpstr>
      <vt:lpstr>4.2.6 main 方法</vt:lpstr>
      <vt:lpstr>4.2.6 main 方法</vt:lpstr>
      <vt:lpstr>字符串原理</vt:lpstr>
      <vt:lpstr>字符串拼接的底层原理</vt:lpstr>
      <vt:lpstr>字符串拼接的底层原理</vt:lpstr>
      <vt:lpstr>字符串拼接的底层原理</vt:lpstr>
      <vt:lpstr>字符串拼接的底层原理</vt:lpstr>
      <vt:lpstr>字符串拼接的底层原理</vt:lpstr>
      <vt:lpstr>思考题</vt:lpstr>
      <vt:lpstr>练习题-1</vt:lpstr>
      <vt:lpstr>练习题-1</vt:lpstr>
      <vt:lpstr>练习题-1</vt:lpstr>
      <vt:lpstr>练习题-1</vt:lpstr>
      <vt:lpstr>练习题-2</vt:lpstr>
      <vt:lpstr>练习题-2</vt:lpstr>
      <vt:lpstr>练习题-2</vt:lpstr>
      <vt:lpstr>练习题-2</vt:lpstr>
      <vt:lpstr>练习题-2</vt:lpstr>
      <vt:lpstr>练习题-2</vt:lpstr>
      <vt:lpstr>练习题-2</vt:lpstr>
    </vt:vector>
  </TitlesOfParts>
  <Company>HHU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Java面向对象程序设计</dc:title>
  <dc:creator>Yingchi Mao</dc:creator>
  <cp:lastModifiedBy>Yanyan</cp:lastModifiedBy>
  <cp:revision>400</cp:revision>
  <dcterms:created xsi:type="dcterms:W3CDTF">2012-10-29T00:47:36Z</dcterms:created>
  <dcterms:modified xsi:type="dcterms:W3CDTF">2024-05-23T03:54:32Z</dcterms:modified>
</cp:coreProperties>
</file>