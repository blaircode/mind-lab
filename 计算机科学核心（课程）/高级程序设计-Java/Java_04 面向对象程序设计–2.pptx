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3"/>
  </p:notesMasterIdLst>
  <p:sldIdLst>
    <p:sldId id="257" r:id="rId2"/>
    <p:sldId id="294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96" r:id="rId13"/>
    <p:sldId id="269" r:id="rId14"/>
    <p:sldId id="270" r:id="rId15"/>
    <p:sldId id="271" r:id="rId16"/>
    <p:sldId id="272" r:id="rId17"/>
    <p:sldId id="378" r:id="rId18"/>
    <p:sldId id="273" r:id="rId19"/>
    <p:sldId id="274" r:id="rId20"/>
    <p:sldId id="366" r:id="rId21"/>
    <p:sldId id="275" r:id="rId22"/>
    <p:sldId id="276" r:id="rId23"/>
    <p:sldId id="277" r:id="rId24"/>
    <p:sldId id="295" r:id="rId25"/>
    <p:sldId id="40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408" r:id="rId36"/>
    <p:sldId id="287" r:id="rId37"/>
    <p:sldId id="288" r:id="rId38"/>
    <p:sldId id="289" r:id="rId39"/>
    <p:sldId id="290" r:id="rId40"/>
    <p:sldId id="291" r:id="rId41"/>
    <p:sldId id="409" r:id="rId42"/>
    <p:sldId id="292" r:id="rId43"/>
    <p:sldId id="293" r:id="rId44"/>
    <p:sldId id="297" r:id="rId45"/>
    <p:sldId id="298" r:id="rId46"/>
    <p:sldId id="299" r:id="rId47"/>
    <p:sldId id="379" r:id="rId48"/>
    <p:sldId id="364" r:id="rId49"/>
    <p:sldId id="380" r:id="rId50"/>
    <p:sldId id="410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411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65" r:id="rId68"/>
    <p:sldId id="412" r:id="rId69"/>
    <p:sldId id="312" r:id="rId70"/>
    <p:sldId id="383" r:id="rId71"/>
    <p:sldId id="381" r:id="rId72"/>
    <p:sldId id="385" r:id="rId73"/>
    <p:sldId id="314" r:id="rId74"/>
    <p:sldId id="387" r:id="rId75"/>
    <p:sldId id="386" r:id="rId76"/>
    <p:sldId id="389" r:id="rId77"/>
    <p:sldId id="391" r:id="rId78"/>
    <p:sldId id="390" r:id="rId79"/>
    <p:sldId id="400" r:id="rId80"/>
    <p:sldId id="401" r:id="rId81"/>
    <p:sldId id="406" r:id="rId82"/>
    <p:sldId id="405" r:id="rId83"/>
    <p:sldId id="326" r:id="rId84"/>
    <p:sldId id="327" r:id="rId85"/>
    <p:sldId id="336" r:id="rId86"/>
    <p:sldId id="337" r:id="rId87"/>
    <p:sldId id="338" r:id="rId88"/>
    <p:sldId id="339" r:id="rId89"/>
    <p:sldId id="340" r:id="rId90"/>
    <p:sldId id="348" r:id="rId91"/>
    <p:sldId id="375" r:id="rId9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FF"/>
    <a:srgbClr val="008000"/>
    <a:srgbClr val="3333FF"/>
    <a:srgbClr val="33CC33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50" autoAdjust="0"/>
  </p:normalViewPr>
  <p:slideViewPr>
    <p:cSldViewPr showGuides="1">
      <p:cViewPr varScale="1">
        <p:scale>
          <a:sx n="95" d="100"/>
          <a:sy n="95" d="100"/>
        </p:scale>
        <p:origin x="364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C92F626-F8F0-404C-A84D-A0DA9398F1C9}" type="datetimeFigureOut">
              <a:rPr lang="zh-CN" altLang="en-US"/>
              <a:pPr>
                <a:defRPr/>
              </a:pPr>
              <a:t>2024/5/7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F27724B-4817-4221-ADF5-137120BBEB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8221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42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7383EF-6D81-421B-8750-603C4A6E46E7}" type="slidenum">
              <a:rPr lang="zh-CN" altLang="en-US">
                <a:latin typeface="Calibri" panose="020F0502020204030204" pitchFamily="34" charset="0"/>
              </a:rPr>
              <a:pPr eaLnBrk="1" hangingPunct="1"/>
              <a:t>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624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627C4A-113E-4261-9F07-57C914408E04}" type="slidenum">
              <a:rPr lang="zh-CN" altLang="en-US">
                <a:latin typeface="Calibri" panose="020F0502020204030204" pitchFamily="34" charset="0"/>
              </a:rPr>
              <a:pPr eaLnBrk="1" hangingPunct="1"/>
              <a:t>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167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36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35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517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59A153-6B70-4B1F-B4DE-AB3D72802D53}" type="slidenum">
              <a:rPr lang="zh-CN" altLang="en-US">
                <a:latin typeface="Calibri" panose="020F0502020204030204" pitchFamily="34" charset="0"/>
              </a:rPr>
              <a:pPr eaLnBrk="1" hangingPunct="1"/>
              <a:t>39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80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45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50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413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58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00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EA24FA-E059-44FE-B932-2A2CAD42D9E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61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92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9B7EE4-F2C5-4443-8A90-0CE4307D5E0B}" type="slidenum">
              <a:rPr lang="zh-CN" altLang="en-US">
                <a:latin typeface="Calibri" panose="020F0502020204030204" pitchFamily="34" charset="0"/>
              </a:rPr>
              <a:pPr eaLnBrk="1" hangingPunct="1"/>
              <a:t>68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17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27724B-4817-4221-ADF5-137120BBEBA4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69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0" y="0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0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179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358" y="0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0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79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358" y="179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37" y="1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0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179" y="358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358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37" y="358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716" y="3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0" y="536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179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58" y="536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37" y="536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0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179" y="715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358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37" y="715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716" y="715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0" y="89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79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358" y="894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37" y="894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0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179" y="107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358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37" y="1073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179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37" y="1252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600"/>
            </a:lvl1pPr>
          </a:lstStyle>
          <a:p>
            <a:r>
              <a:rPr lang="en-GB" altLang="zh-CN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GB" altLang="zh-CN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000" b="0">
                <a:solidFill>
                  <a:srgbClr val="000000"/>
                </a:solidFill>
              </a:defRPr>
            </a:lvl1pPr>
          </a:lstStyle>
          <a:p>
            <a:fld id="{E6471FAF-6824-4B01-8F75-4C7F72C5912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2597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6510D-7B0F-4503-9EB2-8C243EEECCA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127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D2738B-1EA3-435F-93CE-7973875935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50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0386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6BF43-7CDF-4E89-8808-2534C87D694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391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4051F-B847-40E9-B6C2-E7C92B443C4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393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44EF6-CB5A-44EB-A1DA-AC618D5946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269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F5E09-F991-4975-9726-2A4B6DA2CD6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239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6AFB5-C65D-4D40-BD51-3E9FA1F837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275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2AC2A4-4F07-4A51-96E8-1CCC8B200A1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128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D29B0-F707-4487-BB11-E71E7F5A30B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02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88913"/>
            <a:ext cx="2057400" cy="59769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88913"/>
            <a:ext cx="6019800" cy="59769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8E804-F3A2-41C9-8943-B97340212CA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1095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81000" y="1066800"/>
            <a:ext cx="8382000" cy="54864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91181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81075"/>
            <a:ext cx="82296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248400"/>
            <a:ext cx="10906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CC0000"/>
                </a:solidFill>
              </a:defRPr>
            </a:lvl1pPr>
          </a:lstStyle>
          <a:p>
            <a:fld id="{84FEFD90-DDE2-45C6-845F-B4984F1AF605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0" y="0"/>
            <a:chExt cx="528" cy="864"/>
          </a:xfrm>
        </p:grpSpPr>
        <p:sp>
          <p:nvSpPr>
            <p:cNvPr id="1034" name="Oval 9"/>
            <p:cNvSpPr>
              <a:spLocks noChangeArrowheads="1"/>
            </p:cNvSpPr>
            <p:nvPr/>
          </p:nvSpPr>
          <p:spPr bwMode="auto">
            <a:xfrm>
              <a:off x="0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5" name="Oval 10"/>
            <p:cNvSpPr>
              <a:spLocks noChangeArrowheads="1"/>
            </p:cNvSpPr>
            <p:nvPr/>
          </p:nvSpPr>
          <p:spPr bwMode="auto">
            <a:xfrm>
              <a:off x="112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6" name="Oval 11"/>
            <p:cNvSpPr>
              <a:spLocks noChangeArrowheads="1"/>
            </p:cNvSpPr>
            <p:nvPr/>
          </p:nvSpPr>
          <p:spPr bwMode="auto">
            <a:xfrm>
              <a:off x="224" y="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7" name="Oval 12"/>
            <p:cNvSpPr>
              <a:spLocks noChangeArrowheads="1"/>
            </p:cNvSpPr>
            <p:nvPr/>
          </p:nvSpPr>
          <p:spPr bwMode="auto">
            <a:xfrm>
              <a:off x="0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8" name="Oval 13"/>
            <p:cNvSpPr>
              <a:spLocks noChangeArrowheads="1"/>
            </p:cNvSpPr>
            <p:nvPr/>
          </p:nvSpPr>
          <p:spPr bwMode="auto">
            <a:xfrm>
              <a:off x="112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39" name="Oval 14"/>
            <p:cNvSpPr>
              <a:spLocks noChangeArrowheads="1"/>
            </p:cNvSpPr>
            <p:nvPr/>
          </p:nvSpPr>
          <p:spPr bwMode="auto">
            <a:xfrm>
              <a:off x="224" y="11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0" name="Oval 15"/>
            <p:cNvSpPr>
              <a:spLocks noChangeArrowheads="1"/>
            </p:cNvSpPr>
            <p:nvPr/>
          </p:nvSpPr>
          <p:spPr bwMode="auto">
            <a:xfrm>
              <a:off x="336" y="11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1" name="Oval 16"/>
            <p:cNvSpPr>
              <a:spLocks noChangeArrowheads="1"/>
            </p:cNvSpPr>
            <p:nvPr/>
          </p:nvSpPr>
          <p:spPr bwMode="auto">
            <a:xfrm>
              <a:off x="0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2" name="Oval 17"/>
            <p:cNvSpPr>
              <a:spLocks noChangeArrowheads="1"/>
            </p:cNvSpPr>
            <p:nvPr/>
          </p:nvSpPr>
          <p:spPr bwMode="auto">
            <a:xfrm>
              <a:off x="112" y="22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3" name="Oval 18"/>
            <p:cNvSpPr>
              <a:spLocks noChangeArrowheads="1"/>
            </p:cNvSpPr>
            <p:nvPr/>
          </p:nvSpPr>
          <p:spPr bwMode="auto">
            <a:xfrm>
              <a:off x="224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4" name="Oval 19"/>
            <p:cNvSpPr>
              <a:spLocks noChangeArrowheads="1"/>
            </p:cNvSpPr>
            <p:nvPr/>
          </p:nvSpPr>
          <p:spPr bwMode="auto">
            <a:xfrm>
              <a:off x="336" y="22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5" name="Oval 20"/>
            <p:cNvSpPr>
              <a:spLocks noChangeArrowheads="1"/>
            </p:cNvSpPr>
            <p:nvPr/>
          </p:nvSpPr>
          <p:spPr bwMode="auto">
            <a:xfrm>
              <a:off x="448" y="22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6" name="Oval 21"/>
            <p:cNvSpPr>
              <a:spLocks noChangeArrowheads="1"/>
            </p:cNvSpPr>
            <p:nvPr/>
          </p:nvSpPr>
          <p:spPr bwMode="auto">
            <a:xfrm>
              <a:off x="0" y="33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7" name="Oval 22"/>
            <p:cNvSpPr>
              <a:spLocks noChangeArrowheads="1"/>
            </p:cNvSpPr>
            <p:nvPr/>
          </p:nvSpPr>
          <p:spPr bwMode="auto">
            <a:xfrm>
              <a:off x="112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8" name="Oval 23"/>
            <p:cNvSpPr>
              <a:spLocks noChangeArrowheads="1"/>
            </p:cNvSpPr>
            <p:nvPr/>
          </p:nvSpPr>
          <p:spPr bwMode="auto">
            <a:xfrm>
              <a:off x="224" y="33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49" name="Oval 24"/>
            <p:cNvSpPr>
              <a:spLocks noChangeArrowheads="1"/>
            </p:cNvSpPr>
            <p:nvPr/>
          </p:nvSpPr>
          <p:spPr bwMode="auto">
            <a:xfrm>
              <a:off x="336" y="33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0" name="Oval 25"/>
            <p:cNvSpPr>
              <a:spLocks noChangeArrowheads="1"/>
            </p:cNvSpPr>
            <p:nvPr/>
          </p:nvSpPr>
          <p:spPr bwMode="auto">
            <a:xfrm>
              <a:off x="0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1" name="Oval 26"/>
            <p:cNvSpPr>
              <a:spLocks noChangeArrowheads="1"/>
            </p:cNvSpPr>
            <p:nvPr/>
          </p:nvSpPr>
          <p:spPr bwMode="auto">
            <a:xfrm>
              <a:off x="112" y="44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2" name="Oval 27"/>
            <p:cNvSpPr>
              <a:spLocks noChangeArrowheads="1"/>
            </p:cNvSpPr>
            <p:nvPr/>
          </p:nvSpPr>
          <p:spPr bwMode="auto">
            <a:xfrm>
              <a:off x="224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3" name="Oval 28"/>
            <p:cNvSpPr>
              <a:spLocks noChangeArrowheads="1"/>
            </p:cNvSpPr>
            <p:nvPr/>
          </p:nvSpPr>
          <p:spPr bwMode="auto">
            <a:xfrm>
              <a:off x="336" y="44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4" name="Oval 29"/>
            <p:cNvSpPr>
              <a:spLocks noChangeArrowheads="1"/>
            </p:cNvSpPr>
            <p:nvPr/>
          </p:nvSpPr>
          <p:spPr bwMode="auto">
            <a:xfrm>
              <a:off x="448" y="44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5" name="Oval 30"/>
            <p:cNvSpPr>
              <a:spLocks noChangeArrowheads="1"/>
            </p:cNvSpPr>
            <p:nvPr/>
          </p:nvSpPr>
          <p:spPr bwMode="auto">
            <a:xfrm>
              <a:off x="0" y="56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6" name="Oval 31"/>
            <p:cNvSpPr>
              <a:spLocks noChangeArrowheads="1"/>
            </p:cNvSpPr>
            <p:nvPr/>
          </p:nvSpPr>
          <p:spPr bwMode="auto">
            <a:xfrm>
              <a:off x="112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7" name="Oval 32"/>
            <p:cNvSpPr>
              <a:spLocks noChangeArrowheads="1"/>
            </p:cNvSpPr>
            <p:nvPr/>
          </p:nvSpPr>
          <p:spPr bwMode="auto">
            <a:xfrm>
              <a:off x="224" y="56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8" name="Oval 33"/>
            <p:cNvSpPr>
              <a:spLocks noChangeArrowheads="1"/>
            </p:cNvSpPr>
            <p:nvPr/>
          </p:nvSpPr>
          <p:spPr bwMode="auto">
            <a:xfrm>
              <a:off x="336" y="56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59" name="Oval 34"/>
            <p:cNvSpPr>
              <a:spLocks noChangeArrowheads="1"/>
            </p:cNvSpPr>
            <p:nvPr/>
          </p:nvSpPr>
          <p:spPr bwMode="auto">
            <a:xfrm>
              <a:off x="0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0" name="Oval 35"/>
            <p:cNvSpPr>
              <a:spLocks noChangeArrowheads="1"/>
            </p:cNvSpPr>
            <p:nvPr/>
          </p:nvSpPr>
          <p:spPr bwMode="auto">
            <a:xfrm>
              <a:off x="112" y="67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1" name="Oval 36"/>
            <p:cNvSpPr>
              <a:spLocks noChangeArrowheads="1"/>
            </p:cNvSpPr>
            <p:nvPr/>
          </p:nvSpPr>
          <p:spPr bwMode="auto">
            <a:xfrm>
              <a:off x="224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2" name="Oval 37"/>
            <p:cNvSpPr>
              <a:spLocks noChangeArrowheads="1"/>
            </p:cNvSpPr>
            <p:nvPr/>
          </p:nvSpPr>
          <p:spPr bwMode="auto">
            <a:xfrm>
              <a:off x="336" y="67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3" name="Oval 38"/>
            <p:cNvSpPr>
              <a:spLocks noChangeArrowheads="1"/>
            </p:cNvSpPr>
            <p:nvPr/>
          </p:nvSpPr>
          <p:spPr bwMode="auto">
            <a:xfrm>
              <a:off x="112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64" name="Oval 39"/>
            <p:cNvSpPr>
              <a:spLocks noChangeArrowheads="1"/>
            </p:cNvSpPr>
            <p:nvPr/>
          </p:nvSpPr>
          <p:spPr bwMode="auto">
            <a:xfrm>
              <a:off x="336" y="78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33" name="Text Box 40"/>
          <p:cNvSpPr txBox="1">
            <a:spLocks noChangeArrowheads="1"/>
          </p:cNvSpPr>
          <p:nvPr userDrawn="1"/>
        </p:nvSpPr>
        <p:spPr bwMode="auto">
          <a:xfrm>
            <a:off x="8532813" y="6308725"/>
            <a:ext cx="436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1277D1-A732-4941-BFB6-DAEA78971BBC}" type="slidenum">
              <a:rPr lang="en-GB" altLang="en-US" b="1">
                <a:solidFill>
                  <a:srgbClr val="CC0000"/>
                </a:solidFill>
              </a:rPr>
              <a:pPr eaLnBrk="1" hangingPunct="1"/>
              <a:t>‹#›</a:t>
            </a:fld>
            <a:endParaRPr lang="zh-CN" altLang="en-US" b="1">
              <a:solidFill>
                <a:srgbClr val="CC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Times New Roman" pitchFamily="18" charset="0"/>
          <a:ea typeface="楷体_GB2312" pitchFamily="1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楷体_GB2312" pitchFamily="1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楷体_GB2312" pitchFamily="1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楷体_GB2312" pitchFamily="1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(Inheritance)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250825" y="981075"/>
            <a:ext cx="8713663" cy="55442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类的继承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软件重用的一种方法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一种由已有的类创建新类的机制，是面向对象程序设计的基石之一，也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是面向对象技术的三大特性之一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通过继承，可以根据已有类来定义新类，新类拥有已有父类的所有功能</a:t>
            </a:r>
          </a:p>
          <a:p>
            <a:pPr lvl="1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只支持类的单继承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，每个子类只能有一个直接父类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父类是所有子类的公共属性及方法的集合，子类则是父类的特殊化。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继承机制可以提高程序的抽象程度，提高代码的可重用性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3.5.1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继承的概念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基类</a:t>
            </a:r>
            <a:r>
              <a:rPr lang="zh-CN" altLang="en-US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base class)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也称超类(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superclass)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是被直接或间接继承的类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派生类(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derived-class)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也称子类 (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subclass)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继承其他类而得到的类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继承所有祖先的状态和行为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派生类可以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增加变量和方法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派生类也可以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覆盖(</a:t>
            </a:r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override)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继承的方法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3.5.1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继承的概念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488063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is_a</a:t>
            </a:r>
            <a:r>
              <a:rPr lang="zh-CN" altLang="en-US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关系</a:t>
            </a:r>
            <a:endParaRPr lang="en-US" altLang="zh-CN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子类对象与父类对象存在“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IS A”(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或“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is kind of”)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的关系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17412" name="Picture 4" descr="Java5_g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088" y="2492896"/>
            <a:ext cx="4391025" cy="4111625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3.5.1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继承的概念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76263"/>
          </a:xfrm>
        </p:spPr>
        <p:txBody>
          <a:bodyPr/>
          <a:lstStyle/>
          <a:p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动物类层次举例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28775"/>
            <a:ext cx="763587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484313"/>
            <a:ext cx="69691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继承的语法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继承的语法</a:t>
            </a:r>
          </a:p>
          <a:p>
            <a:pPr lvl="1">
              <a:buFontTx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childClass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extends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parentClass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buFontTx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{ </a:t>
            </a:r>
          </a:p>
          <a:p>
            <a:pPr lvl="1">
              <a:buFontTx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	//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类体</a:t>
            </a:r>
          </a:p>
          <a:p>
            <a:pPr lvl="1">
              <a:buFontTx/>
              <a:buNone/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继承的语法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468313" y="1124744"/>
            <a:ext cx="7776095" cy="5184775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举例：</a:t>
            </a:r>
            <a:endParaRPr lang="en-US" altLang="zh-CN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在一个公司中，有普通员工（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Employees）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及管理人员（</a:t>
            </a:r>
            <a:r>
              <a:rPr lang="en-US" altLang="zh-CN" sz="2400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Magagers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两类人员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职员对象（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Employees）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可能有的属性信息包括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员工号（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employeeNumber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姓名（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name）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地址（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address）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电话号码（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phoneNumber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管理人员（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Managers）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除具有普通员工的属性外，还可能具有下面的属性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职责（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responsibilities）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所管理的职员（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listOfEmployees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4"/>
          <p:cNvSpPr>
            <a:spLocks noGrp="1"/>
          </p:cNvSpPr>
          <p:nvPr>
            <p:ph idx="1"/>
          </p:nvPr>
        </p:nvSpPr>
        <p:spPr>
          <a:xfrm>
            <a:off x="495581" y="750006"/>
            <a:ext cx="8229600" cy="647700"/>
          </a:xfrm>
        </p:spPr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父类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Employee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1" name="Rectangle 3"/>
          <p:cNvSpPr txBox="1">
            <a:spLocks noChangeArrowheads="1"/>
          </p:cNvSpPr>
          <p:nvPr/>
        </p:nvSpPr>
        <p:spPr bwMode="auto">
          <a:xfrm>
            <a:off x="495581" y="1339850"/>
            <a:ext cx="8037182" cy="2089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   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;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String 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name, address,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phoneNumber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22532" name="内容占位符 4"/>
          <p:cNvSpPr txBox="1">
            <a:spLocks/>
          </p:cNvSpPr>
          <p:nvPr/>
        </p:nvSpPr>
        <p:spPr bwMode="auto">
          <a:xfrm>
            <a:off x="468313" y="3573016"/>
            <a:ext cx="8229600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</a:t>
            </a:r>
            <a:r>
              <a:rPr lang="en-US" altLang="zh-CN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Manager</a:t>
            </a:r>
            <a:endParaRPr lang="zh-CN" altLang="en-US" sz="28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3" name="Rectangle 3"/>
          <p:cNvSpPr txBox="1">
            <a:spLocks noChangeArrowheads="1"/>
          </p:cNvSpPr>
          <p:nvPr/>
        </p:nvSpPr>
        <p:spPr bwMode="auto">
          <a:xfrm>
            <a:off x="468313" y="4149080"/>
            <a:ext cx="8064450" cy="22336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class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Manager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33CC33"/>
                </a:solidFill>
                <a:latin typeface="Century Schoolbook" panose="02040604050505020304" pitchFamily="18" charset="0"/>
                <a:ea typeface="楷体_GB2312" pitchFamily="49" charset="-122"/>
              </a:rPr>
              <a:t>extends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//</a:t>
            </a:r>
            <a:r>
              <a:rPr lang="zh-CN" altLang="en-US" sz="2000" dirty="0">
                <a:latin typeface="Century Schoolbook" panose="02040604050505020304" pitchFamily="18" charset="0"/>
                <a:ea typeface="楷体_GB2312" pitchFamily="49" charset="-122"/>
              </a:rPr>
              <a:t>子类增加的数据成员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String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responsibilities,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listOfEmployees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44624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继承的语法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76376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276746" y="980728"/>
            <a:ext cx="8229600" cy="503237"/>
          </a:xfrm>
        </p:spPr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设有三个类：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Person, Employee, Manager。</a:t>
            </a:r>
            <a:endParaRPr lang="zh-CN" altLang="en-US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23555" name="Rectangle 3"/>
          <p:cNvSpPr txBox="1">
            <a:spLocks noChangeArrowheads="1"/>
          </p:cNvSpPr>
          <p:nvPr/>
        </p:nvSpPr>
        <p:spPr bwMode="auto">
          <a:xfrm>
            <a:off x="16895" y="1628576"/>
            <a:ext cx="3671888" cy="23764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Person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public String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name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public String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getName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()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return name;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 </a:t>
            </a:r>
          </a:p>
        </p:txBody>
      </p:sp>
      <p:sp>
        <p:nvSpPr>
          <p:cNvPr id="23556" name="Rectangle 3"/>
          <p:cNvSpPr txBox="1">
            <a:spLocks noChangeArrowheads="1"/>
          </p:cNvSpPr>
          <p:nvPr/>
        </p:nvSpPr>
        <p:spPr bwMode="auto">
          <a:xfrm>
            <a:off x="4140200" y="1628576"/>
            <a:ext cx="5003800" cy="23764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>
                <a:solidFill>
                  <a:srgbClr val="C00000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33CC33"/>
                </a:solidFill>
                <a:latin typeface="Century Schoolbook" panose="02040604050505020304" pitchFamily="18" charset="0"/>
                <a:ea typeface="楷体_GB2312" pitchFamily="49" charset="-122"/>
              </a:rPr>
              <a:t>extends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Person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public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public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getEmployeeNumber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()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return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}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 </a:t>
            </a:r>
          </a:p>
        </p:txBody>
      </p:sp>
      <p:sp>
        <p:nvSpPr>
          <p:cNvPr id="23557" name="Rectangle 3"/>
          <p:cNvSpPr txBox="1">
            <a:spLocks noChangeArrowheads="1"/>
          </p:cNvSpPr>
          <p:nvPr/>
        </p:nvSpPr>
        <p:spPr bwMode="auto">
          <a:xfrm>
            <a:off x="1331640" y="4049713"/>
            <a:ext cx="6119813" cy="28082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>
                <a:solidFill>
                  <a:srgbClr val="FF33CC"/>
                </a:solidFill>
                <a:latin typeface="Century Schoolbook" panose="02040604050505020304" pitchFamily="18" charset="0"/>
                <a:ea typeface="楷体_GB2312" pitchFamily="49" charset="-122"/>
              </a:rPr>
              <a:t>Manager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33CC33"/>
                </a:solidFill>
                <a:latin typeface="Century Schoolbook" panose="02040604050505020304" pitchFamily="18" charset="0"/>
                <a:ea typeface="楷体_GB2312" pitchFamily="49" charset="-122"/>
              </a:rPr>
              <a:t>extends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public String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responsibilities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public String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getResponsibilities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()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 return responsibilities;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}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44624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继承的语法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763762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468313" y="188913"/>
            <a:ext cx="8229600" cy="503237"/>
          </a:xfrm>
        </p:spPr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测试上例 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——InheritanceTest.java</a:t>
            </a:r>
            <a:endParaRPr lang="zh-CN" altLang="en-US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24579" name="Rectangle 3"/>
          <p:cNvSpPr txBox="1">
            <a:spLocks noChangeArrowheads="1"/>
          </p:cNvSpPr>
          <p:nvPr/>
        </p:nvSpPr>
        <p:spPr bwMode="auto">
          <a:xfrm>
            <a:off x="107950" y="692150"/>
            <a:ext cx="8785225" cy="61658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InheritanceTest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public static void main(String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[]){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>
                <a:solidFill>
                  <a:srgbClr val="C00000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li = new Employee();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li.name = "Li Ming";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li.employeeNumber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= 123456;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li.getName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());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li.getEmployeeNumber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());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>
                <a:solidFill>
                  <a:srgbClr val="FF33CC"/>
                </a:solidFill>
                <a:latin typeface="Century Schoolbook" panose="02040604050505020304" pitchFamily="18" charset="0"/>
                <a:ea typeface="楷体_GB2312" pitchFamily="49" charset="-122"/>
              </a:rPr>
              <a:t>Manager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he = new Manager();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he.name = "He Xia";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he.employeeNumber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= 543469;          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he.responsibilities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= "Internet project";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he.getName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());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he.getEmployeeNumber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());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he.getResponsibilities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());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}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942012" y="2492896"/>
            <a:ext cx="2951163" cy="2879725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运行结果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Li Ming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123456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He Xia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543469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Internet project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altLang="zh-CN" sz="240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3.5.2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继承的语法</a:t>
            </a:r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3816350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0D0D0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子类不能直接访问从父类中继承的私有属性及方法，但可使用公有（及保护）方法进行访问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5604" name="Rectangle 3"/>
          <p:cNvSpPr txBox="1">
            <a:spLocks noChangeArrowheads="1"/>
          </p:cNvSpPr>
          <p:nvPr/>
        </p:nvSpPr>
        <p:spPr bwMode="auto">
          <a:xfrm>
            <a:off x="4190534" y="967281"/>
            <a:ext cx="4751387" cy="579363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class B {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public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a = 10;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private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b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= 20;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protected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c = 30;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getB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 { return b; }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endParaRPr lang="en-US" altLang="zh-CN" sz="20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class A extends B {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public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d;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public void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tryVariables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 {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System.out.println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(a);          //</a:t>
            </a:r>
            <a:r>
              <a:rPr lang="zh-CN" altLang="en-US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允许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System.out.println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(b);          //</a:t>
            </a:r>
            <a:r>
              <a:rPr lang="zh-CN" altLang="en-US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不允许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</a:t>
            </a:r>
            <a:r>
              <a:rPr lang="en-US" altLang="zh-CN" sz="2000" dirty="0" err="1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System.out.println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000" dirty="0" err="1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getB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());  //</a:t>
            </a:r>
            <a:r>
              <a:rPr lang="zh-CN" altLang="en-US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允许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</a:t>
            </a:r>
            <a:r>
              <a:rPr lang="en-US" altLang="zh-CN" sz="2000" dirty="0" err="1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System.out.println</a:t>
            </a:r>
            <a:r>
              <a:rPr lang="en-US" altLang="zh-CN" sz="2000" dirty="0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(c);           //</a:t>
            </a:r>
            <a:r>
              <a:rPr lang="zh-CN" altLang="en-US" sz="2000" dirty="0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允许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类运算符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运算符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instanceof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zh-CN">
                <a:solidFill>
                  <a:srgbClr val="0000CC"/>
                </a:solidFill>
                <a:ea typeface="楷体_GB2312" pitchFamily="49" charset="-122"/>
                <a:cs typeface="Times New Roman" panose="02020603050405020304" pitchFamily="18" charset="0"/>
              </a:rPr>
              <a:t>if (p</a:t>
            </a:r>
            <a:r>
              <a:rPr lang="en-US" altLang="zh-CN">
                <a:solidFill>
                  <a:schemeClr val="accent2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instanceof</a:t>
            </a:r>
            <a:r>
              <a:rPr lang="en-US" altLang="zh-CN">
                <a:solidFill>
                  <a:schemeClr val="accent2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CC"/>
                </a:solidFill>
                <a:ea typeface="楷体_GB2312" pitchFamily="49" charset="-122"/>
                <a:cs typeface="Times New Roman" panose="02020603050405020304" pitchFamily="18" charset="0"/>
              </a:rPr>
              <a:t>Person)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>
                <a:ea typeface="楷体_GB2312" pitchFamily="49" charset="-122"/>
                <a:cs typeface="Times New Roman" panose="02020603050405020304" pitchFamily="18" charset="0"/>
              </a:rPr>
              <a:t>上面的条件为 </a:t>
            </a:r>
            <a:r>
              <a:rPr lang="en-US" altLang="zh-CN">
                <a:solidFill>
                  <a:srgbClr val="FF0000"/>
                </a:solidFill>
                <a:ea typeface="楷体_GB2312" pitchFamily="49" charset="-122"/>
                <a:cs typeface="Times New Roman" panose="02020603050405020304" pitchFamily="18" charset="0"/>
              </a:rPr>
              <a:t>true</a:t>
            </a:r>
            <a:r>
              <a:rPr lang="zh-CN" altLang="en-US">
                <a:ea typeface="楷体_GB2312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>
                <a:ea typeface="楷体_GB2312" pitchFamily="49" charset="-122"/>
                <a:cs typeface="Times New Roman" panose="02020603050405020304" pitchFamily="18" charset="0"/>
              </a:rPr>
              <a:t>当且仅当引用</a:t>
            </a:r>
            <a:r>
              <a:rPr lang="en-US" altLang="zh-CN">
                <a:solidFill>
                  <a:srgbClr val="0000CC"/>
                </a:solidFill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ea typeface="楷体_GB2312" pitchFamily="49" charset="-122"/>
                <a:cs typeface="Times New Roman" panose="02020603050405020304" pitchFamily="18" charset="0"/>
              </a:rPr>
              <a:t>所指向的对象是类</a:t>
            </a:r>
            <a:r>
              <a:rPr lang="en-US" altLang="zh-CN">
                <a:solidFill>
                  <a:srgbClr val="0000CC"/>
                </a:solidFill>
                <a:ea typeface="楷体_GB2312" pitchFamily="49" charset="-122"/>
                <a:cs typeface="Times New Roman" panose="02020603050405020304" pitchFamily="18" charset="0"/>
              </a:rPr>
              <a:t>Person (</a:t>
            </a:r>
            <a:r>
              <a:rPr lang="zh-CN" altLang="en-US">
                <a:solidFill>
                  <a:srgbClr val="0000CC"/>
                </a:solidFill>
                <a:ea typeface="楷体_GB2312" pitchFamily="49" charset="-122"/>
                <a:cs typeface="Times New Roman" panose="02020603050405020304" pitchFamily="18" charset="0"/>
              </a:rPr>
              <a:t>或其</a:t>
            </a:r>
            <a:r>
              <a:rPr lang="zh-CN" altLang="en-US">
                <a:solidFill>
                  <a:srgbClr val="3333FF"/>
                </a:solidFill>
                <a:ea typeface="楷体_GB2312" pitchFamily="49" charset="-122"/>
                <a:cs typeface="Times New Roman" panose="02020603050405020304" pitchFamily="18" charset="0"/>
              </a:rPr>
              <a:t>子类</a:t>
            </a:r>
            <a:r>
              <a:rPr lang="en-US" altLang="zh-CN">
                <a:solidFill>
                  <a:srgbClr val="0000CC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ea typeface="楷体_GB2312" pitchFamily="49" charset="-122"/>
                <a:cs typeface="Times New Roman" panose="02020603050405020304" pitchFamily="18" charset="0"/>
              </a:rPr>
              <a:t>的实例对象</a:t>
            </a:r>
            <a:endParaRPr lang="zh-CN" altLang="en-US">
              <a:ea typeface="楷体_GB2312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481013" y="1052513"/>
            <a:ext cx="8229600" cy="4105275"/>
          </a:xfrm>
        </p:spPr>
        <p:txBody>
          <a:bodyPr/>
          <a:lstStyle/>
          <a:p>
            <a:r>
              <a:rPr lang="zh-CN" altLang="en-US" sz="2400" b="0" dirty="0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隐藏和覆盖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子类对从父类</a:t>
            </a:r>
            <a:r>
              <a:rPr lang="zh-CN" altLang="en-US" b="0" dirty="0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继承来的属性变量及方法可以重新定义</a:t>
            </a:r>
          </a:p>
          <a:p>
            <a:r>
              <a:rPr lang="zh-CN" altLang="en-US" sz="2400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属性的隐藏</a:t>
            </a:r>
            <a:endParaRPr lang="en-US" altLang="zh-CN" sz="2400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子类中声明了与父类中相同的成员变量名，则从父类继承的变量将被隐藏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子类拥有了两个相同名字的变量，一个继承自父类，另一个由自己声明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当子类执行继承自父类的操作时，处理的是继承自父类的变量，而当子类执行它自己声明的方法时，所操作的就是它自己声明的变量</a:t>
            </a:r>
          </a:p>
        </p:txBody>
      </p:sp>
      <p:sp>
        <p:nvSpPr>
          <p:cNvPr id="27651" name="Rectangle 3"/>
          <p:cNvSpPr txBox="1">
            <a:spLocks noChangeArrowheads="1"/>
          </p:cNvSpPr>
          <p:nvPr/>
        </p:nvSpPr>
        <p:spPr bwMode="auto">
          <a:xfrm>
            <a:off x="481013" y="5169928"/>
            <a:ext cx="3730625" cy="118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class Parent 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</a:t>
            </a:r>
            <a:r>
              <a:rPr lang="en-US" altLang="zh-CN" sz="2000" b="1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aNumber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27652" name="Rectangle 3"/>
          <p:cNvSpPr txBox="1">
            <a:spLocks noChangeArrowheads="1"/>
          </p:cNvSpPr>
          <p:nvPr/>
        </p:nvSpPr>
        <p:spPr bwMode="auto">
          <a:xfrm>
            <a:off x="4572000" y="5157788"/>
            <a:ext cx="3960440" cy="11874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class Child </a:t>
            </a:r>
            <a:r>
              <a:rPr lang="en-US" altLang="zh-CN" sz="2000" b="1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extends </a:t>
            </a:r>
            <a:r>
              <a:rPr lang="en-US" altLang="zh-CN" sz="2000" b="1" dirty="0">
                <a:solidFill>
                  <a:srgbClr val="008000"/>
                </a:solidFill>
                <a:latin typeface="Century Schoolbook" panose="02040604050505020304" pitchFamily="18" charset="0"/>
                <a:ea typeface="楷体_GB2312" pitchFamily="49" charset="-122"/>
              </a:rPr>
              <a:t>Parent</a:t>
            </a:r>
            <a:r>
              <a:rPr lang="en-US" altLang="zh-CN" sz="2000" b="1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Float </a:t>
            </a:r>
            <a:r>
              <a:rPr lang="en-US" altLang="zh-CN" sz="2000" b="1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aNumber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276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201587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如何访问被隐藏的父类属性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调用从父类继承的方法，则操作的是从父类继承的属性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使用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super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属性</a:t>
            </a:r>
          </a:p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举例</a:t>
            </a:r>
          </a:p>
        </p:txBody>
      </p:sp>
      <p:sp>
        <p:nvSpPr>
          <p:cNvPr id="28676" name="Rectangle 3"/>
          <p:cNvSpPr txBox="1">
            <a:spLocks noChangeArrowheads="1"/>
          </p:cNvSpPr>
          <p:nvPr/>
        </p:nvSpPr>
        <p:spPr bwMode="auto">
          <a:xfrm>
            <a:off x="179388" y="3213100"/>
            <a:ext cx="4032250" cy="35290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class A1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x 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= 2;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public void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setx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){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x =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void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printa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()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(x);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28677" name="Rectangle 3"/>
          <p:cNvSpPr txBox="1">
            <a:spLocks noChangeArrowheads="1"/>
          </p:cNvSpPr>
          <p:nvPr/>
        </p:nvSpPr>
        <p:spPr bwMode="auto">
          <a:xfrm>
            <a:off x="4572000" y="3213100"/>
            <a:ext cx="4032250" cy="35290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class B1 extends A1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=100;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void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printb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()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+10 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endParaRPr lang="en-US" altLang="zh-CN" sz="2000" b="1" dirty="0">
              <a:latin typeface="Century Schoolbook" panose="02040604050505020304" pitchFamily="18" charset="0"/>
              <a:ea typeface="楷体_GB2312" pitchFamily="49" charset="-122"/>
            </a:endParaRP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("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= " +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+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      "  x= " + x);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 txBox="1">
            <a:spLocks noChangeArrowheads="1"/>
          </p:cNvSpPr>
          <p:nvPr/>
        </p:nvSpPr>
        <p:spPr bwMode="auto">
          <a:xfrm>
            <a:off x="358775" y="1016000"/>
            <a:ext cx="8426450" cy="55816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public class SuperTest1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public static void main(String[]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)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a1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= new A1();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a1.setx(4);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a1.printa();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endParaRPr lang="en-US" altLang="zh-CN" sz="2000" b="1" dirty="0">
              <a:latin typeface="Century Schoolbook" panose="02040604050505020304" pitchFamily="18" charset="0"/>
              <a:ea typeface="楷体_GB2312" pitchFamily="49" charset="-122"/>
            </a:endParaRP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b1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= new B1(); 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b1.printb(); 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b1.printa();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b1.setx(6);  // </a:t>
            </a:r>
            <a:r>
              <a:rPr lang="zh-CN" altLang="en-US" sz="2000" b="1" dirty="0">
                <a:latin typeface="Century Schoolbook" panose="02040604050505020304" pitchFamily="18" charset="0"/>
                <a:ea typeface="楷体_GB2312" pitchFamily="49" charset="-122"/>
              </a:rPr>
              <a:t>将继承到的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x</a:t>
            </a:r>
            <a:r>
              <a:rPr lang="zh-CN" altLang="en-US" sz="2000" b="1" dirty="0">
                <a:latin typeface="Century Schoolbook" panose="02040604050505020304" pitchFamily="18" charset="0"/>
                <a:ea typeface="楷体_GB2312" pitchFamily="49" charset="-122"/>
              </a:rPr>
              <a:t>值设置为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6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b1.printb(); 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b1.printa();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a1.printa();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29701" name="Rectangle 3"/>
          <p:cNvSpPr txBox="1">
            <a:spLocks noChangeArrowheads="1"/>
          </p:cNvSpPr>
          <p:nvPr/>
        </p:nvSpPr>
        <p:spPr bwMode="auto">
          <a:xfrm>
            <a:off x="5545138" y="3429000"/>
            <a:ext cx="3240087" cy="316865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运行结果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4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super.x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= 12  x= 100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12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super.x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= 16  x= 100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16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4</a:t>
            </a:r>
            <a:endParaRPr lang="zh-CN" altLang="en-US" sz="2800" b="1" dirty="0"/>
          </a:p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endParaRPr lang="zh-CN" altLang="en-US" sz="2800" b="1" dirty="0"/>
          </a:p>
        </p:txBody>
      </p:sp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5602221" y="1268760"/>
            <a:ext cx="2945080" cy="480553"/>
          </a:xfrm>
        </p:spPr>
        <p:txBody>
          <a:bodyPr/>
          <a:lstStyle/>
          <a:p>
            <a:pPr marL="342900" indent="-342900"/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SuperTest1 .java</a:t>
            </a:r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kern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kern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kern="0" dirty="0"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467544" y="1052114"/>
            <a:ext cx="7427168" cy="1800201"/>
          </a:xfrm>
        </p:spPr>
        <p:txBody>
          <a:bodyPr/>
          <a:lstStyle/>
          <a:p>
            <a:r>
              <a:rPr lang="zh-CN" altLang="en-US" sz="24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子类不能继承父类中的静态属性，但可以对父类中的静态属性进行操作。</a:t>
            </a:r>
            <a:endParaRPr lang="en-US" altLang="zh-CN" sz="2400" b="0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如在上面的例子中，将“</a:t>
            </a:r>
            <a:r>
              <a:rPr lang="en-US" altLang="zh-CN" sz="2400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x = 2;”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改为</a:t>
            </a:r>
            <a:endParaRPr lang="en-US" altLang="zh-CN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“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static </a:t>
            </a:r>
            <a:r>
              <a:rPr lang="en-US" altLang="zh-CN" sz="2400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x = 2;”，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再编译及运行程序。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81408" y="2852315"/>
            <a:ext cx="4032250" cy="35290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class A1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static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x 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= 2;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public void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setx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){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x =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void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printa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()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(x);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30236" y="2852315"/>
            <a:ext cx="4032250" cy="35290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class B1 extends A1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=100;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void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printb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()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dirty="0" err="1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= </a:t>
            </a:r>
            <a:r>
              <a:rPr lang="en-US" altLang="zh-CN" sz="2000" b="1" dirty="0" err="1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+10 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endParaRPr lang="en-US" altLang="zh-CN" sz="2000" b="1" dirty="0">
              <a:latin typeface="Century Schoolbook" panose="02040604050505020304" pitchFamily="18" charset="0"/>
              <a:ea typeface="楷体_GB2312" pitchFamily="49" charset="-122"/>
            </a:endParaRP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("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= " +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super.x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+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          "  x= " + x);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kern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kern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kern="0" dirty="0"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 txBox="1">
            <a:spLocks noChangeArrowheads="1"/>
          </p:cNvSpPr>
          <p:nvPr/>
        </p:nvSpPr>
        <p:spPr bwMode="auto">
          <a:xfrm>
            <a:off x="358775" y="1016000"/>
            <a:ext cx="8426450" cy="55816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public class SuperTest2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public static void main(String[]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)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a1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= new A1();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a1.setx(4);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a1.printa();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endParaRPr lang="en-US" altLang="zh-CN" sz="2000" b="1" dirty="0">
              <a:latin typeface="Century Schoolbook" panose="02040604050505020304" pitchFamily="18" charset="0"/>
              <a:ea typeface="楷体_GB2312" pitchFamily="49" charset="-122"/>
            </a:endParaRP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 </a:t>
            </a:r>
            <a:r>
              <a:rPr lang="en-US" altLang="zh-CN" sz="2000" b="1" dirty="0" err="1">
                <a:latin typeface="Century Schoolbook" panose="02040604050505020304" pitchFamily="18" charset="0"/>
                <a:ea typeface="楷体_GB2312" pitchFamily="49" charset="-122"/>
              </a:rPr>
              <a:t>b1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= new B1(); 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b1.printb(); 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b1.printa();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b1.setx(6);  // </a:t>
            </a:r>
            <a:r>
              <a:rPr lang="zh-CN" altLang="en-US" sz="2000" b="1" dirty="0">
                <a:latin typeface="Century Schoolbook" panose="02040604050505020304" pitchFamily="18" charset="0"/>
                <a:ea typeface="楷体_GB2312" pitchFamily="49" charset="-122"/>
              </a:rPr>
              <a:t>将继承到的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x</a:t>
            </a:r>
            <a:r>
              <a:rPr lang="zh-CN" altLang="en-US" sz="2000" b="1" dirty="0">
                <a:latin typeface="Century Schoolbook" panose="02040604050505020304" pitchFamily="18" charset="0"/>
                <a:ea typeface="楷体_GB2312" pitchFamily="49" charset="-122"/>
              </a:rPr>
              <a:t>值设置为</a:t>
            </a: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6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b1.printb();   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b1.printa();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  a1.printa();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    } 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29701" name="Rectangle 3"/>
          <p:cNvSpPr txBox="1">
            <a:spLocks noChangeArrowheads="1"/>
          </p:cNvSpPr>
          <p:nvPr/>
        </p:nvSpPr>
        <p:spPr bwMode="auto">
          <a:xfrm>
            <a:off x="5454717" y="2065207"/>
            <a:ext cx="3240087" cy="2727585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运行结果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4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super.x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= 14  x= 100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14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super.x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= 16  x= 100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16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16</a:t>
            </a:r>
            <a:endParaRPr lang="zh-CN" altLang="en-US" sz="2800" b="1" dirty="0"/>
          </a:p>
        </p:txBody>
      </p:sp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5602221" y="1268760"/>
            <a:ext cx="2945080" cy="480553"/>
          </a:xfrm>
        </p:spPr>
        <p:txBody>
          <a:bodyPr/>
          <a:lstStyle/>
          <a:p>
            <a:pPr marL="342900" indent="-342900"/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SuperTest2 .java</a:t>
            </a:r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468313" y="188913"/>
            <a:ext cx="75438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altLang="zh-CN" kern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kern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kern="0" dirty="0"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230352" y="5445224"/>
            <a:ext cx="5559477" cy="9520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在上面的结果中，第一行及最后一行都是语句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”a1.printa();”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输出的结果，类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中的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printb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方法修改的是类Ａ中的静态属性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x</a:t>
            </a:r>
            <a:endParaRPr lang="zh-CN" altLang="en-US" sz="24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446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323849" y="981075"/>
            <a:ext cx="7688263" cy="518477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方法覆盖</a:t>
            </a: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——</a:t>
            </a: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overriding</a:t>
            </a:r>
            <a:endParaRPr lang="zh-CN" altLang="en-US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如果子类不需使用从父类继承来的方法的功能，则可以声明自己的同名方法，称为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方法覆盖</a:t>
            </a: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重写</a:t>
            </a:r>
            <a:endParaRPr lang="en-US" altLang="zh-CN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覆盖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重写方法的</a:t>
            </a:r>
            <a:r>
              <a:rPr lang="zh-CN" altLang="en-US" dirty="0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返回类型，方法名称，参数的个数及类型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必须和被覆盖的方法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一致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只需在方法名前面</a:t>
            </a:r>
            <a:r>
              <a:rPr lang="zh-CN" altLang="en-US" dirty="0">
                <a:solidFill>
                  <a:srgbClr val="C0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使用不同的类名或不同类的对象名即可区分覆盖方法和被覆盖方法</a:t>
            </a:r>
            <a:endParaRPr lang="en-US" altLang="zh-CN" dirty="0">
              <a:solidFill>
                <a:srgbClr val="C0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覆盖方法的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访问权限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可以比被覆盖的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宽松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，但是不能更为严格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250825" y="934346"/>
            <a:ext cx="8642350" cy="5807022"/>
          </a:xfrm>
        </p:spPr>
        <p:txBody>
          <a:bodyPr/>
          <a:lstStyle/>
          <a:p>
            <a:r>
              <a:rPr lang="zh-CN" altLang="en-US" sz="24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方法覆盖的应用场合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子类中实现与父类相同的功能，但采用不同的算法或公式 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在名字相同的方法中，要做比父类更多的事情 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在子类中需要取消从父类继承的方法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r>
              <a:rPr lang="zh-CN" altLang="en-US" sz="24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必须覆盖的方法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派生类必须覆盖基类中的抽象的方法，否则派生类自身也成为抽象类.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不能覆盖的方法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基类中声明为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的终结方法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基类中声明为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static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的静态方法</a:t>
            </a:r>
          </a:p>
          <a:p>
            <a:r>
              <a:rPr lang="zh-CN" altLang="en-US" sz="24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调用被覆盖的方法</a:t>
            </a:r>
          </a:p>
          <a:p>
            <a:pPr lvl="1"/>
            <a:r>
              <a:rPr lang="en-US" altLang="zh-CN" b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super.</a:t>
            </a:r>
            <a:r>
              <a:rPr lang="en-US" altLang="zh-CN" b="0" dirty="0" err="1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overriddenMethodName</a:t>
            </a:r>
            <a:r>
              <a:rPr lang="en-US" altLang="zh-CN" b="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();</a:t>
            </a:r>
            <a:endParaRPr lang="zh-CN" altLang="en-US" b="0" dirty="0">
              <a:solidFill>
                <a:srgbClr val="008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3.5.3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隐藏和覆盖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super</a:t>
            </a:r>
            <a:r>
              <a:rPr lang="zh-CN" altLang="en-US" sz="3200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：超类中的变量和方法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子类成员变量和方法  </a:t>
            </a:r>
            <a:endParaRPr lang="en-US" altLang="zh-CN" sz="28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超类成员变量和方法</a:t>
            </a:r>
          </a:p>
          <a:p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96" name="矩形 1"/>
          <p:cNvSpPr>
            <a:spLocks noChangeArrowheads="1"/>
          </p:cNvSpPr>
          <p:nvPr/>
        </p:nvSpPr>
        <p:spPr bwMode="auto">
          <a:xfrm>
            <a:off x="4716463" y="2349500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同名，隐藏超类中</a:t>
            </a:r>
          </a:p>
        </p:txBody>
      </p:sp>
      <p:sp>
        <p:nvSpPr>
          <p:cNvPr id="33797" name="AutoShape 8"/>
          <p:cNvSpPr>
            <a:spLocks/>
          </p:cNvSpPr>
          <p:nvPr/>
        </p:nvSpPr>
        <p:spPr bwMode="auto">
          <a:xfrm>
            <a:off x="4222750" y="2133600"/>
            <a:ext cx="349250" cy="944563"/>
          </a:xfrm>
          <a:prstGeom prst="rightBrace">
            <a:avLst>
              <a:gd name="adj1" fmla="val 41545"/>
              <a:gd name="adj2" fmla="val 50000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468313" y="116632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3.5.4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有继承时的构造方法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488063" cy="4896197"/>
          </a:xfrm>
        </p:spPr>
        <p:txBody>
          <a:bodyPr/>
          <a:lstStyle/>
          <a:p>
            <a:r>
              <a:rPr lang="zh-CN" altLang="en-US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有继承时的构造方法遵循以下原则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子类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不能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从父类继承构造方法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好的程序设计方法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是在子类的构造方法中调用某一个父类构造方法，调用语句必须出现在子类构造方法的第一行，可使用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super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关键字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如子类构造方法的声明中没有明确调用父类构造方法，则系统在执行子类的构造方法时会自动调用父类的默认构造方法（即无参的构造方法）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236538" y="980728"/>
            <a:ext cx="8229600" cy="576263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</a:p>
        </p:txBody>
      </p:sp>
      <p:sp>
        <p:nvSpPr>
          <p:cNvPr id="35843" name="Rectangle 3"/>
          <p:cNvSpPr txBox="1">
            <a:spLocks noChangeArrowheads="1"/>
          </p:cNvSpPr>
          <p:nvPr/>
        </p:nvSpPr>
        <p:spPr bwMode="auto">
          <a:xfrm>
            <a:off x="205233" y="1655427"/>
            <a:ext cx="8831263" cy="45370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Person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楷体_GB2312" pitchFamily="49" charset="-122"/>
              </a:rPr>
              <a:t>protected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String name,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phoneNumber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, address;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public Person()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{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this("", "", "");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}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public Person(String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aName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, String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aPhoneNumber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, String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anAddress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)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{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name=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aName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phoneNumber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=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aPhoneNumber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address=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anAddress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}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 </a:t>
            </a:r>
          </a:p>
        </p:txBody>
      </p:sp>
      <p:sp>
        <p:nvSpPr>
          <p:cNvPr id="358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3.5.4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有继承时的构造方法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 txBox="1">
            <a:spLocks noChangeArrowheads="1"/>
          </p:cNvSpPr>
          <p:nvPr/>
        </p:nvSpPr>
        <p:spPr bwMode="auto">
          <a:xfrm>
            <a:off x="250825" y="1051520"/>
            <a:ext cx="8656638" cy="5257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extends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 Person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protected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protected String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workPhoneNumber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 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public Employee()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         //</a:t>
            </a:r>
            <a:r>
              <a:rPr lang="zh-CN" altLang="en-US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此处隐含调用构造方法 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Person() 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 this(0, "");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   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  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public Employee (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aNumber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, String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aPhoneNumber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//</a:t>
            </a:r>
            <a:r>
              <a:rPr lang="zh-CN" altLang="en-US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此处隐含调用构造方法 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Person()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employeeNumber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=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workPhoneNumber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=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aPhoneNumber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}</a:t>
            </a:r>
          </a:p>
          <a:p>
            <a:pPr marL="0" lvl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 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3.5.4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有继承时的构造方法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3"/>
          <p:cNvSpPr txBox="1">
            <a:spLocks noChangeArrowheads="1"/>
          </p:cNvSpPr>
          <p:nvPr/>
        </p:nvSpPr>
        <p:spPr bwMode="auto">
          <a:xfrm>
            <a:off x="107504" y="1196752"/>
            <a:ext cx="8900319" cy="511256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Professor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extends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Employee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protected String research;     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public Professor()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super(); 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research = "";      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}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public Professor(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aNumber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, String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aPhoneNumber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, String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aResearch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)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super(</a:t>
            </a:r>
            <a:r>
              <a:rPr lang="en-US" altLang="zh-CN" sz="2000" b="1" dirty="0" err="1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aNumber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, </a:t>
            </a:r>
            <a:r>
              <a:rPr lang="en-US" altLang="zh-CN" sz="2000" b="1" dirty="0" err="1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aPhoneNumber</a:t>
            </a:r>
            <a:r>
              <a:rPr lang="en-US" altLang="zh-CN" sz="2000" b="1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);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research =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aResearch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}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3.5.4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有继承时的构造方法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</a:p>
          <a:p>
            <a:pPr marL="609600" indent="-609600" eaLnBrk="1" hangingPunct="1">
              <a:buFontTx/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224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992119" cy="5184775"/>
          </a:xfrm>
        </p:spPr>
        <p:txBody>
          <a:bodyPr/>
          <a:lstStyle/>
          <a:p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1"/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程序中所有类的直接或间接父类，类库中所有类的父类，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处在类层次最高点。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包含了所有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类的公共属性，其构造方法是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Object( )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9940" name="Picture 4" descr="Java5_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001963"/>
            <a:ext cx="5319713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646115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7499176" cy="5733256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类定义了所有对象必须具有的状态和行为，较主要的方法如下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final Class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getClass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</a:t>
            </a:r>
            <a:r>
              <a:rPr lang="en-US" altLang="zh-CN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 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获取当前对象所属的类信息，返回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对象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String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toString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返回当前对象本身的有关信息，按字符串对象返回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boolean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equals(Object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obj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)  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比较两个对象是否是同一对象，是则返回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true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protected Object clone( )  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生成当前对象的一个拷贝，并返回这个复制对象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hashCode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  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返回该对象的哈希代码值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protected void finalize() throws </a:t>
            </a:r>
            <a:r>
              <a:rPr lang="en-US" altLang="zh-CN" sz="2000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Throwable</a:t>
            </a:r>
            <a:r>
              <a:rPr lang="en-US" altLang="zh-CN" sz="2000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定义回收当前对象时所需完成的资源释放工作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468313" y="115891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18477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相等和同一的概念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两个对象具有相同的类型，及相同的属性值，则称二者相等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equal)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如果两个引用变量指向的是同一个对象，则称这两个变量(对象)同一 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identical)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两个对象同一，则肯定相等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两个对象相等，不一定同一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比较运算符“==” 判断的是这两个对象是否同一</a:t>
            </a: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402431" y="932725"/>
            <a:ext cx="8229600" cy="611187"/>
          </a:xfrm>
        </p:spPr>
        <p:txBody>
          <a:bodyPr/>
          <a:lstStyle/>
          <a:p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判断两个对象是否同一</a:t>
            </a:r>
          </a:p>
          <a:p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Rectangle 3"/>
          <p:cNvSpPr txBox="1">
            <a:spLocks noChangeArrowheads="1"/>
          </p:cNvSpPr>
          <p:nvPr/>
        </p:nvSpPr>
        <p:spPr bwMode="auto">
          <a:xfrm>
            <a:off x="481013" y="1527550"/>
            <a:ext cx="8072437" cy="39243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EqualTest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public static void main(String[]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a =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new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("Bob", 123456, 100.00f)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b =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new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("Bob", 123456, 100.00f)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if (a == b)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("YES");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else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("NO");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43012" name="内容占位符 2"/>
          <p:cNvSpPr txBox="1">
            <a:spLocks/>
          </p:cNvSpPr>
          <p:nvPr/>
        </p:nvSpPr>
        <p:spPr bwMode="auto">
          <a:xfrm>
            <a:off x="323850" y="5445224"/>
            <a:ext cx="8229600" cy="125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BankAccount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类已声明，此程序运行的结果为“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NO”，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原因是使用等号“==”判断的是两个对象是否同一，显然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是两个对象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115891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/>
          <p:cNvSpPr>
            <a:spLocks noGrp="1"/>
          </p:cNvSpPr>
          <p:nvPr>
            <p:ph idx="1"/>
          </p:nvPr>
        </p:nvSpPr>
        <p:spPr>
          <a:xfrm>
            <a:off x="323850" y="1085370"/>
            <a:ext cx="8229600" cy="503237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修改上程序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4035" name="内容占位符 2"/>
          <p:cNvSpPr txBox="1">
            <a:spLocks/>
          </p:cNvSpPr>
          <p:nvPr/>
        </p:nvSpPr>
        <p:spPr bwMode="auto">
          <a:xfrm>
            <a:off x="230188" y="5949280"/>
            <a:ext cx="8590284" cy="749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将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所指对象的引用赋给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b，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因此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指向的是同一个对象，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同一。输出结果为“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YES”</a:t>
            </a:r>
            <a:endParaRPr lang="zh-CN" altLang="en-US" sz="24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44036" name="Rectangle 3"/>
          <p:cNvSpPr txBox="1">
            <a:spLocks noChangeArrowheads="1"/>
          </p:cNvSpPr>
          <p:nvPr/>
        </p:nvSpPr>
        <p:spPr bwMode="auto">
          <a:xfrm>
            <a:off x="387350" y="1765925"/>
            <a:ext cx="8072438" cy="39258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EqualTest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public static void main(String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[]){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a =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new 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("Bob", 123456, 100.00f)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FF33CC"/>
                </a:solidFill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b = a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if (a == b)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("YES");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else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("NO");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115891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——equals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 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5184775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equals 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  <a:p>
            <a:pPr lvl="1">
              <a:spcBef>
                <a:spcPct val="3000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由于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是类层次结构中的树根节点，因此所有其他类都继承了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equals()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30000"/>
              </a:spcBef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类中的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equals()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方法的定义如下：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D0D0D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sz="2400" dirty="0" err="1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boolean</a:t>
            </a: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(Object x) { </a:t>
            </a:r>
          </a:p>
          <a:p>
            <a:pPr lvl="2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 return </a:t>
            </a:r>
            <a:r>
              <a:rPr lang="en-US" altLang="zh-CN" sz="24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this == x</a:t>
            </a: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; </a:t>
            </a:r>
          </a:p>
          <a:p>
            <a:pPr lvl="2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  <a:p>
            <a:pPr lvl="2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D0D0D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638175" lvl="2" indent="-342900">
              <a:buFont typeface="Wingdings" panose="05000000000000000000" pitchFamily="2" charset="2"/>
              <a:buChar char="n"/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可见，也是判断两个对象是否同一</a:t>
            </a:r>
            <a:endParaRPr lang="en-US" altLang="zh-CN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——equals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 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647700"/>
          </a:xfrm>
        </p:spPr>
        <p:txBody>
          <a:bodyPr/>
          <a:lstStyle/>
          <a:p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类中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方法的使用举例</a:t>
            </a:r>
          </a:p>
        </p:txBody>
      </p:sp>
      <p:sp>
        <p:nvSpPr>
          <p:cNvPr id="46084" name="Rectangle 3"/>
          <p:cNvSpPr txBox="1">
            <a:spLocks noChangeArrowheads="1"/>
          </p:cNvSpPr>
          <p:nvPr/>
        </p:nvSpPr>
        <p:spPr bwMode="auto">
          <a:xfrm>
            <a:off x="387350" y="1628775"/>
            <a:ext cx="8072438" cy="39243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EqualsTest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public static void main(String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[]){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a =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new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("Bob", 123456, 100.00f)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b =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new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("Bob", 123456, 100.00f)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if (</a:t>
            </a:r>
            <a:r>
              <a:rPr lang="en-US" altLang="zh-CN" sz="2000" dirty="0" err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a.equals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(b)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("YES");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else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("NO");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46085" name="内容占位符 2"/>
          <p:cNvSpPr txBox="1">
            <a:spLocks/>
          </p:cNvSpPr>
          <p:nvPr/>
        </p:nvSpPr>
        <p:spPr bwMode="auto">
          <a:xfrm>
            <a:off x="593366" y="5876925"/>
            <a:ext cx="729369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Century Schoolbook" panose="02040604050505020304" pitchFamily="18" charset="0"/>
                <a:ea typeface="黑体" panose="02010609060101010101" pitchFamily="49" charset="-122"/>
              </a:rPr>
              <a:t>由于不是同一对象，运行结果仍然是“</a:t>
            </a:r>
            <a:r>
              <a:rPr lang="en-US" altLang="zh-CN" sz="2400" b="1" dirty="0">
                <a:latin typeface="Century Schoolbook" panose="02040604050505020304" pitchFamily="18" charset="0"/>
                <a:ea typeface="黑体" panose="02010609060101010101" pitchFamily="49" charset="-122"/>
              </a:rPr>
              <a:t>NO”</a:t>
            </a:r>
            <a:endParaRPr lang="zh-CN" altLang="en-US" sz="2400" b="1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——equals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 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equlas</a:t>
            </a:r>
            <a:r>
              <a:rPr lang="zh-CN" altLang="en-US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方法重写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要判断两个对象各个属性域的值是否相同，则不能使用从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类继承来的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方法，而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需要在类声明中对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方法进行重写</a:t>
            </a:r>
          </a:p>
          <a:p>
            <a:pPr lvl="1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String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中已经重写了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方法，可以判别两个字符串是否内容相同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3.6 Object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——equals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 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524050" y="1196752"/>
            <a:ext cx="7864374" cy="1080120"/>
          </a:xfrm>
        </p:spPr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</a:t>
            </a:r>
            <a:r>
              <a:rPr lang="en-US" altLang="zh-CN" sz="2400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BankAccount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类中重写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方法，方法定义头部必须与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类中的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equals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方法完全相同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48132" name="Rectangle 3"/>
          <p:cNvSpPr txBox="1">
            <a:spLocks noChangeArrowheads="1"/>
          </p:cNvSpPr>
          <p:nvPr/>
        </p:nvSpPr>
        <p:spPr bwMode="auto">
          <a:xfrm>
            <a:off x="468313" y="2242590"/>
            <a:ext cx="8072437" cy="370827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public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boolean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equals(Object x) {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if (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this.getClass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 ) !=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x.getClass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 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	return false;     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b = 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BankAccount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 x;    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return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((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this.getName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 ).equals(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b.getName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 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))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   &amp;&amp;(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this.getAccountNumber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 ) ==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b.getAccountNumber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( )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)); 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</a:p>
          <a:p>
            <a:pPr marL="609600" indent="-609600" eaLnBrk="1" hangingPunct="1">
              <a:buFontTx/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579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3.7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终结类与终结方法</a:t>
            </a: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终结类与终结方法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被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修饰符修饰的类和方法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终结（</a:t>
            </a:r>
            <a:r>
              <a:rPr lang="en-US" altLang="zh-CN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zh-CN" altLang="en-US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）类不能被继承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终结</a:t>
            </a:r>
            <a:r>
              <a:rPr lang="zh-CN" altLang="en-US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zh-CN" altLang="en-US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方法不能被当前类的子类重写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3.7.1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 (final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488063" cy="45361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终结类的特点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不能有派生类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终结类存在的理由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安全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: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黑客用来搅乱系统的一个手法是建立一个类的派生类，然后用他们的类代替原来的类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设计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你认为你的类是最好的或从概念上你的类不应该有任何派生类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3.7.1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 (final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675687" cy="5184775"/>
          </a:xfrm>
        </p:spPr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举例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声明</a:t>
            </a:r>
            <a:r>
              <a:rPr lang="en-US" altLang="zh-CN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ChessAlgorithm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类为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final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1"/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class </a:t>
            </a:r>
            <a:r>
              <a:rPr lang="en-US" altLang="zh-CN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ChessAlgorithm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{   . . .   }</a:t>
            </a:r>
          </a:p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如果写下如下程序：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b="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b="0" dirty="0" err="1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BetterChessAlgorithm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extends </a:t>
            </a:r>
            <a:r>
              <a:rPr lang="en-US" altLang="zh-CN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b="0" dirty="0" err="1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hessAlgorithm</a:t>
            </a:r>
            <a:endParaRPr lang="en-US" altLang="zh-CN" b="0" dirty="0">
              <a:solidFill>
                <a:srgbClr val="0D0D0D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344487" lvl="1" indent="0">
              <a:buNone/>
            </a:pP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b="0" dirty="0">
                <a:solidFill>
                  <a:srgbClr val="0D0D0D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{ … }</a:t>
            </a:r>
          </a:p>
          <a:p>
            <a:endParaRPr lang="zh-CN" altLang="en-US" dirty="0">
              <a:ea typeface="宋体" panose="02010600030101010101" pitchFamily="2" charset="-122"/>
            </a:endParaRPr>
          </a:p>
          <a:p>
            <a:pPr lvl="1"/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52228" name="Rectangle 3"/>
          <p:cNvSpPr txBox="1">
            <a:spLocks noChangeArrowheads="1"/>
          </p:cNvSpPr>
          <p:nvPr/>
        </p:nvSpPr>
        <p:spPr bwMode="auto">
          <a:xfrm>
            <a:off x="535781" y="3933056"/>
            <a:ext cx="8072437" cy="208848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编译器将显示一个错误</a:t>
            </a: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Chess.java:6: Can't subclass final classes: class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ChessAlgorithm</a:t>
            </a:r>
            <a:endParaRPr lang="en-US" altLang="zh-CN" sz="20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0" lvl="1"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BetterChessAlgorithm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extends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ChessAlgorithm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{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^</a:t>
            </a:r>
          </a:p>
          <a:p>
            <a:pPr marL="0" lvl="1">
              <a:lnSpc>
                <a:spcPct val="5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1 error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3.7.2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终结方法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(final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920111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终结方法的特点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不能被派生类覆盖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/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重写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终结方法存在的理由</a:t>
            </a:r>
            <a:endParaRPr lang="en-US" altLang="zh-CN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对于一些比较重要且不希望子类进行更改的方法，可以声明为终结方法。可防止子类对父类关键方法的错误重写，增加了代码的安全性和正确性</a:t>
            </a:r>
          </a:p>
          <a:p>
            <a:pPr lvl="1">
              <a:lnSpc>
                <a:spcPct val="12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提高运行效率。通常，当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运行环境，如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解释器运行方法时，它将首先在当前类中查找该方法，接下来在其超类中查找，并一直沿类层次向上查找，直到找到该方法为止。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内容占位符 2"/>
          <p:cNvSpPr>
            <a:spLocks noGrp="1"/>
          </p:cNvSpPr>
          <p:nvPr>
            <p:ph idx="1"/>
          </p:nvPr>
        </p:nvSpPr>
        <p:spPr>
          <a:xfrm>
            <a:off x="427038" y="980728"/>
            <a:ext cx="8229600" cy="503238"/>
          </a:xfrm>
        </p:spPr>
        <p:txBody>
          <a:bodyPr/>
          <a:lstStyle/>
          <a:p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 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方法举例</a:t>
            </a:r>
          </a:p>
          <a:p>
            <a:endParaRPr lang="zh-CN" altLang="en-US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54275" name="Rectangle 3"/>
          <p:cNvSpPr txBox="1">
            <a:spLocks noChangeArrowheads="1"/>
          </p:cNvSpPr>
          <p:nvPr/>
        </p:nvSpPr>
        <p:spPr bwMode="auto">
          <a:xfrm>
            <a:off x="520884" y="1628800"/>
            <a:ext cx="8072437" cy="16559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ts val="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Parent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public Parent() {   }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构造方法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getPI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return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Math.PI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; }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终结方法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54276" name="内容占位符 2"/>
          <p:cNvSpPr txBox="1">
            <a:spLocks/>
          </p:cNvSpPr>
          <p:nvPr/>
        </p:nvSpPr>
        <p:spPr bwMode="auto">
          <a:xfrm>
            <a:off x="427038" y="3592802"/>
            <a:ext cx="8229600" cy="2592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92150" indent="-347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说明</a:t>
            </a:r>
          </a:p>
          <a:p>
            <a:pPr lvl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getPI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()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是用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final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修饰符声明的终结方法，不能在子类中对该方法进行重载。如下声明是错的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endParaRPr lang="zh-CN" altLang="en-US" sz="28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4344" y="4844948"/>
            <a:ext cx="8072437" cy="16721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Child extends Parent</a:t>
            </a: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</a:t>
            </a: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public Child() {   } 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构造方法</a:t>
            </a: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getPI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return 3.14; }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重写父类中的终结方法，不允许</a:t>
            </a:r>
          </a:p>
          <a:p>
            <a:pPr marL="0" lvl="1" fontAlgn="auto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3.7.2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终结方法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(final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</a:p>
          <a:p>
            <a:pPr marL="609600" indent="-609600" eaLnBrk="1" hangingPunct="1">
              <a:buFontTx/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032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3.8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抽象类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(abstract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468312" y="981075"/>
            <a:ext cx="8280151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抽象类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代表一个抽象概念的类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没有具体实例对象的类，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不能使用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new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方法进行实例化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类前需加修饰符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abstract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可包含常规类能够包含的任何东西，例如构造方法，非抽象方法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也可包含抽象方法，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这种方法只有方法的声明，而没有方法的实现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3.8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(abstract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468313" y="1196752"/>
            <a:ext cx="8064127" cy="496909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存在意义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抽象类是类层次中较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高层次的概括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，抽象类的作用是让其他类来继承它的抽象化的特征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抽象类中可以包括被它的所有子类共享的公共行为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抽象类可以包括被它的所有子类共享的公共属性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在用户生成实例时</a:t>
            </a:r>
            <a:r>
              <a:rPr lang="zh-CN" altLang="en-US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强迫用户生成更具体的实例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，保证代码的安全性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3.8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(abstract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011688" cy="5184775"/>
          </a:xfrm>
        </p:spPr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将所有图形的公共属性及方法抽象到抽象类</a:t>
            </a:r>
            <a:r>
              <a:rPr lang="en-US" altLang="zh-CN" sz="2400" b="0" dirty="0">
                <a:solidFill>
                  <a:schemeClr val="tx2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Shape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。</a:t>
            </a:r>
            <a:endParaRPr lang="en-US" altLang="zh-CN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将2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及3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对象的特性分别抽取出来，形成两个抽象类</a:t>
            </a:r>
            <a:r>
              <a:rPr lang="en-US" altLang="zh-CN" sz="2400" b="0" dirty="0" err="1">
                <a:solidFill>
                  <a:schemeClr val="tx2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TwoDimensionalShape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及</a:t>
            </a:r>
            <a:r>
              <a:rPr lang="en-US" altLang="zh-CN" sz="2400" b="0" dirty="0" err="1">
                <a:solidFill>
                  <a:schemeClr val="tx2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ThreeDimensionalShape</a:t>
            </a:r>
            <a:endParaRPr lang="zh-CN" altLang="en-US" sz="2400" b="0" dirty="0">
              <a:solidFill>
                <a:schemeClr val="tx2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图形包括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Circles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Triangles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Rectangles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Squares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图形包括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Cube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Sphere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、或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Tetrahedron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8372" name="Group 5"/>
          <p:cNvGrpSpPr>
            <a:grpSpLocks/>
          </p:cNvGrpSpPr>
          <p:nvPr/>
        </p:nvGrpSpPr>
        <p:grpSpPr bwMode="auto">
          <a:xfrm>
            <a:off x="663999" y="3527686"/>
            <a:ext cx="7816001" cy="2865177"/>
            <a:chOff x="2105" y="9355"/>
            <a:chExt cx="7696" cy="3818"/>
          </a:xfrm>
        </p:grpSpPr>
        <p:sp>
          <p:nvSpPr>
            <p:cNvPr id="58373" name="Line 6"/>
            <p:cNvSpPr>
              <a:spLocks noChangeShapeType="1"/>
            </p:cNvSpPr>
            <p:nvPr/>
          </p:nvSpPr>
          <p:spPr bwMode="auto">
            <a:xfrm>
              <a:off x="5130" y="12393"/>
              <a:ext cx="0" cy="33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8374" name="Group 7"/>
            <p:cNvGrpSpPr>
              <a:grpSpLocks/>
            </p:cNvGrpSpPr>
            <p:nvPr/>
          </p:nvGrpSpPr>
          <p:grpSpPr bwMode="auto">
            <a:xfrm>
              <a:off x="2105" y="9355"/>
              <a:ext cx="7696" cy="3818"/>
              <a:chOff x="2105" y="9355"/>
              <a:chExt cx="7696" cy="3818"/>
            </a:xfrm>
          </p:grpSpPr>
          <p:sp>
            <p:nvSpPr>
              <p:cNvPr id="58375" name="AutoShape 8"/>
              <p:cNvSpPr>
                <a:spLocks noChangeArrowheads="1"/>
              </p:cNvSpPr>
              <p:nvPr/>
            </p:nvSpPr>
            <p:spPr bwMode="auto">
              <a:xfrm>
                <a:off x="3720" y="11087"/>
                <a:ext cx="143" cy="143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5490A8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8376" name="Group 9"/>
              <p:cNvGrpSpPr>
                <a:grpSpLocks/>
              </p:cNvGrpSpPr>
              <p:nvPr/>
            </p:nvGrpSpPr>
            <p:grpSpPr bwMode="auto">
              <a:xfrm>
                <a:off x="2105" y="9355"/>
                <a:ext cx="7696" cy="3818"/>
                <a:chOff x="2115" y="9355"/>
                <a:chExt cx="7696" cy="3818"/>
              </a:xfrm>
            </p:grpSpPr>
            <p:sp>
              <p:nvSpPr>
                <p:cNvPr id="5837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5160" y="9355"/>
                  <a:ext cx="1335" cy="435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noFill/>
                  <a:miter lim="800000"/>
                  <a:headEnd/>
                  <a:tailEnd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 i="1" dirty="0">
                      <a:solidFill>
                        <a:srgbClr val="3333FF"/>
                      </a:solidFill>
                    </a:rPr>
                    <a:t>Shape</a:t>
                  </a:r>
                </a:p>
              </p:txBody>
            </p:sp>
            <p:sp>
              <p:nvSpPr>
                <p:cNvPr id="5837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115" y="11778"/>
                  <a:ext cx="855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/>
                    <a:t>Circle</a:t>
                  </a:r>
                </a:p>
              </p:txBody>
            </p:sp>
            <p:sp>
              <p:nvSpPr>
                <p:cNvPr id="5837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195" y="11793"/>
                  <a:ext cx="1110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 dirty="0"/>
                    <a:t>Triangle</a:t>
                  </a:r>
                </a:p>
              </p:txBody>
            </p:sp>
            <p:sp>
              <p:nvSpPr>
                <p:cNvPr id="58380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560" y="11808"/>
                  <a:ext cx="1200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/>
                    <a:t>Rectangle</a:t>
                  </a:r>
                </a:p>
              </p:txBody>
            </p:sp>
            <p:sp>
              <p:nvSpPr>
                <p:cNvPr id="5838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560" y="12738"/>
                  <a:ext cx="1245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/>
                    <a:t>Square</a:t>
                  </a:r>
                </a:p>
              </p:txBody>
            </p:sp>
            <p:sp>
              <p:nvSpPr>
                <p:cNvPr id="58382" name="AutoShape 15"/>
                <p:cNvSpPr>
                  <a:spLocks noChangeArrowheads="1"/>
                </p:cNvSpPr>
                <p:nvPr/>
              </p:nvSpPr>
              <p:spPr bwMode="auto">
                <a:xfrm>
                  <a:off x="5760" y="9827"/>
                  <a:ext cx="143" cy="143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8383" name="AutoShape 16"/>
                <p:cNvSpPr>
                  <a:spLocks noChangeArrowheads="1"/>
                </p:cNvSpPr>
                <p:nvPr/>
              </p:nvSpPr>
              <p:spPr bwMode="auto">
                <a:xfrm>
                  <a:off x="5055" y="12243"/>
                  <a:ext cx="143" cy="143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8384" name="Line 17"/>
                <p:cNvSpPr>
                  <a:spLocks noChangeShapeType="1"/>
                </p:cNvSpPr>
                <p:nvPr/>
              </p:nvSpPr>
              <p:spPr bwMode="auto">
                <a:xfrm>
                  <a:off x="2580" y="11478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85" name="Line 18"/>
                <p:cNvSpPr>
                  <a:spLocks noChangeShapeType="1"/>
                </p:cNvSpPr>
                <p:nvPr/>
              </p:nvSpPr>
              <p:spPr bwMode="auto">
                <a:xfrm>
                  <a:off x="5115" y="11508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8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430" y="10637"/>
                  <a:ext cx="2640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 i="1" dirty="0" err="1">
                      <a:solidFill>
                        <a:schemeClr val="tx2"/>
                      </a:solidFill>
                    </a:rPr>
                    <a:t>TwoDimensionalShap</a:t>
                  </a:r>
                  <a:r>
                    <a:rPr lang="en-US" altLang="zh-CN" b="1" dirty="0" err="1">
                      <a:solidFill>
                        <a:schemeClr val="tx2"/>
                      </a:solidFill>
                    </a:rPr>
                    <a:t>e</a:t>
                  </a:r>
                  <a:endParaRPr lang="en-US" altLang="zh-CN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5838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6330" y="10622"/>
                  <a:ext cx="2835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 i="1">
                      <a:solidFill>
                        <a:schemeClr val="tx2"/>
                      </a:solidFill>
                    </a:rPr>
                    <a:t>ThreeDimensionalShap</a:t>
                  </a:r>
                  <a:r>
                    <a:rPr lang="en-US" altLang="zh-CN" b="1">
                      <a:solidFill>
                        <a:schemeClr val="tx2"/>
                      </a:solidFill>
                    </a:rPr>
                    <a:t>e</a:t>
                  </a:r>
                </a:p>
              </p:txBody>
            </p:sp>
            <p:sp>
              <p:nvSpPr>
                <p:cNvPr id="58388" name="Line 21"/>
                <p:cNvSpPr>
                  <a:spLocks noChangeShapeType="1"/>
                </p:cNvSpPr>
                <p:nvPr/>
              </p:nvSpPr>
              <p:spPr bwMode="auto">
                <a:xfrm>
                  <a:off x="3780" y="11238"/>
                  <a:ext cx="0" cy="555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89" name="Line 22"/>
                <p:cNvSpPr>
                  <a:spLocks noChangeShapeType="1"/>
                </p:cNvSpPr>
                <p:nvPr/>
              </p:nvSpPr>
              <p:spPr bwMode="auto">
                <a:xfrm>
                  <a:off x="2565" y="11486"/>
                  <a:ext cx="255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9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6185" y="11815"/>
                  <a:ext cx="855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/>
                    <a:t>Cube</a:t>
                  </a:r>
                </a:p>
              </p:txBody>
            </p:sp>
            <p:sp>
              <p:nvSpPr>
                <p:cNvPr id="58391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7254" y="11853"/>
                  <a:ext cx="1110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 dirty="0"/>
                    <a:t>Sphere</a:t>
                  </a:r>
                </a:p>
              </p:txBody>
            </p:sp>
            <p:sp>
              <p:nvSpPr>
                <p:cNvPr id="58392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8476" y="11850"/>
                  <a:ext cx="1335" cy="435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600" b="1" dirty="0"/>
                    <a:t>Tetrahedron</a:t>
                  </a:r>
                </a:p>
              </p:txBody>
            </p:sp>
            <p:sp>
              <p:nvSpPr>
                <p:cNvPr id="58393" name="Line 26"/>
                <p:cNvSpPr>
                  <a:spLocks noChangeShapeType="1"/>
                </p:cNvSpPr>
                <p:nvPr/>
              </p:nvSpPr>
              <p:spPr bwMode="auto">
                <a:xfrm>
                  <a:off x="6600" y="11484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94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9135" y="11478"/>
                  <a:ext cx="0" cy="39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95" name="AutoShape 28"/>
                <p:cNvSpPr>
                  <a:spLocks noChangeArrowheads="1"/>
                </p:cNvSpPr>
                <p:nvPr/>
              </p:nvSpPr>
              <p:spPr bwMode="auto">
                <a:xfrm>
                  <a:off x="7740" y="11057"/>
                  <a:ext cx="143" cy="143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8396" name="Line 29"/>
                <p:cNvSpPr>
                  <a:spLocks noChangeShapeType="1"/>
                </p:cNvSpPr>
                <p:nvPr/>
              </p:nvSpPr>
              <p:spPr bwMode="auto">
                <a:xfrm>
                  <a:off x="7800" y="11208"/>
                  <a:ext cx="0" cy="66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97" name="Line 30"/>
                <p:cNvSpPr>
                  <a:spLocks noChangeShapeType="1"/>
                </p:cNvSpPr>
                <p:nvPr/>
              </p:nvSpPr>
              <p:spPr bwMode="auto">
                <a:xfrm>
                  <a:off x="6585" y="11456"/>
                  <a:ext cx="255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98" name="Line 31"/>
                <p:cNvSpPr>
                  <a:spLocks noChangeShapeType="1"/>
                </p:cNvSpPr>
                <p:nvPr/>
              </p:nvSpPr>
              <p:spPr bwMode="auto">
                <a:xfrm>
                  <a:off x="5835" y="9986"/>
                  <a:ext cx="0" cy="195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99" name="Line 32"/>
                <p:cNvSpPr>
                  <a:spLocks noChangeShapeType="1"/>
                </p:cNvSpPr>
                <p:nvPr/>
              </p:nvSpPr>
              <p:spPr bwMode="auto">
                <a:xfrm>
                  <a:off x="3750" y="10196"/>
                  <a:ext cx="402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00" name="Line 33"/>
                <p:cNvSpPr>
                  <a:spLocks noChangeShapeType="1"/>
                </p:cNvSpPr>
                <p:nvPr/>
              </p:nvSpPr>
              <p:spPr bwMode="auto">
                <a:xfrm>
                  <a:off x="3750" y="10196"/>
                  <a:ext cx="0" cy="42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01" name="Line 34"/>
                <p:cNvSpPr>
                  <a:spLocks noChangeShapeType="1"/>
                </p:cNvSpPr>
                <p:nvPr/>
              </p:nvSpPr>
              <p:spPr bwMode="auto">
                <a:xfrm>
                  <a:off x="7770" y="10211"/>
                  <a:ext cx="0" cy="42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5490A8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cxnSp>
        <p:nvCxnSpPr>
          <p:cNvPr id="34" name="直接连接符 3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3.8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(abstract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848103" cy="5184775"/>
          </a:xfrm>
        </p:spPr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举例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如果在应用系统中涉及到的人员只包括：</a:t>
            </a:r>
            <a:r>
              <a:rPr lang="en-US" altLang="zh-CN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Customers，Employees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及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Managers。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则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Person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类的子类对象覆盖了应用中的对象，可以将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Person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类声明为抽象类</a:t>
            </a:r>
          </a:p>
        </p:txBody>
      </p:sp>
      <p:grpSp>
        <p:nvGrpSpPr>
          <p:cNvPr id="59396" name="Group 5"/>
          <p:cNvGrpSpPr>
            <a:grpSpLocks/>
          </p:cNvGrpSpPr>
          <p:nvPr/>
        </p:nvGrpSpPr>
        <p:grpSpPr bwMode="auto">
          <a:xfrm>
            <a:off x="2514600" y="3429000"/>
            <a:ext cx="4191000" cy="2743200"/>
            <a:chOff x="5790" y="3061"/>
            <a:chExt cx="3420" cy="2820"/>
          </a:xfrm>
        </p:grpSpPr>
        <p:sp>
          <p:nvSpPr>
            <p:cNvPr id="59397" name="Text Box 6"/>
            <p:cNvSpPr txBox="1">
              <a:spLocks noChangeArrowheads="1"/>
            </p:cNvSpPr>
            <p:nvPr/>
          </p:nvSpPr>
          <p:spPr bwMode="auto">
            <a:xfrm>
              <a:off x="6870" y="3061"/>
              <a:ext cx="1215" cy="465"/>
            </a:xfrm>
            <a:prstGeom prst="rect">
              <a:avLst/>
            </a:prstGeom>
            <a:solidFill>
              <a:srgbClr val="92D050"/>
            </a:solidFill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 i="1">
                  <a:solidFill>
                    <a:srgbClr val="0000FF"/>
                  </a:solidFill>
                </a:rPr>
                <a:t>Person</a:t>
              </a:r>
            </a:p>
          </p:txBody>
        </p:sp>
        <p:sp>
          <p:nvSpPr>
            <p:cNvPr id="59398" name="Text Box 7"/>
            <p:cNvSpPr txBox="1">
              <a:spLocks noChangeArrowheads="1"/>
            </p:cNvSpPr>
            <p:nvPr/>
          </p:nvSpPr>
          <p:spPr bwMode="auto">
            <a:xfrm>
              <a:off x="5790" y="4291"/>
              <a:ext cx="1215" cy="46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Employee</a:t>
              </a:r>
            </a:p>
          </p:txBody>
        </p:sp>
        <p:sp>
          <p:nvSpPr>
            <p:cNvPr id="59399" name="Text Box 8"/>
            <p:cNvSpPr txBox="1">
              <a:spLocks noChangeArrowheads="1"/>
            </p:cNvSpPr>
            <p:nvPr/>
          </p:nvSpPr>
          <p:spPr bwMode="auto">
            <a:xfrm>
              <a:off x="5820" y="5416"/>
              <a:ext cx="1215" cy="46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Manager</a:t>
              </a:r>
            </a:p>
          </p:txBody>
        </p:sp>
        <p:sp>
          <p:nvSpPr>
            <p:cNvPr id="59400" name="AutoShape 9"/>
            <p:cNvSpPr>
              <a:spLocks noChangeArrowheads="1"/>
            </p:cNvSpPr>
            <p:nvPr/>
          </p:nvSpPr>
          <p:spPr bwMode="auto">
            <a:xfrm>
              <a:off x="7455" y="3541"/>
              <a:ext cx="143" cy="1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401" name="AutoShape 10"/>
            <p:cNvSpPr>
              <a:spLocks noChangeArrowheads="1"/>
            </p:cNvSpPr>
            <p:nvPr/>
          </p:nvSpPr>
          <p:spPr bwMode="auto">
            <a:xfrm>
              <a:off x="6360" y="4771"/>
              <a:ext cx="143" cy="18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402" name="Line 11"/>
            <p:cNvSpPr>
              <a:spLocks noChangeShapeType="1"/>
            </p:cNvSpPr>
            <p:nvPr/>
          </p:nvSpPr>
          <p:spPr bwMode="auto">
            <a:xfrm>
              <a:off x="6435" y="4966"/>
              <a:ext cx="0" cy="45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3" name="Text Box 12"/>
            <p:cNvSpPr txBox="1">
              <a:spLocks noChangeArrowheads="1"/>
            </p:cNvSpPr>
            <p:nvPr/>
          </p:nvSpPr>
          <p:spPr bwMode="auto">
            <a:xfrm>
              <a:off x="7995" y="4231"/>
              <a:ext cx="1215" cy="46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Customer</a:t>
              </a:r>
            </a:p>
          </p:txBody>
        </p:sp>
        <p:sp>
          <p:nvSpPr>
            <p:cNvPr id="59404" name="Line 13"/>
            <p:cNvSpPr>
              <a:spLocks noChangeShapeType="1"/>
            </p:cNvSpPr>
            <p:nvPr/>
          </p:nvSpPr>
          <p:spPr bwMode="auto">
            <a:xfrm>
              <a:off x="7530" y="3735"/>
              <a:ext cx="0" cy="16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5" name="Line 14"/>
            <p:cNvSpPr>
              <a:spLocks noChangeShapeType="1"/>
            </p:cNvSpPr>
            <p:nvPr/>
          </p:nvSpPr>
          <p:spPr bwMode="auto">
            <a:xfrm>
              <a:off x="6420" y="3930"/>
              <a:ext cx="213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Line 15"/>
            <p:cNvSpPr>
              <a:spLocks noChangeShapeType="1"/>
            </p:cNvSpPr>
            <p:nvPr/>
          </p:nvSpPr>
          <p:spPr bwMode="auto">
            <a:xfrm>
              <a:off x="6390" y="3930"/>
              <a:ext cx="0" cy="37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Line 16"/>
            <p:cNvSpPr>
              <a:spLocks noChangeShapeType="1"/>
            </p:cNvSpPr>
            <p:nvPr/>
          </p:nvSpPr>
          <p:spPr bwMode="auto">
            <a:xfrm>
              <a:off x="8550" y="3930"/>
              <a:ext cx="0" cy="30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490A8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464050"/>
          </a:xfrm>
        </p:spPr>
        <p:txBody>
          <a:bodyPr/>
          <a:lstStyle/>
          <a:p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抽象类声明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语法形式为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  abstract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class Number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   . . 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}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   如果写： </a:t>
            </a:r>
            <a:r>
              <a:rPr lang="en-US" altLang="zh-CN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new Number();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   编译器将显示错误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04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3.8.1 abstract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类声明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3.8.2 abstract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234156" y="1052736"/>
            <a:ext cx="8675687" cy="5616624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抽象方法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声明的语法形式为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abstract</a:t>
            </a:r>
            <a:r>
              <a:rPr lang="en-US" altLang="zh-CN" dirty="0">
                <a:solidFill>
                  <a:srgbClr val="FFCC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&lt;</a:t>
            </a:r>
            <a:r>
              <a:rPr lang="en-US" altLang="zh-CN" dirty="0" err="1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returnType</a:t>
            </a: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&gt;  &lt;</a:t>
            </a:r>
            <a:r>
              <a:rPr lang="en-US" altLang="zh-CN" dirty="0" err="1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methodName</a:t>
            </a: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&gt;(...);</a:t>
            </a:r>
            <a:endParaRPr lang="zh-CN" altLang="en-US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仅有方法头，而没有方法体和操作实现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具体实现由当前类的不同子类在它们各自的类声明中完成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抽象类可以包含抽象方法</a:t>
            </a:r>
            <a:endParaRPr lang="en-US" altLang="zh-CN" b="0" dirty="0">
              <a:solidFill>
                <a:srgbClr val="3333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需注意的问题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一个抽象类的子类如果不是抽象类，则它必须为父类中的所有抽象方法编写方法体，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即重写父类中的所有抽象方法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只有抽象类才能具有抽象方法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，即如果一个类中含有抽象方法，则必须将这个类声明为抽象类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除了抽象方法，</a:t>
            </a:r>
            <a:r>
              <a:rPr lang="zh-CN" altLang="en-US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抽象类中还可以包括非抽象方法 </a:t>
            </a:r>
            <a:endParaRPr lang="en-US" altLang="zh-CN" b="0" dirty="0">
              <a:solidFill>
                <a:srgbClr val="3333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60937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3.8.2 abstract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488063" cy="51847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抽象方法优点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隐藏具体的细节信息，所有的子类使用的都是相同的方法头，其中包含了调用该方法时需要了解的全部信息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强迫子类完成指定的行为，规定其子类需要用到的“标准”行为</a:t>
            </a:r>
            <a:endParaRPr lang="zh-CN" altLang="en-US" sz="2000" b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79388" y="115888"/>
            <a:ext cx="7704980" cy="1441450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绘图实例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各种图形都需要实现绘图方法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可在它们的抽象父类中声明一个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draw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抽象方法</a:t>
            </a:r>
          </a:p>
        </p:txBody>
      </p:sp>
      <p:pic>
        <p:nvPicPr>
          <p:cNvPr id="5" name="Picture 5" descr="Java5_g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12776"/>
            <a:ext cx="5760640" cy="1590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80198" y="3256067"/>
            <a:ext cx="5111881" cy="197313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abstract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class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GraphicObject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x, y;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void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moveTo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newX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,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newY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) { . . .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楷体_GB2312" pitchFamily="49" charset="-122"/>
              </a:rPr>
              <a:t>abstract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void draw();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252289" y="5446878"/>
            <a:ext cx="56878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92150" lvl="1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然后在每一个子类中重写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draw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endParaRPr lang="zh-CN" altLang="en-US" sz="2800" b="1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139952" y="4423677"/>
            <a:ext cx="4924425" cy="24495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class Circle extends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GraphicObject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</a:t>
            </a:r>
          </a:p>
          <a:p>
            <a:pPr marL="0" lvl="1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void draw() {  . . .  }</a:t>
            </a:r>
          </a:p>
          <a:p>
            <a:pPr marL="0" lvl="1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  <a:p>
            <a:pPr marL="0" lvl="1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class Rectangle extends </a:t>
            </a:r>
            <a:r>
              <a:rPr lang="en-US" altLang="zh-CN" sz="2000" dirty="0" err="1">
                <a:latin typeface="Century Schoolbook" panose="02040604050505020304" pitchFamily="18" charset="0"/>
                <a:ea typeface="楷体_GB2312" pitchFamily="49" charset="-122"/>
              </a:rPr>
              <a:t>GraphicObject</a:t>
            </a: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{</a:t>
            </a:r>
          </a:p>
          <a:p>
            <a:pPr marL="0" lvl="1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    void draw() {  . . .  }</a:t>
            </a:r>
          </a:p>
          <a:p>
            <a:pPr marL="0" lvl="1" fontAlgn="auto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>
                <a:schemeClr val="accent2"/>
              </a:buClr>
              <a:buSzPct val="70000"/>
              <a:defRPr/>
            </a:pPr>
            <a:r>
              <a:rPr lang="en-US" altLang="zh-CN" sz="2000" dirty="0">
                <a:latin typeface="Century Schoolbook" panose="02040604050505020304" pitchFamily="18" charset="0"/>
                <a:ea typeface="楷体_GB2312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770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</a:p>
          <a:p>
            <a:pPr marL="609600" indent="-609600" eaLnBrk="1" hangingPunct="1">
              <a:buFontTx/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3474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(composition)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316800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现实世界中，大多数对象由更小的对象组成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软件中的对象也常常是由更小的对象组成</a:t>
            </a:r>
          </a:p>
          <a:p>
            <a:pPr lvl="1">
              <a:lnSpc>
                <a:spcPct val="15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的类中可以有其他类的对象作为成员，这便是类的组合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136135" cy="3384029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组合的语法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组合的语法很简单，只要把已存在类的对象放到新类中即可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可以使用“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has a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语句来描述这种关系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例如，考虑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Kitchen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类提供烹饪和冷藏食品的功能， “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my kitchen 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'has a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' cooker/refrigerator”。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所以，可简单地将</a:t>
            </a:r>
            <a:r>
              <a:rPr lang="zh-CN" altLang="en-US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对象</a:t>
            </a:r>
            <a:r>
              <a:rPr lang="en-US" altLang="zh-CN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myCooker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b="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myRefrigerator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放在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Kitchen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中。格式如下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8612" name="Rectangle 3"/>
          <p:cNvSpPr txBox="1">
            <a:spLocks noChangeArrowheads="1"/>
          </p:cNvSpPr>
          <p:nvPr/>
        </p:nvSpPr>
        <p:spPr bwMode="auto">
          <a:xfrm>
            <a:off x="466725" y="4385253"/>
            <a:ext cx="8210550" cy="237561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Cooker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 // 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类的语句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Refrigerator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 // 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类的语句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Kitchen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Cooker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myCooker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 Refrigerator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myRefrigerator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举例：一条线段包含两个端点</a:t>
            </a:r>
          </a:p>
        </p:txBody>
      </p:sp>
      <p:sp>
        <p:nvSpPr>
          <p:cNvPr id="69636" name="Rectangle 3"/>
          <p:cNvSpPr txBox="1">
            <a:spLocks noChangeArrowheads="1"/>
          </p:cNvSpPr>
          <p:nvPr/>
        </p:nvSpPr>
        <p:spPr bwMode="auto">
          <a:xfrm>
            <a:off x="468313" y="1628775"/>
            <a:ext cx="8210550" cy="2879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Point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点类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private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x, y;  //coordinate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public 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Point(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x,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y)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{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this.x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= x;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this.y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= y;}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public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GetX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return x;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public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GetY</a:t>
            </a:r>
            <a:r>
              <a:rPr lang="en-US" altLang="zh-CN" sz="200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return y;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 txBox="1">
            <a:spLocks noChangeArrowheads="1"/>
          </p:cNvSpPr>
          <p:nvPr/>
        </p:nvSpPr>
        <p:spPr bwMode="auto">
          <a:xfrm>
            <a:off x="466725" y="1063968"/>
            <a:ext cx="8210550" cy="553338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class Line  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线段类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private Point  p1,p2;   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// 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两端点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Line(Point a, Point b)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p1 = new Point(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a.GetX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(),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a.GetY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());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p2 = new Point(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b.GetX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(),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b.GetY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());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}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double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Length()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 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return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Math.sqrt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Math.pow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(p2.GetX() - p1.GetX(), 2)  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                          +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Math.pow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(p2.GetY() - p1.GetY(), 2));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}</a:t>
            </a: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内容占位符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622" cy="5041106"/>
          </a:xfrm>
        </p:spPr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组合与继承的比较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“包含”关系用组合来表达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如果想利用新类内部一个现有类的特性，而不想使用它的接口，通常应选择组合，我们需在新类里嵌入现有类的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private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对象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如果想让类用户直接访问新类的组合成分，需要将成员对象的属性变为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public</a:t>
            </a:r>
            <a:endParaRPr lang="zh-CN" altLang="en-US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3333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“属于”关系用继承来表达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取得一个现成的类，并制作它的一个特殊版本。通常，这意味着我们准备使用一个常规用途的类，并根据特定需求对其进行定制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组合与继承的比较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543800" cy="1727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Car（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汽车）对象，由于汽车的装配是故障分析时需要考虑的一项因素，所以有助于客户程序员理解如何使用类，而且类创建者的编程复杂程度也会大幅度降低。</a:t>
            </a:r>
            <a:endParaRPr lang="en-US" altLang="zh-CN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2708" name="Rectangle 3"/>
          <p:cNvSpPr txBox="1">
            <a:spLocks noChangeArrowheads="1"/>
          </p:cNvSpPr>
          <p:nvPr/>
        </p:nvSpPr>
        <p:spPr bwMode="auto">
          <a:xfrm>
            <a:off x="468313" y="2603869"/>
            <a:ext cx="4169910" cy="20161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Engine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{ 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发动机类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void start() { ……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void rev() { ……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void stop() { ……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72709" name="Rectangle 3"/>
          <p:cNvSpPr txBox="1">
            <a:spLocks noChangeArrowheads="1"/>
          </p:cNvSpPr>
          <p:nvPr/>
        </p:nvSpPr>
        <p:spPr bwMode="auto">
          <a:xfrm>
            <a:off x="4875221" y="2603869"/>
            <a:ext cx="3744913" cy="199070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Wheel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{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车轮类 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void inflate(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psi) {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…….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72710" name="Rectangle 3"/>
          <p:cNvSpPr txBox="1">
            <a:spLocks noChangeArrowheads="1"/>
          </p:cNvSpPr>
          <p:nvPr/>
        </p:nvSpPr>
        <p:spPr bwMode="auto">
          <a:xfrm>
            <a:off x="5364088" y="4715296"/>
            <a:ext cx="3743325" cy="15843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Window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{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车窗类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void rollup() {……}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public void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rolldown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 {……}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72711" name="Rectangle 3"/>
          <p:cNvSpPr txBox="1">
            <a:spLocks noChangeArrowheads="1"/>
          </p:cNvSpPr>
          <p:nvPr/>
        </p:nvSpPr>
        <p:spPr bwMode="auto">
          <a:xfrm>
            <a:off x="35496" y="4715296"/>
            <a:ext cx="5253594" cy="20177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 </a:t>
            </a:r>
            <a:r>
              <a:rPr lang="en-US" altLang="zh-CN" sz="2000" dirty="0">
                <a:solidFill>
                  <a:srgbClr val="FF33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Door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{ //</a:t>
            </a: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车门类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zh-CN" altLang="en-US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Window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window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= new Window();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void open() { ……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void close() { …… }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210550" cy="568863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class Car {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 public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Engine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engine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= new Engine();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Wheel[]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wheel = new Wheel[4];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Window[] 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wheel = new Window[4]; 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sz="2000" dirty="0">
                <a:solidFill>
                  <a:srgbClr val="FF33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Door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left = new Door(),right = new Door(); 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Car() {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	for(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= 0;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&lt; 4;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++)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	     wheel[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] = new Wheel();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}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public static void main(String[]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args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) {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	Car 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car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= new Car();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	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car.left.window.rollup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();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	</a:t>
            </a:r>
            <a:r>
              <a:rPr lang="en-US" altLang="zh-CN" sz="20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Car.wheel</a:t>
            </a: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[0].inflate(72);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}</a:t>
            </a:r>
          </a:p>
          <a:p>
            <a:pPr marL="0" lvl="1">
              <a:spcBef>
                <a:spcPts val="600"/>
              </a:spcBef>
              <a:buClr>
                <a:schemeClr val="accent2"/>
              </a:buClr>
              <a:buSzPct val="70000"/>
            </a:pPr>
            <a:r>
              <a:rPr lang="en-US" altLang="zh-CN" sz="20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3.9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类的组合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组合与继承的比较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</a:p>
          <a:p>
            <a:pPr marL="609600" indent="-609600" eaLnBrk="1" hangingPunct="1">
              <a:buFontTx/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1361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>
          <a:xfrm>
            <a:off x="473587" y="247733"/>
            <a:ext cx="7543800" cy="575394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的访问控制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类的访问控制只有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两种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GB" altLang="zh-CN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public（</a:t>
            </a:r>
            <a:r>
              <a:rPr lang="zh-CN" altLang="en-GB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公共类）</a:t>
            </a:r>
            <a:endParaRPr lang="en-US" altLang="zh-CN" sz="2400" b="0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GB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无修饰符（缺省类）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访问权限符与访问能力之间的关系如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下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表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6" name="Group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845958"/>
              </p:ext>
            </p:extLst>
          </p:nvPr>
        </p:nvGraphicFramePr>
        <p:xfrm>
          <a:off x="971601" y="4149726"/>
          <a:ext cx="7018785" cy="201612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250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6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3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无修饰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public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同一包中的类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不同包中的类</a:t>
                      </a:r>
                      <a:endParaRPr kumimoji="0" lang="zh-CN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0004" marR="90004" marT="46789" marB="467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no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0004" marR="90004" marT="46789" marB="4678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>
          <a:xfrm>
            <a:off x="468313" y="187626"/>
            <a:ext cx="7543800" cy="647402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GB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类成员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的访问控制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zh-CN" altLang="en-GB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公有(</a:t>
            </a:r>
            <a:r>
              <a:rPr lang="en-GB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public)</a:t>
            </a:r>
            <a:endParaRPr lang="zh-CN" altLang="en-GB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可以被其他</a:t>
            </a:r>
            <a:r>
              <a:rPr lang="zh-CN" altLang="en-GB" sz="24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任何对象访问</a:t>
            </a: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(前提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：有</a:t>
            </a: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类成员所在的类有访问权限) </a:t>
            </a:r>
          </a:p>
          <a:p>
            <a:pPr lvl="1"/>
            <a:r>
              <a:rPr lang="zh-CN" altLang="en-GB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保护(</a:t>
            </a:r>
            <a:r>
              <a:rPr lang="en-GB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protected)</a:t>
            </a:r>
            <a:endParaRPr lang="zh-CN" altLang="en-GB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只可被</a:t>
            </a:r>
            <a:r>
              <a:rPr lang="zh-CN" altLang="en-GB" sz="24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同一类及其子类</a:t>
            </a: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的实例对象访问</a:t>
            </a:r>
          </a:p>
          <a:p>
            <a:pPr lvl="1"/>
            <a:r>
              <a:rPr lang="zh-CN" altLang="en-GB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私有(</a:t>
            </a:r>
            <a:r>
              <a:rPr lang="en-GB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private)</a:t>
            </a:r>
            <a:endParaRPr lang="zh-CN" altLang="en-GB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只能被这个</a:t>
            </a:r>
            <a:r>
              <a:rPr lang="zh-CN" altLang="en-GB" sz="24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类本身访问</a:t>
            </a: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，在类外不可见</a:t>
            </a:r>
          </a:p>
          <a:p>
            <a:pPr lvl="1"/>
            <a:r>
              <a:rPr lang="zh-CN" altLang="en-GB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默认(</a:t>
            </a:r>
            <a:r>
              <a:rPr lang="en-GB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default)</a:t>
            </a:r>
            <a:endParaRPr lang="zh-CN" altLang="en-GB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仅允许</a:t>
            </a:r>
            <a:r>
              <a:rPr lang="zh-CN" altLang="en-GB" sz="2400" dirty="0">
                <a:solidFill>
                  <a:srgbClr val="008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同一个包内的访问</a:t>
            </a: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；又被称为“包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GB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package)</a:t>
            </a: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访问权限”</a:t>
            </a:r>
            <a:endParaRPr lang="en-GB" altLang="zh-CN" sz="24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114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991383"/>
              </p:ext>
            </p:extLst>
          </p:nvPr>
        </p:nvGraphicFramePr>
        <p:xfrm>
          <a:off x="341785" y="1844824"/>
          <a:ext cx="8178328" cy="44037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23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private</a:t>
                      </a:r>
                      <a:endParaRPr kumimoji="0" lang="en-US" altLang="zh-CN" sz="48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无修饰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protected</a:t>
                      </a:r>
                      <a:endParaRPr kumimoji="0" lang="en-US" altLang="zh-CN" sz="48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public</a:t>
                      </a:r>
                      <a:endParaRPr kumimoji="0" lang="en-US" altLang="zh-CN" sz="48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同一类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48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48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48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yes</a:t>
                      </a:r>
                      <a:endParaRPr kumimoji="0" lang="en-US" altLang="zh-CN" sz="48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同一包中的子类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no</a:t>
                      </a:r>
                      <a:endParaRPr kumimoji="0" lang="en-US" altLang="zh-CN" sz="4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5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同一包中的非子类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no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9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不同包中的子类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no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no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5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</a:rPr>
                        <a:t>不同包中的非子类</a:t>
                      </a:r>
                      <a:endParaRPr kumimoji="0" lang="zh-CN" altLang="en-US" sz="4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Schoolbook" panose="020406040505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no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no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no</a:t>
                      </a:r>
                    </a:p>
                  </a:txBody>
                  <a:tcPr marL="89991" marR="89991" marT="46800" marB="468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Century Schoolbook" panose="02040604050505020304" pitchFamily="18" charset="0"/>
                          <a:ea typeface="黑体" panose="02010609060101010101" pitchFamily="49" charset="-122"/>
                          <a:cs typeface="+mn-cs"/>
                        </a:rPr>
                        <a:t>yes</a:t>
                      </a:r>
                    </a:p>
                  </a:txBody>
                  <a:tcPr marL="89991" marR="89991" marT="46800" marB="46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41784" y="908050"/>
            <a:ext cx="7272808" cy="651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hangingPunct="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GB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访问权限符与访问能力之间的关系如</a:t>
            </a:r>
            <a:r>
              <a:rPr lang="zh-CN" altLang="en-US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下</a:t>
            </a:r>
            <a:r>
              <a:rPr lang="zh-CN" altLang="en-GB" sz="2800" dirty="0">
                <a:latin typeface="Century Schoolbook" panose="02040604050505020304" pitchFamily="18" charset="0"/>
                <a:ea typeface="黑体" panose="02010609060101010101" pitchFamily="49" charset="-122"/>
              </a:rPr>
              <a:t>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468313" y="224138"/>
            <a:ext cx="7543800" cy="647402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>
          <a:xfrm>
            <a:off x="234156" y="1214339"/>
            <a:ext cx="8675687" cy="1439813"/>
          </a:xfrm>
        </p:spPr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举例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对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Circle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类声明进行修改，给实例变量加上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private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修饰符</a:t>
            </a: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8852" name="Rectangle 3"/>
          <p:cNvSpPr txBox="1">
            <a:spLocks noChangeArrowheads="1"/>
          </p:cNvSpPr>
          <p:nvPr/>
        </p:nvSpPr>
        <p:spPr bwMode="auto">
          <a:xfrm>
            <a:off x="1115616" y="2654152"/>
            <a:ext cx="7200978" cy="29527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public class Circle 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static double PI = 3.14159265;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</a:t>
            </a:r>
            <a:r>
              <a:rPr lang="en-US" altLang="zh-CN" sz="2000" b="1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private</a:t>
            </a: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int radius;    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public double circumference() 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 return 2 * PI * radius;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}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b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68313" y="187626"/>
            <a:ext cx="7543800" cy="647402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74701"/>
          </a:xfrm>
        </p:spPr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测试程序 </a:t>
            </a:r>
            <a:r>
              <a:rPr lang="en-US" altLang="zh-CN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CircumferenceTester.java</a:t>
            </a:r>
          </a:p>
          <a:p>
            <a:endParaRPr lang="zh-CN" altLang="en-US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79876" name="Rectangle 3"/>
          <p:cNvSpPr txBox="1">
            <a:spLocks noChangeArrowheads="1"/>
          </p:cNvSpPr>
          <p:nvPr/>
        </p:nvSpPr>
        <p:spPr bwMode="auto">
          <a:xfrm>
            <a:off x="359568" y="1628800"/>
            <a:ext cx="8424863" cy="48244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0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public class </a:t>
            </a:r>
            <a:r>
              <a:rPr lang="en-US" altLang="zh-CN" sz="2000" dirty="0" err="1">
                <a:solidFill>
                  <a:srgbClr val="C00000"/>
                </a:solidFill>
                <a:latin typeface="Century Schoolbook" panose="02040604050505020304" pitchFamily="18" charset="0"/>
                <a:ea typeface="楷体_GB2312" pitchFamily="49" charset="-122"/>
              </a:rPr>
              <a:t>CircumferenceTester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public static void main(String </a:t>
            </a:r>
            <a:r>
              <a:rPr lang="en-US" altLang="zh-CN" sz="2000" dirty="0" err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args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[]) {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Circle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c1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= new Circle();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c1.radius 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= 50;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Circle </a:t>
            </a:r>
            <a:r>
              <a:rPr lang="en-US" altLang="zh-CN" sz="2000" dirty="0">
                <a:solidFill>
                  <a:srgbClr val="FF0000"/>
                </a:solidFill>
                <a:latin typeface="Century Schoolbook" panose="02040604050505020304" pitchFamily="18" charset="0"/>
                <a:ea typeface="楷体_GB2312" pitchFamily="49" charset="-122"/>
              </a:rPr>
              <a:t>c2 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= new Circle();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楷体_GB2312" pitchFamily="49" charset="-122"/>
              </a:rPr>
              <a:t>c2.radius 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= 10;        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double circum1 = c1.circumference();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double circum2 = c2.circumference();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 err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("Circle 1 has circumference " + circum1);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      </a:t>
            </a:r>
            <a:r>
              <a:rPr lang="en-US" altLang="zh-CN" sz="2000" dirty="0" err="1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System.out.println</a:t>
            </a: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("Circle 2 has circumference " + circum2);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    } </a:t>
            </a:r>
          </a:p>
          <a:p>
            <a:pPr marL="0" lvl="1">
              <a:lnSpc>
                <a:spcPct val="80000"/>
              </a:lnSpc>
              <a:spcBef>
                <a:spcPct val="50000"/>
              </a:spcBef>
              <a:buClr>
                <a:srgbClr val="669999"/>
              </a:buClr>
              <a:buSzPct val="70000"/>
            </a:pPr>
            <a:r>
              <a:rPr lang="en-US" altLang="zh-CN" sz="2000" dirty="0">
                <a:solidFill>
                  <a:srgbClr val="000000"/>
                </a:solidFill>
                <a:latin typeface="Century Schoolbook" panose="02040604050505020304" pitchFamily="18" charset="0"/>
                <a:ea typeface="楷体_GB2312" pitchFamily="49" charset="-122"/>
              </a:rPr>
              <a:t> 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1835622" y="5706292"/>
            <a:ext cx="6948809" cy="7469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 marL="0" lvl="1" indent="0">
              <a:lnSpc>
                <a:spcPct val="90000"/>
              </a:lnSpc>
              <a:buNone/>
            </a:pPr>
            <a:r>
              <a:rPr lang="zh-CN" altLang="en-US" sz="20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在编译语句“</a:t>
            </a:r>
            <a:r>
              <a:rPr lang="en-US" altLang="zh-CN" sz="20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c1.radius = 50;”</a:t>
            </a:r>
            <a:r>
              <a:rPr lang="zh-CN" altLang="en-US" sz="20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及“</a:t>
            </a:r>
            <a:r>
              <a:rPr lang="en-US" altLang="zh-CN" sz="20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c2.radius =10;”  </a:t>
            </a:r>
            <a:r>
              <a:rPr lang="zh-CN" altLang="en-US" sz="20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时会提示存在语法错误</a:t>
            </a:r>
            <a:r>
              <a:rPr lang="zh-CN" altLang="en-US" sz="2000" b="0" kern="0" dirty="0">
                <a:solidFill>
                  <a:schemeClr val="tx2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“</a:t>
            </a:r>
            <a:r>
              <a:rPr lang="en-US" altLang="zh-CN" sz="2000" b="0" kern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the field </a:t>
            </a:r>
            <a:r>
              <a:rPr lang="en-US" altLang="zh-CN" sz="2000" b="0" kern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Circle.radius</a:t>
            </a:r>
            <a:r>
              <a:rPr lang="en-US" altLang="zh-CN" sz="2000" b="0" kern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is not visible</a:t>
            </a:r>
            <a:r>
              <a:rPr lang="en-US" altLang="zh-CN" sz="2000" b="0" kern="0" dirty="0">
                <a:solidFill>
                  <a:schemeClr val="tx2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”</a:t>
            </a:r>
            <a:endParaRPr lang="zh-CN" altLang="en-US" sz="2000" b="0" kern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089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992119" cy="37440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原因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由于在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Circle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类声明中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变量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radius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被声明为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private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因此在其它类中不能直接对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radius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进行存取</a:t>
            </a:r>
          </a:p>
          <a:p>
            <a:pPr lvl="1"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如果要允许其它类访问</a:t>
            </a:r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radius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的值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，就需要在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Circle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类中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声明相应的公有方法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。通常有两类典型的方法用于访问属性值，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方法及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set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。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2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68828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功能：取得属性变量的值</a:t>
            </a:r>
          </a:p>
          <a:p>
            <a:pPr lvl="1">
              <a:lnSpc>
                <a:spcPct val="9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get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方法名以“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get”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开头，后面是实例变量的名字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一般具有以下格式：</a:t>
            </a:r>
          </a:p>
          <a:p>
            <a:pPr lvl="2">
              <a:lnSpc>
                <a:spcPct val="90000"/>
              </a:lnSpc>
              <a:spcBef>
                <a:spcPct val="65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&lt;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fieldType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&gt;  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get&lt;</a:t>
            </a:r>
            <a:r>
              <a:rPr lang="en-US" altLang="zh-CN" sz="24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FieldName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&gt;() 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{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return &lt;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fieldName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&gt;;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对于实例变量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radius，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声明其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get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方法如下：</a:t>
            </a:r>
          </a:p>
          <a:p>
            <a:pPr lvl="2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getRadius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   return radius;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} 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内容占位符 2"/>
          <p:cNvSpPr>
            <a:spLocks noGrp="1"/>
          </p:cNvSpPr>
          <p:nvPr>
            <p:ph idx="1"/>
          </p:nvPr>
        </p:nvSpPr>
        <p:spPr>
          <a:xfrm>
            <a:off x="215106" y="1052737"/>
            <a:ext cx="8713788" cy="5805264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set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功能：修改属性变量的值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set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方法名以“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set”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开头，后面是实例变量的名字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一般具有以下格式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void 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set&lt;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FieldName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&gt;(&lt;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fieldType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&gt; &lt;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paramName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&gt;)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{ 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&lt;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fieldName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&gt; = &lt;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paramName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&gt;; 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声明实例变量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radius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set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方法如下：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setRadius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r)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{   radius = r;  }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在上面的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set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方法中，如果形式参数为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radius，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则需要在成员变量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radius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之前加上关键字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this。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代码如下：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 void 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setRadius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radius)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{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dirty="0" err="1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this.radius</a:t>
            </a: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= radius;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}</a:t>
            </a:r>
            <a:endParaRPr lang="en-US" altLang="zh-CN" sz="2400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3.10 </a:t>
            </a: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访问控制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39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0850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实际使用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800100" lvl="1"/>
            <a:r>
              <a:rPr lang="en-US" altLang="zh-CN" sz="28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</a:p>
          <a:p>
            <a:pPr marL="1285875" lvl="2" indent="-533400"/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少量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或者没有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) </a:t>
            </a:r>
            <a:r>
              <a:rPr lang="en-US" altLang="zh-CN" sz="2400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</a:t>
            </a:r>
            <a:r>
              <a:rPr lang="zh-CN" altLang="en-US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域（数据成员）</a:t>
            </a:r>
          </a:p>
          <a:p>
            <a:pPr marL="1285875" lvl="2" indent="-533400"/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部分 </a:t>
            </a:r>
            <a:r>
              <a:rPr lang="en-US" altLang="zh-CN" sz="2400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 </a:t>
            </a:r>
            <a:endParaRPr lang="zh-CN" altLang="en-US" sz="2400" b="0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800100" lvl="1"/>
            <a:r>
              <a:rPr lang="en-US" altLang="zh-CN" sz="28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private</a:t>
            </a:r>
          </a:p>
          <a:p>
            <a:pPr marL="1285875" lvl="2" indent="-533400"/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目的：隐藏具体的实现细节</a:t>
            </a:r>
          </a:p>
          <a:p>
            <a:pPr marL="1285875" lvl="2" indent="-533400"/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域常常是</a:t>
            </a:r>
            <a:r>
              <a:rPr lang="en-US" altLang="zh-CN" sz="2400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private </a:t>
            </a:r>
          </a:p>
          <a:p>
            <a:pPr marL="1665288" lvl="3" indent="-457200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采用 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 “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get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” 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读取数据</a:t>
            </a:r>
            <a:endParaRPr lang="zh-CN" altLang="en-US" sz="24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1665288" lvl="3" indent="-457200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采用 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 “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set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”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写数据</a:t>
            </a:r>
            <a:endParaRPr lang="zh-CN" altLang="en-US" sz="2400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450850"/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7435850" cy="533400"/>
          </a:xfrm>
        </p:spPr>
        <p:txBody>
          <a:bodyPr/>
          <a:lstStyle/>
          <a:p>
            <a:pPr marL="838200" indent="-838200" eaLnBrk="1" hangingPunct="1"/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第三章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Java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面向对象程序设计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2</a:t>
            </a:r>
            <a:endParaRPr lang="zh-CN" altLang="en-US" sz="3200" b="0" dirty="0"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467600" cy="52578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3.5   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类的继承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    Object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3.7    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final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3.8    abstract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3.9    </a:t>
            </a:r>
            <a:r>
              <a:rPr lang="zh-CN" alt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类的组合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3.10  </a:t>
            </a:r>
            <a:r>
              <a:rPr lang="zh-CN" alt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访问控制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Century Schoolbook" panose="020406040505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3.11  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</a:p>
          <a:p>
            <a:pPr marL="609600" indent="-609600" eaLnBrk="1" hangingPunct="1">
              <a:buFontTx/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2153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包 </a:t>
            </a:r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(package)</a:t>
            </a:r>
            <a:endParaRPr lang="zh-CN" altLang="en-US" sz="32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424862" cy="568801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包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类的组织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是一组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松散的</a:t>
            </a:r>
            <a:r>
              <a:rPr lang="zh-CN" altLang="en-GB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类集合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一个包可以包含若干个类文件，还可包含若干个包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包的作用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将相关的源代码文件组织在一起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GB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类名的空间管理，</a:t>
            </a:r>
            <a:r>
              <a:rPr lang="zh-CN" altLang="en-US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解决类名冲突</a:t>
            </a:r>
            <a:endParaRPr lang="en-US" altLang="zh-CN" sz="2400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利用包来组织相关的类，并控制访问权限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利用包来管理类，可</a:t>
            </a:r>
            <a:r>
              <a:rPr lang="zh-CN" altLang="en-US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实现类的共享与代码复用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3.11.1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包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的使用</a:t>
            </a:r>
          </a:p>
        </p:txBody>
      </p:sp>
      <p:sp>
        <p:nvSpPr>
          <p:cNvPr id="90115" name="内容占位符 2"/>
          <p:cNvSpPr>
            <a:spLocks noGrp="1"/>
          </p:cNvSpPr>
          <p:nvPr>
            <p:ph idx="1"/>
          </p:nvPr>
        </p:nvSpPr>
        <p:spPr>
          <a:xfrm>
            <a:off x="468314" y="981075"/>
            <a:ext cx="7543800" cy="5544269"/>
          </a:xfrm>
        </p:spPr>
        <p:txBody>
          <a:bodyPr/>
          <a:lstStyle/>
          <a:p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使用包 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为了使用其它包中所提供的类，需要使用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语句引入所需要的类，如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 </a:t>
            </a: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javax.swing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.*;</a:t>
            </a:r>
          </a:p>
          <a:p>
            <a:pPr lvl="1"/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import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语句的格式</a:t>
            </a:r>
          </a:p>
          <a:p>
            <a:pPr lvl="1">
              <a:buFontTx/>
              <a:buNone/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</a:t>
            </a:r>
            <a:r>
              <a:rPr lang="en-US" altLang="zh-CN" b="0" dirty="0">
                <a:solidFill>
                  <a:schemeClr val="tx2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package1[.package2…]. (</a:t>
            </a: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classname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|*);</a:t>
            </a:r>
          </a:p>
          <a:p>
            <a:pPr lvl="2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其中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package1[.package2…]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表明包的层次，它对应于文件目录</a:t>
            </a:r>
          </a:p>
          <a:p>
            <a:pPr lvl="2"/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classname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则指明所要引入的类名</a:t>
            </a:r>
          </a:p>
          <a:p>
            <a:pPr lvl="2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如果要引入一个包中的所有类，则可以使用星号（*）来代替类名</a:t>
            </a:r>
            <a:endParaRPr lang="en-US" altLang="zh-CN" sz="240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编译器会将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语句引入的包字符串拼接到标识符前。</a:t>
            </a:r>
            <a:endParaRPr lang="en-US" altLang="zh-CN" b="0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编译器为所有程序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自动引入包</a:t>
            </a: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java.lang</a:t>
            </a:r>
            <a:endParaRPr lang="zh-CN" altLang="en-US" b="0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9498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3.11.1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包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的使用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在源文件中添加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package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语句可将类加入到指定包中。 </a:t>
            </a:r>
          </a:p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请使用命令行运行示例：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Hello.java 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955800"/>
            <a:ext cx="6448425" cy="421005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54212" y="623887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为何生成的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.class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文件无法运行？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1442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3.11.1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包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的使用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修正</a:t>
            </a:r>
            <a:r>
              <a:rPr lang="en-US" altLang="zh-CN" b="0" dirty="0"/>
              <a:t>Bug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建立一个包文件夹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Julie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，将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文件移入此文件夹下</a:t>
            </a:r>
          </a:p>
          <a:p>
            <a:pPr lvl="1"/>
            <a:endParaRPr lang="zh-CN" altLang="en-US" b="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54212" y="623887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运行一切正常！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31" y="1966933"/>
            <a:ext cx="8045682" cy="4178025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652231" y="5445224"/>
            <a:ext cx="283964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52230" y="2204864"/>
            <a:ext cx="2335594" cy="0"/>
          </a:xfrm>
          <a:prstGeom prst="line">
            <a:avLst/>
          </a:prstGeom>
          <a:ln w="349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337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468313" y="44450"/>
            <a:ext cx="7543800" cy="719138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3.11.1 </a:t>
            </a:r>
            <a:r>
              <a:rPr lang="zh-CN" altLang="en-GB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包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的使用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8067" name="内容占位符 2"/>
          <p:cNvSpPr>
            <a:spLocks noGrp="1"/>
          </p:cNvSpPr>
          <p:nvPr>
            <p:ph idx="1"/>
          </p:nvPr>
        </p:nvSpPr>
        <p:spPr>
          <a:xfrm>
            <a:off x="468313" y="836613"/>
            <a:ext cx="7488063" cy="5832475"/>
          </a:xfrm>
        </p:spPr>
        <p:txBody>
          <a:bodyPr/>
          <a:lstStyle/>
          <a:p>
            <a:r>
              <a:rPr lang="zh-CN" altLang="en-GB" b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编译单元与类空间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一个</a:t>
            </a:r>
            <a:r>
              <a:rPr lang="en-GB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源代码文件称为一个编译单元，由三部分组成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GB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所属包的声明（省略，则属于默认包）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GB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 （</a:t>
            </a:r>
            <a:r>
              <a:rPr lang="zh-CN" altLang="en-GB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引入）包的声明，用于导入外部的类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GB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类和接口的声明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一个编译单元中只能有一个</a:t>
            </a:r>
            <a:r>
              <a:rPr lang="en-GB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zh-CN" altLang="en-GB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类，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该类名与文件名相同，编译单元中的其他类往往是</a:t>
            </a:r>
            <a:r>
              <a:rPr lang="en-GB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public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类的辅助类，经过编译，每个类都会产一个</a:t>
            </a:r>
            <a:r>
              <a:rPr lang="en-GB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</a:t>
            </a: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GB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利用包来划分名字空间，便可以避免类名冲突</a:t>
            </a:r>
            <a:endParaRPr lang="zh-CN" altLang="en-US" sz="28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788783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330066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3.11.2 </a:t>
            </a:r>
            <a:r>
              <a:rPr lang="zh-CN" altLang="en-US" sz="32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自定义包</a:t>
            </a:r>
          </a:p>
        </p:txBody>
      </p:sp>
      <p:sp>
        <p:nvSpPr>
          <p:cNvPr id="10035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704087" cy="5184775"/>
          </a:xfrm>
        </p:spPr>
        <p:txBody>
          <a:bodyPr/>
          <a:lstStyle/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自定义包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同一包中的类在默认情况下可以互相访问，通常把需要在一起工作的类放在一个包里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在实际使用中，用户可以将自己的类组织成包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0003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468313" y="81756"/>
            <a:ext cx="7543800" cy="719138"/>
          </a:xfrm>
        </p:spPr>
        <p:txBody>
          <a:bodyPr/>
          <a:lstStyle/>
          <a:p>
            <a:r>
              <a:rPr lang="en-US" altLang="zh-CN" sz="3200" dirty="0">
                <a:solidFill>
                  <a:srgbClr val="330066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3.11.2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自定义包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88067" name="内容占位符 2"/>
          <p:cNvSpPr>
            <a:spLocks noGrp="1"/>
          </p:cNvSpPr>
          <p:nvPr>
            <p:ph idx="1"/>
          </p:nvPr>
        </p:nvSpPr>
        <p:spPr>
          <a:xfrm>
            <a:off x="468313" y="836613"/>
            <a:ext cx="8229600" cy="583247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GB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包的命名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GB" sz="20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每个包的名称必须是“独一无二”的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zh-CN" sz="20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sz="20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中包名使用小写字母表示</a:t>
            </a:r>
            <a:endParaRPr lang="zh-CN" altLang="en-GB" sz="2000" b="0" dirty="0">
              <a:solidFill>
                <a:srgbClr val="FF0000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GB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命名方式建议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GB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将机构的</a:t>
            </a:r>
            <a:r>
              <a:rPr lang="en-GB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Internet</a:t>
            </a:r>
            <a:r>
              <a:rPr lang="zh-CN" altLang="en-GB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域名反序，作为包名的前导</a:t>
            </a:r>
            <a:endParaRPr lang="en-US" altLang="zh-CN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例如：</a:t>
            </a: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 </a:t>
            </a:r>
            <a:r>
              <a:rPr lang="en-US" altLang="zh-CN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java.util</a:t>
            </a:r>
            <a:r>
              <a:rPr lang="en-US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.*;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00FF"/>
                </a:solidFill>
                <a:latin typeface="Century Schoolbook" panose="02040604050505020304" pitchFamily="18" charset="0"/>
                <a:ea typeface="楷体_GB2312" pitchFamily="49" charset="-122"/>
              </a:rPr>
              <a:t>cn.edu.hhu.computer.class11</a:t>
            </a:r>
            <a:endParaRPr lang="en-US" altLang="zh-CN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GB" sz="24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包的声明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GB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命名包（</a:t>
            </a:r>
            <a:r>
              <a:rPr lang="en-GB" altLang="zh-CN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Named Packages</a:t>
            </a:r>
            <a:r>
              <a:rPr lang="zh-CN" altLang="en-GB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GB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package </a:t>
            </a:r>
            <a:r>
              <a:rPr lang="en-GB" altLang="zh-CN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en-GB" altLang="zh-CN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;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说明当前文件中声明的所有类都属于包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此文件中的每一个类名前都有前缀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即实际类名应该是</a:t>
            </a:r>
            <a:r>
              <a:rPr lang="en-US" altLang="zh-CN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mypackage.ClassName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因此不同包中的相同类名不会冲突</a:t>
            </a:r>
            <a:endParaRPr lang="en-GB" altLang="zh-CN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zh-CN" altLang="en-GB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默认包（未命名的包）</a:t>
            </a:r>
            <a:endParaRPr lang="en-GB" altLang="zh-CN" sz="20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zh-CN" altLang="en-GB" dirty="0">
                <a:latin typeface="Century Schoolbook" panose="02040604050505020304" pitchFamily="18" charset="0"/>
                <a:ea typeface="黑体" panose="02010609060101010101" pitchFamily="49" charset="-122"/>
              </a:rPr>
              <a:t>不含有包声明的编译单元是默认包的一部分</a:t>
            </a:r>
            <a:endParaRPr lang="en-GB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783704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0304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330066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3.11.2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自定义包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03" name="内容占位符 2"/>
          <p:cNvSpPr>
            <a:spLocks noGrp="1"/>
          </p:cNvSpPr>
          <p:nvPr>
            <p:ph idx="1"/>
          </p:nvPr>
        </p:nvSpPr>
        <p:spPr>
          <a:xfrm>
            <a:off x="308026" y="908050"/>
            <a:ext cx="7864374" cy="51847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package</a:t>
            </a:r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语句</a:t>
            </a:r>
          </a:p>
          <a:p>
            <a:pPr lvl="1">
              <a:lnSpc>
                <a:spcPct val="110000"/>
              </a:lnSpc>
            </a:pP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源文件的第一条语句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 前面只能有注释或空行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一个文件中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最多只能有一条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如果源文件中没有，则文件中声明的所有类属于一个默认的无名包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包声明的语句的完整格式如下：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package pkg1[.pkg2[.pkg3…]];</a:t>
            </a:r>
          </a:p>
          <a:p>
            <a:pPr lvl="3">
              <a:lnSpc>
                <a:spcPct val="110000"/>
              </a:lnSpc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编译器把包对应于文件系统的目录结构</a:t>
            </a:r>
          </a:p>
          <a:p>
            <a:pPr lvl="3">
              <a:lnSpc>
                <a:spcPct val="110000"/>
              </a:lnSpc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用点来指明目录的层次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7114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/>
          <p:cNvSpPr>
            <a:spLocks noGrp="1"/>
          </p:cNvSpPr>
          <p:nvPr>
            <p:ph type="title"/>
          </p:nvPr>
        </p:nvSpPr>
        <p:spPr>
          <a:xfrm>
            <a:off x="468313" y="188640"/>
            <a:ext cx="7543800" cy="647402"/>
          </a:xfrm>
        </p:spPr>
        <p:txBody>
          <a:bodyPr/>
          <a:lstStyle/>
          <a:p>
            <a:r>
              <a:rPr lang="en-US" altLang="zh-CN" sz="3200" dirty="0">
                <a:solidFill>
                  <a:srgbClr val="330066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3.11.2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自定义包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4451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761038"/>
          </a:xfrm>
        </p:spPr>
        <p:txBody>
          <a:bodyPr/>
          <a:lstStyle/>
          <a:p>
            <a:r>
              <a:rPr lang="zh-CN" altLang="en-US" b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包的使用</a:t>
            </a:r>
            <a:endParaRPr lang="en-US" altLang="zh-CN" b="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假设已定义并生成了下面的包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package </a:t>
            </a: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public class </a:t>
            </a: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MyClass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// . . .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如果其他人想使用</a:t>
            </a:r>
            <a:r>
              <a:rPr lang="en-US" altLang="zh-CN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MyClass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2">
              <a:lnSpc>
                <a:spcPct val="9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使用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import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语句引入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import </a:t>
            </a:r>
            <a:r>
              <a:rPr lang="en-US" altLang="zh-CN" sz="20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.*;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// . . . 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MyClass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m = new </a:t>
            </a:r>
            <a:r>
              <a:rPr lang="en-US" altLang="zh-CN" sz="20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MyClass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(); </a:t>
            </a:r>
            <a:endParaRPr lang="zh-CN" altLang="en-US" sz="2000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不使用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import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语句，则需要使用全名</a:t>
            </a:r>
          </a:p>
          <a:p>
            <a:pPr lvl="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mypackage.MyClass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m = new </a:t>
            </a:r>
            <a:r>
              <a:rPr lang="en-US" altLang="zh-CN" sz="20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mypackage.MyClass</a:t>
            </a:r>
            <a:r>
              <a:rPr lang="en-US" altLang="zh-CN" sz="20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(); 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4312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>
          <a:xfrm>
            <a:off x="468313" y="260648"/>
            <a:ext cx="7543800" cy="575394"/>
          </a:xfrm>
        </p:spPr>
        <p:txBody>
          <a:bodyPr/>
          <a:lstStyle/>
          <a:p>
            <a:r>
              <a:rPr lang="en-US" altLang="zh-CN" sz="3200" dirty="0">
                <a:solidFill>
                  <a:srgbClr val="330066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3.11.2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自定义包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3427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280796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编译和生成包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如果在程序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Test.java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中已声明了包</a:t>
            </a:r>
            <a:r>
              <a:rPr lang="en-US" altLang="zh-CN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marL="715963" lvl="2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编译时采用方式  </a:t>
            </a:r>
            <a:r>
              <a:rPr lang="en-US" altLang="zh-CN" sz="24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javac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-d </a:t>
            </a:r>
            <a:r>
              <a:rPr lang="en-US" altLang="zh-CN" sz="240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destpath</a:t>
            </a:r>
            <a:r>
              <a:rPr lang="en-US" altLang="zh-CN" sz="240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Test.java</a:t>
            </a:r>
          </a:p>
          <a:p>
            <a:pPr marL="715963" lvl="2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则编译器会自动在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destpath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目录下建立子目录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并将生成的.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文件都放到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destpath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/</a:t>
            </a:r>
            <a:r>
              <a:rPr lang="en-US" altLang="zh-CN" sz="240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mypackage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下。</a:t>
            </a:r>
            <a:endParaRPr lang="zh-CN" altLang="en-US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68313" y="3776202"/>
            <a:ext cx="8352159" cy="302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1" charset="-122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+mn-lt"/>
                <a:ea typeface="楷体_GB2312" pitchFamily="1" charset="-122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  <a:ea typeface="楷体_GB2312" pitchFamily="1" charset="-122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楷体_GB2312" pitchFamily="1" charset="-122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b="0" kern="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举例：</a:t>
            </a:r>
            <a:r>
              <a:rPr lang="zh-CN" altLang="en-US" sz="24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手工编写并使用自定义的包</a:t>
            </a:r>
            <a:endParaRPr lang="en-US" altLang="zh-CN" sz="2400" b="0" kern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400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演示步骤：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反转一个字串（原型：</a:t>
            </a:r>
            <a:r>
              <a:rPr lang="en-US" altLang="zh-CN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Test1.java</a:t>
            </a: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将其移为一个函数</a:t>
            </a:r>
            <a:r>
              <a:rPr lang="en-US" altLang="zh-CN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(Test2.java)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创建类并将其移入一个包中（</a:t>
            </a:r>
            <a:r>
              <a:rPr lang="en-US" altLang="zh-CN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MyPackageClass.java</a:t>
            </a: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在其它项目中使用此包（</a:t>
            </a:r>
            <a:r>
              <a:rPr lang="en-US" altLang="zh-CN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Test3.java</a:t>
            </a:r>
            <a:r>
              <a:rPr lang="zh-CN" altLang="en-US" b="0" kern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0768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3.11.3 JAR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053083"/>
            <a:ext cx="7776095" cy="453615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路径问题</a:t>
            </a:r>
            <a:endParaRPr lang="en-US" altLang="zh-CN" sz="2400" dirty="0">
              <a:solidFill>
                <a:srgbClr val="0000FF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公有类必须放入同名的源文件，编译生成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.class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文件，如果使用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package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语句指定了类所属的包名，则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.class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文件应该放入包所对应的文件夹下。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如果代码中使用了另外包中的类，必须保证此类的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.class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文件可以在与包名匹配的路径中找到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可以使用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CLASSPATH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环境变量指明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.class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文件的查找路径。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为降低复杂程度，可以使用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将所有相关文件都打包到同一个压缩包中。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8002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3.11.3 JAR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053083"/>
            <a:ext cx="7776095" cy="453615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什么是</a:t>
            </a:r>
            <a:r>
              <a:rPr lang="en-US" altLang="zh-CN" sz="2400" dirty="0">
                <a:solidFill>
                  <a:srgbClr val="0000FF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</a:p>
          <a:p>
            <a:pPr lvl="1">
              <a:lnSpc>
                <a:spcPct val="11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文件是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的一种文档格式，其实是一个压缩包，兼容于常见的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Zip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压缩文件，可以使用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WinRAR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等软件打开。</a:t>
            </a:r>
          </a:p>
          <a:p>
            <a:pPr lvl="1">
              <a:lnSpc>
                <a:spcPct val="11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文件中包容一个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清单（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manifest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）文件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，包容一些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重要信息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。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比如可以在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windows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资源管理器中“双击”执行的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包，其清单文件必须指明包中哪个类是“主类（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main class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）”，从而让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JVM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知道应该从哪个类中的</a:t>
            </a: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main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方法开始执行。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1452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3.11.3 JAR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0595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7776095" cy="51847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工具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为了用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文件执行基本的任务，要使用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JDK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提供的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工具(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 Archive Tool)</a:t>
            </a:r>
            <a:endParaRPr lang="zh-CN" altLang="en-US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随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JDK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安装，在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JDK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安装目录下的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bin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目录中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Windows 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下文件名为 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jar.exe</a:t>
            </a:r>
          </a:p>
          <a:p>
            <a:pPr lvl="2">
              <a:lnSpc>
                <a:spcPct val="110000"/>
              </a:lnSpc>
            </a:pP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Linux 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下文件名为 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它的运行需要用到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JDK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安装目录下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lib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目录中的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tools.jar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</a:t>
            </a:r>
          </a:p>
          <a:p>
            <a:pPr lvl="1">
              <a:lnSpc>
                <a:spcPct val="11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用 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命令调用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713065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400253"/>
          </a:xfrm>
        </p:spPr>
        <p:txBody>
          <a:bodyPr/>
          <a:lstStyle/>
          <a:p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命令示例</a:t>
            </a:r>
            <a:endParaRPr lang="en-US" altLang="zh-CN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en-US" altLang="zh-CN" sz="2800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cf</a:t>
            </a:r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test.jar test</a:t>
            </a:r>
          </a:p>
          <a:p>
            <a:pPr lvl="2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将当前文件夹下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test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子文件夹的所有内容打包为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test.jar</a:t>
            </a:r>
          </a:p>
          <a:p>
            <a:pPr lvl="1"/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en-US" altLang="zh-CN" sz="2800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cvf</a:t>
            </a:r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test.jar test</a:t>
            </a:r>
          </a:p>
          <a:p>
            <a:pPr lvl="2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同前，只不过显示压缩过程</a:t>
            </a:r>
          </a:p>
          <a:p>
            <a:pPr lvl="1"/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en-US" altLang="zh-CN" sz="2800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tf</a:t>
            </a:r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test.jar</a:t>
            </a:r>
          </a:p>
          <a:p>
            <a:pPr lvl="2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查看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文件内容</a:t>
            </a:r>
          </a:p>
          <a:p>
            <a:pPr lvl="1"/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jar </a:t>
            </a:r>
            <a:r>
              <a:rPr lang="en-US" altLang="zh-CN" sz="2800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xvf</a:t>
            </a:r>
            <a:r>
              <a:rPr lang="en-US" altLang="zh-CN" sz="2800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test.jar</a:t>
            </a:r>
          </a:p>
          <a:p>
            <a:pPr lvl="2"/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解压缩</a:t>
            </a:r>
            <a:r>
              <a:rPr lang="en-US" altLang="zh-CN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jar</a:t>
            </a:r>
            <a:r>
              <a:rPr lang="zh-CN" altLang="en-US" sz="2400" dirty="0">
                <a:latin typeface="Century Schoolbook" panose="02040604050505020304" pitchFamily="18" charset="0"/>
                <a:ea typeface="黑体" panose="02010609060101010101" pitchFamily="49" charset="-122"/>
              </a:rPr>
              <a:t>包</a:t>
            </a:r>
            <a:endParaRPr lang="zh-CN" altLang="en-US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68313" y="188913"/>
            <a:ext cx="7543800" cy="719137"/>
          </a:xfrm>
        </p:spPr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3.11.3 JAR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文件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5400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>
          <a:xfrm>
            <a:off x="468312" y="981075"/>
            <a:ext cx="7848103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</a:t>
            </a:r>
          </a:p>
          <a:p>
            <a:pPr lvl="1">
              <a:lnSpc>
                <a:spcPct val="12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提供了用于语言开发的类库，称为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基础类库(</a:t>
            </a:r>
            <a:r>
              <a:rPr lang="en-US" altLang="zh-CN" b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JFC，</a:t>
            </a:r>
            <a:r>
              <a:rPr lang="en-US" altLang="zh-CN" sz="2000" b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en-US" altLang="zh-CN" sz="20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Foundational Class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 ，也称应用程序编程接口(</a:t>
            </a:r>
            <a:r>
              <a:rPr lang="en-US" altLang="zh-CN" b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API，</a:t>
            </a:r>
            <a:r>
              <a:rPr lang="en-US" altLang="zh-CN" sz="2000" b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Application</a:t>
            </a:r>
            <a:r>
              <a:rPr lang="en-US" altLang="zh-CN" sz="2000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Programming Interface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)，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分别放在不同的包中</a:t>
            </a:r>
          </a:p>
          <a:p>
            <a:pPr lvl="1">
              <a:lnSpc>
                <a:spcPct val="120000"/>
              </a:lnSpc>
            </a:pP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提供的包主要有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java.lang，java.io，java.math，java.util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java.applet，java.awt，java.awt.datatransfer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java.awt.event，java.awt.image，java.beans</a:t>
            </a:r>
            <a:endParaRPr lang="en-US" altLang="zh-CN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java.net，java.rmi，java.security，java.sql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等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语言包(</a:t>
            </a:r>
            <a:r>
              <a:rPr lang="en-US" altLang="zh-CN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java.lang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语言包提供了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语言最基础的类，包括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数据类型包裹类(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the Data Type Wrapper)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字符串类(</a:t>
            </a:r>
            <a:r>
              <a:rPr lang="en-US" altLang="zh-CN" sz="24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String、StringBuffer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数学类(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Math)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系统和运行时类(</a:t>
            </a:r>
            <a:r>
              <a:rPr lang="en-US" altLang="zh-CN" sz="24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System、Runtime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类操作类(</a:t>
            </a:r>
            <a:r>
              <a:rPr lang="en-US" altLang="zh-CN" sz="24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Class，ClassLoader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)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3187" name="内容占位符 2"/>
          <p:cNvSpPr>
            <a:spLocks noGrp="1"/>
          </p:cNvSpPr>
          <p:nvPr>
            <p:ph idx="1"/>
          </p:nvPr>
        </p:nvSpPr>
        <p:spPr>
          <a:xfrm>
            <a:off x="395288" y="981075"/>
            <a:ext cx="8302625" cy="21415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数据包裹类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对应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的每一个基本数据类型(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primitive data type)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都有一个数据包裹类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每个包裹类都只有一个类型为对应的基本数据类型的属性域</a:t>
            </a:r>
          </a:p>
        </p:txBody>
      </p:sp>
      <p:grpSp>
        <p:nvGrpSpPr>
          <p:cNvPr id="93188" name="Group 62"/>
          <p:cNvGrpSpPr>
            <a:grpSpLocks/>
          </p:cNvGrpSpPr>
          <p:nvPr/>
        </p:nvGrpSpPr>
        <p:grpSpPr bwMode="auto">
          <a:xfrm>
            <a:off x="1400175" y="3122613"/>
            <a:ext cx="6292850" cy="3503613"/>
            <a:chOff x="-3" y="-3"/>
            <a:chExt cx="3116" cy="3201"/>
          </a:xfrm>
        </p:grpSpPr>
        <p:grpSp>
          <p:nvGrpSpPr>
            <p:cNvPr id="93189" name="Group 60"/>
            <p:cNvGrpSpPr>
              <a:grpSpLocks/>
            </p:cNvGrpSpPr>
            <p:nvPr/>
          </p:nvGrpSpPr>
          <p:grpSpPr bwMode="auto">
            <a:xfrm>
              <a:off x="0" y="0"/>
              <a:ext cx="3110" cy="3195"/>
              <a:chOff x="0" y="0"/>
              <a:chExt cx="3110" cy="3195"/>
            </a:xfrm>
          </p:grpSpPr>
          <p:grpSp>
            <p:nvGrpSpPr>
              <p:cNvPr id="93191" name="Group 25"/>
              <p:cNvGrpSpPr>
                <a:grpSpLocks/>
              </p:cNvGrpSpPr>
              <p:nvPr/>
            </p:nvGrpSpPr>
            <p:grpSpPr bwMode="auto">
              <a:xfrm>
                <a:off x="0" y="0"/>
                <a:ext cx="1390" cy="355"/>
                <a:chOff x="0" y="0"/>
                <a:chExt cx="1390" cy="355"/>
              </a:xfrm>
            </p:grpSpPr>
            <p:sp>
              <p:nvSpPr>
                <p:cNvPr id="93243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304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GB" sz="2000" dirty="0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基本数据类型</a:t>
                  </a:r>
                  <a:endParaRPr lang="zh-CN" altLang="en-GB" sz="3600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 Unicode MS" panose="020B0604020202020204" pitchFamily="34" charset="-122"/>
                  </a:endParaRPr>
                </a:p>
                <a:p>
                  <a:endParaRPr lang="zh-CN" altLang="en-GB" sz="5400" b="1" dirty="0"/>
                </a:p>
              </p:txBody>
            </p:sp>
            <p:sp>
              <p:nvSpPr>
                <p:cNvPr id="93244" name="Rectangle 2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2" name="Group 27"/>
              <p:cNvGrpSpPr>
                <a:grpSpLocks/>
              </p:cNvGrpSpPr>
              <p:nvPr/>
            </p:nvGrpSpPr>
            <p:grpSpPr bwMode="auto">
              <a:xfrm>
                <a:off x="1390" y="0"/>
                <a:ext cx="1720" cy="355"/>
                <a:chOff x="1390" y="0"/>
                <a:chExt cx="1720" cy="355"/>
              </a:xfrm>
            </p:grpSpPr>
            <p:sp>
              <p:nvSpPr>
                <p:cNvPr id="93241" name="Rectangle 7"/>
                <p:cNvSpPr>
                  <a:spLocks noChangeArrowheads="1"/>
                </p:cNvSpPr>
                <p:nvPr/>
              </p:nvSpPr>
              <p:spPr bwMode="auto">
                <a:xfrm>
                  <a:off x="1433" y="0"/>
                  <a:ext cx="1634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GB" sz="2000" dirty="0">
                      <a:solidFill>
                        <a:srgbClr val="0000CC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数据包裹类</a:t>
                  </a:r>
                </a:p>
                <a:p>
                  <a:endParaRPr lang="zh-CN" altLang="en-GB" sz="5400" b="1" dirty="0"/>
                </a:p>
              </p:txBody>
            </p:sp>
            <p:sp>
              <p:nvSpPr>
                <p:cNvPr id="93242" name="Rectangle 26"/>
                <p:cNvSpPr>
                  <a:spLocks noChangeArrowheads="1"/>
                </p:cNvSpPr>
                <p:nvPr/>
              </p:nvSpPr>
              <p:spPr bwMode="auto">
                <a:xfrm>
                  <a:off x="1390" y="0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3" name="Group 29"/>
              <p:cNvGrpSpPr>
                <a:grpSpLocks/>
              </p:cNvGrpSpPr>
              <p:nvPr/>
            </p:nvGrpSpPr>
            <p:grpSpPr bwMode="auto">
              <a:xfrm>
                <a:off x="0" y="355"/>
                <a:ext cx="1390" cy="355"/>
                <a:chOff x="0" y="355"/>
                <a:chExt cx="1390" cy="355"/>
              </a:xfrm>
            </p:grpSpPr>
            <p:sp>
              <p:nvSpPr>
                <p:cNvPr id="55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355"/>
                  <a:ext cx="130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 err="1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b</a:t>
                  </a:r>
                  <a:r>
                    <a:rPr lang="en-US" altLang="zh-CN" b="1" dirty="0" err="1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oolean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40" name="Rectangle 28"/>
                <p:cNvSpPr>
                  <a:spLocks noChangeArrowheads="1"/>
                </p:cNvSpPr>
                <p:nvPr/>
              </p:nvSpPr>
              <p:spPr bwMode="auto">
                <a:xfrm>
                  <a:off x="0" y="355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4" name="Group 31"/>
              <p:cNvGrpSpPr>
                <a:grpSpLocks/>
              </p:cNvGrpSpPr>
              <p:nvPr/>
            </p:nvGrpSpPr>
            <p:grpSpPr bwMode="auto">
              <a:xfrm>
                <a:off x="1390" y="355"/>
                <a:ext cx="1720" cy="355"/>
                <a:chOff x="1390" y="355"/>
                <a:chExt cx="1720" cy="355"/>
              </a:xfrm>
            </p:grpSpPr>
            <p:sp>
              <p:nvSpPr>
                <p:cNvPr id="53" name="Rectangle 9"/>
                <p:cNvSpPr>
                  <a:spLocks noChangeArrowheads="1"/>
                </p:cNvSpPr>
                <p:nvPr/>
              </p:nvSpPr>
              <p:spPr bwMode="auto">
                <a:xfrm>
                  <a:off x="1433" y="355"/>
                  <a:ext cx="163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B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oolean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38" name="Rectangle 30"/>
                <p:cNvSpPr>
                  <a:spLocks noChangeArrowheads="1"/>
                </p:cNvSpPr>
                <p:nvPr/>
              </p:nvSpPr>
              <p:spPr bwMode="auto">
                <a:xfrm>
                  <a:off x="1390" y="355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5" name="Group 33"/>
              <p:cNvGrpSpPr>
                <a:grpSpLocks/>
              </p:cNvGrpSpPr>
              <p:nvPr/>
            </p:nvGrpSpPr>
            <p:grpSpPr bwMode="auto">
              <a:xfrm>
                <a:off x="0" y="710"/>
                <a:ext cx="1390" cy="355"/>
                <a:chOff x="0" y="710"/>
                <a:chExt cx="1390" cy="355"/>
              </a:xfrm>
            </p:grpSpPr>
            <p:sp>
              <p:nvSpPr>
                <p:cNvPr id="51" name="Rectangle 10"/>
                <p:cNvSpPr>
                  <a:spLocks noChangeArrowheads="1"/>
                </p:cNvSpPr>
                <p:nvPr/>
              </p:nvSpPr>
              <p:spPr bwMode="auto">
                <a:xfrm>
                  <a:off x="43" y="712"/>
                  <a:ext cx="1303" cy="3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b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yte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36" name="Rectangle 32"/>
                <p:cNvSpPr>
                  <a:spLocks noChangeArrowheads="1"/>
                </p:cNvSpPr>
                <p:nvPr/>
              </p:nvSpPr>
              <p:spPr bwMode="auto">
                <a:xfrm>
                  <a:off x="0" y="710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6" name="Group 35"/>
              <p:cNvGrpSpPr>
                <a:grpSpLocks/>
              </p:cNvGrpSpPr>
              <p:nvPr/>
            </p:nvGrpSpPr>
            <p:grpSpPr bwMode="auto">
              <a:xfrm>
                <a:off x="1390" y="710"/>
                <a:ext cx="1720" cy="355"/>
                <a:chOff x="1390" y="710"/>
                <a:chExt cx="1720" cy="355"/>
              </a:xfrm>
            </p:grpSpPr>
            <p:sp>
              <p:nvSpPr>
                <p:cNvPr id="49" name="Rectangle 11"/>
                <p:cNvSpPr>
                  <a:spLocks noChangeArrowheads="1"/>
                </p:cNvSpPr>
                <p:nvPr/>
              </p:nvSpPr>
              <p:spPr bwMode="auto">
                <a:xfrm>
                  <a:off x="1433" y="712"/>
                  <a:ext cx="1633" cy="3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B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yte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34" name="Rectangle 34"/>
                <p:cNvSpPr>
                  <a:spLocks noChangeArrowheads="1"/>
                </p:cNvSpPr>
                <p:nvPr/>
              </p:nvSpPr>
              <p:spPr bwMode="auto">
                <a:xfrm>
                  <a:off x="1390" y="710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7" name="Group 37"/>
              <p:cNvGrpSpPr>
                <a:grpSpLocks/>
              </p:cNvGrpSpPr>
              <p:nvPr/>
            </p:nvGrpSpPr>
            <p:grpSpPr bwMode="auto">
              <a:xfrm>
                <a:off x="0" y="1065"/>
                <a:ext cx="1390" cy="355"/>
                <a:chOff x="0" y="1065"/>
                <a:chExt cx="1390" cy="355"/>
              </a:xfrm>
            </p:grpSpPr>
            <p:sp>
              <p:nvSpPr>
                <p:cNvPr id="47" name="Rectangle 12"/>
                <p:cNvSpPr>
                  <a:spLocks noChangeArrowheads="1"/>
                </p:cNvSpPr>
                <p:nvPr/>
              </p:nvSpPr>
              <p:spPr bwMode="auto">
                <a:xfrm>
                  <a:off x="43" y="1063"/>
                  <a:ext cx="130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c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har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32" name="Rectangle 36"/>
                <p:cNvSpPr>
                  <a:spLocks noChangeArrowheads="1"/>
                </p:cNvSpPr>
                <p:nvPr/>
              </p:nvSpPr>
              <p:spPr bwMode="auto">
                <a:xfrm>
                  <a:off x="0" y="1065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8" name="Group 39"/>
              <p:cNvGrpSpPr>
                <a:grpSpLocks/>
              </p:cNvGrpSpPr>
              <p:nvPr/>
            </p:nvGrpSpPr>
            <p:grpSpPr bwMode="auto">
              <a:xfrm>
                <a:off x="1390" y="1065"/>
                <a:ext cx="1720" cy="355"/>
                <a:chOff x="1390" y="1065"/>
                <a:chExt cx="1720" cy="355"/>
              </a:xfrm>
            </p:grpSpPr>
            <p:sp>
              <p:nvSpPr>
                <p:cNvPr id="45" name="Rectangle 13"/>
                <p:cNvSpPr>
                  <a:spLocks noChangeArrowheads="1"/>
                </p:cNvSpPr>
                <p:nvPr/>
              </p:nvSpPr>
              <p:spPr bwMode="auto">
                <a:xfrm>
                  <a:off x="1433" y="1063"/>
                  <a:ext cx="163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C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haracter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30" name="Rectangle 38"/>
                <p:cNvSpPr>
                  <a:spLocks noChangeArrowheads="1"/>
                </p:cNvSpPr>
                <p:nvPr/>
              </p:nvSpPr>
              <p:spPr bwMode="auto">
                <a:xfrm>
                  <a:off x="1390" y="1065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199" name="Group 41"/>
              <p:cNvGrpSpPr>
                <a:grpSpLocks/>
              </p:cNvGrpSpPr>
              <p:nvPr/>
            </p:nvGrpSpPr>
            <p:grpSpPr bwMode="auto">
              <a:xfrm>
                <a:off x="0" y="1420"/>
                <a:ext cx="1390" cy="355"/>
                <a:chOff x="0" y="1420"/>
                <a:chExt cx="1390" cy="355"/>
              </a:xfrm>
            </p:grpSpPr>
            <p:sp>
              <p:nvSpPr>
                <p:cNvPr id="43" name="Rectangle 14"/>
                <p:cNvSpPr>
                  <a:spLocks noChangeArrowheads="1"/>
                </p:cNvSpPr>
                <p:nvPr/>
              </p:nvSpPr>
              <p:spPr bwMode="auto">
                <a:xfrm>
                  <a:off x="43" y="1420"/>
                  <a:ext cx="130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s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hort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b="1" dirty="0">
                    <a:latin typeface="+mn-ea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93228" name="Rectangle 40"/>
                <p:cNvSpPr>
                  <a:spLocks noChangeArrowheads="1"/>
                </p:cNvSpPr>
                <p:nvPr/>
              </p:nvSpPr>
              <p:spPr bwMode="auto">
                <a:xfrm>
                  <a:off x="0" y="1420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0" name="Group 43"/>
              <p:cNvGrpSpPr>
                <a:grpSpLocks/>
              </p:cNvGrpSpPr>
              <p:nvPr/>
            </p:nvGrpSpPr>
            <p:grpSpPr bwMode="auto">
              <a:xfrm>
                <a:off x="1390" y="1420"/>
                <a:ext cx="1720" cy="355"/>
                <a:chOff x="1390" y="1420"/>
                <a:chExt cx="1720" cy="355"/>
              </a:xfrm>
            </p:grpSpPr>
            <p:sp>
              <p:nvSpPr>
                <p:cNvPr id="41" name="Rectangle 15"/>
                <p:cNvSpPr>
                  <a:spLocks noChangeArrowheads="1"/>
                </p:cNvSpPr>
                <p:nvPr/>
              </p:nvSpPr>
              <p:spPr bwMode="auto">
                <a:xfrm>
                  <a:off x="1433" y="1420"/>
                  <a:ext cx="163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S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hort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26" name="Rectangle 42"/>
                <p:cNvSpPr>
                  <a:spLocks noChangeArrowheads="1"/>
                </p:cNvSpPr>
                <p:nvPr/>
              </p:nvSpPr>
              <p:spPr bwMode="auto">
                <a:xfrm>
                  <a:off x="1390" y="1420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1" name="Group 45"/>
              <p:cNvGrpSpPr>
                <a:grpSpLocks/>
              </p:cNvGrpSpPr>
              <p:nvPr/>
            </p:nvGrpSpPr>
            <p:grpSpPr bwMode="auto">
              <a:xfrm>
                <a:off x="0" y="1775"/>
                <a:ext cx="1390" cy="355"/>
                <a:chOff x="0" y="1775"/>
                <a:chExt cx="1390" cy="355"/>
              </a:xfrm>
            </p:grpSpPr>
            <p:sp>
              <p:nvSpPr>
                <p:cNvPr id="39" name="Rectangle 16"/>
                <p:cNvSpPr>
                  <a:spLocks noChangeArrowheads="1"/>
                </p:cNvSpPr>
                <p:nvPr/>
              </p:nvSpPr>
              <p:spPr bwMode="auto">
                <a:xfrm>
                  <a:off x="43" y="1775"/>
                  <a:ext cx="130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 err="1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i</a:t>
                  </a:r>
                  <a:r>
                    <a:rPr lang="en-US" altLang="zh-CN" b="1" dirty="0" err="1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nt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24" name="Rectangle 44"/>
                <p:cNvSpPr>
                  <a:spLocks noChangeArrowheads="1"/>
                </p:cNvSpPr>
                <p:nvPr/>
              </p:nvSpPr>
              <p:spPr bwMode="auto">
                <a:xfrm>
                  <a:off x="0" y="1775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2" name="Group 47"/>
              <p:cNvGrpSpPr>
                <a:grpSpLocks/>
              </p:cNvGrpSpPr>
              <p:nvPr/>
            </p:nvGrpSpPr>
            <p:grpSpPr bwMode="auto">
              <a:xfrm>
                <a:off x="1390" y="1775"/>
                <a:ext cx="1720" cy="355"/>
                <a:chOff x="1390" y="1775"/>
                <a:chExt cx="1720" cy="355"/>
              </a:xfrm>
            </p:grpSpPr>
            <p:sp>
              <p:nvSpPr>
                <p:cNvPr id="37" name="Rectangle 17"/>
                <p:cNvSpPr>
                  <a:spLocks noChangeArrowheads="1"/>
                </p:cNvSpPr>
                <p:nvPr/>
              </p:nvSpPr>
              <p:spPr bwMode="auto">
                <a:xfrm>
                  <a:off x="1433" y="1775"/>
                  <a:ext cx="163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I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nteger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22" name="Rectangle 46"/>
                <p:cNvSpPr>
                  <a:spLocks noChangeArrowheads="1"/>
                </p:cNvSpPr>
                <p:nvPr/>
              </p:nvSpPr>
              <p:spPr bwMode="auto">
                <a:xfrm>
                  <a:off x="1390" y="1775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3" name="Group 49"/>
              <p:cNvGrpSpPr>
                <a:grpSpLocks/>
              </p:cNvGrpSpPr>
              <p:nvPr/>
            </p:nvGrpSpPr>
            <p:grpSpPr bwMode="auto">
              <a:xfrm>
                <a:off x="0" y="2130"/>
                <a:ext cx="1390" cy="355"/>
                <a:chOff x="0" y="2130"/>
                <a:chExt cx="1390" cy="355"/>
              </a:xfrm>
            </p:grpSpPr>
            <p:sp>
              <p:nvSpPr>
                <p:cNvPr id="35" name="Rectangle 18"/>
                <p:cNvSpPr>
                  <a:spLocks noChangeArrowheads="1"/>
                </p:cNvSpPr>
                <p:nvPr/>
              </p:nvSpPr>
              <p:spPr bwMode="auto">
                <a:xfrm>
                  <a:off x="43" y="2132"/>
                  <a:ext cx="1303" cy="3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l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ong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20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2130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4" name="Group 51"/>
              <p:cNvGrpSpPr>
                <a:grpSpLocks/>
              </p:cNvGrpSpPr>
              <p:nvPr/>
            </p:nvGrpSpPr>
            <p:grpSpPr bwMode="auto">
              <a:xfrm>
                <a:off x="1390" y="2130"/>
                <a:ext cx="1720" cy="355"/>
                <a:chOff x="1390" y="2130"/>
                <a:chExt cx="1720" cy="355"/>
              </a:xfrm>
            </p:grpSpPr>
            <p:sp>
              <p:nvSpPr>
                <p:cNvPr id="33" name="Rectangle 19"/>
                <p:cNvSpPr>
                  <a:spLocks noChangeArrowheads="1"/>
                </p:cNvSpPr>
                <p:nvPr/>
              </p:nvSpPr>
              <p:spPr bwMode="auto">
                <a:xfrm>
                  <a:off x="1433" y="2132"/>
                  <a:ext cx="1633" cy="3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L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ong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93218" name="Rectangle 50"/>
                <p:cNvSpPr>
                  <a:spLocks noChangeArrowheads="1"/>
                </p:cNvSpPr>
                <p:nvPr/>
              </p:nvSpPr>
              <p:spPr bwMode="auto">
                <a:xfrm>
                  <a:off x="1390" y="2130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5" name="Group 53"/>
              <p:cNvGrpSpPr>
                <a:grpSpLocks/>
              </p:cNvGrpSpPr>
              <p:nvPr/>
            </p:nvGrpSpPr>
            <p:grpSpPr bwMode="auto">
              <a:xfrm>
                <a:off x="0" y="2485"/>
                <a:ext cx="1390" cy="355"/>
                <a:chOff x="0" y="2485"/>
                <a:chExt cx="1390" cy="355"/>
              </a:xfrm>
            </p:grpSpPr>
            <p:sp>
              <p:nvSpPr>
                <p:cNvPr id="31" name="Rectangle 20"/>
                <p:cNvSpPr>
                  <a:spLocks noChangeArrowheads="1"/>
                </p:cNvSpPr>
                <p:nvPr/>
              </p:nvSpPr>
              <p:spPr bwMode="auto">
                <a:xfrm>
                  <a:off x="43" y="2483"/>
                  <a:ext cx="130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f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loat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16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2485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6" name="Group 55"/>
              <p:cNvGrpSpPr>
                <a:grpSpLocks/>
              </p:cNvGrpSpPr>
              <p:nvPr/>
            </p:nvGrpSpPr>
            <p:grpSpPr bwMode="auto">
              <a:xfrm>
                <a:off x="1390" y="2485"/>
                <a:ext cx="1720" cy="355"/>
                <a:chOff x="1390" y="2485"/>
                <a:chExt cx="1720" cy="355"/>
              </a:xfrm>
            </p:grpSpPr>
            <p:sp>
              <p:nvSpPr>
                <p:cNvPr id="29" name="Rectangle 21"/>
                <p:cNvSpPr>
                  <a:spLocks noChangeArrowheads="1"/>
                </p:cNvSpPr>
                <p:nvPr/>
              </p:nvSpPr>
              <p:spPr bwMode="auto">
                <a:xfrm>
                  <a:off x="1433" y="2483"/>
                  <a:ext cx="163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F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loat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14" name="Rectangle 54"/>
                <p:cNvSpPr>
                  <a:spLocks noChangeArrowheads="1"/>
                </p:cNvSpPr>
                <p:nvPr/>
              </p:nvSpPr>
              <p:spPr bwMode="auto">
                <a:xfrm>
                  <a:off x="1390" y="2485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7" name="Group 57"/>
              <p:cNvGrpSpPr>
                <a:grpSpLocks/>
              </p:cNvGrpSpPr>
              <p:nvPr/>
            </p:nvGrpSpPr>
            <p:grpSpPr bwMode="auto">
              <a:xfrm>
                <a:off x="0" y="2840"/>
                <a:ext cx="1390" cy="355"/>
                <a:chOff x="0" y="2840"/>
                <a:chExt cx="1390" cy="355"/>
              </a:xfrm>
            </p:grpSpPr>
            <p:sp>
              <p:nvSpPr>
                <p:cNvPr id="27" name="Rectangle 22"/>
                <p:cNvSpPr>
                  <a:spLocks noChangeArrowheads="1"/>
                </p:cNvSpPr>
                <p:nvPr/>
              </p:nvSpPr>
              <p:spPr bwMode="auto">
                <a:xfrm>
                  <a:off x="43" y="2840"/>
                  <a:ext cx="130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0000CC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d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ouble</a:t>
                  </a:r>
                  <a:endParaRPr lang="en-GB" altLang="zh-CN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12" name="Rectangle 56"/>
                <p:cNvSpPr>
                  <a:spLocks noChangeArrowheads="1"/>
                </p:cNvSpPr>
                <p:nvPr/>
              </p:nvSpPr>
              <p:spPr bwMode="auto">
                <a:xfrm>
                  <a:off x="0" y="2840"/>
                  <a:ext cx="139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93208" name="Group 59"/>
              <p:cNvGrpSpPr>
                <a:grpSpLocks/>
              </p:cNvGrpSpPr>
              <p:nvPr/>
            </p:nvGrpSpPr>
            <p:grpSpPr bwMode="auto">
              <a:xfrm>
                <a:off x="1390" y="2761"/>
                <a:ext cx="1720" cy="434"/>
                <a:chOff x="1390" y="2761"/>
                <a:chExt cx="1720" cy="434"/>
              </a:xfrm>
            </p:grpSpPr>
            <p:sp>
              <p:nvSpPr>
                <p:cNvPr id="25" name="Rectangle 23"/>
                <p:cNvSpPr>
                  <a:spLocks noChangeArrowheads="1"/>
                </p:cNvSpPr>
                <p:nvPr/>
              </p:nvSpPr>
              <p:spPr bwMode="auto">
                <a:xfrm>
                  <a:off x="1433" y="2761"/>
                  <a:ext cx="1633" cy="3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r>
                    <a:rPr lang="en-US" altLang="zh-CN" b="1" dirty="0">
                      <a:solidFill>
                        <a:srgbClr val="FF0000"/>
                      </a:solidFill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D</a:t>
                  </a:r>
                  <a:r>
                    <a:rPr lang="en-US" altLang="zh-CN" b="1" dirty="0">
                      <a:latin typeface="Century Schoolbook" panose="02040604050505020304" pitchFamily="18" charset="0"/>
                      <a:ea typeface="+mn-ea"/>
                      <a:cs typeface="Times New Roman" pitchFamily="18" charset="0"/>
                    </a:rPr>
                    <a:t>ouble</a:t>
                  </a:r>
                  <a:endParaRPr lang="en-GB" altLang="zh-CN" sz="3200" b="1" dirty="0">
                    <a:latin typeface="Century Schoolbook" panose="02040604050505020304" pitchFamily="18" charset="0"/>
                    <a:ea typeface="+mn-ea"/>
                    <a:cs typeface="Times New Roman" pitchFamily="18" charset="0"/>
                  </a:endParaRPr>
                </a:p>
                <a:p>
                  <a:pPr eaLnBrk="0" hangingPunct="0">
                    <a:defRPr/>
                  </a:pPr>
                  <a:endParaRPr lang="en-GB" altLang="zh-CN" sz="5400" b="1" dirty="0"/>
                </a:p>
              </p:txBody>
            </p:sp>
            <p:sp>
              <p:nvSpPr>
                <p:cNvPr id="93210" name="Rectangle 58"/>
                <p:cNvSpPr>
                  <a:spLocks noChangeArrowheads="1"/>
                </p:cNvSpPr>
                <p:nvPr/>
              </p:nvSpPr>
              <p:spPr bwMode="auto">
                <a:xfrm>
                  <a:off x="1390" y="2840"/>
                  <a:ext cx="1720" cy="355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93190" name="Rectangle 61"/>
            <p:cNvSpPr>
              <a:spLocks noChangeArrowheads="1"/>
            </p:cNvSpPr>
            <p:nvPr/>
          </p:nvSpPr>
          <p:spPr bwMode="auto">
            <a:xfrm>
              <a:off x="-3" y="-3"/>
              <a:ext cx="3116" cy="3201"/>
            </a:xfrm>
            <a:prstGeom prst="rect">
              <a:avLst/>
            </a:prstGeom>
            <a:noFill/>
            <a:ln w="11112" cap="sq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cxnSp>
        <p:nvCxnSpPr>
          <p:cNvPr id="61" name="直接连接符 60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4211" name="内容占位符 2"/>
          <p:cNvSpPr>
            <a:spLocks noGrp="1"/>
          </p:cNvSpPr>
          <p:nvPr>
            <p:ph idx="1"/>
          </p:nvPr>
        </p:nvSpPr>
        <p:spPr>
          <a:xfrm>
            <a:off x="250825" y="1052736"/>
            <a:ext cx="8713663" cy="5184775"/>
          </a:xfrm>
        </p:spPr>
        <p:txBody>
          <a:bodyPr/>
          <a:lstStyle/>
          <a:p>
            <a:pPr>
              <a:lnSpc>
                <a:spcPct val="123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生成数据类型包裹类对象的方法</a:t>
            </a:r>
          </a:p>
          <a:p>
            <a:pPr lvl="1">
              <a:lnSpc>
                <a:spcPct val="123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从基本数据类型的变量或常量生成包裹类对象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double x = 1.2;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Double a = new Double(x);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Double b = new Double(-5.25); </a:t>
            </a:r>
          </a:p>
          <a:p>
            <a:pPr lvl="1">
              <a:lnSpc>
                <a:spcPct val="123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从字符串生成包裹类对象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Double c = new Double("-2.34");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Integer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= new Integer("1234"); </a:t>
            </a:r>
          </a:p>
          <a:p>
            <a:pPr lvl="1">
              <a:lnSpc>
                <a:spcPct val="123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已知字符串，可使用</a:t>
            </a:r>
            <a:r>
              <a:rPr lang="en-US" altLang="zh-CN" b="0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valueOf</a:t>
            </a: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将其转换成包裹类对象：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Integer.valueOf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("125");</a:t>
            </a:r>
          </a:p>
          <a:p>
            <a:pPr lvl="2">
              <a:lnSpc>
                <a:spcPct val="123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Double.valueOf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("5.15");</a:t>
            </a:r>
            <a:endParaRPr lang="zh-CN" altLang="en-US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得到基本数据类型数据的方法</a:t>
            </a:r>
          </a:p>
          <a:p>
            <a:pPr lvl="1">
              <a:lnSpc>
                <a:spcPct val="125000"/>
              </a:lnSpc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每一个包裹类都提供相应的方法将包裹类对象转换回基本数据类型</a:t>
            </a:r>
          </a:p>
          <a:p>
            <a:pPr lvl="2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anIntegerObject.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intValue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()   //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返回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类型</a:t>
            </a:r>
          </a:p>
          <a:p>
            <a:pPr lvl="2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aCharacterObject.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charValue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() //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返回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char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类型</a:t>
            </a:r>
          </a:p>
          <a:p>
            <a:pPr lvl="1">
              <a:lnSpc>
                <a:spcPct val="125000"/>
              </a:lnSpc>
            </a:pP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Integer、Float、Double、Long、Byte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及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Short 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类提供了方法能够将字符串类型的对象直接转换成对应的</a:t>
            </a:r>
            <a:r>
              <a:rPr lang="en-US" altLang="zh-CN" b="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int、float、double、long、byte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或</a:t>
            </a:r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short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类型的数据</a:t>
            </a:r>
          </a:p>
          <a:p>
            <a:pPr lvl="2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Integer.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parseInt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(“234”)        //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返回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类型的数据</a:t>
            </a:r>
          </a:p>
          <a:p>
            <a:pPr lvl="2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Float.</a:t>
            </a: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parseFloat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("234.78")     // 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返回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float</a:t>
            </a:r>
            <a:r>
              <a:rPr lang="zh-CN" altLang="en-US" dirty="0">
                <a:latin typeface="Century Schoolbook" panose="02040604050505020304" pitchFamily="18" charset="0"/>
                <a:ea typeface="黑体" panose="02010609060101010101" pitchFamily="49" charset="-122"/>
              </a:rPr>
              <a:t>类型的数据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6259" name="内容占位符 2"/>
          <p:cNvSpPr>
            <a:spLocks noGrp="1"/>
          </p:cNvSpPr>
          <p:nvPr>
            <p:ph idx="1"/>
          </p:nvPr>
        </p:nvSpPr>
        <p:spPr>
          <a:xfrm>
            <a:off x="468313" y="981075"/>
            <a:ext cx="8229600" cy="5688013"/>
          </a:xfrm>
        </p:spPr>
        <p:txBody>
          <a:bodyPr/>
          <a:lstStyle/>
          <a:p>
            <a:r>
              <a:rPr lang="en-US" altLang="zh-CN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String</a:t>
            </a: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该类字符串对象的值和长度都不变化，为常量字符串</a:t>
            </a:r>
          </a:p>
          <a:p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生成</a:t>
            </a:r>
            <a:r>
              <a:rPr lang="en-US" altLang="zh-CN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String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类对象的方法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可以这样生成一个常量字符串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String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aString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aString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= “This is a string” </a:t>
            </a:r>
          </a:p>
          <a:p>
            <a:pPr lvl="1"/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调用构造方法生成字符串对象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new String();          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new String(String value);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new String(char[] value);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new String(char[] value,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offset, 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count);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new String(</a:t>
            </a:r>
            <a:r>
              <a:rPr lang="en-US" altLang="zh-CN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StringBuffer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buffer);</a:t>
            </a:r>
          </a:p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后续章节详细介绍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72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数学类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提供一组常量和数学函数，例如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PI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常数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求绝对值的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abs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计算三角函数的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sin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方法和</a:t>
            </a:r>
            <a:r>
              <a:rPr lang="en-US" altLang="zh-CN" sz="2400" dirty="0" err="1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cos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求最小值、最大值的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min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方法和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max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求随机数的</a:t>
            </a:r>
            <a:r>
              <a:rPr lang="en-US" altLang="zh-CN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random</a:t>
            </a:r>
            <a:r>
              <a:rPr lang="zh-CN" altLang="en-US" sz="2400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方法等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其中所有的变量和方法都是静态的(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static)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是终结类(</a:t>
            </a:r>
            <a:r>
              <a:rPr lang="en-US" altLang="zh-CN" b="0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final)，</a:t>
            </a: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不能从中派生其他的新类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3.11.4 Java </a:t>
            </a:r>
            <a:r>
              <a:rPr lang="zh-CN" altLang="en-US" sz="320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基础类库简介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83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系统和运行时类</a:t>
            </a:r>
            <a:r>
              <a:rPr lang="en-US" altLang="zh-CN" sz="2400" b="0" dirty="0" err="1">
                <a:latin typeface="Century Schoolbook" panose="02040604050505020304" pitchFamily="18" charset="0"/>
                <a:ea typeface="黑体" panose="02010609060101010101" pitchFamily="49" charset="-122"/>
              </a:rPr>
              <a:t>System、Runtime</a:t>
            </a:r>
            <a:endParaRPr lang="en-US" altLang="zh-CN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System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访问系统资源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arraycopy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     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复制一个数组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exit()                       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结束当前运行的程序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currentTimeMillis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获得系统当前日期和时间等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访问标准输入输出流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System.in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  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标准输入，表示键盘</a:t>
            </a:r>
            <a:endParaRPr lang="en-US" altLang="zh-CN" dirty="0">
              <a:solidFill>
                <a:srgbClr val="0000CC"/>
              </a:solidFill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System.out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标准输出，表示显示器</a:t>
            </a:r>
          </a:p>
          <a:p>
            <a:pPr>
              <a:lnSpc>
                <a:spcPct val="90000"/>
              </a:lnSpc>
            </a:pPr>
            <a:r>
              <a:rPr lang="en-US" altLang="zh-CN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Runtime</a:t>
            </a: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</a:t>
            </a:r>
          </a:p>
          <a:p>
            <a:pPr lvl="1">
              <a:lnSpc>
                <a:spcPct val="90000"/>
              </a:lnSpc>
            </a:pPr>
            <a:r>
              <a:rPr lang="zh-CN" altLang="en-US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可直接访问运行时资源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totalMemory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</a:t>
            </a:r>
            <a:r>
              <a:rPr lang="zh-CN" altLang="en-US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返回系统内存总量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freeMemory</a:t>
            </a:r>
            <a:r>
              <a:rPr lang="en-US" altLang="zh-CN" dirty="0">
                <a:solidFill>
                  <a:srgbClr val="FF0000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()</a:t>
            </a:r>
            <a:r>
              <a:rPr lang="en-US" altLang="zh-CN" dirty="0">
                <a:latin typeface="Century Schoolbook" panose="020406040505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dirty="0">
                <a:solidFill>
                  <a:srgbClr val="0000CC"/>
                </a:solidFill>
                <a:latin typeface="Century Schoolbook" panose="02040604050505020304" pitchFamily="18" charset="0"/>
                <a:ea typeface="黑体" panose="02010609060101010101" pitchFamily="49" charset="-122"/>
              </a:rPr>
              <a:t>返回内存的剩余空间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1136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内容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介绍了</a:t>
            </a:r>
            <a:r>
              <a:rPr lang="en-US" altLang="zh-CN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语言类的重用机制，形式可以是组合或继承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Object</a:t>
            </a: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类的主要方法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终结类和终结方法的特点和语法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抽象类和抽象方法的特点和语法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基础类库的一些重要的类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0">
                <a:latin typeface="Century Schoolbook" panose="02040604050505020304" pitchFamily="18" charset="0"/>
                <a:ea typeface="黑体" panose="02010609060101010101" pitchFamily="49" charset="-122"/>
              </a:rPr>
              <a:t>要求</a:t>
            </a:r>
            <a:endParaRPr lang="zh-CN" altLang="en-US" sz="2400" b="0" dirty="0">
              <a:latin typeface="Century Schoolbook" panose="02040604050505020304" pitchFamily="18" charset="0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理解组合和继承的区别，能够知道何时使用那种方法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了解终结类、终结方法、抽象类、抽象方法的概念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熟练掌握本章提到的</a:t>
            </a:r>
            <a:r>
              <a:rPr lang="en-US" altLang="zh-CN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Java</a:t>
            </a:r>
            <a:r>
              <a:rPr lang="zh-CN" altLang="en-US" sz="2000" b="0" dirty="0">
                <a:latin typeface="Century Schoolbook" panose="02040604050505020304" pitchFamily="18" charset="0"/>
                <a:ea typeface="黑体" panose="02010609060101010101" pitchFamily="49" charset="-122"/>
              </a:rPr>
              <a:t>基础类库中的一些常见类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908051"/>
            <a:ext cx="7956376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3733</TotalTime>
  <Words>7220</Words>
  <Application>Microsoft Office PowerPoint</Application>
  <PresentationFormat>全屏显示(4:3)</PresentationFormat>
  <Paragraphs>1019</Paragraphs>
  <Slides>91</Slides>
  <Notes>12</Notes>
  <HiddenSlides>5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03" baseType="lpstr">
      <vt:lpstr>Arial Unicode MS</vt:lpstr>
      <vt:lpstr>黑体</vt:lpstr>
      <vt:lpstr>华文新魏</vt:lpstr>
      <vt:lpstr>楷体_GB2312</vt:lpstr>
      <vt:lpstr>宋体</vt:lpstr>
      <vt:lpstr>Arial</vt:lpstr>
      <vt:lpstr>Calibri</vt:lpstr>
      <vt:lpstr>Century Schoolbook</vt:lpstr>
      <vt:lpstr>Courier New</vt:lpstr>
      <vt:lpstr>Times New Roman</vt:lpstr>
      <vt:lpstr>Wingdings</vt:lpstr>
      <vt:lpstr>Network</vt:lpstr>
      <vt:lpstr>第三章 Java面向对象程序设计 – 2</vt:lpstr>
      <vt:lpstr>3.5 类的继承 (Inheritance)</vt:lpstr>
      <vt:lpstr>3.5.1 继承的概念</vt:lpstr>
      <vt:lpstr>3.5.1 继承的概念</vt:lpstr>
      <vt:lpstr>3.5.1 继承的概念</vt:lpstr>
      <vt:lpstr>3.5.2 继承的语法</vt:lpstr>
      <vt:lpstr>3.5.2 继承的语法</vt:lpstr>
      <vt:lpstr>3.5.2 继承的语法</vt:lpstr>
      <vt:lpstr>3.5.2 继承的语法</vt:lpstr>
      <vt:lpstr>PowerPoint 演示文稿</vt:lpstr>
      <vt:lpstr>3.5.2 继承的语法</vt:lpstr>
      <vt:lpstr>类运算符</vt:lpstr>
      <vt:lpstr>3.5.3 隐藏和覆盖</vt:lpstr>
      <vt:lpstr>3.5.3 隐藏和覆盖</vt:lpstr>
      <vt:lpstr>SuperTest1 .java</vt:lpstr>
      <vt:lpstr>PowerPoint 演示文稿</vt:lpstr>
      <vt:lpstr>SuperTest2 .java</vt:lpstr>
      <vt:lpstr>3.5.3 隐藏和覆盖</vt:lpstr>
      <vt:lpstr>3.5.3 隐藏和覆盖</vt:lpstr>
      <vt:lpstr>3.5.3 隐藏和覆盖</vt:lpstr>
      <vt:lpstr>3.5.4 有继承时的构造方法</vt:lpstr>
      <vt:lpstr>3.5.4 有继承时的构造方法</vt:lpstr>
      <vt:lpstr>3.5.4 有继承时的构造方法</vt:lpstr>
      <vt:lpstr>3.5.4 有继承时的构造方法</vt:lpstr>
      <vt:lpstr>第三章 Java面向对象程序设计 – 2</vt:lpstr>
      <vt:lpstr>3.6 Object 类</vt:lpstr>
      <vt:lpstr>3.6 Object 类</vt:lpstr>
      <vt:lpstr>3.6 Object 类</vt:lpstr>
      <vt:lpstr>3.6 Object 类</vt:lpstr>
      <vt:lpstr>3.6 Object 类</vt:lpstr>
      <vt:lpstr>3.6 Object 类——equals方法 </vt:lpstr>
      <vt:lpstr>3.6 Object 类——equals方法 </vt:lpstr>
      <vt:lpstr>3.6 Object 类——equals方法 </vt:lpstr>
      <vt:lpstr>3.6 Object 类——equals方法 </vt:lpstr>
      <vt:lpstr>第三章 Java面向对象程序设计 – 2</vt:lpstr>
      <vt:lpstr>3.7 终结类与终结方法</vt:lpstr>
      <vt:lpstr>3.7.1 终结类 (final类)</vt:lpstr>
      <vt:lpstr>3.7.1 终结类 (final类)</vt:lpstr>
      <vt:lpstr>3.7.2 终结方法 (final方法)</vt:lpstr>
      <vt:lpstr>3.7.2 终结方法 (final方法)</vt:lpstr>
      <vt:lpstr>第三章 Java面向对象程序设计 – 2</vt:lpstr>
      <vt:lpstr>3.8 抽象类(abstract类)</vt:lpstr>
      <vt:lpstr>3.8 抽象类(abstract类)</vt:lpstr>
      <vt:lpstr>3.8 抽象类(abstract类)</vt:lpstr>
      <vt:lpstr>3.8 抽象类(abstract类)</vt:lpstr>
      <vt:lpstr>3.8.1 abstract类声明</vt:lpstr>
      <vt:lpstr>3.8.2 abstract方法</vt:lpstr>
      <vt:lpstr>3.8.2 abstract方法</vt:lpstr>
      <vt:lpstr>PowerPoint 演示文稿</vt:lpstr>
      <vt:lpstr>第三章 Java面向对象程序设计 – 2</vt:lpstr>
      <vt:lpstr>3.9 类的组合(composition)</vt:lpstr>
      <vt:lpstr>3.9 类的组合</vt:lpstr>
      <vt:lpstr>3.9 类的组合</vt:lpstr>
      <vt:lpstr>3.9 类的组合</vt:lpstr>
      <vt:lpstr>3.9 类的组合</vt:lpstr>
      <vt:lpstr>3.9 类的组合——组合与继承的比较</vt:lpstr>
      <vt:lpstr>3.9 类的组合——组合与继承的比较</vt:lpstr>
      <vt:lpstr>第三章 Java面向对象程序设计 – 2</vt:lpstr>
      <vt:lpstr>3.10 访问控制</vt:lpstr>
      <vt:lpstr>3.10 访问控制</vt:lpstr>
      <vt:lpstr>3.10 访问控制</vt:lpstr>
      <vt:lpstr>3.10 访问控制</vt:lpstr>
      <vt:lpstr>3.10 访问控制</vt:lpstr>
      <vt:lpstr>3.10 访问控制</vt:lpstr>
      <vt:lpstr>3.10 访问控制</vt:lpstr>
      <vt:lpstr>3.10 访问控制</vt:lpstr>
      <vt:lpstr>3.10 访问控制</vt:lpstr>
      <vt:lpstr>第三章 Java面向对象程序设计 – 2</vt:lpstr>
      <vt:lpstr>3.11 包 (package)</vt:lpstr>
      <vt:lpstr>3.11.1 包的使用</vt:lpstr>
      <vt:lpstr>3.11.1 包的使用</vt:lpstr>
      <vt:lpstr>3.11.1 包的使用</vt:lpstr>
      <vt:lpstr>3.11.1 包的使用</vt:lpstr>
      <vt:lpstr>3.11.2 自定义包</vt:lpstr>
      <vt:lpstr>3.11.2 自定义包</vt:lpstr>
      <vt:lpstr>3.11.2 自定义包</vt:lpstr>
      <vt:lpstr>3.11.2 自定义包</vt:lpstr>
      <vt:lpstr>3.11.2 自定义包</vt:lpstr>
      <vt:lpstr>3.11.3 JAR文件</vt:lpstr>
      <vt:lpstr>3.11.3 JAR文件</vt:lpstr>
      <vt:lpstr>3.11.3 JAR文件</vt:lpstr>
      <vt:lpstr>3.11.3 JAR文件</vt:lpstr>
      <vt:lpstr>3.11.4 Java 基础类库简介</vt:lpstr>
      <vt:lpstr>3.11.4 Java 基础类库简介</vt:lpstr>
      <vt:lpstr>3.11.4 Java 基础类库简介</vt:lpstr>
      <vt:lpstr>3.11.4 Java 基础类库简介</vt:lpstr>
      <vt:lpstr>3.11.4 Java 基础类库简介</vt:lpstr>
      <vt:lpstr>3.11.4 Java 基础类库简介</vt:lpstr>
      <vt:lpstr>3.11.4 Java 基础类库简介</vt:lpstr>
      <vt:lpstr>3.11.4 Java 基础类库简介</vt:lpstr>
      <vt:lpstr>内容小结</vt:lpstr>
    </vt:vector>
  </TitlesOfParts>
  <Company>HHU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Java面向对象程序设计 – 2</dc:title>
  <dc:creator>Yingchi Mao</dc:creator>
  <cp:lastModifiedBy>Yingchi Mao</cp:lastModifiedBy>
  <cp:revision>168</cp:revision>
  <dcterms:created xsi:type="dcterms:W3CDTF">2012-11-06T00:57:33Z</dcterms:created>
  <dcterms:modified xsi:type="dcterms:W3CDTF">2024-05-07T05:32:10Z</dcterms:modified>
</cp:coreProperties>
</file>