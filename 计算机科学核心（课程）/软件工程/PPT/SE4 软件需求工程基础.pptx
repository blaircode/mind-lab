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</p:sldIdLst>
  <p:sldSz cx="12190413" cy="6858000"/>
  <p:notesSz cx="7099300" cy="10234613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9B00FD1-7905-4DEB-A942-6A00415A69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FD5FD092-2756-4BA8-AD1A-F2882BCAF5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228EB8-6A9E-4D9C-90F9-9DE4FD4A27D6}" type="datetimeFigureOut">
              <a:rPr lang="zh-CN" altLang="en-US" smtClean="0"/>
              <a:t>2023/9/20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1E75DAC-EB56-47D5-A23F-5F3D63F1FE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9E47EEB-2204-42DD-B847-BF1CAA01EA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97951-EB64-43B4-984B-8E4E0F2334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44706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0A1630C1-05A1-466A-B94A-04678669D0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091" y="365126"/>
            <a:ext cx="10514231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5EE51DF-EE57-4E99-8F17-BF49B12AEF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091" y="1825625"/>
            <a:ext cx="10514231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FB8E7BC-1F6D-4C0F-B6EB-076A0DFC258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091" y="6356351"/>
            <a:ext cx="274284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228EB8-6A9E-4D9C-90F9-9DE4FD4A27D6}" type="datetimeFigureOut">
              <a:rPr lang="zh-CN" altLang="en-US" smtClean="0"/>
              <a:t>2023/9/20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7374433-52F4-4700-85AA-DD05EF0028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075" y="6356351"/>
            <a:ext cx="41142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5CE30CC-DADB-4308-9CDE-083D081AC7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09479" y="6356351"/>
            <a:ext cx="274284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F97951-EB64-43B4-984B-8E4E0F2334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84558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</p:sldLayoutIdLst>
  <p:txStyles>
    <p:titleStyle>
      <a:lvl1pPr algn="l" defTabSz="914309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77" indent="-228577" algn="l" defTabSz="9143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31" indent="-228577" algn="l" defTabSz="91430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886" indent="-228577" algn="l" defTabSz="91430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040" indent="-228577" algn="l" defTabSz="91430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194" indent="-228577" algn="l" defTabSz="91430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349" indent="-228577" algn="l" defTabSz="91430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503" indent="-228577" algn="l" defTabSz="91430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657" indent="-228577" algn="l" defTabSz="91430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811" indent="-228577" algn="l" defTabSz="91430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30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54" algn="l" defTabSz="91430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09" algn="l" defTabSz="91430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63" algn="l" defTabSz="91430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617" algn="l" defTabSz="91430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771" algn="l" defTabSz="91430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926" algn="l" defTabSz="91430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80" algn="l" defTabSz="91430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234" algn="l" defTabSz="91430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eg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eg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eg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eg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jpeg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jpeg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jpeg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jpeg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jpeg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jpeg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jpeg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jpeg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jpeg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jpeg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jpeg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jpeg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BB8E9B9B-72BF-4300-A284-BE746E61AB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2F855E17-2DFC-441D-839D-5C6DC21C16BC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32460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BF033014-E0FA-4A5C-A046-E0ED25C70B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内容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239CB847-0542-4C52-8C9D-6D391D86EBF2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53591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6D3E2677-E5BB-4DA1-97A5-5C690DABED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1.1 </a:t>
            </a:r>
            <a:r>
              <a:rPr lang="zh-CN" altLang="en-US"/>
              <a:t>软件开发的本质（</a:t>
            </a:r>
            <a:r>
              <a:rPr lang="en-US" altLang="zh-CN"/>
              <a:t>1/2</a:t>
            </a:r>
            <a:r>
              <a:rPr lang="zh-CN" altLang="en-US"/>
              <a:t>）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32ABBE2F-6EA8-48A5-BB06-B73249581F8C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68671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00221CE8-1B89-41F8-A45E-409DCF3A00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ym typeface="+mn-ea"/>
              </a:rPr>
              <a:t>软件开发的本质（</a:t>
            </a:r>
            <a:r>
              <a:rPr lang="en-US" altLang="zh-CN">
                <a:sym typeface="+mn-ea"/>
              </a:rPr>
              <a:t>2/2</a:t>
            </a:r>
            <a:r>
              <a:rPr lang="zh-CN" altLang="en-US">
                <a:sym typeface="+mn-ea"/>
              </a:rPr>
              <a:t>）</a:t>
            </a:r>
            <a:endParaRPr lang="en-US" altLang="zh-CN" dirty="0">
              <a:sym typeface="+mn-ea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213D3778-DE56-482F-A18A-CCE9090FDED5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70690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120A518D-3A61-4FF4-AE09-F92C2B16D4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1.2 </a:t>
            </a:r>
            <a:r>
              <a:rPr lang="zh-CN" altLang="en-US"/>
              <a:t>软件系统的利益相关方</a:t>
            </a:r>
            <a:endParaRPr lang="en-US" altLang="zh-CN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4BA04EC3-1131-4357-996B-6654A18279F3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40306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4BBBC996-79D6-4F73-83C5-9E1FCA19B2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软件案例</a:t>
            </a:r>
            <a:r>
              <a:rPr lang="en-US" altLang="zh-CN"/>
              <a:t>: </a:t>
            </a:r>
            <a:r>
              <a:rPr lang="zh-CN" altLang="en-US"/>
              <a:t>空巢老人看护系统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F4CF8D75-85EF-4B16-99BD-95AF85176909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43309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398A2B40-5D43-4AF0-A0E7-2F70334ACE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示例：空巢老人看护软件的利益相关方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E78E9919-6925-48FF-AD8D-756E2370A3B4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23863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8242069E-4664-4999-8508-16E7743535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软件需求及其利益相关方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E7E17A62-CACB-4CF2-9797-BFCD6A7BD9AE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36944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983D54CB-5E37-440A-A3B2-C12A162A61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1.3 </a:t>
            </a:r>
            <a:r>
              <a:rPr lang="zh-CN" altLang="en-US"/>
              <a:t>何为软件需求</a:t>
            </a:r>
            <a:r>
              <a:rPr lang="en-US" altLang="zh-CN"/>
              <a:t>(Software Requirement)?</a:t>
            </a:r>
            <a:endParaRPr lang="en-US" altLang="zh-CN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E5FCCB5A-7721-45F6-9154-5FC045FD1FF7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54889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749571FC-EBA8-4409-BAEF-35CD6BA413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软件需求的类别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6F614CD5-55A5-4A53-A73A-E51DDBE26554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63569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096736F2-136E-4997-A4CC-575ED43555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示例：空巢老人看护软件的需求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72A13E3D-69C7-4348-9B0B-451772FD90B7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15698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08A17235-F063-487E-903B-0ADBB42798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软件需求的特点（</a:t>
            </a:r>
            <a:r>
              <a:rPr lang="en-US" altLang="zh-CN"/>
              <a:t>1/2</a:t>
            </a:r>
            <a:r>
              <a:rPr lang="zh-CN" altLang="en-US"/>
              <a:t>）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6E190390-93CA-4B32-9D07-548AA1A774D3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0636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4465472C-9ADF-4523-9160-D86B8B530C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软件需求的特点（</a:t>
            </a:r>
            <a:r>
              <a:rPr lang="en-US" altLang="zh-CN"/>
              <a:t>2/2</a:t>
            </a:r>
            <a:r>
              <a:rPr lang="zh-CN" altLang="en-US"/>
              <a:t>）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DF890FCF-3623-460F-B600-C9687257C2D2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11264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829E1F12-3288-455B-8C23-5BA6EA93A4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软件需求的重要性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B5371E89-692A-4DD0-8F0B-C6F849A7CEDF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81298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19846042-78D2-4369-B56F-09229089C3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600" b="1">
                <a:latin typeface="微软雅黑" panose="020B0503020204020204" pitchFamily="34" charset="-122"/>
                <a:ea typeface="微软雅黑" panose="020B0503020204020204" pitchFamily="34" charset="-122"/>
              </a:rPr>
              <a:t>软件需求的重要性</a:t>
            </a:r>
            <a:endParaRPr lang="zh-CN" altLang="en-US" sz="3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EA95D444-1FA6-4B1F-ABD2-D10ABAC11629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9383546"/>
      </p:ext>
    </p:ext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FBA53ADA-338C-4C55-8B6A-760400123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1.4 </a:t>
            </a:r>
            <a:r>
              <a:rPr lang="zh-CN" altLang="en-US"/>
              <a:t>何为需求工程？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2D904343-7E5C-4B74-B71B-D2E12B0EE14C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15905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C4A29C0A-A2BA-48A9-A040-2ACD248CF7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/>
              <a:t>需求工程的一般性过程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81CF7E7E-15A3-4441-8B2B-B7B5EA65EB89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16346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28393ED8-2848-4A5A-8561-BD41B3ABF8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/>
              <a:t>需求工程的方法学</a:t>
            </a:r>
            <a:r>
              <a:rPr lang="zh-CN" altLang="en-US"/>
              <a:t>（</a:t>
            </a:r>
            <a:r>
              <a:rPr lang="en-US" altLang="zh-CN"/>
              <a:t>1/3</a:t>
            </a:r>
            <a:r>
              <a:rPr lang="zh-CN" altLang="en-US"/>
              <a:t>）</a:t>
            </a:r>
            <a:r>
              <a:rPr lang="en-US" altLang="zh-CN"/>
              <a:t>- </a:t>
            </a:r>
            <a:r>
              <a:rPr lang="zh-CN" altLang="en-US"/>
              <a:t>抽象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5BBDD9E6-3559-4F85-9A9C-4A7F413EFD07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918783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981ECCE5-D1AA-4570-B618-525D832798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/>
              <a:t>需求工程的方法学</a:t>
            </a:r>
            <a:r>
              <a:rPr lang="zh-CN" altLang="en-US"/>
              <a:t>（</a:t>
            </a:r>
            <a:r>
              <a:rPr lang="en-US" altLang="zh-CN"/>
              <a:t>2/3</a:t>
            </a:r>
            <a:r>
              <a:rPr lang="zh-CN" altLang="en-US"/>
              <a:t>）</a:t>
            </a:r>
            <a:r>
              <a:rPr lang="en-US" altLang="zh-CN"/>
              <a:t>- </a:t>
            </a:r>
            <a:r>
              <a:rPr lang="zh-CN" altLang="en-US"/>
              <a:t>建模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B7C1331A-8339-46EC-BD71-58F09CE3F760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657876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E3DB97B4-5EA8-4173-8077-4FB2344C36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/>
              <a:t>需求工程的方法学</a:t>
            </a:r>
            <a:r>
              <a:rPr lang="zh-CN" altLang="en-US"/>
              <a:t>（</a:t>
            </a:r>
            <a:r>
              <a:rPr lang="en-US" altLang="zh-CN"/>
              <a:t>3/3</a:t>
            </a:r>
            <a:r>
              <a:rPr lang="zh-CN" altLang="en-US"/>
              <a:t>）</a:t>
            </a:r>
            <a:r>
              <a:rPr lang="en-US" altLang="zh-CN"/>
              <a:t>- </a:t>
            </a:r>
            <a:r>
              <a:rPr lang="zh-CN" altLang="en-US"/>
              <a:t>分析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C5B9E436-70D7-4C58-AE5B-4F81642538EA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4889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4624FB0E-5400-4796-B130-72312A82D8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内容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2ED69583-238D-40B3-A1BA-A6B8B3099BC4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376634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C1014D73-B5FC-4D89-8840-CE8767E45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b="1">
                <a:latin typeface="微软雅黑" panose="020B0503020204020204" pitchFamily="34" charset="-122"/>
                <a:ea typeface="微软雅黑" panose="020B0503020204020204" pitchFamily="34" charset="-122"/>
              </a:rPr>
              <a:t>2.1 </a:t>
            </a:r>
            <a:r>
              <a:rPr lang="zh-CN" altLang="en-US" sz="3600" b="1">
                <a:latin typeface="微软雅黑" panose="020B0503020204020204" pitchFamily="34" charset="-122"/>
                <a:ea typeface="微软雅黑" panose="020B0503020204020204" pitchFamily="34" charset="-122"/>
              </a:rPr>
              <a:t>结构化分析</a:t>
            </a:r>
            <a:endParaRPr lang="zh-CN" altLang="en-US" sz="3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70786E77-04ED-422B-96C3-4C27705850C4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96174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9E9185E6-D1CA-44EE-854D-7959907E47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C8E60159-3789-442A-B0FF-AD0F859DD949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320067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D8E3D7D6-B001-4A0A-99F3-C904D0F7EB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600" b="1">
                <a:latin typeface="微软雅黑" panose="020B0503020204020204" pitchFamily="34" charset="-122"/>
                <a:ea typeface="微软雅黑" panose="020B0503020204020204" pitchFamily="34" charset="-122"/>
              </a:rPr>
              <a:t>功能模型（</a:t>
            </a:r>
            <a:r>
              <a:rPr lang="en-US" altLang="zh-CN" sz="3600" b="1">
                <a:latin typeface="微软雅黑" panose="020B0503020204020204" pitchFamily="34" charset="-122"/>
                <a:ea typeface="微软雅黑" panose="020B0503020204020204" pitchFamily="34" charset="-122"/>
              </a:rPr>
              <a:t>DFD</a:t>
            </a:r>
            <a:r>
              <a:rPr lang="zh-CN" altLang="en-US" sz="3600" b="1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zh-CN" altLang="en-US" sz="3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5EBD828B-E79F-4649-88F4-229938E75679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3256164"/>
      </p:ext>
    </p:extLst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F9E49890-9C66-4872-A953-CBE554AE6A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21A81CF6-52A8-4143-BC74-72064AA0B9A9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3309688"/>
      </p:ext>
    </p:extLst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7ABF3ADB-EDB2-4199-A092-29AC8DFCC9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49B681DB-6CF4-477B-BDF8-221BDDE9ABF3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717885"/>
      </p:ext>
    </p:extLst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AD3555F3-2B9F-4852-83C4-4726F2A57D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51F24AB7-0D32-474F-BC28-80DA9E22C235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2018642"/>
      </p:ext>
    </p:extLst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35A7C165-3464-4E3E-A7F1-7753DE7912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EFF42C5A-8068-49BC-B697-E457C40D4AB5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3369419"/>
      </p:ext>
    </p:extLst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24BFCE9F-47D4-4E92-A0D0-31AB9524AE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8C30ED3D-4FA9-4363-A170-612824C52182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1537129"/>
      </p:ext>
    </p:extLst>
  </p:cSld>
  <p:clrMapOvr>
    <a:masterClrMapping/>
  </p:clrMapOvr>
  <p:transition>
    <p:checker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212C5DCD-0D0B-4219-AADD-6114C03493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数据字典（</a:t>
            </a:r>
            <a:r>
              <a:rPr lang="en-US" altLang="zh-CN"/>
              <a:t>DD</a:t>
            </a:r>
            <a:r>
              <a:rPr lang="zh-CN" altLang="en-US"/>
              <a:t>）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0BC7994B-C915-4303-98D1-099969FE66A5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8805130"/>
      </p:ext>
    </p:extLst>
  </p:cSld>
  <p:clrMapOvr>
    <a:masterClrMapping/>
  </p:clrMapOvr>
  <p:transition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043A79F3-9051-436A-A835-7BFF6CF0BF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数据字典举例：数据库表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7DBFF6D8-D39F-48A1-A12B-8244182D8416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1510541"/>
      </p:ext>
    </p:extLst>
  </p:cSld>
  <p:clrMapOvr>
    <a:masterClrMapping/>
  </p:clrMapOvr>
  <p:transition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044D6867-6356-43D9-AE67-C9A3F6C674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数据字典基本符号</a:t>
            </a:r>
            <a:endParaRPr lang="en-US" altLang="zh-CN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A3CFDA55-6C35-4679-979F-B173B3F6515C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601001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513F3929-BA2A-408E-A7A5-8EC4C1EBA3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Example :</a:t>
            </a:r>
            <a:r>
              <a:rPr lang="zh-CN" altLang="en-US"/>
              <a:t>教材购销</a:t>
            </a:r>
            <a:endParaRPr lang="en-US" altLang="zh-CN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9048FFD7-540B-4D7D-9B2B-DA7075C13359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797105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C4F39D55-44BD-4B4B-A4FC-866ADCA682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Example : data dictionary description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23B0AC3B-506D-43A8-A194-CCD4E38DB03F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512891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BFC07A50-ECFE-46C9-86C3-2F5C9EB217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内容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81FF85A9-C44B-4031-B8DD-2AEFD57273CE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796141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34A92E6C-5E57-4340-AAE7-B6AB1C06D6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传统方法的缺点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6917137F-9A72-488E-B8C6-BDDF429ACBF6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82260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CFB90D4C-5760-4CE9-96F9-841C1BC4F0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3.1 </a:t>
            </a:r>
            <a:r>
              <a:rPr lang="zh-CN" altLang="en-US"/>
              <a:t>基本思想</a:t>
            </a:r>
            <a:endParaRPr lang="en-US" altLang="zh-CN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444B60C0-0716-4781-B1AB-AEF4A9168E1A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0320961"/>
      </p:ext>
    </p:extLst>
  </p:cSld>
  <p:clrMapOvr>
    <a:masterClrMapping/>
  </p:clrMapOvr>
  <p:transition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C7B6890C-C3CC-467B-9199-5DF9B169F6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面向对象方法组成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3E8CF728-8D30-42F7-AAAD-B0758E539749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515062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D80B61DB-76B0-455B-BF94-0F9D58E196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面向对象的基本概念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C72CA680-E8C4-4CC5-BFF0-29380947CAB6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0280139"/>
      </p:ext>
    </p:extLst>
  </p:cSld>
  <p:clrMapOvr>
    <a:masterClrMapping/>
  </p:clrMapOvr>
  <p:transition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3C622FB8-31AC-49F4-AA20-62B89A7B48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问题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681A6A41-762B-49A3-9301-7F14C14562CD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8296126"/>
      </p:ext>
    </p:extLst>
  </p:cSld>
  <p:clrMapOvr>
    <a:masterClrMapping/>
  </p:clrMapOvr>
  <p:transition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3A9CD9FB-3F66-4618-936F-8C979AB5C5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基于图的模型表示及优势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A7527B3E-1896-43C8-8599-88151EC7BFEE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905163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75B00C0C-B281-47A5-BB6B-0DC50BE9E6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3.2 </a:t>
            </a:r>
            <a:r>
              <a:rPr lang="zh-CN" altLang="en-US"/>
              <a:t>面向对象建模语言</a:t>
            </a:r>
            <a:endParaRPr lang="en-US" altLang="zh-CN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769AA7BD-F31A-47BD-A0D4-0C664A8D5557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229419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E7EE69D3-CF36-4EF7-B770-D01A805C4B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面向对象建模语言的发展历程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F8EFF6BA-967E-4A19-9CB0-B9594ED1AA90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905730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03D7F3ED-031A-4A8C-9ABC-69C165B2CF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UML: Unified Modeling Language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A1B4DAEC-EAC1-4A55-A650-69685D840D1C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034309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62630422-A405-4333-82C6-AF488149F6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UML</a:t>
            </a:r>
            <a:r>
              <a:rPr lang="zh-CN" altLang="en-US"/>
              <a:t>用途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6C055D3E-B4C7-4038-900B-872C0A87410C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328695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0C892F57-6888-443B-A618-9651EE2D81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多视角建模（</a:t>
            </a:r>
            <a:r>
              <a:rPr lang="en-US" altLang="zh-CN"/>
              <a:t>1/2</a:t>
            </a:r>
            <a:r>
              <a:rPr lang="zh-CN" altLang="en-US"/>
              <a:t>）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51C9F194-DFAE-4CEB-90F8-075A4CC0B0AC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327058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5FE9D203-35CA-4756-BD83-0111FF4A5F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多视点建模（</a:t>
            </a:r>
            <a:r>
              <a:rPr lang="en-US" altLang="zh-CN"/>
              <a:t>2/2</a:t>
            </a:r>
            <a:r>
              <a:rPr lang="zh-CN" altLang="en-US"/>
              <a:t>）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175D651E-85CE-43D4-9C82-B2A70EF49064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662689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251CC8BB-6DF0-4403-B540-902AD01263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3.3 </a:t>
            </a:r>
            <a:r>
              <a:rPr lang="zh-CN" altLang="zh-CN"/>
              <a:t>面向对象需求分析步骤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54C69189-C14F-48BA-8797-A84D86D2DBAE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629358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57B8D78F-3831-452C-8858-D5E84F3824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/>
              <a:t>需求工程的</a:t>
            </a:r>
            <a:r>
              <a:rPr lang="en-US" altLang="zh-CN"/>
              <a:t>CASE</a:t>
            </a:r>
            <a:r>
              <a:rPr lang="zh-CN" altLang="zh-CN"/>
              <a:t>工具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52638261-06F3-476E-BF9F-2C2E20EF443C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812902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FA45BF43-F245-4F90-B87F-AB0368248A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内容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689A52A0-5A4B-4E5E-AE51-2DE68FB76145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791902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6F13D546-27F0-4A11-B349-A7A8FE49EA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4.1 </a:t>
            </a:r>
            <a:r>
              <a:rPr lang="zh-CN" altLang="zh-CN"/>
              <a:t>软件需求制品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AD3E42A0-80BC-47BD-AEF0-9A43111F3E41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529001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E0A663C4-F3E4-4CB8-B7EB-FFB152412B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软件需求文档的内容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5C09633F-5F61-46FB-8DC2-538BB9966749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944352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D35B8DFF-C5BA-42E1-89C3-DB31073F70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4.2 </a:t>
            </a:r>
            <a:r>
              <a:rPr lang="zh-CN" altLang="zh-CN"/>
              <a:t>软件需求缺陷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F2BF2960-60E1-4B01-8EBE-A056DF726AB3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639271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D422BE6B-0ADC-4BF5-ABC1-571F5C6EEB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4.3 </a:t>
            </a:r>
            <a:r>
              <a:rPr lang="zh-CN" altLang="zh-CN"/>
              <a:t>软件需求</a:t>
            </a:r>
            <a:r>
              <a:rPr lang="zh-CN" altLang="en-US"/>
              <a:t>确认和验证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66E6237D-B741-40FF-B901-F36600D8A7AA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60518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FD0A453D-50BC-4140-9185-22EAB5BDCF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小结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B5B67CFD-A8EA-4F57-841F-55E202B9010B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233474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4A72F7B3-CEA8-4445-AD0C-CB9CBF7C74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/>
              <a:t>综合实践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AFF59737-2C67-4027-8C25-869B4D303847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54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240</Words>
  <Application>Microsoft Office PowerPoint</Application>
  <PresentationFormat>自定义</PresentationFormat>
  <Paragraphs>49</Paragraphs>
  <Slides>56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56</vt:i4>
      </vt:variant>
    </vt:vector>
  </HeadingPairs>
  <TitlesOfParts>
    <vt:vector size="62" baseType="lpstr">
      <vt:lpstr>等线</vt:lpstr>
      <vt:lpstr>等线 Light</vt:lpstr>
      <vt:lpstr>微软雅黑</vt:lpstr>
      <vt:lpstr>Arial</vt:lpstr>
      <vt:lpstr>Times New Roman</vt:lpstr>
      <vt:lpstr>Office 主题​​</vt:lpstr>
      <vt:lpstr>PowerPoint 演示文稿</vt:lpstr>
      <vt:lpstr>内容</vt:lpstr>
      <vt:lpstr>1.1 软件开发的本质（1/2）</vt:lpstr>
      <vt:lpstr>软件开发的本质（2/2）</vt:lpstr>
      <vt:lpstr>1.2 软件系统的利益相关方</vt:lpstr>
      <vt:lpstr>软件案例: 空巢老人看护系统</vt:lpstr>
      <vt:lpstr>示例：空巢老人看护软件的利益相关方</vt:lpstr>
      <vt:lpstr>软件需求及其利益相关方</vt:lpstr>
      <vt:lpstr>1.3 何为软件需求(Software Requirement)?</vt:lpstr>
      <vt:lpstr>软件需求的类别</vt:lpstr>
      <vt:lpstr>示例：空巢老人看护软件的需求</vt:lpstr>
      <vt:lpstr>软件需求的特点（1/2）</vt:lpstr>
      <vt:lpstr>软件需求的特点（2/2）</vt:lpstr>
      <vt:lpstr>软件需求的重要性</vt:lpstr>
      <vt:lpstr>软件需求的重要性</vt:lpstr>
      <vt:lpstr>1.4 何为需求工程？</vt:lpstr>
      <vt:lpstr>需求工程的一般性过程</vt:lpstr>
      <vt:lpstr>需求工程的方法学（1/3）- 抽象</vt:lpstr>
      <vt:lpstr>需求工程的方法学（2/3）- 建模</vt:lpstr>
      <vt:lpstr>需求工程的方法学（3/3）- 分析</vt:lpstr>
      <vt:lpstr>内容</vt:lpstr>
      <vt:lpstr>2.1 结构化分析</vt:lpstr>
      <vt:lpstr>PowerPoint 演示文稿</vt:lpstr>
      <vt:lpstr>功能模型（DFD）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数据字典（DD）</vt:lpstr>
      <vt:lpstr>数据字典举例：数据库表</vt:lpstr>
      <vt:lpstr>数据字典基本符号</vt:lpstr>
      <vt:lpstr>Example :教材购销</vt:lpstr>
      <vt:lpstr>Example : data dictionary description</vt:lpstr>
      <vt:lpstr>内容</vt:lpstr>
      <vt:lpstr>传统方法的缺点</vt:lpstr>
      <vt:lpstr>3.1 基本思想</vt:lpstr>
      <vt:lpstr>面向对象方法组成</vt:lpstr>
      <vt:lpstr>面向对象的基本概念</vt:lpstr>
      <vt:lpstr>问题</vt:lpstr>
      <vt:lpstr>基于图的模型表示及优势</vt:lpstr>
      <vt:lpstr>3.2 面向对象建模语言</vt:lpstr>
      <vt:lpstr>面向对象建模语言的发展历程</vt:lpstr>
      <vt:lpstr>UML: Unified Modeling Language</vt:lpstr>
      <vt:lpstr>UML用途</vt:lpstr>
      <vt:lpstr>多视角建模（1/2）</vt:lpstr>
      <vt:lpstr>多视点建模（2/2）</vt:lpstr>
      <vt:lpstr>3.3 面向对象需求分析步骤</vt:lpstr>
      <vt:lpstr>需求工程的CASE工具</vt:lpstr>
      <vt:lpstr>内容</vt:lpstr>
      <vt:lpstr>4.1 软件需求制品</vt:lpstr>
      <vt:lpstr>软件需求文档的内容</vt:lpstr>
      <vt:lpstr>4.2 软件需求缺陷</vt:lpstr>
      <vt:lpstr>4.3 软件需求确认和验证</vt:lpstr>
      <vt:lpstr>小结</vt:lpstr>
      <vt:lpstr>综合实践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18465</dc:creator>
  <cp:lastModifiedBy>18465</cp:lastModifiedBy>
  <cp:revision>1</cp:revision>
  <dcterms:created xsi:type="dcterms:W3CDTF">2023-09-20T02:09:27Z</dcterms:created>
  <dcterms:modified xsi:type="dcterms:W3CDTF">2023-09-20T02:09:27Z</dcterms:modified>
</cp:coreProperties>
</file>