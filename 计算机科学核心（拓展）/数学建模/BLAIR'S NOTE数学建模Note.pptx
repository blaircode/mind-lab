
<file path=[Content_Types].xml><?xml version="1.0" encoding="utf-8"?>
<Types xmlns="http://schemas.openxmlformats.org/package/2006/content-types">
  <Default Extension="bin" ContentType="application/vnd.openxmlformats-officedocument.oleObject"/>
  <Default Extension="emf" ContentType="image/x-emf"/>
  <Default Extension="glb" ContentType="model/gltf.binary"/>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57"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大一下暑假" id="{5B856CA7-ADFF-4ACA-ACC9-BAE7F0772052}">
          <p14:sldIdLst>
            <p14:sldId id="256"/>
            <p14:sldId id="258"/>
            <p14:sldId id="257"/>
            <p14:sldId id="259"/>
            <p14:sldId id="260"/>
            <p14:sldId id="261"/>
            <p14:sldId id="262"/>
            <p14:sldId id="263"/>
            <p14:sldId id="265"/>
            <p14:sldId id="264"/>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DF1E9"/>
    <a:srgbClr val="F2F8EE"/>
    <a:srgbClr val="D6BBEB"/>
    <a:srgbClr val="EFF5FB"/>
    <a:srgbClr val="F4F9F1"/>
    <a:srgbClr val="EEF7E9"/>
    <a:srgbClr val="F1F8EC"/>
    <a:srgbClr val="ECF4E8"/>
    <a:srgbClr val="F6FA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9" autoAdjust="0"/>
    <p:restoredTop sz="94660"/>
  </p:normalViewPr>
  <p:slideViewPr>
    <p:cSldViewPr snapToGrid="0" showGuides="1">
      <p:cViewPr varScale="1">
        <p:scale>
          <a:sx n="92" d="100"/>
          <a:sy n="92" d="100"/>
        </p:scale>
        <p:origin x="92" y="4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Sheet1!$B$1</c:f>
              <c:strCache>
                <c:ptCount val="1"/>
                <c:pt idx="0">
                  <c:v>X0</c:v>
                </c:pt>
              </c:strCache>
            </c:strRef>
          </c:tx>
          <c:spPr>
            <a:ln w="12700" cap="rnd">
              <a:solidFill>
                <a:schemeClr val="accent2"/>
              </a:solidFill>
              <a:round/>
            </a:ln>
            <a:effectLst/>
          </c:spPr>
          <c:marker>
            <c:symbol val="circle"/>
            <c:size val="5"/>
            <c:spPr>
              <a:solidFill>
                <a:schemeClr val="accent2"/>
              </a:solidFill>
              <a:ln w="9525">
                <a:solidFill>
                  <a:schemeClr val="accent2"/>
                </a:solidFill>
              </a:ln>
              <a:effectLst/>
            </c:spPr>
          </c:marker>
          <c:val>
            <c:numRef>
              <c:f>Sheet1!$B$2:$B$7</c:f>
              <c:numCache>
                <c:formatCode>General</c:formatCode>
                <c:ptCount val="6"/>
                <c:pt idx="0">
                  <c:v>1988</c:v>
                </c:pt>
                <c:pt idx="1">
                  <c:v>2061</c:v>
                </c:pt>
                <c:pt idx="2">
                  <c:v>2335</c:v>
                </c:pt>
                <c:pt idx="3">
                  <c:v>2750</c:v>
                </c:pt>
                <c:pt idx="4">
                  <c:v>3356</c:v>
                </c:pt>
                <c:pt idx="5">
                  <c:v>3806</c:v>
                </c:pt>
              </c:numCache>
            </c:numRef>
          </c:val>
          <c:smooth val="0"/>
          <c:extLst>
            <c:ext xmlns:c16="http://schemas.microsoft.com/office/drawing/2014/chart" uri="{C3380CC4-5D6E-409C-BE32-E72D297353CC}">
              <c16:uniqueId val="{00000000-67A2-48A2-88FF-E759A6C6DDF0}"/>
            </c:ext>
          </c:extLst>
        </c:ser>
        <c:ser>
          <c:idx val="2"/>
          <c:order val="1"/>
          <c:tx>
            <c:strRef>
              <c:f>Sheet1!$C$1</c:f>
              <c:strCache>
                <c:ptCount val="1"/>
                <c:pt idx="0">
                  <c:v>X1</c:v>
                </c:pt>
              </c:strCache>
            </c:strRef>
          </c:tx>
          <c:spPr>
            <a:ln w="12700" cap="rnd">
              <a:solidFill>
                <a:schemeClr val="accent3"/>
              </a:solidFill>
              <a:round/>
            </a:ln>
            <a:effectLst/>
          </c:spPr>
          <c:marker>
            <c:symbol val="circle"/>
            <c:size val="5"/>
            <c:spPr>
              <a:solidFill>
                <a:schemeClr val="accent3"/>
              </a:solidFill>
              <a:ln w="9525">
                <a:solidFill>
                  <a:schemeClr val="accent3"/>
                </a:solidFill>
              </a:ln>
              <a:effectLst/>
            </c:spPr>
          </c:marker>
          <c:val>
            <c:numRef>
              <c:f>Sheet1!$C$2:$C$7</c:f>
              <c:numCache>
                <c:formatCode>General</c:formatCode>
                <c:ptCount val="6"/>
                <c:pt idx="0">
                  <c:v>386</c:v>
                </c:pt>
                <c:pt idx="1">
                  <c:v>408</c:v>
                </c:pt>
                <c:pt idx="2">
                  <c:v>422</c:v>
                </c:pt>
                <c:pt idx="3">
                  <c:v>482</c:v>
                </c:pt>
                <c:pt idx="4">
                  <c:v>511</c:v>
                </c:pt>
                <c:pt idx="5">
                  <c:v>561</c:v>
                </c:pt>
              </c:numCache>
            </c:numRef>
          </c:val>
          <c:smooth val="0"/>
          <c:extLst>
            <c:ext xmlns:c16="http://schemas.microsoft.com/office/drawing/2014/chart" uri="{C3380CC4-5D6E-409C-BE32-E72D297353CC}">
              <c16:uniqueId val="{00000001-67A2-48A2-88FF-E759A6C6DDF0}"/>
            </c:ext>
          </c:extLst>
        </c:ser>
        <c:ser>
          <c:idx val="3"/>
          <c:order val="2"/>
          <c:tx>
            <c:strRef>
              <c:f>Sheet1!$D$1</c:f>
              <c:strCache>
                <c:ptCount val="1"/>
                <c:pt idx="0">
                  <c:v>X2</c:v>
                </c:pt>
              </c:strCache>
            </c:strRef>
          </c:tx>
          <c:spPr>
            <a:ln w="12700" cap="rnd">
              <a:solidFill>
                <a:schemeClr val="accent4"/>
              </a:solidFill>
              <a:round/>
            </a:ln>
            <a:effectLst/>
          </c:spPr>
          <c:marker>
            <c:symbol val="circle"/>
            <c:size val="5"/>
            <c:spPr>
              <a:solidFill>
                <a:schemeClr val="accent4"/>
              </a:solidFill>
              <a:ln w="9525">
                <a:solidFill>
                  <a:schemeClr val="accent4"/>
                </a:solidFill>
              </a:ln>
              <a:effectLst/>
            </c:spPr>
          </c:marker>
          <c:val>
            <c:numRef>
              <c:f>Sheet1!$D$2:$D$7</c:f>
              <c:numCache>
                <c:formatCode>General</c:formatCode>
                <c:ptCount val="6"/>
                <c:pt idx="0">
                  <c:v>839</c:v>
                </c:pt>
                <c:pt idx="1">
                  <c:v>846</c:v>
                </c:pt>
                <c:pt idx="2">
                  <c:v>960</c:v>
                </c:pt>
                <c:pt idx="3">
                  <c:v>1258</c:v>
                </c:pt>
                <c:pt idx="4">
                  <c:v>1577</c:v>
                </c:pt>
                <c:pt idx="5">
                  <c:v>1893</c:v>
                </c:pt>
              </c:numCache>
            </c:numRef>
          </c:val>
          <c:smooth val="0"/>
          <c:extLst>
            <c:ext xmlns:c16="http://schemas.microsoft.com/office/drawing/2014/chart" uri="{C3380CC4-5D6E-409C-BE32-E72D297353CC}">
              <c16:uniqueId val="{00000002-67A2-48A2-88FF-E759A6C6DDF0}"/>
            </c:ext>
          </c:extLst>
        </c:ser>
        <c:ser>
          <c:idx val="4"/>
          <c:order val="3"/>
          <c:tx>
            <c:strRef>
              <c:f>Sheet1!$E$1</c:f>
              <c:strCache>
                <c:ptCount val="1"/>
                <c:pt idx="0">
                  <c:v>X3</c:v>
                </c:pt>
              </c:strCache>
            </c:strRef>
          </c:tx>
          <c:spPr>
            <a:ln w="12700" cap="rnd">
              <a:solidFill>
                <a:schemeClr val="accent5"/>
              </a:solidFill>
              <a:round/>
            </a:ln>
            <a:effectLst/>
          </c:spPr>
          <c:marker>
            <c:symbol val="circle"/>
            <c:size val="5"/>
            <c:spPr>
              <a:solidFill>
                <a:schemeClr val="accent5"/>
              </a:solidFill>
              <a:ln w="9525">
                <a:solidFill>
                  <a:schemeClr val="accent5"/>
                </a:solidFill>
              </a:ln>
              <a:effectLst/>
            </c:spPr>
          </c:marker>
          <c:val>
            <c:numRef>
              <c:f>Sheet1!$E$2:$E$7</c:f>
              <c:numCache>
                <c:formatCode>General</c:formatCode>
                <c:ptCount val="6"/>
                <c:pt idx="0">
                  <c:v>763</c:v>
                </c:pt>
                <c:pt idx="1">
                  <c:v>808</c:v>
                </c:pt>
                <c:pt idx="2">
                  <c:v>953</c:v>
                </c:pt>
                <c:pt idx="3">
                  <c:v>1010</c:v>
                </c:pt>
                <c:pt idx="4">
                  <c:v>1268</c:v>
                </c:pt>
                <c:pt idx="5">
                  <c:v>1352</c:v>
                </c:pt>
              </c:numCache>
            </c:numRef>
          </c:val>
          <c:smooth val="0"/>
          <c:extLst>
            <c:ext xmlns:c16="http://schemas.microsoft.com/office/drawing/2014/chart" uri="{C3380CC4-5D6E-409C-BE32-E72D297353CC}">
              <c16:uniqueId val="{00000003-67A2-48A2-88FF-E759A6C6DDF0}"/>
            </c:ext>
          </c:extLst>
        </c:ser>
        <c:dLbls>
          <c:showLegendKey val="0"/>
          <c:showVal val="0"/>
          <c:showCatName val="0"/>
          <c:showSerName val="0"/>
          <c:showPercent val="0"/>
          <c:showBubbleSize val="0"/>
        </c:dLbls>
        <c:marker val="1"/>
        <c:smooth val="0"/>
        <c:axId val="119624192"/>
        <c:axId val="119608832"/>
      </c:lineChart>
      <c:catAx>
        <c:axId val="119624192"/>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19608832"/>
        <c:crosses val="autoZero"/>
        <c:auto val="1"/>
        <c:lblAlgn val="ctr"/>
        <c:lblOffset val="100"/>
        <c:noMultiLvlLbl val="0"/>
      </c:catAx>
      <c:valAx>
        <c:axId val="11960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196241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C7D485-89B4-4AAE-8730-2FCDAC401E30}" type="datetimeFigureOut">
              <a:rPr lang="zh-CN" altLang="en-US" smtClean="0"/>
              <a:t>2025/8/11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C73FF-2EAC-4ACB-8B87-F9C7F2C44522}" type="slidenum">
              <a:rPr lang="zh-CN" altLang="en-US" smtClean="0"/>
              <a:t>‹#›</a:t>
            </a:fld>
            <a:endParaRPr lang="zh-CN" altLang="en-US"/>
          </a:p>
        </p:txBody>
      </p:sp>
    </p:spTree>
    <p:extLst>
      <p:ext uri="{BB962C8B-B14F-4D97-AF65-F5344CB8AC3E}">
        <p14:creationId xmlns:p14="http://schemas.microsoft.com/office/powerpoint/2010/main" val="2817704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70B0E8-64C0-F6D2-E497-A6936F8E825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61A1A91-44AE-291F-F658-266FA42EF1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E5600D7-10B3-265A-728A-842103DACB08}"/>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F4083571-A7FF-3BE8-E062-A385DD3B62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4072808-9A32-FB16-4948-229A504CE87B}"/>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3784831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B71DE-1B8B-B9D9-8D40-158A8DA5F12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00E56E-BA66-8341-6E3F-0A7AB17422F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EA1313-BA98-7E52-12BC-09851463D46D}"/>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D36C8F59-AF1E-55FD-15A3-33607ECB1E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B138E7-4976-A775-AA14-E1C118514EDE}"/>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484941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66BF4-55C3-062D-8CE6-84B63DE482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766891A-D9E7-18D8-D998-84F1EA6093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0FAADCB-FFAE-E85B-4493-F6D9D93F5D50}"/>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A5F28619-7A77-D5AD-378D-919D664F01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3E5C14-0699-B43F-D2F7-55BF52FEAFC4}"/>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2510885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CBD86-7BDB-140E-2285-8495A56740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EF580C5-6205-C125-8D88-47758287838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0A68C8A-AFAB-5553-DB3B-00B6B173E06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E818A38-56B5-38E5-AB42-AB9AFFDB52E7}"/>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6" name="页脚占位符 5">
            <a:extLst>
              <a:ext uri="{FF2B5EF4-FFF2-40B4-BE49-F238E27FC236}">
                <a16:creationId xmlns:a16="http://schemas.microsoft.com/office/drawing/2014/main" id="{B4C20619-DFF7-4CBF-DA86-B178808D7D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283623-8FFC-9134-4403-7DD6FB2F2132}"/>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2872859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F5E912-3BDC-0CE8-0EF3-DA7A7981C53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5DFFA0A-9DB6-0EEE-8451-EAF391B18A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C9F6D3B-F56F-AFA3-A35C-4A4DD415AAF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2B4F115-63C1-9D5B-7EAF-4322761D5C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D59A9FE-5E7A-7FDA-B5AC-0BCBCF03968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47C5EEC-516F-B41C-E955-FA99AEA3E17C}"/>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8" name="页脚占位符 7">
            <a:extLst>
              <a:ext uri="{FF2B5EF4-FFF2-40B4-BE49-F238E27FC236}">
                <a16:creationId xmlns:a16="http://schemas.microsoft.com/office/drawing/2014/main" id="{9FFA2076-646F-CADB-FD52-5DE6C063B1A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58EF245-BE5F-4989-4BE9-E09782F744AE}"/>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668663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3C47C3-B710-EEDC-AD32-052AD1A08D3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5191A25-DDC5-3602-B974-00DF94459F7F}"/>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4" name="页脚占位符 3">
            <a:extLst>
              <a:ext uri="{FF2B5EF4-FFF2-40B4-BE49-F238E27FC236}">
                <a16:creationId xmlns:a16="http://schemas.microsoft.com/office/drawing/2014/main" id="{B96ED9CB-5BAA-13D1-8D20-D3C741BAFB2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B31A6B8-A3CC-7B80-6D02-BE718F786923}"/>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187205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9EF875-FA07-04E7-617B-20C1E90F80E8}"/>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3" name="页脚占位符 2">
            <a:extLst>
              <a:ext uri="{FF2B5EF4-FFF2-40B4-BE49-F238E27FC236}">
                <a16:creationId xmlns:a16="http://schemas.microsoft.com/office/drawing/2014/main" id="{B165EA2E-1FEF-6A97-ABDF-4CC5BADDAB7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F376B44-0F79-E2D2-3E1A-6D2ECCEEE25B}"/>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1339349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F369F-149B-CD53-FA01-D0E5C70300F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B29BEF3-663C-B6CC-07E4-D67D6D6E18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7949D5F-096D-0C58-34FE-B18E70B03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1C23519-2915-BE44-E42F-B7F698E0F891}"/>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6" name="页脚占位符 5">
            <a:extLst>
              <a:ext uri="{FF2B5EF4-FFF2-40B4-BE49-F238E27FC236}">
                <a16:creationId xmlns:a16="http://schemas.microsoft.com/office/drawing/2014/main" id="{CB88B701-2300-B026-D3DF-1121F19F5DF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59C345-9F75-50A2-FC60-DE689388C439}"/>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6167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93B5FF-7872-0177-0AFE-76ED0511EC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F15BD4B-A86A-C090-12A6-B60A669F88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99C4975-688A-0C17-852C-02507C2258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50494A7-2D44-9183-24CD-A4D4F8F2D246}"/>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6" name="页脚占位符 5">
            <a:extLst>
              <a:ext uri="{FF2B5EF4-FFF2-40B4-BE49-F238E27FC236}">
                <a16:creationId xmlns:a16="http://schemas.microsoft.com/office/drawing/2014/main" id="{8C75079C-CA10-240B-C609-12355327B22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53FA211-BF28-1611-7A8C-0EE42D5AD0B2}"/>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3411264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4CF80-7525-BB36-3477-E0D0D8786A8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847F0EB-0E7A-0DD5-6AFE-2BB602DFCCF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6A7FF21-CF4F-C019-3738-63B6835EE5CF}"/>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514F0897-D4FB-03C1-0AEC-52CAA56F26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7D4335-DAFD-2CC0-BB33-302BD59C1EBE}"/>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2927743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295794D-F111-D55E-D863-2869EA11F05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25351CB-2D58-DA22-5F31-3B5942A996F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920C04-60BB-0E32-FEBC-02644767FFFE}"/>
              </a:ext>
            </a:extLst>
          </p:cNvPr>
          <p:cNvSpPr>
            <a:spLocks noGrp="1"/>
          </p:cNvSpPr>
          <p:nvPr>
            <p:ph type="dt" sz="half" idx="10"/>
          </p:nvPr>
        </p:nvSpPr>
        <p:spPr/>
        <p:txBody>
          <a:body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B4BC2E71-2DD4-2DAE-6A90-AB019FD67D5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BE07CF-FCB3-2DD0-811F-3FD55F03CDFD}"/>
              </a:ext>
            </a:extLst>
          </p:cNvPr>
          <p:cNvSpPr>
            <a:spLocks noGrp="1"/>
          </p:cNvSpPr>
          <p:nvPr>
            <p:ph type="sldNum" sz="quarter" idx="12"/>
          </p:nvPr>
        </p:nvSpPr>
        <p:spPr/>
        <p:txBody>
          <a:body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162739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229B6F-7F3D-0C8E-09D5-14C7E44ED5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4ED2762-9AA5-80B7-B92D-742760D38A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9E848EE-FA3B-B0EF-DAC3-E652140B64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A75CD1-9884-4883-AC73-1261E16EEA70}" type="datetimeFigureOut">
              <a:rPr lang="zh-CN" altLang="en-US" smtClean="0"/>
              <a:t>2025/8/11</a:t>
            </a:fld>
            <a:endParaRPr lang="zh-CN" altLang="en-US"/>
          </a:p>
        </p:txBody>
      </p:sp>
      <p:sp>
        <p:nvSpPr>
          <p:cNvPr id="5" name="页脚占位符 4">
            <a:extLst>
              <a:ext uri="{FF2B5EF4-FFF2-40B4-BE49-F238E27FC236}">
                <a16:creationId xmlns:a16="http://schemas.microsoft.com/office/drawing/2014/main" id="{F37B58DC-99EC-CD7F-3BBB-E1866CFBB7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B466615-7F86-CE2D-6D15-EEE3B8468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435C32-889F-42C5-93BA-D168CBB8740E}" type="slidenum">
              <a:rPr lang="zh-CN" altLang="en-US" smtClean="0"/>
              <a:t>‹#›</a:t>
            </a:fld>
            <a:endParaRPr lang="zh-CN" altLang="en-US"/>
          </a:p>
        </p:txBody>
      </p:sp>
    </p:spTree>
    <p:extLst>
      <p:ext uri="{BB962C8B-B14F-4D97-AF65-F5344CB8AC3E}">
        <p14:creationId xmlns:p14="http://schemas.microsoft.com/office/powerpoint/2010/main" val="489579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2.png"/><Relationship Id="rId7" Type="http://schemas.openxmlformats.org/officeDocument/2006/relationships/oleObject" Target="../embeddings/oleObject1.bin"/><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7.wmf"/><Relationship Id="rId4" Type="http://schemas.openxmlformats.org/officeDocument/2006/relationships/image" Target="../media/image3.png"/><Relationship Id="rId9"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3.bin"/><Relationship Id="rId12" Type="http://schemas.openxmlformats.org/officeDocument/2006/relationships/image" Target="../media/image15.wmf"/><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oleObject" Target="../embeddings/oleObject5.bin"/><Relationship Id="rId5" Type="http://schemas.openxmlformats.org/officeDocument/2006/relationships/image" Target="../media/image11.png"/><Relationship Id="rId10" Type="http://schemas.openxmlformats.org/officeDocument/2006/relationships/image" Target="../media/image14.wmf"/><Relationship Id="rId4" Type="http://schemas.openxmlformats.org/officeDocument/2006/relationships/image" Target="../media/image10.png"/><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1.wmf"/><Relationship Id="rId18" Type="http://schemas.openxmlformats.org/officeDocument/2006/relationships/image" Target="../media/image24.wmf"/><Relationship Id="rId3" Type="http://schemas.openxmlformats.org/officeDocument/2006/relationships/image" Target="../media/image16.png"/><Relationship Id="rId21" Type="http://schemas.openxmlformats.org/officeDocument/2006/relationships/oleObject" Target="../embeddings/oleObject14.bin"/><Relationship Id="rId7" Type="http://schemas.openxmlformats.org/officeDocument/2006/relationships/image" Target="../media/image18.wmf"/><Relationship Id="rId12" Type="http://schemas.openxmlformats.org/officeDocument/2006/relationships/oleObject" Target="../embeddings/oleObject10.bin"/><Relationship Id="rId17" Type="http://schemas.openxmlformats.org/officeDocument/2006/relationships/oleObject" Target="../embeddings/oleObject12.bin"/><Relationship Id="rId2" Type="http://schemas.openxmlformats.org/officeDocument/2006/relationships/image" Target="../media/image9.png"/><Relationship Id="rId16" Type="http://schemas.openxmlformats.org/officeDocument/2006/relationships/image" Target="../media/image23.wmf"/><Relationship Id="rId20"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oleObject" Target="../embeddings/oleObject11.bin"/><Relationship Id="rId10" Type="http://schemas.openxmlformats.org/officeDocument/2006/relationships/oleObject" Target="../embeddings/oleObject9.bin"/><Relationship Id="rId19" Type="http://schemas.openxmlformats.org/officeDocument/2006/relationships/oleObject" Target="../embeddings/oleObject13.bin"/><Relationship Id="rId4" Type="http://schemas.openxmlformats.org/officeDocument/2006/relationships/oleObject" Target="../embeddings/oleObject6.bin"/><Relationship Id="rId9" Type="http://schemas.openxmlformats.org/officeDocument/2006/relationships/image" Target="../media/image19.wmf"/><Relationship Id="rId14" Type="http://schemas.openxmlformats.org/officeDocument/2006/relationships/image" Target="../media/image22.png"/><Relationship Id="rId22" Type="http://schemas.openxmlformats.org/officeDocument/2006/relationships/image" Target="../media/image26.wmf"/></Relationships>
</file>

<file path=ppt/slides/_rels/slide4.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18.bin"/><Relationship Id="rId3" Type="http://schemas.openxmlformats.org/officeDocument/2006/relationships/image" Target="../media/image27.emf"/><Relationship Id="rId7" Type="http://schemas.openxmlformats.org/officeDocument/2006/relationships/oleObject" Target="../embeddings/oleObject15.bin"/><Relationship Id="rId12" Type="http://schemas.openxmlformats.org/officeDocument/2006/relationships/image" Target="../media/image33.wmf"/><Relationship Id="rId2" Type="http://schemas.openxmlformats.org/officeDocument/2006/relationships/chart" Target="../charts/chart1.xml"/><Relationship Id="rId16" Type="http://schemas.openxmlformats.org/officeDocument/2006/relationships/image" Target="../media/image36.wmf"/><Relationship Id="rId1" Type="http://schemas.openxmlformats.org/officeDocument/2006/relationships/slideLayout" Target="../slideLayouts/slideLayout2.xml"/><Relationship Id="rId6" Type="http://schemas.openxmlformats.org/officeDocument/2006/relationships/image" Target="../media/image30.emf"/><Relationship Id="rId11" Type="http://schemas.openxmlformats.org/officeDocument/2006/relationships/oleObject" Target="../embeddings/oleObject17.bin"/><Relationship Id="rId5" Type="http://schemas.openxmlformats.org/officeDocument/2006/relationships/image" Target="../media/image29.emf"/><Relationship Id="rId15" Type="http://schemas.openxmlformats.org/officeDocument/2006/relationships/image" Target="../media/image35.emf"/><Relationship Id="rId10" Type="http://schemas.openxmlformats.org/officeDocument/2006/relationships/image" Target="../media/image32.wmf"/><Relationship Id="rId4" Type="http://schemas.openxmlformats.org/officeDocument/2006/relationships/image" Target="../media/image28.emf"/><Relationship Id="rId9" Type="http://schemas.openxmlformats.org/officeDocument/2006/relationships/oleObject" Target="../embeddings/oleObject16.bin"/><Relationship Id="rId14" Type="http://schemas.openxmlformats.org/officeDocument/2006/relationships/image" Target="../media/image34.wmf"/></Relationships>
</file>

<file path=ppt/slides/_rels/slide5.xml.rels><?xml version="1.0" encoding="UTF-8" standalone="yes"?>
<Relationships xmlns="http://schemas.openxmlformats.org/package/2006/relationships"><Relationship Id="rId13" Type="http://schemas.openxmlformats.org/officeDocument/2006/relationships/image" Target="../media/image42.wmf"/><Relationship Id="rId18" Type="http://schemas.openxmlformats.org/officeDocument/2006/relationships/oleObject" Target="../embeddings/oleObject27.bin"/><Relationship Id="rId26" Type="http://schemas.openxmlformats.org/officeDocument/2006/relationships/oleObject" Target="../embeddings/oleObject31.bin"/><Relationship Id="rId3" Type="http://schemas.openxmlformats.org/officeDocument/2006/relationships/image" Target="../media/image37.wmf"/><Relationship Id="rId21" Type="http://schemas.openxmlformats.org/officeDocument/2006/relationships/image" Target="../media/image46.wmf"/><Relationship Id="rId7" Type="http://schemas.openxmlformats.org/officeDocument/2006/relationships/image" Target="../media/image39.wmf"/><Relationship Id="rId12" Type="http://schemas.openxmlformats.org/officeDocument/2006/relationships/oleObject" Target="../embeddings/oleObject24.bin"/><Relationship Id="rId17" Type="http://schemas.openxmlformats.org/officeDocument/2006/relationships/image" Target="../media/image44.wmf"/><Relationship Id="rId25" Type="http://schemas.openxmlformats.org/officeDocument/2006/relationships/image" Target="../media/image48.wmf"/><Relationship Id="rId33" Type="http://schemas.openxmlformats.org/officeDocument/2006/relationships/image" Target="../media/image52.w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29" Type="http://schemas.openxmlformats.org/officeDocument/2006/relationships/image" Target="../media/image50.wmf"/><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41.wmf"/><Relationship Id="rId24" Type="http://schemas.openxmlformats.org/officeDocument/2006/relationships/oleObject" Target="../embeddings/oleObject30.bin"/><Relationship Id="rId32" Type="http://schemas.openxmlformats.org/officeDocument/2006/relationships/oleObject" Target="../embeddings/oleObject34.bin"/><Relationship Id="rId5" Type="http://schemas.openxmlformats.org/officeDocument/2006/relationships/image" Target="../media/image38.wmf"/><Relationship Id="rId15" Type="http://schemas.openxmlformats.org/officeDocument/2006/relationships/image" Target="../media/image43.wmf"/><Relationship Id="rId23" Type="http://schemas.openxmlformats.org/officeDocument/2006/relationships/image" Target="../media/image47.wmf"/><Relationship Id="rId28" Type="http://schemas.openxmlformats.org/officeDocument/2006/relationships/oleObject" Target="../embeddings/oleObject32.bin"/><Relationship Id="rId10" Type="http://schemas.openxmlformats.org/officeDocument/2006/relationships/oleObject" Target="../embeddings/oleObject23.bin"/><Relationship Id="rId19" Type="http://schemas.openxmlformats.org/officeDocument/2006/relationships/image" Target="../media/image45.wmf"/><Relationship Id="rId31" Type="http://schemas.openxmlformats.org/officeDocument/2006/relationships/image" Target="../media/image51.wmf"/><Relationship Id="rId4" Type="http://schemas.openxmlformats.org/officeDocument/2006/relationships/oleObject" Target="../embeddings/oleObject20.bin"/><Relationship Id="rId9" Type="http://schemas.openxmlformats.org/officeDocument/2006/relationships/image" Target="../media/image40.wmf"/><Relationship Id="rId14" Type="http://schemas.openxmlformats.org/officeDocument/2006/relationships/oleObject" Target="../embeddings/oleObject25.bin"/><Relationship Id="rId22" Type="http://schemas.openxmlformats.org/officeDocument/2006/relationships/oleObject" Target="../embeddings/oleObject29.bin"/><Relationship Id="rId27" Type="http://schemas.openxmlformats.org/officeDocument/2006/relationships/image" Target="../media/image49.wmf"/><Relationship Id="rId30" Type="http://schemas.openxmlformats.org/officeDocument/2006/relationships/oleObject" Target="../embeddings/oleObject33.bin"/><Relationship Id="rId8" Type="http://schemas.openxmlformats.org/officeDocument/2006/relationships/oleObject" Target="../embeddings/oleObject22.bin"/></Relationships>
</file>

<file path=ppt/slides/_rels/slide6.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64.wmf"/><Relationship Id="rId18" Type="http://schemas.openxmlformats.org/officeDocument/2006/relationships/oleObject" Target="../embeddings/oleObject43.bin"/><Relationship Id="rId3" Type="http://schemas.openxmlformats.org/officeDocument/2006/relationships/image" Target="../media/image59.wmf"/><Relationship Id="rId21" Type="http://schemas.openxmlformats.org/officeDocument/2006/relationships/image" Target="../media/image68.wmf"/><Relationship Id="rId7" Type="http://schemas.openxmlformats.org/officeDocument/2006/relationships/image" Target="../media/image61.wmf"/><Relationship Id="rId12" Type="http://schemas.openxmlformats.org/officeDocument/2006/relationships/oleObject" Target="../embeddings/oleObject40.bin"/><Relationship Id="rId17" Type="http://schemas.openxmlformats.org/officeDocument/2006/relationships/image" Target="../media/image66.wmf"/><Relationship Id="rId2" Type="http://schemas.openxmlformats.org/officeDocument/2006/relationships/oleObject" Target="../embeddings/oleObject35.bin"/><Relationship Id="rId16" Type="http://schemas.openxmlformats.org/officeDocument/2006/relationships/oleObject" Target="../embeddings/oleObject42.bin"/><Relationship Id="rId20"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63.wmf"/><Relationship Id="rId24" Type="http://schemas.openxmlformats.org/officeDocument/2006/relationships/image" Target="../media/image71.png"/><Relationship Id="rId5" Type="http://schemas.openxmlformats.org/officeDocument/2006/relationships/image" Target="../media/image60.wmf"/><Relationship Id="rId15" Type="http://schemas.openxmlformats.org/officeDocument/2006/relationships/image" Target="../media/image65.wmf"/><Relationship Id="rId23" Type="http://schemas.openxmlformats.org/officeDocument/2006/relationships/image" Target="../media/image70.png"/><Relationship Id="rId10" Type="http://schemas.openxmlformats.org/officeDocument/2006/relationships/oleObject" Target="../embeddings/oleObject39.bin"/><Relationship Id="rId19" Type="http://schemas.openxmlformats.org/officeDocument/2006/relationships/image" Target="../media/image67.wmf"/><Relationship Id="rId4" Type="http://schemas.openxmlformats.org/officeDocument/2006/relationships/oleObject" Target="../embeddings/oleObject36.bin"/><Relationship Id="rId9" Type="http://schemas.openxmlformats.org/officeDocument/2006/relationships/image" Target="../media/image62.wmf"/><Relationship Id="rId14" Type="http://schemas.openxmlformats.org/officeDocument/2006/relationships/oleObject" Target="../embeddings/oleObject41.bin"/><Relationship Id="rId22" Type="http://schemas.openxmlformats.org/officeDocument/2006/relationships/image" Target="../media/image69.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77.wmf"/><Relationship Id="rId18" Type="http://schemas.openxmlformats.org/officeDocument/2006/relationships/oleObject" Target="../embeddings/oleObject53.bin"/><Relationship Id="rId3" Type="http://schemas.openxmlformats.org/officeDocument/2006/relationships/image" Target="../media/image72.wmf"/><Relationship Id="rId21" Type="http://schemas.openxmlformats.org/officeDocument/2006/relationships/image" Target="../media/image81.wmf"/><Relationship Id="rId7" Type="http://schemas.openxmlformats.org/officeDocument/2006/relationships/image" Target="../media/image74.wmf"/><Relationship Id="rId12" Type="http://schemas.openxmlformats.org/officeDocument/2006/relationships/oleObject" Target="../embeddings/oleObject50.bin"/><Relationship Id="rId17" Type="http://schemas.openxmlformats.org/officeDocument/2006/relationships/image" Target="../media/image79.wmf"/><Relationship Id="rId25" Type="http://schemas.openxmlformats.org/officeDocument/2006/relationships/image" Target="../media/image84.png"/><Relationship Id="rId2" Type="http://schemas.openxmlformats.org/officeDocument/2006/relationships/oleObject" Target="../embeddings/oleObject45.bin"/><Relationship Id="rId16" Type="http://schemas.openxmlformats.org/officeDocument/2006/relationships/oleObject" Target="../embeddings/oleObject52.bin"/><Relationship Id="rId20"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47.bin"/><Relationship Id="rId11" Type="http://schemas.openxmlformats.org/officeDocument/2006/relationships/image" Target="../media/image76.wmf"/><Relationship Id="rId24" Type="http://schemas.microsoft.com/office/2017/06/relationships/model3d" Target="../media/model3d1.glb"/><Relationship Id="rId5" Type="http://schemas.openxmlformats.org/officeDocument/2006/relationships/image" Target="../media/image73.wmf"/><Relationship Id="rId15" Type="http://schemas.openxmlformats.org/officeDocument/2006/relationships/image" Target="../media/image78.wmf"/><Relationship Id="rId23" Type="http://schemas.openxmlformats.org/officeDocument/2006/relationships/image" Target="../media/image83.emf"/><Relationship Id="rId10" Type="http://schemas.openxmlformats.org/officeDocument/2006/relationships/oleObject" Target="../embeddings/oleObject49.bin"/><Relationship Id="rId19" Type="http://schemas.openxmlformats.org/officeDocument/2006/relationships/image" Target="../media/image80.wmf"/><Relationship Id="rId4" Type="http://schemas.openxmlformats.org/officeDocument/2006/relationships/oleObject" Target="../embeddings/oleObject46.bin"/><Relationship Id="rId9" Type="http://schemas.openxmlformats.org/officeDocument/2006/relationships/image" Target="../media/image75.wmf"/><Relationship Id="rId14" Type="http://schemas.openxmlformats.org/officeDocument/2006/relationships/oleObject" Target="../embeddings/oleObject51.bin"/><Relationship Id="rId22" Type="http://schemas.openxmlformats.org/officeDocument/2006/relationships/image" Target="../media/image82.emf"/></Relationships>
</file>

<file path=ppt/slides/_rels/slide9.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wmf"/><Relationship Id="rId7" Type="http://schemas.openxmlformats.org/officeDocument/2006/relationships/image" Target="../media/image89.png"/><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97.wmf"/><Relationship Id="rId18" Type="http://schemas.openxmlformats.org/officeDocument/2006/relationships/oleObject" Target="../embeddings/oleObject64.bin"/><Relationship Id="rId26" Type="http://schemas.openxmlformats.org/officeDocument/2006/relationships/oleObject" Target="../embeddings/oleObject67.bin"/><Relationship Id="rId3" Type="http://schemas.openxmlformats.org/officeDocument/2006/relationships/image" Target="../media/image92.wmf"/><Relationship Id="rId21" Type="http://schemas.openxmlformats.org/officeDocument/2006/relationships/image" Target="../media/image102.png"/><Relationship Id="rId7" Type="http://schemas.openxmlformats.org/officeDocument/2006/relationships/image" Target="../media/image94.wmf"/><Relationship Id="rId12" Type="http://schemas.openxmlformats.org/officeDocument/2006/relationships/oleObject" Target="../embeddings/oleObject61.bin"/><Relationship Id="rId17" Type="http://schemas.openxmlformats.org/officeDocument/2006/relationships/image" Target="../media/image99.wmf"/><Relationship Id="rId25" Type="http://schemas.openxmlformats.org/officeDocument/2006/relationships/image" Target="../media/image104.wmf"/><Relationship Id="rId2" Type="http://schemas.openxmlformats.org/officeDocument/2006/relationships/oleObject" Target="../embeddings/oleObject56.bin"/><Relationship Id="rId16" Type="http://schemas.openxmlformats.org/officeDocument/2006/relationships/oleObject" Target="../embeddings/oleObject63.bin"/><Relationship Id="rId20" Type="http://schemas.openxmlformats.org/officeDocument/2006/relationships/image" Target="../media/image101.png"/><Relationship Id="rId29"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oleObject" Target="../embeddings/oleObject58.bin"/><Relationship Id="rId11" Type="http://schemas.openxmlformats.org/officeDocument/2006/relationships/image" Target="../media/image96.wmf"/><Relationship Id="rId24" Type="http://schemas.openxmlformats.org/officeDocument/2006/relationships/oleObject" Target="../embeddings/oleObject66.bin"/><Relationship Id="rId5" Type="http://schemas.openxmlformats.org/officeDocument/2006/relationships/image" Target="../media/image93.wmf"/><Relationship Id="rId15" Type="http://schemas.openxmlformats.org/officeDocument/2006/relationships/image" Target="../media/image98.wmf"/><Relationship Id="rId23" Type="http://schemas.openxmlformats.org/officeDocument/2006/relationships/image" Target="../media/image103.wmf"/><Relationship Id="rId28" Type="http://schemas.openxmlformats.org/officeDocument/2006/relationships/image" Target="../media/image106.png"/><Relationship Id="rId10" Type="http://schemas.openxmlformats.org/officeDocument/2006/relationships/oleObject" Target="../embeddings/oleObject60.bin"/><Relationship Id="rId19" Type="http://schemas.openxmlformats.org/officeDocument/2006/relationships/image" Target="../media/image100.wmf"/><Relationship Id="rId4" Type="http://schemas.openxmlformats.org/officeDocument/2006/relationships/oleObject" Target="../embeddings/oleObject57.bin"/><Relationship Id="rId9" Type="http://schemas.openxmlformats.org/officeDocument/2006/relationships/image" Target="../media/image95.wmf"/><Relationship Id="rId14" Type="http://schemas.openxmlformats.org/officeDocument/2006/relationships/oleObject" Target="../embeddings/oleObject62.bin"/><Relationship Id="rId22" Type="http://schemas.openxmlformats.org/officeDocument/2006/relationships/oleObject" Target="../embeddings/oleObject65.bin"/><Relationship Id="rId27" Type="http://schemas.openxmlformats.org/officeDocument/2006/relationships/image" Target="../media/image105.wmf"/><Relationship Id="rId30" Type="http://schemas.openxmlformats.org/officeDocument/2006/relationships/image" Target="../media/image84.png"/></Relationships>
</file>

<file path=ppt/slides/_rels/slide11.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3.png"/><Relationship Id="rId3" Type="http://schemas.openxmlformats.org/officeDocument/2006/relationships/image" Target="../media/image107.wmf"/><Relationship Id="rId7" Type="http://schemas.openxmlformats.org/officeDocument/2006/relationships/image" Target="../media/image110.png"/><Relationship Id="rId12" Type="http://schemas.openxmlformats.org/officeDocument/2006/relationships/image" Target="../media/image112.wmf"/><Relationship Id="rId2" Type="http://schemas.openxmlformats.org/officeDocument/2006/relationships/oleObject" Target="../embeddings/oleObject68.bin"/><Relationship Id="rId1" Type="http://schemas.openxmlformats.org/officeDocument/2006/relationships/slideLayout" Target="../slideLayouts/slideLayout7.xml"/><Relationship Id="rId6" Type="http://schemas.openxmlformats.org/officeDocument/2006/relationships/image" Target="../media/image109.wmf"/><Relationship Id="rId11" Type="http://schemas.openxmlformats.org/officeDocument/2006/relationships/oleObject" Target="../embeddings/oleObject70.bin"/><Relationship Id="rId5" Type="http://schemas.openxmlformats.org/officeDocument/2006/relationships/oleObject" Target="../embeddings/oleObject69.bin"/><Relationship Id="rId10" Type="http://schemas.openxmlformats.org/officeDocument/2006/relationships/image" Target="../media/image98.wmf"/><Relationship Id="rId4" Type="http://schemas.openxmlformats.org/officeDocument/2006/relationships/image" Target="../media/image108.png"/><Relationship Id="rId9" Type="http://schemas.openxmlformats.org/officeDocument/2006/relationships/oleObject" Target="../embeddings/oleObject62.bin"/></Relationships>
</file>

<file path=ppt/slides/_rels/slide1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6.png"/><Relationship Id="rId7" Type="http://schemas.openxmlformats.org/officeDocument/2006/relationships/oleObject" Target="../embeddings/oleObject72.bin"/><Relationship Id="rId12"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7.xml"/><Relationship Id="rId6" Type="http://schemas.openxmlformats.org/officeDocument/2006/relationships/image" Target="../media/image117.wmf"/><Relationship Id="rId11" Type="http://schemas.openxmlformats.org/officeDocument/2006/relationships/image" Target="../media/image119.png"/><Relationship Id="rId5" Type="http://schemas.openxmlformats.org/officeDocument/2006/relationships/oleObject" Target="../embeddings/oleObject71.bin"/><Relationship Id="rId10" Type="http://schemas.openxmlformats.org/officeDocument/2006/relationships/hyperlink" Target="file:///G:\&#26085;&#23601;&#26376;&#23558;&#23398;&#26377;&#21151;&#65292;%20&#20064;&#20197;&#20026;&#24120;&#22987;&#19981;&#24536;\&#25968;&#23398;&#24314;&#27169;\&#28165;&#39118;&#35270;&#39057;&#21644;&#35838;&#20214;\&#35270;&#39057;&#35838;&#20214;\&#27491;&#35838;&#37197;&#22871;&#30340;&#35838;&#20214;&#21644;&#20195;&#30721;\&#31532;7&#35762;.&#22810;&#20803;&#22238;&#24402;&#20998;&#26512;\&#25299;&#23637;&#36164;&#26009;\&#24433;&#21709;&#25105;&#22269;&#36130;&#25919;&#25910;&#20837;&#30340;&#22810;&#20803;&#32447;&#24615;&#22238;&#24402;&#27169;&#22411;_&#30333;&#33805;.pdf" TargetMode="External"/><Relationship Id="rId4" Type="http://schemas.openxmlformats.org/officeDocument/2006/relationships/image" Target="../media/image117.png"/><Relationship Id="rId9" Type="http://schemas.openxmlformats.org/officeDocument/2006/relationships/hyperlink" Target="file:///G:\&#26085;&#23601;&#26376;&#23558;&#23398;&#26377;&#21151;&#65292;%20&#20064;&#20197;&#20026;&#24120;&#22987;&#19981;&#24536;\&#25968;&#23398;&#24314;&#27169;\&#25968;&#23398;&#24314;&#27169;&#26041;&#27861;&#19982;&#20998;&#26512;%20&#31532;4&#29256;.pdf"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2.png"/><Relationship Id="rId7" Type="http://schemas.openxmlformats.org/officeDocument/2006/relationships/image" Target="../media/image125.wmf"/><Relationship Id="rId2" Type="http://schemas.openxmlformats.org/officeDocument/2006/relationships/image" Target="../media/image121.png"/><Relationship Id="rId1" Type="http://schemas.openxmlformats.org/officeDocument/2006/relationships/slideLayout" Target="../slideLayouts/slideLayout7.xml"/><Relationship Id="rId6" Type="http://schemas.openxmlformats.org/officeDocument/2006/relationships/oleObject" Target="../embeddings/oleObject73.bin"/><Relationship Id="rId5" Type="http://schemas.openxmlformats.org/officeDocument/2006/relationships/image" Target="../media/image124.png"/><Relationship Id="rId10" Type="http://schemas.openxmlformats.org/officeDocument/2006/relationships/image" Target="../media/image128.png"/><Relationship Id="rId4" Type="http://schemas.openxmlformats.org/officeDocument/2006/relationships/image" Target="../media/image123.png"/><Relationship Id="rId9" Type="http://schemas.openxmlformats.org/officeDocument/2006/relationships/image" Target="../media/image127.png"/></Relationships>
</file>

<file path=ppt/slides/_rels/slide15.xml.rels><?xml version="1.0" encoding="UTF-8" standalone="yes"?>
<Relationships xmlns="http://schemas.openxmlformats.org/package/2006/relationships"><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1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41.emf"/><Relationship Id="rId3" Type="http://schemas.openxmlformats.org/officeDocument/2006/relationships/image" Target="../media/image138.png"/><Relationship Id="rId7" Type="http://schemas.openxmlformats.org/officeDocument/2006/relationships/image" Target="../media/image140.png"/><Relationship Id="rId2"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hyperlink" Target="file:///G:\&#26085;&#23601;&#26376;&#23558;&#23398;&#26377;&#21151;&#65292;%20&#20064;&#20197;&#20026;&#24120;&#22987;&#19981;&#24536;\&#25968;&#23398;&#24314;&#27169;\&#28165;&#39118;&#35270;&#39057;&#21644;&#35838;&#20214;\&#35270;&#39057;&#35838;&#20214;\&#27491;&#35838;&#37197;&#22871;&#30340;&#35838;&#20214;&#21644;&#20195;&#30721;\&#31532;8&#35762;.&#22270;&#35770;&#26368;&#30701;&#36335;&#24452;&#38382;&#39064;\&#20195;&#30721;\code_graph.m" TargetMode="External"/><Relationship Id="rId5" Type="http://schemas.openxmlformats.org/officeDocument/2006/relationships/hyperlink" Target="https://csacademy.com/app/graph_editor/" TargetMode="External"/><Relationship Id="rId4" Type="http://schemas.openxmlformats.org/officeDocument/2006/relationships/image" Target="../media/image139.png"/><Relationship Id="rId9" Type="http://schemas.openxmlformats.org/officeDocument/2006/relationships/image" Target="../media/image142.emf"/></Relationships>
</file>

<file path=ppt/slides/_rels/slide1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s>
</file>

<file path=ppt/slides/_rels/slide20.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5.png"/><Relationship Id="rId7" Type="http://schemas.openxmlformats.org/officeDocument/2006/relationships/image" Target="../media/image159.png"/><Relationship Id="rId2" Type="http://schemas.openxmlformats.org/officeDocument/2006/relationships/image" Target="../media/image154.png"/><Relationship Id="rId1" Type="http://schemas.openxmlformats.org/officeDocument/2006/relationships/slideLayout" Target="../slideLayouts/slideLayout7.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 Id="rId9" Type="http://schemas.openxmlformats.org/officeDocument/2006/relationships/image" Target="../media/image161.png"/></Relationships>
</file>

<file path=ppt/slides/_rels/slide2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7.xml"/><Relationship Id="rId5" Type="http://schemas.openxmlformats.org/officeDocument/2006/relationships/image" Target="../media/image164.png"/><Relationship Id="rId4" Type="http://schemas.openxmlformats.org/officeDocument/2006/relationships/hyperlink" Target="file:///G:\&#26085;&#23601;&#26376;&#23558;&#23398;&#26377;&#21151;&#65292;%20&#20064;&#20197;&#20026;&#24120;&#22987;&#19981;&#24536;\&#25968;&#23398;&#24314;&#27169;\&#28165;&#39118;&#35270;&#39057;&#21644;&#35838;&#20214;\&#35270;&#39057;&#35838;&#20214;\&#27491;&#35838;&#37197;&#22871;&#30340;&#35838;&#20214;&#21644;&#20195;&#30721;\&#31532;10&#35762;.&#32858;&#31867;&#27169;&#22411;\&#20195;&#30721;&#21644;&#20363;&#39064;&#25968;&#25454;\&#36718;&#30424;&#27861;.docx"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66.png"/><Relationship Id="rId7" Type="http://schemas.openxmlformats.org/officeDocument/2006/relationships/image" Target="../media/image170.png"/><Relationship Id="rId2" Type="http://schemas.openxmlformats.org/officeDocument/2006/relationships/image" Target="../media/image165.png"/><Relationship Id="rId1" Type="http://schemas.openxmlformats.org/officeDocument/2006/relationships/slideLayout" Target="../slideLayouts/slideLayout7.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emf"/></Relationships>
</file>

<file path=ppt/slides/_rels/slide2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24.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jpeg"/><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EFE0E33-23E3-198B-2C8A-090D8A425F91}"/>
              </a:ext>
            </a:extLst>
          </p:cNvPr>
          <p:cNvSpPr/>
          <p:nvPr/>
        </p:nvSpPr>
        <p:spPr>
          <a:xfrm>
            <a:off x="3123592" y="829409"/>
            <a:ext cx="1482976" cy="30777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7196D41-00F1-D55C-8DB7-6E3EE904FADC}"/>
              </a:ext>
            </a:extLst>
          </p:cNvPr>
          <p:cNvSpPr txBox="1"/>
          <p:nvPr/>
        </p:nvSpPr>
        <p:spPr>
          <a:xfrm>
            <a:off x="415139" y="189885"/>
            <a:ext cx="6097218" cy="707886"/>
          </a:xfrm>
          <a:prstGeom prst="rect">
            <a:avLst/>
          </a:prstGeom>
          <a:noFill/>
        </p:spPr>
        <p:txBody>
          <a:bodyPr wrap="square">
            <a:spAutoFit/>
          </a:bodyPr>
          <a:lstStyle/>
          <a:p>
            <a:r>
              <a:rPr lang="zh-CN" altLang="en-US" sz="4000">
                <a:latin typeface="三极泼墨体" panose="00000500000000000000" pitchFamily="2" charset="-122"/>
                <a:ea typeface="三极泼墨体" panose="00000500000000000000" pitchFamily="2" charset="-122"/>
              </a:rPr>
              <a:t>层次分析法</a:t>
            </a:r>
          </a:p>
        </p:txBody>
      </p:sp>
      <p:sp>
        <p:nvSpPr>
          <p:cNvPr id="9" name="文本框 8">
            <a:extLst>
              <a:ext uri="{FF2B5EF4-FFF2-40B4-BE49-F238E27FC236}">
                <a16:creationId xmlns:a16="http://schemas.microsoft.com/office/drawing/2014/main" id="{4EE11AE0-4F28-8AA4-AA9E-FEAFC8AC5248}"/>
              </a:ext>
            </a:extLst>
          </p:cNvPr>
          <p:cNvSpPr txBox="1"/>
          <p:nvPr/>
        </p:nvSpPr>
        <p:spPr>
          <a:xfrm>
            <a:off x="3173853" y="328760"/>
            <a:ext cx="6097218" cy="369332"/>
          </a:xfrm>
          <a:prstGeom prst="rect">
            <a:avLst/>
          </a:prstGeom>
          <a:noFill/>
        </p:spPr>
        <p:txBody>
          <a:bodyPr wrap="square">
            <a:spAutoFit/>
          </a:bodyPr>
          <a:lstStyle/>
          <a:p>
            <a:r>
              <a:rPr lang="en-US" altLang="zh-CN">
                <a:latin typeface="CommercialScript BT" panose="03030803040807090C04" pitchFamily="66" charset="0"/>
              </a:rPr>
              <a:t>The analytic hierarchy process </a:t>
            </a:r>
            <a:r>
              <a:rPr lang="en-US" altLang="zh-CN">
                <a:latin typeface="Aharoni" panose="02010803020104030203" pitchFamily="2" charset="-79"/>
                <a:cs typeface="Aharoni" panose="02010803020104030203" pitchFamily="2" charset="-79"/>
              </a:rPr>
              <a:t>(AHP) </a:t>
            </a:r>
            <a:endParaRPr lang="zh-CN" altLang="en-US">
              <a:latin typeface="Aharoni" panose="02010803020104030203" pitchFamily="2" charset="-79"/>
              <a:cs typeface="Aharoni" panose="02010803020104030203" pitchFamily="2" charset="-79"/>
            </a:endParaRPr>
          </a:p>
        </p:txBody>
      </p:sp>
      <p:sp>
        <p:nvSpPr>
          <p:cNvPr id="11" name="文本框 10">
            <a:extLst>
              <a:ext uri="{FF2B5EF4-FFF2-40B4-BE49-F238E27FC236}">
                <a16:creationId xmlns:a16="http://schemas.microsoft.com/office/drawing/2014/main" id="{49FA8239-939A-828F-221D-779C11C98C1E}"/>
              </a:ext>
            </a:extLst>
          </p:cNvPr>
          <p:cNvSpPr txBox="1"/>
          <p:nvPr/>
        </p:nvSpPr>
        <p:spPr>
          <a:xfrm>
            <a:off x="476206" y="795192"/>
            <a:ext cx="2302642" cy="369332"/>
          </a:xfrm>
          <a:prstGeom prst="rect">
            <a:avLst/>
          </a:prstGeom>
          <a:noFill/>
        </p:spPr>
        <p:txBody>
          <a:bodyPr wrap="square">
            <a:spAutoFit/>
          </a:bodyPr>
          <a:lstStyle/>
          <a:p>
            <a:r>
              <a:rPr lang="en-US" altLang="zh-CN">
                <a:latin typeface="楷体" panose="02010609060101010101" pitchFamily="49" charset="-122"/>
                <a:ea typeface="楷体" panose="02010609060101010101" pitchFamily="49" charset="-122"/>
              </a:rPr>
              <a:t>——for</a:t>
            </a:r>
            <a:r>
              <a:rPr lang="zh-CN" altLang="en-US">
                <a:latin typeface="楷体" panose="02010609060101010101" pitchFamily="49" charset="-122"/>
                <a:ea typeface="楷体" panose="02010609060101010101" pitchFamily="49" charset="-122"/>
              </a:rPr>
              <a:t>评价类问题</a:t>
            </a:r>
          </a:p>
        </p:txBody>
      </p:sp>
      <p:sp>
        <p:nvSpPr>
          <p:cNvPr id="3" name="文本框 2">
            <a:extLst>
              <a:ext uri="{FF2B5EF4-FFF2-40B4-BE49-F238E27FC236}">
                <a16:creationId xmlns:a16="http://schemas.microsoft.com/office/drawing/2014/main" id="{E8CB5260-FA01-C9C7-B8FB-D715C1DFB8F0}"/>
              </a:ext>
            </a:extLst>
          </p:cNvPr>
          <p:cNvSpPr txBox="1"/>
          <p:nvPr/>
        </p:nvSpPr>
        <p:spPr>
          <a:xfrm>
            <a:off x="3062177" y="809827"/>
            <a:ext cx="1746816" cy="307777"/>
          </a:xfrm>
          <a:prstGeom prst="rect">
            <a:avLst/>
          </a:prstGeom>
          <a:noFill/>
        </p:spPr>
        <p:txBody>
          <a:bodyPr wrap="square">
            <a:spAutoFit/>
          </a:bodyPr>
          <a:lstStyle/>
          <a:p>
            <a:r>
              <a:rPr lang="zh-CN" altLang="en-US" sz="1400" b="0" i="0">
                <a:solidFill>
                  <a:srgbClr val="191B1F"/>
                </a:solidFill>
                <a:effectLst/>
                <a:latin typeface="幼圆" panose="02010509060101010101" pitchFamily="49" charset="-122"/>
                <a:ea typeface="幼圆" panose="02010509060101010101" pitchFamily="49" charset="-122"/>
              </a:rPr>
              <a:t>主观权重设计方法</a:t>
            </a:r>
            <a:endParaRPr lang="zh-CN" altLang="en-US" sz="1400">
              <a:latin typeface="幼圆" panose="02010509060101010101" pitchFamily="49" charset="-122"/>
              <a:ea typeface="幼圆" panose="02010509060101010101" pitchFamily="49" charset="-122"/>
            </a:endParaRPr>
          </a:p>
        </p:txBody>
      </p:sp>
      <p:sp>
        <p:nvSpPr>
          <p:cNvPr id="6" name="文本框 5">
            <a:extLst>
              <a:ext uri="{FF2B5EF4-FFF2-40B4-BE49-F238E27FC236}">
                <a16:creationId xmlns:a16="http://schemas.microsoft.com/office/drawing/2014/main" id="{E8107E40-F4D4-77D9-2EDA-F0E57331FBB4}"/>
              </a:ext>
            </a:extLst>
          </p:cNvPr>
          <p:cNvSpPr txBox="1"/>
          <p:nvPr/>
        </p:nvSpPr>
        <p:spPr>
          <a:xfrm>
            <a:off x="4829995" y="2241572"/>
            <a:ext cx="3231355" cy="1200329"/>
          </a:xfrm>
          <a:prstGeom prst="rect">
            <a:avLst/>
          </a:prstGeom>
          <a:noFill/>
        </p:spPr>
        <p:txBody>
          <a:bodyPr wrap="square">
            <a:spAutoFit/>
          </a:bodyPr>
          <a:lstStyle/>
          <a:p>
            <a:pPr algn="l"/>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1.</a:t>
            </a:r>
            <a:r>
              <a:rPr lang="zh-CN" altLang="en-US"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建立层次结构模型</a:t>
            </a:r>
          </a:p>
          <a:p>
            <a:pPr algn="l"/>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2.</a:t>
            </a:r>
            <a:r>
              <a:rPr lang="zh-CN" altLang="en-US"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构造判断矩阵</a:t>
            </a:r>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a:t>
            </a:r>
            <a:r>
              <a:rPr lang="zh-CN" altLang="en-US"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正互反矩阵</a:t>
            </a:r>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a:t>
            </a:r>
          </a:p>
          <a:p>
            <a:pPr algn="l"/>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3.</a:t>
            </a:r>
            <a:r>
              <a:rPr lang="zh-CN" altLang="en-US"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层次单排序及其一致性检验</a:t>
            </a:r>
          </a:p>
          <a:p>
            <a:pPr algn="l"/>
            <a:r>
              <a:rPr lang="en-US" altLang="zh-CN"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4.</a:t>
            </a:r>
            <a:r>
              <a:rPr lang="zh-CN" altLang="en-US" b="0" i="0">
                <a:solidFill>
                  <a:srgbClr val="191B1F"/>
                </a:solidFill>
                <a:effectLst/>
                <a:highlight>
                  <a:srgbClr val="FFFFFF"/>
                </a:highlight>
                <a:latin typeface="方正粗黑宋简体" panose="02000000000000000000" pitchFamily="2" charset="-122"/>
                <a:ea typeface="方正粗黑宋简体" panose="02000000000000000000" pitchFamily="2" charset="-122"/>
              </a:rPr>
              <a:t>层次总排序及其一致性检验</a:t>
            </a:r>
          </a:p>
        </p:txBody>
      </p:sp>
      <p:pic>
        <p:nvPicPr>
          <p:cNvPr id="10" name="图片 9">
            <a:extLst>
              <a:ext uri="{FF2B5EF4-FFF2-40B4-BE49-F238E27FC236}">
                <a16:creationId xmlns:a16="http://schemas.microsoft.com/office/drawing/2014/main" id="{4D73CBDC-8B33-AF1E-252F-CEE4E079C65B}"/>
              </a:ext>
            </a:extLst>
          </p:cNvPr>
          <p:cNvPicPr>
            <a:picLocks noChangeAspect="1"/>
          </p:cNvPicPr>
          <p:nvPr/>
        </p:nvPicPr>
        <p:blipFill>
          <a:blip r:embed="rId2"/>
          <a:stretch>
            <a:fillRect/>
          </a:stretch>
        </p:blipFill>
        <p:spPr>
          <a:xfrm>
            <a:off x="194012" y="1616658"/>
            <a:ext cx="4160586" cy="1768249"/>
          </a:xfrm>
          <a:prstGeom prst="rect">
            <a:avLst/>
          </a:prstGeom>
        </p:spPr>
      </p:pic>
      <p:pic>
        <p:nvPicPr>
          <p:cNvPr id="21" name="图片 20">
            <a:extLst>
              <a:ext uri="{FF2B5EF4-FFF2-40B4-BE49-F238E27FC236}">
                <a16:creationId xmlns:a16="http://schemas.microsoft.com/office/drawing/2014/main" id="{0C524CDA-577B-933B-D91F-8A472399452C}"/>
              </a:ext>
            </a:extLst>
          </p:cNvPr>
          <p:cNvPicPr>
            <a:picLocks noChangeAspect="1"/>
          </p:cNvPicPr>
          <p:nvPr/>
        </p:nvPicPr>
        <p:blipFill>
          <a:blip r:embed="rId3"/>
          <a:stretch>
            <a:fillRect/>
          </a:stretch>
        </p:blipFill>
        <p:spPr>
          <a:xfrm>
            <a:off x="298457" y="3672496"/>
            <a:ext cx="4160586" cy="1495323"/>
          </a:xfrm>
          <a:prstGeom prst="rect">
            <a:avLst/>
          </a:prstGeom>
        </p:spPr>
      </p:pic>
      <p:sp>
        <p:nvSpPr>
          <p:cNvPr id="29" name="文本框 28">
            <a:extLst>
              <a:ext uri="{FF2B5EF4-FFF2-40B4-BE49-F238E27FC236}">
                <a16:creationId xmlns:a16="http://schemas.microsoft.com/office/drawing/2014/main" id="{A3D1C20E-BD8F-7DC4-D752-E6393EF41EEB}"/>
              </a:ext>
            </a:extLst>
          </p:cNvPr>
          <p:cNvSpPr txBox="1"/>
          <p:nvPr/>
        </p:nvSpPr>
        <p:spPr>
          <a:xfrm>
            <a:off x="167528" y="5355519"/>
            <a:ext cx="6097218" cy="523220"/>
          </a:xfrm>
          <a:prstGeom prst="rect">
            <a:avLst/>
          </a:prstGeom>
          <a:noFill/>
        </p:spPr>
        <p:txBody>
          <a:bodyPr wrap="square">
            <a:spAutoFit/>
          </a:bodyPr>
          <a:lstStyle/>
          <a:p>
            <a:r>
              <a:rPr lang="zh-CN" altLang="en-US" sz="1400">
                <a:latin typeface="楷体" panose="02010609060101010101" pitchFamily="49" charset="-122"/>
                <a:ea typeface="楷体" panose="02010609060101010101" pitchFamily="49" charset="-122"/>
              </a:rPr>
              <a:t>定理</a:t>
            </a:r>
            <a:r>
              <a:rPr lang="en-US" altLang="zh-CN" sz="1400">
                <a:latin typeface="楷体" panose="02010609060101010101" pitchFamily="49" charset="-122"/>
                <a:ea typeface="楷体" panose="02010609060101010101" pitchFamily="49" charset="-122"/>
              </a:rPr>
              <a:t>1</a:t>
            </a:r>
            <a:r>
              <a:rPr lang="zh-CN" altLang="en-US" sz="1400">
                <a:latin typeface="楷体" panose="02010609060101010101" pitchFamily="49" charset="-122"/>
                <a:ea typeface="楷体" panose="02010609060101010101" pitchFamily="49" charset="-122"/>
              </a:rPr>
              <a:t>：</a:t>
            </a:r>
            <a:r>
              <a:rPr lang="en-US" altLang="zh-CN" sz="1400">
                <a:latin typeface="楷体" panose="02010609060101010101" pitchFamily="49" charset="-122"/>
                <a:ea typeface="楷体" panose="02010609060101010101" pitchFamily="49" charset="-122"/>
              </a:rPr>
              <a:t>n</a:t>
            </a:r>
            <a:r>
              <a:rPr lang="zh-CN" altLang="en-US" sz="1400">
                <a:latin typeface="楷体" panose="02010609060101010101" pitchFamily="49" charset="-122"/>
                <a:ea typeface="楷体" panose="02010609060101010101" pitchFamily="49" charset="-122"/>
              </a:rPr>
              <a:t>阶一致阵的唯一非零特征根为</a:t>
            </a:r>
            <a:r>
              <a:rPr lang="en-US" altLang="zh-CN" sz="1400">
                <a:latin typeface="楷体" panose="02010609060101010101" pitchFamily="49" charset="-122"/>
                <a:ea typeface="楷体" panose="02010609060101010101" pitchFamily="49" charset="-122"/>
              </a:rPr>
              <a:t>n</a:t>
            </a:r>
          </a:p>
          <a:p>
            <a:r>
              <a:rPr lang="zh-CN" altLang="en-US" sz="1400">
                <a:latin typeface="楷体" panose="02010609060101010101" pitchFamily="49" charset="-122"/>
                <a:ea typeface="楷体" panose="02010609060101010101" pitchFamily="49" charset="-122"/>
              </a:rPr>
              <a:t>定理</a:t>
            </a:r>
            <a:r>
              <a:rPr lang="en-US" altLang="zh-CN" sz="1400">
                <a:latin typeface="楷体" panose="02010609060101010101" pitchFamily="49" charset="-122"/>
                <a:ea typeface="楷体" panose="02010609060101010101" pitchFamily="49" charset="-122"/>
              </a:rPr>
              <a:t>2</a:t>
            </a:r>
            <a:r>
              <a:rPr lang="zh-CN" altLang="en-US" sz="1400">
                <a:latin typeface="楷体" panose="02010609060101010101" pitchFamily="49" charset="-122"/>
                <a:ea typeface="楷体" panose="02010609060101010101" pitchFamily="49" charset="-122"/>
              </a:rPr>
              <a:t>：</a:t>
            </a:r>
            <a:r>
              <a:rPr lang="en-US" altLang="zh-CN" sz="1400">
                <a:latin typeface="楷体" panose="02010609060101010101" pitchFamily="49" charset="-122"/>
                <a:ea typeface="楷体" panose="02010609060101010101" pitchFamily="49" charset="-122"/>
              </a:rPr>
              <a:t>n</a:t>
            </a:r>
            <a:r>
              <a:rPr lang="zh-CN" altLang="en-US" sz="1400">
                <a:latin typeface="楷体" panose="02010609060101010101" pitchFamily="49" charset="-122"/>
                <a:ea typeface="楷体" panose="02010609060101010101" pitchFamily="49" charset="-122"/>
              </a:rPr>
              <a:t>阶正互反阵</a:t>
            </a:r>
            <a:r>
              <a:rPr lang="en-US" altLang="zh-CN" sz="1400">
                <a:latin typeface="楷体" panose="02010609060101010101" pitchFamily="49" charset="-122"/>
                <a:ea typeface="楷体" panose="02010609060101010101" pitchFamily="49" charset="-122"/>
              </a:rPr>
              <a:t>A</a:t>
            </a:r>
            <a:r>
              <a:rPr lang="zh-CN" altLang="en-US" sz="1400">
                <a:latin typeface="楷体" panose="02010609060101010101" pitchFamily="49" charset="-122"/>
                <a:ea typeface="楷体" panose="02010609060101010101" pitchFamily="49" charset="-122"/>
              </a:rPr>
              <a:t>的最大特征根</a:t>
            </a:r>
            <a:r>
              <a:rPr lang="en-US" altLang="zh-CN" sz="1400">
                <a:latin typeface="楷体" panose="02010609060101010101" pitchFamily="49" charset="-122"/>
                <a:ea typeface="楷体" panose="02010609060101010101" pitchFamily="49" charset="-122"/>
              </a:rPr>
              <a:t>λ≥n</a:t>
            </a:r>
            <a:r>
              <a:rPr lang="zh-CN" altLang="en-US" sz="1400">
                <a:latin typeface="楷体" panose="02010609060101010101" pitchFamily="49" charset="-122"/>
                <a:ea typeface="楷体" panose="02010609060101010101" pitchFamily="49" charset="-122"/>
              </a:rPr>
              <a:t>，当且仅当</a:t>
            </a:r>
            <a:r>
              <a:rPr lang="en-US" altLang="zh-CN" sz="1400">
                <a:latin typeface="楷体" panose="02010609060101010101" pitchFamily="49" charset="-122"/>
                <a:ea typeface="楷体" panose="02010609060101010101" pitchFamily="49" charset="-122"/>
              </a:rPr>
              <a:t>λ=n</a:t>
            </a:r>
            <a:r>
              <a:rPr lang="zh-CN" altLang="en-US" sz="1400">
                <a:latin typeface="楷体" panose="02010609060101010101" pitchFamily="49" charset="-122"/>
                <a:ea typeface="楷体" panose="02010609060101010101" pitchFamily="49" charset="-122"/>
              </a:rPr>
              <a:t>时</a:t>
            </a:r>
            <a:r>
              <a:rPr lang="en-US" altLang="zh-CN" sz="1400">
                <a:latin typeface="楷体" panose="02010609060101010101" pitchFamily="49" charset="-122"/>
                <a:ea typeface="楷体" panose="02010609060101010101" pitchFamily="49" charset="-122"/>
              </a:rPr>
              <a:t>A</a:t>
            </a:r>
            <a:r>
              <a:rPr lang="zh-CN" altLang="en-US" sz="1400">
                <a:latin typeface="楷体" panose="02010609060101010101" pitchFamily="49" charset="-122"/>
                <a:ea typeface="楷体" panose="02010609060101010101" pitchFamily="49" charset="-122"/>
              </a:rPr>
              <a:t>为一致阵</a:t>
            </a:r>
          </a:p>
        </p:txBody>
      </p:sp>
      <p:pic>
        <p:nvPicPr>
          <p:cNvPr id="31" name="图片 30">
            <a:extLst>
              <a:ext uri="{FF2B5EF4-FFF2-40B4-BE49-F238E27FC236}">
                <a16:creationId xmlns:a16="http://schemas.microsoft.com/office/drawing/2014/main" id="{B1FACCF6-F774-3201-F4CA-AAB17E627C1A}"/>
              </a:ext>
            </a:extLst>
          </p:cNvPr>
          <p:cNvPicPr>
            <a:picLocks noChangeAspect="1"/>
          </p:cNvPicPr>
          <p:nvPr/>
        </p:nvPicPr>
        <p:blipFill>
          <a:blip r:embed="rId4"/>
          <a:stretch>
            <a:fillRect/>
          </a:stretch>
        </p:blipFill>
        <p:spPr>
          <a:xfrm>
            <a:off x="6871050" y="3627703"/>
            <a:ext cx="2368205" cy="1040005"/>
          </a:xfrm>
          <a:prstGeom prst="rect">
            <a:avLst/>
          </a:prstGeom>
        </p:spPr>
      </p:pic>
      <p:pic>
        <p:nvPicPr>
          <p:cNvPr id="33" name="图片 32">
            <a:extLst>
              <a:ext uri="{FF2B5EF4-FFF2-40B4-BE49-F238E27FC236}">
                <a16:creationId xmlns:a16="http://schemas.microsoft.com/office/drawing/2014/main" id="{A18F60B1-30E4-B368-6169-CE278209E1F6}"/>
              </a:ext>
            </a:extLst>
          </p:cNvPr>
          <p:cNvPicPr>
            <a:picLocks noChangeAspect="1"/>
          </p:cNvPicPr>
          <p:nvPr/>
        </p:nvPicPr>
        <p:blipFill>
          <a:blip r:embed="rId5"/>
          <a:stretch>
            <a:fillRect/>
          </a:stretch>
        </p:blipFill>
        <p:spPr>
          <a:xfrm>
            <a:off x="6862316" y="4677033"/>
            <a:ext cx="4402433" cy="443041"/>
          </a:xfrm>
          <a:prstGeom prst="rect">
            <a:avLst/>
          </a:prstGeom>
        </p:spPr>
      </p:pic>
      <p:pic>
        <p:nvPicPr>
          <p:cNvPr id="35" name="图片 34">
            <a:extLst>
              <a:ext uri="{FF2B5EF4-FFF2-40B4-BE49-F238E27FC236}">
                <a16:creationId xmlns:a16="http://schemas.microsoft.com/office/drawing/2014/main" id="{16081FCE-37AE-A534-9CDF-BA913DE3A2B1}"/>
              </a:ext>
            </a:extLst>
          </p:cNvPr>
          <p:cNvPicPr>
            <a:picLocks noChangeAspect="1"/>
          </p:cNvPicPr>
          <p:nvPr/>
        </p:nvPicPr>
        <p:blipFill>
          <a:blip r:embed="rId6"/>
          <a:stretch>
            <a:fillRect/>
          </a:stretch>
        </p:blipFill>
        <p:spPr>
          <a:xfrm>
            <a:off x="6893916" y="5184311"/>
            <a:ext cx="4057859" cy="1066855"/>
          </a:xfrm>
          <a:prstGeom prst="rect">
            <a:avLst/>
          </a:prstGeom>
        </p:spPr>
      </p:pic>
      <p:sp>
        <p:nvSpPr>
          <p:cNvPr id="36" name="文本框 35">
            <a:extLst>
              <a:ext uri="{FF2B5EF4-FFF2-40B4-BE49-F238E27FC236}">
                <a16:creationId xmlns:a16="http://schemas.microsoft.com/office/drawing/2014/main" id="{95D7C275-5825-5A17-B180-A17B01043A50}"/>
              </a:ext>
            </a:extLst>
          </p:cNvPr>
          <p:cNvSpPr txBox="1"/>
          <p:nvPr/>
        </p:nvSpPr>
        <p:spPr>
          <a:xfrm>
            <a:off x="6764688" y="189885"/>
            <a:ext cx="4520970" cy="461665"/>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准则层</a:t>
            </a:r>
            <a:r>
              <a:rPr lang="en-US" altLang="zh-CN" sz="1200">
                <a:solidFill>
                  <a:srgbClr val="FF0000"/>
                </a:solidFill>
                <a:latin typeface="楷体" panose="02010609060101010101" pitchFamily="49" charset="-122"/>
                <a:ea typeface="楷体" panose="02010609060101010101" pitchFamily="49" charset="-122"/>
              </a:rPr>
              <a:t>C1~Cn</a:t>
            </a:r>
            <a:r>
              <a:rPr lang="zh-CN" altLang="en-US" sz="1200">
                <a:latin typeface="楷体" panose="02010609060101010101" pitchFamily="49" charset="-122"/>
                <a:ea typeface="楷体" panose="02010609060101010101" pitchFamily="49" charset="-122"/>
              </a:rPr>
              <a:t>对</a:t>
            </a:r>
            <a:r>
              <a:rPr lang="zh-CN" altLang="en-US" sz="1200">
                <a:solidFill>
                  <a:srgbClr val="FF0000"/>
                </a:solidFill>
                <a:latin typeface="楷体" panose="02010609060101010101" pitchFamily="49" charset="-122"/>
                <a:ea typeface="楷体" panose="02010609060101010101" pitchFamily="49" charset="-122"/>
              </a:rPr>
              <a:t>总目标</a:t>
            </a:r>
            <a:r>
              <a:rPr lang="zh-CN" altLang="en-US" sz="1200">
                <a:latin typeface="楷体" panose="02010609060101010101" pitchFamily="49" charset="-122"/>
                <a:ea typeface="楷体" panose="02010609060101010101" pitchFamily="49" charset="-122"/>
              </a:rPr>
              <a:t>的排序： </a:t>
            </a:r>
            <a:r>
              <a:rPr lang="en-US" altLang="zh-CN" sz="1200">
                <a:solidFill>
                  <a:srgbClr val="00B0F0"/>
                </a:solidFill>
                <a:latin typeface="楷体" panose="02010609060101010101" pitchFamily="49" charset="-122"/>
                <a:ea typeface="楷体" panose="02010609060101010101" pitchFamily="49" charset="-122"/>
              </a:rPr>
              <a:t>a1,a2,…,an</a:t>
            </a:r>
          </a:p>
          <a:p>
            <a:r>
              <a:rPr lang="zh-CN" altLang="en-US" sz="1200">
                <a:latin typeface="楷体" panose="02010609060101010101" pitchFamily="49" charset="-122"/>
                <a:ea typeface="楷体" panose="02010609060101010101" pitchFamily="49" charset="-122"/>
              </a:rPr>
              <a:t>方案层</a:t>
            </a:r>
            <a:r>
              <a:rPr lang="en-US" altLang="zh-CN" sz="1200">
                <a:solidFill>
                  <a:srgbClr val="FF0000"/>
                </a:solidFill>
                <a:latin typeface="楷体" panose="02010609060101010101" pitchFamily="49" charset="-122"/>
                <a:ea typeface="楷体" panose="02010609060101010101" pitchFamily="49" charset="-122"/>
              </a:rPr>
              <a:t>P1~Pn</a:t>
            </a:r>
            <a:r>
              <a:rPr lang="zh-CN" altLang="en-US" sz="1200">
                <a:latin typeface="楷体" panose="02010609060101010101" pitchFamily="49" charset="-122"/>
                <a:ea typeface="楷体" panose="02010609060101010101" pitchFamily="49" charset="-122"/>
              </a:rPr>
              <a:t>对</a:t>
            </a:r>
            <a:r>
              <a:rPr lang="en-US" altLang="zh-CN" sz="1200">
                <a:solidFill>
                  <a:srgbClr val="FF0000"/>
                </a:solidFill>
                <a:latin typeface="楷体" panose="02010609060101010101" pitchFamily="49" charset="-122"/>
                <a:ea typeface="楷体" panose="02010609060101010101" pitchFamily="49" charset="-122"/>
              </a:rPr>
              <a:t>Cj</a:t>
            </a:r>
            <a:r>
              <a:rPr lang="zh-CN" altLang="en-US" sz="1200">
                <a:latin typeface="楷体" panose="02010609060101010101" pitchFamily="49" charset="-122"/>
                <a:ea typeface="楷体" panose="02010609060101010101" pitchFamily="49" charset="-122"/>
              </a:rPr>
              <a:t>的层次单排序： </a:t>
            </a:r>
            <a:r>
              <a:rPr lang="en-US" altLang="zh-CN" sz="1200">
                <a:solidFill>
                  <a:srgbClr val="00B0F0"/>
                </a:solidFill>
                <a:latin typeface="楷体" panose="02010609060101010101" pitchFamily="49" charset="-122"/>
                <a:ea typeface="楷体" panose="02010609060101010101" pitchFamily="49" charset="-122"/>
              </a:rPr>
              <a:t>p1j,p2j,…,pnj  (1&lt;j&lt;n)</a:t>
            </a:r>
          </a:p>
        </p:txBody>
      </p:sp>
      <p:sp>
        <p:nvSpPr>
          <p:cNvPr id="40" name="文本框 39">
            <a:extLst>
              <a:ext uri="{FF2B5EF4-FFF2-40B4-BE49-F238E27FC236}">
                <a16:creationId xmlns:a16="http://schemas.microsoft.com/office/drawing/2014/main" id="{E8153FA1-5954-308C-CE4D-CDE7BD0060BB}"/>
              </a:ext>
            </a:extLst>
          </p:cNvPr>
          <p:cNvSpPr txBox="1"/>
          <p:nvPr/>
        </p:nvSpPr>
        <p:spPr>
          <a:xfrm>
            <a:off x="6773740" y="644702"/>
            <a:ext cx="4804256" cy="461665"/>
          </a:xfrm>
          <a:prstGeom prst="rect">
            <a:avLst/>
          </a:prstGeom>
          <a:noFill/>
        </p:spPr>
        <p:txBody>
          <a:bodyPr wrap="square">
            <a:spAutoFit/>
          </a:bodyPr>
          <a:lstStyle/>
          <a:p>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设</a:t>
            </a:r>
            <a:r>
              <a:rPr lang="en-US" altLang="zh-CN" sz="1200" b="0" i="0">
                <a:solidFill>
                  <a:srgbClr val="191B1F"/>
                </a:solidFill>
                <a:effectLst/>
                <a:highlight>
                  <a:srgbClr val="FFFFFF"/>
                </a:highlight>
                <a:latin typeface="楷体" panose="02010609060101010101" pitchFamily="49" charset="-122"/>
                <a:ea typeface="楷体" panose="02010609060101010101" pitchFamily="49" charset="-122"/>
              </a:rPr>
              <a:t>P</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层</a:t>
            </a:r>
            <a:r>
              <a:rPr lang="en-US" altLang="zh-CN" sz="1200" b="0" i="0">
                <a:solidFill>
                  <a:srgbClr val="FF0000"/>
                </a:solidFill>
                <a:effectLst/>
                <a:highlight>
                  <a:srgbClr val="FFFFFF"/>
                </a:highlight>
                <a:latin typeface="楷体" panose="02010609060101010101" pitchFamily="49" charset="-122"/>
                <a:ea typeface="楷体" panose="02010609060101010101" pitchFamily="49" charset="-122"/>
              </a:rPr>
              <a:t>P1~Pn</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对上层</a:t>
            </a:r>
            <a:r>
              <a:rPr lang="en-US" altLang="zh-CN" sz="1200" b="0" i="0">
                <a:solidFill>
                  <a:srgbClr val="191B1F"/>
                </a:solidFill>
                <a:effectLst/>
                <a:highlight>
                  <a:srgbClr val="FFFFFF"/>
                </a:highlight>
                <a:latin typeface="楷体" panose="02010609060101010101" pitchFamily="49" charset="-122"/>
                <a:ea typeface="楷体" panose="02010609060101010101" pitchFamily="49" charset="-122"/>
              </a:rPr>
              <a:t>(</a:t>
            </a:r>
            <a:r>
              <a:rPr lang="en-US" altLang="zh-CN" sz="1200" b="0" i="0">
                <a:effectLst/>
                <a:highlight>
                  <a:srgbClr val="FFFFFF"/>
                </a:highlight>
                <a:latin typeface="楷体" panose="02010609060101010101" pitchFamily="49" charset="-122"/>
                <a:ea typeface="楷体" panose="02010609060101010101" pitchFamily="49" charset="-122"/>
              </a:rPr>
              <a:t>C</a:t>
            </a:r>
            <a:r>
              <a:rPr lang="zh-CN" altLang="en-US" sz="1200" b="0" i="0">
                <a:effectLst/>
                <a:highlight>
                  <a:srgbClr val="FFFFFF"/>
                </a:highlight>
                <a:latin typeface="楷体" panose="02010609060101010101" pitchFamily="49" charset="-122"/>
                <a:ea typeface="楷体" panose="02010609060101010101" pitchFamily="49" charset="-122"/>
              </a:rPr>
              <a:t>层</a:t>
            </a:r>
            <a:r>
              <a:rPr lang="en-US" altLang="zh-CN" sz="1200" b="0" i="0">
                <a:solidFill>
                  <a:srgbClr val="191B1F"/>
                </a:solidFill>
                <a:effectLst/>
                <a:highlight>
                  <a:srgbClr val="FFFFFF"/>
                </a:highlight>
                <a:latin typeface="楷体" panose="02010609060101010101" pitchFamily="49" charset="-122"/>
                <a:ea typeface="楷体" panose="02010609060101010101" pitchFamily="49" charset="-122"/>
              </a:rPr>
              <a:t>)</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中因素</a:t>
            </a:r>
            <a:r>
              <a:rPr lang="en-US" altLang="zh-CN" sz="1200" b="0" i="0">
                <a:solidFill>
                  <a:srgbClr val="FF0000"/>
                </a:solidFill>
                <a:effectLst/>
                <a:highlight>
                  <a:srgbClr val="FFFFFF"/>
                </a:highlight>
                <a:latin typeface="楷体" panose="02010609060101010101" pitchFamily="49" charset="-122"/>
                <a:ea typeface="楷体" panose="02010609060101010101" pitchFamily="49" charset="-122"/>
              </a:rPr>
              <a:t>Cj(j=1,2,…,n)</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的层次单排序一致性指标为</a:t>
            </a:r>
            <a:r>
              <a:rPr lang="en-US" altLang="zh-CN" sz="1200" b="0" i="0">
                <a:solidFill>
                  <a:srgbClr val="FF0000"/>
                </a:solidFill>
                <a:effectLst/>
                <a:highlight>
                  <a:srgbClr val="FFFFFF"/>
                </a:highlight>
                <a:latin typeface="楷体" panose="02010609060101010101" pitchFamily="49" charset="-122"/>
                <a:ea typeface="楷体" panose="02010609060101010101" pitchFamily="49" charset="-122"/>
              </a:rPr>
              <a:t>CIj</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，随机一致性指标为</a:t>
            </a:r>
            <a:r>
              <a:rPr lang="en-US" altLang="zh-CN" sz="1200" b="0" i="0">
                <a:solidFill>
                  <a:srgbClr val="FF0000"/>
                </a:solidFill>
                <a:effectLst/>
                <a:highlight>
                  <a:srgbClr val="FFFFFF"/>
                </a:highlight>
                <a:latin typeface="楷体" panose="02010609060101010101" pitchFamily="49" charset="-122"/>
                <a:ea typeface="楷体" panose="02010609060101010101" pitchFamily="49" charset="-122"/>
              </a:rPr>
              <a:t>RIj</a:t>
            </a:r>
            <a:r>
              <a:rPr lang="zh-CN" altLang="en-US" sz="1200" b="0" i="0">
                <a:solidFill>
                  <a:srgbClr val="191B1F"/>
                </a:solidFill>
                <a:effectLst/>
                <a:highlight>
                  <a:srgbClr val="FFFFFF"/>
                </a:highlight>
                <a:latin typeface="楷体" panose="02010609060101010101" pitchFamily="49" charset="-122"/>
                <a:ea typeface="楷体" panose="02010609060101010101" pitchFamily="49" charset="-122"/>
              </a:rPr>
              <a:t>，则层次总排序一致性比率为：</a:t>
            </a:r>
            <a:endParaRPr lang="zh-CN" altLang="en-US" sz="1200">
              <a:latin typeface="楷体" panose="02010609060101010101" pitchFamily="49" charset="-122"/>
              <a:ea typeface="楷体" panose="02010609060101010101" pitchFamily="49" charset="-122"/>
            </a:endParaRPr>
          </a:p>
        </p:txBody>
      </p:sp>
      <p:graphicFrame>
        <p:nvGraphicFramePr>
          <p:cNvPr id="41" name="对象 40">
            <a:extLst>
              <a:ext uri="{FF2B5EF4-FFF2-40B4-BE49-F238E27FC236}">
                <a16:creationId xmlns:a16="http://schemas.microsoft.com/office/drawing/2014/main" id="{EF627C59-3907-5266-5BE3-3F0A91D6A0E6}"/>
              </a:ext>
            </a:extLst>
          </p:cNvPr>
          <p:cNvGraphicFramePr>
            <a:graphicFrameLocks noChangeAspect="1"/>
          </p:cNvGraphicFramePr>
          <p:nvPr>
            <p:extLst>
              <p:ext uri="{D42A27DB-BD31-4B8C-83A1-F6EECF244321}">
                <p14:modId xmlns:p14="http://schemas.microsoft.com/office/powerpoint/2010/main" val="2105397216"/>
              </p:ext>
            </p:extLst>
          </p:nvPr>
        </p:nvGraphicFramePr>
        <p:xfrm>
          <a:off x="8294506" y="1502019"/>
          <a:ext cx="605181" cy="457428"/>
        </p:xfrm>
        <a:graphic>
          <a:graphicData uri="http://schemas.openxmlformats.org/presentationml/2006/ole">
            <mc:AlternateContent xmlns:mc="http://schemas.openxmlformats.org/markup-compatibility/2006">
              <mc:Choice xmlns:v="urn:schemas-microsoft-com:vml" Requires="v">
                <p:oleObj name="AxMath" r:id="rId7" imgW="474480" imgH="358560" progId="Equation.AxMath">
                  <p:embed/>
                </p:oleObj>
              </mc:Choice>
              <mc:Fallback>
                <p:oleObj name="AxMath" r:id="rId7" imgW="474480" imgH="358560" progId="Equation.AxMath">
                  <p:embed/>
                  <p:pic>
                    <p:nvPicPr>
                      <p:cNvPr id="0" name=""/>
                      <p:cNvPicPr/>
                      <p:nvPr/>
                    </p:nvPicPr>
                    <p:blipFill>
                      <a:blip r:embed="rId8"/>
                      <a:stretch>
                        <a:fillRect/>
                      </a:stretch>
                    </p:blipFill>
                    <p:spPr>
                      <a:xfrm>
                        <a:off x="8294506" y="1502019"/>
                        <a:ext cx="605181" cy="457428"/>
                      </a:xfrm>
                      <a:prstGeom prst="rect">
                        <a:avLst/>
                      </a:prstGeom>
                    </p:spPr>
                  </p:pic>
                </p:oleObj>
              </mc:Fallback>
            </mc:AlternateContent>
          </a:graphicData>
        </a:graphic>
      </p:graphicFrame>
      <p:graphicFrame>
        <p:nvGraphicFramePr>
          <p:cNvPr id="42" name="对象 41">
            <a:extLst>
              <a:ext uri="{FF2B5EF4-FFF2-40B4-BE49-F238E27FC236}">
                <a16:creationId xmlns:a16="http://schemas.microsoft.com/office/drawing/2014/main" id="{9AD24A0D-8041-C551-0831-53979171A3BC}"/>
              </a:ext>
            </a:extLst>
          </p:cNvPr>
          <p:cNvGraphicFramePr>
            <a:graphicFrameLocks noChangeAspect="1"/>
          </p:cNvGraphicFramePr>
          <p:nvPr>
            <p:extLst>
              <p:ext uri="{D42A27DB-BD31-4B8C-83A1-F6EECF244321}">
                <p14:modId xmlns:p14="http://schemas.microsoft.com/office/powerpoint/2010/main" val="1504624140"/>
              </p:ext>
            </p:extLst>
          </p:nvPr>
        </p:nvGraphicFramePr>
        <p:xfrm>
          <a:off x="6871050" y="1088203"/>
          <a:ext cx="2406451" cy="449422"/>
        </p:xfrm>
        <a:graphic>
          <a:graphicData uri="http://schemas.openxmlformats.org/presentationml/2006/ole">
            <mc:AlternateContent xmlns:mc="http://schemas.openxmlformats.org/markup-compatibility/2006">
              <mc:Choice xmlns:v="urn:schemas-microsoft-com:vml" Requires="v">
                <p:oleObj name="AxMath" r:id="rId9" imgW="1870560" imgH="349920" progId="Equation.AxMath">
                  <p:embed/>
                </p:oleObj>
              </mc:Choice>
              <mc:Fallback>
                <p:oleObj name="AxMath" r:id="rId9" imgW="1870560" imgH="349920" progId="Equation.AxMath">
                  <p:embed/>
                  <p:pic>
                    <p:nvPicPr>
                      <p:cNvPr id="0" name=""/>
                      <p:cNvPicPr/>
                      <p:nvPr/>
                    </p:nvPicPr>
                    <p:blipFill>
                      <a:blip r:embed="rId10"/>
                      <a:stretch>
                        <a:fillRect/>
                      </a:stretch>
                    </p:blipFill>
                    <p:spPr>
                      <a:xfrm>
                        <a:off x="6871050" y="1088203"/>
                        <a:ext cx="2406451" cy="449422"/>
                      </a:xfrm>
                      <a:prstGeom prst="rect">
                        <a:avLst/>
                      </a:prstGeom>
                    </p:spPr>
                  </p:pic>
                </p:oleObj>
              </mc:Fallback>
            </mc:AlternateContent>
          </a:graphicData>
        </a:graphic>
      </p:graphicFrame>
      <p:sp>
        <p:nvSpPr>
          <p:cNvPr id="43" name="文本框 42">
            <a:extLst>
              <a:ext uri="{FF2B5EF4-FFF2-40B4-BE49-F238E27FC236}">
                <a16:creationId xmlns:a16="http://schemas.microsoft.com/office/drawing/2014/main" id="{DD670F4D-54BD-8F73-B431-9AF7A668889A}"/>
              </a:ext>
            </a:extLst>
          </p:cNvPr>
          <p:cNvSpPr txBox="1"/>
          <p:nvPr/>
        </p:nvSpPr>
        <p:spPr>
          <a:xfrm>
            <a:off x="6821379" y="1542751"/>
            <a:ext cx="2456122" cy="276999"/>
          </a:xfrm>
          <a:prstGeom prst="rect">
            <a:avLst/>
          </a:prstGeom>
          <a:noFill/>
        </p:spPr>
        <p:txBody>
          <a:bodyPr wrap="square" rtlCol="0">
            <a:spAutoFit/>
          </a:bodyPr>
          <a:lstStyle/>
          <a:p>
            <a:r>
              <a:rPr lang="en-US" altLang="zh-CN" sz="1200">
                <a:solidFill>
                  <a:srgbClr val="FF0000"/>
                </a:solidFill>
                <a:latin typeface="楷体" panose="02010609060101010101" pitchFamily="49" charset="-122"/>
                <a:ea typeface="楷体" panose="02010609060101010101" pitchFamily="49" charset="-122"/>
              </a:rPr>
              <a:t>Pj</a:t>
            </a:r>
            <a:r>
              <a:rPr lang="zh-CN" altLang="en-US" sz="1200">
                <a:latin typeface="楷体" panose="02010609060101010101" pitchFamily="49" charset="-122"/>
                <a:ea typeface="楷体" panose="02010609060101010101" pitchFamily="49" charset="-122"/>
              </a:rPr>
              <a:t>对总目标</a:t>
            </a:r>
            <a:r>
              <a:rPr lang="en-US" altLang="zh-CN" sz="1200">
                <a:solidFill>
                  <a:srgbClr val="FF0000"/>
                </a:solidFill>
                <a:latin typeface="楷体" panose="02010609060101010101" pitchFamily="49" charset="-122"/>
                <a:ea typeface="楷体" panose="02010609060101010101" pitchFamily="49" charset="-122"/>
              </a:rPr>
              <a:t>O</a:t>
            </a:r>
            <a:r>
              <a:rPr lang="zh-CN" altLang="en-US" sz="1200">
                <a:latin typeface="楷体" panose="02010609060101010101" pitchFamily="49" charset="-122"/>
                <a:ea typeface="楷体" panose="02010609060101010101" pitchFamily="49" charset="-122"/>
              </a:rPr>
              <a:t>的权值：</a:t>
            </a:r>
          </a:p>
        </p:txBody>
      </p:sp>
      <p:cxnSp>
        <p:nvCxnSpPr>
          <p:cNvPr id="45" name="连接符: 曲线 44">
            <a:extLst>
              <a:ext uri="{FF2B5EF4-FFF2-40B4-BE49-F238E27FC236}">
                <a16:creationId xmlns:a16="http://schemas.microsoft.com/office/drawing/2014/main" id="{3DFBDF96-7743-06F0-5D9F-2326183E29C9}"/>
              </a:ext>
            </a:extLst>
          </p:cNvPr>
          <p:cNvCxnSpPr/>
          <p:nvPr/>
        </p:nvCxnSpPr>
        <p:spPr>
          <a:xfrm rot="10800000">
            <a:off x="3835127" y="1710406"/>
            <a:ext cx="994867" cy="665683"/>
          </a:xfrm>
          <a:prstGeom prst="curvedConnector3">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连接符: 曲线 46">
            <a:extLst>
              <a:ext uri="{FF2B5EF4-FFF2-40B4-BE49-F238E27FC236}">
                <a16:creationId xmlns:a16="http://schemas.microsoft.com/office/drawing/2014/main" id="{9971132B-6708-18F0-B077-FFF52DDCD401}"/>
              </a:ext>
            </a:extLst>
          </p:cNvPr>
          <p:cNvCxnSpPr>
            <a:cxnSpLocks/>
          </p:cNvCxnSpPr>
          <p:nvPr/>
        </p:nvCxnSpPr>
        <p:spPr>
          <a:xfrm rot="10800000" flipV="1">
            <a:off x="3754466" y="2699346"/>
            <a:ext cx="1072683" cy="873261"/>
          </a:xfrm>
          <a:prstGeom prst="curvedConnector3">
            <a:avLst>
              <a:gd name="adj1" fmla="val 50000"/>
            </a:avLst>
          </a:pr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任意多边形: 形状 56">
            <a:extLst>
              <a:ext uri="{FF2B5EF4-FFF2-40B4-BE49-F238E27FC236}">
                <a16:creationId xmlns:a16="http://schemas.microsoft.com/office/drawing/2014/main" id="{818795EA-E94B-0068-5919-5EED52161C23}"/>
              </a:ext>
            </a:extLst>
          </p:cNvPr>
          <p:cNvSpPr/>
          <p:nvPr/>
        </p:nvSpPr>
        <p:spPr>
          <a:xfrm>
            <a:off x="4540280" y="2967803"/>
            <a:ext cx="2179289" cy="1687493"/>
          </a:xfrm>
          <a:custGeom>
            <a:avLst/>
            <a:gdLst>
              <a:gd name="connsiteX0" fmla="*/ 417670 w 2048960"/>
              <a:gd name="connsiteY0" fmla="*/ 0 h 2060220"/>
              <a:gd name="connsiteX1" fmla="*/ 704 w 2048960"/>
              <a:gd name="connsiteY1" fmla="*/ 548640 h 2060220"/>
              <a:gd name="connsiteX2" fmla="*/ 505452 w 2048960"/>
              <a:gd name="connsiteY2" fmla="*/ 1909267 h 2060220"/>
              <a:gd name="connsiteX3" fmla="*/ 2048960 w 2048960"/>
              <a:gd name="connsiteY3" fmla="*/ 2018995 h 2060220"/>
              <a:gd name="connsiteX0" fmla="*/ 419681 w 2050971"/>
              <a:gd name="connsiteY0" fmla="*/ 0 h 2019629"/>
              <a:gd name="connsiteX1" fmla="*/ 2715 w 2050971"/>
              <a:gd name="connsiteY1" fmla="*/ 548640 h 2019629"/>
              <a:gd name="connsiteX2" fmla="*/ 602560 w 2050971"/>
              <a:gd name="connsiteY2" fmla="*/ 1653235 h 2019629"/>
              <a:gd name="connsiteX3" fmla="*/ 2050971 w 2050971"/>
              <a:gd name="connsiteY3" fmla="*/ 2018995 h 2019629"/>
              <a:gd name="connsiteX0" fmla="*/ 304778 w 1936068"/>
              <a:gd name="connsiteY0" fmla="*/ 0 h 2019629"/>
              <a:gd name="connsiteX1" fmla="*/ 4855 w 1936068"/>
              <a:gd name="connsiteY1" fmla="*/ 563271 h 2019629"/>
              <a:gd name="connsiteX2" fmla="*/ 487657 w 1936068"/>
              <a:gd name="connsiteY2" fmla="*/ 1653235 h 2019629"/>
              <a:gd name="connsiteX3" fmla="*/ 1936068 w 1936068"/>
              <a:gd name="connsiteY3" fmla="*/ 2018995 h 2019629"/>
              <a:gd name="connsiteX0" fmla="*/ 317670 w 1948960"/>
              <a:gd name="connsiteY0" fmla="*/ 0 h 2019700"/>
              <a:gd name="connsiteX1" fmla="*/ 17747 w 1948960"/>
              <a:gd name="connsiteY1" fmla="*/ 563271 h 2019700"/>
              <a:gd name="connsiteX2" fmla="*/ 749266 w 1948960"/>
              <a:gd name="connsiteY2" fmla="*/ 1667866 h 2019700"/>
              <a:gd name="connsiteX3" fmla="*/ 1948960 w 1948960"/>
              <a:gd name="connsiteY3" fmla="*/ 2018995 h 2019700"/>
              <a:gd name="connsiteX0" fmla="*/ 324449 w 1955739"/>
              <a:gd name="connsiteY0" fmla="*/ 0 h 2019700"/>
              <a:gd name="connsiteX1" fmla="*/ 17211 w 1955739"/>
              <a:gd name="connsiteY1" fmla="*/ 424283 h 2019700"/>
              <a:gd name="connsiteX2" fmla="*/ 756045 w 1955739"/>
              <a:gd name="connsiteY2" fmla="*/ 1667866 h 2019700"/>
              <a:gd name="connsiteX3" fmla="*/ 1955739 w 1955739"/>
              <a:gd name="connsiteY3" fmla="*/ 2018995 h 2019700"/>
              <a:gd name="connsiteX0" fmla="*/ 284301 w 1915591"/>
              <a:gd name="connsiteY0" fmla="*/ 0 h 2019700"/>
              <a:gd name="connsiteX1" fmla="*/ 20954 w 1915591"/>
              <a:gd name="connsiteY1" fmla="*/ 548641 h 2019700"/>
              <a:gd name="connsiteX2" fmla="*/ 715897 w 1915591"/>
              <a:gd name="connsiteY2" fmla="*/ 1667866 h 2019700"/>
              <a:gd name="connsiteX3" fmla="*/ 1915591 w 1915591"/>
              <a:gd name="connsiteY3" fmla="*/ 2018995 h 2019700"/>
              <a:gd name="connsiteX0" fmla="*/ 304712 w 1936002"/>
              <a:gd name="connsiteY0" fmla="*/ 0 h 2019700"/>
              <a:gd name="connsiteX1" fmla="*/ 41365 w 1936002"/>
              <a:gd name="connsiteY1" fmla="*/ 548641 h 2019700"/>
              <a:gd name="connsiteX2" fmla="*/ 736308 w 1936002"/>
              <a:gd name="connsiteY2" fmla="*/ 1667866 h 2019700"/>
              <a:gd name="connsiteX3" fmla="*/ 1936002 w 1936002"/>
              <a:gd name="connsiteY3" fmla="*/ 2018995 h 2019700"/>
              <a:gd name="connsiteX0" fmla="*/ 265052 w 1896342"/>
              <a:gd name="connsiteY0" fmla="*/ 0 h 2019700"/>
              <a:gd name="connsiteX1" fmla="*/ 1705 w 1896342"/>
              <a:gd name="connsiteY1" fmla="*/ 548641 h 2019700"/>
              <a:gd name="connsiteX2" fmla="*/ 696648 w 1896342"/>
              <a:gd name="connsiteY2" fmla="*/ 1667866 h 2019700"/>
              <a:gd name="connsiteX3" fmla="*/ 1896342 w 1896342"/>
              <a:gd name="connsiteY3" fmla="*/ 2018995 h 2019700"/>
              <a:gd name="connsiteX0" fmla="*/ 292867 w 1924157"/>
              <a:gd name="connsiteY0" fmla="*/ 0 h 2019700"/>
              <a:gd name="connsiteX1" fmla="*/ 29520 w 1924157"/>
              <a:gd name="connsiteY1" fmla="*/ 548641 h 2019700"/>
              <a:gd name="connsiteX2" fmla="*/ 724463 w 1924157"/>
              <a:gd name="connsiteY2" fmla="*/ 1667866 h 2019700"/>
              <a:gd name="connsiteX3" fmla="*/ 1924157 w 1924157"/>
              <a:gd name="connsiteY3" fmla="*/ 2018995 h 2019700"/>
              <a:gd name="connsiteX0" fmla="*/ 263495 w 1894785"/>
              <a:gd name="connsiteY0" fmla="*/ 0 h 2019700"/>
              <a:gd name="connsiteX1" fmla="*/ 148 w 1894785"/>
              <a:gd name="connsiteY1" fmla="*/ 548641 h 2019700"/>
              <a:gd name="connsiteX2" fmla="*/ 695091 w 1894785"/>
              <a:gd name="connsiteY2" fmla="*/ 1667866 h 2019700"/>
              <a:gd name="connsiteX3" fmla="*/ 1894785 w 1894785"/>
              <a:gd name="connsiteY3" fmla="*/ 2018995 h 2019700"/>
              <a:gd name="connsiteX0" fmla="*/ 266879 w 1898169"/>
              <a:gd name="connsiteY0" fmla="*/ 0 h 2019700"/>
              <a:gd name="connsiteX1" fmla="*/ 3532 w 1898169"/>
              <a:gd name="connsiteY1" fmla="*/ 548641 h 2019700"/>
              <a:gd name="connsiteX2" fmla="*/ 698475 w 1898169"/>
              <a:gd name="connsiteY2" fmla="*/ 1667866 h 2019700"/>
              <a:gd name="connsiteX3" fmla="*/ 1898169 w 1898169"/>
              <a:gd name="connsiteY3" fmla="*/ 2018995 h 2019700"/>
              <a:gd name="connsiteX0" fmla="*/ 263801 w 1895091"/>
              <a:gd name="connsiteY0" fmla="*/ 0 h 2019700"/>
              <a:gd name="connsiteX1" fmla="*/ 454 w 1895091"/>
              <a:gd name="connsiteY1" fmla="*/ 548641 h 2019700"/>
              <a:gd name="connsiteX2" fmla="*/ 695397 w 1895091"/>
              <a:gd name="connsiteY2" fmla="*/ 1667866 h 2019700"/>
              <a:gd name="connsiteX3" fmla="*/ 1895091 w 1895091"/>
              <a:gd name="connsiteY3" fmla="*/ 2018995 h 2019700"/>
            </a:gdLst>
            <a:ahLst/>
            <a:cxnLst>
              <a:cxn ang="0">
                <a:pos x="connsiteX0" y="connsiteY0"/>
              </a:cxn>
              <a:cxn ang="0">
                <a:pos x="connsiteX1" y="connsiteY1"/>
              </a:cxn>
              <a:cxn ang="0">
                <a:pos x="connsiteX2" y="connsiteY2"/>
              </a:cxn>
              <a:cxn ang="0">
                <a:pos x="connsiteX3" y="connsiteY3"/>
              </a:cxn>
            </a:cxnLst>
            <a:rect l="l" t="t" r="r" b="b"/>
            <a:pathLst>
              <a:path w="1895091" h="2019700">
                <a:moveTo>
                  <a:pt x="263801" y="0"/>
                </a:moveTo>
                <a:cubicBezTo>
                  <a:pt x="48003" y="115214"/>
                  <a:pt x="-5642" y="212142"/>
                  <a:pt x="454" y="548641"/>
                </a:cubicBezTo>
                <a:cubicBezTo>
                  <a:pt x="6550" y="885140"/>
                  <a:pt x="354021" y="1422807"/>
                  <a:pt x="695397" y="1667866"/>
                </a:cubicBezTo>
                <a:cubicBezTo>
                  <a:pt x="1036773" y="1912925"/>
                  <a:pt x="1579318" y="2029968"/>
                  <a:pt x="1895091" y="2018995"/>
                </a:cubicBezTo>
              </a:path>
            </a:pathLst>
          </a:cu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58" name="任意多边形: 形状 57">
            <a:extLst>
              <a:ext uri="{FF2B5EF4-FFF2-40B4-BE49-F238E27FC236}">
                <a16:creationId xmlns:a16="http://schemas.microsoft.com/office/drawing/2014/main" id="{2E694404-B3E0-BDA5-215D-A2DF30C5ADF3}"/>
              </a:ext>
            </a:extLst>
          </p:cNvPr>
          <p:cNvSpPr/>
          <p:nvPr/>
        </p:nvSpPr>
        <p:spPr>
          <a:xfrm flipH="1" flipV="1">
            <a:off x="8049440" y="1635773"/>
            <a:ext cx="1933168" cy="1552322"/>
          </a:xfrm>
          <a:custGeom>
            <a:avLst/>
            <a:gdLst>
              <a:gd name="connsiteX0" fmla="*/ 417670 w 2048960"/>
              <a:gd name="connsiteY0" fmla="*/ 0 h 2060220"/>
              <a:gd name="connsiteX1" fmla="*/ 704 w 2048960"/>
              <a:gd name="connsiteY1" fmla="*/ 548640 h 2060220"/>
              <a:gd name="connsiteX2" fmla="*/ 505452 w 2048960"/>
              <a:gd name="connsiteY2" fmla="*/ 1909267 h 2060220"/>
              <a:gd name="connsiteX3" fmla="*/ 2048960 w 2048960"/>
              <a:gd name="connsiteY3" fmla="*/ 2018995 h 2060220"/>
              <a:gd name="connsiteX0" fmla="*/ 419681 w 2050971"/>
              <a:gd name="connsiteY0" fmla="*/ 0 h 2019629"/>
              <a:gd name="connsiteX1" fmla="*/ 2715 w 2050971"/>
              <a:gd name="connsiteY1" fmla="*/ 548640 h 2019629"/>
              <a:gd name="connsiteX2" fmla="*/ 602560 w 2050971"/>
              <a:gd name="connsiteY2" fmla="*/ 1653235 h 2019629"/>
              <a:gd name="connsiteX3" fmla="*/ 2050971 w 2050971"/>
              <a:gd name="connsiteY3" fmla="*/ 2018995 h 2019629"/>
              <a:gd name="connsiteX0" fmla="*/ 304778 w 1936068"/>
              <a:gd name="connsiteY0" fmla="*/ 0 h 2019629"/>
              <a:gd name="connsiteX1" fmla="*/ 4855 w 1936068"/>
              <a:gd name="connsiteY1" fmla="*/ 563271 h 2019629"/>
              <a:gd name="connsiteX2" fmla="*/ 487657 w 1936068"/>
              <a:gd name="connsiteY2" fmla="*/ 1653235 h 2019629"/>
              <a:gd name="connsiteX3" fmla="*/ 1936068 w 1936068"/>
              <a:gd name="connsiteY3" fmla="*/ 2018995 h 2019629"/>
              <a:gd name="connsiteX0" fmla="*/ 317670 w 1948960"/>
              <a:gd name="connsiteY0" fmla="*/ 0 h 2019700"/>
              <a:gd name="connsiteX1" fmla="*/ 17747 w 1948960"/>
              <a:gd name="connsiteY1" fmla="*/ 563271 h 2019700"/>
              <a:gd name="connsiteX2" fmla="*/ 749266 w 1948960"/>
              <a:gd name="connsiteY2" fmla="*/ 1667866 h 2019700"/>
              <a:gd name="connsiteX3" fmla="*/ 1948960 w 1948960"/>
              <a:gd name="connsiteY3" fmla="*/ 2018995 h 2019700"/>
              <a:gd name="connsiteX0" fmla="*/ 324449 w 1955739"/>
              <a:gd name="connsiteY0" fmla="*/ 0 h 2019700"/>
              <a:gd name="connsiteX1" fmla="*/ 17211 w 1955739"/>
              <a:gd name="connsiteY1" fmla="*/ 424283 h 2019700"/>
              <a:gd name="connsiteX2" fmla="*/ 756045 w 1955739"/>
              <a:gd name="connsiteY2" fmla="*/ 1667866 h 2019700"/>
              <a:gd name="connsiteX3" fmla="*/ 1955739 w 1955739"/>
              <a:gd name="connsiteY3" fmla="*/ 2018995 h 2019700"/>
              <a:gd name="connsiteX0" fmla="*/ 284301 w 1915591"/>
              <a:gd name="connsiteY0" fmla="*/ 0 h 2019700"/>
              <a:gd name="connsiteX1" fmla="*/ 20954 w 1915591"/>
              <a:gd name="connsiteY1" fmla="*/ 548641 h 2019700"/>
              <a:gd name="connsiteX2" fmla="*/ 715897 w 1915591"/>
              <a:gd name="connsiteY2" fmla="*/ 1667866 h 2019700"/>
              <a:gd name="connsiteX3" fmla="*/ 1915591 w 1915591"/>
              <a:gd name="connsiteY3" fmla="*/ 2018995 h 2019700"/>
              <a:gd name="connsiteX0" fmla="*/ 304712 w 1936002"/>
              <a:gd name="connsiteY0" fmla="*/ 0 h 2019700"/>
              <a:gd name="connsiteX1" fmla="*/ 41365 w 1936002"/>
              <a:gd name="connsiteY1" fmla="*/ 548641 h 2019700"/>
              <a:gd name="connsiteX2" fmla="*/ 736308 w 1936002"/>
              <a:gd name="connsiteY2" fmla="*/ 1667866 h 2019700"/>
              <a:gd name="connsiteX3" fmla="*/ 1936002 w 1936002"/>
              <a:gd name="connsiteY3" fmla="*/ 2018995 h 2019700"/>
              <a:gd name="connsiteX0" fmla="*/ 265052 w 1896342"/>
              <a:gd name="connsiteY0" fmla="*/ 0 h 2019700"/>
              <a:gd name="connsiteX1" fmla="*/ 1705 w 1896342"/>
              <a:gd name="connsiteY1" fmla="*/ 548641 h 2019700"/>
              <a:gd name="connsiteX2" fmla="*/ 696648 w 1896342"/>
              <a:gd name="connsiteY2" fmla="*/ 1667866 h 2019700"/>
              <a:gd name="connsiteX3" fmla="*/ 1896342 w 1896342"/>
              <a:gd name="connsiteY3" fmla="*/ 2018995 h 2019700"/>
              <a:gd name="connsiteX0" fmla="*/ 292867 w 1924157"/>
              <a:gd name="connsiteY0" fmla="*/ 0 h 2019700"/>
              <a:gd name="connsiteX1" fmla="*/ 29520 w 1924157"/>
              <a:gd name="connsiteY1" fmla="*/ 548641 h 2019700"/>
              <a:gd name="connsiteX2" fmla="*/ 724463 w 1924157"/>
              <a:gd name="connsiteY2" fmla="*/ 1667866 h 2019700"/>
              <a:gd name="connsiteX3" fmla="*/ 1924157 w 1924157"/>
              <a:gd name="connsiteY3" fmla="*/ 2018995 h 2019700"/>
              <a:gd name="connsiteX0" fmla="*/ 263495 w 1894785"/>
              <a:gd name="connsiteY0" fmla="*/ 0 h 2019700"/>
              <a:gd name="connsiteX1" fmla="*/ 148 w 1894785"/>
              <a:gd name="connsiteY1" fmla="*/ 548641 h 2019700"/>
              <a:gd name="connsiteX2" fmla="*/ 695091 w 1894785"/>
              <a:gd name="connsiteY2" fmla="*/ 1667866 h 2019700"/>
              <a:gd name="connsiteX3" fmla="*/ 1894785 w 1894785"/>
              <a:gd name="connsiteY3" fmla="*/ 2018995 h 2019700"/>
              <a:gd name="connsiteX0" fmla="*/ 266879 w 1898169"/>
              <a:gd name="connsiteY0" fmla="*/ 0 h 2019700"/>
              <a:gd name="connsiteX1" fmla="*/ 3532 w 1898169"/>
              <a:gd name="connsiteY1" fmla="*/ 548641 h 2019700"/>
              <a:gd name="connsiteX2" fmla="*/ 698475 w 1898169"/>
              <a:gd name="connsiteY2" fmla="*/ 1667866 h 2019700"/>
              <a:gd name="connsiteX3" fmla="*/ 1898169 w 1898169"/>
              <a:gd name="connsiteY3" fmla="*/ 2018995 h 2019700"/>
              <a:gd name="connsiteX0" fmla="*/ 263801 w 1895091"/>
              <a:gd name="connsiteY0" fmla="*/ 0 h 2019700"/>
              <a:gd name="connsiteX1" fmla="*/ 454 w 1895091"/>
              <a:gd name="connsiteY1" fmla="*/ 548641 h 2019700"/>
              <a:gd name="connsiteX2" fmla="*/ 695397 w 1895091"/>
              <a:gd name="connsiteY2" fmla="*/ 1667866 h 2019700"/>
              <a:gd name="connsiteX3" fmla="*/ 1895091 w 1895091"/>
              <a:gd name="connsiteY3" fmla="*/ 2018995 h 2019700"/>
              <a:gd name="connsiteX0" fmla="*/ 3742066 w 3742066"/>
              <a:gd name="connsiteY0" fmla="*/ 0 h 1830005"/>
              <a:gd name="connsiteX1" fmla="*/ 146738 w 3742066"/>
              <a:gd name="connsiteY1" fmla="*/ 358946 h 1830005"/>
              <a:gd name="connsiteX2" fmla="*/ 841681 w 3742066"/>
              <a:gd name="connsiteY2" fmla="*/ 1478171 h 1830005"/>
              <a:gd name="connsiteX3" fmla="*/ 2041375 w 3742066"/>
              <a:gd name="connsiteY3" fmla="*/ 1829300 h 1830005"/>
              <a:gd name="connsiteX0" fmla="*/ 2956212 w 2956212"/>
              <a:gd name="connsiteY0" fmla="*/ 0 h 1830005"/>
              <a:gd name="connsiteX1" fmla="*/ 1513983 w 2956212"/>
              <a:gd name="connsiteY1" fmla="*/ 557263 h 1830005"/>
              <a:gd name="connsiteX2" fmla="*/ 55827 w 2956212"/>
              <a:gd name="connsiteY2" fmla="*/ 1478171 h 1830005"/>
              <a:gd name="connsiteX3" fmla="*/ 1255521 w 2956212"/>
              <a:gd name="connsiteY3" fmla="*/ 1829300 h 1830005"/>
              <a:gd name="connsiteX0" fmla="*/ 2679620 w 2679620"/>
              <a:gd name="connsiteY0" fmla="*/ 0 h 1829963"/>
              <a:gd name="connsiteX1" fmla="*/ 1237391 w 2679620"/>
              <a:gd name="connsiteY1" fmla="*/ 557263 h 1829963"/>
              <a:gd name="connsiteX2" fmla="*/ 65769 w 2679620"/>
              <a:gd name="connsiteY2" fmla="*/ 1469547 h 1829963"/>
              <a:gd name="connsiteX3" fmla="*/ 978929 w 2679620"/>
              <a:gd name="connsiteY3" fmla="*/ 1829300 h 1829963"/>
              <a:gd name="connsiteX0" fmla="*/ 2613851 w 2613851"/>
              <a:gd name="connsiteY0" fmla="*/ 0 h 1829962"/>
              <a:gd name="connsiteX1" fmla="*/ 1171622 w 2613851"/>
              <a:gd name="connsiteY1" fmla="*/ 557263 h 1829962"/>
              <a:gd name="connsiteX2" fmla="*/ 0 w 2613851"/>
              <a:gd name="connsiteY2" fmla="*/ 1469547 h 1829962"/>
              <a:gd name="connsiteX3" fmla="*/ 913160 w 2613851"/>
              <a:gd name="connsiteY3" fmla="*/ 1829300 h 1829962"/>
              <a:gd name="connsiteX0" fmla="*/ 2122650 w 2122650"/>
              <a:gd name="connsiteY0" fmla="*/ 0 h 1829571"/>
              <a:gd name="connsiteX1" fmla="*/ 680421 w 2122650"/>
              <a:gd name="connsiteY1" fmla="*/ 557263 h 1829571"/>
              <a:gd name="connsiteX2" fmla="*/ 0 w 2122650"/>
              <a:gd name="connsiteY2" fmla="*/ 1271230 h 1829571"/>
              <a:gd name="connsiteX3" fmla="*/ 421959 w 2122650"/>
              <a:gd name="connsiteY3" fmla="*/ 1829300 h 1829571"/>
              <a:gd name="connsiteX0" fmla="*/ 2163473 w 2163473"/>
              <a:gd name="connsiteY0" fmla="*/ 0 h 1829740"/>
              <a:gd name="connsiteX1" fmla="*/ 721244 w 2163473"/>
              <a:gd name="connsiteY1" fmla="*/ 557263 h 1829740"/>
              <a:gd name="connsiteX2" fmla="*/ 40823 w 2163473"/>
              <a:gd name="connsiteY2" fmla="*/ 1271230 h 1829740"/>
              <a:gd name="connsiteX3" fmla="*/ 462782 w 2163473"/>
              <a:gd name="connsiteY3" fmla="*/ 1829300 h 1829740"/>
              <a:gd name="connsiteX0" fmla="*/ 2163473 w 2163473"/>
              <a:gd name="connsiteY0" fmla="*/ 0 h 1829739"/>
              <a:gd name="connsiteX1" fmla="*/ 721244 w 2163473"/>
              <a:gd name="connsiteY1" fmla="*/ 557263 h 1829739"/>
              <a:gd name="connsiteX2" fmla="*/ 40823 w 2163473"/>
              <a:gd name="connsiteY2" fmla="*/ 1271230 h 1829739"/>
              <a:gd name="connsiteX3" fmla="*/ 462782 w 2163473"/>
              <a:gd name="connsiteY3" fmla="*/ 1829300 h 1829739"/>
              <a:gd name="connsiteX0" fmla="*/ 2163473 w 2163473"/>
              <a:gd name="connsiteY0" fmla="*/ 0 h 1829739"/>
              <a:gd name="connsiteX1" fmla="*/ 1228820 w 2163473"/>
              <a:gd name="connsiteY1" fmla="*/ 410681 h 1829739"/>
              <a:gd name="connsiteX2" fmla="*/ 40823 w 2163473"/>
              <a:gd name="connsiteY2" fmla="*/ 1271230 h 1829739"/>
              <a:gd name="connsiteX3" fmla="*/ 462782 w 2163473"/>
              <a:gd name="connsiteY3" fmla="*/ 1829300 h 1829739"/>
            </a:gdLst>
            <a:ahLst/>
            <a:cxnLst>
              <a:cxn ang="0">
                <a:pos x="connsiteX0" y="connsiteY0"/>
              </a:cxn>
              <a:cxn ang="0">
                <a:pos x="connsiteX1" y="connsiteY1"/>
              </a:cxn>
              <a:cxn ang="0">
                <a:pos x="connsiteX2" y="connsiteY2"/>
              </a:cxn>
              <a:cxn ang="0">
                <a:pos x="connsiteX3" y="connsiteY3"/>
              </a:cxn>
            </a:cxnLst>
            <a:rect l="l" t="t" r="r" b="b"/>
            <a:pathLst>
              <a:path w="2163473" h="1829739">
                <a:moveTo>
                  <a:pt x="2163473" y="0"/>
                </a:moveTo>
                <a:cubicBezTo>
                  <a:pt x="1947675" y="115214"/>
                  <a:pt x="1582595" y="198809"/>
                  <a:pt x="1228820" y="410681"/>
                </a:cubicBezTo>
                <a:cubicBezTo>
                  <a:pt x="875045" y="622553"/>
                  <a:pt x="346195" y="776119"/>
                  <a:pt x="40823" y="1271230"/>
                </a:cubicBezTo>
                <a:cubicBezTo>
                  <a:pt x="-100815" y="1645626"/>
                  <a:pt x="147009" y="1840273"/>
                  <a:pt x="462782" y="1829300"/>
                </a:cubicBezTo>
              </a:path>
            </a:pathLst>
          </a:custGeom>
          <a:ln w="381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00518428-4E52-A457-4542-625E5D249AD9}"/>
              </a:ext>
            </a:extLst>
          </p:cNvPr>
          <p:cNvSpPr/>
          <p:nvPr/>
        </p:nvSpPr>
        <p:spPr>
          <a:xfrm>
            <a:off x="4829995" y="2142155"/>
            <a:ext cx="3219444" cy="1360529"/>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124DD349-20AD-8112-8BB6-8C5371ACD12B}"/>
              </a:ext>
            </a:extLst>
          </p:cNvPr>
          <p:cNvSpPr/>
          <p:nvPr/>
        </p:nvSpPr>
        <p:spPr>
          <a:xfrm>
            <a:off x="6835179" y="189885"/>
            <a:ext cx="4667969" cy="1698464"/>
          </a:xfrm>
          <a:prstGeom prst="rect">
            <a:avLst/>
          </a:prstGeom>
          <a:noFill/>
          <a:ln w="38100">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8F387B39-96EE-3BBC-3BE0-D560E2F942B1}"/>
              </a:ext>
            </a:extLst>
          </p:cNvPr>
          <p:cNvSpPr/>
          <p:nvPr/>
        </p:nvSpPr>
        <p:spPr>
          <a:xfrm>
            <a:off x="6821379" y="3566920"/>
            <a:ext cx="4667969" cy="2775357"/>
          </a:xfrm>
          <a:prstGeom prst="rect">
            <a:avLst/>
          </a:prstGeom>
          <a:noFill/>
          <a:ln w="38100">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26B37C21-B68D-2446-C5DB-5ECC0BECE397}"/>
              </a:ext>
            </a:extLst>
          </p:cNvPr>
          <p:cNvSpPr/>
          <p:nvPr/>
        </p:nvSpPr>
        <p:spPr>
          <a:xfrm>
            <a:off x="87179" y="1469297"/>
            <a:ext cx="4378254" cy="2015499"/>
          </a:xfrm>
          <a:prstGeom prst="rect">
            <a:avLst/>
          </a:prstGeom>
          <a:noFill/>
          <a:ln w="38100">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E4F2EB47-4186-D7B8-0EFD-C18BCB45F6C6}"/>
              </a:ext>
            </a:extLst>
          </p:cNvPr>
          <p:cNvSpPr/>
          <p:nvPr/>
        </p:nvSpPr>
        <p:spPr>
          <a:xfrm>
            <a:off x="87178" y="3625409"/>
            <a:ext cx="5669883" cy="2716868"/>
          </a:xfrm>
          <a:prstGeom prst="rect">
            <a:avLst/>
          </a:prstGeom>
          <a:noFill/>
          <a:ln w="38100">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7BDA67FB-A6B8-853C-B80D-6AB7C8D0D122}"/>
              </a:ext>
            </a:extLst>
          </p:cNvPr>
          <p:cNvSpPr/>
          <p:nvPr/>
        </p:nvSpPr>
        <p:spPr>
          <a:xfrm>
            <a:off x="4257291" y="1297893"/>
            <a:ext cx="373797" cy="373797"/>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accent6">
                    <a:lumMod val="50000"/>
                  </a:schemeClr>
                </a:solidFill>
                <a:latin typeface="字由文艺黑" panose="00020600040101010101" pitchFamily="18" charset="-122"/>
                <a:ea typeface="字由文艺黑" panose="00020600040101010101" pitchFamily="18" charset="-122"/>
              </a:rPr>
              <a:t>1</a:t>
            </a:r>
            <a:endParaRPr lang="zh-CN" altLang="en-US" sz="2000">
              <a:solidFill>
                <a:schemeClr val="accent6">
                  <a:lumMod val="50000"/>
                </a:schemeClr>
              </a:solidFill>
              <a:latin typeface="字由文艺黑" panose="00020600040101010101" pitchFamily="18" charset="-122"/>
              <a:ea typeface="字由文艺黑" panose="00020600040101010101" pitchFamily="18" charset="-122"/>
            </a:endParaRPr>
          </a:p>
        </p:txBody>
      </p:sp>
      <p:sp>
        <p:nvSpPr>
          <p:cNvPr id="66" name="椭圆 65">
            <a:extLst>
              <a:ext uri="{FF2B5EF4-FFF2-40B4-BE49-F238E27FC236}">
                <a16:creationId xmlns:a16="http://schemas.microsoft.com/office/drawing/2014/main" id="{80D09280-D762-BB2E-0F93-7A2811201AE9}"/>
              </a:ext>
            </a:extLst>
          </p:cNvPr>
          <p:cNvSpPr/>
          <p:nvPr/>
        </p:nvSpPr>
        <p:spPr>
          <a:xfrm>
            <a:off x="5546604" y="3572608"/>
            <a:ext cx="373797" cy="373797"/>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accent6">
                    <a:lumMod val="50000"/>
                  </a:schemeClr>
                </a:solidFill>
                <a:latin typeface="字由文艺黑" panose="00020600040101010101" pitchFamily="18" charset="-122"/>
                <a:ea typeface="字由文艺黑" panose="00020600040101010101" pitchFamily="18" charset="-122"/>
              </a:rPr>
              <a:t>2</a:t>
            </a:r>
            <a:endParaRPr lang="zh-CN" altLang="en-US" sz="2000">
              <a:solidFill>
                <a:schemeClr val="accent6">
                  <a:lumMod val="50000"/>
                </a:schemeClr>
              </a:solidFill>
              <a:latin typeface="字由文艺黑" panose="00020600040101010101" pitchFamily="18" charset="-122"/>
              <a:ea typeface="字由文艺黑" panose="00020600040101010101" pitchFamily="18" charset="-122"/>
            </a:endParaRPr>
          </a:p>
        </p:txBody>
      </p:sp>
      <p:sp>
        <p:nvSpPr>
          <p:cNvPr id="67" name="椭圆 66">
            <a:extLst>
              <a:ext uri="{FF2B5EF4-FFF2-40B4-BE49-F238E27FC236}">
                <a16:creationId xmlns:a16="http://schemas.microsoft.com/office/drawing/2014/main" id="{E39654ED-7C6E-8EAE-ABAD-ED76E01C2564}"/>
              </a:ext>
            </a:extLst>
          </p:cNvPr>
          <p:cNvSpPr/>
          <p:nvPr/>
        </p:nvSpPr>
        <p:spPr>
          <a:xfrm>
            <a:off x="11217361" y="3463950"/>
            <a:ext cx="373797" cy="373797"/>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accent6">
                    <a:lumMod val="50000"/>
                  </a:schemeClr>
                </a:solidFill>
                <a:latin typeface="字由文艺黑" panose="00020600040101010101" pitchFamily="18" charset="-122"/>
                <a:ea typeface="字由文艺黑" panose="00020600040101010101" pitchFamily="18" charset="-122"/>
              </a:rPr>
              <a:t>3</a:t>
            </a:r>
            <a:endParaRPr lang="zh-CN" altLang="en-US" sz="2000">
              <a:solidFill>
                <a:schemeClr val="accent6">
                  <a:lumMod val="50000"/>
                </a:schemeClr>
              </a:solidFill>
              <a:latin typeface="字由文艺黑" panose="00020600040101010101" pitchFamily="18" charset="-122"/>
              <a:ea typeface="字由文艺黑" panose="00020600040101010101" pitchFamily="18" charset="-122"/>
            </a:endParaRPr>
          </a:p>
        </p:txBody>
      </p:sp>
      <p:sp>
        <p:nvSpPr>
          <p:cNvPr id="68" name="椭圆 67">
            <a:extLst>
              <a:ext uri="{FF2B5EF4-FFF2-40B4-BE49-F238E27FC236}">
                <a16:creationId xmlns:a16="http://schemas.microsoft.com/office/drawing/2014/main" id="{2BC9BAA7-D5CA-19E8-CFF8-0F8C29CFA45B}"/>
              </a:ext>
            </a:extLst>
          </p:cNvPr>
          <p:cNvSpPr/>
          <p:nvPr/>
        </p:nvSpPr>
        <p:spPr>
          <a:xfrm>
            <a:off x="11190790" y="1592356"/>
            <a:ext cx="373797" cy="373797"/>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accent6">
                    <a:lumMod val="50000"/>
                  </a:schemeClr>
                </a:solidFill>
                <a:latin typeface="字由文艺黑" panose="00020600040101010101" pitchFamily="18" charset="-122"/>
                <a:ea typeface="字由文艺黑" panose="00020600040101010101" pitchFamily="18" charset="-122"/>
              </a:rPr>
              <a:t>4</a:t>
            </a:r>
            <a:endParaRPr lang="zh-CN" altLang="en-US" sz="2000">
              <a:solidFill>
                <a:schemeClr val="accent6">
                  <a:lumMod val="50000"/>
                </a:schemeClr>
              </a:solidFill>
              <a:latin typeface="字由文艺黑" panose="00020600040101010101" pitchFamily="18" charset="-122"/>
              <a:ea typeface="字由文艺黑" panose="00020600040101010101" pitchFamily="18" charset="-122"/>
            </a:endParaRPr>
          </a:p>
        </p:txBody>
      </p:sp>
    </p:spTree>
    <p:extLst>
      <p:ext uri="{BB962C8B-B14F-4D97-AF65-F5344CB8AC3E}">
        <p14:creationId xmlns:p14="http://schemas.microsoft.com/office/powerpoint/2010/main" val="3338637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a:extLst>
              <a:ext uri="{FF2B5EF4-FFF2-40B4-BE49-F238E27FC236}">
                <a16:creationId xmlns:a16="http://schemas.microsoft.com/office/drawing/2014/main" id="{10201DF2-791C-F47E-690A-A6134DBFD459}"/>
              </a:ext>
            </a:extLst>
          </p:cNvPr>
          <p:cNvCxnSpPr>
            <a:cxnSpLocks/>
          </p:cNvCxnSpPr>
          <p:nvPr/>
        </p:nvCxnSpPr>
        <p:spPr>
          <a:xfrm>
            <a:off x="5647334" y="1376218"/>
            <a:ext cx="0" cy="5481782"/>
          </a:xfrm>
          <a:prstGeom prst="line">
            <a:avLst/>
          </a:prstGeom>
          <a:ln w="76200">
            <a:solidFill>
              <a:schemeClr val="accent6">
                <a:alpha val="61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E58C28B1-9162-DB73-9E87-A449C89B4D77}"/>
              </a:ext>
            </a:extLst>
          </p:cNvPr>
          <p:cNvSpPr/>
          <p:nvPr/>
        </p:nvSpPr>
        <p:spPr>
          <a:xfrm>
            <a:off x="2879445" y="397541"/>
            <a:ext cx="1121055" cy="276999"/>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99706BE-2482-312A-63F7-1769E04248BF}"/>
              </a:ext>
            </a:extLst>
          </p:cNvPr>
          <p:cNvSpPr txBox="1"/>
          <p:nvPr/>
        </p:nvSpPr>
        <p:spPr>
          <a:xfrm>
            <a:off x="379775" y="148719"/>
            <a:ext cx="2267712" cy="830997"/>
          </a:xfrm>
          <a:prstGeom prst="rect">
            <a:avLst/>
          </a:prstGeom>
          <a:noFill/>
        </p:spPr>
        <p:txBody>
          <a:bodyPr wrap="square" rtlCol="0">
            <a:spAutoFit/>
          </a:bodyPr>
          <a:lstStyle/>
          <a:p>
            <a:r>
              <a:rPr lang="zh-CN" altLang="en-US" sz="4800">
                <a:latin typeface="三极泼墨体" panose="00000500000000000000" pitchFamily="2" charset="-122"/>
                <a:ea typeface="三极泼墨体" panose="00000500000000000000" pitchFamily="2" charset="-122"/>
              </a:rPr>
              <a:t>熵权法</a:t>
            </a:r>
          </a:p>
        </p:txBody>
      </p:sp>
      <p:sp>
        <p:nvSpPr>
          <p:cNvPr id="8" name="文本框 7">
            <a:extLst>
              <a:ext uri="{FF2B5EF4-FFF2-40B4-BE49-F238E27FC236}">
                <a16:creationId xmlns:a16="http://schemas.microsoft.com/office/drawing/2014/main" id="{29EFBA87-34CA-59E3-957C-21316DDEDB5B}"/>
              </a:ext>
            </a:extLst>
          </p:cNvPr>
          <p:cNvSpPr txBox="1"/>
          <p:nvPr/>
        </p:nvSpPr>
        <p:spPr>
          <a:xfrm>
            <a:off x="2675534" y="709978"/>
            <a:ext cx="3703320" cy="369332"/>
          </a:xfrm>
          <a:prstGeom prst="rect">
            <a:avLst/>
          </a:prstGeom>
          <a:noFill/>
        </p:spPr>
        <p:txBody>
          <a:bodyPr wrap="square">
            <a:spAutoFit/>
          </a:bodyPr>
          <a:lstStyle/>
          <a:p>
            <a:r>
              <a:rPr lang="en-US" altLang="zh-CN">
                <a:latin typeface="CommercialScript BT" panose="03030803040807090C04" pitchFamily="66" charset="0"/>
              </a:rPr>
              <a:t>Entropy Weight  Method </a:t>
            </a:r>
            <a:r>
              <a:rPr lang="en-US" altLang="zh-CN">
                <a:latin typeface="Aharoni" panose="02010803020104030203" pitchFamily="2" charset="-79"/>
                <a:cs typeface="Aharoni" panose="02010803020104030203" pitchFamily="2" charset="-79"/>
              </a:rPr>
              <a:t> (EWM) </a:t>
            </a:r>
            <a:endParaRPr lang="zh-CN" altLang="en-US">
              <a:latin typeface="CommercialScript BT" panose="03030803040807090C04" pitchFamily="66" charset="0"/>
            </a:endParaRPr>
          </a:p>
        </p:txBody>
      </p:sp>
      <p:sp>
        <p:nvSpPr>
          <p:cNvPr id="12" name="文本框 11">
            <a:extLst>
              <a:ext uri="{FF2B5EF4-FFF2-40B4-BE49-F238E27FC236}">
                <a16:creationId xmlns:a16="http://schemas.microsoft.com/office/drawing/2014/main" id="{68ED5FF8-95CD-930A-C297-D79D33AA118F}"/>
              </a:ext>
            </a:extLst>
          </p:cNvPr>
          <p:cNvSpPr txBox="1"/>
          <p:nvPr/>
        </p:nvSpPr>
        <p:spPr>
          <a:xfrm>
            <a:off x="2879445" y="379902"/>
            <a:ext cx="1121054"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客观赋权方法</a:t>
            </a:r>
          </a:p>
        </p:txBody>
      </p:sp>
      <p:pic>
        <p:nvPicPr>
          <p:cNvPr id="15" name="图片 14">
            <a:extLst>
              <a:ext uri="{FF2B5EF4-FFF2-40B4-BE49-F238E27FC236}">
                <a16:creationId xmlns:a16="http://schemas.microsoft.com/office/drawing/2014/main" id="{EF6593CC-95C9-2502-39C1-57263D857BCF}"/>
              </a:ext>
            </a:extLst>
          </p:cNvPr>
          <p:cNvPicPr>
            <a:picLocks noChangeAspect="1"/>
          </p:cNvPicPr>
          <p:nvPr/>
        </p:nvPicPr>
        <p:blipFill>
          <a:blip r:embed="rId2"/>
          <a:stretch>
            <a:fillRect/>
          </a:stretch>
        </p:blipFill>
        <p:spPr>
          <a:xfrm>
            <a:off x="1633078" y="1760938"/>
            <a:ext cx="2451226" cy="1771741"/>
          </a:xfrm>
          <a:prstGeom prst="rect">
            <a:avLst/>
          </a:prstGeom>
        </p:spPr>
      </p:pic>
      <p:pic>
        <p:nvPicPr>
          <p:cNvPr id="16" name="图片 15">
            <a:extLst>
              <a:ext uri="{FF2B5EF4-FFF2-40B4-BE49-F238E27FC236}">
                <a16:creationId xmlns:a16="http://schemas.microsoft.com/office/drawing/2014/main" id="{94AB60A5-01A8-3057-5340-F56230169156}"/>
              </a:ext>
            </a:extLst>
          </p:cNvPr>
          <p:cNvPicPr>
            <a:picLocks noChangeAspect="1"/>
          </p:cNvPicPr>
          <p:nvPr/>
        </p:nvPicPr>
        <p:blipFill>
          <a:blip r:embed="rId3"/>
          <a:stretch>
            <a:fillRect/>
          </a:stretch>
        </p:blipFill>
        <p:spPr>
          <a:xfrm>
            <a:off x="1543507" y="3742746"/>
            <a:ext cx="1631290" cy="710661"/>
          </a:xfrm>
          <a:prstGeom prst="rect">
            <a:avLst/>
          </a:prstGeom>
        </p:spPr>
      </p:pic>
      <p:pic>
        <p:nvPicPr>
          <p:cNvPr id="18" name="图片 17">
            <a:extLst>
              <a:ext uri="{FF2B5EF4-FFF2-40B4-BE49-F238E27FC236}">
                <a16:creationId xmlns:a16="http://schemas.microsoft.com/office/drawing/2014/main" id="{AB97540D-DF78-3F3E-4DC5-A243D42CF12D}"/>
              </a:ext>
            </a:extLst>
          </p:cNvPr>
          <p:cNvPicPr>
            <a:picLocks noChangeAspect="1"/>
          </p:cNvPicPr>
          <p:nvPr/>
        </p:nvPicPr>
        <p:blipFill>
          <a:blip r:embed="rId4"/>
          <a:stretch>
            <a:fillRect/>
          </a:stretch>
        </p:blipFill>
        <p:spPr>
          <a:xfrm>
            <a:off x="1398472" y="4593597"/>
            <a:ext cx="3977120" cy="493957"/>
          </a:xfrm>
          <a:prstGeom prst="rect">
            <a:avLst/>
          </a:prstGeom>
        </p:spPr>
      </p:pic>
      <p:pic>
        <p:nvPicPr>
          <p:cNvPr id="20" name="图片 19">
            <a:extLst>
              <a:ext uri="{FF2B5EF4-FFF2-40B4-BE49-F238E27FC236}">
                <a16:creationId xmlns:a16="http://schemas.microsoft.com/office/drawing/2014/main" id="{8B1C501A-9B7F-CF9E-8959-F40B6A368C34}"/>
              </a:ext>
            </a:extLst>
          </p:cNvPr>
          <p:cNvPicPr>
            <a:picLocks noChangeAspect="1"/>
          </p:cNvPicPr>
          <p:nvPr/>
        </p:nvPicPr>
        <p:blipFill>
          <a:blip r:embed="rId5"/>
          <a:stretch>
            <a:fillRect/>
          </a:stretch>
        </p:blipFill>
        <p:spPr>
          <a:xfrm>
            <a:off x="7925555" y="1760938"/>
            <a:ext cx="2324219" cy="1797142"/>
          </a:xfrm>
          <a:prstGeom prst="rect">
            <a:avLst/>
          </a:prstGeom>
        </p:spPr>
      </p:pic>
      <p:pic>
        <p:nvPicPr>
          <p:cNvPr id="22" name="图片 21">
            <a:extLst>
              <a:ext uri="{FF2B5EF4-FFF2-40B4-BE49-F238E27FC236}">
                <a16:creationId xmlns:a16="http://schemas.microsoft.com/office/drawing/2014/main" id="{7B2C0032-F8A4-CAF6-128B-C5B579C7F833}"/>
              </a:ext>
            </a:extLst>
          </p:cNvPr>
          <p:cNvPicPr>
            <a:picLocks noChangeAspect="1"/>
          </p:cNvPicPr>
          <p:nvPr/>
        </p:nvPicPr>
        <p:blipFill>
          <a:blip r:embed="rId6"/>
          <a:stretch>
            <a:fillRect/>
          </a:stretch>
        </p:blipFill>
        <p:spPr>
          <a:xfrm>
            <a:off x="7016482" y="3550508"/>
            <a:ext cx="1121467" cy="823051"/>
          </a:xfrm>
          <a:prstGeom prst="rect">
            <a:avLst/>
          </a:prstGeom>
        </p:spPr>
      </p:pic>
      <p:graphicFrame>
        <p:nvGraphicFramePr>
          <p:cNvPr id="23" name="对象 22">
            <a:extLst>
              <a:ext uri="{FF2B5EF4-FFF2-40B4-BE49-F238E27FC236}">
                <a16:creationId xmlns:a16="http://schemas.microsoft.com/office/drawing/2014/main" id="{57EB7289-D855-85D4-32D6-671C7E8BE64A}"/>
              </a:ext>
            </a:extLst>
          </p:cNvPr>
          <p:cNvGraphicFramePr>
            <a:graphicFrameLocks noChangeAspect="1"/>
          </p:cNvGraphicFramePr>
          <p:nvPr>
            <p:extLst>
              <p:ext uri="{D42A27DB-BD31-4B8C-83A1-F6EECF244321}">
                <p14:modId xmlns:p14="http://schemas.microsoft.com/office/powerpoint/2010/main" val="3070278665"/>
              </p:ext>
            </p:extLst>
          </p:nvPr>
        </p:nvGraphicFramePr>
        <p:xfrm>
          <a:off x="6575943" y="4470460"/>
          <a:ext cx="5505908" cy="641808"/>
        </p:xfrm>
        <a:graphic>
          <a:graphicData uri="http://schemas.openxmlformats.org/presentationml/2006/ole">
            <mc:AlternateContent xmlns:mc="http://schemas.openxmlformats.org/markup-compatibility/2006">
              <mc:Choice xmlns:v="urn:schemas-microsoft-com:vml" Requires="v">
                <p:oleObj name="AxMath" r:id="rId7" imgW="3458520" imgH="403200" progId="Equation.AxMath">
                  <p:embed/>
                </p:oleObj>
              </mc:Choice>
              <mc:Fallback>
                <p:oleObj name="AxMath" r:id="rId7" imgW="3458520" imgH="403200" progId="Equation.AxMath">
                  <p:embed/>
                  <p:pic>
                    <p:nvPicPr>
                      <p:cNvPr id="0" name=""/>
                      <p:cNvPicPr/>
                      <p:nvPr/>
                    </p:nvPicPr>
                    <p:blipFill>
                      <a:blip r:embed="rId8"/>
                      <a:stretch>
                        <a:fillRect/>
                      </a:stretch>
                    </p:blipFill>
                    <p:spPr>
                      <a:xfrm>
                        <a:off x="6575943" y="4470460"/>
                        <a:ext cx="5505908" cy="641808"/>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429F5DA6-073B-37AC-FC42-081B332F8574}"/>
              </a:ext>
            </a:extLst>
          </p:cNvPr>
          <p:cNvGraphicFramePr>
            <a:graphicFrameLocks noChangeAspect="1"/>
          </p:cNvGraphicFramePr>
          <p:nvPr>
            <p:extLst>
              <p:ext uri="{D42A27DB-BD31-4B8C-83A1-F6EECF244321}">
                <p14:modId xmlns:p14="http://schemas.microsoft.com/office/powerpoint/2010/main" val="1874486888"/>
              </p:ext>
            </p:extLst>
          </p:nvPr>
        </p:nvGraphicFramePr>
        <p:xfrm>
          <a:off x="6575943" y="4961603"/>
          <a:ext cx="2062887" cy="308661"/>
        </p:xfrm>
        <a:graphic>
          <a:graphicData uri="http://schemas.openxmlformats.org/presentationml/2006/ole">
            <mc:AlternateContent xmlns:mc="http://schemas.openxmlformats.org/markup-compatibility/2006">
              <mc:Choice xmlns:v="urn:schemas-microsoft-com:vml" Requires="v">
                <p:oleObj name="AxMath" r:id="rId9" imgW="1272960" imgH="190800" progId="Equation.AxMath">
                  <p:embed/>
                </p:oleObj>
              </mc:Choice>
              <mc:Fallback>
                <p:oleObj name="AxMath" r:id="rId9" imgW="1272960" imgH="190800" progId="Equation.AxMath">
                  <p:embed/>
                  <p:pic>
                    <p:nvPicPr>
                      <p:cNvPr id="0" name=""/>
                      <p:cNvPicPr/>
                      <p:nvPr/>
                    </p:nvPicPr>
                    <p:blipFill>
                      <a:blip r:embed="rId10"/>
                      <a:stretch>
                        <a:fillRect/>
                      </a:stretch>
                    </p:blipFill>
                    <p:spPr>
                      <a:xfrm>
                        <a:off x="6575943" y="4961603"/>
                        <a:ext cx="2062887" cy="308661"/>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8E5091BD-8098-2A0E-FE33-9C3C5A93CF15}"/>
              </a:ext>
            </a:extLst>
          </p:cNvPr>
          <p:cNvGraphicFramePr>
            <a:graphicFrameLocks noChangeAspect="1"/>
          </p:cNvGraphicFramePr>
          <p:nvPr>
            <p:extLst>
              <p:ext uri="{D42A27DB-BD31-4B8C-83A1-F6EECF244321}">
                <p14:modId xmlns:p14="http://schemas.microsoft.com/office/powerpoint/2010/main" val="2700949676"/>
              </p:ext>
            </p:extLst>
          </p:nvPr>
        </p:nvGraphicFramePr>
        <p:xfrm>
          <a:off x="6575943" y="5144017"/>
          <a:ext cx="4355255" cy="634673"/>
        </p:xfrm>
        <a:graphic>
          <a:graphicData uri="http://schemas.openxmlformats.org/presentationml/2006/ole">
            <mc:AlternateContent xmlns:mc="http://schemas.openxmlformats.org/markup-compatibility/2006">
              <mc:Choice xmlns:v="urn:schemas-microsoft-com:vml" Requires="v">
                <p:oleObj name="AxMath" r:id="rId11" imgW="2766240" imgH="403200" progId="Equation.AxMath">
                  <p:embed/>
                </p:oleObj>
              </mc:Choice>
              <mc:Fallback>
                <p:oleObj name="AxMath" r:id="rId11" imgW="2766240" imgH="403200" progId="Equation.AxMath">
                  <p:embed/>
                  <p:pic>
                    <p:nvPicPr>
                      <p:cNvPr id="0" name=""/>
                      <p:cNvPicPr/>
                      <p:nvPr/>
                    </p:nvPicPr>
                    <p:blipFill>
                      <a:blip r:embed="rId12"/>
                      <a:stretch>
                        <a:fillRect/>
                      </a:stretch>
                    </p:blipFill>
                    <p:spPr>
                      <a:xfrm>
                        <a:off x="6575943" y="5144017"/>
                        <a:ext cx="4355255" cy="634673"/>
                      </a:xfrm>
                      <a:prstGeom prst="rect">
                        <a:avLst/>
                      </a:prstGeom>
                    </p:spPr>
                  </p:pic>
                </p:oleObj>
              </mc:Fallback>
            </mc:AlternateContent>
          </a:graphicData>
        </a:graphic>
      </p:graphicFrame>
      <p:sp>
        <p:nvSpPr>
          <p:cNvPr id="29" name="文本框 28">
            <a:extLst>
              <a:ext uri="{FF2B5EF4-FFF2-40B4-BE49-F238E27FC236}">
                <a16:creationId xmlns:a16="http://schemas.microsoft.com/office/drawing/2014/main" id="{D0E6E1AC-F945-8C96-5F40-2247F9B500C6}"/>
              </a:ext>
            </a:extLst>
          </p:cNvPr>
          <p:cNvSpPr txBox="1"/>
          <p:nvPr/>
        </p:nvSpPr>
        <p:spPr>
          <a:xfrm>
            <a:off x="4015057" y="379902"/>
            <a:ext cx="2780598"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根据指标变异性的大小来确定</a:t>
            </a:r>
            <a:r>
              <a:rPr lang="zh-CN" altLang="en-US" sz="1200">
                <a:solidFill>
                  <a:srgbClr val="FF0000"/>
                </a:solidFill>
                <a:latin typeface="楷体" panose="02010609060101010101" pitchFamily="49" charset="-122"/>
                <a:ea typeface="楷体" panose="02010609060101010101" pitchFamily="49" charset="-122"/>
              </a:rPr>
              <a:t>客观权重</a:t>
            </a:r>
          </a:p>
        </p:txBody>
      </p:sp>
      <p:sp>
        <p:nvSpPr>
          <p:cNvPr id="30" name="文本框 29">
            <a:extLst>
              <a:ext uri="{FF2B5EF4-FFF2-40B4-BE49-F238E27FC236}">
                <a16:creationId xmlns:a16="http://schemas.microsoft.com/office/drawing/2014/main" id="{F0520908-232D-1B24-F6C3-D345FEB85921}"/>
              </a:ext>
            </a:extLst>
          </p:cNvPr>
          <p:cNvSpPr txBox="1"/>
          <p:nvPr/>
        </p:nvSpPr>
        <p:spPr>
          <a:xfrm>
            <a:off x="265134" y="2420973"/>
            <a:ext cx="1367944" cy="369332"/>
          </a:xfrm>
          <a:prstGeom prst="rect">
            <a:avLst/>
          </a:prstGeom>
          <a:noFill/>
        </p:spPr>
        <p:txBody>
          <a:bodyPr wrap="square" rtlCol="0">
            <a:spAutoFit/>
          </a:bodyPr>
          <a:lstStyle/>
          <a:p>
            <a:r>
              <a:rPr lang="zh-CN" altLang="en-US" b="1">
                <a:latin typeface="楷体" panose="02010609060101010101" pitchFamily="49" charset="-122"/>
                <a:ea typeface="楷体" panose="02010609060101010101" pitchFamily="49" charset="-122"/>
              </a:rPr>
              <a:t>正向化</a:t>
            </a:r>
            <a:r>
              <a:rPr lang="zh-CN" altLang="en-US">
                <a:latin typeface="楷体" panose="02010609060101010101" pitchFamily="49" charset="-122"/>
                <a:ea typeface="楷体" panose="02010609060101010101" pitchFamily="49" charset="-122"/>
              </a:rPr>
              <a:t>矩阵：</a:t>
            </a:r>
          </a:p>
        </p:txBody>
      </p:sp>
      <p:sp>
        <p:nvSpPr>
          <p:cNvPr id="31" name="文本框 30">
            <a:extLst>
              <a:ext uri="{FF2B5EF4-FFF2-40B4-BE49-F238E27FC236}">
                <a16:creationId xmlns:a16="http://schemas.microsoft.com/office/drawing/2014/main" id="{03A65EF0-86F1-D2A5-ABC8-B56E297E5C89}"/>
              </a:ext>
            </a:extLst>
          </p:cNvPr>
          <p:cNvSpPr txBox="1"/>
          <p:nvPr/>
        </p:nvSpPr>
        <p:spPr>
          <a:xfrm>
            <a:off x="6557611" y="2473448"/>
            <a:ext cx="1367944" cy="369332"/>
          </a:xfrm>
          <a:prstGeom prst="rect">
            <a:avLst/>
          </a:prstGeom>
          <a:noFill/>
        </p:spPr>
        <p:txBody>
          <a:bodyPr wrap="square" rtlCol="0">
            <a:spAutoFit/>
          </a:bodyPr>
          <a:lstStyle/>
          <a:p>
            <a:r>
              <a:rPr lang="zh-CN" altLang="en-US" b="1">
                <a:latin typeface="楷体" panose="02010609060101010101" pitchFamily="49" charset="-122"/>
                <a:ea typeface="楷体" panose="02010609060101010101" pitchFamily="49" charset="-122"/>
              </a:rPr>
              <a:t>标准化</a:t>
            </a:r>
            <a:r>
              <a:rPr lang="zh-CN" altLang="en-US">
                <a:latin typeface="楷体" panose="02010609060101010101" pitchFamily="49" charset="-122"/>
                <a:ea typeface="楷体" panose="02010609060101010101" pitchFamily="49" charset="-122"/>
              </a:rPr>
              <a:t>矩阵：</a:t>
            </a:r>
          </a:p>
        </p:txBody>
      </p:sp>
      <p:sp>
        <p:nvSpPr>
          <p:cNvPr id="32" name="文本框 31">
            <a:extLst>
              <a:ext uri="{FF2B5EF4-FFF2-40B4-BE49-F238E27FC236}">
                <a16:creationId xmlns:a16="http://schemas.microsoft.com/office/drawing/2014/main" id="{88983083-8C96-DBDE-029B-AA2DF2462F54}"/>
              </a:ext>
            </a:extLst>
          </p:cNvPr>
          <p:cNvSpPr txBox="1"/>
          <p:nvPr/>
        </p:nvSpPr>
        <p:spPr>
          <a:xfrm>
            <a:off x="70731" y="3959576"/>
            <a:ext cx="1402043"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常用标准化公式：</a:t>
            </a:r>
          </a:p>
        </p:txBody>
      </p:sp>
      <p:sp>
        <p:nvSpPr>
          <p:cNvPr id="33" name="文本框 32">
            <a:extLst>
              <a:ext uri="{FF2B5EF4-FFF2-40B4-BE49-F238E27FC236}">
                <a16:creationId xmlns:a16="http://schemas.microsoft.com/office/drawing/2014/main" id="{C19588CE-CAC5-2DD7-703D-F05E0AF6D96D}"/>
              </a:ext>
            </a:extLst>
          </p:cNvPr>
          <p:cNvSpPr txBox="1"/>
          <p:nvPr/>
        </p:nvSpPr>
        <p:spPr>
          <a:xfrm>
            <a:off x="0" y="4725186"/>
            <a:ext cx="1543507"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含</a:t>
            </a:r>
            <a:r>
              <a:rPr lang="zh-CN" altLang="en-US" sz="1200">
                <a:solidFill>
                  <a:srgbClr val="FF0000"/>
                </a:solidFill>
                <a:latin typeface="楷体" panose="02010609060101010101" pitchFamily="49" charset="-122"/>
                <a:ea typeface="楷体" panose="02010609060101010101" pitchFamily="49" charset="-122"/>
              </a:rPr>
              <a:t>负数</a:t>
            </a:r>
            <a:r>
              <a:rPr lang="zh-CN" altLang="en-US" sz="1200">
                <a:latin typeface="楷体" panose="02010609060101010101" pitchFamily="49" charset="-122"/>
                <a:ea typeface="楷体" panose="02010609060101010101" pitchFamily="49" charset="-122"/>
              </a:rPr>
              <a:t>标准化公式：</a:t>
            </a:r>
          </a:p>
        </p:txBody>
      </p:sp>
      <p:sp>
        <p:nvSpPr>
          <p:cNvPr id="34" name="箭头: 右 33">
            <a:extLst>
              <a:ext uri="{FF2B5EF4-FFF2-40B4-BE49-F238E27FC236}">
                <a16:creationId xmlns:a16="http://schemas.microsoft.com/office/drawing/2014/main" id="{A1ED0E69-14A1-C352-5B83-AD5D7248EDDD}"/>
              </a:ext>
            </a:extLst>
          </p:cNvPr>
          <p:cNvSpPr/>
          <p:nvPr/>
        </p:nvSpPr>
        <p:spPr>
          <a:xfrm>
            <a:off x="4797420" y="2191365"/>
            <a:ext cx="1699827" cy="945331"/>
          </a:xfrm>
          <a:prstGeom prst="rightArrow">
            <a:avLst/>
          </a:prstGeom>
          <a:solidFill>
            <a:schemeClr val="accent6">
              <a:lumMod val="40000"/>
              <a:lumOff val="6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a:extLst>
              <a:ext uri="{FF2B5EF4-FFF2-40B4-BE49-F238E27FC236}">
                <a16:creationId xmlns:a16="http://schemas.microsoft.com/office/drawing/2014/main" id="{A58CC4BF-5ED7-698A-BC86-BA982CA378F9}"/>
              </a:ext>
            </a:extLst>
          </p:cNvPr>
          <p:cNvCxnSpPr/>
          <p:nvPr/>
        </p:nvCxnSpPr>
        <p:spPr>
          <a:xfrm>
            <a:off x="4056595" y="656901"/>
            <a:ext cx="266747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47C7EC3-AD85-1A93-73B5-1072064E3AFF}"/>
              </a:ext>
            </a:extLst>
          </p:cNvPr>
          <p:cNvCxnSpPr>
            <a:cxnSpLocks/>
          </p:cNvCxnSpPr>
          <p:nvPr/>
        </p:nvCxnSpPr>
        <p:spPr>
          <a:xfrm>
            <a:off x="50452" y="1311143"/>
            <a:ext cx="12159673" cy="0"/>
          </a:xfrm>
          <a:prstGeom prst="line">
            <a:avLst/>
          </a:prstGeom>
          <a:ln w="76200">
            <a:solidFill>
              <a:schemeClr val="accent6">
                <a:alpha val="61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63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圆角 87">
            <a:extLst>
              <a:ext uri="{FF2B5EF4-FFF2-40B4-BE49-F238E27FC236}">
                <a16:creationId xmlns:a16="http://schemas.microsoft.com/office/drawing/2014/main" id="{7420C4FA-F543-42E7-160A-11D0EC11F2C9}"/>
              </a:ext>
            </a:extLst>
          </p:cNvPr>
          <p:cNvSpPr/>
          <p:nvPr/>
        </p:nvSpPr>
        <p:spPr>
          <a:xfrm>
            <a:off x="6376257" y="5402246"/>
            <a:ext cx="5591410" cy="1033123"/>
          </a:xfrm>
          <a:prstGeom prst="roundRect">
            <a:avLst/>
          </a:prstGeom>
          <a:solidFill>
            <a:srgbClr val="F1F8EC"/>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对话气泡: 矩形 70">
            <a:extLst>
              <a:ext uri="{FF2B5EF4-FFF2-40B4-BE49-F238E27FC236}">
                <a16:creationId xmlns:a16="http://schemas.microsoft.com/office/drawing/2014/main" id="{57128A9B-34CE-BAFB-6411-EB7FCFCA036B}"/>
              </a:ext>
            </a:extLst>
          </p:cNvPr>
          <p:cNvSpPr/>
          <p:nvPr/>
        </p:nvSpPr>
        <p:spPr>
          <a:xfrm rot="10800000">
            <a:off x="8849736" y="3575091"/>
            <a:ext cx="2864875" cy="439413"/>
          </a:xfrm>
          <a:prstGeom prst="wedgeRectCallout">
            <a:avLst>
              <a:gd name="adj1" fmla="val -23364"/>
              <a:gd name="adj2" fmla="val 109468"/>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圆角 63">
            <a:extLst>
              <a:ext uri="{FF2B5EF4-FFF2-40B4-BE49-F238E27FC236}">
                <a16:creationId xmlns:a16="http://schemas.microsoft.com/office/drawing/2014/main" id="{1C529A16-63F0-7C68-7ADB-332C7D767B94}"/>
              </a:ext>
            </a:extLst>
          </p:cNvPr>
          <p:cNvSpPr/>
          <p:nvPr/>
        </p:nvSpPr>
        <p:spPr>
          <a:xfrm>
            <a:off x="397820" y="4882488"/>
            <a:ext cx="728151" cy="25015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a:extLst>
              <a:ext uri="{FF2B5EF4-FFF2-40B4-BE49-F238E27FC236}">
                <a16:creationId xmlns:a16="http://schemas.microsoft.com/office/drawing/2014/main" id="{03441180-7610-3812-4E9F-B89D28918D5C}"/>
              </a:ext>
            </a:extLst>
          </p:cNvPr>
          <p:cNvSpPr/>
          <p:nvPr/>
        </p:nvSpPr>
        <p:spPr>
          <a:xfrm>
            <a:off x="7525343" y="961993"/>
            <a:ext cx="728151" cy="25015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FC481985-2307-6B89-0F9D-E9E5C404B8AD}"/>
              </a:ext>
            </a:extLst>
          </p:cNvPr>
          <p:cNvSpPr/>
          <p:nvPr/>
        </p:nvSpPr>
        <p:spPr>
          <a:xfrm>
            <a:off x="345967" y="2516429"/>
            <a:ext cx="728151" cy="250157"/>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CC07511-0875-61CA-EAFC-E0A50067B21B}"/>
              </a:ext>
            </a:extLst>
          </p:cNvPr>
          <p:cNvSpPr txBox="1"/>
          <p:nvPr/>
        </p:nvSpPr>
        <p:spPr>
          <a:xfrm>
            <a:off x="534521" y="235280"/>
            <a:ext cx="2455460" cy="830997"/>
          </a:xfrm>
          <a:prstGeom prst="rect">
            <a:avLst/>
          </a:prstGeom>
          <a:noFill/>
        </p:spPr>
        <p:txBody>
          <a:bodyPr wrap="square" rtlCol="0">
            <a:spAutoFit/>
          </a:bodyPr>
          <a:lstStyle/>
          <a:p>
            <a:r>
              <a:rPr lang="en-US" altLang="zh-CN" sz="4800">
                <a:latin typeface="三极泼墨体" panose="00000500000000000000" pitchFamily="2" charset="-122"/>
                <a:ea typeface="三极泼墨体" panose="00000500000000000000" pitchFamily="2" charset="-122"/>
              </a:rPr>
              <a:t>TOPSIS</a:t>
            </a:r>
            <a:endParaRPr lang="zh-CN" altLang="en-US" sz="4800">
              <a:latin typeface="三极泼墨体" panose="00000500000000000000" pitchFamily="2" charset="-122"/>
              <a:ea typeface="三极泼墨体" panose="00000500000000000000" pitchFamily="2" charset="-122"/>
            </a:endParaRPr>
          </a:p>
        </p:txBody>
      </p:sp>
      <p:sp>
        <p:nvSpPr>
          <p:cNvPr id="4" name="文本框 3">
            <a:extLst>
              <a:ext uri="{FF2B5EF4-FFF2-40B4-BE49-F238E27FC236}">
                <a16:creationId xmlns:a16="http://schemas.microsoft.com/office/drawing/2014/main" id="{09390947-EE43-08D8-AD0B-1EFE0E66029E}"/>
              </a:ext>
            </a:extLst>
          </p:cNvPr>
          <p:cNvSpPr txBox="1"/>
          <p:nvPr/>
        </p:nvSpPr>
        <p:spPr>
          <a:xfrm>
            <a:off x="2706715" y="540026"/>
            <a:ext cx="6601358" cy="338554"/>
          </a:xfrm>
          <a:prstGeom prst="rect">
            <a:avLst/>
          </a:prstGeom>
          <a:noFill/>
        </p:spPr>
        <p:txBody>
          <a:bodyPr wrap="square">
            <a:spAutoFit/>
          </a:bodyPr>
          <a:lstStyle/>
          <a:p>
            <a:r>
              <a:rPr lang="en-US" altLang="zh-CN" sz="1600" b="0">
                <a:solidFill>
                  <a:srgbClr val="191B1F"/>
                </a:solidFill>
                <a:effectLst/>
                <a:highlight>
                  <a:srgbClr val="FFFFFF"/>
                </a:highlight>
                <a:latin typeface="楷体" panose="02010609060101010101" pitchFamily="49" charset="-122"/>
                <a:ea typeface="楷体" panose="02010609060101010101" pitchFamily="49" charset="-122"/>
              </a:rPr>
              <a:t>(</a:t>
            </a:r>
            <a:r>
              <a:rPr lang="en-US" altLang="zh-CN" sz="1600" b="0">
                <a:solidFill>
                  <a:srgbClr val="191B1F"/>
                </a:solidFill>
                <a:effectLst/>
                <a:highlight>
                  <a:srgbClr val="FFFFFF"/>
                </a:highlight>
                <a:latin typeface="CommercialScript BT" panose="03030803040807090C04" pitchFamily="66" charset="0"/>
                <a:ea typeface="楷体" panose="02010609060101010101" pitchFamily="49" charset="-122"/>
              </a:rPr>
              <a:t>Technique for Order Preference by Similarity to Ideal Solution</a:t>
            </a:r>
            <a:r>
              <a:rPr lang="en-US" altLang="zh-CN" sz="1600" b="0">
                <a:solidFill>
                  <a:srgbClr val="191B1F"/>
                </a:solidFill>
                <a:effectLst/>
                <a:highlight>
                  <a:srgbClr val="FFFFFF"/>
                </a:highlight>
                <a:latin typeface="楷体" panose="02010609060101010101" pitchFamily="49" charset="-122"/>
                <a:ea typeface="楷体" panose="02010609060101010101" pitchFamily="49" charset="-122"/>
              </a:rPr>
              <a:t>)</a:t>
            </a:r>
            <a:r>
              <a:rPr lang="zh-CN" altLang="en-US" sz="1600" b="0">
                <a:solidFill>
                  <a:srgbClr val="191B1F"/>
                </a:solidFill>
                <a:effectLst/>
                <a:highlight>
                  <a:srgbClr val="FFFFFF"/>
                </a:highlight>
                <a:latin typeface="优设标题黑" panose="00000500000000000000" pitchFamily="2" charset="-122"/>
                <a:ea typeface="优设标题黑" panose="00000500000000000000" pitchFamily="2" charset="-122"/>
              </a:rPr>
              <a:t>优劣解距离法</a:t>
            </a:r>
            <a:endParaRPr lang="zh-CN" altLang="en-US" sz="1600">
              <a:latin typeface="优设标题黑" panose="00000500000000000000" pitchFamily="2" charset="-122"/>
              <a:ea typeface="优设标题黑" panose="00000500000000000000" pitchFamily="2" charset="-122"/>
            </a:endParaRPr>
          </a:p>
        </p:txBody>
      </p:sp>
      <p:pic>
        <p:nvPicPr>
          <p:cNvPr id="11" name="图片 10">
            <a:extLst>
              <a:ext uri="{FF2B5EF4-FFF2-40B4-BE49-F238E27FC236}">
                <a16:creationId xmlns:a16="http://schemas.microsoft.com/office/drawing/2014/main" id="{E39A8067-A517-90A2-A6E1-BED4E65165CB}"/>
              </a:ext>
            </a:extLst>
          </p:cNvPr>
          <p:cNvPicPr>
            <a:picLocks noChangeAspect="1"/>
          </p:cNvPicPr>
          <p:nvPr/>
        </p:nvPicPr>
        <p:blipFill>
          <a:blip r:embed="rId2"/>
          <a:stretch>
            <a:fillRect/>
          </a:stretch>
        </p:blipFill>
        <p:spPr>
          <a:xfrm>
            <a:off x="3252817" y="4765881"/>
            <a:ext cx="1182343" cy="515080"/>
          </a:xfrm>
          <a:prstGeom prst="rect">
            <a:avLst/>
          </a:prstGeom>
        </p:spPr>
      </p:pic>
      <p:pic>
        <p:nvPicPr>
          <p:cNvPr id="13" name="图片 12">
            <a:extLst>
              <a:ext uri="{FF2B5EF4-FFF2-40B4-BE49-F238E27FC236}">
                <a16:creationId xmlns:a16="http://schemas.microsoft.com/office/drawing/2014/main" id="{3EC61D9B-B6A0-8732-5284-5656CDE7DF87}"/>
              </a:ext>
            </a:extLst>
          </p:cNvPr>
          <p:cNvPicPr>
            <a:picLocks noChangeAspect="1"/>
          </p:cNvPicPr>
          <p:nvPr/>
        </p:nvPicPr>
        <p:blipFill>
          <a:blip r:embed="rId3"/>
          <a:stretch>
            <a:fillRect/>
          </a:stretch>
        </p:blipFill>
        <p:spPr>
          <a:xfrm>
            <a:off x="269036" y="1055190"/>
            <a:ext cx="3574953" cy="1389982"/>
          </a:xfrm>
          <a:prstGeom prst="rect">
            <a:avLst/>
          </a:prstGeom>
        </p:spPr>
      </p:pic>
      <p:graphicFrame>
        <p:nvGraphicFramePr>
          <p:cNvPr id="14" name="对象 13">
            <a:extLst>
              <a:ext uri="{FF2B5EF4-FFF2-40B4-BE49-F238E27FC236}">
                <a16:creationId xmlns:a16="http://schemas.microsoft.com/office/drawing/2014/main" id="{E8ACB98D-E98B-8746-BAD2-A0E23B895F42}"/>
              </a:ext>
            </a:extLst>
          </p:cNvPr>
          <p:cNvGraphicFramePr>
            <a:graphicFrameLocks noChangeAspect="1"/>
          </p:cNvGraphicFramePr>
          <p:nvPr>
            <p:extLst>
              <p:ext uri="{D42A27DB-BD31-4B8C-83A1-F6EECF244321}">
                <p14:modId xmlns:p14="http://schemas.microsoft.com/office/powerpoint/2010/main" val="285124187"/>
              </p:ext>
            </p:extLst>
          </p:nvPr>
        </p:nvGraphicFramePr>
        <p:xfrm>
          <a:off x="7638952" y="1307931"/>
          <a:ext cx="3678238" cy="325438"/>
        </p:xfrm>
        <a:graphic>
          <a:graphicData uri="http://schemas.openxmlformats.org/presentationml/2006/ole">
            <mc:AlternateContent xmlns:mc="http://schemas.openxmlformats.org/markup-compatibility/2006">
              <mc:Choice xmlns:v="urn:schemas-microsoft-com:vml" Requires="v">
                <p:oleObj name="AxMath" r:id="rId4" imgW="2265840" imgH="199800" progId="Equation.AxMath">
                  <p:embed/>
                </p:oleObj>
              </mc:Choice>
              <mc:Fallback>
                <p:oleObj name="AxMath" r:id="rId4" imgW="2265840" imgH="199800" progId="Equation.AxMath">
                  <p:embed/>
                  <p:pic>
                    <p:nvPicPr>
                      <p:cNvPr id="0" name=""/>
                      <p:cNvPicPr/>
                      <p:nvPr/>
                    </p:nvPicPr>
                    <p:blipFill>
                      <a:blip r:embed="rId5"/>
                      <a:stretch>
                        <a:fillRect/>
                      </a:stretch>
                    </p:blipFill>
                    <p:spPr>
                      <a:xfrm>
                        <a:off x="7638952" y="1307931"/>
                        <a:ext cx="3678238" cy="325438"/>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53BD70DA-0582-0A28-1B85-5B6DE8E004F6}"/>
              </a:ext>
            </a:extLst>
          </p:cNvPr>
          <p:cNvGraphicFramePr>
            <a:graphicFrameLocks noChangeAspect="1"/>
          </p:cNvGraphicFramePr>
          <p:nvPr>
            <p:extLst>
              <p:ext uri="{D42A27DB-BD31-4B8C-83A1-F6EECF244321}">
                <p14:modId xmlns:p14="http://schemas.microsoft.com/office/powerpoint/2010/main" val="3956360482"/>
              </p:ext>
            </p:extLst>
          </p:nvPr>
        </p:nvGraphicFramePr>
        <p:xfrm>
          <a:off x="7638952" y="1589283"/>
          <a:ext cx="3578225" cy="325438"/>
        </p:xfrm>
        <a:graphic>
          <a:graphicData uri="http://schemas.openxmlformats.org/presentationml/2006/ole">
            <mc:AlternateContent xmlns:mc="http://schemas.openxmlformats.org/markup-compatibility/2006">
              <mc:Choice xmlns:v="urn:schemas-microsoft-com:vml" Requires="v">
                <p:oleObj name="AxMath" r:id="rId6" imgW="2201400" imgH="199800" progId="Equation.AxMath">
                  <p:embed/>
                </p:oleObj>
              </mc:Choice>
              <mc:Fallback>
                <p:oleObj name="AxMath" r:id="rId6" imgW="2201400" imgH="199800" progId="Equation.AxMath">
                  <p:embed/>
                  <p:pic>
                    <p:nvPicPr>
                      <p:cNvPr id="14" name="对象 13">
                        <a:extLst>
                          <a:ext uri="{FF2B5EF4-FFF2-40B4-BE49-F238E27FC236}">
                            <a16:creationId xmlns:a16="http://schemas.microsoft.com/office/drawing/2014/main" id="{E8ACB98D-E98B-8746-BAD2-A0E23B895F42}"/>
                          </a:ext>
                        </a:extLst>
                      </p:cNvPr>
                      <p:cNvPicPr/>
                      <p:nvPr/>
                    </p:nvPicPr>
                    <p:blipFill>
                      <a:blip r:embed="rId7"/>
                      <a:stretch>
                        <a:fillRect/>
                      </a:stretch>
                    </p:blipFill>
                    <p:spPr>
                      <a:xfrm>
                        <a:off x="7638952" y="1589283"/>
                        <a:ext cx="3578225" cy="325438"/>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4C51C065-A87B-65B3-9968-5A10D7C2D661}"/>
              </a:ext>
            </a:extLst>
          </p:cNvPr>
          <p:cNvGraphicFramePr>
            <a:graphicFrameLocks noChangeAspect="1"/>
          </p:cNvGraphicFramePr>
          <p:nvPr>
            <p:extLst>
              <p:ext uri="{D42A27DB-BD31-4B8C-83A1-F6EECF244321}">
                <p14:modId xmlns:p14="http://schemas.microsoft.com/office/powerpoint/2010/main" val="3475771096"/>
              </p:ext>
            </p:extLst>
          </p:nvPr>
        </p:nvGraphicFramePr>
        <p:xfrm>
          <a:off x="7625516" y="1845760"/>
          <a:ext cx="4484688" cy="579438"/>
        </p:xfrm>
        <a:graphic>
          <a:graphicData uri="http://schemas.openxmlformats.org/presentationml/2006/ole">
            <mc:AlternateContent xmlns:mc="http://schemas.openxmlformats.org/markup-compatibility/2006">
              <mc:Choice xmlns:v="urn:schemas-microsoft-com:vml" Requires="v">
                <p:oleObj name="AxMath" r:id="rId8" imgW="2998800" imgH="388080" progId="Equation.AxMath">
                  <p:embed/>
                </p:oleObj>
              </mc:Choice>
              <mc:Fallback>
                <p:oleObj name="AxMath" r:id="rId8" imgW="2998800" imgH="388080" progId="Equation.AxMath">
                  <p:embed/>
                  <p:pic>
                    <p:nvPicPr>
                      <p:cNvPr id="0" name=""/>
                      <p:cNvPicPr/>
                      <p:nvPr/>
                    </p:nvPicPr>
                    <p:blipFill>
                      <a:blip r:embed="rId9"/>
                      <a:stretch>
                        <a:fillRect/>
                      </a:stretch>
                    </p:blipFill>
                    <p:spPr>
                      <a:xfrm>
                        <a:off x="7625516" y="1845760"/>
                        <a:ext cx="4484688" cy="579438"/>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A9CE916B-B01B-1571-9597-EC6A992B027D}"/>
              </a:ext>
            </a:extLst>
          </p:cNvPr>
          <p:cNvGraphicFramePr>
            <a:graphicFrameLocks noChangeAspect="1"/>
          </p:cNvGraphicFramePr>
          <p:nvPr>
            <p:extLst>
              <p:ext uri="{D42A27DB-BD31-4B8C-83A1-F6EECF244321}">
                <p14:modId xmlns:p14="http://schemas.microsoft.com/office/powerpoint/2010/main" val="1373503991"/>
              </p:ext>
            </p:extLst>
          </p:nvPr>
        </p:nvGraphicFramePr>
        <p:xfrm>
          <a:off x="7640540" y="2349748"/>
          <a:ext cx="4435475" cy="579437"/>
        </p:xfrm>
        <a:graphic>
          <a:graphicData uri="http://schemas.openxmlformats.org/presentationml/2006/ole">
            <mc:AlternateContent xmlns:mc="http://schemas.openxmlformats.org/markup-compatibility/2006">
              <mc:Choice xmlns:v="urn:schemas-microsoft-com:vml" Requires="v">
                <p:oleObj name="AxMath" r:id="rId10" imgW="2966040" imgH="388080" progId="Equation.AxMath">
                  <p:embed/>
                </p:oleObj>
              </mc:Choice>
              <mc:Fallback>
                <p:oleObj name="AxMath" r:id="rId10" imgW="2966040" imgH="388080" progId="Equation.AxMath">
                  <p:embed/>
                  <p:pic>
                    <p:nvPicPr>
                      <p:cNvPr id="18" name="对象 17">
                        <a:extLst>
                          <a:ext uri="{FF2B5EF4-FFF2-40B4-BE49-F238E27FC236}">
                            <a16:creationId xmlns:a16="http://schemas.microsoft.com/office/drawing/2014/main" id="{4C51C065-A87B-65B3-9968-5A10D7C2D661}"/>
                          </a:ext>
                        </a:extLst>
                      </p:cNvPr>
                      <p:cNvPicPr/>
                      <p:nvPr/>
                    </p:nvPicPr>
                    <p:blipFill>
                      <a:blip r:embed="rId11"/>
                      <a:stretch>
                        <a:fillRect/>
                      </a:stretch>
                    </p:blipFill>
                    <p:spPr>
                      <a:xfrm>
                        <a:off x="7640540" y="2349748"/>
                        <a:ext cx="4435475" cy="579437"/>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92EDD65D-5379-8E76-7566-32E3925DB1E5}"/>
              </a:ext>
            </a:extLst>
          </p:cNvPr>
          <p:cNvGraphicFramePr>
            <a:graphicFrameLocks noChangeAspect="1"/>
          </p:cNvGraphicFramePr>
          <p:nvPr>
            <p:extLst>
              <p:ext uri="{D42A27DB-BD31-4B8C-83A1-F6EECF244321}">
                <p14:modId xmlns:p14="http://schemas.microsoft.com/office/powerpoint/2010/main" val="2046397439"/>
              </p:ext>
            </p:extLst>
          </p:nvPr>
        </p:nvGraphicFramePr>
        <p:xfrm>
          <a:off x="7655490" y="2949213"/>
          <a:ext cx="2647835" cy="472144"/>
        </p:xfrm>
        <a:graphic>
          <a:graphicData uri="http://schemas.openxmlformats.org/presentationml/2006/ole">
            <mc:AlternateContent xmlns:mc="http://schemas.openxmlformats.org/markup-compatibility/2006">
              <mc:Choice xmlns:v="urn:schemas-microsoft-com:vml" Requires="v">
                <p:oleObj name="AxMath" r:id="rId12" imgW="1977120" imgH="352800" progId="Equation.AxMath">
                  <p:embed/>
                </p:oleObj>
              </mc:Choice>
              <mc:Fallback>
                <p:oleObj name="AxMath" r:id="rId12" imgW="1977120" imgH="352800" progId="Equation.AxMath">
                  <p:embed/>
                  <p:pic>
                    <p:nvPicPr>
                      <p:cNvPr id="0" name=""/>
                      <p:cNvPicPr/>
                      <p:nvPr/>
                    </p:nvPicPr>
                    <p:blipFill>
                      <a:blip r:embed="rId13"/>
                      <a:stretch>
                        <a:fillRect/>
                      </a:stretch>
                    </p:blipFill>
                    <p:spPr>
                      <a:xfrm>
                        <a:off x="7655490" y="2949213"/>
                        <a:ext cx="2647835" cy="472144"/>
                      </a:xfrm>
                      <a:prstGeom prst="rect">
                        <a:avLst/>
                      </a:prstGeom>
                    </p:spPr>
                  </p:pic>
                </p:oleObj>
              </mc:Fallback>
            </mc:AlternateContent>
          </a:graphicData>
        </a:graphic>
      </p:graphicFrame>
      <p:sp>
        <p:nvSpPr>
          <p:cNvPr id="24" name="文本框 23">
            <a:extLst>
              <a:ext uri="{FF2B5EF4-FFF2-40B4-BE49-F238E27FC236}">
                <a16:creationId xmlns:a16="http://schemas.microsoft.com/office/drawing/2014/main" id="{4859FB1A-5F55-2F92-D719-B4D896F12891}"/>
              </a:ext>
            </a:extLst>
          </p:cNvPr>
          <p:cNvSpPr txBox="1"/>
          <p:nvPr/>
        </p:nvSpPr>
        <p:spPr>
          <a:xfrm>
            <a:off x="2882189" y="1277589"/>
            <a:ext cx="6097218" cy="1169551"/>
          </a:xfrm>
          <a:prstGeom prst="rect">
            <a:avLst/>
          </a:prstGeom>
          <a:noFill/>
        </p:spPr>
        <p:txBody>
          <a:bodyPr wrap="square">
            <a:spAutoFit/>
          </a:bodyPr>
          <a:lstStyle/>
          <a:p>
            <a:r>
              <a:rPr lang="en-US" altLang="zh-CN" sz="1000" b="0" i="0">
                <a:solidFill>
                  <a:srgbClr val="008013"/>
                </a:solidFill>
                <a:effectLst/>
                <a:latin typeface="Menlo"/>
              </a:rPr>
              <a:t>%% code for TOPSIS</a:t>
            </a:r>
            <a:endParaRPr lang="en-US" altLang="zh-CN" sz="1000" b="0" i="0">
              <a:effectLst/>
              <a:latin typeface="Menlo"/>
            </a:endParaRPr>
          </a:p>
          <a:p>
            <a:r>
              <a:rPr lang="en-US" altLang="zh-CN" sz="1000" b="0" i="0">
                <a:effectLst/>
                <a:latin typeface="Menlo"/>
              </a:rPr>
              <a:t>X = [89,1; 60,3; 74,2; 99,0]</a:t>
            </a:r>
          </a:p>
          <a:p>
            <a:r>
              <a:rPr lang="en-US" altLang="zh-CN" sz="1000" b="0" i="0">
                <a:effectLst/>
                <a:latin typeface="Menlo"/>
              </a:rPr>
              <a:t>[n,m] = size(X)</a:t>
            </a:r>
          </a:p>
          <a:p>
            <a:r>
              <a:rPr lang="en-US" altLang="zh-CN" sz="1000" b="0" i="0">
                <a:effectLst/>
                <a:latin typeface="Menlo"/>
              </a:rPr>
              <a:t>Z = X./repmat(sum(X.*X).^0.5,n,1) </a:t>
            </a:r>
            <a:r>
              <a:rPr lang="en-US" altLang="zh-CN" sz="1000" b="0" i="0">
                <a:solidFill>
                  <a:srgbClr val="008013"/>
                </a:solidFill>
                <a:effectLst/>
                <a:latin typeface="Menlo"/>
              </a:rPr>
              <a:t>% Z: standardization</a:t>
            </a:r>
            <a:endParaRPr lang="en-US" altLang="zh-CN" sz="1000" b="0" i="0">
              <a:effectLst/>
              <a:latin typeface="Menlo"/>
            </a:endParaRPr>
          </a:p>
          <a:p>
            <a:r>
              <a:rPr lang="en-US" altLang="zh-CN" sz="1000" b="0" i="0">
                <a:effectLst/>
                <a:latin typeface="Menlo"/>
              </a:rPr>
              <a:t>Dmax = sum((Z-repmat(max(Z),n,1)).^2,2).^0.5 </a:t>
            </a:r>
            <a:r>
              <a:rPr lang="en-US" altLang="zh-CN" sz="1000" b="0" i="0">
                <a:solidFill>
                  <a:srgbClr val="008013"/>
                </a:solidFill>
                <a:effectLst/>
                <a:latin typeface="Menlo"/>
              </a:rPr>
              <a:t>% D: distance</a:t>
            </a:r>
            <a:endParaRPr lang="en-US" altLang="zh-CN" sz="1000" b="0" i="0">
              <a:effectLst/>
              <a:latin typeface="Menlo"/>
            </a:endParaRPr>
          </a:p>
          <a:p>
            <a:r>
              <a:rPr lang="en-US" altLang="zh-CN" sz="1000" b="0" i="0">
                <a:effectLst/>
                <a:latin typeface="Menlo"/>
              </a:rPr>
              <a:t>Dmin = sum((Z-repmat(min(Z),n,1)).^2,2).^0.5</a:t>
            </a:r>
          </a:p>
          <a:p>
            <a:r>
              <a:rPr lang="en-US" altLang="zh-CN" sz="1000" b="0" i="0">
                <a:effectLst/>
                <a:latin typeface="Menlo"/>
              </a:rPr>
              <a:t>S = Dmin./(Dmax+Dmin) </a:t>
            </a:r>
            <a:r>
              <a:rPr lang="en-US" altLang="zh-CN" sz="1000" b="0" i="0">
                <a:solidFill>
                  <a:srgbClr val="008013"/>
                </a:solidFill>
                <a:effectLst/>
                <a:latin typeface="Menlo"/>
              </a:rPr>
              <a:t>% S: score</a:t>
            </a:r>
            <a:endParaRPr lang="en-US" altLang="zh-CN" sz="1000" b="0" i="0">
              <a:effectLst/>
              <a:latin typeface="Menlo"/>
            </a:endParaRPr>
          </a:p>
        </p:txBody>
      </p:sp>
      <p:pic>
        <p:nvPicPr>
          <p:cNvPr id="26" name="图片 25">
            <a:extLst>
              <a:ext uri="{FF2B5EF4-FFF2-40B4-BE49-F238E27FC236}">
                <a16:creationId xmlns:a16="http://schemas.microsoft.com/office/drawing/2014/main" id="{A0E6DB21-1848-D373-86B3-9F8C8A9FC6FC}"/>
              </a:ext>
            </a:extLst>
          </p:cNvPr>
          <p:cNvPicPr>
            <a:picLocks noChangeAspect="1"/>
          </p:cNvPicPr>
          <p:nvPr/>
        </p:nvPicPr>
        <p:blipFill>
          <a:blip r:embed="rId14"/>
          <a:stretch>
            <a:fillRect/>
          </a:stretch>
        </p:blipFill>
        <p:spPr>
          <a:xfrm>
            <a:off x="334873" y="3043234"/>
            <a:ext cx="4298825" cy="1318236"/>
          </a:xfrm>
          <a:prstGeom prst="rect">
            <a:avLst/>
          </a:prstGeom>
        </p:spPr>
      </p:pic>
      <p:sp>
        <p:nvSpPr>
          <p:cNvPr id="30" name="文本框 29">
            <a:extLst>
              <a:ext uri="{FF2B5EF4-FFF2-40B4-BE49-F238E27FC236}">
                <a16:creationId xmlns:a16="http://schemas.microsoft.com/office/drawing/2014/main" id="{B8C4C5D1-CD3C-88DF-DE2C-3FD43DEFBBD5}"/>
              </a:ext>
            </a:extLst>
          </p:cNvPr>
          <p:cNvSpPr txBox="1"/>
          <p:nvPr/>
        </p:nvSpPr>
        <p:spPr>
          <a:xfrm>
            <a:off x="176657" y="2786203"/>
            <a:ext cx="4702581"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（矩阵正向化，就是要将所有的指标类型统一</a:t>
            </a:r>
            <a:r>
              <a:rPr lang="zh-CN" altLang="en-US" sz="1200">
                <a:solidFill>
                  <a:srgbClr val="FF0000"/>
                </a:solidFill>
                <a:latin typeface="楷体" panose="02010609060101010101" pitchFamily="49" charset="-122"/>
                <a:ea typeface="楷体" panose="02010609060101010101" pitchFamily="49" charset="-122"/>
              </a:rPr>
              <a:t>转化为</a:t>
            </a:r>
            <a:r>
              <a:rPr lang="zh-CN" altLang="en-US" sz="1200" b="1">
                <a:solidFill>
                  <a:srgbClr val="FF0000"/>
                </a:solidFill>
                <a:latin typeface="楷体" panose="02010609060101010101" pitchFamily="49" charset="-122"/>
                <a:ea typeface="楷体" panose="02010609060101010101" pitchFamily="49" charset="-122"/>
              </a:rPr>
              <a:t>极大型指标</a:t>
            </a:r>
            <a:r>
              <a:rPr lang="zh-CN" altLang="en-US" sz="1200">
                <a:latin typeface="楷体" panose="02010609060101010101" pitchFamily="49" charset="-122"/>
                <a:ea typeface="楷体" panose="02010609060101010101" pitchFamily="49" charset="-122"/>
              </a:rPr>
              <a:t>。）</a:t>
            </a:r>
          </a:p>
        </p:txBody>
      </p:sp>
      <p:graphicFrame>
        <p:nvGraphicFramePr>
          <p:cNvPr id="32" name="对象 31">
            <a:extLst>
              <a:ext uri="{FF2B5EF4-FFF2-40B4-BE49-F238E27FC236}">
                <a16:creationId xmlns:a16="http://schemas.microsoft.com/office/drawing/2014/main" id="{1D301662-9D62-8FB2-4350-EBDF02BDE802}"/>
              </a:ext>
            </a:extLst>
          </p:cNvPr>
          <p:cNvGraphicFramePr>
            <a:graphicFrameLocks noChangeAspect="1"/>
          </p:cNvGraphicFramePr>
          <p:nvPr>
            <p:extLst>
              <p:ext uri="{D42A27DB-BD31-4B8C-83A1-F6EECF244321}">
                <p14:modId xmlns:p14="http://schemas.microsoft.com/office/powerpoint/2010/main" val="2584340504"/>
              </p:ext>
            </p:extLst>
          </p:nvPr>
        </p:nvGraphicFramePr>
        <p:xfrm>
          <a:off x="4656885" y="3441855"/>
          <a:ext cx="1977784" cy="440856"/>
        </p:xfrm>
        <a:graphic>
          <a:graphicData uri="http://schemas.openxmlformats.org/presentationml/2006/ole">
            <mc:AlternateContent xmlns:mc="http://schemas.openxmlformats.org/markup-compatibility/2006">
              <mc:Choice xmlns:v="urn:schemas-microsoft-com:vml" Requires="v">
                <p:oleObj name="AxMath" r:id="rId15" imgW="1552320" imgH="346680" progId="Equation.AxMath">
                  <p:embed/>
                </p:oleObj>
              </mc:Choice>
              <mc:Fallback>
                <p:oleObj name="AxMath" r:id="rId15" imgW="1552320" imgH="346680" progId="Equation.AxMath">
                  <p:embed/>
                  <p:pic>
                    <p:nvPicPr>
                      <p:cNvPr id="0" name=""/>
                      <p:cNvPicPr/>
                      <p:nvPr/>
                    </p:nvPicPr>
                    <p:blipFill>
                      <a:blip r:embed="rId16"/>
                      <a:stretch>
                        <a:fillRect/>
                      </a:stretch>
                    </p:blipFill>
                    <p:spPr>
                      <a:xfrm>
                        <a:off x="4656885" y="3441855"/>
                        <a:ext cx="1977784" cy="440856"/>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F462F831-7CFE-ECE0-762A-06786EC69164}"/>
              </a:ext>
            </a:extLst>
          </p:cNvPr>
          <p:cNvGraphicFramePr>
            <a:graphicFrameLocks noChangeAspect="1"/>
          </p:cNvGraphicFramePr>
          <p:nvPr>
            <p:extLst>
              <p:ext uri="{D42A27DB-BD31-4B8C-83A1-F6EECF244321}">
                <p14:modId xmlns:p14="http://schemas.microsoft.com/office/powerpoint/2010/main" val="1395699266"/>
              </p:ext>
            </p:extLst>
          </p:nvPr>
        </p:nvGraphicFramePr>
        <p:xfrm>
          <a:off x="4666656" y="3759059"/>
          <a:ext cx="2858687" cy="433134"/>
        </p:xfrm>
        <a:graphic>
          <a:graphicData uri="http://schemas.openxmlformats.org/presentationml/2006/ole">
            <mc:AlternateContent xmlns:mc="http://schemas.openxmlformats.org/markup-compatibility/2006">
              <mc:Choice xmlns:v="urn:schemas-microsoft-com:vml" Requires="v">
                <p:oleObj name="AxMath" r:id="rId17" imgW="2305800" imgH="348480" progId="Equation.AxMath">
                  <p:embed/>
                </p:oleObj>
              </mc:Choice>
              <mc:Fallback>
                <p:oleObj name="AxMath" r:id="rId17" imgW="2305800" imgH="348480" progId="Equation.AxMath">
                  <p:embed/>
                  <p:pic>
                    <p:nvPicPr>
                      <p:cNvPr id="0" name=""/>
                      <p:cNvPicPr/>
                      <p:nvPr/>
                    </p:nvPicPr>
                    <p:blipFill>
                      <a:blip r:embed="rId18"/>
                      <a:stretch>
                        <a:fillRect/>
                      </a:stretch>
                    </p:blipFill>
                    <p:spPr>
                      <a:xfrm>
                        <a:off x="4666656" y="3759059"/>
                        <a:ext cx="2858687" cy="433134"/>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7D49F101-3C40-7688-0762-24B45C58D151}"/>
              </a:ext>
            </a:extLst>
          </p:cNvPr>
          <p:cNvGraphicFramePr>
            <a:graphicFrameLocks noChangeAspect="1"/>
          </p:cNvGraphicFramePr>
          <p:nvPr>
            <p:extLst>
              <p:ext uri="{D42A27DB-BD31-4B8C-83A1-F6EECF244321}">
                <p14:modId xmlns:p14="http://schemas.microsoft.com/office/powerpoint/2010/main" val="3883438643"/>
              </p:ext>
            </p:extLst>
          </p:nvPr>
        </p:nvGraphicFramePr>
        <p:xfrm>
          <a:off x="4661124" y="4162445"/>
          <a:ext cx="2927853" cy="1653235"/>
        </p:xfrm>
        <a:graphic>
          <a:graphicData uri="http://schemas.openxmlformats.org/presentationml/2006/ole">
            <mc:AlternateContent xmlns:mc="http://schemas.openxmlformats.org/markup-compatibility/2006">
              <mc:Choice xmlns:v="urn:schemas-microsoft-com:vml" Requires="v">
                <p:oleObj name="AxMath" r:id="rId19" imgW="2713680" imgH="1532520" progId="Equation.AxMath">
                  <p:embed/>
                </p:oleObj>
              </mc:Choice>
              <mc:Fallback>
                <p:oleObj name="AxMath" r:id="rId19" imgW="2713680" imgH="1532520" progId="Equation.AxMath">
                  <p:embed/>
                  <p:pic>
                    <p:nvPicPr>
                      <p:cNvPr id="0" name=""/>
                      <p:cNvPicPr/>
                      <p:nvPr/>
                    </p:nvPicPr>
                    <p:blipFill>
                      <a:blip r:embed="rId20"/>
                      <a:stretch>
                        <a:fillRect/>
                      </a:stretch>
                    </p:blipFill>
                    <p:spPr>
                      <a:xfrm>
                        <a:off x="4661124" y="4162445"/>
                        <a:ext cx="2927853" cy="1653235"/>
                      </a:xfrm>
                      <a:prstGeom prst="rect">
                        <a:avLst/>
                      </a:prstGeom>
                    </p:spPr>
                  </p:pic>
                </p:oleObj>
              </mc:Fallback>
            </mc:AlternateContent>
          </a:graphicData>
        </a:graphic>
      </p:graphicFrame>
      <p:sp>
        <p:nvSpPr>
          <p:cNvPr id="38" name="文本框 37">
            <a:extLst>
              <a:ext uri="{FF2B5EF4-FFF2-40B4-BE49-F238E27FC236}">
                <a16:creationId xmlns:a16="http://schemas.microsoft.com/office/drawing/2014/main" id="{FF6BBC6C-2873-C68B-853C-2A85C93B4493}"/>
              </a:ext>
            </a:extLst>
          </p:cNvPr>
          <p:cNvSpPr txBox="1"/>
          <p:nvPr/>
        </p:nvSpPr>
        <p:spPr>
          <a:xfrm>
            <a:off x="269036" y="2464789"/>
            <a:ext cx="2986430" cy="369332"/>
          </a:xfrm>
          <a:prstGeom prst="rect">
            <a:avLst/>
          </a:prstGeom>
          <a:noFill/>
        </p:spPr>
        <p:txBody>
          <a:bodyPr wrap="square">
            <a:spAutoFit/>
          </a:bodyPr>
          <a:lstStyle/>
          <a:p>
            <a:r>
              <a:rPr lang="zh-CN" altLang="en-US">
                <a:solidFill>
                  <a:schemeClr val="accent5">
                    <a:lumMod val="50000"/>
                  </a:schemeClr>
                </a:solidFill>
              </a:rPr>
              <a:t>第一步</a:t>
            </a:r>
            <a:r>
              <a:rPr lang="zh-CN" altLang="en-US"/>
              <a:t>：将原始矩阵</a:t>
            </a:r>
            <a:r>
              <a:rPr lang="zh-CN" altLang="en-US" b="1"/>
              <a:t>正向化</a:t>
            </a:r>
          </a:p>
        </p:txBody>
      </p:sp>
      <p:sp>
        <p:nvSpPr>
          <p:cNvPr id="40" name="文本框 39">
            <a:extLst>
              <a:ext uri="{FF2B5EF4-FFF2-40B4-BE49-F238E27FC236}">
                <a16:creationId xmlns:a16="http://schemas.microsoft.com/office/drawing/2014/main" id="{6EE0283E-17AF-AE35-0037-035674D3DD93}"/>
              </a:ext>
            </a:extLst>
          </p:cNvPr>
          <p:cNvSpPr txBox="1"/>
          <p:nvPr/>
        </p:nvSpPr>
        <p:spPr>
          <a:xfrm>
            <a:off x="317360" y="4822901"/>
            <a:ext cx="2986430" cy="369332"/>
          </a:xfrm>
          <a:prstGeom prst="rect">
            <a:avLst/>
          </a:prstGeom>
          <a:noFill/>
        </p:spPr>
        <p:txBody>
          <a:bodyPr wrap="square">
            <a:spAutoFit/>
          </a:bodyPr>
          <a:lstStyle/>
          <a:p>
            <a:r>
              <a:rPr lang="zh-CN" altLang="en-US">
                <a:solidFill>
                  <a:schemeClr val="accent5">
                    <a:lumMod val="50000"/>
                  </a:schemeClr>
                </a:solidFill>
              </a:rPr>
              <a:t>第二步</a:t>
            </a:r>
            <a:r>
              <a:rPr lang="zh-CN" altLang="en-US"/>
              <a:t>：正向化矩阵</a:t>
            </a:r>
            <a:r>
              <a:rPr lang="zh-CN" altLang="en-US" b="1"/>
              <a:t>标准化</a:t>
            </a:r>
          </a:p>
        </p:txBody>
      </p:sp>
      <p:sp>
        <p:nvSpPr>
          <p:cNvPr id="44" name="文本框 43">
            <a:extLst>
              <a:ext uri="{FF2B5EF4-FFF2-40B4-BE49-F238E27FC236}">
                <a16:creationId xmlns:a16="http://schemas.microsoft.com/office/drawing/2014/main" id="{887530CA-27F8-D6DE-0E1E-7D26B828F999}"/>
              </a:ext>
            </a:extLst>
          </p:cNvPr>
          <p:cNvSpPr txBox="1"/>
          <p:nvPr/>
        </p:nvSpPr>
        <p:spPr>
          <a:xfrm>
            <a:off x="345967" y="5294536"/>
            <a:ext cx="2373142" cy="461665"/>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其主要目的就是去除量纲的影响</a:t>
            </a:r>
            <a:endParaRPr lang="en-US" altLang="zh-CN" sz="1200">
              <a:latin typeface="楷体" panose="02010609060101010101" pitchFamily="49" charset="-122"/>
              <a:ea typeface="楷体" panose="02010609060101010101" pitchFamily="49" charset="-122"/>
            </a:endParaRPr>
          </a:p>
          <a:p>
            <a:r>
              <a:rPr lang="zh-CN" altLang="en-US" sz="1200">
                <a:latin typeface="楷体" panose="02010609060101010101" pitchFamily="49" charset="-122"/>
                <a:ea typeface="楷体" panose="02010609060101010101" pitchFamily="49" charset="-122"/>
              </a:rPr>
              <a:t>还有其他方法如，</a:t>
            </a:r>
            <a:r>
              <a:rPr lang="en-US" altLang="zh-CN" sz="1200">
                <a:solidFill>
                  <a:srgbClr val="FF0000"/>
                </a:solidFill>
                <a:latin typeface="楷体" panose="02010609060101010101" pitchFamily="49" charset="-122"/>
                <a:ea typeface="楷体" panose="02010609060101010101" pitchFamily="49" charset="-122"/>
              </a:rPr>
              <a:t>Z-score</a:t>
            </a:r>
            <a:r>
              <a:rPr lang="zh-CN" altLang="en-US" sz="1200">
                <a:latin typeface="楷体" panose="02010609060101010101" pitchFamily="49" charset="-122"/>
                <a:ea typeface="楷体" panose="02010609060101010101" pitchFamily="49" charset="-122"/>
              </a:rPr>
              <a:t>：</a:t>
            </a:r>
          </a:p>
        </p:txBody>
      </p:sp>
      <p:sp>
        <p:nvSpPr>
          <p:cNvPr id="46" name="文本框 45">
            <a:extLst>
              <a:ext uri="{FF2B5EF4-FFF2-40B4-BE49-F238E27FC236}">
                <a16:creationId xmlns:a16="http://schemas.microsoft.com/office/drawing/2014/main" id="{9124EDDB-3A53-E158-CF17-92937D2C7920}"/>
              </a:ext>
            </a:extLst>
          </p:cNvPr>
          <p:cNvSpPr txBox="1"/>
          <p:nvPr/>
        </p:nvSpPr>
        <p:spPr>
          <a:xfrm>
            <a:off x="7450124" y="908257"/>
            <a:ext cx="3058566" cy="369332"/>
          </a:xfrm>
          <a:prstGeom prst="rect">
            <a:avLst/>
          </a:prstGeom>
          <a:noFill/>
        </p:spPr>
        <p:txBody>
          <a:bodyPr wrap="square">
            <a:spAutoFit/>
          </a:bodyPr>
          <a:lstStyle/>
          <a:p>
            <a:r>
              <a:rPr lang="zh-CN" altLang="en-US">
                <a:solidFill>
                  <a:schemeClr val="accent5">
                    <a:lumMod val="50000"/>
                  </a:schemeClr>
                </a:solidFill>
              </a:rPr>
              <a:t>第三步</a:t>
            </a:r>
            <a:r>
              <a:rPr lang="zh-CN" altLang="en-US"/>
              <a:t>：计算</a:t>
            </a:r>
            <a:r>
              <a:rPr lang="zh-CN" altLang="en-US" b="1"/>
              <a:t>得分</a:t>
            </a:r>
            <a:r>
              <a:rPr lang="zh-CN" altLang="en-US"/>
              <a:t>并</a:t>
            </a:r>
            <a:r>
              <a:rPr lang="zh-CN" altLang="en-US" b="1"/>
              <a:t>归一化</a:t>
            </a:r>
          </a:p>
        </p:txBody>
      </p:sp>
      <p:graphicFrame>
        <p:nvGraphicFramePr>
          <p:cNvPr id="47" name="对象 46">
            <a:extLst>
              <a:ext uri="{FF2B5EF4-FFF2-40B4-BE49-F238E27FC236}">
                <a16:creationId xmlns:a16="http://schemas.microsoft.com/office/drawing/2014/main" id="{B5FFC347-9A46-57CB-9393-DD0AFD784639}"/>
              </a:ext>
            </a:extLst>
          </p:cNvPr>
          <p:cNvGraphicFramePr>
            <a:graphicFrameLocks noChangeAspect="1"/>
          </p:cNvGraphicFramePr>
          <p:nvPr>
            <p:extLst>
              <p:ext uri="{D42A27DB-BD31-4B8C-83A1-F6EECF244321}">
                <p14:modId xmlns:p14="http://schemas.microsoft.com/office/powerpoint/2010/main" val="1968469983"/>
              </p:ext>
            </p:extLst>
          </p:nvPr>
        </p:nvGraphicFramePr>
        <p:xfrm>
          <a:off x="1074118" y="5749041"/>
          <a:ext cx="688133" cy="380744"/>
        </p:xfrm>
        <a:graphic>
          <a:graphicData uri="http://schemas.openxmlformats.org/presentationml/2006/ole">
            <mc:AlternateContent xmlns:mc="http://schemas.openxmlformats.org/markup-compatibility/2006">
              <mc:Choice xmlns:v="urn:schemas-microsoft-com:vml" Requires="v">
                <p:oleObj name="AxMath" r:id="rId21" imgW="624960" imgH="346680" progId="Equation.AxMath">
                  <p:embed/>
                </p:oleObj>
              </mc:Choice>
              <mc:Fallback>
                <p:oleObj name="AxMath" r:id="rId21" imgW="624960" imgH="346680" progId="Equation.AxMath">
                  <p:embed/>
                  <p:pic>
                    <p:nvPicPr>
                      <p:cNvPr id="0" name=""/>
                      <p:cNvPicPr/>
                      <p:nvPr/>
                    </p:nvPicPr>
                    <p:blipFill>
                      <a:blip r:embed="rId22"/>
                      <a:stretch>
                        <a:fillRect/>
                      </a:stretch>
                    </p:blipFill>
                    <p:spPr>
                      <a:xfrm>
                        <a:off x="1074118" y="5749041"/>
                        <a:ext cx="688133" cy="380744"/>
                      </a:xfrm>
                      <a:prstGeom prst="rect">
                        <a:avLst/>
                      </a:prstGeom>
                    </p:spPr>
                  </p:pic>
                </p:oleObj>
              </mc:Fallback>
            </mc:AlternateContent>
          </a:graphicData>
        </a:graphic>
      </p:graphicFrame>
      <p:sp>
        <p:nvSpPr>
          <p:cNvPr id="48" name="文本框 47">
            <a:extLst>
              <a:ext uri="{FF2B5EF4-FFF2-40B4-BE49-F238E27FC236}">
                <a16:creationId xmlns:a16="http://schemas.microsoft.com/office/drawing/2014/main" id="{8F4C6233-8D8B-6DEB-E457-3E5C48B6B537}"/>
              </a:ext>
            </a:extLst>
          </p:cNvPr>
          <p:cNvSpPr txBox="1"/>
          <p:nvPr/>
        </p:nvSpPr>
        <p:spPr>
          <a:xfrm>
            <a:off x="8786103" y="3563966"/>
            <a:ext cx="2928508" cy="461665"/>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注意每个元素的</a:t>
            </a:r>
            <a:r>
              <a:rPr lang="zh-CN" altLang="en-US" sz="1200" b="1">
                <a:solidFill>
                  <a:srgbClr val="FF0000"/>
                </a:solidFill>
                <a:latin typeface="楷体" panose="02010609060101010101" pitchFamily="49" charset="-122"/>
                <a:ea typeface="楷体" panose="02010609060101010101" pitchFamily="49" charset="-122"/>
              </a:rPr>
              <a:t>权重</a:t>
            </a:r>
            <a:r>
              <a:rPr lang="zh-CN" altLang="en-US" sz="1200">
                <a:latin typeface="楷体" panose="02010609060101010101" pitchFamily="49" charset="-122"/>
                <a:ea typeface="楷体" panose="02010609060101010101" pitchFamily="49" charset="-122"/>
              </a:rPr>
              <a:t>，可以用</a:t>
            </a:r>
            <a:r>
              <a:rPr lang="zh-CN" altLang="en-US" sz="1200">
                <a:solidFill>
                  <a:srgbClr val="FF0000"/>
                </a:solidFill>
                <a:latin typeface="楷体" panose="02010609060101010101" pitchFamily="49" charset="-122"/>
                <a:ea typeface="楷体" panose="02010609060101010101" pitchFamily="49" charset="-122"/>
              </a:rPr>
              <a:t>层次分析法</a:t>
            </a:r>
            <a:r>
              <a:rPr lang="zh-CN" altLang="en-US" sz="1200">
                <a:latin typeface="楷体" panose="02010609060101010101" pitchFamily="49" charset="-122"/>
                <a:ea typeface="楷体" panose="02010609060101010101" pitchFamily="49" charset="-122"/>
              </a:rPr>
              <a:t>主观赋值，但更推荐</a:t>
            </a:r>
            <a:r>
              <a:rPr lang="zh-CN" altLang="en-US" sz="1200">
                <a:solidFill>
                  <a:srgbClr val="FF0000"/>
                </a:solidFill>
                <a:latin typeface="楷体" panose="02010609060101010101" pitchFamily="49" charset="-122"/>
                <a:ea typeface="楷体" panose="02010609060101010101" pitchFamily="49" charset="-122"/>
              </a:rPr>
              <a:t>熵权法</a:t>
            </a:r>
            <a:r>
              <a:rPr lang="zh-CN" altLang="en-US" sz="1200">
                <a:latin typeface="楷体" panose="02010609060101010101" pitchFamily="49" charset="-122"/>
                <a:ea typeface="楷体" panose="02010609060101010101" pitchFamily="49" charset="-122"/>
              </a:rPr>
              <a:t>来客观赋值</a:t>
            </a:r>
          </a:p>
        </p:txBody>
      </p:sp>
      <p:cxnSp>
        <p:nvCxnSpPr>
          <p:cNvPr id="50" name="连接符: 曲线 49">
            <a:extLst>
              <a:ext uri="{FF2B5EF4-FFF2-40B4-BE49-F238E27FC236}">
                <a16:creationId xmlns:a16="http://schemas.microsoft.com/office/drawing/2014/main" id="{93F5FE21-863C-DA68-B1F3-C781A4EAD145}"/>
              </a:ext>
            </a:extLst>
          </p:cNvPr>
          <p:cNvCxnSpPr>
            <a:cxnSpLocks/>
            <a:stCxn id="38" idx="1"/>
            <a:endCxn id="40" idx="1"/>
          </p:cNvCxnSpPr>
          <p:nvPr/>
        </p:nvCxnSpPr>
        <p:spPr>
          <a:xfrm rot="10800000" flipH="1" flipV="1">
            <a:off x="269036" y="2649455"/>
            <a:ext cx="48324" cy="2358112"/>
          </a:xfrm>
          <a:prstGeom prst="curvedConnector3">
            <a:avLst>
              <a:gd name="adj1" fmla="val -473057"/>
            </a:avLst>
          </a:prstGeom>
          <a:ln w="2857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连接符: 曲线 52">
            <a:extLst>
              <a:ext uri="{FF2B5EF4-FFF2-40B4-BE49-F238E27FC236}">
                <a16:creationId xmlns:a16="http://schemas.microsoft.com/office/drawing/2014/main" id="{831D0CDC-247E-1008-044C-91E045915818}"/>
              </a:ext>
            </a:extLst>
          </p:cNvPr>
          <p:cNvCxnSpPr>
            <a:cxnSpLocks/>
          </p:cNvCxnSpPr>
          <p:nvPr/>
        </p:nvCxnSpPr>
        <p:spPr>
          <a:xfrm flipV="1">
            <a:off x="2468795" y="4006692"/>
            <a:ext cx="7090190" cy="1713596"/>
          </a:xfrm>
          <a:prstGeom prst="curvedConnector2">
            <a:avLst/>
          </a:prstGeom>
          <a:ln w="28575">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5059E8A7-5B17-F153-69C6-B3882D5CABA3}"/>
              </a:ext>
            </a:extLst>
          </p:cNvPr>
          <p:cNvCxnSpPr>
            <a:cxnSpLocks/>
          </p:cNvCxnSpPr>
          <p:nvPr/>
        </p:nvCxnSpPr>
        <p:spPr>
          <a:xfrm>
            <a:off x="1250899" y="2786203"/>
            <a:ext cx="1858061" cy="0"/>
          </a:xfrm>
          <a:prstGeom prst="line">
            <a:avLst/>
          </a:prstGeom>
          <a:ln>
            <a:solidFill>
              <a:schemeClr val="accent6">
                <a:lumMod val="60000"/>
                <a:lumOff val="40000"/>
              </a:schemeClr>
            </a:solidFill>
          </a:ln>
        </p:spPr>
        <p:style>
          <a:lnRef idx="3">
            <a:schemeClr val="accent5"/>
          </a:lnRef>
          <a:fillRef idx="0">
            <a:schemeClr val="accent5"/>
          </a:fillRef>
          <a:effectRef idx="2">
            <a:schemeClr val="accent5"/>
          </a:effectRef>
          <a:fontRef idx="minor">
            <a:schemeClr val="tx1"/>
          </a:fontRef>
        </p:style>
      </p:cxnSp>
      <p:cxnSp>
        <p:nvCxnSpPr>
          <p:cNvPr id="69" name="直接连接符 68">
            <a:extLst>
              <a:ext uri="{FF2B5EF4-FFF2-40B4-BE49-F238E27FC236}">
                <a16:creationId xmlns:a16="http://schemas.microsoft.com/office/drawing/2014/main" id="{C28ED1B2-5CBC-CE6F-332A-D3DC48B5DEB3}"/>
              </a:ext>
            </a:extLst>
          </p:cNvPr>
          <p:cNvCxnSpPr>
            <a:cxnSpLocks/>
          </p:cNvCxnSpPr>
          <p:nvPr/>
        </p:nvCxnSpPr>
        <p:spPr>
          <a:xfrm>
            <a:off x="1302106" y="5192233"/>
            <a:ext cx="1858061" cy="0"/>
          </a:xfrm>
          <a:prstGeom prst="line">
            <a:avLst/>
          </a:prstGeom>
          <a:ln>
            <a:solidFill>
              <a:schemeClr val="accent6">
                <a:lumMod val="60000"/>
                <a:lumOff val="40000"/>
              </a:schemeClr>
            </a:solidFill>
          </a:ln>
        </p:spPr>
        <p:style>
          <a:lnRef idx="3">
            <a:schemeClr val="accent5"/>
          </a:lnRef>
          <a:fillRef idx="0">
            <a:schemeClr val="accent5"/>
          </a:fillRef>
          <a:effectRef idx="2">
            <a:schemeClr val="accent5"/>
          </a:effectRef>
          <a:fontRef idx="minor">
            <a:schemeClr val="tx1"/>
          </a:fontRef>
        </p:style>
      </p:cxnSp>
      <p:cxnSp>
        <p:nvCxnSpPr>
          <p:cNvPr id="70" name="直接连接符 69">
            <a:extLst>
              <a:ext uri="{FF2B5EF4-FFF2-40B4-BE49-F238E27FC236}">
                <a16:creationId xmlns:a16="http://schemas.microsoft.com/office/drawing/2014/main" id="{9C84CED3-B07F-1AC9-D99E-D741AC0F09B3}"/>
              </a:ext>
            </a:extLst>
          </p:cNvPr>
          <p:cNvCxnSpPr>
            <a:cxnSpLocks/>
          </p:cNvCxnSpPr>
          <p:nvPr/>
        </p:nvCxnSpPr>
        <p:spPr>
          <a:xfrm>
            <a:off x="8445264" y="1252309"/>
            <a:ext cx="1858061" cy="0"/>
          </a:xfrm>
          <a:prstGeom prst="line">
            <a:avLst/>
          </a:prstGeom>
          <a:ln>
            <a:solidFill>
              <a:schemeClr val="accent6">
                <a:lumMod val="60000"/>
                <a:lumOff val="40000"/>
              </a:schemeClr>
            </a:solidFill>
          </a:ln>
        </p:spPr>
        <p:style>
          <a:lnRef idx="3">
            <a:schemeClr val="accent5"/>
          </a:lnRef>
          <a:fillRef idx="0">
            <a:schemeClr val="accent5"/>
          </a:fillRef>
          <a:effectRef idx="2">
            <a:schemeClr val="accent5"/>
          </a:effectRef>
          <a:fontRef idx="minor">
            <a:schemeClr val="tx1"/>
          </a:fontRef>
        </p:style>
      </p:cxnSp>
      <p:sp>
        <p:nvSpPr>
          <p:cNvPr id="73" name="文本框 72">
            <a:extLst>
              <a:ext uri="{FF2B5EF4-FFF2-40B4-BE49-F238E27FC236}">
                <a16:creationId xmlns:a16="http://schemas.microsoft.com/office/drawing/2014/main" id="{235B8504-E116-C4FB-7CFE-3EEF040D2203}"/>
              </a:ext>
            </a:extLst>
          </p:cNvPr>
          <p:cNvSpPr txBox="1"/>
          <p:nvPr/>
        </p:nvSpPr>
        <p:spPr>
          <a:xfrm>
            <a:off x="10938421" y="5391120"/>
            <a:ext cx="1147541" cy="1015663"/>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S = </a:t>
            </a:r>
            <a:endParaRPr lang="en-US" altLang="zh-CN" sz="1200">
              <a:latin typeface="楷体" panose="02010609060101010101" pitchFamily="49" charset="-122"/>
              <a:ea typeface="楷体" panose="02010609060101010101" pitchFamily="49" charset="-122"/>
            </a:endParaRPr>
          </a:p>
          <a:p>
            <a:r>
              <a:rPr lang="en-US" altLang="zh-CN" sz="1200">
                <a:latin typeface="楷体" panose="02010609060101010101" pitchFamily="49" charset="-122"/>
                <a:ea typeface="楷体" panose="02010609060101010101" pitchFamily="49" charset="-122"/>
              </a:rPr>
              <a:t>    </a:t>
            </a:r>
            <a:r>
              <a:rPr lang="zh-CN" altLang="en-US" sz="1200">
                <a:latin typeface="楷体" panose="02010609060101010101" pitchFamily="49" charset="-122"/>
                <a:ea typeface="楷体" panose="02010609060101010101" pitchFamily="49" charset="-122"/>
              </a:rPr>
              <a:t>0.3734</a:t>
            </a:r>
          </a:p>
          <a:p>
            <a:r>
              <a:rPr lang="zh-CN" altLang="en-US" sz="1200">
                <a:latin typeface="楷体" panose="02010609060101010101" pitchFamily="49" charset="-122"/>
                <a:ea typeface="楷体" panose="02010609060101010101" pitchFamily="49" charset="-122"/>
              </a:rPr>
              <a:t>    0.7709</a:t>
            </a:r>
          </a:p>
          <a:p>
            <a:r>
              <a:rPr lang="zh-CN" altLang="en-US" sz="1200">
                <a:latin typeface="楷体" panose="02010609060101010101" pitchFamily="49" charset="-122"/>
                <a:ea typeface="楷体" panose="02010609060101010101" pitchFamily="49" charset="-122"/>
              </a:rPr>
              <a:t>    0.6375</a:t>
            </a:r>
          </a:p>
          <a:p>
            <a:r>
              <a:rPr lang="zh-CN" altLang="en-US" sz="1200">
                <a:latin typeface="楷体" panose="02010609060101010101" pitchFamily="49" charset="-122"/>
                <a:ea typeface="楷体" panose="02010609060101010101" pitchFamily="49" charset="-122"/>
              </a:rPr>
              <a:t>    0.2291</a:t>
            </a:r>
          </a:p>
        </p:txBody>
      </p:sp>
      <p:sp>
        <p:nvSpPr>
          <p:cNvPr id="75" name="文本框 74">
            <a:extLst>
              <a:ext uri="{FF2B5EF4-FFF2-40B4-BE49-F238E27FC236}">
                <a16:creationId xmlns:a16="http://schemas.microsoft.com/office/drawing/2014/main" id="{FB5BB3A8-D49E-733E-5905-FC67941A36BB}"/>
              </a:ext>
            </a:extLst>
          </p:cNvPr>
          <p:cNvSpPr txBox="1"/>
          <p:nvPr/>
        </p:nvSpPr>
        <p:spPr>
          <a:xfrm>
            <a:off x="7391039" y="5405634"/>
            <a:ext cx="1924809" cy="120032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Z = </a:t>
            </a:r>
            <a:endParaRPr lang="en-US" altLang="zh-CN" sz="1200">
              <a:latin typeface="楷体" panose="02010609060101010101" pitchFamily="49" charset="-122"/>
              <a:ea typeface="楷体" panose="02010609060101010101" pitchFamily="49" charset="-122"/>
            </a:endParaRPr>
          </a:p>
          <a:p>
            <a:r>
              <a:rPr lang="en-US" altLang="zh-CN" sz="1200">
                <a:latin typeface="楷体" panose="02010609060101010101" pitchFamily="49" charset="-122"/>
                <a:ea typeface="楷体" panose="02010609060101010101" pitchFamily="49" charset="-122"/>
              </a:rPr>
              <a:t>    </a:t>
            </a:r>
            <a:r>
              <a:rPr lang="zh-CN" altLang="en-US" sz="1200">
                <a:latin typeface="楷体" panose="02010609060101010101" pitchFamily="49" charset="-122"/>
                <a:ea typeface="楷体" panose="02010609060101010101" pitchFamily="49" charset="-122"/>
              </a:rPr>
              <a:t>0.5437  0.2673</a:t>
            </a:r>
          </a:p>
          <a:p>
            <a:r>
              <a:rPr lang="zh-CN" altLang="en-US" sz="1200">
                <a:latin typeface="楷体" panose="02010609060101010101" pitchFamily="49" charset="-122"/>
                <a:ea typeface="楷体" panose="02010609060101010101" pitchFamily="49" charset="-122"/>
              </a:rPr>
              <a:t>    0.3665  0.8018</a:t>
            </a:r>
          </a:p>
          <a:p>
            <a:r>
              <a:rPr lang="zh-CN" altLang="en-US" sz="1200">
                <a:latin typeface="楷体" panose="02010609060101010101" pitchFamily="49" charset="-122"/>
                <a:ea typeface="楷体" panose="02010609060101010101" pitchFamily="49" charset="-122"/>
              </a:rPr>
              <a:t>    0.4520  0.5345</a:t>
            </a:r>
          </a:p>
          <a:p>
            <a:r>
              <a:rPr lang="zh-CN" altLang="en-US" sz="1200">
                <a:latin typeface="楷体" panose="02010609060101010101" pitchFamily="49" charset="-122"/>
                <a:ea typeface="楷体" panose="02010609060101010101" pitchFamily="49" charset="-122"/>
              </a:rPr>
              <a:t>    0.6048       0</a:t>
            </a:r>
          </a:p>
          <a:p>
            <a:endParaRPr lang="zh-CN" altLang="en-US" sz="1200">
              <a:latin typeface="楷体" panose="02010609060101010101" pitchFamily="49" charset="-122"/>
              <a:ea typeface="楷体" panose="02010609060101010101" pitchFamily="49" charset="-122"/>
            </a:endParaRPr>
          </a:p>
        </p:txBody>
      </p:sp>
      <p:sp>
        <p:nvSpPr>
          <p:cNvPr id="81" name="文本框 80">
            <a:extLst>
              <a:ext uri="{FF2B5EF4-FFF2-40B4-BE49-F238E27FC236}">
                <a16:creationId xmlns:a16="http://schemas.microsoft.com/office/drawing/2014/main" id="{8F28BA8F-359B-3F57-DBD4-6CAB574414EF}"/>
              </a:ext>
            </a:extLst>
          </p:cNvPr>
          <p:cNvSpPr txBox="1"/>
          <p:nvPr/>
        </p:nvSpPr>
        <p:spPr>
          <a:xfrm>
            <a:off x="9950565" y="5402247"/>
            <a:ext cx="1167317"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Dmin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0.3206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0.8018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0.5413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0.2382</a:t>
            </a:r>
          </a:p>
        </p:txBody>
      </p:sp>
      <p:sp>
        <p:nvSpPr>
          <p:cNvPr id="85" name="文本框 84">
            <a:extLst>
              <a:ext uri="{FF2B5EF4-FFF2-40B4-BE49-F238E27FC236}">
                <a16:creationId xmlns:a16="http://schemas.microsoft.com/office/drawing/2014/main" id="{65DD8633-6666-61ED-DB12-175FF57BC7B1}"/>
              </a:ext>
            </a:extLst>
          </p:cNvPr>
          <p:cNvSpPr txBox="1"/>
          <p:nvPr/>
        </p:nvSpPr>
        <p:spPr>
          <a:xfrm>
            <a:off x="8927471" y="5402246"/>
            <a:ext cx="1039133"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Dmax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0.5380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0.2382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0.3078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rPr>
              <a:t>    0.8018</a:t>
            </a:r>
          </a:p>
        </p:txBody>
      </p:sp>
      <p:sp>
        <p:nvSpPr>
          <p:cNvPr id="87" name="文本框 86">
            <a:extLst>
              <a:ext uri="{FF2B5EF4-FFF2-40B4-BE49-F238E27FC236}">
                <a16:creationId xmlns:a16="http://schemas.microsoft.com/office/drawing/2014/main" id="{B789E407-FCCB-3574-8D11-F6E131E0F6A7}"/>
              </a:ext>
            </a:extLst>
          </p:cNvPr>
          <p:cNvSpPr txBox="1"/>
          <p:nvPr/>
        </p:nvSpPr>
        <p:spPr>
          <a:xfrm>
            <a:off x="6376257" y="5388175"/>
            <a:ext cx="1224458" cy="1015663"/>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X =</a:t>
            </a:r>
          </a:p>
          <a:p>
            <a:r>
              <a:rPr lang="zh-CN" altLang="en-US" sz="1200">
                <a:latin typeface="楷体" panose="02010609060101010101" pitchFamily="49" charset="-122"/>
                <a:ea typeface="楷体" panose="02010609060101010101" pitchFamily="49" charset="-122"/>
              </a:rPr>
              <a:t>    89   1</a:t>
            </a:r>
          </a:p>
          <a:p>
            <a:r>
              <a:rPr lang="zh-CN" altLang="en-US" sz="1200">
                <a:latin typeface="楷体" panose="02010609060101010101" pitchFamily="49" charset="-122"/>
                <a:ea typeface="楷体" panose="02010609060101010101" pitchFamily="49" charset="-122"/>
              </a:rPr>
              <a:t>    60   3</a:t>
            </a:r>
          </a:p>
          <a:p>
            <a:r>
              <a:rPr lang="zh-CN" altLang="en-US" sz="1200">
                <a:latin typeface="楷体" panose="02010609060101010101" pitchFamily="49" charset="-122"/>
                <a:ea typeface="楷体" panose="02010609060101010101" pitchFamily="49" charset="-122"/>
              </a:rPr>
              <a:t>    74   2</a:t>
            </a:r>
          </a:p>
          <a:p>
            <a:r>
              <a:rPr lang="zh-CN" altLang="en-US" sz="1200">
                <a:latin typeface="楷体" panose="02010609060101010101" pitchFamily="49" charset="-122"/>
                <a:ea typeface="楷体" panose="02010609060101010101" pitchFamily="49" charset="-122"/>
              </a:rPr>
              <a:t>    99   0</a:t>
            </a:r>
          </a:p>
        </p:txBody>
      </p:sp>
      <p:sp>
        <p:nvSpPr>
          <p:cNvPr id="7" name="文本框 6">
            <a:extLst>
              <a:ext uri="{FF2B5EF4-FFF2-40B4-BE49-F238E27FC236}">
                <a16:creationId xmlns:a16="http://schemas.microsoft.com/office/drawing/2014/main" id="{DB274458-5E7F-2258-45B6-B2061BC5C9B1}"/>
              </a:ext>
            </a:extLst>
          </p:cNvPr>
          <p:cNvSpPr txBox="1"/>
          <p:nvPr/>
        </p:nvSpPr>
        <p:spPr>
          <a:xfrm>
            <a:off x="2753736" y="106775"/>
            <a:ext cx="6096000" cy="461665"/>
          </a:xfrm>
          <a:prstGeom prst="rect">
            <a:avLst/>
          </a:prstGeom>
          <a:noFill/>
        </p:spPr>
        <p:txBody>
          <a:bodyPr wrap="square">
            <a:spAutoFit/>
          </a:bodyPr>
          <a:lstStyle/>
          <a:p>
            <a:r>
              <a:rPr lang="zh-CN" altLang="en-US" sz="1200"/>
              <a:t>一种</a:t>
            </a:r>
            <a:r>
              <a:rPr lang="zh-CN" altLang="en-US" sz="1200">
                <a:solidFill>
                  <a:srgbClr val="FF0000"/>
                </a:solidFill>
              </a:rPr>
              <a:t>多准则决策分析（</a:t>
            </a:r>
            <a:r>
              <a:rPr lang="en-US" altLang="zh-CN" sz="1200">
                <a:solidFill>
                  <a:srgbClr val="FF0000"/>
                </a:solidFill>
              </a:rPr>
              <a:t>MCDA</a:t>
            </a:r>
            <a:r>
              <a:rPr lang="zh-CN" altLang="en-US" sz="1200">
                <a:solidFill>
                  <a:srgbClr val="FF0000"/>
                </a:solidFill>
              </a:rPr>
              <a:t>）方法</a:t>
            </a:r>
            <a:r>
              <a:rPr lang="zh-CN" altLang="en-US" sz="1200"/>
              <a:t>，用于解决涉及</a:t>
            </a:r>
            <a:r>
              <a:rPr lang="zh-CN" altLang="en-US" sz="1200">
                <a:solidFill>
                  <a:srgbClr val="FF0000"/>
                </a:solidFill>
              </a:rPr>
              <a:t>多个评价指标</a:t>
            </a:r>
            <a:r>
              <a:rPr lang="zh-CN" altLang="en-US" sz="1200"/>
              <a:t>的问题，</a:t>
            </a:r>
            <a:r>
              <a:rPr lang="zh-CN" altLang="en-US" sz="1200" b="0" i="0">
                <a:solidFill>
                  <a:srgbClr val="2C2C36"/>
                </a:solidFill>
                <a:effectLst/>
                <a:highlight>
                  <a:srgbClr val="FFFFFF"/>
                </a:highlight>
                <a:latin typeface="-apple-system"/>
              </a:rPr>
              <a:t>通过量化的方式帮助决策者在复杂的多准则决策环境中</a:t>
            </a:r>
            <a:r>
              <a:rPr lang="zh-CN" altLang="en-US" sz="1200" b="0" i="0">
                <a:solidFill>
                  <a:srgbClr val="FF0000"/>
                </a:solidFill>
                <a:effectLst/>
                <a:highlight>
                  <a:srgbClr val="FFFFFF"/>
                </a:highlight>
                <a:latin typeface="-apple-system"/>
              </a:rPr>
              <a:t>做出最优选择</a:t>
            </a:r>
            <a:r>
              <a:rPr lang="zh-CN" altLang="en-US" sz="1200"/>
              <a:t>。</a:t>
            </a:r>
          </a:p>
        </p:txBody>
      </p:sp>
    </p:spTree>
    <p:extLst>
      <p:ext uri="{BB962C8B-B14F-4D97-AF65-F5344CB8AC3E}">
        <p14:creationId xmlns:p14="http://schemas.microsoft.com/office/powerpoint/2010/main" val="689528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5E281A6-0E6D-4B61-6B52-2A915AC08D63}"/>
              </a:ext>
            </a:extLst>
          </p:cNvPr>
          <p:cNvSpPr txBox="1"/>
          <p:nvPr/>
        </p:nvSpPr>
        <p:spPr>
          <a:xfrm>
            <a:off x="129308" y="131649"/>
            <a:ext cx="3810001"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灰色关联分析</a:t>
            </a:r>
          </a:p>
        </p:txBody>
      </p:sp>
      <p:sp>
        <p:nvSpPr>
          <p:cNvPr id="10" name="文本框 9">
            <a:extLst>
              <a:ext uri="{FF2B5EF4-FFF2-40B4-BE49-F238E27FC236}">
                <a16:creationId xmlns:a16="http://schemas.microsoft.com/office/drawing/2014/main" id="{72B4AA0C-0988-C56B-6C08-B1BB4D64F358}"/>
              </a:ext>
            </a:extLst>
          </p:cNvPr>
          <p:cNvSpPr txBox="1"/>
          <p:nvPr/>
        </p:nvSpPr>
        <p:spPr>
          <a:xfrm>
            <a:off x="3710450" y="417359"/>
            <a:ext cx="3061855" cy="369332"/>
          </a:xfrm>
          <a:prstGeom prst="rect">
            <a:avLst/>
          </a:prstGeom>
          <a:noFill/>
        </p:spPr>
        <p:txBody>
          <a:bodyPr wrap="square">
            <a:spAutoFit/>
          </a:bodyPr>
          <a:lstStyle/>
          <a:p>
            <a:r>
              <a:rPr lang="en-US" altLang="zh-CN">
                <a:latin typeface="CommercialScript BT" panose="03030803040807090C04" pitchFamily="66" charset="0"/>
              </a:rPr>
              <a:t>Grey Relation Analysis  </a:t>
            </a:r>
            <a:r>
              <a:rPr lang="en-US" altLang="zh-CN">
                <a:latin typeface="Aharoni" panose="02010803020104030203" pitchFamily="2" charset="-79"/>
                <a:ea typeface="Artifakt Element Heavy" panose="020B0B03050000020004" pitchFamily="34" charset="0"/>
                <a:cs typeface="Aharoni" panose="02010803020104030203" pitchFamily="2" charset="-79"/>
              </a:rPr>
              <a:t>(GRA)</a:t>
            </a:r>
            <a:endParaRPr lang="zh-CN" altLang="en-US">
              <a:latin typeface="Aharoni" panose="02010803020104030203" pitchFamily="2" charset="-79"/>
              <a:cs typeface="Aharoni" panose="02010803020104030203" pitchFamily="2" charset="-79"/>
            </a:endParaRPr>
          </a:p>
        </p:txBody>
      </p:sp>
      <p:sp>
        <p:nvSpPr>
          <p:cNvPr id="11" name="文本框 10">
            <a:extLst>
              <a:ext uri="{FF2B5EF4-FFF2-40B4-BE49-F238E27FC236}">
                <a16:creationId xmlns:a16="http://schemas.microsoft.com/office/drawing/2014/main" id="{EAD9B8A3-90CD-C691-5253-A21C7FFAEC69}"/>
              </a:ext>
            </a:extLst>
          </p:cNvPr>
          <p:cNvSpPr txBox="1"/>
          <p:nvPr/>
        </p:nvSpPr>
        <p:spPr>
          <a:xfrm>
            <a:off x="3710450" y="88389"/>
            <a:ext cx="8079765" cy="461665"/>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一种</a:t>
            </a:r>
            <a:r>
              <a:rPr lang="zh-CN" altLang="en-US" sz="1200">
                <a:solidFill>
                  <a:srgbClr val="FF0000"/>
                </a:solidFill>
                <a:latin typeface="楷体" panose="02010609060101010101" pitchFamily="49" charset="-122"/>
                <a:ea typeface="楷体" panose="02010609060101010101" pitchFamily="49" charset="-122"/>
              </a:rPr>
              <a:t>系统分析方法</a:t>
            </a:r>
            <a:r>
              <a:rPr lang="zh-CN" altLang="en-US" sz="1200">
                <a:latin typeface="楷体" panose="02010609060101010101" pitchFamily="49" charset="-122"/>
                <a:ea typeface="楷体" panose="02010609060101010101" pitchFamily="49" charset="-122"/>
              </a:rPr>
              <a:t>，</a:t>
            </a:r>
            <a:r>
              <a:rPr lang="zh-CN" altLang="en-US" sz="1200"/>
              <a:t>用于评估系统中各因素之间的</a:t>
            </a:r>
            <a:r>
              <a:rPr lang="zh-CN" altLang="en-US" sz="1200">
                <a:solidFill>
                  <a:srgbClr val="FF0000"/>
                </a:solidFill>
              </a:rPr>
              <a:t>关联程度</a:t>
            </a:r>
            <a:r>
              <a:rPr lang="zh-CN" altLang="en-US" sz="1200"/>
              <a:t>。特别适用于数据不完整或者部分已知的情况，即所谓的</a:t>
            </a:r>
            <a:r>
              <a:rPr lang="zh-CN" altLang="en-US" sz="1200">
                <a:solidFill>
                  <a:srgbClr val="FF0000"/>
                </a:solidFill>
              </a:rPr>
              <a:t>“灰箱”系统</a:t>
            </a:r>
            <a:r>
              <a:rPr lang="zh-CN" altLang="en-US" sz="1200"/>
              <a:t>。在灰色系统理论中，“灰色”是指那些信息不完全透明的系统或情况。</a:t>
            </a:r>
            <a:endParaRPr lang="zh-CN" altLang="en-US" sz="1200">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D6CD681E-AABF-EAF3-AF96-BE3EFF29C070}"/>
              </a:ext>
            </a:extLst>
          </p:cNvPr>
          <p:cNvSpPr txBox="1"/>
          <p:nvPr/>
        </p:nvSpPr>
        <p:spPr>
          <a:xfrm>
            <a:off x="6772305" y="614805"/>
            <a:ext cx="4964430" cy="276999"/>
          </a:xfrm>
          <a:prstGeom prst="rect">
            <a:avLst/>
          </a:prstGeom>
          <a:noFill/>
        </p:spPr>
        <p:txBody>
          <a:bodyPr wrap="square">
            <a:spAutoFit/>
          </a:bodyPr>
          <a:lstStyle/>
          <a:p>
            <a:r>
              <a:rPr lang="zh-CN" altLang="en-US" sz="1200" b="1">
                <a:latin typeface="楷体" panose="02010609060101010101" pitchFamily="49" charset="-122"/>
                <a:ea typeface="楷体" panose="02010609060101010101" pitchFamily="49" charset="-122"/>
                <a:cs typeface="Aharoni" panose="02010803020104030203" pitchFamily="2" charset="-79"/>
              </a:rPr>
              <a:t>基本思想</a:t>
            </a:r>
            <a:r>
              <a:rPr lang="zh-CN" altLang="en-US" sz="1200">
                <a:latin typeface="楷体" panose="02010609060101010101" pitchFamily="49" charset="-122"/>
                <a:ea typeface="楷体" panose="02010609060101010101" pitchFamily="49" charset="-122"/>
                <a:cs typeface="Aharoni" panose="02010803020104030203" pitchFamily="2" charset="-79"/>
              </a:rPr>
              <a:t>：根据序列曲线几何形状的相似程度来判断其联系是否紧密</a:t>
            </a:r>
          </a:p>
        </p:txBody>
      </p:sp>
      <p:graphicFrame>
        <p:nvGraphicFramePr>
          <p:cNvPr id="22" name="图表 21">
            <a:extLst>
              <a:ext uri="{FF2B5EF4-FFF2-40B4-BE49-F238E27FC236}">
                <a16:creationId xmlns:a16="http://schemas.microsoft.com/office/drawing/2014/main" id="{701619E4-DD4F-4C37-4BA7-9C536470EAB5}"/>
              </a:ext>
            </a:extLst>
          </p:cNvPr>
          <p:cNvGraphicFramePr>
            <a:graphicFrameLocks/>
          </p:cNvGraphicFramePr>
          <p:nvPr>
            <p:extLst>
              <p:ext uri="{D42A27DB-BD31-4B8C-83A1-F6EECF244321}">
                <p14:modId xmlns:p14="http://schemas.microsoft.com/office/powerpoint/2010/main" val="1233924395"/>
              </p:ext>
            </p:extLst>
          </p:nvPr>
        </p:nvGraphicFramePr>
        <p:xfrm>
          <a:off x="1602257" y="2653427"/>
          <a:ext cx="2553666" cy="1143467"/>
        </p:xfrm>
        <a:graphic>
          <a:graphicData uri="http://schemas.openxmlformats.org/drawingml/2006/chart">
            <c:chart xmlns:c="http://schemas.openxmlformats.org/drawingml/2006/chart" xmlns:r="http://schemas.openxmlformats.org/officeDocument/2006/relationships" r:id="rId2"/>
          </a:graphicData>
        </a:graphic>
      </p:graphicFrame>
      <p:sp>
        <p:nvSpPr>
          <p:cNvPr id="26" name="文本框 25">
            <a:extLst>
              <a:ext uri="{FF2B5EF4-FFF2-40B4-BE49-F238E27FC236}">
                <a16:creationId xmlns:a16="http://schemas.microsoft.com/office/drawing/2014/main" id="{101CDD74-1BF7-2640-6670-87F8184E3EE7}"/>
              </a:ext>
            </a:extLst>
          </p:cNvPr>
          <p:cNvSpPr txBox="1"/>
          <p:nvPr/>
        </p:nvSpPr>
        <p:spPr>
          <a:xfrm>
            <a:off x="648159" y="2443860"/>
            <a:ext cx="1058875"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1.</a:t>
            </a:r>
            <a:r>
              <a:rPr lang="zh-CN" altLang="en-US" sz="1400">
                <a:latin typeface="优设标题黑" panose="00000500000000000000" pitchFamily="2" charset="-122"/>
                <a:ea typeface="优设标题黑" panose="00000500000000000000" pitchFamily="2" charset="-122"/>
              </a:rPr>
              <a:t>画统计图</a:t>
            </a:r>
          </a:p>
        </p:txBody>
      </p:sp>
      <p:sp>
        <p:nvSpPr>
          <p:cNvPr id="27" name="文本框 26">
            <a:extLst>
              <a:ext uri="{FF2B5EF4-FFF2-40B4-BE49-F238E27FC236}">
                <a16:creationId xmlns:a16="http://schemas.microsoft.com/office/drawing/2014/main" id="{91F26CDB-48C9-7D9E-2958-165C74181A9E}"/>
              </a:ext>
            </a:extLst>
          </p:cNvPr>
          <p:cNvSpPr txBox="1"/>
          <p:nvPr/>
        </p:nvSpPr>
        <p:spPr>
          <a:xfrm>
            <a:off x="629944" y="4590098"/>
            <a:ext cx="1339438"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2.</a:t>
            </a:r>
            <a:r>
              <a:rPr lang="zh-CN" altLang="en-US" sz="1400">
                <a:latin typeface="优设标题黑" panose="00000500000000000000" pitchFamily="2" charset="-122"/>
                <a:ea typeface="优设标题黑" panose="00000500000000000000" pitchFamily="2" charset="-122"/>
              </a:rPr>
              <a:t>确定分析序列</a:t>
            </a:r>
          </a:p>
        </p:txBody>
      </p:sp>
      <p:sp>
        <p:nvSpPr>
          <p:cNvPr id="28" name="文本框 27">
            <a:extLst>
              <a:ext uri="{FF2B5EF4-FFF2-40B4-BE49-F238E27FC236}">
                <a16:creationId xmlns:a16="http://schemas.microsoft.com/office/drawing/2014/main" id="{3C20A923-68F8-A810-3F88-2644DA559DF3}"/>
              </a:ext>
            </a:extLst>
          </p:cNvPr>
          <p:cNvSpPr txBox="1"/>
          <p:nvPr/>
        </p:nvSpPr>
        <p:spPr>
          <a:xfrm>
            <a:off x="615313" y="5105636"/>
            <a:ext cx="849320"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3.</a:t>
            </a:r>
            <a:r>
              <a:rPr lang="zh-CN" altLang="en-US" sz="1400">
                <a:latin typeface="优设标题黑" panose="00000500000000000000" pitchFamily="2" charset="-122"/>
                <a:ea typeface="优设标题黑" panose="00000500000000000000" pitchFamily="2" charset="-122"/>
              </a:rPr>
              <a:t>预处理</a:t>
            </a:r>
          </a:p>
        </p:txBody>
      </p:sp>
      <p:pic>
        <p:nvPicPr>
          <p:cNvPr id="33" name="图片 32">
            <a:extLst>
              <a:ext uri="{FF2B5EF4-FFF2-40B4-BE49-F238E27FC236}">
                <a16:creationId xmlns:a16="http://schemas.microsoft.com/office/drawing/2014/main" id="{6ABA32D8-5784-B127-4775-58761E86C895}"/>
              </a:ext>
            </a:extLst>
          </p:cNvPr>
          <p:cNvPicPr>
            <a:picLocks noChangeAspect="1"/>
          </p:cNvPicPr>
          <p:nvPr/>
        </p:nvPicPr>
        <p:blipFill>
          <a:blip r:embed="rId3"/>
          <a:stretch>
            <a:fillRect/>
          </a:stretch>
        </p:blipFill>
        <p:spPr>
          <a:xfrm>
            <a:off x="1707034" y="1158524"/>
            <a:ext cx="2448889" cy="1219753"/>
          </a:xfrm>
          <a:prstGeom prst="rect">
            <a:avLst/>
          </a:prstGeom>
        </p:spPr>
      </p:pic>
      <p:sp>
        <p:nvSpPr>
          <p:cNvPr id="35" name="文本框 34">
            <a:extLst>
              <a:ext uri="{FF2B5EF4-FFF2-40B4-BE49-F238E27FC236}">
                <a16:creationId xmlns:a16="http://schemas.microsoft.com/office/drawing/2014/main" id="{E7609DA9-6C5D-5821-F2F4-1569803BE315}"/>
              </a:ext>
            </a:extLst>
          </p:cNvPr>
          <p:cNvSpPr txBox="1"/>
          <p:nvPr/>
        </p:nvSpPr>
        <p:spPr>
          <a:xfrm>
            <a:off x="1358706" y="5098404"/>
            <a:ext cx="1470356" cy="276999"/>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元素除以列均值</a:t>
            </a:r>
          </a:p>
        </p:txBody>
      </p:sp>
      <p:sp>
        <p:nvSpPr>
          <p:cNvPr id="36" name="文本框 35">
            <a:extLst>
              <a:ext uri="{FF2B5EF4-FFF2-40B4-BE49-F238E27FC236}">
                <a16:creationId xmlns:a16="http://schemas.microsoft.com/office/drawing/2014/main" id="{FA3528D7-0449-2075-627B-A2790F528840}"/>
              </a:ext>
            </a:extLst>
          </p:cNvPr>
          <p:cNvSpPr txBox="1"/>
          <p:nvPr/>
        </p:nvSpPr>
        <p:spPr>
          <a:xfrm>
            <a:off x="6404756" y="1132801"/>
            <a:ext cx="1339438"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4.</a:t>
            </a:r>
            <a:r>
              <a:rPr lang="zh-CN" altLang="en-US" sz="1400">
                <a:latin typeface="优设标题黑" panose="00000500000000000000" pitchFamily="2" charset="-122"/>
                <a:ea typeface="优设标题黑" panose="00000500000000000000" pitchFamily="2" charset="-122"/>
              </a:rPr>
              <a:t>计算关联指数</a:t>
            </a:r>
          </a:p>
        </p:txBody>
      </p:sp>
      <p:pic>
        <p:nvPicPr>
          <p:cNvPr id="39" name="图片 38">
            <a:extLst>
              <a:ext uri="{FF2B5EF4-FFF2-40B4-BE49-F238E27FC236}">
                <a16:creationId xmlns:a16="http://schemas.microsoft.com/office/drawing/2014/main" id="{F5DE526B-8A93-2FE6-3738-F87D1F0D9918}"/>
              </a:ext>
            </a:extLst>
          </p:cNvPr>
          <p:cNvPicPr>
            <a:picLocks noChangeAspect="1"/>
          </p:cNvPicPr>
          <p:nvPr/>
        </p:nvPicPr>
        <p:blipFill>
          <a:blip r:embed="rId4"/>
          <a:stretch>
            <a:fillRect/>
          </a:stretch>
        </p:blipFill>
        <p:spPr>
          <a:xfrm>
            <a:off x="1526906" y="5375403"/>
            <a:ext cx="2704367" cy="1201941"/>
          </a:xfrm>
          <a:prstGeom prst="rect">
            <a:avLst/>
          </a:prstGeom>
        </p:spPr>
      </p:pic>
      <p:pic>
        <p:nvPicPr>
          <p:cNvPr id="41" name="图片 40">
            <a:extLst>
              <a:ext uri="{FF2B5EF4-FFF2-40B4-BE49-F238E27FC236}">
                <a16:creationId xmlns:a16="http://schemas.microsoft.com/office/drawing/2014/main" id="{EB53ADA6-5EB8-D52E-79E0-0246A574160D}"/>
              </a:ext>
            </a:extLst>
          </p:cNvPr>
          <p:cNvPicPr>
            <a:picLocks noChangeAspect="1"/>
          </p:cNvPicPr>
          <p:nvPr/>
        </p:nvPicPr>
        <p:blipFill>
          <a:blip r:embed="rId5"/>
          <a:stretch>
            <a:fillRect/>
          </a:stretch>
        </p:blipFill>
        <p:spPr>
          <a:xfrm>
            <a:off x="8136016" y="1046531"/>
            <a:ext cx="1435298" cy="1060475"/>
          </a:xfrm>
          <a:prstGeom prst="rect">
            <a:avLst/>
          </a:prstGeom>
        </p:spPr>
      </p:pic>
      <p:pic>
        <p:nvPicPr>
          <p:cNvPr id="43" name="图片 42">
            <a:extLst>
              <a:ext uri="{FF2B5EF4-FFF2-40B4-BE49-F238E27FC236}">
                <a16:creationId xmlns:a16="http://schemas.microsoft.com/office/drawing/2014/main" id="{FA4FD8A7-5E39-5775-5197-B1B5BF7959A0}"/>
              </a:ext>
            </a:extLst>
          </p:cNvPr>
          <p:cNvPicPr>
            <a:picLocks noChangeAspect="1"/>
          </p:cNvPicPr>
          <p:nvPr/>
        </p:nvPicPr>
        <p:blipFill>
          <a:blip r:embed="rId6"/>
          <a:stretch>
            <a:fillRect/>
          </a:stretch>
        </p:blipFill>
        <p:spPr>
          <a:xfrm>
            <a:off x="8137464" y="3046677"/>
            <a:ext cx="1433850" cy="776288"/>
          </a:xfrm>
          <a:prstGeom prst="rect">
            <a:avLst/>
          </a:prstGeom>
        </p:spPr>
      </p:pic>
      <p:graphicFrame>
        <p:nvGraphicFramePr>
          <p:cNvPr id="44" name="对象 43">
            <a:extLst>
              <a:ext uri="{FF2B5EF4-FFF2-40B4-BE49-F238E27FC236}">
                <a16:creationId xmlns:a16="http://schemas.microsoft.com/office/drawing/2014/main" id="{38ADA5EE-5D6D-36CD-8DEA-98C816AE71FC}"/>
              </a:ext>
            </a:extLst>
          </p:cNvPr>
          <p:cNvGraphicFramePr>
            <a:graphicFrameLocks noChangeAspect="1"/>
          </p:cNvGraphicFramePr>
          <p:nvPr>
            <p:extLst>
              <p:ext uri="{D42A27DB-BD31-4B8C-83A1-F6EECF244321}">
                <p14:modId xmlns:p14="http://schemas.microsoft.com/office/powerpoint/2010/main" val="119448967"/>
              </p:ext>
            </p:extLst>
          </p:nvPr>
        </p:nvGraphicFramePr>
        <p:xfrm>
          <a:off x="6600305" y="2196416"/>
          <a:ext cx="1856049" cy="222353"/>
        </p:xfrm>
        <a:graphic>
          <a:graphicData uri="http://schemas.openxmlformats.org/presentationml/2006/ole">
            <mc:AlternateContent xmlns:mc="http://schemas.openxmlformats.org/markup-compatibility/2006">
              <mc:Choice xmlns:v="urn:schemas-microsoft-com:vml" Requires="v">
                <p:oleObj name="AxMath" r:id="rId7" imgW="2212920" imgH="264960" progId="Equation.AxMath">
                  <p:embed/>
                </p:oleObj>
              </mc:Choice>
              <mc:Fallback>
                <p:oleObj name="AxMath" r:id="rId7" imgW="2212920" imgH="264960" progId="Equation.AxMath">
                  <p:embed/>
                  <p:pic>
                    <p:nvPicPr>
                      <p:cNvPr id="0" name=""/>
                      <p:cNvPicPr/>
                      <p:nvPr/>
                    </p:nvPicPr>
                    <p:blipFill>
                      <a:blip r:embed="rId8"/>
                      <a:stretch>
                        <a:fillRect/>
                      </a:stretch>
                    </p:blipFill>
                    <p:spPr>
                      <a:xfrm>
                        <a:off x="6600305" y="2196416"/>
                        <a:ext cx="1856049" cy="222353"/>
                      </a:xfrm>
                      <a:prstGeom prst="rect">
                        <a:avLst/>
                      </a:prstGeom>
                    </p:spPr>
                  </p:pic>
                </p:oleObj>
              </mc:Fallback>
            </mc:AlternateContent>
          </a:graphicData>
        </a:graphic>
      </p:graphicFrame>
      <p:graphicFrame>
        <p:nvGraphicFramePr>
          <p:cNvPr id="45" name="对象 44">
            <a:extLst>
              <a:ext uri="{FF2B5EF4-FFF2-40B4-BE49-F238E27FC236}">
                <a16:creationId xmlns:a16="http://schemas.microsoft.com/office/drawing/2014/main" id="{4B6250B7-E754-B816-D245-2EF5A4B76034}"/>
              </a:ext>
            </a:extLst>
          </p:cNvPr>
          <p:cNvGraphicFramePr>
            <a:graphicFrameLocks noChangeAspect="1"/>
          </p:cNvGraphicFramePr>
          <p:nvPr>
            <p:extLst>
              <p:ext uri="{D42A27DB-BD31-4B8C-83A1-F6EECF244321}">
                <p14:modId xmlns:p14="http://schemas.microsoft.com/office/powerpoint/2010/main" val="390865281"/>
              </p:ext>
            </p:extLst>
          </p:nvPr>
        </p:nvGraphicFramePr>
        <p:xfrm>
          <a:off x="6600305" y="2416459"/>
          <a:ext cx="1893888" cy="222250"/>
        </p:xfrm>
        <a:graphic>
          <a:graphicData uri="http://schemas.openxmlformats.org/presentationml/2006/ole">
            <mc:AlternateContent xmlns:mc="http://schemas.openxmlformats.org/markup-compatibility/2006">
              <mc:Choice xmlns:v="urn:schemas-microsoft-com:vml" Requires="v">
                <p:oleObj name="AxMath" r:id="rId9" imgW="2257560" imgH="264960" progId="Equation.AxMath">
                  <p:embed/>
                </p:oleObj>
              </mc:Choice>
              <mc:Fallback>
                <p:oleObj name="AxMath" r:id="rId9" imgW="2257560" imgH="264960" progId="Equation.AxMath">
                  <p:embed/>
                  <p:pic>
                    <p:nvPicPr>
                      <p:cNvPr id="44" name="对象 43">
                        <a:extLst>
                          <a:ext uri="{FF2B5EF4-FFF2-40B4-BE49-F238E27FC236}">
                            <a16:creationId xmlns:a16="http://schemas.microsoft.com/office/drawing/2014/main" id="{38ADA5EE-5D6D-36CD-8DEA-98C816AE71FC}"/>
                          </a:ext>
                        </a:extLst>
                      </p:cNvPr>
                      <p:cNvPicPr/>
                      <p:nvPr/>
                    </p:nvPicPr>
                    <p:blipFill>
                      <a:blip r:embed="rId10"/>
                      <a:stretch>
                        <a:fillRect/>
                      </a:stretch>
                    </p:blipFill>
                    <p:spPr>
                      <a:xfrm>
                        <a:off x="6600305" y="2416459"/>
                        <a:ext cx="1893888" cy="222250"/>
                      </a:xfrm>
                      <a:prstGeom prst="rect">
                        <a:avLst/>
                      </a:prstGeom>
                    </p:spPr>
                  </p:pic>
                </p:oleObj>
              </mc:Fallback>
            </mc:AlternateContent>
          </a:graphicData>
        </a:graphic>
      </p:graphicFrame>
      <p:graphicFrame>
        <p:nvGraphicFramePr>
          <p:cNvPr id="46" name="对象 45">
            <a:extLst>
              <a:ext uri="{FF2B5EF4-FFF2-40B4-BE49-F238E27FC236}">
                <a16:creationId xmlns:a16="http://schemas.microsoft.com/office/drawing/2014/main" id="{5F786508-6FC3-5493-83FC-06D069C2FFAC}"/>
              </a:ext>
            </a:extLst>
          </p:cNvPr>
          <p:cNvGraphicFramePr>
            <a:graphicFrameLocks noChangeAspect="1"/>
          </p:cNvGraphicFramePr>
          <p:nvPr>
            <p:extLst>
              <p:ext uri="{D42A27DB-BD31-4B8C-83A1-F6EECF244321}">
                <p14:modId xmlns:p14="http://schemas.microsoft.com/office/powerpoint/2010/main" val="2057473626"/>
              </p:ext>
            </p:extLst>
          </p:nvPr>
        </p:nvGraphicFramePr>
        <p:xfrm>
          <a:off x="6600305" y="2599612"/>
          <a:ext cx="3097103" cy="307778"/>
        </p:xfrm>
        <a:graphic>
          <a:graphicData uri="http://schemas.openxmlformats.org/presentationml/2006/ole">
            <mc:AlternateContent xmlns:mc="http://schemas.openxmlformats.org/markup-compatibility/2006">
              <mc:Choice xmlns:v="urn:schemas-microsoft-com:vml" Requires="v">
                <p:oleObj name="AxMath" r:id="rId11" imgW="3562920" imgH="354240" progId="Equation.AxMath">
                  <p:embed/>
                </p:oleObj>
              </mc:Choice>
              <mc:Fallback>
                <p:oleObj name="AxMath" r:id="rId11" imgW="3562920" imgH="354240" progId="Equation.AxMath">
                  <p:embed/>
                  <p:pic>
                    <p:nvPicPr>
                      <p:cNvPr id="0" name=""/>
                      <p:cNvPicPr/>
                      <p:nvPr/>
                    </p:nvPicPr>
                    <p:blipFill>
                      <a:blip r:embed="rId12"/>
                      <a:stretch>
                        <a:fillRect/>
                      </a:stretch>
                    </p:blipFill>
                    <p:spPr>
                      <a:xfrm>
                        <a:off x="6600305" y="2599612"/>
                        <a:ext cx="3097103" cy="307778"/>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C1F08436-4D06-C9CB-9FCF-D9658A8FBA25}"/>
              </a:ext>
            </a:extLst>
          </p:cNvPr>
          <p:cNvGraphicFramePr>
            <a:graphicFrameLocks noChangeAspect="1"/>
          </p:cNvGraphicFramePr>
          <p:nvPr>
            <p:extLst>
              <p:ext uri="{D42A27DB-BD31-4B8C-83A1-F6EECF244321}">
                <p14:modId xmlns:p14="http://schemas.microsoft.com/office/powerpoint/2010/main" val="3525156108"/>
              </p:ext>
            </p:extLst>
          </p:nvPr>
        </p:nvGraphicFramePr>
        <p:xfrm>
          <a:off x="6600305" y="4214393"/>
          <a:ext cx="2907750" cy="398151"/>
        </p:xfrm>
        <a:graphic>
          <a:graphicData uri="http://schemas.openxmlformats.org/presentationml/2006/ole">
            <mc:AlternateContent xmlns:mc="http://schemas.openxmlformats.org/markup-compatibility/2006">
              <mc:Choice xmlns:v="urn:schemas-microsoft-com:vml" Requires="v">
                <p:oleObj name="AxMath" r:id="rId13" imgW="2944080" imgH="403200" progId="Equation.AxMath">
                  <p:embed/>
                </p:oleObj>
              </mc:Choice>
              <mc:Fallback>
                <p:oleObj name="AxMath" r:id="rId13" imgW="2944080" imgH="403200" progId="Equation.AxMath">
                  <p:embed/>
                  <p:pic>
                    <p:nvPicPr>
                      <p:cNvPr id="0" name=""/>
                      <p:cNvPicPr/>
                      <p:nvPr/>
                    </p:nvPicPr>
                    <p:blipFill>
                      <a:blip r:embed="rId14"/>
                      <a:stretch>
                        <a:fillRect/>
                      </a:stretch>
                    </p:blipFill>
                    <p:spPr>
                      <a:xfrm>
                        <a:off x="6600305" y="4214393"/>
                        <a:ext cx="2907750" cy="398151"/>
                      </a:xfrm>
                      <a:prstGeom prst="rect">
                        <a:avLst/>
                      </a:prstGeom>
                    </p:spPr>
                  </p:pic>
                </p:oleObj>
              </mc:Fallback>
            </mc:AlternateContent>
          </a:graphicData>
        </a:graphic>
      </p:graphicFrame>
      <p:pic>
        <p:nvPicPr>
          <p:cNvPr id="51" name="图片 50">
            <a:extLst>
              <a:ext uri="{FF2B5EF4-FFF2-40B4-BE49-F238E27FC236}">
                <a16:creationId xmlns:a16="http://schemas.microsoft.com/office/drawing/2014/main" id="{F3EB9CEE-94FA-376C-0BD8-6711490E15EE}"/>
              </a:ext>
            </a:extLst>
          </p:cNvPr>
          <p:cNvPicPr>
            <a:picLocks noChangeAspect="1"/>
          </p:cNvPicPr>
          <p:nvPr/>
        </p:nvPicPr>
        <p:blipFill>
          <a:blip r:embed="rId15"/>
          <a:stretch>
            <a:fillRect/>
          </a:stretch>
        </p:blipFill>
        <p:spPr>
          <a:xfrm>
            <a:off x="8040447" y="4677062"/>
            <a:ext cx="1742770" cy="166506"/>
          </a:xfrm>
          <a:prstGeom prst="rect">
            <a:avLst/>
          </a:prstGeom>
        </p:spPr>
      </p:pic>
      <p:sp>
        <p:nvSpPr>
          <p:cNvPr id="52" name="文本框 51">
            <a:extLst>
              <a:ext uri="{FF2B5EF4-FFF2-40B4-BE49-F238E27FC236}">
                <a16:creationId xmlns:a16="http://schemas.microsoft.com/office/drawing/2014/main" id="{1C1A7DEA-EE84-8E80-AB4F-3DF6001AB778}"/>
              </a:ext>
            </a:extLst>
          </p:cNvPr>
          <p:cNvSpPr txBox="1"/>
          <p:nvPr/>
        </p:nvSpPr>
        <p:spPr>
          <a:xfrm>
            <a:off x="6404756" y="3857357"/>
            <a:ext cx="1669563"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5.</a:t>
            </a:r>
            <a:r>
              <a:rPr lang="zh-CN" altLang="en-US" sz="1400">
                <a:latin typeface="优设标题黑" panose="00000500000000000000" pitchFamily="2" charset="-122"/>
                <a:ea typeface="优设标题黑" panose="00000500000000000000" pitchFamily="2" charset="-122"/>
              </a:rPr>
              <a:t>定义灰色关联度</a:t>
            </a:r>
          </a:p>
        </p:txBody>
      </p:sp>
      <p:sp>
        <p:nvSpPr>
          <p:cNvPr id="53" name="文本框 52">
            <a:extLst>
              <a:ext uri="{FF2B5EF4-FFF2-40B4-BE49-F238E27FC236}">
                <a16:creationId xmlns:a16="http://schemas.microsoft.com/office/drawing/2014/main" id="{A663F891-2672-B830-999B-623D89B7E856}"/>
              </a:ext>
            </a:extLst>
          </p:cNvPr>
          <p:cNvSpPr txBox="1"/>
          <p:nvPr/>
        </p:nvSpPr>
        <p:spPr>
          <a:xfrm>
            <a:off x="6404756" y="4901599"/>
            <a:ext cx="1669563" cy="307777"/>
          </a:xfrm>
          <a:prstGeom prst="rect">
            <a:avLst/>
          </a:prstGeom>
          <a:noFill/>
        </p:spPr>
        <p:txBody>
          <a:bodyPr wrap="square">
            <a:spAutoFit/>
          </a:bodyPr>
          <a:lstStyle/>
          <a:p>
            <a:r>
              <a:rPr lang="en-US" altLang="zh-CN" sz="1400">
                <a:latin typeface="优设标题黑" panose="00000500000000000000" pitchFamily="2" charset="-122"/>
                <a:ea typeface="优设标题黑" panose="00000500000000000000" pitchFamily="2" charset="-122"/>
              </a:rPr>
              <a:t>6.</a:t>
            </a:r>
            <a:r>
              <a:rPr lang="zh-CN" altLang="en-US" sz="1400">
                <a:latin typeface="优设标题黑" panose="00000500000000000000" pitchFamily="2" charset="-122"/>
                <a:ea typeface="优设标题黑" panose="00000500000000000000" pitchFamily="2" charset="-122"/>
              </a:rPr>
              <a:t>比较关联度得结论</a:t>
            </a:r>
          </a:p>
        </p:txBody>
      </p:sp>
      <p:sp>
        <p:nvSpPr>
          <p:cNvPr id="57" name="文本框 56">
            <a:extLst>
              <a:ext uri="{FF2B5EF4-FFF2-40B4-BE49-F238E27FC236}">
                <a16:creationId xmlns:a16="http://schemas.microsoft.com/office/drawing/2014/main" id="{A89DE74A-7D03-08E9-A5E8-0DC4AC69ECD2}"/>
              </a:ext>
            </a:extLst>
          </p:cNvPr>
          <p:cNvSpPr txBox="1"/>
          <p:nvPr/>
        </p:nvSpPr>
        <p:spPr>
          <a:xfrm>
            <a:off x="6462334" y="5184455"/>
            <a:ext cx="4595646" cy="27699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由</a:t>
            </a:r>
            <a:r>
              <a:rPr lang="en-US" altLang="zh-CN" sz="1200">
                <a:latin typeface="楷体" panose="02010609060101010101" pitchFamily="49" charset="-122"/>
                <a:ea typeface="楷体" panose="02010609060101010101" pitchFamily="49" charset="-122"/>
              </a:rPr>
              <a:t>X3</a:t>
            </a:r>
            <a:r>
              <a:rPr lang="zh-CN" altLang="en-US" sz="1200">
                <a:latin typeface="楷体" panose="02010609060101010101" pitchFamily="49" charset="-122"/>
                <a:ea typeface="楷体" panose="02010609060101010101" pitchFamily="49" charset="-122"/>
              </a:rPr>
              <a:t>的灰色关联度最大可知，母序列</a:t>
            </a:r>
            <a:r>
              <a:rPr lang="en-US" altLang="zh-CN" sz="1200">
                <a:latin typeface="楷体" panose="02010609060101010101" pitchFamily="49" charset="-122"/>
                <a:ea typeface="楷体" panose="02010609060101010101" pitchFamily="49" charset="-122"/>
              </a:rPr>
              <a:t>X0</a:t>
            </a:r>
            <a:r>
              <a:rPr lang="zh-CN" altLang="en-US" sz="1200">
                <a:latin typeface="楷体" panose="02010609060101010101" pitchFamily="49" charset="-122"/>
                <a:ea typeface="楷体" panose="02010609060101010101" pitchFamily="49" charset="-122"/>
              </a:rPr>
              <a:t>受子序列</a:t>
            </a:r>
            <a:r>
              <a:rPr lang="en-US" altLang="zh-CN" sz="1200">
                <a:latin typeface="楷体" panose="02010609060101010101" pitchFamily="49" charset="-122"/>
                <a:ea typeface="楷体" panose="02010609060101010101" pitchFamily="49" charset="-122"/>
              </a:rPr>
              <a:t>X3</a:t>
            </a:r>
            <a:r>
              <a:rPr lang="zh-CN" altLang="en-US" sz="1200">
                <a:latin typeface="楷体" panose="02010609060101010101" pitchFamily="49" charset="-122"/>
                <a:ea typeface="楷体" panose="02010609060101010101" pitchFamily="49" charset="-122"/>
              </a:rPr>
              <a:t>的影响最大</a:t>
            </a:r>
          </a:p>
        </p:txBody>
      </p:sp>
      <p:sp>
        <p:nvSpPr>
          <p:cNvPr id="58" name="文本框 57">
            <a:extLst>
              <a:ext uri="{FF2B5EF4-FFF2-40B4-BE49-F238E27FC236}">
                <a16:creationId xmlns:a16="http://schemas.microsoft.com/office/drawing/2014/main" id="{8AFEF73F-572A-0A53-3F7E-13080D8188B8}"/>
              </a:ext>
            </a:extLst>
          </p:cNvPr>
          <p:cNvSpPr txBox="1"/>
          <p:nvPr/>
        </p:nvSpPr>
        <p:spPr>
          <a:xfrm>
            <a:off x="6096132" y="5675890"/>
            <a:ext cx="5544921" cy="461665"/>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注：</a:t>
            </a:r>
            <a:r>
              <a:rPr lang="en-US" altLang="zh-CN" sz="1200">
                <a:latin typeface="楷体" panose="02010609060101010101" pitchFamily="49" charset="-122"/>
                <a:ea typeface="楷体" panose="02010609060101010101" pitchFamily="49" charset="-122"/>
              </a:rPr>
              <a:t>1.</a:t>
            </a:r>
            <a:r>
              <a:rPr lang="zh-CN" altLang="en-US" sz="1200">
                <a:latin typeface="楷体" panose="02010609060101010101" pitchFamily="49" charset="-122"/>
                <a:ea typeface="楷体" panose="02010609060101010101" pitchFamily="49" charset="-122"/>
              </a:rPr>
              <a:t>如果有</a:t>
            </a:r>
            <a:r>
              <a:rPr lang="zh-CN" altLang="en-US" sz="1200">
                <a:solidFill>
                  <a:srgbClr val="FF0000"/>
                </a:solidFill>
                <a:latin typeface="楷体" panose="02010609060101010101" pitchFamily="49" charset="-122"/>
                <a:ea typeface="楷体" panose="02010609060101010101" pitchFamily="49" charset="-122"/>
              </a:rPr>
              <a:t>多个母序列</a:t>
            </a:r>
            <a:r>
              <a:rPr lang="zh-CN" altLang="en-US" sz="1200">
                <a:latin typeface="楷体" panose="02010609060101010101" pitchFamily="49" charset="-122"/>
                <a:ea typeface="楷体" panose="02010609060101010101" pitchFamily="49" charset="-122"/>
              </a:rPr>
              <a:t>，</a:t>
            </a:r>
            <a:r>
              <a:rPr lang="zh-CN" altLang="en-US" sz="1200">
                <a:solidFill>
                  <a:srgbClr val="FF0000"/>
                </a:solidFill>
                <a:latin typeface="楷体" panose="02010609060101010101" pitchFamily="49" charset="-122"/>
                <a:ea typeface="楷体" panose="02010609060101010101" pitchFamily="49" charset="-122"/>
              </a:rPr>
              <a:t>分开计算</a:t>
            </a:r>
            <a:r>
              <a:rPr lang="zh-CN" altLang="en-US" sz="1200">
                <a:latin typeface="楷体" panose="02010609060101010101" pitchFamily="49" charset="-122"/>
                <a:ea typeface="楷体" panose="02010609060101010101" pitchFamily="49" charset="-122"/>
              </a:rPr>
              <a:t>各自与子序列的灰度关联度并分析。</a:t>
            </a:r>
            <a:br>
              <a:rPr lang="en-US" altLang="zh-CN" sz="1200">
                <a:latin typeface="楷体" panose="02010609060101010101" pitchFamily="49" charset="-122"/>
                <a:ea typeface="楷体" panose="02010609060101010101" pitchFamily="49" charset="-122"/>
              </a:rPr>
            </a:br>
            <a:r>
              <a:rPr lang="en-US" altLang="zh-CN" sz="1200">
                <a:latin typeface="楷体" panose="02010609060101010101" pitchFamily="49" charset="-122"/>
                <a:ea typeface="楷体" panose="02010609060101010101" pitchFamily="49" charset="-122"/>
              </a:rPr>
              <a:t>    2.</a:t>
            </a:r>
            <a:r>
              <a:rPr lang="zh-CN" altLang="en-US" sz="1200">
                <a:latin typeface="楷体" panose="02010609060101010101" pitchFamily="49" charset="-122"/>
                <a:ea typeface="楷体" panose="02010609060101010101" pitchFamily="49" charset="-122"/>
              </a:rPr>
              <a:t>当样本个数较大时，用</a:t>
            </a:r>
            <a:r>
              <a:rPr lang="zh-CN" altLang="en-US" sz="1200" b="1">
                <a:solidFill>
                  <a:srgbClr val="FF0000"/>
                </a:solidFill>
                <a:latin typeface="楷体" panose="02010609060101010101" pitchFamily="49" charset="-122"/>
                <a:ea typeface="楷体" panose="02010609060101010101" pitchFamily="49" charset="-122"/>
              </a:rPr>
              <a:t>标准化回归</a:t>
            </a:r>
            <a:r>
              <a:rPr lang="zh-CN" altLang="en-US" sz="1200">
                <a:latin typeface="楷体" panose="02010609060101010101" pitchFamily="49" charset="-122"/>
                <a:ea typeface="楷体" panose="02010609060101010101" pitchFamily="49" charset="-122"/>
              </a:rPr>
              <a:t>；较小时，才使用</a:t>
            </a:r>
            <a:r>
              <a:rPr lang="zh-CN" altLang="en-US" sz="1200" b="1">
                <a:solidFill>
                  <a:srgbClr val="FF0000"/>
                </a:solidFill>
                <a:latin typeface="楷体" panose="02010609060101010101" pitchFamily="49" charset="-122"/>
                <a:ea typeface="楷体" panose="02010609060101010101" pitchFamily="49" charset="-122"/>
              </a:rPr>
              <a:t>灰度关联法</a:t>
            </a:r>
            <a:r>
              <a:rPr lang="zh-CN" altLang="en-US" sz="1200">
                <a:latin typeface="楷体" panose="02010609060101010101" pitchFamily="49" charset="-122"/>
                <a:ea typeface="楷体" panose="02010609060101010101" pitchFamily="49" charset="-122"/>
              </a:rPr>
              <a:t>。</a:t>
            </a:r>
          </a:p>
        </p:txBody>
      </p:sp>
      <p:sp>
        <p:nvSpPr>
          <p:cNvPr id="59" name="文本框 58">
            <a:extLst>
              <a:ext uri="{FF2B5EF4-FFF2-40B4-BE49-F238E27FC236}">
                <a16:creationId xmlns:a16="http://schemas.microsoft.com/office/drawing/2014/main" id="{CFEF367C-0F1E-5105-8B72-1C49102D7F83}"/>
              </a:ext>
            </a:extLst>
          </p:cNvPr>
          <p:cNvSpPr txBox="1"/>
          <p:nvPr/>
        </p:nvSpPr>
        <p:spPr>
          <a:xfrm>
            <a:off x="648159" y="3711586"/>
            <a:ext cx="2678451" cy="830997"/>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分析：</a:t>
            </a:r>
            <a:endParaRPr lang="en-US" altLang="zh-CN" sz="1200">
              <a:latin typeface="楷体" panose="02010609060101010101" pitchFamily="49" charset="-122"/>
              <a:ea typeface="楷体" panose="02010609060101010101" pitchFamily="49" charset="-122"/>
            </a:endParaRPr>
          </a:p>
          <a:p>
            <a:r>
              <a:rPr lang="en-US" altLang="zh-CN" sz="1200">
                <a:latin typeface="楷体" panose="02010609060101010101" pitchFamily="49" charset="-122"/>
                <a:ea typeface="楷体" panose="02010609060101010101" pitchFamily="49" charset="-122"/>
              </a:rPr>
              <a:t>1.</a:t>
            </a:r>
            <a:r>
              <a:rPr lang="zh-CN" altLang="en-US" sz="1200">
                <a:latin typeface="楷体" panose="02010609060101010101" pitchFamily="49" charset="-122"/>
                <a:ea typeface="楷体" panose="02010609060101010101" pitchFamily="49" charset="-122"/>
              </a:rPr>
              <a:t>四个变量均呈上升趋势</a:t>
            </a:r>
            <a:br>
              <a:rPr lang="en-US" altLang="zh-CN" sz="1200">
                <a:latin typeface="楷体" panose="02010609060101010101" pitchFamily="49" charset="-122"/>
                <a:ea typeface="楷体" panose="02010609060101010101" pitchFamily="49" charset="-122"/>
              </a:rPr>
            </a:br>
            <a:r>
              <a:rPr lang="en-US" altLang="zh-CN" sz="1200">
                <a:latin typeface="楷体" panose="02010609060101010101" pitchFamily="49" charset="-122"/>
                <a:ea typeface="楷体" panose="02010609060101010101" pitchFamily="49" charset="-122"/>
              </a:rPr>
              <a:t>2.X2</a:t>
            </a:r>
            <a:r>
              <a:rPr lang="zh-CN" altLang="en-US" sz="1200">
                <a:latin typeface="楷体" panose="02010609060101010101" pitchFamily="49" charset="-122"/>
                <a:ea typeface="楷体" panose="02010609060101010101" pitchFamily="49" charset="-122"/>
              </a:rPr>
              <a:t>增幅明显</a:t>
            </a:r>
            <a:br>
              <a:rPr lang="en-US" altLang="zh-CN" sz="1200">
                <a:latin typeface="楷体" panose="02010609060101010101" pitchFamily="49" charset="-122"/>
                <a:ea typeface="楷体" panose="02010609060101010101" pitchFamily="49" charset="-122"/>
              </a:rPr>
            </a:br>
            <a:r>
              <a:rPr lang="en-US" altLang="zh-CN" sz="1200">
                <a:latin typeface="楷体" panose="02010609060101010101" pitchFamily="49" charset="-122"/>
                <a:ea typeface="楷体" panose="02010609060101010101" pitchFamily="49" charset="-122"/>
              </a:rPr>
              <a:t>3.X2</a:t>
            </a:r>
            <a:r>
              <a:rPr lang="zh-CN" altLang="en-US" sz="1200">
                <a:latin typeface="楷体" panose="02010609060101010101" pitchFamily="49" charset="-122"/>
                <a:ea typeface="楷体" panose="02010609060101010101" pitchFamily="49" charset="-122"/>
              </a:rPr>
              <a:t>与</a:t>
            </a:r>
            <a:r>
              <a:rPr lang="en-US" altLang="zh-CN" sz="1200">
                <a:latin typeface="楷体" panose="02010609060101010101" pitchFamily="49" charset="-122"/>
                <a:ea typeface="楷体" panose="02010609060101010101" pitchFamily="49" charset="-122"/>
              </a:rPr>
              <a:t>X3</a:t>
            </a:r>
            <a:r>
              <a:rPr lang="zh-CN" altLang="en-US" sz="1200">
                <a:latin typeface="楷体" panose="02010609060101010101" pitchFamily="49" charset="-122"/>
                <a:ea typeface="楷体" panose="02010609060101010101" pitchFamily="49" charset="-122"/>
              </a:rPr>
              <a:t>的差距在后三年相差更大</a:t>
            </a:r>
          </a:p>
        </p:txBody>
      </p:sp>
      <p:sp>
        <p:nvSpPr>
          <p:cNvPr id="60" name="文本框 59">
            <a:extLst>
              <a:ext uri="{FF2B5EF4-FFF2-40B4-BE49-F238E27FC236}">
                <a16:creationId xmlns:a16="http://schemas.microsoft.com/office/drawing/2014/main" id="{CF07BC32-C33D-6883-DDC4-CE91C701B4CB}"/>
              </a:ext>
            </a:extLst>
          </p:cNvPr>
          <p:cNvSpPr txBox="1"/>
          <p:nvPr/>
        </p:nvSpPr>
        <p:spPr>
          <a:xfrm>
            <a:off x="661243" y="4844900"/>
            <a:ext cx="2933395" cy="276999"/>
          </a:xfrm>
          <a:prstGeom prst="rect">
            <a:avLst/>
          </a:prstGeom>
          <a:noFill/>
        </p:spPr>
        <p:txBody>
          <a:bodyPr wrap="square" rtlCol="0">
            <a:spAutoFit/>
          </a:bodyPr>
          <a:lstStyle/>
          <a:p>
            <a:r>
              <a:rPr lang="zh-CN" altLang="en-US" sz="1200">
                <a:latin typeface="楷体" panose="02010609060101010101" pitchFamily="49" charset="-122"/>
                <a:ea typeface="楷体" panose="02010609060101010101" pitchFamily="49" charset="-122"/>
              </a:rPr>
              <a:t>确定</a:t>
            </a:r>
            <a:r>
              <a:rPr lang="en-US" altLang="zh-CN" sz="1200">
                <a:latin typeface="楷体" panose="02010609060101010101" pitchFamily="49" charset="-122"/>
                <a:ea typeface="楷体" panose="02010609060101010101" pitchFamily="49" charset="-122"/>
              </a:rPr>
              <a:t>X0</a:t>
            </a:r>
            <a:r>
              <a:rPr lang="zh-CN" altLang="en-US" sz="1200">
                <a:latin typeface="楷体" panose="02010609060101010101" pitchFamily="49" charset="-122"/>
                <a:ea typeface="楷体" panose="02010609060101010101" pitchFamily="49" charset="-122"/>
              </a:rPr>
              <a:t>为母序列，</a:t>
            </a:r>
            <a:r>
              <a:rPr lang="en-US" altLang="zh-CN" sz="1200">
                <a:latin typeface="楷体" panose="02010609060101010101" pitchFamily="49" charset="-122"/>
                <a:ea typeface="楷体" panose="02010609060101010101" pitchFamily="49" charset="-122"/>
              </a:rPr>
              <a:t>X1</a:t>
            </a:r>
            <a:r>
              <a:rPr lang="zh-CN" altLang="en-US" sz="1200">
                <a:latin typeface="楷体" panose="02010609060101010101" pitchFamily="49" charset="-122"/>
                <a:ea typeface="楷体" panose="02010609060101010101" pitchFamily="49" charset="-122"/>
              </a:rPr>
              <a:t>、</a:t>
            </a:r>
            <a:r>
              <a:rPr lang="en-US" altLang="zh-CN" sz="1200">
                <a:latin typeface="楷体" panose="02010609060101010101" pitchFamily="49" charset="-122"/>
                <a:ea typeface="楷体" panose="02010609060101010101" pitchFamily="49" charset="-122"/>
              </a:rPr>
              <a:t>X2</a:t>
            </a:r>
            <a:r>
              <a:rPr lang="zh-CN" altLang="en-US" sz="1200">
                <a:latin typeface="楷体" panose="02010609060101010101" pitchFamily="49" charset="-122"/>
                <a:ea typeface="楷体" panose="02010609060101010101" pitchFamily="49" charset="-122"/>
              </a:rPr>
              <a:t>、</a:t>
            </a:r>
            <a:r>
              <a:rPr lang="en-US" altLang="zh-CN" sz="1200">
                <a:latin typeface="楷体" panose="02010609060101010101" pitchFamily="49" charset="-122"/>
                <a:ea typeface="楷体" panose="02010609060101010101" pitchFamily="49" charset="-122"/>
              </a:rPr>
              <a:t>X3</a:t>
            </a:r>
            <a:r>
              <a:rPr lang="zh-CN" altLang="en-US" sz="1200">
                <a:latin typeface="楷体" panose="02010609060101010101" pitchFamily="49" charset="-122"/>
                <a:ea typeface="楷体" panose="02010609060101010101" pitchFamily="49" charset="-122"/>
              </a:rPr>
              <a:t>为子序列</a:t>
            </a:r>
          </a:p>
        </p:txBody>
      </p:sp>
      <p:cxnSp>
        <p:nvCxnSpPr>
          <p:cNvPr id="61" name="直接连接符 60">
            <a:extLst>
              <a:ext uri="{FF2B5EF4-FFF2-40B4-BE49-F238E27FC236}">
                <a16:creationId xmlns:a16="http://schemas.microsoft.com/office/drawing/2014/main" id="{76A3C154-3056-E84B-C455-A252E86F7C2C}"/>
              </a:ext>
            </a:extLst>
          </p:cNvPr>
          <p:cNvCxnSpPr>
            <a:cxnSpLocks/>
          </p:cNvCxnSpPr>
          <p:nvPr/>
        </p:nvCxnSpPr>
        <p:spPr>
          <a:xfrm>
            <a:off x="5603442" y="998211"/>
            <a:ext cx="0" cy="5859789"/>
          </a:xfrm>
          <a:prstGeom prst="line">
            <a:avLst/>
          </a:prstGeom>
          <a:ln w="76200">
            <a:solidFill>
              <a:schemeClr val="accent6">
                <a:alpha val="61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EE69A39-68A1-FD2A-F32A-535C3C0A7515}"/>
              </a:ext>
            </a:extLst>
          </p:cNvPr>
          <p:cNvCxnSpPr>
            <a:cxnSpLocks/>
          </p:cNvCxnSpPr>
          <p:nvPr/>
        </p:nvCxnSpPr>
        <p:spPr>
          <a:xfrm>
            <a:off x="43136" y="954950"/>
            <a:ext cx="12159673" cy="0"/>
          </a:xfrm>
          <a:prstGeom prst="line">
            <a:avLst/>
          </a:prstGeom>
          <a:ln w="76200">
            <a:solidFill>
              <a:schemeClr val="accent6">
                <a:alpha val="61000"/>
              </a:schemeClr>
            </a:solidFill>
            <a:prstDash val="dash"/>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1473D407-BF56-0A42-A8A6-BC5E029206C3}"/>
              </a:ext>
            </a:extLst>
          </p:cNvPr>
          <p:cNvSpPr txBox="1"/>
          <p:nvPr/>
        </p:nvSpPr>
        <p:spPr>
          <a:xfrm>
            <a:off x="129308" y="5745541"/>
            <a:ext cx="1470355" cy="461665"/>
          </a:xfrm>
          <a:prstGeom prst="rect">
            <a:avLst/>
          </a:prstGeom>
          <a:noFill/>
        </p:spPr>
        <p:txBody>
          <a:bodyPr wrap="square" rtlCol="0">
            <a:spAutoFit/>
          </a:bodyPr>
          <a:lstStyle/>
          <a:p>
            <a:r>
              <a:rPr lang="zh-CN" altLang="en-US" sz="1200">
                <a:solidFill>
                  <a:srgbClr val="FF0000"/>
                </a:solidFill>
                <a:latin typeface="楷体" panose="02010609060101010101" pitchFamily="49" charset="-122"/>
                <a:ea typeface="楷体" panose="02010609060101010101" pitchFamily="49" charset="-122"/>
              </a:rPr>
              <a:t>无量纲化（标准化）</a:t>
            </a:r>
            <a:br>
              <a:rPr lang="en-US" altLang="zh-CN" sz="1200">
                <a:solidFill>
                  <a:srgbClr val="FF0000"/>
                </a:solidFill>
                <a:latin typeface="楷体" panose="02010609060101010101" pitchFamily="49" charset="-122"/>
                <a:ea typeface="楷体" panose="02010609060101010101" pitchFamily="49" charset="-122"/>
              </a:rPr>
            </a:br>
            <a:r>
              <a:rPr lang="zh-CN" altLang="en-US" sz="1200">
                <a:solidFill>
                  <a:srgbClr val="FF0000"/>
                </a:solidFill>
                <a:latin typeface="楷体" panose="02010609060101010101" pitchFamily="49" charset="-122"/>
                <a:ea typeface="楷体" panose="02010609060101010101" pitchFamily="49" charset="-122"/>
              </a:rPr>
              <a:t>正向化</a:t>
            </a:r>
          </a:p>
        </p:txBody>
      </p:sp>
      <p:pic>
        <p:nvPicPr>
          <p:cNvPr id="2049" name="Picture 1">
            <a:extLst>
              <a:ext uri="{FF2B5EF4-FFF2-40B4-BE49-F238E27FC236}">
                <a16:creationId xmlns:a16="http://schemas.microsoft.com/office/drawing/2014/main" id="{429EFCDC-15E9-528F-8B7B-FA2AE919D5A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1300" y="114300"/>
            <a:ext cx="13970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580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对象 43">
            <a:extLst>
              <a:ext uri="{FF2B5EF4-FFF2-40B4-BE49-F238E27FC236}">
                <a16:creationId xmlns:a16="http://schemas.microsoft.com/office/drawing/2014/main" id="{55DDC026-75E8-E0B6-3CE0-4D20243C6207}"/>
              </a:ext>
            </a:extLst>
          </p:cNvPr>
          <p:cNvGraphicFramePr>
            <a:graphicFrameLocks noChangeAspect="1"/>
          </p:cNvGraphicFramePr>
          <p:nvPr>
            <p:extLst>
              <p:ext uri="{D42A27DB-BD31-4B8C-83A1-F6EECF244321}">
                <p14:modId xmlns:p14="http://schemas.microsoft.com/office/powerpoint/2010/main" val="3932393326"/>
              </p:ext>
            </p:extLst>
          </p:nvPr>
        </p:nvGraphicFramePr>
        <p:xfrm>
          <a:off x="85430" y="595681"/>
          <a:ext cx="5696271" cy="450017"/>
        </p:xfrm>
        <a:graphic>
          <a:graphicData uri="http://schemas.openxmlformats.org/presentationml/2006/ole">
            <mc:AlternateContent xmlns:mc="http://schemas.openxmlformats.org/markup-compatibility/2006">
              <mc:Choice xmlns:v="urn:schemas-microsoft-com:vml" Requires="v">
                <p:oleObj name="AxMath" r:id="rId2" imgW="4581720" imgH="361800" progId="Equation.AxMath">
                  <p:embed/>
                </p:oleObj>
              </mc:Choice>
              <mc:Fallback>
                <p:oleObj name="AxMath" r:id="rId2" imgW="4581720" imgH="361800" progId="Equation.AxMath">
                  <p:embed/>
                  <p:pic>
                    <p:nvPicPr>
                      <p:cNvPr id="44" name="对象 43">
                        <a:extLst>
                          <a:ext uri="{FF2B5EF4-FFF2-40B4-BE49-F238E27FC236}">
                            <a16:creationId xmlns:a16="http://schemas.microsoft.com/office/drawing/2014/main" id="{55DDC026-75E8-E0B6-3CE0-4D20243C6207}"/>
                          </a:ext>
                        </a:extLst>
                      </p:cNvPr>
                      <p:cNvPicPr/>
                      <p:nvPr/>
                    </p:nvPicPr>
                    <p:blipFill>
                      <a:blip r:embed="rId3"/>
                      <a:stretch>
                        <a:fillRect/>
                      </a:stretch>
                    </p:blipFill>
                    <p:spPr>
                      <a:xfrm>
                        <a:off x="85430" y="595681"/>
                        <a:ext cx="5696271" cy="450017"/>
                      </a:xfrm>
                      <a:prstGeom prst="rect">
                        <a:avLst/>
                      </a:prstGeom>
                    </p:spPr>
                  </p:pic>
                </p:oleObj>
              </mc:Fallback>
            </mc:AlternateContent>
          </a:graphicData>
        </a:graphic>
      </p:graphicFrame>
      <p:graphicFrame>
        <p:nvGraphicFramePr>
          <p:cNvPr id="45" name="对象 44">
            <a:extLst>
              <a:ext uri="{FF2B5EF4-FFF2-40B4-BE49-F238E27FC236}">
                <a16:creationId xmlns:a16="http://schemas.microsoft.com/office/drawing/2014/main" id="{52FC7714-BB7E-AD49-9D5D-0C98FC8D6CBB}"/>
              </a:ext>
            </a:extLst>
          </p:cNvPr>
          <p:cNvGraphicFramePr>
            <a:graphicFrameLocks noChangeAspect="1"/>
          </p:cNvGraphicFramePr>
          <p:nvPr>
            <p:extLst>
              <p:ext uri="{D42A27DB-BD31-4B8C-83A1-F6EECF244321}">
                <p14:modId xmlns:p14="http://schemas.microsoft.com/office/powerpoint/2010/main" val="3425693251"/>
              </p:ext>
            </p:extLst>
          </p:nvPr>
        </p:nvGraphicFramePr>
        <p:xfrm>
          <a:off x="85430" y="970180"/>
          <a:ext cx="6612767" cy="430486"/>
        </p:xfrm>
        <a:graphic>
          <a:graphicData uri="http://schemas.openxmlformats.org/presentationml/2006/ole">
            <mc:AlternateContent xmlns:mc="http://schemas.openxmlformats.org/markup-compatibility/2006">
              <mc:Choice xmlns:v="urn:schemas-microsoft-com:vml" Requires="v">
                <p:oleObj name="AxMath" r:id="rId4" imgW="5318280" imgH="346680" progId="Equation.AxMath">
                  <p:embed/>
                </p:oleObj>
              </mc:Choice>
              <mc:Fallback>
                <p:oleObj name="AxMath" r:id="rId4" imgW="5318280" imgH="346680" progId="Equation.AxMath">
                  <p:embed/>
                  <p:pic>
                    <p:nvPicPr>
                      <p:cNvPr id="45" name="对象 44">
                        <a:extLst>
                          <a:ext uri="{FF2B5EF4-FFF2-40B4-BE49-F238E27FC236}">
                            <a16:creationId xmlns:a16="http://schemas.microsoft.com/office/drawing/2014/main" id="{52FC7714-BB7E-AD49-9D5D-0C98FC8D6CBB}"/>
                          </a:ext>
                        </a:extLst>
                      </p:cNvPr>
                      <p:cNvPicPr/>
                      <p:nvPr/>
                    </p:nvPicPr>
                    <p:blipFill>
                      <a:blip r:embed="rId5"/>
                      <a:stretch>
                        <a:fillRect/>
                      </a:stretch>
                    </p:blipFill>
                    <p:spPr>
                      <a:xfrm>
                        <a:off x="85430" y="970180"/>
                        <a:ext cx="6612767" cy="430486"/>
                      </a:xfrm>
                      <a:prstGeom prst="rect">
                        <a:avLst/>
                      </a:prstGeom>
                    </p:spPr>
                  </p:pic>
                </p:oleObj>
              </mc:Fallback>
            </mc:AlternateContent>
          </a:graphicData>
        </a:graphic>
      </p:graphicFrame>
      <p:graphicFrame>
        <p:nvGraphicFramePr>
          <p:cNvPr id="46" name="对象 45">
            <a:extLst>
              <a:ext uri="{FF2B5EF4-FFF2-40B4-BE49-F238E27FC236}">
                <a16:creationId xmlns:a16="http://schemas.microsoft.com/office/drawing/2014/main" id="{6B33B612-E565-B2F0-5D77-93D583193A1A}"/>
              </a:ext>
            </a:extLst>
          </p:cNvPr>
          <p:cNvGraphicFramePr>
            <a:graphicFrameLocks noChangeAspect="1"/>
          </p:cNvGraphicFramePr>
          <p:nvPr>
            <p:extLst>
              <p:ext uri="{D42A27DB-BD31-4B8C-83A1-F6EECF244321}">
                <p14:modId xmlns:p14="http://schemas.microsoft.com/office/powerpoint/2010/main" val="275037416"/>
              </p:ext>
            </p:extLst>
          </p:nvPr>
        </p:nvGraphicFramePr>
        <p:xfrm>
          <a:off x="85430" y="1279937"/>
          <a:ext cx="7273303" cy="434227"/>
        </p:xfrm>
        <a:graphic>
          <a:graphicData uri="http://schemas.openxmlformats.org/presentationml/2006/ole">
            <mc:AlternateContent xmlns:mc="http://schemas.openxmlformats.org/markup-compatibility/2006">
              <mc:Choice xmlns:v="urn:schemas-microsoft-com:vml" Requires="v">
                <p:oleObj name="AxMath" r:id="rId6" imgW="5850000" imgH="348480" progId="Equation.AxMath">
                  <p:embed/>
                </p:oleObj>
              </mc:Choice>
              <mc:Fallback>
                <p:oleObj name="AxMath" r:id="rId6" imgW="5850000" imgH="348480" progId="Equation.AxMath">
                  <p:embed/>
                  <p:pic>
                    <p:nvPicPr>
                      <p:cNvPr id="46" name="对象 45">
                        <a:extLst>
                          <a:ext uri="{FF2B5EF4-FFF2-40B4-BE49-F238E27FC236}">
                            <a16:creationId xmlns:a16="http://schemas.microsoft.com/office/drawing/2014/main" id="{6B33B612-E565-B2F0-5D77-93D583193A1A}"/>
                          </a:ext>
                        </a:extLst>
                      </p:cNvPr>
                      <p:cNvPicPr/>
                      <p:nvPr/>
                    </p:nvPicPr>
                    <p:blipFill>
                      <a:blip r:embed="rId7"/>
                      <a:stretch>
                        <a:fillRect/>
                      </a:stretch>
                    </p:blipFill>
                    <p:spPr>
                      <a:xfrm>
                        <a:off x="85430" y="1279937"/>
                        <a:ext cx="7273303" cy="434227"/>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48AD4C14-6423-B1AA-B1C6-E369E1D3B47C}"/>
              </a:ext>
            </a:extLst>
          </p:cNvPr>
          <p:cNvGraphicFramePr>
            <a:graphicFrameLocks noChangeAspect="1"/>
          </p:cNvGraphicFramePr>
          <p:nvPr>
            <p:extLst>
              <p:ext uri="{D42A27DB-BD31-4B8C-83A1-F6EECF244321}">
                <p14:modId xmlns:p14="http://schemas.microsoft.com/office/powerpoint/2010/main" val="3362408487"/>
              </p:ext>
            </p:extLst>
          </p:nvPr>
        </p:nvGraphicFramePr>
        <p:xfrm>
          <a:off x="85430" y="1634905"/>
          <a:ext cx="5427839" cy="440148"/>
        </p:xfrm>
        <a:graphic>
          <a:graphicData uri="http://schemas.openxmlformats.org/presentationml/2006/ole">
            <mc:AlternateContent xmlns:mc="http://schemas.openxmlformats.org/markup-compatibility/2006">
              <mc:Choice xmlns:v="urn:schemas-microsoft-com:vml" Requires="v">
                <p:oleObj name="AxMath" r:id="rId8" imgW="4366080" imgH="354240" progId="Equation.AxMath">
                  <p:embed/>
                </p:oleObj>
              </mc:Choice>
              <mc:Fallback>
                <p:oleObj name="AxMath" r:id="rId8" imgW="4366080" imgH="354240" progId="Equation.AxMath">
                  <p:embed/>
                  <p:pic>
                    <p:nvPicPr>
                      <p:cNvPr id="47" name="对象 46">
                        <a:extLst>
                          <a:ext uri="{FF2B5EF4-FFF2-40B4-BE49-F238E27FC236}">
                            <a16:creationId xmlns:a16="http://schemas.microsoft.com/office/drawing/2014/main" id="{48AD4C14-6423-B1AA-B1C6-E369E1D3B47C}"/>
                          </a:ext>
                        </a:extLst>
                      </p:cNvPr>
                      <p:cNvPicPr/>
                      <p:nvPr/>
                    </p:nvPicPr>
                    <p:blipFill>
                      <a:blip r:embed="rId9"/>
                      <a:stretch>
                        <a:fillRect/>
                      </a:stretch>
                    </p:blipFill>
                    <p:spPr>
                      <a:xfrm>
                        <a:off x="85430" y="1634905"/>
                        <a:ext cx="5427839" cy="440148"/>
                      </a:xfrm>
                      <a:prstGeom prst="rect">
                        <a:avLst/>
                      </a:prstGeom>
                    </p:spPr>
                  </p:pic>
                </p:oleObj>
              </mc:Fallback>
            </mc:AlternateContent>
          </a:graphicData>
        </a:graphic>
      </p:graphicFrame>
      <p:graphicFrame>
        <p:nvGraphicFramePr>
          <p:cNvPr id="48" name="对象 47">
            <a:extLst>
              <a:ext uri="{FF2B5EF4-FFF2-40B4-BE49-F238E27FC236}">
                <a16:creationId xmlns:a16="http://schemas.microsoft.com/office/drawing/2014/main" id="{98270AD6-9B36-9E8C-B7D5-49C87A66D5A1}"/>
              </a:ext>
            </a:extLst>
          </p:cNvPr>
          <p:cNvGraphicFramePr>
            <a:graphicFrameLocks noChangeAspect="1"/>
          </p:cNvGraphicFramePr>
          <p:nvPr>
            <p:extLst>
              <p:ext uri="{D42A27DB-BD31-4B8C-83A1-F6EECF244321}">
                <p14:modId xmlns:p14="http://schemas.microsoft.com/office/powerpoint/2010/main" val="1388703379"/>
              </p:ext>
            </p:extLst>
          </p:nvPr>
        </p:nvGraphicFramePr>
        <p:xfrm>
          <a:off x="85430" y="2022903"/>
          <a:ext cx="3896202" cy="434227"/>
        </p:xfrm>
        <a:graphic>
          <a:graphicData uri="http://schemas.openxmlformats.org/presentationml/2006/ole">
            <mc:AlternateContent xmlns:mc="http://schemas.openxmlformats.org/markup-compatibility/2006">
              <mc:Choice xmlns:v="urn:schemas-microsoft-com:vml" Requires="v">
                <p:oleObj name="AxMath" r:id="rId10" imgW="3133440" imgH="349920" progId="Equation.AxMath">
                  <p:embed/>
                </p:oleObj>
              </mc:Choice>
              <mc:Fallback>
                <p:oleObj name="AxMath" r:id="rId10" imgW="3133440" imgH="349920" progId="Equation.AxMath">
                  <p:embed/>
                  <p:pic>
                    <p:nvPicPr>
                      <p:cNvPr id="48" name="对象 47">
                        <a:extLst>
                          <a:ext uri="{FF2B5EF4-FFF2-40B4-BE49-F238E27FC236}">
                            <a16:creationId xmlns:a16="http://schemas.microsoft.com/office/drawing/2014/main" id="{98270AD6-9B36-9E8C-B7D5-49C87A66D5A1}"/>
                          </a:ext>
                        </a:extLst>
                      </p:cNvPr>
                      <p:cNvPicPr/>
                      <p:nvPr/>
                    </p:nvPicPr>
                    <p:blipFill>
                      <a:blip r:embed="rId11"/>
                      <a:stretch>
                        <a:fillRect/>
                      </a:stretch>
                    </p:blipFill>
                    <p:spPr>
                      <a:xfrm>
                        <a:off x="85430" y="2022903"/>
                        <a:ext cx="3896202" cy="434227"/>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2D0F389B-654D-895D-3BE4-8003CFC527CD}"/>
              </a:ext>
            </a:extLst>
          </p:cNvPr>
          <p:cNvGraphicFramePr>
            <a:graphicFrameLocks noChangeAspect="1"/>
          </p:cNvGraphicFramePr>
          <p:nvPr>
            <p:extLst>
              <p:ext uri="{D42A27DB-BD31-4B8C-83A1-F6EECF244321}">
                <p14:modId xmlns:p14="http://schemas.microsoft.com/office/powerpoint/2010/main" val="2941084301"/>
              </p:ext>
            </p:extLst>
          </p:nvPr>
        </p:nvGraphicFramePr>
        <p:xfrm>
          <a:off x="85430" y="2383792"/>
          <a:ext cx="10222099" cy="450017"/>
        </p:xfrm>
        <a:graphic>
          <a:graphicData uri="http://schemas.openxmlformats.org/presentationml/2006/ole">
            <mc:AlternateContent xmlns:mc="http://schemas.openxmlformats.org/markup-compatibility/2006">
              <mc:Choice xmlns:v="urn:schemas-microsoft-com:vml" Requires="v">
                <p:oleObj name="AxMath" r:id="rId12" imgW="8221320" imgH="361800" progId="Equation.AxMath">
                  <p:embed/>
                </p:oleObj>
              </mc:Choice>
              <mc:Fallback>
                <p:oleObj name="AxMath" r:id="rId12" imgW="8221320" imgH="361800" progId="Equation.AxMath">
                  <p:embed/>
                  <p:pic>
                    <p:nvPicPr>
                      <p:cNvPr id="49" name="对象 48">
                        <a:extLst>
                          <a:ext uri="{FF2B5EF4-FFF2-40B4-BE49-F238E27FC236}">
                            <a16:creationId xmlns:a16="http://schemas.microsoft.com/office/drawing/2014/main" id="{2D0F389B-654D-895D-3BE4-8003CFC527CD}"/>
                          </a:ext>
                        </a:extLst>
                      </p:cNvPr>
                      <p:cNvPicPr/>
                      <p:nvPr/>
                    </p:nvPicPr>
                    <p:blipFill>
                      <a:blip r:embed="rId13"/>
                      <a:stretch>
                        <a:fillRect/>
                      </a:stretch>
                    </p:blipFill>
                    <p:spPr>
                      <a:xfrm>
                        <a:off x="85430" y="2383792"/>
                        <a:ext cx="10222099" cy="450017"/>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5D546B56-3EF7-D339-EA57-C4C76CA16968}"/>
              </a:ext>
            </a:extLst>
          </p:cNvPr>
          <p:cNvGraphicFramePr>
            <a:graphicFrameLocks noChangeAspect="1"/>
          </p:cNvGraphicFramePr>
          <p:nvPr>
            <p:extLst>
              <p:ext uri="{D42A27DB-BD31-4B8C-83A1-F6EECF244321}">
                <p14:modId xmlns:p14="http://schemas.microsoft.com/office/powerpoint/2010/main" val="2476648480"/>
              </p:ext>
            </p:extLst>
          </p:nvPr>
        </p:nvGraphicFramePr>
        <p:xfrm>
          <a:off x="85430" y="2758235"/>
          <a:ext cx="9256080" cy="442188"/>
        </p:xfrm>
        <a:graphic>
          <a:graphicData uri="http://schemas.openxmlformats.org/presentationml/2006/ole">
            <mc:AlternateContent xmlns:mc="http://schemas.openxmlformats.org/markup-compatibility/2006">
              <mc:Choice xmlns:v="urn:schemas-microsoft-com:vml" Requires="v">
                <p:oleObj name="AxMath" r:id="rId14" imgW="7376400" imgH="352440" progId="Equation.AxMath">
                  <p:embed/>
                </p:oleObj>
              </mc:Choice>
              <mc:Fallback>
                <p:oleObj name="AxMath" r:id="rId14" imgW="7376400" imgH="352440" progId="Equation.AxMath">
                  <p:embed/>
                  <p:pic>
                    <p:nvPicPr>
                      <p:cNvPr id="0" name=""/>
                      <p:cNvPicPr/>
                      <p:nvPr/>
                    </p:nvPicPr>
                    <p:blipFill>
                      <a:blip r:embed="rId15"/>
                      <a:stretch>
                        <a:fillRect/>
                      </a:stretch>
                    </p:blipFill>
                    <p:spPr>
                      <a:xfrm>
                        <a:off x="85430" y="2758235"/>
                        <a:ext cx="9256080" cy="4421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67B85A55-2ABB-6606-AE25-355E5658037B}"/>
              </a:ext>
            </a:extLst>
          </p:cNvPr>
          <p:cNvGraphicFramePr>
            <a:graphicFrameLocks noChangeAspect="1"/>
          </p:cNvGraphicFramePr>
          <p:nvPr>
            <p:extLst>
              <p:ext uri="{D42A27DB-BD31-4B8C-83A1-F6EECF244321}">
                <p14:modId xmlns:p14="http://schemas.microsoft.com/office/powerpoint/2010/main" val="107266486"/>
              </p:ext>
            </p:extLst>
          </p:nvPr>
        </p:nvGraphicFramePr>
        <p:xfrm>
          <a:off x="85430" y="3168983"/>
          <a:ext cx="8636000" cy="258762"/>
        </p:xfrm>
        <a:graphic>
          <a:graphicData uri="http://schemas.openxmlformats.org/presentationml/2006/ole">
            <mc:AlternateContent xmlns:mc="http://schemas.openxmlformats.org/markup-compatibility/2006">
              <mc:Choice xmlns:v="urn:schemas-microsoft-com:vml" Requires="v">
                <p:oleObj name="AxMath" r:id="rId16" imgW="6840360" imgH="204120" progId="Equation.AxMath">
                  <p:embed/>
                </p:oleObj>
              </mc:Choice>
              <mc:Fallback>
                <p:oleObj name="AxMath" r:id="rId16" imgW="6840360" imgH="204120" progId="Equation.AxMath">
                  <p:embed/>
                  <p:pic>
                    <p:nvPicPr>
                      <p:cNvPr id="0" name=""/>
                      <p:cNvPicPr/>
                      <p:nvPr/>
                    </p:nvPicPr>
                    <p:blipFill>
                      <a:blip r:embed="rId17"/>
                      <a:stretch>
                        <a:fillRect/>
                      </a:stretch>
                    </p:blipFill>
                    <p:spPr>
                      <a:xfrm>
                        <a:off x="85430" y="3168983"/>
                        <a:ext cx="8636000" cy="25876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3B5C06C6-E7BC-A19B-57EA-D8F43D382731}"/>
              </a:ext>
            </a:extLst>
          </p:cNvPr>
          <p:cNvGraphicFramePr>
            <a:graphicFrameLocks noChangeAspect="1"/>
          </p:cNvGraphicFramePr>
          <p:nvPr>
            <p:extLst>
              <p:ext uri="{D42A27DB-BD31-4B8C-83A1-F6EECF244321}">
                <p14:modId xmlns:p14="http://schemas.microsoft.com/office/powerpoint/2010/main" val="451445814"/>
              </p:ext>
            </p:extLst>
          </p:nvPr>
        </p:nvGraphicFramePr>
        <p:xfrm>
          <a:off x="85430" y="3438035"/>
          <a:ext cx="9563100" cy="249237"/>
        </p:xfrm>
        <a:graphic>
          <a:graphicData uri="http://schemas.openxmlformats.org/presentationml/2006/ole">
            <mc:AlternateContent xmlns:mc="http://schemas.openxmlformats.org/markup-compatibility/2006">
              <mc:Choice xmlns:v="urn:schemas-microsoft-com:vml" Requires="v">
                <p:oleObj name="AxMath" r:id="rId18" imgW="7574400" imgH="196560" progId="Equation.AxMath">
                  <p:embed/>
                </p:oleObj>
              </mc:Choice>
              <mc:Fallback>
                <p:oleObj name="AxMath" r:id="rId18" imgW="7574400" imgH="196560" progId="Equation.AxMath">
                  <p:embed/>
                  <p:pic>
                    <p:nvPicPr>
                      <p:cNvPr id="0" name=""/>
                      <p:cNvPicPr/>
                      <p:nvPr/>
                    </p:nvPicPr>
                    <p:blipFill>
                      <a:blip r:embed="rId19"/>
                      <a:stretch>
                        <a:fillRect/>
                      </a:stretch>
                    </p:blipFill>
                    <p:spPr>
                      <a:xfrm>
                        <a:off x="85430" y="3438035"/>
                        <a:ext cx="9563100" cy="24923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1C7D4A4-854A-D73E-EC72-FB0E0B6E1F30}"/>
              </a:ext>
            </a:extLst>
          </p:cNvPr>
          <p:cNvGraphicFramePr>
            <a:graphicFrameLocks noChangeAspect="1"/>
          </p:cNvGraphicFramePr>
          <p:nvPr>
            <p:extLst>
              <p:ext uri="{D42A27DB-BD31-4B8C-83A1-F6EECF244321}">
                <p14:modId xmlns:p14="http://schemas.microsoft.com/office/powerpoint/2010/main" val="3080571748"/>
              </p:ext>
            </p:extLst>
          </p:nvPr>
        </p:nvGraphicFramePr>
        <p:xfrm>
          <a:off x="85430" y="3689133"/>
          <a:ext cx="8222065" cy="440969"/>
        </p:xfrm>
        <a:graphic>
          <a:graphicData uri="http://schemas.openxmlformats.org/presentationml/2006/ole">
            <mc:AlternateContent xmlns:mc="http://schemas.openxmlformats.org/markup-compatibility/2006">
              <mc:Choice xmlns:v="urn:schemas-microsoft-com:vml" Requires="v">
                <p:oleObj name="AxMath" r:id="rId20" imgW="6512400" imgH="349920" progId="Equation.AxMath">
                  <p:embed/>
                </p:oleObj>
              </mc:Choice>
              <mc:Fallback>
                <p:oleObj name="AxMath" r:id="rId20" imgW="6512400" imgH="349920" progId="Equation.AxMath">
                  <p:embed/>
                  <p:pic>
                    <p:nvPicPr>
                      <p:cNvPr id="0" name=""/>
                      <p:cNvPicPr/>
                      <p:nvPr/>
                    </p:nvPicPr>
                    <p:blipFill>
                      <a:blip r:embed="rId21"/>
                      <a:stretch>
                        <a:fillRect/>
                      </a:stretch>
                    </p:blipFill>
                    <p:spPr>
                      <a:xfrm>
                        <a:off x="85430" y="3689133"/>
                        <a:ext cx="8222065" cy="44096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D479D2D-69DB-8FF6-2E00-6AB819AFDF61}"/>
              </a:ext>
            </a:extLst>
          </p:cNvPr>
          <p:cNvGraphicFramePr>
            <a:graphicFrameLocks noChangeAspect="1"/>
          </p:cNvGraphicFramePr>
          <p:nvPr>
            <p:extLst>
              <p:ext uri="{D42A27DB-BD31-4B8C-83A1-F6EECF244321}">
                <p14:modId xmlns:p14="http://schemas.microsoft.com/office/powerpoint/2010/main" val="3500491818"/>
              </p:ext>
            </p:extLst>
          </p:nvPr>
        </p:nvGraphicFramePr>
        <p:xfrm>
          <a:off x="85430" y="4116306"/>
          <a:ext cx="8632967" cy="681497"/>
        </p:xfrm>
        <a:graphic>
          <a:graphicData uri="http://schemas.openxmlformats.org/presentationml/2006/ole">
            <mc:AlternateContent xmlns:mc="http://schemas.openxmlformats.org/markup-compatibility/2006">
              <mc:Choice xmlns:v="urn:schemas-microsoft-com:vml" Requires="v">
                <p:oleObj name="AxMath" r:id="rId22" imgW="6837480" imgH="540360" progId="Equation.AxMath">
                  <p:embed/>
                </p:oleObj>
              </mc:Choice>
              <mc:Fallback>
                <p:oleObj name="AxMath" r:id="rId22" imgW="6837480" imgH="540360" progId="Equation.AxMath">
                  <p:embed/>
                  <p:pic>
                    <p:nvPicPr>
                      <p:cNvPr id="0" name=""/>
                      <p:cNvPicPr/>
                      <p:nvPr/>
                    </p:nvPicPr>
                    <p:blipFill>
                      <a:blip r:embed="rId23"/>
                      <a:stretch>
                        <a:fillRect/>
                      </a:stretch>
                    </p:blipFill>
                    <p:spPr>
                      <a:xfrm>
                        <a:off x="85430" y="4116306"/>
                        <a:ext cx="8632967" cy="68149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E17FEF2-15EB-C79B-41CC-D082A72516B9}"/>
              </a:ext>
            </a:extLst>
          </p:cNvPr>
          <p:cNvGraphicFramePr>
            <a:graphicFrameLocks noChangeAspect="1"/>
          </p:cNvGraphicFramePr>
          <p:nvPr>
            <p:extLst>
              <p:ext uri="{D42A27DB-BD31-4B8C-83A1-F6EECF244321}">
                <p14:modId xmlns:p14="http://schemas.microsoft.com/office/powerpoint/2010/main" val="3374198045"/>
              </p:ext>
            </p:extLst>
          </p:nvPr>
        </p:nvGraphicFramePr>
        <p:xfrm>
          <a:off x="85430" y="4797803"/>
          <a:ext cx="11785600" cy="258762"/>
        </p:xfrm>
        <a:graphic>
          <a:graphicData uri="http://schemas.openxmlformats.org/presentationml/2006/ole">
            <mc:AlternateContent xmlns:mc="http://schemas.openxmlformats.org/markup-compatibility/2006">
              <mc:Choice xmlns:v="urn:schemas-microsoft-com:vml" Requires="v">
                <p:oleObj name="AxMath" r:id="rId24" imgW="9333720" imgH="204120" progId="Equation.AxMath">
                  <p:embed/>
                </p:oleObj>
              </mc:Choice>
              <mc:Fallback>
                <p:oleObj name="AxMath" r:id="rId24" imgW="9333720" imgH="204120" progId="Equation.AxMath">
                  <p:embed/>
                  <p:pic>
                    <p:nvPicPr>
                      <p:cNvPr id="0" name=""/>
                      <p:cNvPicPr/>
                      <p:nvPr/>
                    </p:nvPicPr>
                    <p:blipFill>
                      <a:blip r:embed="rId25"/>
                      <a:stretch>
                        <a:fillRect/>
                      </a:stretch>
                    </p:blipFill>
                    <p:spPr>
                      <a:xfrm>
                        <a:off x="85430" y="4797803"/>
                        <a:ext cx="11785600" cy="25876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472671E-D393-0017-5DF9-E0B720D8B17D}"/>
              </a:ext>
            </a:extLst>
          </p:cNvPr>
          <p:cNvGraphicFramePr>
            <a:graphicFrameLocks noChangeAspect="1"/>
          </p:cNvGraphicFramePr>
          <p:nvPr>
            <p:extLst>
              <p:ext uri="{D42A27DB-BD31-4B8C-83A1-F6EECF244321}">
                <p14:modId xmlns:p14="http://schemas.microsoft.com/office/powerpoint/2010/main" val="1833106558"/>
              </p:ext>
            </p:extLst>
          </p:nvPr>
        </p:nvGraphicFramePr>
        <p:xfrm>
          <a:off x="85430" y="5100415"/>
          <a:ext cx="10767658" cy="238524"/>
        </p:xfrm>
        <a:graphic>
          <a:graphicData uri="http://schemas.openxmlformats.org/presentationml/2006/ole">
            <mc:AlternateContent xmlns:mc="http://schemas.openxmlformats.org/markup-compatibility/2006">
              <mc:Choice xmlns:v="urn:schemas-microsoft-com:vml" Requires="v">
                <p:oleObj name="AxMath" r:id="rId26" imgW="8528040" imgH="189000" progId="Equation.AxMath">
                  <p:embed/>
                </p:oleObj>
              </mc:Choice>
              <mc:Fallback>
                <p:oleObj name="AxMath" r:id="rId26" imgW="8528040" imgH="189000" progId="Equation.AxMath">
                  <p:embed/>
                  <p:pic>
                    <p:nvPicPr>
                      <p:cNvPr id="0" name=""/>
                      <p:cNvPicPr/>
                      <p:nvPr/>
                    </p:nvPicPr>
                    <p:blipFill>
                      <a:blip r:embed="rId27"/>
                      <a:stretch>
                        <a:fillRect/>
                      </a:stretch>
                    </p:blipFill>
                    <p:spPr>
                      <a:xfrm>
                        <a:off x="85430" y="5100415"/>
                        <a:ext cx="10767658" cy="238524"/>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7B7F97A9-66A7-6AF0-A053-486AD4EE4AFD}"/>
              </a:ext>
            </a:extLst>
          </p:cNvPr>
          <p:cNvSpPr txBox="1"/>
          <p:nvPr/>
        </p:nvSpPr>
        <p:spPr>
          <a:xfrm>
            <a:off x="188976" y="111288"/>
            <a:ext cx="4279392" cy="646331"/>
          </a:xfrm>
          <a:prstGeom prst="rect">
            <a:avLst/>
          </a:prstGeom>
          <a:noFill/>
        </p:spPr>
        <p:txBody>
          <a:bodyPr wrap="square" rtlCol="0">
            <a:spAutoFit/>
          </a:bodyPr>
          <a:lstStyle/>
          <a:p>
            <a:r>
              <a:rPr lang="zh-CN" altLang="en-US" sz="3600">
                <a:solidFill>
                  <a:srgbClr val="FF0000"/>
                </a:solidFill>
                <a:latin typeface="三极泼墨体" panose="00000500000000000000" pitchFamily="2" charset="-122"/>
                <a:ea typeface="三极泼墨体" panose="00000500000000000000" pitchFamily="2" charset="-122"/>
              </a:rPr>
              <a:t>标准化方法选集</a:t>
            </a:r>
          </a:p>
        </p:txBody>
      </p:sp>
      <p:graphicFrame>
        <p:nvGraphicFramePr>
          <p:cNvPr id="13" name="对象 12">
            <a:extLst>
              <a:ext uri="{FF2B5EF4-FFF2-40B4-BE49-F238E27FC236}">
                <a16:creationId xmlns:a16="http://schemas.microsoft.com/office/drawing/2014/main" id="{3C7124E2-3B96-0F55-E4C5-35C9F4C9E85C}"/>
              </a:ext>
            </a:extLst>
          </p:cNvPr>
          <p:cNvGraphicFramePr>
            <a:graphicFrameLocks noChangeAspect="1"/>
          </p:cNvGraphicFramePr>
          <p:nvPr>
            <p:extLst>
              <p:ext uri="{D42A27DB-BD31-4B8C-83A1-F6EECF244321}">
                <p14:modId xmlns:p14="http://schemas.microsoft.com/office/powerpoint/2010/main" val="4084496828"/>
              </p:ext>
            </p:extLst>
          </p:nvPr>
        </p:nvGraphicFramePr>
        <p:xfrm>
          <a:off x="85430" y="5344296"/>
          <a:ext cx="10252075" cy="441325"/>
        </p:xfrm>
        <a:graphic>
          <a:graphicData uri="http://schemas.openxmlformats.org/presentationml/2006/ole">
            <mc:AlternateContent xmlns:mc="http://schemas.openxmlformats.org/markup-compatibility/2006">
              <mc:Choice xmlns:v="urn:schemas-microsoft-com:vml" Requires="v">
                <p:oleObj name="AxMath" r:id="rId28" imgW="8413200" imgH="361800" progId="Equation.AxMath">
                  <p:embed/>
                </p:oleObj>
              </mc:Choice>
              <mc:Fallback>
                <p:oleObj name="AxMath" r:id="rId28" imgW="8413200" imgH="361800" progId="Equation.AxMath">
                  <p:embed/>
                  <p:pic>
                    <p:nvPicPr>
                      <p:cNvPr id="0" name=""/>
                      <p:cNvPicPr/>
                      <p:nvPr/>
                    </p:nvPicPr>
                    <p:blipFill>
                      <a:blip r:embed="rId29"/>
                      <a:stretch>
                        <a:fillRect/>
                      </a:stretch>
                    </p:blipFill>
                    <p:spPr>
                      <a:xfrm>
                        <a:off x="85430" y="5344296"/>
                        <a:ext cx="10252075" cy="441325"/>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F0DDE46C-341A-F167-B2FC-A22190F78800}"/>
              </a:ext>
            </a:extLst>
          </p:cNvPr>
          <p:cNvGraphicFramePr>
            <a:graphicFrameLocks noChangeAspect="1"/>
          </p:cNvGraphicFramePr>
          <p:nvPr>
            <p:extLst>
              <p:ext uri="{D42A27DB-BD31-4B8C-83A1-F6EECF244321}">
                <p14:modId xmlns:p14="http://schemas.microsoft.com/office/powerpoint/2010/main" val="2516204418"/>
              </p:ext>
            </p:extLst>
          </p:nvPr>
        </p:nvGraphicFramePr>
        <p:xfrm>
          <a:off x="5639491" y="5726819"/>
          <a:ext cx="5336007" cy="217349"/>
        </p:xfrm>
        <a:graphic>
          <a:graphicData uri="http://schemas.openxmlformats.org/presentationml/2006/ole">
            <mc:AlternateContent xmlns:mc="http://schemas.openxmlformats.org/markup-compatibility/2006">
              <mc:Choice xmlns:v="urn:schemas-microsoft-com:vml" Requires="v">
                <p:oleObj name="AxMath" r:id="rId30" imgW="5027760" imgH="204120" progId="Equation.AxMath">
                  <p:embed/>
                </p:oleObj>
              </mc:Choice>
              <mc:Fallback>
                <p:oleObj name="AxMath" r:id="rId30" imgW="5027760" imgH="204120" progId="Equation.AxMath">
                  <p:embed/>
                  <p:pic>
                    <p:nvPicPr>
                      <p:cNvPr id="0" name=""/>
                      <p:cNvPicPr/>
                      <p:nvPr/>
                    </p:nvPicPr>
                    <p:blipFill>
                      <a:blip r:embed="rId31"/>
                      <a:stretch>
                        <a:fillRect/>
                      </a:stretch>
                    </p:blipFill>
                    <p:spPr>
                      <a:xfrm>
                        <a:off x="5639491" y="5726819"/>
                        <a:ext cx="5336007" cy="217349"/>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E5F39A5D-26E9-9580-7480-0C8E014AA134}"/>
              </a:ext>
            </a:extLst>
          </p:cNvPr>
          <p:cNvSpPr txBox="1"/>
          <p:nvPr/>
        </p:nvSpPr>
        <p:spPr>
          <a:xfrm>
            <a:off x="7520026" y="-35617"/>
            <a:ext cx="1967789" cy="1107996"/>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处理</a:t>
            </a:r>
            <a:r>
              <a:rPr lang="zh-CN" altLang="en-US">
                <a:solidFill>
                  <a:srgbClr val="FF0000"/>
                </a:solidFill>
                <a:latin typeface="楷体" panose="02010609060101010101" pitchFamily="49" charset="-122"/>
                <a:ea typeface="楷体" panose="02010609060101010101" pitchFamily="49" charset="-122"/>
              </a:rPr>
              <a:t>异常值</a:t>
            </a:r>
            <a:r>
              <a:rPr lang="zh-CN" altLang="en-US">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1.</a:t>
            </a:r>
            <a:r>
              <a:rPr lang="zh-CN" altLang="en-US" sz="1200">
                <a:latin typeface="楷体" panose="02010609060101010101" pitchFamily="49" charset="-122"/>
                <a:ea typeface="楷体" panose="02010609060101010101" pitchFamily="49" charset="-122"/>
                <a:cs typeface="Microsoft Uighur" panose="02000000000000000000" pitchFamily="2" charset="-78"/>
              </a:rPr>
              <a:t>鲁棒 </a:t>
            </a:r>
            <a:r>
              <a:rPr lang="en-US" altLang="zh-CN" sz="1200">
                <a:latin typeface="楷体" panose="02010609060101010101" pitchFamily="49" charset="-122"/>
                <a:ea typeface="楷体" panose="02010609060101010101" pitchFamily="49" charset="-122"/>
                <a:cs typeface="Microsoft Uighur" panose="02000000000000000000" pitchFamily="2" charset="-78"/>
              </a:rPr>
              <a:t>Z-Score </a:t>
            </a:r>
            <a:r>
              <a:rPr lang="zh-CN" altLang="en-US" sz="1200">
                <a:latin typeface="楷体" panose="02010609060101010101" pitchFamily="49" charset="-122"/>
                <a:ea typeface="楷体" panose="02010609060101010101" pitchFamily="49" charset="-122"/>
                <a:cs typeface="Microsoft Uighur" panose="02000000000000000000" pitchFamily="2" charset="-78"/>
              </a:rPr>
              <a:t>标准化</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2.</a:t>
            </a:r>
            <a:r>
              <a:rPr lang="zh-CN" altLang="en-US" sz="1200">
                <a:latin typeface="楷体" panose="02010609060101010101" pitchFamily="49" charset="-122"/>
                <a:ea typeface="楷体" panose="02010609060101010101" pitchFamily="49" charset="-122"/>
                <a:cs typeface="Microsoft Uighur" panose="02000000000000000000" pitchFamily="2" charset="-78"/>
              </a:rPr>
              <a:t>基于排名的标准化</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3.</a:t>
            </a:r>
            <a:r>
              <a:rPr lang="zh-CN" altLang="en-US" sz="1200">
                <a:latin typeface="楷体" panose="02010609060101010101" pitchFamily="49" charset="-122"/>
                <a:ea typeface="楷体" panose="02010609060101010101" pitchFamily="49" charset="-122"/>
                <a:cs typeface="Microsoft Uighur" panose="02000000000000000000" pitchFamily="2" charset="-78"/>
              </a:rPr>
              <a:t>基于分位数的标准化</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4.Robust Scaling</a:t>
            </a:r>
          </a:p>
        </p:txBody>
      </p:sp>
      <p:sp>
        <p:nvSpPr>
          <p:cNvPr id="16" name="文本框 15">
            <a:extLst>
              <a:ext uri="{FF2B5EF4-FFF2-40B4-BE49-F238E27FC236}">
                <a16:creationId xmlns:a16="http://schemas.microsoft.com/office/drawing/2014/main" id="{0D4C2447-1EAA-14C1-3C63-DDFF0E87245C}"/>
              </a:ext>
            </a:extLst>
          </p:cNvPr>
          <p:cNvSpPr txBox="1"/>
          <p:nvPr/>
        </p:nvSpPr>
        <p:spPr>
          <a:xfrm>
            <a:off x="7509308" y="1015212"/>
            <a:ext cx="4703674" cy="1477328"/>
          </a:xfrm>
          <a:prstGeom prst="rect">
            <a:avLst/>
          </a:prstGeom>
          <a:noFill/>
        </p:spPr>
        <p:txBody>
          <a:bodyPr wrap="square" rtlCol="0">
            <a:spAutoFit/>
          </a:bodyPr>
          <a:lstStyle/>
          <a:p>
            <a:r>
              <a:rPr lang="zh-CN" altLang="en-US">
                <a:latin typeface="楷体" panose="02010609060101010101" pitchFamily="49" charset="-122"/>
                <a:ea typeface="楷体" panose="02010609060101010101" pitchFamily="49" charset="-122"/>
              </a:rPr>
              <a:t>调整为</a:t>
            </a:r>
            <a:r>
              <a:rPr lang="zh-CN" altLang="en-US">
                <a:solidFill>
                  <a:srgbClr val="FF0000"/>
                </a:solidFill>
                <a:latin typeface="楷体" panose="02010609060101010101" pitchFamily="49" charset="-122"/>
                <a:ea typeface="楷体" panose="02010609060101010101" pitchFamily="49" charset="-122"/>
              </a:rPr>
              <a:t>正态分布</a:t>
            </a:r>
            <a:r>
              <a:rPr lang="zh-CN" altLang="en-US">
                <a:latin typeface="楷体" panose="02010609060101010101" pitchFamily="49" charset="-122"/>
                <a:ea typeface="楷体" panose="02010609060101010101" pitchFamily="49" charset="-122"/>
              </a:rPr>
              <a:t>：</a:t>
            </a:r>
            <a:endParaRPr lang="en-US" altLang="zh-CN">
              <a:latin typeface="楷体" panose="02010609060101010101" pitchFamily="49" charset="-122"/>
              <a:ea typeface="楷体" panose="02010609060101010101" pitchFamily="49" charset="-122"/>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1.Box-Cox</a:t>
            </a:r>
            <a:r>
              <a:rPr lang="zh-CN" altLang="en-US" sz="1200">
                <a:latin typeface="楷体" panose="02010609060101010101" pitchFamily="49" charset="-122"/>
                <a:ea typeface="楷体" panose="02010609060101010101" pitchFamily="49" charset="-122"/>
                <a:cs typeface="Microsoft Uighur" panose="02000000000000000000" pitchFamily="2" charset="-78"/>
              </a:rPr>
              <a:t>变换</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2.Yeo-Johnson</a:t>
            </a:r>
            <a:r>
              <a:rPr lang="zh-CN" altLang="en-US" sz="1200">
                <a:latin typeface="楷体" panose="02010609060101010101" pitchFamily="49" charset="-122"/>
                <a:ea typeface="楷体" panose="02010609060101010101" pitchFamily="49" charset="-122"/>
                <a:cs typeface="Microsoft Uighur" panose="02000000000000000000" pitchFamily="2" charset="-78"/>
              </a:rPr>
              <a:t>变换（类似</a:t>
            </a:r>
            <a:r>
              <a:rPr lang="en-US" altLang="zh-CN" sz="1200">
                <a:latin typeface="楷体" panose="02010609060101010101" pitchFamily="49" charset="-122"/>
                <a:ea typeface="楷体" panose="02010609060101010101" pitchFamily="49" charset="-122"/>
                <a:cs typeface="Microsoft Uighur" panose="02000000000000000000" pitchFamily="2" charset="-78"/>
              </a:rPr>
              <a:t>Box-Cox</a:t>
            </a:r>
            <a:r>
              <a:rPr lang="zh-CN" altLang="en-US" sz="1200">
                <a:latin typeface="楷体" panose="02010609060101010101" pitchFamily="49" charset="-122"/>
                <a:ea typeface="楷体" panose="02010609060101010101" pitchFamily="49" charset="-122"/>
                <a:cs typeface="Microsoft Uighur" panose="02000000000000000000" pitchFamily="2" charset="-78"/>
              </a:rPr>
              <a:t>变换，但</a:t>
            </a:r>
            <a:r>
              <a:rPr lang="zh-CN" altLang="en-US" sz="1200">
                <a:solidFill>
                  <a:srgbClr val="FF0000"/>
                </a:solidFill>
                <a:latin typeface="楷体" panose="02010609060101010101" pitchFamily="49" charset="-122"/>
                <a:ea typeface="楷体" panose="02010609060101010101" pitchFamily="49" charset="-122"/>
                <a:cs typeface="Microsoft Uighur" panose="02000000000000000000" pitchFamily="2" charset="-78"/>
              </a:rPr>
              <a:t>可处理非正数</a:t>
            </a:r>
            <a:r>
              <a:rPr lang="zh-CN" altLang="en-US" sz="1200">
                <a:latin typeface="楷体" panose="02010609060101010101" pitchFamily="49" charset="-122"/>
                <a:ea typeface="楷体" panose="02010609060101010101" pitchFamily="49" charset="-122"/>
                <a:cs typeface="Microsoft Uighur" panose="02000000000000000000" pitchFamily="2" charset="-78"/>
              </a:rPr>
              <a:t>，更灵活）</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3.Johnso</a:t>
            </a:r>
            <a:r>
              <a:rPr lang="zh-CN" altLang="en-US" sz="1200">
                <a:latin typeface="楷体" panose="02010609060101010101" pitchFamily="49" charset="-122"/>
                <a:ea typeface="楷体" panose="02010609060101010101" pitchFamily="49" charset="-122"/>
                <a:cs typeface="Microsoft Uighur" panose="02000000000000000000" pitchFamily="2" charset="-78"/>
              </a:rPr>
              <a:t>变换</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4.</a:t>
            </a:r>
            <a:r>
              <a:rPr lang="zh-CN" altLang="en-US" sz="1200">
                <a:latin typeface="楷体" panose="02010609060101010101" pitchFamily="49" charset="-122"/>
                <a:ea typeface="楷体" panose="02010609060101010101" pitchFamily="49" charset="-122"/>
                <a:cs typeface="Microsoft Uighur" panose="02000000000000000000" pitchFamily="2" charset="-78"/>
              </a:rPr>
              <a:t>对数变换</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5.</a:t>
            </a:r>
            <a:r>
              <a:rPr lang="zh-CN" altLang="en-US" sz="1200">
                <a:latin typeface="楷体" panose="02010609060101010101" pitchFamily="49" charset="-122"/>
                <a:ea typeface="楷体" panose="02010609060101010101" pitchFamily="49" charset="-122"/>
                <a:cs typeface="Microsoft Uighur" panose="02000000000000000000" pitchFamily="2" charset="-78"/>
              </a:rPr>
              <a:t>平方根变换</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a:p>
            <a:r>
              <a:rPr lang="en-US" altLang="zh-CN" sz="1200">
                <a:latin typeface="楷体" panose="02010609060101010101" pitchFamily="49" charset="-122"/>
                <a:ea typeface="楷体" panose="02010609060101010101" pitchFamily="49" charset="-122"/>
                <a:cs typeface="Microsoft Uighur" panose="02000000000000000000" pitchFamily="2" charset="-78"/>
              </a:rPr>
              <a:t>6.</a:t>
            </a:r>
            <a:r>
              <a:rPr lang="zh-CN" altLang="en-US" sz="1200">
                <a:latin typeface="楷体" panose="02010609060101010101" pitchFamily="49" charset="-122"/>
                <a:ea typeface="楷体" panose="02010609060101010101" pitchFamily="49" charset="-122"/>
                <a:cs typeface="Microsoft Uighur" panose="02000000000000000000" pitchFamily="2" charset="-78"/>
              </a:rPr>
              <a:t>反双曲正弦变换</a:t>
            </a:r>
            <a:endParaRPr lang="en-US" altLang="zh-CN" sz="1200">
              <a:latin typeface="楷体" panose="02010609060101010101" pitchFamily="49" charset="-122"/>
              <a:ea typeface="楷体" panose="02010609060101010101" pitchFamily="49" charset="-122"/>
              <a:cs typeface="Microsoft Uighur" panose="02000000000000000000" pitchFamily="2" charset="-78"/>
            </a:endParaRPr>
          </a:p>
        </p:txBody>
      </p:sp>
      <p:graphicFrame>
        <p:nvGraphicFramePr>
          <p:cNvPr id="17" name="对象 16">
            <a:extLst>
              <a:ext uri="{FF2B5EF4-FFF2-40B4-BE49-F238E27FC236}">
                <a16:creationId xmlns:a16="http://schemas.microsoft.com/office/drawing/2014/main" id="{E4FB276D-B92C-3CE3-DEBD-72847C123864}"/>
              </a:ext>
            </a:extLst>
          </p:cNvPr>
          <p:cNvGraphicFramePr>
            <a:graphicFrameLocks noChangeAspect="1"/>
          </p:cNvGraphicFramePr>
          <p:nvPr>
            <p:extLst>
              <p:ext uri="{D42A27DB-BD31-4B8C-83A1-F6EECF244321}">
                <p14:modId xmlns:p14="http://schemas.microsoft.com/office/powerpoint/2010/main" val="1853575684"/>
              </p:ext>
            </p:extLst>
          </p:nvPr>
        </p:nvGraphicFramePr>
        <p:xfrm>
          <a:off x="85430" y="5722414"/>
          <a:ext cx="7543864" cy="1161387"/>
        </p:xfrm>
        <a:graphic>
          <a:graphicData uri="http://schemas.openxmlformats.org/presentationml/2006/ole">
            <mc:AlternateContent xmlns:mc="http://schemas.openxmlformats.org/markup-compatibility/2006">
              <mc:Choice xmlns:v="urn:schemas-microsoft-com:vml" Requires="v">
                <p:oleObj name="AxMath" r:id="rId32" imgW="6969960" imgH="1072800" progId="Equation.AxMath">
                  <p:embed/>
                </p:oleObj>
              </mc:Choice>
              <mc:Fallback>
                <p:oleObj name="AxMath" r:id="rId32" imgW="6969960" imgH="1072800" progId="Equation.AxMath">
                  <p:embed/>
                  <p:pic>
                    <p:nvPicPr>
                      <p:cNvPr id="0" name=""/>
                      <p:cNvPicPr/>
                      <p:nvPr/>
                    </p:nvPicPr>
                    <p:blipFill>
                      <a:blip r:embed="rId33"/>
                      <a:stretch>
                        <a:fillRect/>
                      </a:stretch>
                    </p:blipFill>
                    <p:spPr>
                      <a:xfrm>
                        <a:off x="85430" y="5722414"/>
                        <a:ext cx="7543864" cy="1161387"/>
                      </a:xfrm>
                      <a:prstGeom prst="rect">
                        <a:avLst/>
                      </a:prstGeom>
                    </p:spPr>
                  </p:pic>
                </p:oleObj>
              </mc:Fallback>
            </mc:AlternateContent>
          </a:graphicData>
        </a:graphic>
      </p:graphicFrame>
      <p:cxnSp>
        <p:nvCxnSpPr>
          <p:cNvPr id="35" name="直接连接符 34">
            <a:extLst>
              <a:ext uri="{FF2B5EF4-FFF2-40B4-BE49-F238E27FC236}">
                <a16:creationId xmlns:a16="http://schemas.microsoft.com/office/drawing/2014/main" id="{0AD8BC72-41FB-75B3-C615-13059BBB386E}"/>
              </a:ext>
            </a:extLst>
          </p:cNvPr>
          <p:cNvCxnSpPr/>
          <p:nvPr/>
        </p:nvCxnSpPr>
        <p:spPr>
          <a:xfrm>
            <a:off x="7446515" y="0"/>
            <a:ext cx="0" cy="2492540"/>
          </a:xfrm>
          <a:prstGeom prst="line">
            <a:avLst/>
          </a:prstGeom>
        </p:spPr>
        <p:style>
          <a:lnRef idx="3">
            <a:schemeClr val="accent4"/>
          </a:lnRef>
          <a:fillRef idx="0">
            <a:schemeClr val="accent4"/>
          </a:fillRef>
          <a:effectRef idx="2">
            <a:schemeClr val="accent4"/>
          </a:effectRef>
          <a:fontRef idx="minor">
            <a:schemeClr val="tx1"/>
          </a:fontRef>
        </p:style>
      </p:cxnSp>
      <p:cxnSp>
        <p:nvCxnSpPr>
          <p:cNvPr id="36" name="直接连接符 35">
            <a:extLst>
              <a:ext uri="{FF2B5EF4-FFF2-40B4-BE49-F238E27FC236}">
                <a16:creationId xmlns:a16="http://schemas.microsoft.com/office/drawing/2014/main" id="{C6C2BE86-42C0-2309-86E5-D60D2132AD8D}"/>
              </a:ext>
            </a:extLst>
          </p:cNvPr>
          <p:cNvCxnSpPr>
            <a:cxnSpLocks/>
          </p:cNvCxnSpPr>
          <p:nvPr/>
        </p:nvCxnSpPr>
        <p:spPr>
          <a:xfrm>
            <a:off x="7446515" y="2494803"/>
            <a:ext cx="4739846" cy="17728"/>
          </a:xfrm>
          <a:prstGeom prst="line">
            <a:avLst/>
          </a:prstGeom>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561020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E1A81E2E-44CB-0DD7-455D-4680A32F5FDC}"/>
              </a:ext>
            </a:extLst>
          </p:cNvPr>
          <p:cNvSpPr/>
          <p:nvPr/>
        </p:nvSpPr>
        <p:spPr>
          <a:xfrm>
            <a:off x="239477" y="3838175"/>
            <a:ext cx="4656524" cy="2400657"/>
          </a:xfrm>
          <a:prstGeom prst="rect">
            <a:avLst/>
          </a:prstGeom>
          <a:solidFill>
            <a:srgbClr val="EEF7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40FCA01-CC32-6815-1BED-30F7D166A1FC}"/>
              </a:ext>
            </a:extLst>
          </p:cNvPr>
          <p:cNvSpPr txBox="1"/>
          <p:nvPr/>
        </p:nvSpPr>
        <p:spPr>
          <a:xfrm>
            <a:off x="319504" y="204801"/>
            <a:ext cx="2467588"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插值算法</a:t>
            </a:r>
          </a:p>
        </p:txBody>
      </p:sp>
      <p:sp>
        <p:nvSpPr>
          <p:cNvPr id="6" name="文本框 5">
            <a:extLst>
              <a:ext uri="{FF2B5EF4-FFF2-40B4-BE49-F238E27FC236}">
                <a16:creationId xmlns:a16="http://schemas.microsoft.com/office/drawing/2014/main" id="{B49E0BC8-564E-C67D-4EB7-535C8CF33623}"/>
              </a:ext>
            </a:extLst>
          </p:cNvPr>
          <p:cNvSpPr txBox="1"/>
          <p:nvPr/>
        </p:nvSpPr>
        <p:spPr>
          <a:xfrm>
            <a:off x="319504" y="837344"/>
            <a:ext cx="3908145" cy="287079"/>
          </a:xfrm>
          <a:prstGeom prst="rect">
            <a:avLst/>
          </a:prstGeom>
          <a:noFill/>
        </p:spPr>
        <p:txBody>
          <a:bodyPr wrap="square">
            <a:spAutoFit/>
          </a:bodyPr>
          <a:lstStyle/>
          <a:p>
            <a:r>
              <a:rPr lang="zh-CN" altLang="en-US" sz="1200">
                <a:latin typeface="楷体" panose="02010609060101010101" pitchFamily="49" charset="-122"/>
                <a:ea typeface="楷体" panose="02010609060101010101" pitchFamily="49" charset="-122"/>
              </a:rPr>
              <a:t>用于填补数据集中的</a:t>
            </a:r>
            <a:r>
              <a:rPr lang="zh-CN" altLang="en-US" sz="1200">
                <a:solidFill>
                  <a:srgbClr val="FF0000"/>
                </a:solidFill>
                <a:latin typeface="楷体" panose="02010609060101010101" pitchFamily="49" charset="-122"/>
                <a:ea typeface="楷体" panose="02010609060101010101" pitchFamily="49" charset="-122"/>
              </a:rPr>
              <a:t>空缺值</a:t>
            </a:r>
            <a:r>
              <a:rPr lang="zh-CN" altLang="en-US" sz="1200">
                <a:latin typeface="楷体" panose="02010609060101010101" pitchFamily="49" charset="-122"/>
                <a:ea typeface="楷体" panose="02010609060101010101" pitchFamily="49" charset="-122"/>
              </a:rPr>
              <a:t>或估计数据点之间的</a:t>
            </a:r>
            <a:r>
              <a:rPr lang="zh-CN" altLang="en-US" sz="1200">
                <a:solidFill>
                  <a:srgbClr val="FF0000"/>
                </a:solidFill>
                <a:latin typeface="楷体" panose="02010609060101010101" pitchFamily="49" charset="-122"/>
                <a:ea typeface="楷体" panose="02010609060101010101" pitchFamily="49" charset="-122"/>
              </a:rPr>
              <a:t>未知值</a:t>
            </a:r>
          </a:p>
        </p:txBody>
      </p:sp>
      <p:sp>
        <p:nvSpPr>
          <p:cNvPr id="8" name="文本框 7">
            <a:extLst>
              <a:ext uri="{FF2B5EF4-FFF2-40B4-BE49-F238E27FC236}">
                <a16:creationId xmlns:a16="http://schemas.microsoft.com/office/drawing/2014/main" id="{FDE86C7C-089F-A901-3688-FC78BB8CE906}"/>
              </a:ext>
            </a:extLst>
          </p:cNvPr>
          <p:cNvSpPr txBox="1"/>
          <p:nvPr/>
        </p:nvSpPr>
        <p:spPr>
          <a:xfrm>
            <a:off x="234980" y="1274605"/>
            <a:ext cx="8091720" cy="1754326"/>
          </a:xfrm>
          <a:prstGeom prst="rect">
            <a:avLst/>
          </a:prstGeom>
          <a:noFill/>
        </p:spPr>
        <p:txBody>
          <a:bodyPr wrap="square" rtlCol="0">
            <a:spAutoFit/>
          </a:bodyPr>
          <a:lstStyle/>
          <a:p>
            <a:r>
              <a:rPr lang="en-US" altLang="zh-CN" sz="1200"/>
              <a:t>1.</a:t>
            </a:r>
            <a:r>
              <a:rPr lang="zh-CN" altLang="en-US" sz="1200"/>
              <a:t>多项式插值：</a:t>
            </a:r>
            <a:endParaRPr lang="en-US" altLang="zh-CN" sz="1200"/>
          </a:p>
          <a:p>
            <a:r>
              <a:rPr lang="en-US" altLang="zh-CN" sz="1200"/>
              <a:t>	</a:t>
            </a:r>
            <a:r>
              <a:rPr lang="zh-CN" altLang="en-US" sz="1200"/>
              <a:t>拉格朗日插值：根据</a:t>
            </a:r>
            <a:r>
              <a:rPr lang="en-US" altLang="zh-CN" sz="1200"/>
              <a:t>n</a:t>
            </a:r>
            <a:r>
              <a:rPr lang="zh-CN" altLang="en-US" sz="1200"/>
              <a:t>个数据点构造一个</a:t>
            </a:r>
            <a:r>
              <a:rPr lang="en-US" altLang="zh-CN" sz="1200"/>
              <a:t>n-1</a:t>
            </a:r>
            <a:r>
              <a:rPr lang="zh-CN" altLang="en-US" sz="1200"/>
              <a:t>阶多项式</a:t>
            </a:r>
            <a:endParaRPr lang="en-US" altLang="zh-CN" sz="1200"/>
          </a:p>
          <a:p>
            <a:r>
              <a:rPr lang="en-US" altLang="zh-CN" sz="1200"/>
              <a:t>	</a:t>
            </a:r>
            <a:r>
              <a:rPr lang="zh-CN" altLang="en-US" sz="1200"/>
              <a:t>牛顿插值使用分段多项式来拟合数据，适合于数据点数量较多的情况</a:t>
            </a:r>
            <a:endParaRPr lang="en-US" altLang="zh-CN" sz="1200"/>
          </a:p>
          <a:p>
            <a:r>
              <a:rPr lang="en-US" altLang="zh-CN" sz="1200"/>
              <a:t>2.</a:t>
            </a:r>
            <a:r>
              <a:rPr lang="zh-CN" altLang="en-US" sz="1200"/>
              <a:t>分段低次插值：</a:t>
            </a:r>
            <a:endParaRPr lang="en-US" altLang="zh-CN" sz="1200"/>
          </a:p>
          <a:p>
            <a:r>
              <a:rPr lang="en-US" altLang="zh-CN" sz="1200"/>
              <a:t>	</a:t>
            </a:r>
            <a:r>
              <a:rPr lang="zh-CN" altLang="en-US" sz="1200"/>
              <a:t>分段线性插值</a:t>
            </a:r>
            <a:endParaRPr lang="en-US" altLang="zh-CN" sz="1200"/>
          </a:p>
          <a:p>
            <a:r>
              <a:rPr lang="en-US" altLang="zh-CN" sz="1200"/>
              <a:t>	</a:t>
            </a:r>
            <a:r>
              <a:rPr lang="zh-CN" altLang="en-US" sz="1200" b="1">
                <a:solidFill>
                  <a:srgbClr val="FF0000"/>
                </a:solidFill>
              </a:rPr>
              <a:t>分段三次埃尔米特插值</a:t>
            </a:r>
            <a:endParaRPr lang="en-US" altLang="zh-CN" sz="1200" b="1">
              <a:solidFill>
                <a:srgbClr val="FF0000"/>
              </a:solidFill>
            </a:endParaRPr>
          </a:p>
          <a:p>
            <a:r>
              <a:rPr lang="en-US" altLang="zh-CN" sz="1200"/>
              <a:t>3.</a:t>
            </a:r>
            <a:r>
              <a:rPr lang="zh-CN" altLang="en-US" sz="1200" b="1">
                <a:solidFill>
                  <a:srgbClr val="FF0000"/>
                </a:solidFill>
              </a:rPr>
              <a:t>三次样条插值</a:t>
            </a:r>
            <a:endParaRPr lang="en-US" altLang="zh-CN" sz="1200" b="1">
              <a:solidFill>
                <a:srgbClr val="FF0000"/>
              </a:solidFill>
            </a:endParaRPr>
          </a:p>
          <a:p>
            <a:r>
              <a:rPr lang="en-US" altLang="zh-CN" sz="1200"/>
              <a:t>4.</a:t>
            </a:r>
            <a:r>
              <a:rPr lang="zh-CN" altLang="en-US" sz="1200"/>
              <a:t>切比雪夫节点插值：通过非均匀分布的节点来减少龙格现象。这些节点在区间两端密集而在中间稀疏。</a:t>
            </a:r>
            <a:endParaRPr lang="en-US" altLang="zh-CN" sz="1200"/>
          </a:p>
          <a:p>
            <a:r>
              <a:rPr lang="en-US" altLang="zh-CN" sz="1200"/>
              <a:t>5.</a:t>
            </a:r>
            <a:r>
              <a:rPr lang="zh-CN" altLang="en-US" sz="1200"/>
              <a:t>最小二乘拟合：</a:t>
            </a:r>
            <a:r>
              <a:rPr lang="zh-CN" altLang="en-US" sz="1200" b="0" i="0">
                <a:solidFill>
                  <a:srgbClr val="2C2C36"/>
                </a:solidFill>
                <a:effectLst/>
                <a:highlight>
                  <a:srgbClr val="FFFFFF"/>
                </a:highlight>
                <a:latin typeface="-apple-system"/>
              </a:rPr>
              <a:t>与插值不同，最小二乘法是找到一个多项式使得所有数据点与该多项式之间的距离平方和最小。</a:t>
            </a:r>
          </a:p>
        </p:txBody>
      </p:sp>
      <p:sp>
        <p:nvSpPr>
          <p:cNvPr id="10" name="文本框 9">
            <a:extLst>
              <a:ext uri="{FF2B5EF4-FFF2-40B4-BE49-F238E27FC236}">
                <a16:creationId xmlns:a16="http://schemas.microsoft.com/office/drawing/2014/main" id="{CC19A181-7E66-56EC-C1EB-089050BC4D30}"/>
              </a:ext>
            </a:extLst>
          </p:cNvPr>
          <p:cNvSpPr txBox="1"/>
          <p:nvPr/>
        </p:nvSpPr>
        <p:spPr>
          <a:xfrm>
            <a:off x="234979" y="3111158"/>
            <a:ext cx="10905565" cy="276999"/>
          </a:xfrm>
          <a:prstGeom prst="rect">
            <a:avLst/>
          </a:prstGeom>
          <a:noFill/>
        </p:spPr>
        <p:txBody>
          <a:bodyPr wrap="square">
            <a:spAutoFit/>
          </a:bodyPr>
          <a:lstStyle/>
          <a:p>
            <a:r>
              <a:rPr lang="zh-CN" altLang="en-US" sz="1200">
                <a:solidFill>
                  <a:srgbClr val="2C2C36"/>
                </a:solidFill>
                <a:highlight>
                  <a:srgbClr val="FFFF00"/>
                </a:highlight>
                <a:latin typeface="楷体" panose="02010609060101010101" pitchFamily="49" charset="-122"/>
                <a:ea typeface="楷体" panose="02010609060101010101" pitchFamily="49" charset="-122"/>
              </a:rPr>
              <a:t>注</a:t>
            </a:r>
            <a:r>
              <a:rPr lang="en-US" altLang="zh-CN" sz="1200">
                <a:solidFill>
                  <a:srgbClr val="2C2C36"/>
                </a:solidFill>
                <a:highlight>
                  <a:srgbClr val="FFFFFF"/>
                </a:highlight>
                <a:latin typeface="楷体" panose="02010609060101010101" pitchFamily="49" charset="-122"/>
                <a:ea typeface="楷体" panose="02010609060101010101" pitchFamily="49" charset="-122"/>
              </a:rPr>
              <a:t>:</a:t>
            </a:r>
            <a:r>
              <a:rPr lang="zh-CN" altLang="en-US" sz="1200" b="0" i="0">
                <a:solidFill>
                  <a:srgbClr val="FF0000"/>
                </a:solidFill>
                <a:effectLst/>
                <a:highlight>
                  <a:srgbClr val="FFFFFF"/>
                </a:highlight>
                <a:latin typeface="楷体" panose="02010609060101010101" pitchFamily="49" charset="-122"/>
                <a:ea typeface="楷体" panose="02010609060101010101" pitchFamily="49" charset="-122"/>
              </a:rPr>
              <a:t>龙格现象</a:t>
            </a:r>
            <a:r>
              <a:rPr lang="zh-CN" altLang="en-US" sz="1200" b="0" i="0">
                <a:solidFill>
                  <a:srgbClr val="2C2C36"/>
                </a:solidFill>
                <a:effectLst/>
                <a:highlight>
                  <a:srgbClr val="FFFFFF"/>
                </a:highlight>
                <a:latin typeface="楷体" panose="02010609060101010101" pitchFamily="49" charset="-122"/>
                <a:ea typeface="楷体" panose="02010609060101010101" pitchFamily="49" charset="-122"/>
              </a:rPr>
              <a:t>（</a:t>
            </a:r>
            <a:r>
              <a:rPr lang="en-US" altLang="zh-CN" sz="1200" b="0" i="0">
                <a:solidFill>
                  <a:srgbClr val="2C2C36"/>
                </a:solidFill>
                <a:effectLst/>
                <a:highlight>
                  <a:srgbClr val="FFFFFF"/>
                </a:highlight>
                <a:latin typeface="楷体" panose="02010609060101010101" pitchFamily="49" charset="-122"/>
                <a:ea typeface="楷体" panose="02010609060101010101" pitchFamily="49" charset="-122"/>
              </a:rPr>
              <a:t>Runge‘s phenomenon</a:t>
            </a:r>
            <a:r>
              <a:rPr lang="zh-CN" altLang="en-US" sz="1200" b="0" i="0">
                <a:solidFill>
                  <a:srgbClr val="2C2C36"/>
                </a:solidFill>
                <a:effectLst/>
                <a:highlight>
                  <a:srgbClr val="FFFFFF"/>
                </a:highlight>
                <a:latin typeface="楷体" panose="02010609060101010101" pitchFamily="49" charset="-122"/>
                <a:ea typeface="楷体" panose="02010609060101010101" pitchFamily="49" charset="-122"/>
              </a:rPr>
              <a:t>）：当使用高次多项式对函数进行插值时，在</a:t>
            </a:r>
            <a:r>
              <a:rPr lang="zh-CN" altLang="en-US" sz="1200" b="0" i="0">
                <a:solidFill>
                  <a:srgbClr val="FF0000"/>
                </a:solidFill>
                <a:effectLst/>
                <a:highlight>
                  <a:srgbClr val="FFFFFF"/>
                </a:highlight>
                <a:latin typeface="楷体" panose="02010609060101010101" pitchFamily="49" charset="-122"/>
                <a:ea typeface="楷体" panose="02010609060101010101" pitchFamily="49" charset="-122"/>
              </a:rPr>
              <a:t>插值节点之外的区域</a:t>
            </a:r>
            <a:r>
              <a:rPr lang="zh-CN" altLang="en-US" sz="1200" b="0" i="0">
                <a:solidFill>
                  <a:srgbClr val="2C2C36"/>
                </a:solidFill>
                <a:effectLst/>
                <a:highlight>
                  <a:srgbClr val="FFFFFF"/>
                </a:highlight>
                <a:latin typeface="楷体" panose="02010609060101010101" pitchFamily="49" charset="-122"/>
                <a:ea typeface="楷体" panose="02010609060101010101" pitchFamily="49" charset="-122"/>
              </a:rPr>
              <a:t>会出现较大的</a:t>
            </a:r>
            <a:r>
              <a:rPr lang="zh-CN" altLang="en-US" sz="1200" b="0" i="0">
                <a:solidFill>
                  <a:srgbClr val="FF0000"/>
                </a:solidFill>
                <a:effectLst/>
                <a:highlight>
                  <a:srgbClr val="FFFFFF"/>
                </a:highlight>
                <a:latin typeface="楷体" panose="02010609060101010101" pitchFamily="49" charset="-122"/>
                <a:ea typeface="楷体" panose="02010609060101010101" pitchFamily="49" charset="-122"/>
              </a:rPr>
              <a:t>振荡</a:t>
            </a:r>
            <a:r>
              <a:rPr lang="zh-CN" altLang="en-US" sz="1200" b="0" i="0">
                <a:solidFill>
                  <a:srgbClr val="2C2C36"/>
                </a:solidFill>
                <a:effectLst/>
                <a:highlight>
                  <a:srgbClr val="FFFFFF"/>
                </a:highlight>
                <a:latin typeface="楷体" panose="02010609060101010101" pitchFamily="49" charset="-122"/>
                <a:ea typeface="楷体" panose="02010609060101010101" pitchFamily="49" charset="-122"/>
              </a:rPr>
              <a:t>，这会导致插值误差增大。</a:t>
            </a:r>
            <a:endParaRPr lang="zh-CN" altLang="en-US" sz="1200">
              <a:latin typeface="楷体" panose="02010609060101010101" pitchFamily="49" charset="-122"/>
              <a:ea typeface="楷体" panose="02010609060101010101" pitchFamily="49" charset="-122"/>
            </a:endParaRPr>
          </a:p>
        </p:txBody>
      </p:sp>
      <p:sp>
        <p:nvSpPr>
          <p:cNvPr id="16" name="文本框 15">
            <a:extLst>
              <a:ext uri="{FF2B5EF4-FFF2-40B4-BE49-F238E27FC236}">
                <a16:creationId xmlns:a16="http://schemas.microsoft.com/office/drawing/2014/main" id="{DA332AC2-8988-AFE5-E357-2E70567B2000}"/>
              </a:ext>
            </a:extLst>
          </p:cNvPr>
          <p:cNvSpPr txBox="1"/>
          <p:nvPr/>
        </p:nvSpPr>
        <p:spPr>
          <a:xfrm>
            <a:off x="2639121" y="2197245"/>
            <a:ext cx="3331373" cy="276999"/>
          </a:xfrm>
          <a:prstGeom prst="rect">
            <a:avLst/>
          </a:prstGeom>
          <a:noFill/>
        </p:spPr>
        <p:txBody>
          <a:bodyPr wrap="square">
            <a:spAutoFit/>
          </a:bodyPr>
          <a:lstStyle/>
          <a:p>
            <a:r>
              <a:rPr lang="zh-CN" altLang="en-US" sz="1200"/>
              <a:t>（</a:t>
            </a:r>
            <a:r>
              <a:rPr lang="en-US" altLang="zh-CN" sz="1200"/>
              <a:t>Piecewise Cubic Hermite Interpolation, </a:t>
            </a:r>
            <a:r>
              <a:rPr lang="en-US" altLang="zh-CN" sz="1200" b="1">
                <a:solidFill>
                  <a:srgbClr val="FF0000"/>
                </a:solidFill>
              </a:rPr>
              <a:t>PCHIP</a:t>
            </a:r>
            <a:r>
              <a:rPr lang="zh-CN" altLang="en-US" sz="1200"/>
              <a:t>）</a:t>
            </a:r>
          </a:p>
        </p:txBody>
      </p:sp>
      <p:sp>
        <p:nvSpPr>
          <p:cNvPr id="20" name="文本框 19">
            <a:extLst>
              <a:ext uri="{FF2B5EF4-FFF2-40B4-BE49-F238E27FC236}">
                <a16:creationId xmlns:a16="http://schemas.microsoft.com/office/drawing/2014/main" id="{35746E7D-81BF-42F4-80FB-CA17353FED38}"/>
              </a:ext>
            </a:extLst>
          </p:cNvPr>
          <p:cNvSpPr txBox="1"/>
          <p:nvPr/>
        </p:nvSpPr>
        <p:spPr>
          <a:xfrm>
            <a:off x="1304981" y="2335744"/>
            <a:ext cx="1976102" cy="276999"/>
          </a:xfrm>
          <a:prstGeom prst="rect">
            <a:avLst/>
          </a:prstGeom>
          <a:noFill/>
        </p:spPr>
        <p:txBody>
          <a:bodyPr wrap="square">
            <a:spAutoFit/>
          </a:bodyPr>
          <a:lstStyle/>
          <a:p>
            <a:r>
              <a:rPr lang="en-US" altLang="zh-CN" sz="1200"/>
              <a:t>(cubic spline interpolation)</a:t>
            </a:r>
          </a:p>
        </p:txBody>
      </p:sp>
      <p:sp>
        <p:nvSpPr>
          <p:cNvPr id="24" name="文本框 23">
            <a:extLst>
              <a:ext uri="{FF2B5EF4-FFF2-40B4-BE49-F238E27FC236}">
                <a16:creationId xmlns:a16="http://schemas.microsoft.com/office/drawing/2014/main" id="{443BB063-2B31-C96C-D735-8E5B97824698}"/>
              </a:ext>
            </a:extLst>
          </p:cNvPr>
          <p:cNvSpPr txBox="1"/>
          <p:nvPr/>
        </p:nvSpPr>
        <p:spPr>
          <a:xfrm>
            <a:off x="182463" y="3838175"/>
            <a:ext cx="4789329" cy="2400657"/>
          </a:xfrm>
          <a:prstGeom prst="rect">
            <a:avLst/>
          </a:prstGeom>
          <a:noFill/>
        </p:spPr>
        <p:txBody>
          <a:bodyPr wrap="square">
            <a:spAutoFit/>
          </a:bodyPr>
          <a:lstStyle/>
          <a:p>
            <a:r>
              <a:rPr lang="en-US" altLang="zh-CN" sz="1000" b="0" i="0">
                <a:effectLst/>
                <a:latin typeface="Menlo"/>
              </a:rPr>
              <a:t>x = -pi:pi; y = sin(x); </a:t>
            </a:r>
            <a:r>
              <a:rPr lang="en-US" altLang="zh-CN" sz="1000" b="0" i="0">
                <a:solidFill>
                  <a:srgbClr val="008013"/>
                </a:solidFill>
                <a:effectLst/>
                <a:latin typeface="Menlo"/>
              </a:rPr>
              <a:t>% default</a:t>
            </a:r>
            <a:r>
              <a:rPr lang="zh-CN" altLang="en-US" sz="1000" b="0" i="0">
                <a:solidFill>
                  <a:srgbClr val="008013"/>
                </a:solidFill>
                <a:effectLst/>
                <a:latin typeface="Menlo"/>
              </a:rPr>
              <a:t>间距</a:t>
            </a:r>
            <a:r>
              <a:rPr lang="en-US" altLang="zh-CN" sz="1000" b="0" i="0">
                <a:solidFill>
                  <a:srgbClr val="008013"/>
                </a:solidFill>
                <a:effectLst/>
                <a:latin typeface="Menlo"/>
              </a:rPr>
              <a:t>1</a:t>
            </a:r>
            <a:r>
              <a:rPr lang="zh-CN" altLang="en-US" sz="1000" b="0" i="0">
                <a:solidFill>
                  <a:srgbClr val="008013"/>
                </a:solidFill>
                <a:effectLst/>
                <a:latin typeface="Menlo"/>
              </a:rPr>
              <a:t>取点</a:t>
            </a:r>
            <a:endParaRPr lang="zh-CN" altLang="en-US" sz="1000" b="0" i="0">
              <a:effectLst/>
              <a:latin typeface="Menlo"/>
            </a:endParaRPr>
          </a:p>
          <a:p>
            <a:r>
              <a:rPr lang="en-US" altLang="zh-CN" sz="1000" b="0" i="0">
                <a:effectLst/>
                <a:latin typeface="Menlo"/>
              </a:rPr>
              <a:t>new_x = -pi:0.1:pi; </a:t>
            </a:r>
            <a:r>
              <a:rPr lang="en-US" altLang="zh-CN" sz="1000" b="0" i="0">
                <a:solidFill>
                  <a:srgbClr val="008013"/>
                </a:solidFill>
                <a:effectLst/>
                <a:latin typeface="Menlo"/>
              </a:rPr>
              <a:t>% </a:t>
            </a:r>
            <a:r>
              <a:rPr lang="zh-CN" altLang="en-US" sz="1000" b="0" i="0">
                <a:solidFill>
                  <a:srgbClr val="008013"/>
                </a:solidFill>
                <a:effectLst/>
                <a:latin typeface="Menlo"/>
              </a:rPr>
              <a:t>间距</a:t>
            </a:r>
            <a:r>
              <a:rPr lang="en-US" altLang="zh-CN" sz="1000" b="0" i="0">
                <a:solidFill>
                  <a:srgbClr val="008013"/>
                </a:solidFill>
                <a:effectLst/>
                <a:latin typeface="Menlo"/>
              </a:rPr>
              <a:t>0.1</a:t>
            </a:r>
            <a:r>
              <a:rPr lang="zh-CN" altLang="en-US" sz="1000" b="0" i="0">
                <a:solidFill>
                  <a:srgbClr val="008013"/>
                </a:solidFill>
                <a:effectLst/>
                <a:latin typeface="Menlo"/>
              </a:rPr>
              <a:t>取点</a:t>
            </a:r>
            <a:br>
              <a:rPr lang="zh-CN" altLang="en-US" sz="1000" b="0" i="0">
                <a:effectLst/>
                <a:latin typeface="Menlo"/>
              </a:rPr>
            </a:br>
            <a:endParaRPr lang="zh-CN" altLang="en-US" sz="1000" b="0" i="0">
              <a:effectLst/>
              <a:latin typeface="Menlo"/>
            </a:endParaRPr>
          </a:p>
          <a:p>
            <a:r>
              <a:rPr lang="en-US" altLang="zh-CN" sz="1000" b="0" i="0">
                <a:effectLst/>
                <a:latin typeface="Menlo"/>
              </a:rPr>
              <a:t>q1 = interpn (x, y, new_x, </a:t>
            </a:r>
            <a:r>
              <a:rPr lang="en-US" altLang="zh-CN" sz="1000" b="0" i="0">
                <a:solidFill>
                  <a:srgbClr val="A709F5"/>
                </a:solidFill>
                <a:effectLst/>
                <a:latin typeface="Menlo"/>
              </a:rPr>
              <a:t>'linear'</a:t>
            </a:r>
            <a:r>
              <a:rPr lang="en-US" altLang="zh-CN" sz="1000" b="0" i="0">
                <a:effectLst/>
                <a:latin typeface="Menlo"/>
              </a:rPr>
              <a:t>); </a:t>
            </a:r>
            <a:r>
              <a:rPr lang="en-US" altLang="zh-CN" sz="1000" b="0" i="0">
                <a:solidFill>
                  <a:srgbClr val="008013"/>
                </a:solidFill>
                <a:effectLst/>
                <a:latin typeface="Menlo"/>
              </a:rPr>
              <a:t>% </a:t>
            </a:r>
            <a:r>
              <a:rPr lang="zh-CN" altLang="en-US" sz="1000" b="0" i="0">
                <a:solidFill>
                  <a:srgbClr val="008013"/>
                </a:solidFill>
                <a:effectLst/>
                <a:latin typeface="Menlo"/>
              </a:rPr>
              <a:t>两点连线</a:t>
            </a:r>
            <a:endParaRPr lang="zh-CN" altLang="en-US" sz="1000" b="0" i="0">
              <a:effectLst/>
              <a:latin typeface="Menlo"/>
            </a:endParaRPr>
          </a:p>
          <a:p>
            <a:r>
              <a:rPr lang="en-US" altLang="zh-CN" sz="1000" b="0" i="0">
                <a:effectLst/>
                <a:latin typeface="Menlo"/>
              </a:rPr>
              <a:t>q2 = interpn (x, y, new_x, </a:t>
            </a:r>
            <a:r>
              <a:rPr lang="en-US" altLang="zh-CN" sz="1000" b="0" i="0">
                <a:solidFill>
                  <a:srgbClr val="A709F5"/>
                </a:solidFill>
                <a:effectLst/>
                <a:latin typeface="Menlo"/>
              </a:rPr>
              <a:t>'nearest'</a:t>
            </a:r>
            <a:r>
              <a:rPr lang="en-US" altLang="zh-CN" sz="1000" b="0" i="0">
                <a:effectLst/>
                <a:latin typeface="Menlo"/>
              </a:rPr>
              <a:t>); </a:t>
            </a:r>
            <a:r>
              <a:rPr lang="en-US" altLang="zh-CN" sz="1000" b="0" i="0">
                <a:solidFill>
                  <a:srgbClr val="008013"/>
                </a:solidFill>
                <a:effectLst/>
                <a:latin typeface="Menlo"/>
              </a:rPr>
              <a:t>% </a:t>
            </a:r>
            <a:r>
              <a:rPr lang="zh-CN" altLang="en-US" sz="1000" b="0" i="0">
                <a:solidFill>
                  <a:srgbClr val="008013"/>
                </a:solidFill>
                <a:effectLst/>
                <a:latin typeface="Menlo"/>
              </a:rPr>
              <a:t>取最近已知点的数值</a:t>
            </a:r>
            <a:endParaRPr lang="zh-CN" altLang="en-US" sz="1000" b="0" i="0">
              <a:effectLst/>
              <a:latin typeface="Menlo"/>
            </a:endParaRPr>
          </a:p>
          <a:p>
            <a:r>
              <a:rPr lang="en-US" altLang="zh-CN" sz="1000" b="0" i="0">
                <a:effectLst/>
                <a:latin typeface="Menlo"/>
              </a:rPr>
              <a:t>q3 = interpn (x, y, new_x, </a:t>
            </a:r>
            <a:r>
              <a:rPr lang="en-US" altLang="zh-CN" sz="1000" b="0" i="0">
                <a:solidFill>
                  <a:srgbClr val="A709F5"/>
                </a:solidFill>
                <a:effectLst/>
                <a:latin typeface="Menlo"/>
              </a:rPr>
              <a:t>'pchip'</a:t>
            </a:r>
            <a:r>
              <a:rPr lang="en-US" altLang="zh-CN" sz="1000" b="0" i="0">
                <a:effectLst/>
                <a:latin typeface="Menlo"/>
              </a:rPr>
              <a:t>); </a:t>
            </a:r>
            <a:r>
              <a:rPr lang="en-US" altLang="zh-CN" sz="1000" b="0" i="0">
                <a:solidFill>
                  <a:srgbClr val="008013"/>
                </a:solidFill>
                <a:effectLst/>
                <a:latin typeface="Menlo"/>
              </a:rPr>
              <a:t>% </a:t>
            </a:r>
            <a:r>
              <a:rPr lang="zh-CN" altLang="en-US" sz="1000" b="0" i="0">
                <a:solidFill>
                  <a:srgbClr val="008013"/>
                </a:solidFill>
                <a:effectLst/>
                <a:latin typeface="Menlo"/>
              </a:rPr>
              <a:t>分段三次埃尔米特插值（仅限于一维数据）</a:t>
            </a:r>
            <a:endParaRPr lang="zh-CN" altLang="en-US" sz="1000" b="0" i="0">
              <a:effectLst/>
              <a:latin typeface="Menlo"/>
            </a:endParaRPr>
          </a:p>
          <a:p>
            <a:r>
              <a:rPr lang="en-US" altLang="zh-CN" sz="1000" b="0" i="0">
                <a:effectLst/>
                <a:latin typeface="Menlo"/>
              </a:rPr>
              <a:t>q4 = interpn (x, y, new_x, </a:t>
            </a:r>
            <a:r>
              <a:rPr lang="en-US" altLang="zh-CN" sz="1000" b="0" i="0">
                <a:solidFill>
                  <a:srgbClr val="A709F5"/>
                </a:solidFill>
                <a:effectLst/>
                <a:latin typeface="Menlo"/>
              </a:rPr>
              <a:t>'cubic'</a:t>
            </a:r>
            <a:r>
              <a:rPr lang="en-US" altLang="zh-CN" sz="1000" b="0" i="0">
                <a:effectLst/>
                <a:latin typeface="Menlo"/>
              </a:rPr>
              <a:t>); </a:t>
            </a:r>
          </a:p>
          <a:p>
            <a:r>
              <a:rPr lang="en-US" altLang="zh-CN" sz="1000" b="0" i="0">
                <a:solidFill>
                  <a:srgbClr val="008013"/>
                </a:solidFill>
                <a:effectLst/>
                <a:latin typeface="Menlo"/>
              </a:rPr>
              <a:t>% </a:t>
            </a:r>
            <a:r>
              <a:rPr lang="zh-CN" altLang="en-US" sz="1000" b="0" i="0">
                <a:solidFill>
                  <a:srgbClr val="008013"/>
                </a:solidFill>
                <a:effectLst/>
                <a:latin typeface="Menlo"/>
              </a:rPr>
              <a:t>三次插值（对一维数据，等同于</a:t>
            </a:r>
            <a:r>
              <a:rPr lang="en-US" altLang="zh-CN" sz="1000" b="0" i="0">
                <a:solidFill>
                  <a:srgbClr val="008013"/>
                </a:solidFill>
                <a:effectLst/>
                <a:latin typeface="Menlo"/>
              </a:rPr>
              <a:t>pchip;</a:t>
            </a:r>
            <a:r>
              <a:rPr lang="zh-CN" altLang="en-US" sz="1000" b="0" i="0">
                <a:solidFill>
                  <a:srgbClr val="008013"/>
                </a:solidFill>
                <a:effectLst/>
                <a:latin typeface="Menlo"/>
              </a:rPr>
              <a:t>对更高维度的，则使用三线性</a:t>
            </a:r>
            <a:r>
              <a:rPr lang="en-US" altLang="zh-CN" sz="1000" b="0" i="0">
                <a:solidFill>
                  <a:srgbClr val="008013"/>
                </a:solidFill>
                <a:effectLst/>
                <a:latin typeface="Menlo"/>
              </a:rPr>
              <a:t>/</a:t>
            </a:r>
            <a:r>
              <a:rPr lang="zh-CN" altLang="en-US" sz="1000" b="0" i="0">
                <a:solidFill>
                  <a:srgbClr val="008013"/>
                </a:solidFill>
                <a:effectLst/>
                <a:latin typeface="Menlo"/>
              </a:rPr>
              <a:t>三立方插值）</a:t>
            </a:r>
            <a:endParaRPr lang="zh-CN" altLang="en-US" sz="1000" b="0" i="0">
              <a:effectLst/>
              <a:latin typeface="Menlo"/>
            </a:endParaRPr>
          </a:p>
          <a:p>
            <a:r>
              <a:rPr lang="en-US" altLang="zh-CN" sz="1000" b="0" i="0">
                <a:solidFill>
                  <a:srgbClr val="008013"/>
                </a:solidFill>
                <a:effectLst/>
                <a:latin typeface="Menlo"/>
              </a:rPr>
              <a:t>% </a:t>
            </a:r>
            <a:r>
              <a:rPr lang="zh-CN" altLang="en-US" sz="1000" b="0" i="0">
                <a:solidFill>
                  <a:srgbClr val="008013"/>
                </a:solidFill>
                <a:effectLst/>
                <a:latin typeface="Menlo"/>
              </a:rPr>
              <a:t>保持数据的形状并且避免过拟合。 </a:t>
            </a:r>
            <a:r>
              <a:rPr lang="en-US" altLang="zh-CN" sz="1000" b="0" i="0">
                <a:solidFill>
                  <a:srgbClr val="008013"/>
                </a:solidFill>
                <a:effectLst/>
                <a:latin typeface="Menlo"/>
              </a:rPr>
              <a:t>% </a:t>
            </a:r>
            <a:r>
              <a:rPr lang="zh-CN" altLang="en-US" sz="1000" b="0" i="0">
                <a:solidFill>
                  <a:srgbClr val="008013"/>
                </a:solidFill>
                <a:effectLst/>
                <a:latin typeface="Menlo"/>
              </a:rPr>
              <a:t>一阶导数连续</a:t>
            </a:r>
            <a:endParaRPr lang="zh-CN" altLang="en-US" sz="1000" b="0" i="0">
              <a:effectLst/>
              <a:latin typeface="Menlo"/>
            </a:endParaRPr>
          </a:p>
          <a:p>
            <a:r>
              <a:rPr lang="en-US" altLang="zh-CN" sz="1000" b="0" i="0">
                <a:effectLst/>
                <a:latin typeface="Menlo"/>
              </a:rPr>
              <a:t>q5 = interpn (x, y, new_x, </a:t>
            </a:r>
            <a:r>
              <a:rPr lang="en-US" altLang="zh-CN" sz="1000" b="0" i="0">
                <a:solidFill>
                  <a:srgbClr val="A709F5"/>
                </a:solidFill>
                <a:effectLst/>
                <a:latin typeface="Menlo"/>
              </a:rPr>
              <a:t>'spline’</a:t>
            </a:r>
            <a:r>
              <a:rPr lang="en-US" altLang="zh-CN" sz="1000" b="0" i="0">
                <a:effectLst/>
                <a:latin typeface="Menlo"/>
              </a:rPr>
              <a:t>);  </a:t>
            </a:r>
            <a:r>
              <a:rPr lang="en-US" altLang="zh-CN" sz="1000" i="0">
                <a:solidFill>
                  <a:srgbClr val="FF0000"/>
                </a:solidFill>
                <a:effectLst/>
                <a:latin typeface="Menlo"/>
              </a:rPr>
              <a:t>% Recommended</a:t>
            </a:r>
          </a:p>
          <a:p>
            <a:r>
              <a:rPr lang="en-US" altLang="zh-CN" sz="1000" b="0" i="0">
                <a:solidFill>
                  <a:srgbClr val="008013"/>
                </a:solidFill>
                <a:effectLst/>
                <a:latin typeface="Menlo"/>
              </a:rPr>
              <a:t>% </a:t>
            </a:r>
            <a:r>
              <a:rPr lang="zh-CN" altLang="en-US" sz="1000" b="0" i="0">
                <a:solidFill>
                  <a:srgbClr val="008013"/>
                </a:solidFill>
                <a:effectLst/>
                <a:latin typeface="Menlo"/>
              </a:rPr>
              <a:t>三次样条插值 </a:t>
            </a:r>
            <a:endParaRPr lang="zh-CN" altLang="en-US" sz="1000" b="0" i="0">
              <a:effectLst/>
              <a:latin typeface="Menlo"/>
            </a:endParaRPr>
          </a:p>
          <a:p>
            <a:r>
              <a:rPr lang="en-US" altLang="zh-CN" sz="1000" b="0" i="0">
                <a:solidFill>
                  <a:srgbClr val="008013"/>
                </a:solidFill>
                <a:effectLst/>
                <a:latin typeface="Menlo"/>
              </a:rPr>
              <a:t>% </a:t>
            </a:r>
            <a:r>
              <a:rPr lang="zh-CN" altLang="en-US" sz="1000" b="0" i="0">
                <a:solidFill>
                  <a:srgbClr val="008013"/>
                </a:solidFill>
                <a:effectLst/>
                <a:latin typeface="Menlo"/>
              </a:rPr>
              <a:t>保证所有数据点之间尽可能平滑且没有突变。 </a:t>
            </a:r>
            <a:r>
              <a:rPr lang="en-US" altLang="zh-CN" sz="1000" b="0" i="0">
                <a:solidFill>
                  <a:srgbClr val="008013"/>
                </a:solidFill>
                <a:effectLst/>
                <a:latin typeface="Menlo"/>
              </a:rPr>
              <a:t>% </a:t>
            </a:r>
            <a:r>
              <a:rPr lang="zh-CN" altLang="en-US" sz="1000" b="0" i="0">
                <a:solidFill>
                  <a:srgbClr val="008013"/>
                </a:solidFill>
                <a:effectLst/>
                <a:latin typeface="Menlo"/>
              </a:rPr>
              <a:t>一阶和二阶导数均连续</a:t>
            </a:r>
            <a:endParaRPr lang="zh-CN" altLang="en-US" sz="1000" b="0" i="0">
              <a:effectLst/>
              <a:latin typeface="Menlo"/>
            </a:endParaRPr>
          </a:p>
          <a:p>
            <a:r>
              <a:rPr lang="en-US" altLang="zh-CN" sz="1000" b="0" i="0">
                <a:effectLst/>
                <a:latin typeface="Menlo"/>
              </a:rPr>
              <a:t>figure(1); </a:t>
            </a:r>
            <a:r>
              <a:rPr lang="en-US" altLang="zh-CN" sz="1000" b="0" i="0">
                <a:solidFill>
                  <a:srgbClr val="008013"/>
                </a:solidFill>
                <a:effectLst/>
                <a:latin typeface="Menlo"/>
              </a:rPr>
              <a:t>% </a:t>
            </a:r>
            <a:r>
              <a:rPr lang="zh-CN" altLang="en-US" sz="1000" b="0" i="0">
                <a:solidFill>
                  <a:srgbClr val="008013"/>
                </a:solidFill>
                <a:effectLst/>
                <a:latin typeface="Menlo"/>
              </a:rPr>
              <a:t>图号</a:t>
            </a:r>
            <a:r>
              <a:rPr lang="en-US" altLang="zh-CN" sz="1000" b="0" i="0">
                <a:solidFill>
                  <a:srgbClr val="008013"/>
                </a:solidFill>
                <a:effectLst/>
                <a:latin typeface="Menlo"/>
              </a:rPr>
              <a:t>(1~3)</a:t>
            </a:r>
            <a:endParaRPr lang="zh-CN" altLang="en-US" sz="1000" b="0" i="0">
              <a:effectLst/>
              <a:latin typeface="Menlo"/>
            </a:endParaRPr>
          </a:p>
          <a:p>
            <a:r>
              <a:rPr lang="en-US" altLang="zh-CN" sz="1000" b="0" i="0">
                <a:effectLst/>
                <a:latin typeface="Menlo"/>
              </a:rPr>
              <a:t>plot(x,y,</a:t>
            </a:r>
            <a:r>
              <a:rPr lang="en-US" altLang="zh-CN" sz="1000" b="0" i="0">
                <a:solidFill>
                  <a:srgbClr val="A709F5"/>
                </a:solidFill>
                <a:effectLst/>
                <a:latin typeface="Menlo"/>
              </a:rPr>
              <a:t>'o'</a:t>
            </a:r>
            <a:r>
              <a:rPr lang="en-US" altLang="zh-CN" sz="1000" b="0" i="0">
                <a:effectLst/>
                <a:latin typeface="Menlo"/>
              </a:rPr>
              <a:t>,new_x,q5,</a:t>
            </a:r>
            <a:r>
              <a:rPr lang="en-US" altLang="zh-CN" sz="1000" b="0" i="0">
                <a:solidFill>
                  <a:srgbClr val="A709F5"/>
                </a:solidFill>
                <a:effectLst/>
                <a:latin typeface="Menlo"/>
              </a:rPr>
              <a:t>'r-'</a:t>
            </a:r>
            <a:r>
              <a:rPr lang="en-US" altLang="zh-CN" sz="1000" b="0" i="0">
                <a:effectLst/>
                <a:latin typeface="Menlo"/>
              </a:rPr>
              <a:t>)</a:t>
            </a:r>
          </a:p>
          <a:p>
            <a:r>
              <a:rPr lang="en-US" altLang="zh-CN" sz="1000" b="0" i="0">
                <a:effectLst/>
                <a:latin typeface="Menlo"/>
              </a:rPr>
              <a:t>legend(</a:t>
            </a:r>
            <a:r>
              <a:rPr lang="en-US" altLang="zh-CN" sz="1000" b="0" i="0">
                <a:solidFill>
                  <a:srgbClr val="A709F5"/>
                </a:solidFill>
                <a:effectLst/>
                <a:latin typeface="Menlo"/>
              </a:rPr>
              <a:t>'</a:t>
            </a:r>
            <a:r>
              <a:rPr lang="zh-CN" altLang="en-US" sz="1000" b="0" i="0">
                <a:solidFill>
                  <a:srgbClr val="A709F5"/>
                </a:solidFill>
                <a:effectLst/>
                <a:latin typeface="Menlo"/>
              </a:rPr>
              <a:t>样本点</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三次埃尔米特插值</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三次样条插值</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'Location'</a:t>
            </a:r>
            <a:r>
              <a:rPr lang="en-US" altLang="zh-CN" sz="1000" b="0" i="0">
                <a:effectLst/>
                <a:latin typeface="Menlo"/>
              </a:rPr>
              <a:t>,</a:t>
            </a:r>
            <a:r>
              <a:rPr lang="en-US" altLang="zh-CN" sz="1000" b="0" i="0">
                <a:solidFill>
                  <a:srgbClr val="A709F5"/>
                </a:solidFill>
                <a:effectLst/>
                <a:latin typeface="Menlo"/>
              </a:rPr>
              <a:t>'SouthEast'</a:t>
            </a:r>
            <a:r>
              <a:rPr lang="en-US" altLang="zh-CN" sz="1000" b="0" i="0">
                <a:effectLst/>
                <a:latin typeface="Menlo"/>
              </a:rPr>
              <a:t>) </a:t>
            </a:r>
            <a:r>
              <a:rPr lang="en-US" altLang="zh-CN" sz="1000" b="0" i="0">
                <a:solidFill>
                  <a:srgbClr val="008013"/>
                </a:solidFill>
                <a:effectLst/>
                <a:latin typeface="Menlo"/>
              </a:rPr>
              <a:t>% </a:t>
            </a:r>
            <a:r>
              <a:rPr lang="zh-CN" altLang="en-US" sz="1000" b="0" i="0">
                <a:solidFill>
                  <a:srgbClr val="008013"/>
                </a:solidFill>
                <a:effectLst/>
                <a:latin typeface="Menlo"/>
              </a:rPr>
              <a:t>图例</a:t>
            </a:r>
            <a:endParaRPr lang="zh-CN" altLang="en-US" sz="1000" b="0" i="0">
              <a:effectLst/>
              <a:latin typeface="Menlo"/>
            </a:endParaRPr>
          </a:p>
        </p:txBody>
      </p:sp>
      <p:pic>
        <p:nvPicPr>
          <p:cNvPr id="30" name="图片 29">
            <a:extLst>
              <a:ext uri="{FF2B5EF4-FFF2-40B4-BE49-F238E27FC236}">
                <a16:creationId xmlns:a16="http://schemas.microsoft.com/office/drawing/2014/main" id="{DCA33557-D5CD-3F48-101E-FC2B019FF495}"/>
              </a:ext>
            </a:extLst>
          </p:cNvPr>
          <p:cNvPicPr>
            <a:picLocks noChangeAspect="1"/>
          </p:cNvPicPr>
          <p:nvPr/>
        </p:nvPicPr>
        <p:blipFill>
          <a:blip r:embed="rId2"/>
          <a:stretch>
            <a:fillRect/>
          </a:stretch>
        </p:blipFill>
        <p:spPr>
          <a:xfrm>
            <a:off x="6224880" y="3665269"/>
            <a:ext cx="1373666" cy="1146314"/>
          </a:xfrm>
          <a:prstGeom prst="rect">
            <a:avLst/>
          </a:prstGeom>
        </p:spPr>
      </p:pic>
      <p:pic>
        <p:nvPicPr>
          <p:cNvPr id="32" name="图片 31">
            <a:extLst>
              <a:ext uri="{FF2B5EF4-FFF2-40B4-BE49-F238E27FC236}">
                <a16:creationId xmlns:a16="http://schemas.microsoft.com/office/drawing/2014/main" id="{883C0F8E-1873-A364-CC4F-80CDD840B9AF}"/>
              </a:ext>
            </a:extLst>
          </p:cNvPr>
          <p:cNvPicPr>
            <a:picLocks noChangeAspect="1"/>
          </p:cNvPicPr>
          <p:nvPr/>
        </p:nvPicPr>
        <p:blipFill>
          <a:blip r:embed="rId3"/>
          <a:stretch>
            <a:fillRect/>
          </a:stretch>
        </p:blipFill>
        <p:spPr>
          <a:xfrm>
            <a:off x="7719201" y="3665269"/>
            <a:ext cx="1373666" cy="1151117"/>
          </a:xfrm>
          <a:prstGeom prst="rect">
            <a:avLst/>
          </a:prstGeom>
        </p:spPr>
      </p:pic>
      <p:pic>
        <p:nvPicPr>
          <p:cNvPr id="34" name="图片 33">
            <a:extLst>
              <a:ext uri="{FF2B5EF4-FFF2-40B4-BE49-F238E27FC236}">
                <a16:creationId xmlns:a16="http://schemas.microsoft.com/office/drawing/2014/main" id="{ACA2F874-E7A3-4CF3-1514-05A354C094AE}"/>
              </a:ext>
            </a:extLst>
          </p:cNvPr>
          <p:cNvPicPr>
            <a:picLocks noChangeAspect="1"/>
          </p:cNvPicPr>
          <p:nvPr/>
        </p:nvPicPr>
        <p:blipFill>
          <a:blip r:embed="rId4"/>
          <a:stretch>
            <a:fillRect/>
          </a:stretch>
        </p:blipFill>
        <p:spPr>
          <a:xfrm>
            <a:off x="5258440" y="4924908"/>
            <a:ext cx="1379039" cy="1146314"/>
          </a:xfrm>
          <a:prstGeom prst="rect">
            <a:avLst/>
          </a:prstGeom>
        </p:spPr>
      </p:pic>
      <p:pic>
        <p:nvPicPr>
          <p:cNvPr id="36" name="图片 35">
            <a:extLst>
              <a:ext uri="{FF2B5EF4-FFF2-40B4-BE49-F238E27FC236}">
                <a16:creationId xmlns:a16="http://schemas.microsoft.com/office/drawing/2014/main" id="{D7C30257-6EC8-AF16-A6C8-769327D8859C}"/>
              </a:ext>
            </a:extLst>
          </p:cNvPr>
          <p:cNvPicPr>
            <a:picLocks noChangeAspect="1"/>
          </p:cNvPicPr>
          <p:nvPr/>
        </p:nvPicPr>
        <p:blipFill>
          <a:blip r:embed="rId5"/>
          <a:stretch>
            <a:fillRect/>
          </a:stretch>
        </p:blipFill>
        <p:spPr>
          <a:xfrm>
            <a:off x="6924127" y="4924908"/>
            <a:ext cx="1402572" cy="1146314"/>
          </a:xfrm>
          <a:prstGeom prst="rect">
            <a:avLst/>
          </a:prstGeom>
        </p:spPr>
      </p:pic>
      <p:pic>
        <p:nvPicPr>
          <p:cNvPr id="38" name="图片 37">
            <a:extLst>
              <a:ext uri="{FF2B5EF4-FFF2-40B4-BE49-F238E27FC236}">
                <a16:creationId xmlns:a16="http://schemas.microsoft.com/office/drawing/2014/main" id="{E9D44B3B-EB0A-A46A-34B7-6C800AF43BD8}"/>
              </a:ext>
            </a:extLst>
          </p:cNvPr>
          <p:cNvPicPr>
            <a:picLocks noChangeAspect="1"/>
          </p:cNvPicPr>
          <p:nvPr/>
        </p:nvPicPr>
        <p:blipFill>
          <a:blip r:embed="rId6"/>
          <a:stretch>
            <a:fillRect/>
          </a:stretch>
        </p:blipFill>
        <p:spPr>
          <a:xfrm>
            <a:off x="8613347" y="4919407"/>
            <a:ext cx="1393100" cy="1157315"/>
          </a:xfrm>
          <a:prstGeom prst="rect">
            <a:avLst/>
          </a:prstGeom>
        </p:spPr>
      </p:pic>
      <p:cxnSp>
        <p:nvCxnSpPr>
          <p:cNvPr id="41" name="直接连接符 40">
            <a:extLst>
              <a:ext uri="{FF2B5EF4-FFF2-40B4-BE49-F238E27FC236}">
                <a16:creationId xmlns:a16="http://schemas.microsoft.com/office/drawing/2014/main" id="{A42F31F9-695C-F070-3E62-1CD7FB86D9C4}"/>
              </a:ext>
            </a:extLst>
          </p:cNvPr>
          <p:cNvCxnSpPr>
            <a:cxnSpLocks/>
          </p:cNvCxnSpPr>
          <p:nvPr/>
        </p:nvCxnSpPr>
        <p:spPr>
          <a:xfrm>
            <a:off x="271644" y="4205088"/>
            <a:ext cx="4656524" cy="0"/>
          </a:xfrm>
          <a:prstGeom prst="line">
            <a:avLst/>
          </a:prstGeom>
          <a:ln w="127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5AE8F7A-5E3F-1C9B-5B6E-0F1562B42FB4}"/>
              </a:ext>
            </a:extLst>
          </p:cNvPr>
          <p:cNvCxnSpPr>
            <a:cxnSpLocks/>
          </p:cNvCxnSpPr>
          <p:nvPr/>
        </p:nvCxnSpPr>
        <p:spPr>
          <a:xfrm>
            <a:off x="239477" y="5703474"/>
            <a:ext cx="4656524" cy="0"/>
          </a:xfrm>
          <a:prstGeom prst="line">
            <a:avLst/>
          </a:prstGeom>
          <a:ln w="12700">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C5939115-7530-CA24-E092-3E591CB2D2B9}"/>
              </a:ext>
            </a:extLst>
          </p:cNvPr>
          <p:cNvSpPr txBox="1"/>
          <p:nvPr/>
        </p:nvSpPr>
        <p:spPr>
          <a:xfrm>
            <a:off x="2787092" y="494854"/>
            <a:ext cx="2616767" cy="369332"/>
          </a:xfrm>
          <a:prstGeom prst="rect">
            <a:avLst/>
          </a:prstGeom>
          <a:noFill/>
        </p:spPr>
        <p:txBody>
          <a:bodyPr wrap="square" rtlCol="0">
            <a:spAutoFit/>
          </a:bodyPr>
          <a:lstStyle/>
          <a:p>
            <a:r>
              <a:rPr lang="en-US" altLang="zh-CN">
                <a:latin typeface="CommercialScript BT" panose="03030803040807090C04" pitchFamily="66" charset="0"/>
              </a:rPr>
              <a:t>Interpolation algorithm</a:t>
            </a:r>
            <a:endParaRPr lang="zh-CN" altLang="en-US">
              <a:latin typeface="CommercialScript BT" panose="03030803040807090C04" pitchFamily="66" charset="0"/>
            </a:endParaRPr>
          </a:p>
        </p:txBody>
      </p:sp>
      <p:sp>
        <p:nvSpPr>
          <p:cNvPr id="45" name="矩形 44">
            <a:extLst>
              <a:ext uri="{FF2B5EF4-FFF2-40B4-BE49-F238E27FC236}">
                <a16:creationId xmlns:a16="http://schemas.microsoft.com/office/drawing/2014/main" id="{0D85D752-EFA4-CD63-501C-1FD6F160DCD2}"/>
              </a:ext>
            </a:extLst>
          </p:cNvPr>
          <p:cNvSpPr/>
          <p:nvPr/>
        </p:nvSpPr>
        <p:spPr>
          <a:xfrm>
            <a:off x="234979" y="1274605"/>
            <a:ext cx="10161518" cy="2154395"/>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D635FEFF-3E75-1FFC-86C4-F0C616DABE7A}"/>
              </a:ext>
            </a:extLst>
          </p:cNvPr>
          <p:cNvSpPr/>
          <p:nvPr/>
        </p:nvSpPr>
        <p:spPr>
          <a:xfrm>
            <a:off x="5982866" y="7972"/>
            <a:ext cx="6209134" cy="254312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a:extLst>
              <a:ext uri="{FF2B5EF4-FFF2-40B4-BE49-F238E27FC236}">
                <a16:creationId xmlns:a16="http://schemas.microsoft.com/office/drawing/2014/main" id="{E34620A4-998F-1A46-6D41-9CA896938209}"/>
              </a:ext>
            </a:extLst>
          </p:cNvPr>
          <p:cNvPicPr>
            <a:picLocks noChangeAspect="1"/>
          </p:cNvPicPr>
          <p:nvPr/>
        </p:nvPicPr>
        <p:blipFill>
          <a:blip r:embed="rId7"/>
          <a:stretch>
            <a:fillRect/>
          </a:stretch>
        </p:blipFill>
        <p:spPr>
          <a:xfrm>
            <a:off x="9087433" y="110719"/>
            <a:ext cx="2992850" cy="2327772"/>
          </a:xfrm>
          <a:prstGeom prst="rect">
            <a:avLst/>
          </a:prstGeom>
        </p:spPr>
      </p:pic>
      <p:sp>
        <p:nvSpPr>
          <p:cNvPr id="55" name="文本框 54">
            <a:extLst>
              <a:ext uri="{FF2B5EF4-FFF2-40B4-BE49-F238E27FC236}">
                <a16:creationId xmlns:a16="http://schemas.microsoft.com/office/drawing/2014/main" id="{6946553E-C3A7-EF04-736E-C530608CC8EB}"/>
              </a:ext>
            </a:extLst>
          </p:cNvPr>
          <p:cNvSpPr txBox="1"/>
          <p:nvPr/>
        </p:nvSpPr>
        <p:spPr>
          <a:xfrm>
            <a:off x="6007146" y="33433"/>
            <a:ext cx="3109040" cy="2400657"/>
          </a:xfrm>
          <a:prstGeom prst="rect">
            <a:avLst/>
          </a:prstGeom>
          <a:noFill/>
        </p:spPr>
        <p:txBody>
          <a:bodyPr wrap="square">
            <a:spAutoFit/>
          </a:bodyPr>
          <a:lstStyle/>
          <a:p>
            <a:r>
              <a:rPr lang="en-US" altLang="zh-CN" sz="1000">
                <a:latin typeface="Menlo"/>
              </a:rPr>
              <a:t>MATLAB</a:t>
            </a:r>
            <a:r>
              <a:rPr lang="zh-CN" altLang="en-US" sz="1000">
                <a:latin typeface="Menlo"/>
              </a:rPr>
              <a:t>例题：</a:t>
            </a:r>
            <a:endParaRPr lang="en-US" altLang="zh-CN" sz="1000">
              <a:latin typeface="Menlo"/>
            </a:endParaRPr>
          </a:p>
          <a:p>
            <a:endParaRPr lang="en-US" altLang="zh-CN" sz="1000" b="0" i="0">
              <a:effectLst/>
              <a:latin typeface="Menlo"/>
            </a:endParaRPr>
          </a:p>
          <a:p>
            <a:r>
              <a:rPr lang="en-US" altLang="zh-CN" sz="1000" b="0" i="0">
                <a:effectLst/>
                <a:latin typeface="Menlo"/>
              </a:rPr>
              <a:t>load </a:t>
            </a:r>
            <a:r>
              <a:rPr lang="en-US" altLang="zh-CN" sz="1000" b="0" i="0">
                <a:solidFill>
                  <a:srgbClr val="A709F5"/>
                </a:solidFill>
                <a:effectLst/>
                <a:latin typeface="Menlo"/>
              </a:rPr>
              <a:t>Z.mat</a:t>
            </a:r>
            <a:r>
              <a:rPr lang="en-US" altLang="zh-CN" sz="1000" b="0" i="0">
                <a:effectLst/>
                <a:latin typeface="Menlo"/>
              </a:rPr>
              <a:t>;</a:t>
            </a:r>
          </a:p>
          <a:p>
            <a:r>
              <a:rPr lang="en-US" altLang="zh-CN" sz="1000" b="0" i="0">
                <a:effectLst/>
                <a:latin typeface="Menlo"/>
              </a:rPr>
              <a:t>[n,m] = size(Z);</a:t>
            </a:r>
          </a:p>
          <a:p>
            <a:r>
              <a:rPr lang="en-US" altLang="zh-CN" sz="1000" b="0" i="0">
                <a:effectLst/>
                <a:latin typeface="Menlo"/>
              </a:rPr>
              <a:t>new_x = Z(1,1):0.1:Z(1,m);</a:t>
            </a:r>
          </a:p>
          <a:p>
            <a:r>
              <a:rPr lang="en-US" altLang="zh-CN" sz="1000" b="0" i="0">
                <a:effectLst/>
                <a:latin typeface="Menlo"/>
              </a:rPr>
              <a:t>A = repmat(new_x,n,1);</a:t>
            </a:r>
          </a:p>
          <a:p>
            <a:r>
              <a:rPr lang="en-US" altLang="zh-CN" sz="1000" b="0" i="0">
                <a:effectLst/>
                <a:latin typeface="Menlo"/>
              </a:rPr>
              <a:t>ylab = {</a:t>
            </a:r>
            <a:r>
              <a:rPr lang="en-US" altLang="zh-CN" sz="1000" b="0" i="0">
                <a:solidFill>
                  <a:srgbClr val="A709F5"/>
                </a:solidFill>
                <a:effectLst/>
                <a:latin typeface="Menlo"/>
              </a:rPr>
              <a:t>'</a:t>
            </a:r>
            <a:r>
              <a:rPr lang="zh-CN" altLang="en-US" sz="1000" b="0" i="0">
                <a:solidFill>
                  <a:srgbClr val="A709F5"/>
                </a:solidFill>
                <a:effectLst/>
                <a:latin typeface="Menlo"/>
              </a:rPr>
              <a:t>周数</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轮虫</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溶氧</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'COD'</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水温</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'PH</a:t>
            </a:r>
            <a:r>
              <a:rPr lang="zh-CN" altLang="en-US" sz="1000" b="0" i="0">
                <a:solidFill>
                  <a:srgbClr val="A709F5"/>
                </a:solidFill>
                <a:effectLst/>
                <a:latin typeface="Menlo"/>
              </a:rPr>
              <a:t>值</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0E00FF"/>
                </a:solidFill>
                <a:effectLst/>
                <a:latin typeface="Menlo"/>
              </a:rPr>
              <a:t>...</a:t>
            </a:r>
            <a:endParaRPr lang="zh-CN" altLang="en-US" sz="1000" b="0" i="0">
              <a:effectLst/>
              <a:latin typeface="Menlo"/>
            </a:endParaRPr>
          </a:p>
          <a:p>
            <a:r>
              <a:rPr lang="en-US" altLang="zh-CN" sz="1000" b="0" i="0">
                <a:solidFill>
                  <a:srgbClr val="A709F5"/>
                </a:solidFill>
                <a:effectLst/>
                <a:latin typeface="Menlo"/>
              </a:rPr>
              <a:t>      '</a:t>
            </a:r>
            <a:r>
              <a:rPr lang="zh-CN" altLang="en-US" sz="1000" b="0" i="0">
                <a:solidFill>
                  <a:srgbClr val="A709F5"/>
                </a:solidFill>
                <a:effectLst/>
                <a:latin typeface="Menlo"/>
              </a:rPr>
              <a:t>盐度</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透明度</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总碱度</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氯离子</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透明度</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生物量</a:t>
            </a:r>
            <a:r>
              <a:rPr lang="en-US" altLang="zh-CN" sz="1000" b="0" i="0">
                <a:solidFill>
                  <a:srgbClr val="A709F5"/>
                </a:solidFill>
                <a:effectLst/>
                <a:latin typeface="Menlo"/>
              </a:rPr>
              <a:t>'</a:t>
            </a:r>
            <a:r>
              <a:rPr lang="en-US" altLang="zh-CN" sz="1000" b="0" i="0">
                <a:effectLst/>
                <a:latin typeface="Menlo"/>
              </a:rPr>
              <a:t>};</a:t>
            </a:r>
          </a:p>
          <a:p>
            <a:r>
              <a:rPr lang="en-US" altLang="zh-CN" sz="1000" b="0" i="0">
                <a:solidFill>
                  <a:srgbClr val="0E00FF"/>
                </a:solidFill>
                <a:effectLst/>
                <a:latin typeface="Menlo"/>
              </a:rPr>
              <a:t>for </a:t>
            </a:r>
            <a:r>
              <a:rPr lang="en-US" altLang="zh-CN" sz="1000" b="0" i="0">
                <a:effectLst/>
                <a:latin typeface="Menlo"/>
              </a:rPr>
              <a:t>i=2:n</a:t>
            </a:r>
          </a:p>
          <a:p>
            <a:r>
              <a:rPr lang="en-US" altLang="zh-CN" sz="1000" b="0" i="0">
                <a:effectLst/>
                <a:latin typeface="Menlo"/>
              </a:rPr>
              <a:t>      p = interpn(Z(1,:),Z(i,:),new_x,</a:t>
            </a:r>
            <a:r>
              <a:rPr lang="en-US" altLang="zh-CN" sz="1000" b="0" i="0">
                <a:solidFill>
                  <a:srgbClr val="A709F5"/>
                </a:solidFill>
                <a:effectLst/>
                <a:latin typeface="Menlo"/>
              </a:rPr>
              <a:t>'spline'</a:t>
            </a:r>
            <a:r>
              <a:rPr lang="en-US" altLang="zh-CN" sz="1000" b="0" i="0">
                <a:effectLst/>
                <a:latin typeface="Menlo"/>
              </a:rPr>
              <a:t>);</a:t>
            </a:r>
          </a:p>
          <a:p>
            <a:r>
              <a:rPr lang="en-US" altLang="zh-CN" sz="1000" b="0" i="0">
                <a:effectLst/>
                <a:latin typeface="Menlo"/>
              </a:rPr>
              <a:t>      A(i,:) = p;</a:t>
            </a:r>
          </a:p>
          <a:p>
            <a:r>
              <a:rPr lang="en-US" altLang="zh-CN" sz="1000" b="0" i="0">
                <a:effectLst/>
                <a:latin typeface="Menlo"/>
              </a:rPr>
              <a:t>      subplot(3,4,i-1);</a:t>
            </a:r>
          </a:p>
          <a:p>
            <a:r>
              <a:rPr lang="en-US" altLang="zh-CN" sz="1000" b="0" i="0">
                <a:effectLst/>
                <a:latin typeface="Menlo"/>
              </a:rPr>
              <a:t>      plot(Z(1,:),Z(i,:),</a:t>
            </a:r>
            <a:r>
              <a:rPr lang="en-US" altLang="zh-CN" sz="1000" b="0" i="0">
                <a:solidFill>
                  <a:srgbClr val="A709F5"/>
                </a:solidFill>
                <a:effectLst/>
                <a:latin typeface="Menlo"/>
              </a:rPr>
              <a:t>'o'</a:t>
            </a:r>
            <a:r>
              <a:rPr lang="en-US" altLang="zh-CN" sz="1000" b="0" i="0">
                <a:effectLst/>
                <a:latin typeface="Menlo"/>
              </a:rPr>
              <a:t>,new_x,p,</a:t>
            </a:r>
            <a:r>
              <a:rPr lang="en-US" altLang="zh-CN" sz="1000" b="0" i="0">
                <a:solidFill>
                  <a:srgbClr val="A709F5"/>
                </a:solidFill>
                <a:effectLst/>
                <a:latin typeface="Menlo"/>
              </a:rPr>
              <a:t>'r-’</a:t>
            </a:r>
            <a:r>
              <a:rPr lang="en-US" altLang="zh-CN" sz="1000" b="0" i="0">
                <a:effectLst/>
                <a:latin typeface="Menlo"/>
              </a:rPr>
              <a:t>);</a:t>
            </a:r>
          </a:p>
          <a:p>
            <a:r>
              <a:rPr lang="en-US" altLang="zh-CN" sz="1000" b="0" i="0">
                <a:effectLst/>
                <a:latin typeface="Menlo"/>
              </a:rPr>
              <a:t>      ylabel(ylab(i));</a:t>
            </a:r>
          </a:p>
          <a:p>
            <a:r>
              <a:rPr lang="en-US" altLang="zh-CN" sz="1000" b="0" i="0">
                <a:solidFill>
                  <a:srgbClr val="0E00FF"/>
                </a:solidFill>
                <a:effectLst/>
                <a:latin typeface="Menlo"/>
              </a:rPr>
              <a:t>end</a:t>
            </a:r>
            <a:endParaRPr lang="en-US" altLang="zh-CN" sz="1000" b="0" i="0">
              <a:effectLst/>
              <a:latin typeface="Menlo"/>
            </a:endParaRPr>
          </a:p>
        </p:txBody>
      </p:sp>
    </p:spTree>
    <p:extLst>
      <p:ext uri="{BB962C8B-B14F-4D97-AF65-F5344CB8AC3E}">
        <p14:creationId xmlns:p14="http://schemas.microsoft.com/office/powerpoint/2010/main" val="3053532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17A1BDD3-37D6-EBBC-9A6F-42FABA9DF512}"/>
              </a:ext>
            </a:extLst>
          </p:cNvPr>
          <p:cNvSpPr/>
          <p:nvPr/>
        </p:nvSpPr>
        <p:spPr>
          <a:xfrm>
            <a:off x="319504" y="5155808"/>
            <a:ext cx="4944059" cy="891769"/>
          </a:xfrm>
          <a:prstGeom prst="rect">
            <a:avLst/>
          </a:prstGeom>
          <a:solidFill>
            <a:srgbClr val="F4F9F1"/>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32E9C9F7-10A4-DAFD-D1B8-113A7B51619E}"/>
              </a:ext>
            </a:extLst>
          </p:cNvPr>
          <p:cNvSpPr/>
          <p:nvPr/>
        </p:nvSpPr>
        <p:spPr>
          <a:xfrm>
            <a:off x="5622152" y="1229941"/>
            <a:ext cx="6569848" cy="212492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8FC917D-952A-27BA-7903-21FCB104E862}"/>
              </a:ext>
            </a:extLst>
          </p:cNvPr>
          <p:cNvSpPr txBox="1"/>
          <p:nvPr/>
        </p:nvSpPr>
        <p:spPr>
          <a:xfrm>
            <a:off x="319504" y="204801"/>
            <a:ext cx="2467588"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拟合算法</a:t>
            </a:r>
          </a:p>
        </p:txBody>
      </p:sp>
      <p:sp>
        <p:nvSpPr>
          <p:cNvPr id="5" name="文本框 4">
            <a:extLst>
              <a:ext uri="{FF2B5EF4-FFF2-40B4-BE49-F238E27FC236}">
                <a16:creationId xmlns:a16="http://schemas.microsoft.com/office/drawing/2014/main" id="{2AD4876E-8010-81C7-5F8D-CBC0DD4A3570}"/>
              </a:ext>
            </a:extLst>
          </p:cNvPr>
          <p:cNvSpPr txBox="1"/>
          <p:nvPr/>
        </p:nvSpPr>
        <p:spPr>
          <a:xfrm>
            <a:off x="2787092" y="507146"/>
            <a:ext cx="1782696" cy="369332"/>
          </a:xfrm>
          <a:prstGeom prst="rect">
            <a:avLst/>
          </a:prstGeom>
          <a:noFill/>
        </p:spPr>
        <p:txBody>
          <a:bodyPr wrap="square" rtlCol="0">
            <a:spAutoFit/>
          </a:bodyPr>
          <a:lstStyle/>
          <a:p>
            <a:r>
              <a:rPr lang="en-US" altLang="zh-CN">
                <a:latin typeface="CommercialScript BT" panose="03030803040807090C04" pitchFamily="66" charset="0"/>
              </a:rPr>
              <a:t>Fitting algorithm</a:t>
            </a:r>
            <a:endParaRPr lang="zh-CN" altLang="en-US">
              <a:latin typeface="CommercialScript BT" panose="03030803040807090C04" pitchFamily="66" charset="0"/>
            </a:endParaRPr>
          </a:p>
        </p:txBody>
      </p:sp>
      <p:sp>
        <p:nvSpPr>
          <p:cNvPr id="9" name="文本框 8">
            <a:extLst>
              <a:ext uri="{FF2B5EF4-FFF2-40B4-BE49-F238E27FC236}">
                <a16:creationId xmlns:a16="http://schemas.microsoft.com/office/drawing/2014/main" id="{5FC5E2D8-6A14-1B18-F27D-F98901031E07}"/>
              </a:ext>
            </a:extLst>
          </p:cNvPr>
          <p:cNvSpPr txBox="1"/>
          <p:nvPr/>
        </p:nvSpPr>
        <p:spPr>
          <a:xfrm>
            <a:off x="319504" y="901824"/>
            <a:ext cx="5081388" cy="276999"/>
          </a:xfrm>
          <a:prstGeom prst="rect">
            <a:avLst/>
          </a:prstGeom>
          <a:noFill/>
        </p:spPr>
        <p:txBody>
          <a:bodyPr wrap="square">
            <a:spAutoFit/>
          </a:bodyPr>
          <a:lstStyle/>
          <a:p>
            <a:r>
              <a:rPr lang="zh-CN" altLang="en-US" sz="1200"/>
              <a:t>目标：寻求拟合最好的曲线（</a:t>
            </a:r>
            <a:r>
              <a:rPr lang="zh-CN" altLang="en-US" sz="1200">
                <a:solidFill>
                  <a:srgbClr val="FF0000"/>
                </a:solidFill>
              </a:rPr>
              <a:t>最小化损失函数</a:t>
            </a:r>
            <a:r>
              <a:rPr lang="zh-CN" altLang="en-US" sz="1200"/>
              <a:t>），</a:t>
            </a:r>
            <a:r>
              <a:rPr lang="zh-CN" altLang="en-US" sz="1200">
                <a:solidFill>
                  <a:srgbClr val="FF0000"/>
                </a:solidFill>
              </a:rPr>
              <a:t>无需</a:t>
            </a:r>
            <a:r>
              <a:rPr lang="zh-CN" altLang="en-US" sz="1200"/>
              <a:t>经过已有数据点，</a:t>
            </a:r>
          </a:p>
        </p:txBody>
      </p:sp>
      <p:graphicFrame>
        <p:nvGraphicFramePr>
          <p:cNvPr id="10" name="对象 9">
            <a:extLst>
              <a:ext uri="{FF2B5EF4-FFF2-40B4-BE49-F238E27FC236}">
                <a16:creationId xmlns:a16="http://schemas.microsoft.com/office/drawing/2014/main" id="{775FCD22-4293-0107-EB0B-60DE52518ED8}"/>
              </a:ext>
            </a:extLst>
          </p:cNvPr>
          <p:cNvGraphicFramePr>
            <a:graphicFrameLocks noChangeAspect="1"/>
          </p:cNvGraphicFramePr>
          <p:nvPr>
            <p:extLst>
              <p:ext uri="{D42A27DB-BD31-4B8C-83A1-F6EECF244321}">
                <p14:modId xmlns:p14="http://schemas.microsoft.com/office/powerpoint/2010/main" val="2513696465"/>
              </p:ext>
            </p:extLst>
          </p:nvPr>
        </p:nvGraphicFramePr>
        <p:xfrm>
          <a:off x="383151" y="1248276"/>
          <a:ext cx="3845696" cy="505858"/>
        </p:xfrm>
        <a:graphic>
          <a:graphicData uri="http://schemas.openxmlformats.org/presentationml/2006/ole">
            <mc:AlternateContent xmlns:mc="http://schemas.openxmlformats.org/markup-compatibility/2006">
              <mc:Choice xmlns:v="urn:schemas-microsoft-com:vml" Requires="v">
                <p:oleObj name="AxMath" r:id="rId2" imgW="3125160" imgH="410760" progId="Equation.AxMath">
                  <p:embed/>
                </p:oleObj>
              </mc:Choice>
              <mc:Fallback>
                <p:oleObj name="AxMath" r:id="rId2" imgW="3125160" imgH="410760" progId="Equation.AxMath">
                  <p:embed/>
                  <p:pic>
                    <p:nvPicPr>
                      <p:cNvPr id="0" name=""/>
                      <p:cNvPicPr/>
                      <p:nvPr/>
                    </p:nvPicPr>
                    <p:blipFill>
                      <a:blip r:embed="rId3"/>
                      <a:stretch>
                        <a:fillRect/>
                      </a:stretch>
                    </p:blipFill>
                    <p:spPr>
                      <a:xfrm>
                        <a:off x="383151" y="1248276"/>
                        <a:ext cx="3845696" cy="505858"/>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40CFF7B-171E-BAAC-B928-44848FF79C79}"/>
              </a:ext>
            </a:extLst>
          </p:cNvPr>
          <p:cNvGraphicFramePr>
            <a:graphicFrameLocks noChangeAspect="1"/>
          </p:cNvGraphicFramePr>
          <p:nvPr>
            <p:extLst>
              <p:ext uri="{D42A27DB-BD31-4B8C-83A1-F6EECF244321}">
                <p14:modId xmlns:p14="http://schemas.microsoft.com/office/powerpoint/2010/main" val="1023419037"/>
              </p:ext>
            </p:extLst>
          </p:nvPr>
        </p:nvGraphicFramePr>
        <p:xfrm>
          <a:off x="384888" y="1730131"/>
          <a:ext cx="3210932" cy="496093"/>
        </p:xfrm>
        <a:graphic>
          <a:graphicData uri="http://schemas.openxmlformats.org/presentationml/2006/ole">
            <mc:AlternateContent xmlns:mc="http://schemas.openxmlformats.org/markup-compatibility/2006">
              <mc:Choice xmlns:v="urn:schemas-microsoft-com:vml" Requires="v">
                <p:oleObj name="AxMath" r:id="rId4" imgW="2610360" imgH="403200" progId="Equation.AxMath">
                  <p:embed/>
                </p:oleObj>
              </mc:Choice>
              <mc:Fallback>
                <p:oleObj name="AxMath" r:id="rId4" imgW="2610360" imgH="403200" progId="Equation.AxMath">
                  <p:embed/>
                  <p:pic>
                    <p:nvPicPr>
                      <p:cNvPr id="0" name=""/>
                      <p:cNvPicPr/>
                      <p:nvPr/>
                    </p:nvPicPr>
                    <p:blipFill>
                      <a:blip r:embed="rId5"/>
                      <a:stretch>
                        <a:fillRect/>
                      </a:stretch>
                    </p:blipFill>
                    <p:spPr>
                      <a:xfrm>
                        <a:off x="384888" y="1730131"/>
                        <a:ext cx="3210932" cy="49609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D84606E4-9B25-1EB4-6070-8E62D1A0289B}"/>
              </a:ext>
            </a:extLst>
          </p:cNvPr>
          <p:cNvGraphicFramePr>
            <a:graphicFrameLocks noChangeAspect="1"/>
          </p:cNvGraphicFramePr>
          <p:nvPr>
            <p:extLst>
              <p:ext uri="{D42A27DB-BD31-4B8C-83A1-F6EECF244321}">
                <p14:modId xmlns:p14="http://schemas.microsoft.com/office/powerpoint/2010/main" val="1818563026"/>
              </p:ext>
            </p:extLst>
          </p:nvPr>
        </p:nvGraphicFramePr>
        <p:xfrm>
          <a:off x="383151" y="2151399"/>
          <a:ext cx="3507944" cy="738196"/>
        </p:xfrm>
        <a:graphic>
          <a:graphicData uri="http://schemas.openxmlformats.org/presentationml/2006/ole">
            <mc:AlternateContent xmlns:mc="http://schemas.openxmlformats.org/markup-compatibility/2006">
              <mc:Choice xmlns:v="urn:schemas-microsoft-com:vml" Requires="v">
                <p:oleObj name="AxMath" r:id="rId6" imgW="3681720" imgH="775080" progId="Equation.AxMath">
                  <p:embed/>
                </p:oleObj>
              </mc:Choice>
              <mc:Fallback>
                <p:oleObj name="AxMath" r:id="rId6" imgW="3681720" imgH="775080" progId="Equation.AxMath">
                  <p:embed/>
                  <p:pic>
                    <p:nvPicPr>
                      <p:cNvPr id="0" name=""/>
                      <p:cNvPicPr/>
                      <p:nvPr/>
                    </p:nvPicPr>
                    <p:blipFill>
                      <a:blip r:embed="rId7"/>
                      <a:stretch>
                        <a:fillRect/>
                      </a:stretch>
                    </p:blipFill>
                    <p:spPr>
                      <a:xfrm>
                        <a:off x="383151" y="2151399"/>
                        <a:ext cx="3507944" cy="738196"/>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1C88F907-2A3E-82DD-533F-81CEC96B50BB}"/>
              </a:ext>
            </a:extLst>
          </p:cNvPr>
          <p:cNvGraphicFramePr>
            <a:graphicFrameLocks noChangeAspect="1"/>
          </p:cNvGraphicFramePr>
          <p:nvPr>
            <p:extLst>
              <p:ext uri="{D42A27DB-BD31-4B8C-83A1-F6EECF244321}">
                <p14:modId xmlns:p14="http://schemas.microsoft.com/office/powerpoint/2010/main" val="2351685625"/>
              </p:ext>
            </p:extLst>
          </p:nvPr>
        </p:nvGraphicFramePr>
        <p:xfrm>
          <a:off x="383151" y="2893394"/>
          <a:ext cx="3917962" cy="496093"/>
        </p:xfrm>
        <a:graphic>
          <a:graphicData uri="http://schemas.openxmlformats.org/presentationml/2006/ole">
            <mc:AlternateContent xmlns:mc="http://schemas.openxmlformats.org/markup-compatibility/2006">
              <mc:Choice xmlns:v="urn:schemas-microsoft-com:vml" Requires="v">
                <p:oleObj name="AxMath" r:id="rId8" imgW="3185280" imgH="403200" progId="Equation.AxMath">
                  <p:embed/>
                </p:oleObj>
              </mc:Choice>
              <mc:Fallback>
                <p:oleObj name="AxMath" r:id="rId8" imgW="3185280" imgH="403200" progId="Equation.AxMath">
                  <p:embed/>
                  <p:pic>
                    <p:nvPicPr>
                      <p:cNvPr id="0" name=""/>
                      <p:cNvPicPr/>
                      <p:nvPr/>
                    </p:nvPicPr>
                    <p:blipFill>
                      <a:blip r:embed="rId9"/>
                      <a:stretch>
                        <a:fillRect/>
                      </a:stretch>
                    </p:blipFill>
                    <p:spPr>
                      <a:xfrm>
                        <a:off x="383151" y="2893394"/>
                        <a:ext cx="3917962" cy="49609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E00586AC-0CF9-368F-EF82-5355237145A3}"/>
              </a:ext>
            </a:extLst>
          </p:cNvPr>
          <p:cNvGraphicFramePr>
            <a:graphicFrameLocks noChangeAspect="1"/>
          </p:cNvGraphicFramePr>
          <p:nvPr>
            <p:extLst>
              <p:ext uri="{D42A27DB-BD31-4B8C-83A1-F6EECF244321}">
                <p14:modId xmlns:p14="http://schemas.microsoft.com/office/powerpoint/2010/main" val="3190671241"/>
              </p:ext>
            </p:extLst>
          </p:nvPr>
        </p:nvGraphicFramePr>
        <p:xfrm>
          <a:off x="383151" y="3274625"/>
          <a:ext cx="4748039" cy="496093"/>
        </p:xfrm>
        <a:graphic>
          <a:graphicData uri="http://schemas.openxmlformats.org/presentationml/2006/ole">
            <mc:AlternateContent xmlns:mc="http://schemas.openxmlformats.org/markup-compatibility/2006">
              <mc:Choice xmlns:v="urn:schemas-microsoft-com:vml" Requires="v">
                <p:oleObj name="AxMath" r:id="rId10" imgW="3858480" imgH="403200" progId="Equation.AxMath">
                  <p:embed/>
                </p:oleObj>
              </mc:Choice>
              <mc:Fallback>
                <p:oleObj name="AxMath" r:id="rId10" imgW="3858480" imgH="403200" progId="Equation.AxMath">
                  <p:embed/>
                  <p:pic>
                    <p:nvPicPr>
                      <p:cNvPr id="0" name=""/>
                      <p:cNvPicPr/>
                      <p:nvPr/>
                    </p:nvPicPr>
                    <p:blipFill>
                      <a:blip r:embed="rId11"/>
                      <a:stretch>
                        <a:fillRect/>
                      </a:stretch>
                    </p:blipFill>
                    <p:spPr>
                      <a:xfrm>
                        <a:off x="383151" y="3274625"/>
                        <a:ext cx="4748039" cy="496093"/>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8DE87D90-D98D-6F36-0CB8-8935ED219E44}"/>
              </a:ext>
            </a:extLst>
          </p:cNvPr>
          <p:cNvGraphicFramePr>
            <a:graphicFrameLocks noChangeAspect="1"/>
          </p:cNvGraphicFramePr>
          <p:nvPr>
            <p:extLst>
              <p:ext uri="{D42A27DB-BD31-4B8C-83A1-F6EECF244321}">
                <p14:modId xmlns:p14="http://schemas.microsoft.com/office/powerpoint/2010/main" val="202379994"/>
              </p:ext>
            </p:extLst>
          </p:nvPr>
        </p:nvGraphicFramePr>
        <p:xfrm>
          <a:off x="383151" y="3692748"/>
          <a:ext cx="4787101" cy="496093"/>
        </p:xfrm>
        <a:graphic>
          <a:graphicData uri="http://schemas.openxmlformats.org/presentationml/2006/ole">
            <mc:AlternateContent xmlns:mc="http://schemas.openxmlformats.org/markup-compatibility/2006">
              <mc:Choice xmlns:v="urn:schemas-microsoft-com:vml" Requires="v">
                <p:oleObj name="AxMath" r:id="rId12" imgW="3890880" imgH="403200" progId="Equation.AxMath">
                  <p:embed/>
                </p:oleObj>
              </mc:Choice>
              <mc:Fallback>
                <p:oleObj name="AxMath" r:id="rId12" imgW="3890880" imgH="403200" progId="Equation.AxMath">
                  <p:embed/>
                  <p:pic>
                    <p:nvPicPr>
                      <p:cNvPr id="0" name=""/>
                      <p:cNvPicPr/>
                      <p:nvPr/>
                    </p:nvPicPr>
                    <p:blipFill>
                      <a:blip r:embed="rId13"/>
                      <a:stretch>
                        <a:fillRect/>
                      </a:stretch>
                    </p:blipFill>
                    <p:spPr>
                      <a:xfrm>
                        <a:off x="383151" y="3692748"/>
                        <a:ext cx="4787101" cy="49609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247CF2AB-ADE6-C260-57C7-6C0FFA7B97BB}"/>
              </a:ext>
            </a:extLst>
          </p:cNvPr>
          <p:cNvGraphicFramePr>
            <a:graphicFrameLocks noChangeAspect="1"/>
          </p:cNvGraphicFramePr>
          <p:nvPr>
            <p:extLst>
              <p:ext uri="{D42A27DB-BD31-4B8C-83A1-F6EECF244321}">
                <p14:modId xmlns:p14="http://schemas.microsoft.com/office/powerpoint/2010/main" val="282136384"/>
              </p:ext>
            </p:extLst>
          </p:nvPr>
        </p:nvGraphicFramePr>
        <p:xfrm>
          <a:off x="383151" y="4438105"/>
          <a:ext cx="3878900" cy="425781"/>
        </p:xfrm>
        <a:graphic>
          <a:graphicData uri="http://schemas.openxmlformats.org/presentationml/2006/ole">
            <mc:AlternateContent xmlns:mc="http://schemas.openxmlformats.org/markup-compatibility/2006">
              <mc:Choice xmlns:v="urn:schemas-microsoft-com:vml" Requires="v">
                <p:oleObj name="AxMath" r:id="rId14" imgW="3152880" imgH="346680" progId="Equation.AxMath">
                  <p:embed/>
                </p:oleObj>
              </mc:Choice>
              <mc:Fallback>
                <p:oleObj name="AxMath" r:id="rId14" imgW="3152880" imgH="346680" progId="Equation.AxMath">
                  <p:embed/>
                  <p:pic>
                    <p:nvPicPr>
                      <p:cNvPr id="0" name=""/>
                      <p:cNvPicPr/>
                      <p:nvPr/>
                    </p:nvPicPr>
                    <p:blipFill>
                      <a:blip r:embed="rId15"/>
                      <a:stretch>
                        <a:fillRect/>
                      </a:stretch>
                    </p:blipFill>
                    <p:spPr>
                      <a:xfrm>
                        <a:off x="383151" y="4438105"/>
                        <a:ext cx="3878900" cy="425781"/>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9BD03738-144D-7FE1-D619-D861B63EC48B}"/>
              </a:ext>
            </a:extLst>
          </p:cNvPr>
          <p:cNvGraphicFramePr>
            <a:graphicFrameLocks noChangeAspect="1"/>
          </p:cNvGraphicFramePr>
          <p:nvPr>
            <p:extLst>
              <p:ext uri="{D42A27DB-BD31-4B8C-83A1-F6EECF244321}">
                <p14:modId xmlns:p14="http://schemas.microsoft.com/office/powerpoint/2010/main" val="961226650"/>
              </p:ext>
            </p:extLst>
          </p:nvPr>
        </p:nvGraphicFramePr>
        <p:xfrm>
          <a:off x="1603560" y="4148137"/>
          <a:ext cx="1320311" cy="232421"/>
        </p:xfrm>
        <a:graphic>
          <a:graphicData uri="http://schemas.openxmlformats.org/presentationml/2006/ole">
            <mc:AlternateContent xmlns:mc="http://schemas.openxmlformats.org/markup-compatibility/2006">
              <mc:Choice xmlns:v="urn:schemas-microsoft-com:vml" Requires="v">
                <p:oleObj name="AxMath" r:id="rId16" imgW="1073520" imgH="189000" progId="Equation.AxMath">
                  <p:embed/>
                </p:oleObj>
              </mc:Choice>
              <mc:Fallback>
                <p:oleObj name="AxMath" r:id="rId16" imgW="1073520" imgH="189000" progId="Equation.AxMath">
                  <p:embed/>
                  <p:pic>
                    <p:nvPicPr>
                      <p:cNvPr id="0" name=""/>
                      <p:cNvPicPr/>
                      <p:nvPr/>
                    </p:nvPicPr>
                    <p:blipFill>
                      <a:blip r:embed="rId17"/>
                      <a:stretch>
                        <a:fillRect/>
                      </a:stretch>
                    </p:blipFill>
                    <p:spPr>
                      <a:xfrm>
                        <a:off x="1603560" y="4148137"/>
                        <a:ext cx="1320311" cy="232421"/>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3730AA26-4BC3-46AB-1DD3-415723BDB353}"/>
              </a:ext>
            </a:extLst>
          </p:cNvPr>
          <p:cNvGraphicFramePr>
            <a:graphicFrameLocks noChangeAspect="1"/>
          </p:cNvGraphicFramePr>
          <p:nvPr>
            <p:extLst>
              <p:ext uri="{D42A27DB-BD31-4B8C-83A1-F6EECF244321}">
                <p14:modId xmlns:p14="http://schemas.microsoft.com/office/powerpoint/2010/main" val="2260858295"/>
              </p:ext>
            </p:extLst>
          </p:nvPr>
        </p:nvGraphicFramePr>
        <p:xfrm>
          <a:off x="1132590" y="4921433"/>
          <a:ext cx="2472652" cy="234375"/>
        </p:xfrm>
        <a:graphic>
          <a:graphicData uri="http://schemas.openxmlformats.org/presentationml/2006/ole">
            <mc:AlternateContent xmlns:mc="http://schemas.openxmlformats.org/markup-compatibility/2006">
              <mc:Choice xmlns:v="urn:schemas-microsoft-com:vml" Requires="v">
                <p:oleObj name="AxMath" r:id="rId18" imgW="2010240" imgH="190800" progId="Equation.AxMath">
                  <p:embed/>
                </p:oleObj>
              </mc:Choice>
              <mc:Fallback>
                <p:oleObj name="AxMath" r:id="rId18" imgW="2010240" imgH="190800" progId="Equation.AxMath">
                  <p:embed/>
                  <p:pic>
                    <p:nvPicPr>
                      <p:cNvPr id="0" name=""/>
                      <p:cNvPicPr/>
                      <p:nvPr/>
                    </p:nvPicPr>
                    <p:blipFill>
                      <a:blip r:embed="rId19"/>
                      <a:stretch>
                        <a:fillRect/>
                      </a:stretch>
                    </p:blipFill>
                    <p:spPr>
                      <a:xfrm>
                        <a:off x="1132590" y="4921433"/>
                        <a:ext cx="2472652" cy="234375"/>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CF7D10AA-A70C-9C2D-BAF6-BE9BED1696BC}"/>
              </a:ext>
            </a:extLst>
          </p:cNvPr>
          <p:cNvGraphicFramePr>
            <a:graphicFrameLocks noChangeAspect="1"/>
          </p:cNvGraphicFramePr>
          <p:nvPr>
            <p:extLst>
              <p:ext uri="{D42A27DB-BD31-4B8C-83A1-F6EECF244321}">
                <p14:modId xmlns:p14="http://schemas.microsoft.com/office/powerpoint/2010/main" val="1116768131"/>
              </p:ext>
            </p:extLst>
          </p:nvPr>
        </p:nvGraphicFramePr>
        <p:xfrm>
          <a:off x="-55816" y="5174649"/>
          <a:ext cx="4284663" cy="746125"/>
        </p:xfrm>
        <a:graphic>
          <a:graphicData uri="http://schemas.openxmlformats.org/presentationml/2006/ole">
            <mc:AlternateContent xmlns:mc="http://schemas.openxmlformats.org/markup-compatibility/2006">
              <mc:Choice xmlns:v="urn:schemas-microsoft-com:vml" Requires="v">
                <p:oleObj name="AxMath" r:id="rId20" imgW="3391560" imgH="589680" progId="Equation.AxMath">
                  <p:embed/>
                </p:oleObj>
              </mc:Choice>
              <mc:Fallback>
                <p:oleObj name="AxMath" r:id="rId20" imgW="3391560" imgH="589680" progId="Equation.AxMath">
                  <p:embed/>
                  <p:pic>
                    <p:nvPicPr>
                      <p:cNvPr id="0" name=""/>
                      <p:cNvPicPr/>
                      <p:nvPr/>
                    </p:nvPicPr>
                    <p:blipFill>
                      <a:blip r:embed="rId21"/>
                      <a:stretch>
                        <a:fillRect/>
                      </a:stretch>
                    </p:blipFill>
                    <p:spPr>
                      <a:xfrm>
                        <a:off x="-55816" y="5174649"/>
                        <a:ext cx="4284663" cy="746125"/>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42E32F3A-84CF-5D7E-5C92-6E979A1B5807}"/>
              </a:ext>
            </a:extLst>
          </p:cNvPr>
          <p:cNvSpPr txBox="1"/>
          <p:nvPr/>
        </p:nvSpPr>
        <p:spPr>
          <a:xfrm>
            <a:off x="5696780" y="1437894"/>
            <a:ext cx="4045644" cy="1785104"/>
          </a:xfrm>
          <a:prstGeom prst="rect">
            <a:avLst/>
          </a:prstGeom>
          <a:noFill/>
        </p:spPr>
        <p:txBody>
          <a:bodyPr wrap="square">
            <a:spAutoFit/>
          </a:bodyPr>
          <a:lstStyle/>
          <a:p>
            <a:r>
              <a:rPr lang="en-US" altLang="zh-CN" sz="1000" b="0" i="0">
                <a:effectLst/>
                <a:latin typeface="Menlo"/>
              </a:rPr>
              <a:t>load </a:t>
            </a:r>
            <a:r>
              <a:rPr lang="en-US" altLang="zh-CN" sz="1000" b="0" i="0">
                <a:solidFill>
                  <a:srgbClr val="A709F5"/>
                </a:solidFill>
                <a:effectLst/>
                <a:latin typeface="Menlo"/>
              </a:rPr>
              <a:t>data1</a:t>
            </a:r>
            <a:endParaRPr lang="en-US" altLang="zh-CN" sz="1000" b="0" i="0">
              <a:effectLst/>
              <a:latin typeface="Menlo"/>
            </a:endParaRPr>
          </a:p>
          <a:p>
            <a:r>
              <a:rPr lang="en-US" altLang="zh-CN" sz="1000" b="0" i="0">
                <a:effectLst/>
                <a:latin typeface="Menlo"/>
              </a:rPr>
              <a:t>plot(x,y,</a:t>
            </a:r>
            <a:r>
              <a:rPr lang="en-US" altLang="zh-CN" sz="1000" b="0" i="0">
                <a:solidFill>
                  <a:srgbClr val="A709F5"/>
                </a:solidFill>
                <a:effectLst/>
                <a:latin typeface="Menlo"/>
              </a:rPr>
              <a:t>'o'</a:t>
            </a:r>
            <a:r>
              <a:rPr lang="en-US" altLang="zh-CN" sz="1000" b="0" i="0">
                <a:effectLst/>
                <a:latin typeface="Menlo"/>
              </a:rPr>
              <a:t>);</a:t>
            </a:r>
          </a:p>
          <a:p>
            <a:r>
              <a:rPr lang="en-US" altLang="zh-CN" sz="1000" b="0" i="0">
                <a:effectLst/>
                <a:latin typeface="Menlo"/>
              </a:rPr>
              <a:t>xlabel(</a:t>
            </a:r>
            <a:r>
              <a:rPr lang="en-US" altLang="zh-CN" sz="1000" b="0" i="0">
                <a:solidFill>
                  <a:srgbClr val="A709F5"/>
                </a:solidFill>
                <a:effectLst/>
                <a:latin typeface="Menlo"/>
              </a:rPr>
              <a:t>'x</a:t>
            </a:r>
            <a:r>
              <a:rPr lang="zh-CN" altLang="en-US" sz="1000" b="0" i="0">
                <a:solidFill>
                  <a:srgbClr val="A709F5"/>
                </a:solidFill>
                <a:effectLst/>
                <a:latin typeface="Menlo"/>
              </a:rPr>
              <a:t>的值</a:t>
            </a:r>
            <a:r>
              <a:rPr lang="en-US" altLang="zh-CN" sz="1000" b="0" i="0">
                <a:solidFill>
                  <a:srgbClr val="A709F5"/>
                </a:solidFill>
                <a:effectLst/>
                <a:latin typeface="Menlo"/>
              </a:rPr>
              <a:t>'</a:t>
            </a:r>
            <a:r>
              <a:rPr lang="en-US" altLang="zh-CN" sz="1000" b="0" i="0">
                <a:effectLst/>
                <a:latin typeface="Menlo"/>
              </a:rPr>
              <a:t>);ylabel(</a:t>
            </a:r>
            <a:r>
              <a:rPr lang="en-US" altLang="zh-CN" sz="1000" b="0" i="0">
                <a:solidFill>
                  <a:srgbClr val="A709F5"/>
                </a:solidFill>
                <a:effectLst/>
                <a:latin typeface="Menlo"/>
              </a:rPr>
              <a:t>'y</a:t>
            </a:r>
            <a:r>
              <a:rPr lang="zh-CN" altLang="en-US" sz="1000" b="0" i="0">
                <a:solidFill>
                  <a:srgbClr val="A709F5"/>
                </a:solidFill>
                <a:effectLst/>
                <a:latin typeface="Menlo"/>
              </a:rPr>
              <a:t>的值</a:t>
            </a:r>
            <a:r>
              <a:rPr lang="en-US" altLang="zh-CN" sz="1000" b="0" i="0">
                <a:solidFill>
                  <a:srgbClr val="A709F5"/>
                </a:solidFill>
                <a:effectLst/>
                <a:latin typeface="Menlo"/>
              </a:rPr>
              <a:t>'</a:t>
            </a:r>
            <a:r>
              <a:rPr lang="en-US" altLang="zh-CN" sz="1000" b="0" i="0">
                <a:effectLst/>
                <a:latin typeface="Menlo"/>
              </a:rPr>
              <a:t>);</a:t>
            </a:r>
          </a:p>
          <a:p>
            <a:r>
              <a:rPr lang="en-US" altLang="zh-CN" sz="1000" b="0" i="0">
                <a:effectLst/>
                <a:latin typeface="Menlo"/>
              </a:rPr>
              <a:t>n = size(x,1);</a:t>
            </a:r>
          </a:p>
          <a:p>
            <a:r>
              <a:rPr lang="en-US" altLang="zh-CN" sz="1000" b="0" i="0">
                <a:effectLst/>
                <a:latin typeface="Menlo"/>
              </a:rPr>
              <a:t>k = (n*sum(x.*y)-sum(x)*sum(y))/(n*sum(x.*x)-sum(x)*sum(x));</a:t>
            </a:r>
          </a:p>
          <a:p>
            <a:r>
              <a:rPr lang="en-US" altLang="zh-CN" sz="1000" b="0" i="0">
                <a:effectLst/>
                <a:latin typeface="Menlo"/>
              </a:rPr>
              <a:t>b = (sum(x.*x)*sum(y)-sum(x)*sum(x.*y))/(n*sum(x.*x)-sum(x)*sum(x));</a:t>
            </a:r>
          </a:p>
          <a:p>
            <a:r>
              <a:rPr lang="en-US" altLang="zh-CN" sz="1000" b="0" i="0">
                <a:effectLst/>
                <a:latin typeface="Menlo"/>
              </a:rPr>
              <a:t>hold </a:t>
            </a:r>
            <a:r>
              <a:rPr lang="en-US" altLang="zh-CN" sz="1000" b="0" i="0">
                <a:solidFill>
                  <a:srgbClr val="A709F5"/>
                </a:solidFill>
                <a:effectLst/>
                <a:latin typeface="Menlo"/>
              </a:rPr>
              <a:t>on </a:t>
            </a:r>
            <a:r>
              <a:rPr lang="en-US" altLang="zh-CN" sz="1000" b="0" i="0">
                <a:solidFill>
                  <a:srgbClr val="008013"/>
                </a:solidFill>
                <a:effectLst/>
                <a:latin typeface="Menlo"/>
              </a:rPr>
              <a:t>% </a:t>
            </a:r>
            <a:r>
              <a:rPr lang="zh-CN" altLang="en-US" sz="1000" b="0" i="0">
                <a:solidFill>
                  <a:srgbClr val="008013"/>
                </a:solidFill>
                <a:effectLst/>
                <a:latin typeface="Menlo"/>
              </a:rPr>
              <a:t>续画前图</a:t>
            </a:r>
            <a:endParaRPr lang="zh-CN" altLang="en-US" sz="1000" b="0" i="0">
              <a:effectLst/>
              <a:latin typeface="Menlo"/>
            </a:endParaRPr>
          </a:p>
          <a:p>
            <a:r>
              <a:rPr lang="en-US" altLang="zh-CN" sz="1000" b="0" i="0">
                <a:effectLst/>
                <a:latin typeface="Menlo"/>
              </a:rPr>
              <a:t>grid </a:t>
            </a:r>
            <a:r>
              <a:rPr lang="en-US" altLang="zh-CN" sz="1000" b="0" i="0">
                <a:solidFill>
                  <a:srgbClr val="A709F5"/>
                </a:solidFill>
                <a:effectLst/>
                <a:latin typeface="Menlo"/>
              </a:rPr>
              <a:t>on </a:t>
            </a:r>
            <a:r>
              <a:rPr lang="en-US" altLang="zh-CN" sz="1000" b="0" i="0">
                <a:solidFill>
                  <a:srgbClr val="008013"/>
                </a:solidFill>
                <a:effectLst/>
                <a:latin typeface="Menlo"/>
              </a:rPr>
              <a:t>% </a:t>
            </a:r>
            <a:r>
              <a:rPr lang="zh-CN" altLang="en-US" sz="1000" b="0" i="0">
                <a:solidFill>
                  <a:srgbClr val="008013"/>
                </a:solidFill>
                <a:effectLst/>
                <a:latin typeface="Menlo"/>
              </a:rPr>
              <a:t>开网格线</a:t>
            </a:r>
            <a:endParaRPr lang="zh-CN" altLang="en-US" sz="1000" b="0" i="0">
              <a:effectLst/>
              <a:latin typeface="Menlo"/>
            </a:endParaRPr>
          </a:p>
          <a:p>
            <a:r>
              <a:rPr lang="en-US" altLang="zh-CN" sz="1000" b="0" i="0">
                <a:effectLst/>
                <a:latin typeface="Menlo"/>
              </a:rPr>
              <a:t>f=@(x) k*x+b; </a:t>
            </a:r>
            <a:r>
              <a:rPr lang="en-US" altLang="zh-CN" sz="1000" b="0" i="0">
                <a:solidFill>
                  <a:srgbClr val="008013"/>
                </a:solidFill>
                <a:effectLst/>
                <a:latin typeface="Menlo"/>
              </a:rPr>
              <a:t>% </a:t>
            </a:r>
            <a:r>
              <a:rPr lang="zh-CN" altLang="en-US" sz="1000" b="0" i="0">
                <a:solidFill>
                  <a:srgbClr val="008013"/>
                </a:solidFill>
                <a:effectLst/>
                <a:latin typeface="Menlo"/>
              </a:rPr>
              <a:t>匿名函数：</a:t>
            </a:r>
            <a:r>
              <a:rPr lang="en-US" altLang="zh-CN" sz="1000" b="0" i="0">
                <a:solidFill>
                  <a:srgbClr val="008013"/>
                </a:solidFill>
                <a:effectLst/>
                <a:latin typeface="Menlo"/>
              </a:rPr>
              <a:t>handle = @(arglist) anonymous_function</a:t>
            </a:r>
            <a:endParaRPr lang="en-US" altLang="zh-CN" sz="1000" b="0" i="0">
              <a:effectLst/>
              <a:latin typeface="Menlo"/>
            </a:endParaRPr>
          </a:p>
          <a:p>
            <a:r>
              <a:rPr lang="en-US" altLang="zh-CN" sz="1000" b="0" i="0">
                <a:effectLst/>
                <a:latin typeface="Menlo"/>
              </a:rPr>
              <a:t>fplot(f,[2.5,7]); </a:t>
            </a:r>
            <a:r>
              <a:rPr lang="en-US" altLang="zh-CN" sz="1000" b="0" i="0">
                <a:solidFill>
                  <a:srgbClr val="008013"/>
                </a:solidFill>
                <a:effectLst/>
                <a:latin typeface="Menlo"/>
              </a:rPr>
              <a:t>% fplot</a:t>
            </a:r>
            <a:r>
              <a:rPr lang="zh-CN" altLang="en-US" sz="1000" b="0" i="0">
                <a:solidFill>
                  <a:srgbClr val="008013"/>
                </a:solidFill>
                <a:effectLst/>
                <a:latin typeface="Menlo"/>
              </a:rPr>
              <a:t>函数可用于画出匿名一元函数的图形</a:t>
            </a:r>
            <a:endParaRPr lang="zh-CN" altLang="en-US" sz="1000" b="0" i="0">
              <a:effectLst/>
              <a:latin typeface="Menlo"/>
            </a:endParaRPr>
          </a:p>
          <a:p>
            <a:r>
              <a:rPr lang="en-US" altLang="zh-CN" sz="1000" b="0" i="0">
                <a:effectLst/>
                <a:latin typeface="Menlo"/>
              </a:rPr>
              <a:t>legend(</a:t>
            </a:r>
            <a:r>
              <a:rPr lang="en-US" altLang="zh-CN" sz="1000" b="0" i="0">
                <a:solidFill>
                  <a:srgbClr val="A709F5"/>
                </a:solidFill>
                <a:effectLst/>
                <a:latin typeface="Menlo"/>
              </a:rPr>
              <a:t>'</a:t>
            </a:r>
            <a:r>
              <a:rPr lang="zh-CN" altLang="en-US" sz="1000" b="0" i="0">
                <a:solidFill>
                  <a:srgbClr val="A709F5"/>
                </a:solidFill>
                <a:effectLst/>
                <a:latin typeface="Menlo"/>
              </a:rPr>
              <a:t>样本数据</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a:t>
            </a:r>
            <a:r>
              <a:rPr lang="zh-CN" altLang="en-US" sz="1000" b="0" i="0">
                <a:solidFill>
                  <a:srgbClr val="A709F5"/>
                </a:solidFill>
                <a:effectLst/>
                <a:latin typeface="Menlo"/>
              </a:rPr>
              <a:t>拟合函数</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'location'</a:t>
            </a:r>
            <a:r>
              <a:rPr lang="en-US" altLang="zh-CN" sz="1000" b="0" i="0">
                <a:effectLst/>
                <a:latin typeface="Menlo"/>
              </a:rPr>
              <a:t>,</a:t>
            </a:r>
            <a:r>
              <a:rPr lang="en-US" altLang="zh-CN" sz="1000" b="0" i="0">
                <a:solidFill>
                  <a:srgbClr val="A709F5"/>
                </a:solidFill>
                <a:effectLst/>
                <a:latin typeface="Menlo"/>
              </a:rPr>
              <a:t>'SouthEast'</a:t>
            </a:r>
            <a:r>
              <a:rPr lang="en-US" altLang="zh-CN" sz="1000" b="0" i="0">
                <a:effectLst/>
                <a:latin typeface="Menlo"/>
              </a:rPr>
              <a:t>)</a:t>
            </a:r>
          </a:p>
        </p:txBody>
      </p:sp>
      <p:pic>
        <p:nvPicPr>
          <p:cNvPr id="28" name="图片 27">
            <a:extLst>
              <a:ext uri="{FF2B5EF4-FFF2-40B4-BE49-F238E27FC236}">
                <a16:creationId xmlns:a16="http://schemas.microsoft.com/office/drawing/2014/main" id="{D67D0B12-71AD-9924-83C7-1486200EDDC3}"/>
              </a:ext>
            </a:extLst>
          </p:cNvPr>
          <p:cNvPicPr>
            <a:picLocks noChangeAspect="1"/>
          </p:cNvPicPr>
          <p:nvPr/>
        </p:nvPicPr>
        <p:blipFill>
          <a:blip r:embed="rId22"/>
          <a:stretch>
            <a:fillRect/>
          </a:stretch>
        </p:blipFill>
        <p:spPr>
          <a:xfrm>
            <a:off x="9774612" y="1329811"/>
            <a:ext cx="2297526" cy="1893187"/>
          </a:xfrm>
          <a:prstGeom prst="rect">
            <a:avLst/>
          </a:prstGeom>
        </p:spPr>
      </p:pic>
      <p:sp>
        <p:nvSpPr>
          <p:cNvPr id="31" name="文本框 30">
            <a:extLst>
              <a:ext uri="{FF2B5EF4-FFF2-40B4-BE49-F238E27FC236}">
                <a16:creationId xmlns:a16="http://schemas.microsoft.com/office/drawing/2014/main" id="{D3695530-81BD-657C-A2F8-75749F93D1E8}"/>
              </a:ext>
            </a:extLst>
          </p:cNvPr>
          <p:cNvSpPr txBox="1"/>
          <p:nvPr/>
        </p:nvSpPr>
        <p:spPr>
          <a:xfrm>
            <a:off x="6377841" y="3529972"/>
            <a:ext cx="2516522" cy="276999"/>
          </a:xfrm>
          <a:prstGeom prst="rect">
            <a:avLst/>
          </a:prstGeom>
          <a:noFill/>
        </p:spPr>
        <p:txBody>
          <a:bodyPr wrap="square" rtlCol="0">
            <a:spAutoFit/>
          </a:bodyPr>
          <a:lstStyle/>
          <a:p>
            <a:r>
              <a:rPr lang="zh-CN" altLang="en-US" sz="1200"/>
              <a:t>利用</a:t>
            </a:r>
            <a:r>
              <a:rPr lang="en-US" altLang="zh-CN" sz="1200"/>
              <a:t>APP</a:t>
            </a:r>
            <a:r>
              <a:rPr lang="zh-CN" altLang="en-US" sz="1200"/>
              <a:t>自带曲线模拟器更方便</a:t>
            </a:r>
          </a:p>
        </p:txBody>
      </p:sp>
      <p:pic>
        <p:nvPicPr>
          <p:cNvPr id="33" name="图片 32">
            <a:extLst>
              <a:ext uri="{FF2B5EF4-FFF2-40B4-BE49-F238E27FC236}">
                <a16:creationId xmlns:a16="http://schemas.microsoft.com/office/drawing/2014/main" id="{A080902F-AE06-B903-A94F-DD39BC73FB5C}"/>
              </a:ext>
            </a:extLst>
          </p:cNvPr>
          <p:cNvPicPr>
            <a:picLocks noChangeAspect="1"/>
          </p:cNvPicPr>
          <p:nvPr/>
        </p:nvPicPr>
        <p:blipFill>
          <a:blip r:embed="rId23"/>
          <a:stretch>
            <a:fillRect/>
          </a:stretch>
        </p:blipFill>
        <p:spPr>
          <a:xfrm>
            <a:off x="5622152" y="3429000"/>
            <a:ext cx="755689" cy="514376"/>
          </a:xfrm>
          <a:prstGeom prst="rect">
            <a:avLst/>
          </a:prstGeom>
        </p:spPr>
      </p:pic>
      <p:sp>
        <p:nvSpPr>
          <p:cNvPr id="35" name="矩形 34">
            <a:extLst>
              <a:ext uri="{FF2B5EF4-FFF2-40B4-BE49-F238E27FC236}">
                <a16:creationId xmlns:a16="http://schemas.microsoft.com/office/drawing/2014/main" id="{CFD8C501-E51E-5114-C598-EFA2D58CAEFB}"/>
              </a:ext>
            </a:extLst>
          </p:cNvPr>
          <p:cNvSpPr/>
          <p:nvPr/>
        </p:nvSpPr>
        <p:spPr>
          <a:xfrm>
            <a:off x="319504" y="1248276"/>
            <a:ext cx="4944059" cy="1637931"/>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07C14DBF-3A33-93E8-6710-9B69DEFE0265}"/>
              </a:ext>
            </a:extLst>
          </p:cNvPr>
          <p:cNvSpPr/>
          <p:nvPr/>
        </p:nvSpPr>
        <p:spPr>
          <a:xfrm>
            <a:off x="319504" y="2886207"/>
            <a:ext cx="4944059" cy="316137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E0075AD9-4C42-1377-00B5-54E5AA7B9EF0}"/>
              </a:ext>
            </a:extLst>
          </p:cNvPr>
          <p:cNvPicPr>
            <a:picLocks noChangeAspect="1"/>
          </p:cNvPicPr>
          <p:nvPr/>
        </p:nvPicPr>
        <p:blipFill>
          <a:blip r:embed="rId24"/>
          <a:stretch>
            <a:fillRect/>
          </a:stretch>
        </p:blipFill>
        <p:spPr>
          <a:xfrm>
            <a:off x="5622152" y="4027573"/>
            <a:ext cx="5822558" cy="2807523"/>
          </a:xfrm>
          <a:prstGeom prst="rect">
            <a:avLst/>
          </a:prstGeom>
        </p:spPr>
      </p:pic>
      <p:sp>
        <p:nvSpPr>
          <p:cNvPr id="7" name="文本框 6">
            <a:extLst>
              <a:ext uri="{FF2B5EF4-FFF2-40B4-BE49-F238E27FC236}">
                <a16:creationId xmlns:a16="http://schemas.microsoft.com/office/drawing/2014/main" id="{5D86E1B3-FB95-5415-B054-9FD4720166D7}"/>
              </a:ext>
            </a:extLst>
          </p:cNvPr>
          <p:cNvSpPr txBox="1"/>
          <p:nvPr/>
        </p:nvSpPr>
        <p:spPr>
          <a:xfrm>
            <a:off x="4782438" y="168479"/>
            <a:ext cx="6439743" cy="646331"/>
          </a:xfrm>
          <a:prstGeom prst="rect">
            <a:avLst/>
          </a:prstGeom>
          <a:noFill/>
        </p:spPr>
        <p:txBody>
          <a:bodyPr wrap="square">
            <a:spAutoFit/>
          </a:bodyPr>
          <a:lstStyle/>
          <a:p>
            <a:r>
              <a:rPr lang="zh-CN" altLang="en-US" sz="1200"/>
              <a:t>通过分析</a:t>
            </a:r>
            <a:r>
              <a:rPr lang="zh-CN" altLang="en-US" sz="1200">
                <a:solidFill>
                  <a:srgbClr val="FF0000"/>
                </a:solidFill>
              </a:rPr>
              <a:t>数据集</a:t>
            </a:r>
            <a:r>
              <a:rPr lang="zh-CN" altLang="en-US" sz="1200"/>
              <a:t>来建立</a:t>
            </a:r>
            <a:r>
              <a:rPr lang="zh-CN" altLang="en-US" sz="1200">
                <a:solidFill>
                  <a:srgbClr val="FF0000"/>
                </a:solidFill>
              </a:rPr>
              <a:t>数学模型</a:t>
            </a:r>
            <a:r>
              <a:rPr lang="zh-CN" altLang="en-US" sz="1200"/>
              <a:t>，这些模型能够描述数据中的</a:t>
            </a:r>
            <a:r>
              <a:rPr lang="zh-CN" altLang="en-US" sz="1200">
                <a:solidFill>
                  <a:srgbClr val="FF0000"/>
                </a:solidFill>
              </a:rPr>
              <a:t>趋势和关系</a:t>
            </a:r>
            <a:r>
              <a:rPr lang="zh-CN" altLang="en-US" sz="1200"/>
              <a:t>，并用于</a:t>
            </a:r>
            <a:r>
              <a:rPr lang="zh-CN" altLang="en-US" sz="1200">
                <a:solidFill>
                  <a:srgbClr val="FF0000"/>
                </a:solidFill>
              </a:rPr>
              <a:t>预测</a:t>
            </a:r>
            <a:r>
              <a:rPr lang="zh-CN" altLang="en-US" sz="1200"/>
              <a:t>未知数据点或</a:t>
            </a:r>
            <a:r>
              <a:rPr lang="zh-CN" altLang="en-US" sz="1200">
                <a:solidFill>
                  <a:srgbClr val="FF0000"/>
                </a:solidFill>
              </a:rPr>
              <a:t>解释</a:t>
            </a:r>
            <a:r>
              <a:rPr lang="zh-CN" altLang="en-US" sz="1200"/>
              <a:t>数据背后的机制。拟合算法通过估计模型参数、评估模型拟合优度、简化数据集、检测异常值、选择重要特征以及支持决策等手段，帮助用户理解数据并作出有效的决策。</a:t>
            </a:r>
          </a:p>
        </p:txBody>
      </p:sp>
    </p:spTree>
    <p:extLst>
      <p:ext uri="{BB962C8B-B14F-4D97-AF65-F5344CB8AC3E}">
        <p14:creationId xmlns:p14="http://schemas.microsoft.com/office/powerpoint/2010/main" val="604422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B6697A4F-71E7-1576-FD0C-30E843D10929}"/>
              </a:ext>
            </a:extLst>
          </p:cNvPr>
          <p:cNvSpPr/>
          <p:nvPr/>
        </p:nvSpPr>
        <p:spPr>
          <a:xfrm>
            <a:off x="9097574" y="1138327"/>
            <a:ext cx="3067641" cy="1015663"/>
          </a:xfrm>
          <a:prstGeom prst="round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F1D56B20-08EE-3624-369B-7A88E7C4202C}"/>
              </a:ext>
            </a:extLst>
          </p:cNvPr>
          <p:cNvSpPr/>
          <p:nvPr/>
        </p:nvSpPr>
        <p:spPr>
          <a:xfrm>
            <a:off x="9124359" y="40859"/>
            <a:ext cx="3067641" cy="1015663"/>
          </a:xfrm>
          <a:prstGeom prst="round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对话气泡: 圆角矩形 47">
            <a:extLst>
              <a:ext uri="{FF2B5EF4-FFF2-40B4-BE49-F238E27FC236}">
                <a16:creationId xmlns:a16="http://schemas.microsoft.com/office/drawing/2014/main" id="{494603F6-AFCD-1219-0F9E-24644090D4B8}"/>
              </a:ext>
            </a:extLst>
          </p:cNvPr>
          <p:cNvSpPr/>
          <p:nvPr/>
        </p:nvSpPr>
        <p:spPr>
          <a:xfrm>
            <a:off x="5163145" y="936318"/>
            <a:ext cx="2914173" cy="1262422"/>
          </a:xfrm>
          <a:prstGeom prst="wedgeRoundRectCallout">
            <a:avLst>
              <a:gd name="adj1" fmla="val -48656"/>
              <a:gd name="adj2" fmla="val 89870"/>
              <a:gd name="adj3" fmla="val 16667"/>
            </a:avLst>
          </a:prstGeom>
          <a:solidFill>
            <a:srgbClr val="EFF5FB"/>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4C600B8F-B900-35E2-BE24-6B34F5EC00DA}"/>
              </a:ext>
            </a:extLst>
          </p:cNvPr>
          <p:cNvSpPr/>
          <p:nvPr/>
        </p:nvSpPr>
        <p:spPr>
          <a:xfrm>
            <a:off x="-1" y="892411"/>
            <a:ext cx="4711485" cy="3472362"/>
          </a:xfrm>
          <a:prstGeom prst="rect">
            <a:avLst/>
          </a:prstGeom>
          <a:solidFill>
            <a:srgbClr val="F2F8EE"/>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B282F972-4B5F-C5AC-6CE9-FD17D285CBF5}"/>
              </a:ext>
            </a:extLst>
          </p:cNvPr>
          <p:cNvSpPr/>
          <p:nvPr/>
        </p:nvSpPr>
        <p:spPr>
          <a:xfrm>
            <a:off x="0" y="4357912"/>
            <a:ext cx="4711485" cy="2500088"/>
          </a:xfrm>
          <a:prstGeom prst="rect">
            <a:avLst/>
          </a:prstGeom>
          <a:solidFill>
            <a:srgbClr val="F2F8EE"/>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853103A-0B2A-A41F-83E9-6A62EC9E10C2}"/>
              </a:ext>
            </a:extLst>
          </p:cNvPr>
          <p:cNvSpPr txBox="1"/>
          <p:nvPr/>
        </p:nvSpPr>
        <p:spPr>
          <a:xfrm>
            <a:off x="70365" y="125904"/>
            <a:ext cx="4127598"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皮尔逊相关系数</a:t>
            </a:r>
          </a:p>
        </p:txBody>
      </p:sp>
      <p:sp>
        <p:nvSpPr>
          <p:cNvPr id="10" name="文本框 9">
            <a:extLst>
              <a:ext uri="{FF2B5EF4-FFF2-40B4-BE49-F238E27FC236}">
                <a16:creationId xmlns:a16="http://schemas.microsoft.com/office/drawing/2014/main" id="{51535B07-E552-D5ED-173F-76554A7F0E33}"/>
              </a:ext>
            </a:extLst>
          </p:cNvPr>
          <p:cNvSpPr txBox="1"/>
          <p:nvPr/>
        </p:nvSpPr>
        <p:spPr>
          <a:xfrm>
            <a:off x="143143" y="892411"/>
            <a:ext cx="3076175" cy="369332"/>
          </a:xfrm>
          <a:prstGeom prst="rect">
            <a:avLst/>
          </a:prstGeom>
          <a:noFill/>
        </p:spPr>
        <p:txBody>
          <a:bodyPr wrap="square">
            <a:spAutoFit/>
          </a:bodyPr>
          <a:lstStyle/>
          <a:p>
            <a:r>
              <a:rPr lang="zh-CN" altLang="en-US" b="1">
                <a:solidFill>
                  <a:srgbClr val="FF0000"/>
                </a:solidFill>
              </a:rPr>
              <a:t>总体</a:t>
            </a:r>
            <a:r>
              <a:rPr lang="zh-CN" altLang="en-US">
                <a:solidFill>
                  <a:srgbClr val="FF0000"/>
                </a:solidFill>
              </a:rPr>
              <a:t>皮尔逊</a:t>
            </a:r>
            <a:r>
              <a:rPr lang="en-US" altLang="zh-CN">
                <a:solidFill>
                  <a:srgbClr val="FF0000"/>
                </a:solidFill>
              </a:rPr>
              <a:t>Pearson</a:t>
            </a:r>
            <a:r>
              <a:rPr lang="zh-CN" altLang="en-US">
                <a:solidFill>
                  <a:srgbClr val="FF0000"/>
                </a:solidFill>
              </a:rPr>
              <a:t>相关系数</a:t>
            </a:r>
          </a:p>
        </p:txBody>
      </p:sp>
      <p:graphicFrame>
        <p:nvGraphicFramePr>
          <p:cNvPr id="11" name="对象 10">
            <a:extLst>
              <a:ext uri="{FF2B5EF4-FFF2-40B4-BE49-F238E27FC236}">
                <a16:creationId xmlns:a16="http://schemas.microsoft.com/office/drawing/2014/main" id="{AB8018CB-F01C-F011-F86C-03E2FE1DFA97}"/>
              </a:ext>
            </a:extLst>
          </p:cNvPr>
          <p:cNvGraphicFramePr>
            <a:graphicFrameLocks noChangeAspect="1"/>
          </p:cNvGraphicFramePr>
          <p:nvPr>
            <p:extLst>
              <p:ext uri="{D42A27DB-BD31-4B8C-83A1-F6EECF244321}">
                <p14:modId xmlns:p14="http://schemas.microsoft.com/office/powerpoint/2010/main" val="580849668"/>
              </p:ext>
            </p:extLst>
          </p:nvPr>
        </p:nvGraphicFramePr>
        <p:xfrm>
          <a:off x="233274" y="1338813"/>
          <a:ext cx="3801780" cy="244525"/>
        </p:xfrm>
        <a:graphic>
          <a:graphicData uri="http://schemas.openxmlformats.org/presentationml/2006/ole">
            <mc:AlternateContent xmlns:mc="http://schemas.openxmlformats.org/markup-compatibility/2006">
              <mc:Choice xmlns:v="urn:schemas-microsoft-com:vml" Requires="v">
                <p:oleObj name="AxMath" r:id="rId2" imgW="3110400" imgH="199800" progId="Equation.AxMath">
                  <p:embed/>
                </p:oleObj>
              </mc:Choice>
              <mc:Fallback>
                <p:oleObj name="AxMath" r:id="rId2" imgW="3110400" imgH="199800" progId="Equation.AxMath">
                  <p:embed/>
                  <p:pic>
                    <p:nvPicPr>
                      <p:cNvPr id="0" name=""/>
                      <p:cNvPicPr/>
                      <p:nvPr/>
                    </p:nvPicPr>
                    <p:blipFill>
                      <a:blip r:embed="rId3"/>
                      <a:stretch>
                        <a:fillRect/>
                      </a:stretch>
                    </p:blipFill>
                    <p:spPr>
                      <a:xfrm>
                        <a:off x="233274" y="1338813"/>
                        <a:ext cx="3801780" cy="244525"/>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C01F4EF-E4F2-0C93-7E16-DABC84B8D870}"/>
              </a:ext>
            </a:extLst>
          </p:cNvPr>
          <p:cNvGraphicFramePr>
            <a:graphicFrameLocks noChangeAspect="1"/>
          </p:cNvGraphicFramePr>
          <p:nvPr>
            <p:extLst>
              <p:ext uri="{D42A27DB-BD31-4B8C-83A1-F6EECF244321}">
                <p14:modId xmlns:p14="http://schemas.microsoft.com/office/powerpoint/2010/main" val="709550400"/>
              </p:ext>
            </p:extLst>
          </p:nvPr>
        </p:nvGraphicFramePr>
        <p:xfrm>
          <a:off x="236827" y="1557541"/>
          <a:ext cx="3050739" cy="685058"/>
        </p:xfrm>
        <a:graphic>
          <a:graphicData uri="http://schemas.openxmlformats.org/presentationml/2006/ole">
            <mc:AlternateContent xmlns:mc="http://schemas.openxmlformats.org/markup-compatibility/2006">
              <mc:Choice xmlns:v="urn:schemas-microsoft-com:vml" Requires="v">
                <p:oleObj name="AxMath" r:id="rId4" imgW="2495160" imgH="560880" progId="Equation.AxMath">
                  <p:embed/>
                </p:oleObj>
              </mc:Choice>
              <mc:Fallback>
                <p:oleObj name="AxMath" r:id="rId4" imgW="2495160" imgH="560880" progId="Equation.AxMath">
                  <p:embed/>
                  <p:pic>
                    <p:nvPicPr>
                      <p:cNvPr id="0" name=""/>
                      <p:cNvPicPr/>
                      <p:nvPr/>
                    </p:nvPicPr>
                    <p:blipFill>
                      <a:blip r:embed="rId5"/>
                      <a:stretch>
                        <a:fillRect/>
                      </a:stretch>
                    </p:blipFill>
                    <p:spPr>
                      <a:xfrm>
                        <a:off x="236827" y="1557541"/>
                        <a:ext cx="3050739" cy="68505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16BF355C-0C04-A9F7-DE86-8ED044C8B6D6}"/>
              </a:ext>
            </a:extLst>
          </p:cNvPr>
          <p:cNvGraphicFramePr>
            <a:graphicFrameLocks noChangeAspect="1"/>
          </p:cNvGraphicFramePr>
          <p:nvPr>
            <p:extLst>
              <p:ext uri="{D42A27DB-BD31-4B8C-83A1-F6EECF244321}">
                <p14:modId xmlns:p14="http://schemas.microsoft.com/office/powerpoint/2010/main" val="1070568345"/>
              </p:ext>
            </p:extLst>
          </p:nvPr>
        </p:nvGraphicFramePr>
        <p:xfrm>
          <a:off x="233274" y="2176693"/>
          <a:ext cx="3844474" cy="685058"/>
        </p:xfrm>
        <a:graphic>
          <a:graphicData uri="http://schemas.openxmlformats.org/presentationml/2006/ole">
            <mc:AlternateContent xmlns:mc="http://schemas.openxmlformats.org/markup-compatibility/2006">
              <mc:Choice xmlns:v="urn:schemas-microsoft-com:vml" Requires="v">
                <p:oleObj name="AxMath" r:id="rId6" imgW="3144600" imgH="560880" progId="Equation.AxMath">
                  <p:embed/>
                </p:oleObj>
              </mc:Choice>
              <mc:Fallback>
                <p:oleObj name="AxMath" r:id="rId6" imgW="3144600" imgH="560880" progId="Equation.AxMath">
                  <p:embed/>
                  <p:pic>
                    <p:nvPicPr>
                      <p:cNvPr id="0" name=""/>
                      <p:cNvPicPr/>
                      <p:nvPr/>
                    </p:nvPicPr>
                    <p:blipFill>
                      <a:blip r:embed="rId7"/>
                      <a:stretch>
                        <a:fillRect/>
                      </a:stretch>
                    </p:blipFill>
                    <p:spPr>
                      <a:xfrm>
                        <a:off x="233274" y="2176693"/>
                        <a:ext cx="3844474" cy="68505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BCC11C1F-DAC3-523A-4947-F220F71F0825}"/>
              </a:ext>
            </a:extLst>
          </p:cNvPr>
          <p:cNvGraphicFramePr>
            <a:graphicFrameLocks noChangeAspect="1"/>
          </p:cNvGraphicFramePr>
          <p:nvPr>
            <p:extLst>
              <p:ext uri="{D42A27DB-BD31-4B8C-83A1-F6EECF244321}">
                <p14:modId xmlns:p14="http://schemas.microsoft.com/office/powerpoint/2010/main" val="3230880730"/>
              </p:ext>
            </p:extLst>
          </p:nvPr>
        </p:nvGraphicFramePr>
        <p:xfrm>
          <a:off x="233274" y="3483717"/>
          <a:ext cx="2759638" cy="434711"/>
        </p:xfrm>
        <a:graphic>
          <a:graphicData uri="http://schemas.openxmlformats.org/presentationml/2006/ole">
            <mc:AlternateContent xmlns:mc="http://schemas.openxmlformats.org/markup-compatibility/2006">
              <mc:Choice xmlns:v="urn:schemas-microsoft-com:vml" Requires="v">
                <p:oleObj name="AxMath" r:id="rId8" imgW="2257200" imgH="355680" progId="Equation.AxMath">
                  <p:embed/>
                </p:oleObj>
              </mc:Choice>
              <mc:Fallback>
                <p:oleObj name="AxMath" r:id="rId8" imgW="2257200" imgH="355680" progId="Equation.AxMath">
                  <p:embed/>
                  <p:pic>
                    <p:nvPicPr>
                      <p:cNvPr id="0" name=""/>
                      <p:cNvPicPr/>
                      <p:nvPr/>
                    </p:nvPicPr>
                    <p:blipFill>
                      <a:blip r:embed="rId9"/>
                      <a:stretch>
                        <a:fillRect/>
                      </a:stretch>
                    </p:blipFill>
                    <p:spPr>
                      <a:xfrm>
                        <a:off x="233274" y="3483717"/>
                        <a:ext cx="2759638" cy="434711"/>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AFBB5892-B753-5C51-C9A2-C7BE4512130D}"/>
              </a:ext>
            </a:extLst>
          </p:cNvPr>
          <p:cNvGraphicFramePr>
            <a:graphicFrameLocks noChangeAspect="1"/>
          </p:cNvGraphicFramePr>
          <p:nvPr>
            <p:extLst>
              <p:ext uri="{D42A27DB-BD31-4B8C-83A1-F6EECF244321}">
                <p14:modId xmlns:p14="http://schemas.microsoft.com/office/powerpoint/2010/main" val="1410783021"/>
              </p:ext>
            </p:extLst>
          </p:nvPr>
        </p:nvGraphicFramePr>
        <p:xfrm>
          <a:off x="237168" y="2802016"/>
          <a:ext cx="4310236" cy="721931"/>
        </p:xfrm>
        <a:graphic>
          <a:graphicData uri="http://schemas.openxmlformats.org/presentationml/2006/ole">
            <mc:AlternateContent xmlns:mc="http://schemas.openxmlformats.org/markup-compatibility/2006">
              <mc:Choice xmlns:v="urn:schemas-microsoft-com:vml" Requires="v">
                <p:oleObj name="AxMath" r:id="rId10" imgW="3525840" imgH="590040" progId="Equation.AxMath">
                  <p:embed/>
                </p:oleObj>
              </mc:Choice>
              <mc:Fallback>
                <p:oleObj name="AxMath" r:id="rId10" imgW="3525840" imgH="590040" progId="Equation.AxMath">
                  <p:embed/>
                  <p:pic>
                    <p:nvPicPr>
                      <p:cNvPr id="0" name=""/>
                      <p:cNvPicPr/>
                      <p:nvPr/>
                    </p:nvPicPr>
                    <p:blipFill>
                      <a:blip r:embed="rId11"/>
                      <a:stretch>
                        <a:fillRect/>
                      </a:stretch>
                    </p:blipFill>
                    <p:spPr>
                      <a:xfrm>
                        <a:off x="237168" y="2802016"/>
                        <a:ext cx="4310236" cy="721931"/>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F90B0F9D-2FC3-37B2-FFB7-027D73C7BA2F}"/>
              </a:ext>
            </a:extLst>
          </p:cNvPr>
          <p:cNvGraphicFramePr>
            <a:graphicFrameLocks noChangeAspect="1"/>
          </p:cNvGraphicFramePr>
          <p:nvPr>
            <p:extLst>
              <p:ext uri="{D42A27DB-BD31-4B8C-83A1-F6EECF244321}">
                <p14:modId xmlns:p14="http://schemas.microsoft.com/office/powerpoint/2010/main" val="1894664171"/>
              </p:ext>
            </p:extLst>
          </p:nvPr>
        </p:nvGraphicFramePr>
        <p:xfrm>
          <a:off x="269818" y="3884381"/>
          <a:ext cx="3365099" cy="473531"/>
        </p:xfrm>
        <a:graphic>
          <a:graphicData uri="http://schemas.openxmlformats.org/presentationml/2006/ole">
            <mc:AlternateContent xmlns:mc="http://schemas.openxmlformats.org/markup-compatibility/2006">
              <mc:Choice xmlns:v="urn:schemas-microsoft-com:vml" Requires="v">
                <p:oleObj name="AxMath" r:id="rId12" imgW="2651760" imgH="373680" progId="Equation.AxMath">
                  <p:embed/>
                </p:oleObj>
              </mc:Choice>
              <mc:Fallback>
                <p:oleObj name="AxMath" r:id="rId12" imgW="2651760" imgH="373680" progId="Equation.AxMath">
                  <p:embed/>
                  <p:pic>
                    <p:nvPicPr>
                      <p:cNvPr id="0" name=""/>
                      <p:cNvPicPr/>
                      <p:nvPr/>
                    </p:nvPicPr>
                    <p:blipFill>
                      <a:blip r:embed="rId13"/>
                      <a:stretch>
                        <a:fillRect/>
                      </a:stretch>
                    </p:blipFill>
                    <p:spPr>
                      <a:xfrm>
                        <a:off x="269818" y="3884381"/>
                        <a:ext cx="3365099" cy="473531"/>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260CB894-E88B-0DBA-BD98-89E00CF0751C}"/>
              </a:ext>
            </a:extLst>
          </p:cNvPr>
          <p:cNvSpPr txBox="1"/>
          <p:nvPr/>
        </p:nvSpPr>
        <p:spPr>
          <a:xfrm>
            <a:off x="4123236" y="493616"/>
            <a:ext cx="6116490" cy="276999"/>
          </a:xfrm>
          <a:prstGeom prst="rect">
            <a:avLst/>
          </a:prstGeom>
          <a:noFill/>
        </p:spPr>
        <p:txBody>
          <a:bodyPr wrap="square">
            <a:spAutoFit/>
          </a:bodyPr>
          <a:lstStyle/>
          <a:p>
            <a:r>
              <a:rPr lang="zh-CN" altLang="en-US" sz="1200"/>
              <a:t>皮尔逊相关系数：对两个变量</a:t>
            </a:r>
            <a:r>
              <a:rPr lang="zh-CN" altLang="en-US" sz="1200">
                <a:solidFill>
                  <a:srgbClr val="FF0000"/>
                </a:solidFill>
              </a:rPr>
              <a:t>去量纲影响</a:t>
            </a:r>
            <a:r>
              <a:rPr lang="zh-CN" altLang="en-US" sz="1200"/>
              <a:t>，即</a:t>
            </a:r>
            <a:r>
              <a:rPr lang="zh-CN" altLang="en-US" sz="1200">
                <a:solidFill>
                  <a:srgbClr val="FF0000"/>
                </a:solidFill>
              </a:rPr>
              <a:t>将</a:t>
            </a:r>
            <a:r>
              <a:rPr lang="en-US" altLang="zh-CN" sz="1200">
                <a:solidFill>
                  <a:srgbClr val="FF0000"/>
                </a:solidFill>
              </a:rPr>
              <a:t>X</a:t>
            </a:r>
            <a:r>
              <a:rPr lang="zh-CN" altLang="en-US" sz="1200">
                <a:solidFill>
                  <a:srgbClr val="FF0000"/>
                </a:solidFill>
              </a:rPr>
              <a:t>和</a:t>
            </a:r>
            <a:r>
              <a:rPr lang="en-US" altLang="zh-CN" sz="1200">
                <a:solidFill>
                  <a:srgbClr val="FF0000"/>
                </a:solidFill>
              </a:rPr>
              <a:t>Y</a:t>
            </a:r>
            <a:r>
              <a:rPr lang="zh-CN" altLang="en-US" sz="1200">
                <a:solidFill>
                  <a:srgbClr val="FF0000"/>
                </a:solidFill>
              </a:rPr>
              <a:t>标准化后的协方差</a:t>
            </a:r>
            <a:r>
              <a:rPr lang="zh-CN" altLang="en-US" sz="1200"/>
              <a:t>。</a:t>
            </a:r>
          </a:p>
        </p:txBody>
      </p:sp>
      <p:sp>
        <p:nvSpPr>
          <p:cNvPr id="22" name="文本框 21">
            <a:extLst>
              <a:ext uri="{FF2B5EF4-FFF2-40B4-BE49-F238E27FC236}">
                <a16:creationId xmlns:a16="http://schemas.microsoft.com/office/drawing/2014/main" id="{77056FCE-316E-5BEE-A91D-3CE13A781D26}"/>
              </a:ext>
            </a:extLst>
          </p:cNvPr>
          <p:cNvSpPr txBox="1"/>
          <p:nvPr/>
        </p:nvSpPr>
        <p:spPr>
          <a:xfrm>
            <a:off x="138321" y="4511204"/>
            <a:ext cx="3127401" cy="369332"/>
          </a:xfrm>
          <a:prstGeom prst="rect">
            <a:avLst/>
          </a:prstGeom>
          <a:noFill/>
        </p:spPr>
        <p:txBody>
          <a:bodyPr wrap="square">
            <a:spAutoFit/>
          </a:bodyPr>
          <a:lstStyle/>
          <a:p>
            <a:r>
              <a:rPr lang="zh-CN" altLang="en-US" b="1">
                <a:solidFill>
                  <a:srgbClr val="FF0000"/>
                </a:solidFill>
              </a:rPr>
              <a:t>样本</a:t>
            </a:r>
            <a:r>
              <a:rPr lang="zh-CN" altLang="en-US">
                <a:solidFill>
                  <a:srgbClr val="FF0000"/>
                </a:solidFill>
              </a:rPr>
              <a:t>皮尔逊</a:t>
            </a:r>
            <a:r>
              <a:rPr lang="en-US" altLang="zh-CN">
                <a:solidFill>
                  <a:srgbClr val="FF0000"/>
                </a:solidFill>
              </a:rPr>
              <a:t>Pearson</a:t>
            </a:r>
            <a:r>
              <a:rPr lang="zh-CN" altLang="en-US">
                <a:solidFill>
                  <a:srgbClr val="FF0000"/>
                </a:solidFill>
              </a:rPr>
              <a:t>相关系数</a:t>
            </a:r>
          </a:p>
        </p:txBody>
      </p:sp>
      <p:graphicFrame>
        <p:nvGraphicFramePr>
          <p:cNvPr id="24" name="对象 23">
            <a:extLst>
              <a:ext uri="{FF2B5EF4-FFF2-40B4-BE49-F238E27FC236}">
                <a16:creationId xmlns:a16="http://schemas.microsoft.com/office/drawing/2014/main" id="{914F42D2-311A-05CE-D555-0A384800A2CE}"/>
              </a:ext>
            </a:extLst>
          </p:cNvPr>
          <p:cNvGraphicFramePr>
            <a:graphicFrameLocks noChangeAspect="1"/>
          </p:cNvGraphicFramePr>
          <p:nvPr>
            <p:extLst>
              <p:ext uri="{D42A27DB-BD31-4B8C-83A1-F6EECF244321}">
                <p14:modId xmlns:p14="http://schemas.microsoft.com/office/powerpoint/2010/main" val="599822929"/>
              </p:ext>
            </p:extLst>
          </p:nvPr>
        </p:nvGraphicFramePr>
        <p:xfrm>
          <a:off x="249792" y="4877253"/>
          <a:ext cx="1058253" cy="283676"/>
        </p:xfrm>
        <a:graphic>
          <a:graphicData uri="http://schemas.openxmlformats.org/presentationml/2006/ole">
            <mc:AlternateContent xmlns:mc="http://schemas.openxmlformats.org/markup-compatibility/2006">
              <mc:Choice xmlns:v="urn:schemas-microsoft-com:vml" Requires="v">
                <p:oleObj name="AxMath" r:id="rId14" imgW="834480" imgH="224280" progId="Equation.AxMath">
                  <p:embed/>
                </p:oleObj>
              </mc:Choice>
              <mc:Fallback>
                <p:oleObj name="AxMath" r:id="rId14" imgW="834480" imgH="224280" progId="Equation.AxMath">
                  <p:embed/>
                  <p:pic>
                    <p:nvPicPr>
                      <p:cNvPr id="0" name=""/>
                      <p:cNvPicPr/>
                      <p:nvPr/>
                    </p:nvPicPr>
                    <p:blipFill>
                      <a:blip r:embed="rId15"/>
                      <a:stretch>
                        <a:fillRect/>
                      </a:stretch>
                    </p:blipFill>
                    <p:spPr>
                      <a:xfrm>
                        <a:off x="249792" y="4877253"/>
                        <a:ext cx="1058253" cy="283676"/>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BB7A4E56-7ABE-408A-09CD-AAEA018C09B9}"/>
              </a:ext>
            </a:extLst>
          </p:cNvPr>
          <p:cNvGraphicFramePr>
            <a:graphicFrameLocks noChangeAspect="1"/>
          </p:cNvGraphicFramePr>
          <p:nvPr>
            <p:extLst>
              <p:ext uri="{D42A27DB-BD31-4B8C-83A1-F6EECF244321}">
                <p14:modId xmlns:p14="http://schemas.microsoft.com/office/powerpoint/2010/main" val="1444711791"/>
              </p:ext>
            </p:extLst>
          </p:nvPr>
        </p:nvGraphicFramePr>
        <p:xfrm>
          <a:off x="269818" y="4945361"/>
          <a:ext cx="3468495" cy="710196"/>
        </p:xfrm>
        <a:graphic>
          <a:graphicData uri="http://schemas.openxmlformats.org/presentationml/2006/ole">
            <mc:AlternateContent xmlns:mc="http://schemas.openxmlformats.org/markup-compatibility/2006">
              <mc:Choice xmlns:v="urn:schemas-microsoft-com:vml" Requires="v">
                <p:oleObj name="AxMath" r:id="rId16" imgW="2737440" imgH="560880" progId="Equation.AxMath">
                  <p:embed/>
                </p:oleObj>
              </mc:Choice>
              <mc:Fallback>
                <p:oleObj name="AxMath" r:id="rId16" imgW="2737440" imgH="560880" progId="Equation.AxMath">
                  <p:embed/>
                  <p:pic>
                    <p:nvPicPr>
                      <p:cNvPr id="0" name=""/>
                      <p:cNvPicPr/>
                      <p:nvPr/>
                    </p:nvPicPr>
                    <p:blipFill>
                      <a:blip r:embed="rId17"/>
                      <a:stretch>
                        <a:fillRect/>
                      </a:stretch>
                    </p:blipFill>
                    <p:spPr>
                      <a:xfrm>
                        <a:off x="269818" y="4945361"/>
                        <a:ext cx="3468495" cy="710196"/>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3C5430CF-218F-545A-5B2C-132FBEF6C714}"/>
              </a:ext>
            </a:extLst>
          </p:cNvPr>
          <p:cNvGraphicFramePr>
            <a:graphicFrameLocks noChangeAspect="1"/>
          </p:cNvGraphicFramePr>
          <p:nvPr>
            <p:extLst>
              <p:ext uri="{D42A27DB-BD31-4B8C-83A1-F6EECF244321}">
                <p14:modId xmlns:p14="http://schemas.microsoft.com/office/powerpoint/2010/main" val="2496898334"/>
              </p:ext>
            </p:extLst>
          </p:nvPr>
        </p:nvGraphicFramePr>
        <p:xfrm>
          <a:off x="270757" y="5613392"/>
          <a:ext cx="3927206" cy="748422"/>
        </p:xfrm>
        <a:graphic>
          <a:graphicData uri="http://schemas.openxmlformats.org/presentationml/2006/ole">
            <mc:AlternateContent xmlns:mc="http://schemas.openxmlformats.org/markup-compatibility/2006">
              <mc:Choice xmlns:v="urn:schemas-microsoft-com:vml" Requires="v">
                <p:oleObj name="AxMath" r:id="rId18" imgW="3098880" imgH="590040" progId="Equation.AxMath">
                  <p:embed/>
                </p:oleObj>
              </mc:Choice>
              <mc:Fallback>
                <p:oleObj name="AxMath" r:id="rId18" imgW="3098880" imgH="590040" progId="Equation.AxMath">
                  <p:embed/>
                  <p:pic>
                    <p:nvPicPr>
                      <p:cNvPr id="0" name=""/>
                      <p:cNvPicPr/>
                      <p:nvPr/>
                    </p:nvPicPr>
                    <p:blipFill>
                      <a:blip r:embed="rId19"/>
                      <a:stretch>
                        <a:fillRect/>
                      </a:stretch>
                    </p:blipFill>
                    <p:spPr>
                      <a:xfrm>
                        <a:off x="270757" y="5613392"/>
                        <a:ext cx="3927206" cy="748422"/>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9C0A4DCD-8BDF-8580-5600-EC1947302629}"/>
              </a:ext>
            </a:extLst>
          </p:cNvPr>
          <p:cNvGraphicFramePr>
            <a:graphicFrameLocks noChangeAspect="1"/>
          </p:cNvGraphicFramePr>
          <p:nvPr>
            <p:extLst>
              <p:ext uri="{D42A27DB-BD31-4B8C-83A1-F6EECF244321}">
                <p14:modId xmlns:p14="http://schemas.microsoft.com/office/powerpoint/2010/main" val="3482729092"/>
              </p:ext>
            </p:extLst>
          </p:nvPr>
        </p:nvGraphicFramePr>
        <p:xfrm>
          <a:off x="251699" y="6358212"/>
          <a:ext cx="2860905" cy="450663"/>
        </p:xfrm>
        <a:graphic>
          <a:graphicData uri="http://schemas.openxmlformats.org/presentationml/2006/ole">
            <mc:AlternateContent xmlns:mc="http://schemas.openxmlformats.org/markup-compatibility/2006">
              <mc:Choice xmlns:v="urn:schemas-microsoft-com:vml" Requires="v">
                <p:oleObj name="AxMath" r:id="rId20" imgW="2257560" imgH="355680" progId="Equation.AxMath">
                  <p:embed/>
                </p:oleObj>
              </mc:Choice>
              <mc:Fallback>
                <p:oleObj name="AxMath" r:id="rId20" imgW="2257560" imgH="355680" progId="Equation.AxMath">
                  <p:embed/>
                  <p:pic>
                    <p:nvPicPr>
                      <p:cNvPr id="0" name=""/>
                      <p:cNvPicPr/>
                      <p:nvPr/>
                    </p:nvPicPr>
                    <p:blipFill>
                      <a:blip r:embed="rId21"/>
                      <a:stretch>
                        <a:fillRect/>
                      </a:stretch>
                    </p:blipFill>
                    <p:spPr>
                      <a:xfrm>
                        <a:off x="251699" y="6358212"/>
                        <a:ext cx="2860905" cy="450663"/>
                      </a:xfrm>
                      <a:prstGeom prst="rect">
                        <a:avLst/>
                      </a:prstGeom>
                    </p:spPr>
                  </p:pic>
                </p:oleObj>
              </mc:Fallback>
            </mc:AlternateContent>
          </a:graphicData>
        </a:graphic>
      </p:graphicFrame>
      <p:sp>
        <p:nvSpPr>
          <p:cNvPr id="35" name="文本框 34">
            <a:extLst>
              <a:ext uri="{FF2B5EF4-FFF2-40B4-BE49-F238E27FC236}">
                <a16:creationId xmlns:a16="http://schemas.microsoft.com/office/drawing/2014/main" id="{368D19BD-3C8F-AC1C-1C8B-0DAFC6D491F0}"/>
              </a:ext>
            </a:extLst>
          </p:cNvPr>
          <p:cNvSpPr txBox="1"/>
          <p:nvPr/>
        </p:nvSpPr>
        <p:spPr>
          <a:xfrm>
            <a:off x="5163145" y="936318"/>
            <a:ext cx="2797926" cy="1200329"/>
          </a:xfrm>
          <a:prstGeom prst="rect">
            <a:avLst/>
          </a:prstGeom>
          <a:noFill/>
        </p:spPr>
        <p:txBody>
          <a:bodyPr wrap="square">
            <a:spAutoFit/>
          </a:bodyPr>
          <a:lstStyle/>
          <a:p>
            <a:r>
              <a:rPr lang="zh-CN" altLang="en-US" sz="1200"/>
              <a:t>  </a:t>
            </a:r>
            <a:r>
              <a:rPr lang="zh-CN" altLang="en-US" sz="1200">
                <a:highlight>
                  <a:srgbClr val="FFFF00"/>
                </a:highlight>
              </a:rPr>
              <a:t>注</a:t>
            </a:r>
            <a:r>
              <a:rPr lang="zh-CN" altLang="en-US" sz="1200"/>
              <a:t>：</a:t>
            </a:r>
            <a:endParaRPr lang="en-US" altLang="zh-CN" sz="1200"/>
          </a:p>
          <a:p>
            <a:r>
              <a:rPr lang="zh-CN" altLang="en-US" sz="1200"/>
              <a:t>（</a:t>
            </a:r>
            <a:r>
              <a:rPr lang="en-US" altLang="zh-CN" sz="1200"/>
              <a:t>1</a:t>
            </a:r>
            <a:r>
              <a:rPr lang="zh-CN" altLang="en-US" sz="1200"/>
              <a:t>）须先确认两变量</a:t>
            </a:r>
            <a:r>
              <a:rPr lang="zh-CN" altLang="en-US" sz="1200">
                <a:solidFill>
                  <a:srgbClr val="FF0000"/>
                </a:solidFill>
              </a:rPr>
              <a:t>线性相关</a:t>
            </a:r>
            <a:endParaRPr lang="en-US" altLang="zh-CN" sz="1200">
              <a:solidFill>
                <a:srgbClr val="FF0000"/>
              </a:solidFill>
            </a:endParaRPr>
          </a:p>
          <a:p>
            <a:r>
              <a:rPr lang="zh-CN" altLang="en-US" sz="1200"/>
              <a:t>（</a:t>
            </a:r>
            <a:r>
              <a:rPr lang="en-US" altLang="zh-CN" sz="1200"/>
              <a:t>2</a:t>
            </a:r>
            <a:r>
              <a:rPr lang="zh-CN" altLang="en-US" sz="1200"/>
              <a:t>）须去掉</a:t>
            </a:r>
            <a:r>
              <a:rPr lang="zh-CN" altLang="en-US" sz="1200">
                <a:solidFill>
                  <a:srgbClr val="FF0000"/>
                </a:solidFill>
              </a:rPr>
              <a:t>离群点</a:t>
            </a:r>
            <a:endParaRPr lang="en-US" altLang="zh-CN" sz="1200">
              <a:solidFill>
                <a:srgbClr val="FF0000"/>
              </a:solidFill>
            </a:endParaRPr>
          </a:p>
          <a:p>
            <a:r>
              <a:rPr lang="zh-CN" altLang="en-US" sz="1200"/>
              <a:t>（</a:t>
            </a:r>
            <a:r>
              <a:rPr lang="en-US" altLang="zh-CN" sz="1200"/>
              <a:t>3</a:t>
            </a:r>
            <a:r>
              <a:rPr lang="zh-CN" altLang="en-US" sz="1200"/>
              <a:t>）须去</a:t>
            </a:r>
            <a:r>
              <a:rPr lang="zh-CN" altLang="en-US" sz="1200">
                <a:solidFill>
                  <a:srgbClr val="FF0000"/>
                </a:solidFill>
              </a:rPr>
              <a:t>异常值</a:t>
            </a:r>
            <a:endParaRPr lang="en-US" altLang="zh-CN" sz="1200">
              <a:solidFill>
                <a:srgbClr val="FF0000"/>
              </a:solidFill>
            </a:endParaRPr>
          </a:p>
          <a:p>
            <a:r>
              <a:rPr lang="zh-CN" altLang="en-US" sz="1200"/>
              <a:t>（</a:t>
            </a:r>
            <a:r>
              <a:rPr lang="en-US" altLang="zh-CN" sz="1200"/>
              <a:t>4</a:t>
            </a:r>
            <a:r>
              <a:rPr lang="zh-CN" altLang="en-US" sz="1200"/>
              <a:t>）相关系数为</a:t>
            </a:r>
            <a:r>
              <a:rPr lang="en-US" altLang="zh-CN" sz="1200">
                <a:solidFill>
                  <a:srgbClr val="FF0000"/>
                </a:solidFill>
              </a:rPr>
              <a:t>0</a:t>
            </a:r>
            <a:r>
              <a:rPr lang="zh-CN" altLang="en-US" sz="1200"/>
              <a:t>，说明</a:t>
            </a:r>
            <a:r>
              <a:rPr lang="zh-CN" altLang="en-US" sz="1200">
                <a:solidFill>
                  <a:srgbClr val="FF0000"/>
                </a:solidFill>
              </a:rPr>
              <a:t>非线性相关</a:t>
            </a:r>
            <a:r>
              <a:rPr lang="zh-CN" altLang="en-US" sz="1200"/>
              <a:t>，但可能有更复杂的相关关系</a:t>
            </a:r>
          </a:p>
        </p:txBody>
      </p:sp>
      <p:pic>
        <p:nvPicPr>
          <p:cNvPr id="38" name="图片 37">
            <a:extLst>
              <a:ext uri="{FF2B5EF4-FFF2-40B4-BE49-F238E27FC236}">
                <a16:creationId xmlns:a16="http://schemas.microsoft.com/office/drawing/2014/main" id="{BBBD62F5-3AB0-CF56-2108-4A82C2511A59}"/>
              </a:ext>
            </a:extLst>
          </p:cNvPr>
          <p:cNvPicPr>
            <a:picLocks noChangeAspect="1"/>
          </p:cNvPicPr>
          <p:nvPr/>
        </p:nvPicPr>
        <p:blipFill>
          <a:blip r:embed="rId22"/>
          <a:stretch>
            <a:fillRect/>
          </a:stretch>
        </p:blipFill>
        <p:spPr>
          <a:xfrm>
            <a:off x="6562108" y="2622741"/>
            <a:ext cx="3740068" cy="1280986"/>
          </a:xfrm>
          <a:prstGeom prst="rect">
            <a:avLst/>
          </a:prstGeom>
        </p:spPr>
      </p:pic>
      <p:pic>
        <p:nvPicPr>
          <p:cNvPr id="44" name="图片 43">
            <a:extLst>
              <a:ext uri="{FF2B5EF4-FFF2-40B4-BE49-F238E27FC236}">
                <a16:creationId xmlns:a16="http://schemas.microsoft.com/office/drawing/2014/main" id="{3B852C1E-EBE1-8624-47C1-904D1731D2E9}"/>
              </a:ext>
            </a:extLst>
          </p:cNvPr>
          <p:cNvPicPr>
            <a:picLocks noChangeAspect="1"/>
          </p:cNvPicPr>
          <p:nvPr/>
        </p:nvPicPr>
        <p:blipFill>
          <a:blip r:embed="rId23"/>
          <a:stretch>
            <a:fillRect/>
          </a:stretch>
        </p:blipFill>
        <p:spPr>
          <a:xfrm>
            <a:off x="7158793" y="4469371"/>
            <a:ext cx="2954471" cy="2274538"/>
          </a:xfrm>
          <a:prstGeom prst="rect">
            <a:avLst/>
          </a:prstGeom>
        </p:spPr>
      </p:pic>
      <p:sp>
        <p:nvSpPr>
          <p:cNvPr id="52" name="文本框 51">
            <a:extLst>
              <a:ext uri="{FF2B5EF4-FFF2-40B4-BE49-F238E27FC236}">
                <a16:creationId xmlns:a16="http://schemas.microsoft.com/office/drawing/2014/main" id="{7105565E-D86F-3F29-B16C-328C6C651506}"/>
              </a:ext>
            </a:extLst>
          </p:cNvPr>
          <p:cNvSpPr txBox="1"/>
          <p:nvPr/>
        </p:nvSpPr>
        <p:spPr>
          <a:xfrm>
            <a:off x="7147314" y="4162939"/>
            <a:ext cx="2954472" cy="246221"/>
          </a:xfrm>
          <a:prstGeom prst="rect">
            <a:avLst/>
          </a:prstGeom>
          <a:noFill/>
        </p:spPr>
        <p:txBody>
          <a:bodyPr wrap="square">
            <a:spAutoFit/>
          </a:bodyPr>
          <a:lstStyle/>
          <a:p>
            <a:r>
              <a:rPr lang="en-US" altLang="zh-CN" sz="1000" b="0" i="0">
                <a:effectLst/>
                <a:latin typeface="Menlo"/>
              </a:rPr>
              <a:t>R = corrcoef(Test) </a:t>
            </a:r>
            <a:r>
              <a:rPr lang="en-US" altLang="zh-CN" sz="1000" b="0" i="0">
                <a:solidFill>
                  <a:srgbClr val="008013"/>
                </a:solidFill>
                <a:effectLst/>
                <a:latin typeface="Menlo"/>
              </a:rPr>
              <a:t>% </a:t>
            </a:r>
            <a:r>
              <a:rPr lang="zh-CN" altLang="en-US" sz="1000" b="0" i="0">
                <a:solidFill>
                  <a:srgbClr val="008013"/>
                </a:solidFill>
                <a:effectLst/>
                <a:latin typeface="Menlo"/>
              </a:rPr>
              <a:t>相关系数 </a:t>
            </a:r>
            <a:r>
              <a:rPr lang="en-US" altLang="zh-CN" sz="1000" b="0" i="0">
                <a:solidFill>
                  <a:srgbClr val="008013"/>
                </a:solidFill>
                <a:effectLst/>
                <a:latin typeface="Menlo"/>
              </a:rPr>
              <a:t>correlation coefficient</a:t>
            </a:r>
            <a:endParaRPr lang="en-US" altLang="zh-CN" sz="1000" b="0" i="0">
              <a:effectLst/>
              <a:latin typeface="Menlo"/>
            </a:endParaRPr>
          </a:p>
        </p:txBody>
      </p:sp>
      <p:sp>
        <p:nvSpPr>
          <p:cNvPr id="53" name="箭头: 左弧形 52">
            <a:extLst>
              <a:ext uri="{FF2B5EF4-FFF2-40B4-BE49-F238E27FC236}">
                <a16:creationId xmlns:a16="http://schemas.microsoft.com/office/drawing/2014/main" id="{62E166AE-18CC-C524-494D-FEAA0001C0F1}"/>
              </a:ext>
            </a:extLst>
          </p:cNvPr>
          <p:cNvSpPr/>
          <p:nvPr/>
        </p:nvSpPr>
        <p:spPr>
          <a:xfrm>
            <a:off x="6663035" y="4249845"/>
            <a:ext cx="484279" cy="1134710"/>
          </a:xfrm>
          <a:prstGeom prst="curvedRightArrow">
            <a:avLst/>
          </a:prstGeom>
          <a:solidFill>
            <a:schemeClr val="accent5">
              <a:lumMod val="20000"/>
              <a:lumOff val="8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文本框 53">
            <a:extLst>
              <a:ext uri="{FF2B5EF4-FFF2-40B4-BE49-F238E27FC236}">
                <a16:creationId xmlns:a16="http://schemas.microsoft.com/office/drawing/2014/main" id="{BEFBD025-9A47-6842-D4B5-B17CA374061A}"/>
              </a:ext>
            </a:extLst>
          </p:cNvPr>
          <p:cNvSpPr txBox="1"/>
          <p:nvPr/>
        </p:nvSpPr>
        <p:spPr>
          <a:xfrm>
            <a:off x="6019854" y="4674341"/>
            <a:ext cx="1286361" cy="253916"/>
          </a:xfrm>
          <a:prstGeom prst="rect">
            <a:avLst/>
          </a:prstGeom>
          <a:noFill/>
        </p:spPr>
        <p:txBody>
          <a:bodyPr wrap="square" rtlCol="0">
            <a:spAutoFit/>
          </a:bodyPr>
          <a:lstStyle/>
          <a:p>
            <a:r>
              <a:rPr lang="zh-CN" altLang="en-US" sz="1050">
                <a:solidFill>
                  <a:schemeClr val="accent5">
                    <a:lumMod val="50000"/>
                  </a:schemeClr>
                </a:solidFill>
              </a:rPr>
              <a:t>美化相关系数表</a:t>
            </a:r>
          </a:p>
        </p:txBody>
      </p:sp>
      <p:sp>
        <p:nvSpPr>
          <p:cNvPr id="55" name="文本框 54">
            <a:extLst>
              <a:ext uri="{FF2B5EF4-FFF2-40B4-BE49-F238E27FC236}">
                <a16:creationId xmlns:a16="http://schemas.microsoft.com/office/drawing/2014/main" id="{03DD2207-33B5-775F-DFBE-71C5C802DE8D}"/>
              </a:ext>
            </a:extLst>
          </p:cNvPr>
          <p:cNvSpPr txBox="1"/>
          <p:nvPr/>
        </p:nvSpPr>
        <p:spPr>
          <a:xfrm>
            <a:off x="10411214" y="3238050"/>
            <a:ext cx="1932126" cy="646331"/>
          </a:xfrm>
          <a:prstGeom prst="rect">
            <a:avLst/>
          </a:prstGeom>
          <a:noFill/>
        </p:spPr>
        <p:txBody>
          <a:bodyPr wrap="square" rtlCol="0">
            <a:spAutoFit/>
          </a:bodyPr>
          <a:lstStyle/>
          <a:p>
            <a:pPr marL="342900" indent="-342900">
              <a:buFont typeface="+mj-lt"/>
              <a:buAutoNum type="arabicPeriod"/>
            </a:pPr>
            <a:r>
              <a:rPr lang="en-US" altLang="zh-CN" sz="1200"/>
              <a:t>MATLAB</a:t>
            </a:r>
            <a:r>
              <a:rPr lang="zh-CN" altLang="en-US" sz="1200"/>
              <a:t>代码实现</a:t>
            </a:r>
            <a:endParaRPr lang="en-US" altLang="zh-CN" sz="1200"/>
          </a:p>
          <a:p>
            <a:pPr marL="342900" indent="-342900">
              <a:buFont typeface="+mj-lt"/>
              <a:buAutoNum type="arabicPeriod"/>
            </a:pPr>
            <a:r>
              <a:rPr lang="en-US" altLang="zh-CN" sz="1200"/>
              <a:t>Excel</a:t>
            </a:r>
            <a:r>
              <a:rPr lang="zh-CN" altLang="en-US" sz="1200"/>
              <a:t>数据分析</a:t>
            </a:r>
            <a:endParaRPr lang="en-US" altLang="zh-CN" sz="1200"/>
          </a:p>
          <a:p>
            <a:pPr marL="342900" indent="-342900">
              <a:buFont typeface="+mj-lt"/>
              <a:buAutoNum type="arabicPeriod"/>
            </a:pPr>
            <a:r>
              <a:rPr lang="en-US" altLang="zh-CN" sz="1200"/>
              <a:t>SPSS</a:t>
            </a:r>
            <a:r>
              <a:rPr lang="zh-CN" altLang="en-US" sz="1200"/>
              <a:t>描述性统计</a:t>
            </a:r>
          </a:p>
        </p:txBody>
      </p:sp>
      <p:sp>
        <p:nvSpPr>
          <p:cNvPr id="3" name="文本框 2">
            <a:extLst>
              <a:ext uri="{FF2B5EF4-FFF2-40B4-BE49-F238E27FC236}">
                <a16:creationId xmlns:a16="http://schemas.microsoft.com/office/drawing/2014/main" id="{3872A601-E21F-BB8C-7267-73448BB84AB9}"/>
              </a:ext>
            </a:extLst>
          </p:cNvPr>
          <p:cNvSpPr txBox="1"/>
          <p:nvPr/>
        </p:nvSpPr>
        <p:spPr>
          <a:xfrm>
            <a:off x="9124359" y="40859"/>
            <a:ext cx="3218981" cy="1015663"/>
          </a:xfrm>
          <a:prstGeom prst="rect">
            <a:avLst/>
          </a:prstGeom>
          <a:noFill/>
        </p:spPr>
        <p:txBody>
          <a:bodyPr wrap="square" rtlCol="0">
            <a:spAutoFit/>
          </a:bodyPr>
          <a:lstStyle/>
          <a:p>
            <a:pPr marL="342900" indent="-342900">
              <a:buFont typeface="+mj-lt"/>
              <a:buAutoNum type="arabicPeriod"/>
            </a:pPr>
            <a:r>
              <a:rPr lang="zh-CN" altLang="en-US" sz="1200">
                <a:solidFill>
                  <a:schemeClr val="accent2">
                    <a:lumMod val="50000"/>
                  </a:schemeClr>
                </a:solidFill>
              </a:rPr>
              <a:t>描述性统计</a:t>
            </a:r>
            <a:endParaRPr lang="en-US" altLang="zh-CN" sz="1200">
              <a:solidFill>
                <a:schemeClr val="accent2">
                  <a:lumMod val="50000"/>
                </a:schemeClr>
              </a:solidFill>
            </a:endParaRPr>
          </a:p>
          <a:p>
            <a:pPr marL="342900" indent="-342900">
              <a:buFont typeface="+mj-lt"/>
              <a:buAutoNum type="arabicPeriod"/>
            </a:pPr>
            <a:r>
              <a:rPr lang="zh-CN" altLang="en-US" sz="1200">
                <a:solidFill>
                  <a:schemeClr val="accent2">
                    <a:lumMod val="50000"/>
                  </a:schemeClr>
                </a:solidFill>
              </a:rPr>
              <a:t>正态性检验</a:t>
            </a:r>
            <a:endParaRPr lang="en-US" altLang="zh-CN" sz="1200">
              <a:solidFill>
                <a:schemeClr val="accent2">
                  <a:lumMod val="50000"/>
                </a:schemeClr>
              </a:solidFill>
            </a:endParaRPr>
          </a:p>
          <a:p>
            <a:pPr marL="342900" indent="-342900">
              <a:buFont typeface="+mj-lt"/>
              <a:buAutoNum type="arabicPeriod"/>
            </a:pPr>
            <a:r>
              <a:rPr lang="zh-CN" altLang="en-US" sz="1200">
                <a:solidFill>
                  <a:schemeClr val="accent2">
                    <a:lumMod val="50000"/>
                  </a:schemeClr>
                </a:solidFill>
              </a:rPr>
              <a:t>（检验通过）计算皮尔逊相关系数</a:t>
            </a:r>
            <a:endParaRPr lang="en-US" altLang="zh-CN" sz="1200">
              <a:solidFill>
                <a:schemeClr val="accent2">
                  <a:lumMod val="50000"/>
                </a:schemeClr>
              </a:solidFill>
            </a:endParaRPr>
          </a:p>
          <a:p>
            <a:pPr marL="342900" indent="-342900">
              <a:buFont typeface="+mj-lt"/>
              <a:buAutoNum type="arabicPeriod"/>
            </a:pPr>
            <a:r>
              <a:rPr lang="zh-CN" altLang="en-US" sz="1200">
                <a:solidFill>
                  <a:schemeClr val="accent2">
                    <a:lumMod val="50000"/>
                  </a:schemeClr>
                </a:solidFill>
              </a:rPr>
              <a:t>假设检验显著性</a:t>
            </a:r>
            <a:endParaRPr lang="en-US" altLang="zh-CN" sz="1200">
              <a:solidFill>
                <a:schemeClr val="accent2">
                  <a:lumMod val="50000"/>
                </a:schemeClr>
              </a:solidFill>
            </a:endParaRPr>
          </a:p>
          <a:p>
            <a:pPr marL="342900" indent="-342900">
              <a:buFont typeface="+mj-lt"/>
              <a:buAutoNum type="arabicPeriod"/>
            </a:pPr>
            <a:r>
              <a:rPr lang="zh-CN" altLang="en-US" sz="1200">
                <a:solidFill>
                  <a:schemeClr val="accent2">
                    <a:lumMod val="50000"/>
                  </a:schemeClr>
                </a:solidFill>
              </a:rPr>
              <a:t>（检验未通过）计算斯皮尔曼相关系数</a:t>
            </a:r>
          </a:p>
        </p:txBody>
      </p:sp>
      <mc:AlternateContent xmlns:mc="http://schemas.openxmlformats.org/markup-compatibility/2006">
        <mc:Choice xmlns:am3d="http://schemas.microsoft.com/office/drawing/2017/model3d" Requires="am3d">
          <p:graphicFrame>
            <p:nvGraphicFramePr>
              <p:cNvPr id="5" name="3D 模型 4" descr="Hexagonal Pyramid Red">
                <a:extLst>
                  <a:ext uri="{FF2B5EF4-FFF2-40B4-BE49-F238E27FC236}">
                    <a16:creationId xmlns:a16="http://schemas.microsoft.com/office/drawing/2014/main" id="{10798707-5443-210B-FF86-B61C9652011B}"/>
                  </a:ext>
                </a:extLst>
              </p:cNvPr>
              <p:cNvGraphicFramePr>
                <a:graphicFrameLocks noChangeAspect="1"/>
              </p:cNvGraphicFramePr>
              <p:nvPr>
                <p:extLst>
                  <p:ext uri="{D42A27DB-BD31-4B8C-83A1-F6EECF244321}">
                    <p14:modId xmlns:p14="http://schemas.microsoft.com/office/powerpoint/2010/main" val="679535206"/>
                  </p:ext>
                </p:extLst>
              </p:nvPr>
            </p:nvGraphicFramePr>
            <p:xfrm>
              <a:off x="8693325" y="14246"/>
              <a:ext cx="366574" cy="498164"/>
            </p:xfrm>
            <a:graphic>
              <a:graphicData uri="http://schemas.microsoft.com/office/drawing/2017/model3d">
                <am3d:model3d r:embed="rId24">
                  <am3d:spPr>
                    <a:xfrm>
                      <a:off x="0" y="0"/>
                      <a:ext cx="366574" cy="498164"/>
                    </a:xfrm>
                    <a:prstGeom prst="rect">
                      <a:avLst/>
                    </a:prstGeom>
                  </am3d:spPr>
                  <am3d:camera>
                    <am3d:pos x="0" y="0" z="66464289"/>
                    <am3d:up dx="0" dy="36000000" dz="0"/>
                    <am3d:lookAt x="0" y="0" z="0"/>
                    <am3d:perspective fov="2700000"/>
                  </am3d:camera>
                  <am3d:trans>
                    <am3d:meterPerModelUnit n="101637" d="1000000"/>
                    <am3d:preTrans dx="0" dy="-18000000" dz="0"/>
                    <am3d:scale>
                      <am3d:sx n="1000000" d="1000000"/>
                      <am3d:sy n="1000000" d="1000000"/>
                      <am3d:sz n="1000000" d="1000000"/>
                    </am3d:scale>
                    <am3d:rot ax="-10799999" az="-10799999"/>
                    <am3d:postTrans dx="0" dy="0" dz="0"/>
                  </am3d:trans>
                  <am3d:raster rName="Office3DRenderer" rVer="16.0.8326">
                    <am3d:blip r:embed="rId25"/>
                  </am3d:raster>
                  <am3d:objViewport viewportSz="6297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模型 4" descr="Hexagonal Pyramid Red">
                <a:extLst>
                  <a:ext uri="{FF2B5EF4-FFF2-40B4-BE49-F238E27FC236}">
                    <a16:creationId xmlns:a16="http://schemas.microsoft.com/office/drawing/2014/main" id="{10798707-5443-210B-FF86-B61C9652011B}"/>
                  </a:ext>
                </a:extLst>
              </p:cNvPr>
              <p:cNvPicPr>
                <a:picLocks noGrp="1" noRot="1" noChangeAspect="1" noMove="1" noResize="1" noEditPoints="1" noAdjustHandles="1" noChangeArrowheads="1" noChangeShapeType="1" noCrop="1"/>
              </p:cNvPicPr>
              <p:nvPr/>
            </p:nvPicPr>
            <p:blipFill>
              <a:blip r:embed="rId25"/>
              <a:stretch>
                <a:fillRect/>
              </a:stretch>
            </p:blipFill>
            <p:spPr>
              <a:xfrm>
                <a:off x="8693325" y="14246"/>
                <a:ext cx="366574" cy="498164"/>
              </a:xfrm>
              <a:prstGeom prst="rect">
                <a:avLst/>
              </a:prstGeom>
            </p:spPr>
          </p:pic>
        </mc:Fallback>
      </mc:AlternateContent>
      <p:sp>
        <p:nvSpPr>
          <p:cNvPr id="6" name="文本框 5">
            <a:extLst>
              <a:ext uri="{FF2B5EF4-FFF2-40B4-BE49-F238E27FC236}">
                <a16:creationId xmlns:a16="http://schemas.microsoft.com/office/drawing/2014/main" id="{EDA1BDB0-BAF2-FB83-9B00-A96859121E6C}"/>
              </a:ext>
            </a:extLst>
          </p:cNvPr>
          <p:cNvSpPr txBox="1"/>
          <p:nvPr/>
        </p:nvSpPr>
        <p:spPr>
          <a:xfrm>
            <a:off x="9249630" y="1155306"/>
            <a:ext cx="2637569" cy="1015663"/>
          </a:xfrm>
          <a:prstGeom prst="rect">
            <a:avLst/>
          </a:prstGeom>
          <a:noFill/>
        </p:spPr>
        <p:txBody>
          <a:bodyPr wrap="square" rtlCol="0">
            <a:spAutoFit/>
          </a:bodyPr>
          <a:lstStyle/>
          <a:p>
            <a:r>
              <a:rPr lang="zh-CN" altLang="en-US" sz="1200">
                <a:solidFill>
                  <a:srgbClr val="7030A0"/>
                </a:solidFill>
              </a:rPr>
              <a:t>相关系数选择：</a:t>
            </a:r>
            <a:endParaRPr lang="en-US" altLang="zh-CN" sz="1200">
              <a:solidFill>
                <a:srgbClr val="7030A0"/>
              </a:solidFill>
            </a:endParaRPr>
          </a:p>
          <a:p>
            <a:pPr marL="171450" indent="-171450">
              <a:buFont typeface="Arial" panose="020B0604020202020204" pitchFamily="34" charset="0"/>
              <a:buChar char="•"/>
            </a:pPr>
            <a:r>
              <a:rPr lang="zh-CN" altLang="en-US" sz="1200">
                <a:solidFill>
                  <a:srgbClr val="FF0000"/>
                </a:solidFill>
              </a:rPr>
              <a:t>连续数据</a:t>
            </a:r>
            <a:r>
              <a:rPr lang="zh-CN" altLang="en-US" sz="1200">
                <a:solidFill>
                  <a:srgbClr val="7030A0"/>
                </a:solidFill>
              </a:rPr>
              <a:t>，</a:t>
            </a:r>
            <a:r>
              <a:rPr lang="zh-CN" altLang="en-US" sz="1200">
                <a:solidFill>
                  <a:srgbClr val="FF0000"/>
                </a:solidFill>
              </a:rPr>
              <a:t>正态分布</a:t>
            </a:r>
            <a:r>
              <a:rPr lang="zh-CN" altLang="en-US" sz="1200">
                <a:solidFill>
                  <a:srgbClr val="7030A0"/>
                </a:solidFill>
              </a:rPr>
              <a:t>，</a:t>
            </a:r>
            <a:r>
              <a:rPr lang="zh-CN" altLang="en-US" sz="1200">
                <a:solidFill>
                  <a:srgbClr val="FF0000"/>
                </a:solidFill>
              </a:rPr>
              <a:t>线性关系</a:t>
            </a:r>
            <a:r>
              <a:rPr lang="zh-CN" altLang="en-US" sz="1200">
                <a:solidFill>
                  <a:srgbClr val="7030A0"/>
                </a:solidFill>
              </a:rPr>
              <a:t>，用</a:t>
            </a:r>
            <a:r>
              <a:rPr lang="en-US" altLang="zh-CN" sz="1200" b="1">
                <a:solidFill>
                  <a:srgbClr val="7030A0"/>
                </a:solidFill>
              </a:rPr>
              <a:t>pearson</a:t>
            </a:r>
            <a:r>
              <a:rPr lang="zh-CN" altLang="en-US" sz="1200">
                <a:solidFill>
                  <a:srgbClr val="7030A0"/>
                </a:solidFill>
              </a:rPr>
              <a:t>最恰当（</a:t>
            </a:r>
            <a:r>
              <a:rPr lang="en-US" altLang="zh-CN" sz="1200">
                <a:solidFill>
                  <a:srgbClr val="7030A0"/>
                </a:solidFill>
              </a:rPr>
              <a:t>spearman</a:t>
            </a:r>
            <a:r>
              <a:rPr lang="zh-CN" altLang="en-US" sz="1200">
                <a:solidFill>
                  <a:srgbClr val="7030A0"/>
                </a:solidFill>
              </a:rPr>
              <a:t>也可）</a:t>
            </a:r>
            <a:endParaRPr lang="en-US" altLang="zh-CN" sz="1200">
              <a:solidFill>
                <a:srgbClr val="7030A0"/>
              </a:solidFill>
            </a:endParaRPr>
          </a:p>
          <a:p>
            <a:pPr marL="171450" indent="-171450">
              <a:buFont typeface="Arial" panose="020B0604020202020204" pitchFamily="34" charset="0"/>
              <a:buChar char="•"/>
            </a:pPr>
            <a:r>
              <a:rPr lang="zh-CN" altLang="en-US" sz="1200">
                <a:solidFill>
                  <a:srgbClr val="7030A0"/>
                </a:solidFill>
              </a:rPr>
              <a:t>反之，用</a:t>
            </a:r>
            <a:r>
              <a:rPr lang="en-US" altLang="zh-CN" sz="1200" b="1">
                <a:solidFill>
                  <a:srgbClr val="7030A0"/>
                </a:solidFill>
              </a:rPr>
              <a:t>spearman</a:t>
            </a:r>
          </a:p>
          <a:p>
            <a:pPr marL="171450" indent="-171450">
              <a:buFont typeface="Arial" panose="020B0604020202020204" pitchFamily="34" charset="0"/>
              <a:buChar char="•"/>
            </a:pPr>
            <a:r>
              <a:rPr lang="zh-CN" altLang="en-US" sz="1200">
                <a:solidFill>
                  <a:srgbClr val="7030A0"/>
                </a:solidFill>
              </a:rPr>
              <a:t>两</a:t>
            </a:r>
            <a:r>
              <a:rPr lang="zh-CN" altLang="en-US" sz="1200">
                <a:solidFill>
                  <a:srgbClr val="FF0000"/>
                </a:solidFill>
              </a:rPr>
              <a:t>定序数据</a:t>
            </a:r>
            <a:r>
              <a:rPr lang="zh-CN" altLang="en-US" sz="1200">
                <a:solidFill>
                  <a:srgbClr val="7030A0"/>
                </a:solidFill>
              </a:rPr>
              <a:t>间用</a:t>
            </a:r>
            <a:r>
              <a:rPr lang="en-US" altLang="zh-CN" sz="1200" b="1">
                <a:solidFill>
                  <a:srgbClr val="7030A0"/>
                </a:solidFill>
              </a:rPr>
              <a:t>spearman</a:t>
            </a:r>
            <a:endParaRPr lang="zh-CN" altLang="en-US" sz="1200" b="1">
              <a:solidFill>
                <a:srgbClr val="7030A0"/>
              </a:solidFill>
            </a:endParaRPr>
          </a:p>
        </p:txBody>
      </p:sp>
      <mc:AlternateContent xmlns:mc="http://schemas.openxmlformats.org/markup-compatibility/2006">
        <mc:Choice xmlns:am3d="http://schemas.microsoft.com/office/drawing/2017/model3d" Requires="am3d">
          <p:graphicFrame>
            <p:nvGraphicFramePr>
              <p:cNvPr id="9" name="3D 模型 8" descr="Hexagonal Pyramid Red">
                <a:extLst>
                  <a:ext uri="{FF2B5EF4-FFF2-40B4-BE49-F238E27FC236}">
                    <a16:creationId xmlns:a16="http://schemas.microsoft.com/office/drawing/2014/main" id="{20267ED6-FBBE-1AF8-4ACA-58084068AA06}"/>
                  </a:ext>
                </a:extLst>
              </p:cNvPr>
              <p:cNvGraphicFramePr>
                <a:graphicFrameLocks noChangeAspect="1"/>
              </p:cNvGraphicFramePr>
              <p:nvPr>
                <p:extLst>
                  <p:ext uri="{D42A27DB-BD31-4B8C-83A1-F6EECF244321}">
                    <p14:modId xmlns:p14="http://schemas.microsoft.com/office/powerpoint/2010/main" val="679535206"/>
                  </p:ext>
                </p:extLst>
              </p:nvPr>
            </p:nvGraphicFramePr>
            <p:xfrm>
              <a:off x="8693325" y="1154136"/>
              <a:ext cx="366574" cy="498164"/>
            </p:xfrm>
            <a:graphic>
              <a:graphicData uri="http://schemas.microsoft.com/office/drawing/2017/model3d">
                <am3d:model3d r:embed="rId24">
                  <am3d:spPr>
                    <a:xfrm>
                      <a:off x="0" y="0"/>
                      <a:ext cx="366574" cy="498164"/>
                    </a:xfrm>
                    <a:prstGeom prst="rect">
                      <a:avLst/>
                    </a:prstGeom>
                  </am3d:spPr>
                  <am3d:camera>
                    <am3d:pos x="0" y="0" z="66464289"/>
                    <am3d:up dx="0" dy="36000000" dz="0"/>
                    <am3d:lookAt x="0" y="0" z="0"/>
                    <am3d:perspective fov="2700000"/>
                  </am3d:camera>
                  <am3d:trans>
                    <am3d:meterPerModelUnit n="101637" d="1000000"/>
                    <am3d:preTrans dx="0" dy="-18000000" dz="0"/>
                    <am3d:scale>
                      <am3d:sx n="1000000" d="1000000"/>
                      <am3d:sy n="1000000" d="1000000"/>
                      <am3d:sz n="1000000" d="1000000"/>
                    </am3d:scale>
                    <am3d:rot ax="-10799999" az="-10799999"/>
                    <am3d:postTrans dx="0" dy="0" dz="0"/>
                  </am3d:trans>
                  <am3d:raster rName="Office3DRenderer" rVer="16.0.8326">
                    <am3d:blip r:embed="rId25"/>
                  </am3d:raster>
                  <am3d:objViewport viewportSz="6297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模型 8" descr="Hexagonal Pyramid Red">
                <a:extLst>
                  <a:ext uri="{FF2B5EF4-FFF2-40B4-BE49-F238E27FC236}">
                    <a16:creationId xmlns:a16="http://schemas.microsoft.com/office/drawing/2014/main" id="{20267ED6-FBBE-1AF8-4ACA-58084068AA06}"/>
                  </a:ext>
                </a:extLst>
              </p:cNvPr>
              <p:cNvPicPr>
                <a:picLocks noGrp="1" noRot="1" noChangeAspect="1" noMove="1" noResize="1" noEditPoints="1" noAdjustHandles="1" noChangeArrowheads="1" noChangeShapeType="1" noCrop="1"/>
              </p:cNvPicPr>
              <p:nvPr/>
            </p:nvPicPr>
            <p:blipFill>
              <a:blip r:embed="rId25"/>
              <a:stretch>
                <a:fillRect/>
              </a:stretch>
            </p:blipFill>
            <p:spPr>
              <a:xfrm>
                <a:off x="8693325" y="1154136"/>
                <a:ext cx="366574" cy="498164"/>
              </a:xfrm>
              <a:prstGeom prst="rect">
                <a:avLst/>
              </a:prstGeom>
            </p:spPr>
          </p:pic>
        </mc:Fallback>
      </mc:AlternateContent>
    </p:spTree>
    <p:extLst>
      <p:ext uri="{BB962C8B-B14F-4D97-AF65-F5344CB8AC3E}">
        <p14:creationId xmlns:p14="http://schemas.microsoft.com/office/powerpoint/2010/main" val="2506189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a:extLst>
              <a:ext uri="{FF2B5EF4-FFF2-40B4-BE49-F238E27FC236}">
                <a16:creationId xmlns:a16="http://schemas.microsoft.com/office/drawing/2014/main" id="{C31104A4-D4B6-1B86-0D29-D06991AFA037}"/>
              </a:ext>
            </a:extLst>
          </p:cNvPr>
          <p:cNvSpPr/>
          <p:nvPr/>
        </p:nvSpPr>
        <p:spPr>
          <a:xfrm>
            <a:off x="5222653" y="3855290"/>
            <a:ext cx="5035532" cy="63924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2DC91AC9-CDBC-A3DE-DADE-47E9AFCEBDC2}"/>
              </a:ext>
            </a:extLst>
          </p:cNvPr>
          <p:cNvSpPr/>
          <p:nvPr/>
        </p:nvSpPr>
        <p:spPr>
          <a:xfrm>
            <a:off x="256430" y="4347222"/>
            <a:ext cx="2720148" cy="1678039"/>
          </a:xfrm>
          <a:prstGeom prst="rect">
            <a:avLst/>
          </a:prstGeom>
          <a:solidFill>
            <a:srgbClr val="F2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B590E29-71C7-C61B-7C5B-4395997E3BAF}"/>
              </a:ext>
            </a:extLst>
          </p:cNvPr>
          <p:cNvSpPr txBox="1"/>
          <p:nvPr/>
        </p:nvSpPr>
        <p:spPr>
          <a:xfrm>
            <a:off x="40982" y="81126"/>
            <a:ext cx="8465243"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皮尔逊相关系数</a:t>
            </a:r>
            <a:r>
              <a:rPr lang="en-US" altLang="zh-CN" sz="4400">
                <a:solidFill>
                  <a:schemeClr val="accent5"/>
                </a:solidFill>
                <a:latin typeface="三极泼墨体" panose="00000500000000000000" pitchFamily="2" charset="-122"/>
                <a:ea typeface="三极泼墨体" panose="00000500000000000000" pitchFamily="2" charset="-122"/>
              </a:rPr>
              <a:t>-</a:t>
            </a:r>
            <a:r>
              <a:rPr kumimoji="0" lang="zh-CN" altLang="en-US" sz="4400" b="0" i="0" u="none" strike="noStrike" kern="1200" cap="none" spc="0" normalizeH="0" baseline="0" noProof="0">
                <a:ln>
                  <a:noFill/>
                </a:ln>
                <a:solidFill>
                  <a:srgbClr val="5B9BD5"/>
                </a:solidFill>
                <a:effectLst/>
                <a:uLnTx/>
                <a:uFillTx/>
                <a:latin typeface="三极泼墨体" panose="00000500000000000000" pitchFamily="2" charset="-122"/>
                <a:ea typeface="三极泼墨体" panose="00000500000000000000" pitchFamily="2" charset="-122"/>
                <a:cs typeface="+mn-cs"/>
              </a:rPr>
              <a:t>正态分布检验</a:t>
            </a:r>
            <a:endParaRPr lang="zh-CN" altLang="en-US" sz="4400"/>
          </a:p>
        </p:txBody>
      </p:sp>
      <p:sp>
        <p:nvSpPr>
          <p:cNvPr id="6" name="文本框 5">
            <a:extLst>
              <a:ext uri="{FF2B5EF4-FFF2-40B4-BE49-F238E27FC236}">
                <a16:creationId xmlns:a16="http://schemas.microsoft.com/office/drawing/2014/main" id="{6AB66AD5-7325-E5B9-4B9C-74AB50282263}"/>
              </a:ext>
            </a:extLst>
          </p:cNvPr>
          <p:cNvSpPr txBox="1"/>
          <p:nvPr/>
        </p:nvSpPr>
        <p:spPr>
          <a:xfrm>
            <a:off x="364992" y="850567"/>
            <a:ext cx="3423236" cy="369332"/>
          </a:xfrm>
          <a:prstGeom prst="rect">
            <a:avLst/>
          </a:prstGeom>
          <a:noFill/>
        </p:spPr>
        <p:txBody>
          <a:bodyPr wrap="square">
            <a:spAutoFit/>
          </a:bodyPr>
          <a:lstStyle/>
          <a:p>
            <a:r>
              <a:rPr lang="zh-CN" altLang="en-US">
                <a:latin typeface="优设标题黑" panose="00000500000000000000" pitchFamily="2" charset="-122"/>
                <a:ea typeface="优设标题黑" panose="00000500000000000000" pitchFamily="2" charset="-122"/>
              </a:rPr>
              <a:t>正态分布</a:t>
            </a:r>
            <a:r>
              <a:rPr lang="en-US" altLang="zh-CN">
                <a:latin typeface="优设标题黑" panose="00000500000000000000" pitchFamily="2" charset="-122"/>
                <a:ea typeface="优设标题黑" panose="00000500000000000000" pitchFamily="2" charset="-122"/>
              </a:rPr>
              <a:t>JB</a:t>
            </a:r>
            <a:r>
              <a:rPr lang="zh-CN" altLang="en-US">
                <a:latin typeface="优设标题黑" panose="00000500000000000000" pitchFamily="2" charset="-122"/>
                <a:ea typeface="优设标题黑" panose="00000500000000000000" pitchFamily="2" charset="-122"/>
              </a:rPr>
              <a:t>检验（</a:t>
            </a:r>
            <a:r>
              <a:rPr lang="zh-CN" altLang="en-US">
                <a:solidFill>
                  <a:srgbClr val="FF0000"/>
                </a:solidFill>
                <a:latin typeface="优设标题黑" panose="00000500000000000000" pitchFamily="2" charset="-122"/>
                <a:ea typeface="优设标题黑" panose="00000500000000000000" pitchFamily="2" charset="-122"/>
              </a:rPr>
              <a:t>大样本</a:t>
            </a:r>
            <a:r>
              <a:rPr lang="en-US" altLang="zh-CN">
                <a:solidFill>
                  <a:srgbClr val="FF0000"/>
                </a:solidFill>
                <a:latin typeface="优设标题黑" panose="00000500000000000000" pitchFamily="2" charset="-122"/>
                <a:ea typeface="优设标题黑" panose="00000500000000000000" pitchFamily="2" charset="-122"/>
              </a:rPr>
              <a:t>n&gt;30</a:t>
            </a:r>
            <a:r>
              <a:rPr lang="zh-CN" altLang="en-US">
                <a:latin typeface="优设标题黑" panose="00000500000000000000" pitchFamily="2" charset="-122"/>
                <a:ea typeface="优设标题黑" panose="00000500000000000000" pitchFamily="2" charset="-122"/>
              </a:rPr>
              <a:t>）</a:t>
            </a:r>
          </a:p>
        </p:txBody>
      </p:sp>
      <p:sp>
        <p:nvSpPr>
          <p:cNvPr id="10" name="文本框 9">
            <a:extLst>
              <a:ext uri="{FF2B5EF4-FFF2-40B4-BE49-F238E27FC236}">
                <a16:creationId xmlns:a16="http://schemas.microsoft.com/office/drawing/2014/main" id="{6AD38C68-663B-44B6-8138-57959DA104A5}"/>
              </a:ext>
            </a:extLst>
          </p:cNvPr>
          <p:cNvSpPr txBox="1"/>
          <p:nvPr/>
        </p:nvSpPr>
        <p:spPr>
          <a:xfrm>
            <a:off x="664669" y="1156199"/>
            <a:ext cx="2823882" cy="276999"/>
          </a:xfrm>
          <a:prstGeom prst="rect">
            <a:avLst/>
          </a:prstGeom>
          <a:noFill/>
        </p:spPr>
        <p:txBody>
          <a:bodyPr wrap="square">
            <a:spAutoFit/>
          </a:bodyPr>
          <a:lstStyle/>
          <a:p>
            <a:r>
              <a:rPr lang="zh-CN" altLang="en-US" sz="1200">
                <a:latin typeface="优设标题黑" panose="00000500000000000000" pitchFamily="2" charset="-122"/>
                <a:ea typeface="优设标题黑" panose="00000500000000000000" pitchFamily="2" charset="-122"/>
              </a:rPr>
              <a:t>雅克</a:t>
            </a:r>
            <a:r>
              <a:rPr lang="en-US" altLang="zh-CN" sz="1200">
                <a:latin typeface="优设标题黑" panose="00000500000000000000" pitchFamily="2" charset="-122"/>
                <a:ea typeface="优设标题黑" panose="00000500000000000000" pitchFamily="2" charset="-122"/>
              </a:rPr>
              <a:t>‐</a:t>
            </a:r>
            <a:r>
              <a:rPr lang="zh-CN" altLang="en-US" sz="1200">
                <a:latin typeface="优设标题黑" panose="00000500000000000000" pitchFamily="2" charset="-122"/>
                <a:ea typeface="优设标题黑" panose="00000500000000000000" pitchFamily="2" charset="-122"/>
              </a:rPr>
              <a:t>贝拉检验</a:t>
            </a:r>
            <a:r>
              <a:rPr lang="en-US" altLang="zh-CN" sz="1200">
                <a:latin typeface="优设标题黑" panose="00000500000000000000" pitchFamily="2" charset="-122"/>
                <a:ea typeface="优设标题黑" panose="00000500000000000000" pitchFamily="2" charset="-122"/>
              </a:rPr>
              <a:t>(Jarque‐Bera test)</a:t>
            </a:r>
            <a:endParaRPr lang="zh-CN" altLang="en-US" sz="1200">
              <a:latin typeface="优设标题黑" panose="00000500000000000000" pitchFamily="2" charset="-122"/>
              <a:ea typeface="优设标题黑" panose="00000500000000000000" pitchFamily="2" charset="-122"/>
            </a:endParaRPr>
          </a:p>
        </p:txBody>
      </p:sp>
      <p:graphicFrame>
        <p:nvGraphicFramePr>
          <p:cNvPr id="11" name="对象 10">
            <a:extLst>
              <a:ext uri="{FF2B5EF4-FFF2-40B4-BE49-F238E27FC236}">
                <a16:creationId xmlns:a16="http://schemas.microsoft.com/office/drawing/2014/main" id="{1E8D9134-15C5-7467-27CB-20A5FB33AB8B}"/>
              </a:ext>
            </a:extLst>
          </p:cNvPr>
          <p:cNvGraphicFramePr>
            <a:graphicFrameLocks noChangeAspect="1"/>
          </p:cNvGraphicFramePr>
          <p:nvPr>
            <p:extLst>
              <p:ext uri="{D42A27DB-BD31-4B8C-83A1-F6EECF244321}">
                <p14:modId xmlns:p14="http://schemas.microsoft.com/office/powerpoint/2010/main" val="206493601"/>
              </p:ext>
            </p:extLst>
          </p:nvPr>
        </p:nvGraphicFramePr>
        <p:xfrm>
          <a:off x="218996" y="1433198"/>
          <a:ext cx="4321590" cy="1127071"/>
        </p:xfrm>
        <a:graphic>
          <a:graphicData uri="http://schemas.openxmlformats.org/presentationml/2006/ole">
            <mc:AlternateContent xmlns:mc="http://schemas.openxmlformats.org/markup-compatibility/2006">
              <mc:Choice xmlns:v="urn:schemas-microsoft-com:vml" Requires="v">
                <p:oleObj name="AxMath" r:id="rId2" imgW="3969360" imgH="1035000" progId="Equation.AxMath">
                  <p:embed/>
                </p:oleObj>
              </mc:Choice>
              <mc:Fallback>
                <p:oleObj name="AxMath" r:id="rId2" imgW="3969360" imgH="1035000" progId="Equation.AxMath">
                  <p:embed/>
                  <p:pic>
                    <p:nvPicPr>
                      <p:cNvPr id="0" name=""/>
                      <p:cNvPicPr/>
                      <p:nvPr/>
                    </p:nvPicPr>
                    <p:blipFill>
                      <a:blip r:embed="rId3"/>
                      <a:stretch>
                        <a:fillRect/>
                      </a:stretch>
                    </p:blipFill>
                    <p:spPr>
                      <a:xfrm>
                        <a:off x="218996" y="1433198"/>
                        <a:ext cx="4321590" cy="1127071"/>
                      </a:xfrm>
                      <a:prstGeom prst="rect">
                        <a:avLst/>
                      </a:prstGeom>
                    </p:spPr>
                  </p:pic>
                </p:oleObj>
              </mc:Fallback>
            </mc:AlternateContent>
          </a:graphicData>
        </a:graphic>
      </p:graphicFrame>
      <p:pic>
        <p:nvPicPr>
          <p:cNvPr id="13" name="图片 12">
            <a:extLst>
              <a:ext uri="{FF2B5EF4-FFF2-40B4-BE49-F238E27FC236}">
                <a16:creationId xmlns:a16="http://schemas.microsoft.com/office/drawing/2014/main" id="{B59422BE-2FBC-03C5-B211-BA0928D7A584}"/>
              </a:ext>
            </a:extLst>
          </p:cNvPr>
          <p:cNvPicPr>
            <a:picLocks noChangeAspect="1"/>
          </p:cNvPicPr>
          <p:nvPr/>
        </p:nvPicPr>
        <p:blipFill>
          <a:blip r:embed="rId4"/>
          <a:stretch>
            <a:fillRect/>
          </a:stretch>
        </p:blipFill>
        <p:spPr>
          <a:xfrm>
            <a:off x="126787" y="2637520"/>
            <a:ext cx="2211685" cy="1217770"/>
          </a:xfrm>
          <a:prstGeom prst="rect">
            <a:avLst/>
          </a:prstGeom>
        </p:spPr>
      </p:pic>
      <p:pic>
        <p:nvPicPr>
          <p:cNvPr id="15" name="图片 14">
            <a:extLst>
              <a:ext uri="{FF2B5EF4-FFF2-40B4-BE49-F238E27FC236}">
                <a16:creationId xmlns:a16="http://schemas.microsoft.com/office/drawing/2014/main" id="{9C273BFC-7393-7EBF-7BAF-74EB786F11EB}"/>
              </a:ext>
            </a:extLst>
          </p:cNvPr>
          <p:cNvPicPr>
            <a:picLocks noChangeAspect="1"/>
          </p:cNvPicPr>
          <p:nvPr/>
        </p:nvPicPr>
        <p:blipFill>
          <a:blip r:embed="rId5"/>
          <a:stretch>
            <a:fillRect/>
          </a:stretch>
        </p:blipFill>
        <p:spPr>
          <a:xfrm>
            <a:off x="2465071" y="2560269"/>
            <a:ext cx="2046960" cy="1308468"/>
          </a:xfrm>
          <a:prstGeom prst="rect">
            <a:avLst/>
          </a:prstGeom>
        </p:spPr>
      </p:pic>
      <p:pic>
        <p:nvPicPr>
          <p:cNvPr id="17" name="图片 16">
            <a:extLst>
              <a:ext uri="{FF2B5EF4-FFF2-40B4-BE49-F238E27FC236}">
                <a16:creationId xmlns:a16="http://schemas.microsoft.com/office/drawing/2014/main" id="{58F3AD0B-FE88-BFE9-5CB8-CB86466D2693}"/>
              </a:ext>
            </a:extLst>
          </p:cNvPr>
          <p:cNvPicPr>
            <a:picLocks noChangeAspect="1"/>
          </p:cNvPicPr>
          <p:nvPr/>
        </p:nvPicPr>
        <p:blipFill>
          <a:blip r:embed="rId6"/>
          <a:stretch>
            <a:fillRect/>
          </a:stretch>
        </p:blipFill>
        <p:spPr>
          <a:xfrm>
            <a:off x="218996" y="3945988"/>
            <a:ext cx="4102311" cy="215911"/>
          </a:xfrm>
          <a:prstGeom prst="rect">
            <a:avLst/>
          </a:prstGeom>
        </p:spPr>
      </p:pic>
      <p:sp>
        <p:nvSpPr>
          <p:cNvPr id="21" name="文本框 20">
            <a:extLst>
              <a:ext uri="{FF2B5EF4-FFF2-40B4-BE49-F238E27FC236}">
                <a16:creationId xmlns:a16="http://schemas.microsoft.com/office/drawing/2014/main" id="{344951AF-F447-ABB9-B0D3-4AB90F53F338}"/>
              </a:ext>
            </a:extLst>
          </p:cNvPr>
          <p:cNvSpPr txBox="1"/>
          <p:nvPr/>
        </p:nvSpPr>
        <p:spPr>
          <a:xfrm>
            <a:off x="218996" y="4347222"/>
            <a:ext cx="2720148" cy="1323439"/>
          </a:xfrm>
          <a:prstGeom prst="rect">
            <a:avLst/>
          </a:prstGeom>
          <a:noFill/>
        </p:spPr>
        <p:txBody>
          <a:bodyPr wrap="square">
            <a:spAutoFit/>
          </a:bodyPr>
          <a:lstStyle/>
          <a:p>
            <a:r>
              <a:rPr lang="en-US" altLang="zh-CN" sz="1000" b="0" i="0">
                <a:solidFill>
                  <a:srgbClr val="008013"/>
                </a:solidFill>
                <a:effectLst/>
                <a:latin typeface="Menlo"/>
              </a:rPr>
              <a:t>% </a:t>
            </a:r>
            <a:r>
              <a:rPr lang="zh-CN" altLang="en-US" sz="1000" b="0" i="0">
                <a:solidFill>
                  <a:srgbClr val="008013"/>
                </a:solidFill>
                <a:effectLst/>
                <a:latin typeface="Menlo"/>
              </a:rPr>
              <a:t>用循环检验所有列的数据</a:t>
            </a:r>
            <a:endParaRPr lang="zh-CN" altLang="en-US" sz="1000" b="0" i="0">
              <a:effectLst/>
              <a:latin typeface="Menlo"/>
            </a:endParaRPr>
          </a:p>
          <a:p>
            <a:r>
              <a:rPr lang="en-US" altLang="zh-CN" sz="1000" b="0" i="0">
                <a:effectLst/>
                <a:latin typeface="Menlo"/>
              </a:rPr>
              <a:t>n_c = size(Test,2) </a:t>
            </a:r>
            <a:r>
              <a:rPr lang="en-US" altLang="zh-CN" sz="1000" b="0" i="0">
                <a:solidFill>
                  <a:srgbClr val="008013"/>
                </a:solidFill>
                <a:effectLst/>
                <a:latin typeface="Menlo"/>
              </a:rPr>
              <a:t>% number of column</a:t>
            </a:r>
            <a:endParaRPr lang="en-US" altLang="zh-CN" sz="1000" b="0" i="0">
              <a:effectLst/>
              <a:latin typeface="Menlo"/>
            </a:endParaRPr>
          </a:p>
          <a:p>
            <a:r>
              <a:rPr lang="en-US" altLang="zh-CN" sz="1000" b="0" i="0">
                <a:effectLst/>
                <a:latin typeface="Menlo"/>
              </a:rPr>
              <a:t>H = zeros(1,6);P = zeros(1,6); </a:t>
            </a:r>
            <a:r>
              <a:rPr lang="en-US" altLang="zh-CN" sz="1000" b="0" i="0">
                <a:solidFill>
                  <a:srgbClr val="008013"/>
                </a:solidFill>
                <a:effectLst/>
                <a:latin typeface="Menlo"/>
              </a:rPr>
              <a:t>% initialization</a:t>
            </a:r>
            <a:endParaRPr lang="en-US" altLang="zh-CN" sz="1000" b="0" i="0">
              <a:effectLst/>
              <a:latin typeface="Menlo"/>
            </a:endParaRPr>
          </a:p>
          <a:p>
            <a:r>
              <a:rPr lang="en-US" altLang="zh-CN" sz="1000" b="0" i="0">
                <a:solidFill>
                  <a:srgbClr val="0E00FF"/>
                </a:solidFill>
                <a:effectLst/>
                <a:latin typeface="Menlo"/>
              </a:rPr>
              <a:t>for </a:t>
            </a:r>
            <a:r>
              <a:rPr lang="en-US" altLang="zh-CN" sz="1000" b="0" i="0">
                <a:effectLst/>
                <a:latin typeface="Menlo"/>
              </a:rPr>
              <a:t>i = 1:n_c</a:t>
            </a:r>
          </a:p>
          <a:p>
            <a:r>
              <a:rPr lang="en-US" altLang="zh-CN" sz="1000" b="0" i="0">
                <a:effectLst/>
                <a:latin typeface="Menlo"/>
              </a:rPr>
              <a:t>[h,p] = jbtest(Test(:,i),0.01);</a:t>
            </a:r>
          </a:p>
          <a:p>
            <a:r>
              <a:rPr lang="en-US" altLang="zh-CN" sz="1000" b="0" i="0">
                <a:effectLst/>
                <a:latin typeface="Menlo"/>
              </a:rPr>
              <a:t>H(i)=h;P(i)=p;</a:t>
            </a:r>
          </a:p>
          <a:p>
            <a:r>
              <a:rPr lang="en-US" altLang="zh-CN" sz="1000" b="0" i="0">
                <a:solidFill>
                  <a:srgbClr val="0E00FF"/>
                </a:solidFill>
                <a:effectLst/>
                <a:latin typeface="Menlo"/>
              </a:rPr>
              <a:t>end</a:t>
            </a:r>
            <a:endParaRPr lang="en-US" altLang="zh-CN" sz="1000" b="0" i="0">
              <a:effectLst/>
              <a:latin typeface="Menlo"/>
            </a:endParaRPr>
          </a:p>
          <a:p>
            <a:r>
              <a:rPr lang="en-US" altLang="zh-CN" sz="1000" b="0" i="0">
                <a:effectLst/>
                <a:latin typeface="Menlo"/>
              </a:rPr>
              <a:t>disp(H);disp(P);</a:t>
            </a:r>
          </a:p>
        </p:txBody>
      </p:sp>
      <p:sp>
        <p:nvSpPr>
          <p:cNvPr id="25" name="文本框 24">
            <a:extLst>
              <a:ext uri="{FF2B5EF4-FFF2-40B4-BE49-F238E27FC236}">
                <a16:creationId xmlns:a16="http://schemas.microsoft.com/office/drawing/2014/main" id="{21E68E15-9074-46D5-08F1-FFE4D76BC861}"/>
              </a:ext>
            </a:extLst>
          </p:cNvPr>
          <p:cNvSpPr txBox="1"/>
          <p:nvPr/>
        </p:nvSpPr>
        <p:spPr>
          <a:xfrm>
            <a:off x="256430" y="5686707"/>
            <a:ext cx="2720148" cy="338554"/>
          </a:xfrm>
          <a:prstGeom prst="rect">
            <a:avLst/>
          </a:prstGeom>
          <a:noFill/>
        </p:spPr>
        <p:txBody>
          <a:bodyPr wrap="square">
            <a:spAutoFit/>
          </a:bodyPr>
          <a:lstStyle/>
          <a:p>
            <a:r>
              <a:rPr lang="en-US" altLang="zh-CN" sz="800"/>
              <a:t>H</a:t>
            </a:r>
            <a:r>
              <a:rPr lang="zh-CN" altLang="en-US" sz="800"/>
              <a:t>：</a:t>
            </a:r>
            <a:r>
              <a:rPr lang="en-US" altLang="zh-CN" sz="800"/>
              <a:t>0            1             0            1            1            0</a:t>
            </a:r>
          </a:p>
          <a:p>
            <a:r>
              <a:rPr lang="en-US" altLang="zh-CN" sz="800"/>
              <a:t>P</a:t>
            </a:r>
            <a:r>
              <a:rPr lang="zh-CN" altLang="en-US" sz="800"/>
              <a:t>：</a:t>
            </a:r>
            <a:r>
              <a:rPr lang="en-US" altLang="zh-CN" sz="800"/>
              <a:t>0.0110    0.0010    0.0136    0.0010    0.0010    0.0393</a:t>
            </a:r>
            <a:endParaRPr lang="zh-CN" altLang="en-US" sz="800"/>
          </a:p>
        </p:txBody>
      </p:sp>
      <p:sp>
        <p:nvSpPr>
          <p:cNvPr id="29" name="文本框 28">
            <a:extLst>
              <a:ext uri="{FF2B5EF4-FFF2-40B4-BE49-F238E27FC236}">
                <a16:creationId xmlns:a16="http://schemas.microsoft.com/office/drawing/2014/main" id="{2C69E635-7F2B-2715-9E0F-2E2B52ACD711}"/>
              </a:ext>
            </a:extLst>
          </p:cNvPr>
          <p:cNvSpPr txBox="1"/>
          <p:nvPr/>
        </p:nvSpPr>
        <p:spPr>
          <a:xfrm>
            <a:off x="256430" y="6104975"/>
            <a:ext cx="3707359" cy="276999"/>
          </a:xfrm>
          <a:prstGeom prst="rect">
            <a:avLst/>
          </a:prstGeom>
          <a:noFill/>
        </p:spPr>
        <p:txBody>
          <a:bodyPr wrap="square">
            <a:spAutoFit/>
          </a:bodyPr>
          <a:lstStyle/>
          <a:p>
            <a:r>
              <a:rPr lang="zh-CN" altLang="en-US" sz="1200"/>
              <a:t>输出</a:t>
            </a:r>
            <a:r>
              <a:rPr lang="en-US" altLang="zh-CN" sz="1200"/>
              <a:t>h</a:t>
            </a:r>
            <a:r>
              <a:rPr lang="zh-CN" altLang="en-US" sz="1200"/>
              <a:t>等于</a:t>
            </a:r>
            <a:r>
              <a:rPr lang="en-US" altLang="zh-CN" sz="1200"/>
              <a:t>1</a:t>
            </a:r>
            <a:r>
              <a:rPr lang="zh-CN" altLang="en-US" sz="1200"/>
              <a:t>时，表示拒绝原假设，即不符合正态分布</a:t>
            </a: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47EFC9F-5AF9-A204-A710-E18804CF568C}"/>
                  </a:ext>
                </a:extLst>
              </p:cNvPr>
              <p:cNvSpPr txBox="1"/>
              <p:nvPr/>
            </p:nvSpPr>
            <p:spPr>
              <a:xfrm>
                <a:off x="5280215" y="853430"/>
                <a:ext cx="4055886" cy="369332"/>
              </a:xfrm>
              <a:prstGeom prst="rect">
                <a:avLst/>
              </a:prstGeom>
              <a:noFill/>
            </p:spPr>
            <p:txBody>
              <a:bodyPr wrap="square">
                <a:spAutoFit/>
              </a:bodyPr>
              <a:lstStyle/>
              <a:p>
                <a:r>
                  <a:rPr lang="en-US" altLang="zh-CN">
                    <a:latin typeface="优设标题黑" panose="00000500000000000000" pitchFamily="2" charset="-122"/>
                    <a:ea typeface="优设标题黑" panose="00000500000000000000" pitchFamily="2" charset="-122"/>
                  </a:rPr>
                  <a:t>Shapiro-wilk</a:t>
                </a:r>
                <a:r>
                  <a:rPr lang="zh-CN" altLang="en-US">
                    <a:latin typeface="优设标题黑" panose="00000500000000000000" pitchFamily="2" charset="-122"/>
                    <a:ea typeface="优设标题黑" panose="00000500000000000000" pitchFamily="2" charset="-122"/>
                  </a:rPr>
                  <a:t>检验（</a:t>
                </a:r>
                <a:r>
                  <a:rPr lang="zh-CN" altLang="en-US">
                    <a:solidFill>
                      <a:srgbClr val="FF0000"/>
                    </a:solidFill>
                    <a:latin typeface="优设标题黑" panose="00000500000000000000" pitchFamily="2" charset="-122"/>
                    <a:ea typeface="优设标题黑" panose="00000500000000000000" pitchFamily="2" charset="-122"/>
                  </a:rPr>
                  <a:t>小样本</a:t>
                </a:r>
                <a:r>
                  <a:rPr lang="en-US" altLang="zh-CN">
                    <a:solidFill>
                      <a:srgbClr val="FF0000"/>
                    </a:solidFill>
                    <a:latin typeface="优设标题黑" panose="00000500000000000000" pitchFamily="2" charset="-122"/>
                    <a:ea typeface="优设标题黑" panose="00000500000000000000" pitchFamily="2" charset="-122"/>
                  </a:rPr>
                  <a:t>3</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rPr>
                      <m:t>≤</m:t>
                    </m:r>
                  </m:oMath>
                </a14:m>
                <a:r>
                  <a:rPr lang="en-US" altLang="zh-CN">
                    <a:solidFill>
                      <a:srgbClr val="FF0000"/>
                    </a:solidFill>
                    <a:latin typeface="优设标题黑" panose="00000500000000000000" pitchFamily="2" charset="-122"/>
                    <a:ea typeface="优设标题黑" panose="00000500000000000000" pitchFamily="2" charset="-122"/>
                  </a:rPr>
                  <a:t>n</a:t>
                </a:r>
                <a14:m>
                  <m:oMath xmlns:m="http://schemas.openxmlformats.org/officeDocument/2006/math">
                    <m:r>
                      <a:rPr lang="en-US" altLang="zh-CN" i="1" smtClean="0">
                        <a:solidFill>
                          <a:srgbClr val="FF0000"/>
                        </a:solidFill>
                        <a:latin typeface="Cambria Math" panose="02040503050406030204" pitchFamily="18" charset="0"/>
                        <a:ea typeface="Cambria Math" panose="02040503050406030204" pitchFamily="18" charset="0"/>
                      </a:rPr>
                      <m:t>≤</m:t>
                    </m:r>
                  </m:oMath>
                </a14:m>
                <a:r>
                  <a:rPr lang="en-US" altLang="zh-CN">
                    <a:solidFill>
                      <a:srgbClr val="FF0000"/>
                    </a:solidFill>
                    <a:latin typeface="优设标题黑" panose="00000500000000000000" pitchFamily="2" charset="-122"/>
                    <a:ea typeface="优设标题黑" panose="00000500000000000000" pitchFamily="2" charset="-122"/>
                  </a:rPr>
                  <a:t>50</a:t>
                </a:r>
                <a:r>
                  <a:rPr lang="zh-CN" altLang="en-US">
                    <a:latin typeface="优设标题黑" panose="00000500000000000000" pitchFamily="2" charset="-122"/>
                    <a:ea typeface="优设标题黑" panose="00000500000000000000" pitchFamily="2" charset="-122"/>
                  </a:rPr>
                  <a:t>）</a:t>
                </a:r>
              </a:p>
            </p:txBody>
          </p:sp>
        </mc:Choice>
        <mc:Fallback xmlns="">
          <p:sp>
            <p:nvSpPr>
              <p:cNvPr id="33" name="文本框 32">
                <a:extLst>
                  <a:ext uri="{FF2B5EF4-FFF2-40B4-BE49-F238E27FC236}">
                    <a16:creationId xmlns:a16="http://schemas.microsoft.com/office/drawing/2014/main" id="{247EFC9F-5AF9-A204-A710-E18804CF568C}"/>
                  </a:ext>
                </a:extLst>
              </p:cNvPr>
              <p:cNvSpPr txBox="1">
                <a:spLocks noRot="1" noChangeAspect="1" noMove="1" noResize="1" noEditPoints="1" noAdjustHandles="1" noChangeArrowheads="1" noChangeShapeType="1" noTextEdit="1"/>
              </p:cNvSpPr>
              <p:nvPr/>
            </p:nvSpPr>
            <p:spPr>
              <a:xfrm>
                <a:off x="5280215" y="853430"/>
                <a:ext cx="4055886" cy="369332"/>
              </a:xfrm>
              <a:prstGeom prst="rect">
                <a:avLst/>
              </a:prstGeom>
              <a:blipFill>
                <a:blip r:embed="rId7"/>
                <a:stretch>
                  <a:fillRect l="-1201" t="-9836" r="-6757" b="-24590"/>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F7A4FD7A-A4EB-4F32-283E-5751E9897435}"/>
              </a:ext>
            </a:extLst>
          </p:cNvPr>
          <p:cNvSpPr txBox="1"/>
          <p:nvPr/>
        </p:nvSpPr>
        <p:spPr>
          <a:xfrm>
            <a:off x="6019161" y="1156199"/>
            <a:ext cx="2577993" cy="276999"/>
          </a:xfrm>
          <a:prstGeom prst="rect">
            <a:avLst/>
          </a:prstGeom>
          <a:noFill/>
        </p:spPr>
        <p:txBody>
          <a:bodyPr wrap="square">
            <a:spAutoFit/>
          </a:bodyPr>
          <a:lstStyle/>
          <a:p>
            <a:r>
              <a:rPr lang="en-US" altLang="zh-CN" sz="1200">
                <a:latin typeface="优设标题黑" panose="00000500000000000000" pitchFamily="2" charset="-122"/>
                <a:ea typeface="优设标题黑" panose="00000500000000000000" pitchFamily="2" charset="-122"/>
              </a:rPr>
              <a:t>Shapiro‐Wilk</a:t>
            </a:r>
            <a:r>
              <a:rPr lang="zh-CN" altLang="en-US" sz="1200">
                <a:latin typeface="优设标题黑" panose="00000500000000000000" pitchFamily="2" charset="-122"/>
                <a:ea typeface="优设标题黑" panose="00000500000000000000" pitchFamily="2" charset="-122"/>
              </a:rPr>
              <a:t>夏皮洛</a:t>
            </a:r>
            <a:r>
              <a:rPr lang="en-US" altLang="zh-CN" sz="1200">
                <a:latin typeface="优设标题黑" panose="00000500000000000000" pitchFamily="2" charset="-122"/>
                <a:ea typeface="优设标题黑" panose="00000500000000000000" pitchFamily="2" charset="-122"/>
              </a:rPr>
              <a:t>‐</a:t>
            </a:r>
            <a:r>
              <a:rPr lang="zh-CN" altLang="en-US" sz="1200">
                <a:latin typeface="优设标题黑" panose="00000500000000000000" pitchFamily="2" charset="-122"/>
                <a:ea typeface="优设标题黑" panose="00000500000000000000" pitchFamily="2" charset="-122"/>
              </a:rPr>
              <a:t>威尔克检验</a:t>
            </a:r>
          </a:p>
        </p:txBody>
      </p:sp>
      <p:pic>
        <p:nvPicPr>
          <p:cNvPr id="41" name="图片 40">
            <a:extLst>
              <a:ext uri="{FF2B5EF4-FFF2-40B4-BE49-F238E27FC236}">
                <a16:creationId xmlns:a16="http://schemas.microsoft.com/office/drawing/2014/main" id="{6D300707-E50A-B5D0-7223-B8272A792CB3}"/>
              </a:ext>
            </a:extLst>
          </p:cNvPr>
          <p:cNvPicPr>
            <a:picLocks noChangeAspect="1"/>
          </p:cNvPicPr>
          <p:nvPr/>
        </p:nvPicPr>
        <p:blipFill rotWithShape="1">
          <a:blip r:embed="rId8"/>
          <a:srcRect r="-2170" b="-842"/>
          <a:stretch/>
        </p:blipFill>
        <p:spPr>
          <a:xfrm>
            <a:off x="5280215" y="1428984"/>
            <a:ext cx="3902205" cy="1855568"/>
          </a:xfrm>
          <a:prstGeom prst="rect">
            <a:avLst/>
          </a:prstGeom>
        </p:spPr>
      </p:pic>
      <p:sp>
        <p:nvSpPr>
          <p:cNvPr id="42" name="文本框 41">
            <a:extLst>
              <a:ext uri="{FF2B5EF4-FFF2-40B4-BE49-F238E27FC236}">
                <a16:creationId xmlns:a16="http://schemas.microsoft.com/office/drawing/2014/main" id="{A49A4A58-D7A4-B86B-A800-52F55EFEB302}"/>
              </a:ext>
            </a:extLst>
          </p:cNvPr>
          <p:cNvSpPr txBox="1"/>
          <p:nvPr/>
        </p:nvSpPr>
        <p:spPr>
          <a:xfrm>
            <a:off x="9254361" y="2720148"/>
            <a:ext cx="1221760" cy="276999"/>
          </a:xfrm>
          <a:prstGeom prst="rect">
            <a:avLst/>
          </a:prstGeom>
          <a:noFill/>
        </p:spPr>
        <p:txBody>
          <a:bodyPr wrap="square" rtlCol="0">
            <a:spAutoFit/>
          </a:bodyPr>
          <a:lstStyle/>
          <a:p>
            <a:r>
              <a:rPr lang="zh-CN" altLang="en-US" sz="1200"/>
              <a:t>利用</a:t>
            </a:r>
            <a:r>
              <a:rPr lang="en-US" altLang="zh-CN" sz="1200">
                <a:solidFill>
                  <a:srgbClr val="FF0000"/>
                </a:solidFill>
              </a:rPr>
              <a:t>SPSS</a:t>
            </a:r>
            <a:r>
              <a:rPr lang="zh-CN" altLang="en-US" sz="1200"/>
              <a:t>检验</a:t>
            </a:r>
          </a:p>
        </p:txBody>
      </p:sp>
      <p:sp>
        <p:nvSpPr>
          <p:cNvPr id="43" name="矩形 42">
            <a:extLst>
              <a:ext uri="{FF2B5EF4-FFF2-40B4-BE49-F238E27FC236}">
                <a16:creationId xmlns:a16="http://schemas.microsoft.com/office/drawing/2014/main" id="{A197302A-005B-3266-3C3A-55D216608D61}"/>
              </a:ext>
            </a:extLst>
          </p:cNvPr>
          <p:cNvSpPr/>
          <p:nvPr/>
        </p:nvSpPr>
        <p:spPr>
          <a:xfrm>
            <a:off x="7535252" y="1639420"/>
            <a:ext cx="1647168" cy="1513755"/>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DB65861B-E9AB-BAD3-ABD7-0FC7EE54BFD7}"/>
              </a:ext>
            </a:extLst>
          </p:cNvPr>
          <p:cNvSpPr/>
          <p:nvPr/>
        </p:nvSpPr>
        <p:spPr>
          <a:xfrm>
            <a:off x="8499821" y="1814044"/>
            <a:ext cx="609824" cy="127878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7A6E4D0E-FD03-7FF7-C115-C300278462B9}"/>
              </a:ext>
            </a:extLst>
          </p:cNvPr>
          <p:cNvSpPr txBox="1"/>
          <p:nvPr/>
        </p:nvSpPr>
        <p:spPr>
          <a:xfrm>
            <a:off x="5280215" y="3417841"/>
            <a:ext cx="4055886" cy="369332"/>
          </a:xfrm>
          <a:prstGeom prst="rect">
            <a:avLst/>
          </a:prstGeom>
          <a:noFill/>
        </p:spPr>
        <p:txBody>
          <a:bodyPr wrap="square">
            <a:spAutoFit/>
          </a:bodyPr>
          <a:lstStyle/>
          <a:p>
            <a:r>
              <a:rPr lang="en-US" altLang="zh-CN">
                <a:latin typeface="优设标题黑" panose="00000500000000000000" pitchFamily="2" charset="-122"/>
                <a:ea typeface="优设标题黑" panose="00000500000000000000" pitchFamily="2" charset="-122"/>
              </a:rPr>
              <a:t>Q-Q</a:t>
            </a:r>
            <a:r>
              <a:rPr lang="zh-CN" altLang="en-US">
                <a:latin typeface="优设标题黑" panose="00000500000000000000" pitchFamily="2" charset="-122"/>
                <a:ea typeface="优设标题黑" panose="00000500000000000000" pitchFamily="2" charset="-122"/>
              </a:rPr>
              <a:t>图检验（</a:t>
            </a:r>
            <a:r>
              <a:rPr lang="zh-CN" altLang="en-US">
                <a:solidFill>
                  <a:srgbClr val="FF0000"/>
                </a:solidFill>
                <a:latin typeface="优设标题黑" panose="00000500000000000000" pitchFamily="2" charset="-122"/>
                <a:ea typeface="优设标题黑" panose="00000500000000000000" pitchFamily="2" charset="-122"/>
              </a:rPr>
              <a:t>极大样本</a:t>
            </a:r>
            <a:r>
              <a:rPr lang="zh-CN" altLang="en-US">
                <a:latin typeface="优设标题黑" panose="00000500000000000000" pitchFamily="2" charset="-122"/>
                <a:ea typeface="优设标题黑" panose="00000500000000000000" pitchFamily="2" charset="-122"/>
              </a:rPr>
              <a:t>）</a:t>
            </a:r>
          </a:p>
        </p:txBody>
      </p:sp>
      <p:sp>
        <p:nvSpPr>
          <p:cNvPr id="49" name="文本框 48">
            <a:extLst>
              <a:ext uri="{FF2B5EF4-FFF2-40B4-BE49-F238E27FC236}">
                <a16:creationId xmlns:a16="http://schemas.microsoft.com/office/drawing/2014/main" id="{52086781-A04D-397F-339C-13B9483F01C1}"/>
              </a:ext>
            </a:extLst>
          </p:cNvPr>
          <p:cNvSpPr txBox="1"/>
          <p:nvPr/>
        </p:nvSpPr>
        <p:spPr>
          <a:xfrm>
            <a:off x="5185219" y="3807956"/>
            <a:ext cx="5159828" cy="707886"/>
          </a:xfrm>
          <a:prstGeom prst="rect">
            <a:avLst/>
          </a:prstGeom>
          <a:noFill/>
        </p:spPr>
        <p:txBody>
          <a:bodyPr wrap="square">
            <a:spAutoFit/>
          </a:bodyPr>
          <a:lstStyle/>
          <a:p>
            <a:r>
              <a:rPr lang="en-US" altLang="zh-CN" sz="1000" b="0" i="0">
                <a:effectLst/>
                <a:latin typeface="Menlo"/>
              </a:rPr>
              <a:t>x = normrnd(2,3,10000,1); </a:t>
            </a:r>
            <a:r>
              <a:rPr lang="en-US" altLang="zh-CN" sz="1000" b="0" i="0">
                <a:solidFill>
                  <a:srgbClr val="008013"/>
                </a:solidFill>
                <a:effectLst/>
                <a:latin typeface="Menlo"/>
              </a:rPr>
              <a:t>% </a:t>
            </a:r>
            <a:r>
              <a:rPr lang="zh-CN" altLang="en-US" sz="1000" b="0" i="0">
                <a:solidFill>
                  <a:srgbClr val="008013"/>
                </a:solidFill>
                <a:effectLst/>
                <a:latin typeface="Menlo"/>
              </a:rPr>
              <a:t>生成</a:t>
            </a:r>
            <a:r>
              <a:rPr lang="en-US" altLang="zh-CN" sz="1000" b="0" i="0">
                <a:solidFill>
                  <a:srgbClr val="008013"/>
                </a:solidFill>
                <a:effectLst/>
                <a:latin typeface="Menlo"/>
              </a:rPr>
              <a:t>100*1</a:t>
            </a:r>
            <a:r>
              <a:rPr lang="zh-CN" altLang="en-US" sz="1000" b="0" i="0">
                <a:solidFill>
                  <a:srgbClr val="008013"/>
                </a:solidFill>
                <a:effectLst/>
                <a:latin typeface="Menlo"/>
              </a:rPr>
              <a:t>的随机向量，符合均值为</a:t>
            </a:r>
            <a:r>
              <a:rPr lang="en-US" altLang="zh-CN" sz="1000" b="0" i="0">
                <a:solidFill>
                  <a:srgbClr val="008013"/>
                </a:solidFill>
                <a:effectLst/>
                <a:latin typeface="Menlo"/>
              </a:rPr>
              <a:t>2</a:t>
            </a:r>
            <a:r>
              <a:rPr lang="zh-CN" altLang="en-US" sz="1000" b="0" i="0">
                <a:solidFill>
                  <a:srgbClr val="008013"/>
                </a:solidFill>
                <a:effectLst/>
                <a:latin typeface="Menlo"/>
              </a:rPr>
              <a:t>，标准差为</a:t>
            </a:r>
            <a:r>
              <a:rPr lang="en-US" altLang="zh-CN" sz="1000" b="0" i="0">
                <a:solidFill>
                  <a:srgbClr val="008013"/>
                </a:solidFill>
                <a:effectLst/>
                <a:latin typeface="Menlo"/>
              </a:rPr>
              <a:t>3</a:t>
            </a:r>
            <a:r>
              <a:rPr lang="zh-CN" altLang="en-US" sz="1000" b="0" i="0">
                <a:solidFill>
                  <a:srgbClr val="008013"/>
                </a:solidFill>
                <a:effectLst/>
                <a:latin typeface="Menlo"/>
              </a:rPr>
              <a:t>的正态分布</a:t>
            </a:r>
            <a:endParaRPr lang="zh-CN" altLang="en-US" sz="1000" b="0" i="0">
              <a:effectLst/>
              <a:latin typeface="Menlo"/>
            </a:endParaRPr>
          </a:p>
          <a:p>
            <a:r>
              <a:rPr lang="en-US" altLang="zh-CN" sz="1000" b="0" i="0">
                <a:effectLst/>
                <a:latin typeface="Menlo"/>
              </a:rPr>
              <a:t>skewness(x) </a:t>
            </a:r>
            <a:r>
              <a:rPr lang="en-US" altLang="zh-CN" sz="1000" b="0" i="0">
                <a:solidFill>
                  <a:srgbClr val="008013"/>
                </a:solidFill>
                <a:effectLst/>
                <a:latin typeface="Menlo"/>
              </a:rPr>
              <a:t>%</a:t>
            </a:r>
            <a:r>
              <a:rPr lang="zh-CN" altLang="en-US" sz="1000" b="0" i="0">
                <a:solidFill>
                  <a:srgbClr val="008013"/>
                </a:solidFill>
                <a:effectLst/>
                <a:latin typeface="Menlo"/>
              </a:rPr>
              <a:t>偏度</a:t>
            </a:r>
            <a:endParaRPr lang="zh-CN" altLang="en-US" sz="1000" b="0" i="0">
              <a:effectLst/>
              <a:latin typeface="Menlo"/>
            </a:endParaRPr>
          </a:p>
          <a:p>
            <a:r>
              <a:rPr lang="en-US" altLang="zh-CN" sz="1000" b="0" i="0">
                <a:effectLst/>
                <a:latin typeface="Menlo"/>
              </a:rPr>
              <a:t>kurtosis(x) </a:t>
            </a:r>
            <a:r>
              <a:rPr lang="en-US" altLang="zh-CN" sz="1000" b="0" i="0">
                <a:solidFill>
                  <a:srgbClr val="008013"/>
                </a:solidFill>
                <a:effectLst/>
                <a:latin typeface="Menlo"/>
              </a:rPr>
              <a:t>%</a:t>
            </a:r>
            <a:r>
              <a:rPr lang="zh-CN" altLang="en-US" sz="1000" b="0" i="0">
                <a:solidFill>
                  <a:srgbClr val="008013"/>
                </a:solidFill>
                <a:effectLst/>
                <a:latin typeface="Menlo"/>
              </a:rPr>
              <a:t>峰度</a:t>
            </a:r>
            <a:endParaRPr lang="zh-CN" altLang="en-US" sz="1000" b="0" i="0">
              <a:effectLst/>
              <a:latin typeface="Menlo"/>
            </a:endParaRPr>
          </a:p>
          <a:p>
            <a:r>
              <a:rPr lang="en-US" altLang="zh-CN" sz="1000" b="0" i="0">
                <a:effectLst/>
                <a:latin typeface="Menlo"/>
              </a:rPr>
              <a:t>qqplot(x) </a:t>
            </a:r>
          </a:p>
        </p:txBody>
      </p:sp>
      <p:pic>
        <p:nvPicPr>
          <p:cNvPr id="54" name="图片 53">
            <a:extLst>
              <a:ext uri="{FF2B5EF4-FFF2-40B4-BE49-F238E27FC236}">
                <a16:creationId xmlns:a16="http://schemas.microsoft.com/office/drawing/2014/main" id="{7D9787FE-DE6D-1067-B636-568645B1AC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20048" y="4517613"/>
            <a:ext cx="2430408" cy="1822806"/>
          </a:xfrm>
          <a:prstGeom prst="rect">
            <a:avLst/>
          </a:prstGeom>
        </p:spPr>
      </p:pic>
      <p:sp>
        <p:nvSpPr>
          <p:cNvPr id="55" name="文本框 54">
            <a:extLst>
              <a:ext uri="{FF2B5EF4-FFF2-40B4-BE49-F238E27FC236}">
                <a16:creationId xmlns:a16="http://schemas.microsoft.com/office/drawing/2014/main" id="{50BEFCEA-C356-FBDC-E951-F9547DE93176}"/>
              </a:ext>
            </a:extLst>
          </p:cNvPr>
          <p:cNvSpPr txBox="1"/>
          <p:nvPr/>
        </p:nvSpPr>
        <p:spPr>
          <a:xfrm>
            <a:off x="6096000" y="6366230"/>
            <a:ext cx="2966926" cy="461665"/>
          </a:xfrm>
          <a:prstGeom prst="rect">
            <a:avLst/>
          </a:prstGeom>
          <a:noFill/>
        </p:spPr>
        <p:txBody>
          <a:bodyPr wrap="square" rtlCol="0">
            <a:spAutoFit/>
          </a:bodyPr>
          <a:lstStyle/>
          <a:p>
            <a:r>
              <a:rPr lang="zh-CN" altLang="en-US" sz="1200"/>
              <a:t>如果要检验的随机变量是正态分布，那么</a:t>
            </a:r>
            <a:r>
              <a:rPr lang="en-US" altLang="zh-CN" sz="1200"/>
              <a:t>QQ</a:t>
            </a:r>
            <a:r>
              <a:rPr lang="zh-CN" altLang="en-US" sz="1200"/>
              <a:t>图就是</a:t>
            </a:r>
            <a:r>
              <a:rPr lang="zh-CN" altLang="en-US" sz="1200">
                <a:solidFill>
                  <a:srgbClr val="FF0000"/>
                </a:solidFill>
              </a:rPr>
              <a:t>一条直线</a:t>
            </a:r>
          </a:p>
        </p:txBody>
      </p:sp>
      <p:cxnSp>
        <p:nvCxnSpPr>
          <p:cNvPr id="57" name="直接连接符 56">
            <a:extLst>
              <a:ext uri="{FF2B5EF4-FFF2-40B4-BE49-F238E27FC236}">
                <a16:creationId xmlns:a16="http://schemas.microsoft.com/office/drawing/2014/main" id="{2E80B6FE-2084-BA95-43F0-9C60A4062633}"/>
              </a:ext>
            </a:extLst>
          </p:cNvPr>
          <p:cNvCxnSpPr>
            <a:cxnSpLocks/>
          </p:cNvCxnSpPr>
          <p:nvPr/>
        </p:nvCxnSpPr>
        <p:spPr>
          <a:xfrm>
            <a:off x="-6060" y="788574"/>
            <a:ext cx="12192000" cy="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450A4209-85C7-2E30-6EF6-B07AB2F1BB32}"/>
              </a:ext>
            </a:extLst>
          </p:cNvPr>
          <p:cNvCxnSpPr>
            <a:cxnSpLocks/>
          </p:cNvCxnSpPr>
          <p:nvPr/>
        </p:nvCxnSpPr>
        <p:spPr>
          <a:xfrm>
            <a:off x="4790666" y="788574"/>
            <a:ext cx="0" cy="6069426"/>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41AC10D-D983-AD8E-8B63-C30844F116F7}"/>
              </a:ext>
            </a:extLst>
          </p:cNvPr>
          <p:cNvCxnSpPr>
            <a:cxnSpLocks/>
          </p:cNvCxnSpPr>
          <p:nvPr/>
        </p:nvCxnSpPr>
        <p:spPr>
          <a:xfrm>
            <a:off x="4790666" y="3380666"/>
            <a:ext cx="7395274" cy="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767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折角 31">
            <a:extLst>
              <a:ext uri="{FF2B5EF4-FFF2-40B4-BE49-F238E27FC236}">
                <a16:creationId xmlns:a16="http://schemas.microsoft.com/office/drawing/2014/main" id="{53B3AD49-AB1E-F8FB-BEEE-42CEDB2CD872}"/>
              </a:ext>
            </a:extLst>
          </p:cNvPr>
          <p:cNvSpPr/>
          <p:nvPr/>
        </p:nvSpPr>
        <p:spPr>
          <a:xfrm>
            <a:off x="3396580" y="5429353"/>
            <a:ext cx="3023989" cy="1210164"/>
          </a:xfrm>
          <a:prstGeom prst="foldedCorner">
            <a:avLst>
              <a:gd name="adj" fmla="val 33457"/>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折角 28">
            <a:extLst>
              <a:ext uri="{FF2B5EF4-FFF2-40B4-BE49-F238E27FC236}">
                <a16:creationId xmlns:a16="http://schemas.microsoft.com/office/drawing/2014/main" id="{04D1B463-10FE-1595-CA25-B330480E9F6C}"/>
              </a:ext>
            </a:extLst>
          </p:cNvPr>
          <p:cNvSpPr/>
          <p:nvPr/>
        </p:nvSpPr>
        <p:spPr>
          <a:xfrm>
            <a:off x="5274307" y="3450539"/>
            <a:ext cx="3906937" cy="788217"/>
          </a:xfrm>
          <a:prstGeom prst="foldedCorner">
            <a:avLst>
              <a:gd name="adj" fmla="val 4242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折角 13">
            <a:extLst>
              <a:ext uri="{FF2B5EF4-FFF2-40B4-BE49-F238E27FC236}">
                <a16:creationId xmlns:a16="http://schemas.microsoft.com/office/drawing/2014/main" id="{A35B8F4B-9329-C6B1-AF61-402C9B16E6B9}"/>
              </a:ext>
            </a:extLst>
          </p:cNvPr>
          <p:cNvSpPr/>
          <p:nvPr/>
        </p:nvSpPr>
        <p:spPr>
          <a:xfrm>
            <a:off x="4634406" y="730339"/>
            <a:ext cx="1643385" cy="593579"/>
          </a:xfrm>
          <a:prstGeom prst="foldedCorner">
            <a:avLst>
              <a:gd name="adj" fmla="val 42422"/>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EEAD577F-0FE5-5081-FCC2-5E7AB9C431DD}"/>
              </a:ext>
            </a:extLst>
          </p:cNvPr>
          <p:cNvSpPr/>
          <p:nvPr/>
        </p:nvSpPr>
        <p:spPr>
          <a:xfrm>
            <a:off x="6669689" y="4690446"/>
            <a:ext cx="2980929" cy="47968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04C52D1E-446A-68B4-A772-5541F6CE410C}"/>
              </a:ext>
            </a:extLst>
          </p:cNvPr>
          <p:cNvSpPr/>
          <p:nvPr/>
        </p:nvSpPr>
        <p:spPr>
          <a:xfrm>
            <a:off x="1906116" y="3595928"/>
            <a:ext cx="2980929" cy="73804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AFF3FFB5-1BE1-9F55-8FA3-DDFAE2BA2956}"/>
              </a:ext>
            </a:extLst>
          </p:cNvPr>
          <p:cNvSpPr/>
          <p:nvPr/>
        </p:nvSpPr>
        <p:spPr>
          <a:xfrm>
            <a:off x="9730830" y="4690446"/>
            <a:ext cx="2367681" cy="120513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629FAF4-3C03-5E37-2087-D10FB5D060BA}"/>
              </a:ext>
            </a:extLst>
          </p:cNvPr>
          <p:cNvSpPr txBox="1"/>
          <p:nvPr/>
        </p:nvSpPr>
        <p:spPr>
          <a:xfrm>
            <a:off x="40982" y="81126"/>
            <a:ext cx="7059065"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皮尔逊相关系数</a:t>
            </a:r>
            <a:r>
              <a:rPr lang="en-US" altLang="zh-CN" sz="4400">
                <a:solidFill>
                  <a:schemeClr val="accent5"/>
                </a:solidFill>
                <a:latin typeface="三极泼墨体" panose="00000500000000000000" pitchFamily="2" charset="-122"/>
                <a:ea typeface="三极泼墨体" panose="00000500000000000000" pitchFamily="2" charset="-122"/>
              </a:rPr>
              <a:t>-</a:t>
            </a:r>
            <a:r>
              <a:rPr kumimoji="0" lang="zh-CN" altLang="en-US" sz="4400" b="0" i="0" u="none" strike="noStrike" kern="1200" cap="none" spc="0" normalizeH="0" baseline="0" noProof="0">
                <a:ln>
                  <a:noFill/>
                </a:ln>
                <a:solidFill>
                  <a:srgbClr val="5B9BD5"/>
                </a:solidFill>
                <a:effectLst/>
                <a:uLnTx/>
                <a:uFillTx/>
                <a:latin typeface="三极泼墨体" panose="00000500000000000000" pitchFamily="2" charset="-122"/>
                <a:ea typeface="三极泼墨体" panose="00000500000000000000" pitchFamily="2" charset="-122"/>
                <a:cs typeface="+mn-cs"/>
              </a:rPr>
              <a:t>假设检验</a:t>
            </a:r>
            <a:endParaRPr lang="zh-CN" altLang="en-US" sz="4400"/>
          </a:p>
        </p:txBody>
      </p:sp>
      <p:graphicFrame>
        <p:nvGraphicFramePr>
          <p:cNvPr id="4" name="对象 3">
            <a:extLst>
              <a:ext uri="{FF2B5EF4-FFF2-40B4-BE49-F238E27FC236}">
                <a16:creationId xmlns:a16="http://schemas.microsoft.com/office/drawing/2014/main" id="{6C7F8D12-A221-39C7-6D9D-550CA1416425}"/>
              </a:ext>
            </a:extLst>
          </p:cNvPr>
          <p:cNvGraphicFramePr>
            <a:graphicFrameLocks noChangeAspect="1"/>
          </p:cNvGraphicFramePr>
          <p:nvPr>
            <p:extLst>
              <p:ext uri="{D42A27DB-BD31-4B8C-83A1-F6EECF244321}">
                <p14:modId xmlns:p14="http://schemas.microsoft.com/office/powerpoint/2010/main" val="354801394"/>
              </p:ext>
            </p:extLst>
          </p:nvPr>
        </p:nvGraphicFramePr>
        <p:xfrm>
          <a:off x="184270" y="823473"/>
          <a:ext cx="4315123" cy="321225"/>
        </p:xfrm>
        <a:graphic>
          <a:graphicData uri="http://schemas.openxmlformats.org/presentationml/2006/ole">
            <mc:AlternateContent xmlns:mc="http://schemas.openxmlformats.org/markup-compatibility/2006">
              <mc:Choice xmlns:v="urn:schemas-microsoft-com:vml" Requires="v">
                <p:oleObj name="AxMath" r:id="rId2" imgW="2558880" imgH="190800" progId="Equation.AxMath">
                  <p:embed/>
                </p:oleObj>
              </mc:Choice>
              <mc:Fallback>
                <p:oleObj name="AxMath" r:id="rId2" imgW="2558880" imgH="190800" progId="Equation.AxMath">
                  <p:embed/>
                  <p:pic>
                    <p:nvPicPr>
                      <p:cNvPr id="0" name=""/>
                      <p:cNvPicPr/>
                      <p:nvPr/>
                    </p:nvPicPr>
                    <p:blipFill>
                      <a:blip r:embed="rId3"/>
                      <a:stretch>
                        <a:fillRect/>
                      </a:stretch>
                    </p:blipFill>
                    <p:spPr>
                      <a:xfrm>
                        <a:off x="184270" y="823473"/>
                        <a:ext cx="4315123" cy="321225"/>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E229A4A2-A3AA-74FB-A3C4-EF1A57B86047}"/>
              </a:ext>
            </a:extLst>
          </p:cNvPr>
          <p:cNvGraphicFramePr>
            <a:graphicFrameLocks noChangeAspect="1"/>
          </p:cNvGraphicFramePr>
          <p:nvPr>
            <p:extLst>
              <p:ext uri="{D42A27DB-BD31-4B8C-83A1-F6EECF244321}">
                <p14:modId xmlns:p14="http://schemas.microsoft.com/office/powerpoint/2010/main" val="42537292"/>
              </p:ext>
            </p:extLst>
          </p:nvPr>
        </p:nvGraphicFramePr>
        <p:xfrm>
          <a:off x="139720" y="1396276"/>
          <a:ext cx="5624115" cy="321225"/>
        </p:xfrm>
        <a:graphic>
          <a:graphicData uri="http://schemas.openxmlformats.org/presentationml/2006/ole">
            <mc:AlternateContent xmlns:mc="http://schemas.openxmlformats.org/markup-compatibility/2006">
              <mc:Choice xmlns:v="urn:schemas-microsoft-com:vml" Requires="v">
                <p:oleObj name="AxMath" r:id="rId4" imgW="3335760" imgH="190800" progId="Equation.AxMath">
                  <p:embed/>
                </p:oleObj>
              </mc:Choice>
              <mc:Fallback>
                <p:oleObj name="AxMath" r:id="rId4" imgW="3335760" imgH="190800" progId="Equation.AxMath">
                  <p:embed/>
                  <p:pic>
                    <p:nvPicPr>
                      <p:cNvPr id="0" name=""/>
                      <p:cNvPicPr/>
                      <p:nvPr/>
                    </p:nvPicPr>
                    <p:blipFill>
                      <a:blip r:embed="rId5"/>
                      <a:stretch>
                        <a:fillRect/>
                      </a:stretch>
                    </p:blipFill>
                    <p:spPr>
                      <a:xfrm>
                        <a:off x="139720" y="1396276"/>
                        <a:ext cx="5624115" cy="321225"/>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DB468071-CD74-485B-9F7B-A487637674EA}"/>
              </a:ext>
            </a:extLst>
          </p:cNvPr>
          <p:cNvGraphicFramePr>
            <a:graphicFrameLocks noChangeAspect="1"/>
          </p:cNvGraphicFramePr>
          <p:nvPr>
            <p:extLst>
              <p:ext uri="{D42A27DB-BD31-4B8C-83A1-F6EECF244321}">
                <p14:modId xmlns:p14="http://schemas.microsoft.com/office/powerpoint/2010/main" val="2972493635"/>
              </p:ext>
            </p:extLst>
          </p:nvPr>
        </p:nvGraphicFramePr>
        <p:xfrm>
          <a:off x="778802" y="1668639"/>
          <a:ext cx="3216896" cy="258213"/>
        </p:xfrm>
        <a:graphic>
          <a:graphicData uri="http://schemas.openxmlformats.org/presentationml/2006/ole">
            <mc:AlternateContent xmlns:mc="http://schemas.openxmlformats.org/markup-compatibility/2006">
              <mc:Choice xmlns:v="urn:schemas-microsoft-com:vml" Requires="v">
                <p:oleObj name="AxMath" r:id="rId6" imgW="2373120" imgH="190800" progId="Equation.AxMath">
                  <p:embed/>
                </p:oleObj>
              </mc:Choice>
              <mc:Fallback>
                <p:oleObj name="AxMath" r:id="rId6" imgW="2373120" imgH="190800" progId="Equation.AxMath">
                  <p:embed/>
                  <p:pic>
                    <p:nvPicPr>
                      <p:cNvPr id="0" name=""/>
                      <p:cNvPicPr/>
                      <p:nvPr/>
                    </p:nvPicPr>
                    <p:blipFill>
                      <a:blip r:embed="rId7"/>
                      <a:stretch>
                        <a:fillRect/>
                      </a:stretch>
                    </p:blipFill>
                    <p:spPr>
                      <a:xfrm>
                        <a:off x="778802" y="1668639"/>
                        <a:ext cx="3216896" cy="258213"/>
                      </a:xfrm>
                      <a:prstGeom prst="rect">
                        <a:avLst/>
                      </a:prstGeom>
                    </p:spPr>
                  </p:pic>
                </p:oleObj>
              </mc:Fallback>
            </mc:AlternateContent>
          </a:graphicData>
        </a:graphic>
      </p:graphicFrame>
      <p:graphicFrame>
        <p:nvGraphicFramePr>
          <p:cNvPr id="38" name="对象 37">
            <a:extLst>
              <a:ext uri="{FF2B5EF4-FFF2-40B4-BE49-F238E27FC236}">
                <a16:creationId xmlns:a16="http://schemas.microsoft.com/office/drawing/2014/main" id="{4AED58AD-8C68-C386-0F13-E6CA5612524F}"/>
              </a:ext>
            </a:extLst>
          </p:cNvPr>
          <p:cNvGraphicFramePr>
            <a:graphicFrameLocks noChangeAspect="1"/>
          </p:cNvGraphicFramePr>
          <p:nvPr>
            <p:extLst>
              <p:ext uri="{D42A27DB-BD31-4B8C-83A1-F6EECF244321}">
                <p14:modId xmlns:p14="http://schemas.microsoft.com/office/powerpoint/2010/main" val="2124855617"/>
              </p:ext>
            </p:extLst>
          </p:nvPr>
        </p:nvGraphicFramePr>
        <p:xfrm>
          <a:off x="184270" y="2364271"/>
          <a:ext cx="3740398" cy="318548"/>
        </p:xfrm>
        <a:graphic>
          <a:graphicData uri="http://schemas.openxmlformats.org/presentationml/2006/ole">
            <mc:AlternateContent xmlns:mc="http://schemas.openxmlformats.org/markup-compatibility/2006">
              <mc:Choice xmlns:v="urn:schemas-microsoft-com:vml" Requires="v">
                <p:oleObj name="AxMath" r:id="rId8" imgW="2229120" imgH="189000" progId="Equation.AxMath">
                  <p:embed/>
                </p:oleObj>
              </mc:Choice>
              <mc:Fallback>
                <p:oleObj name="AxMath" r:id="rId8" imgW="2229120" imgH="189000" progId="Equation.AxMath">
                  <p:embed/>
                  <p:pic>
                    <p:nvPicPr>
                      <p:cNvPr id="0" name=""/>
                      <p:cNvPicPr/>
                      <p:nvPr/>
                    </p:nvPicPr>
                    <p:blipFill>
                      <a:blip r:embed="rId9"/>
                      <a:stretch>
                        <a:fillRect/>
                      </a:stretch>
                    </p:blipFill>
                    <p:spPr>
                      <a:xfrm>
                        <a:off x="184270" y="2364271"/>
                        <a:ext cx="3740398" cy="318548"/>
                      </a:xfrm>
                      <a:prstGeom prst="rect">
                        <a:avLst/>
                      </a:prstGeom>
                    </p:spPr>
                  </p:pic>
                </p:oleObj>
              </mc:Fallback>
            </mc:AlternateContent>
          </a:graphicData>
        </a:graphic>
      </p:graphicFrame>
      <p:graphicFrame>
        <p:nvGraphicFramePr>
          <p:cNvPr id="39" name="对象 38">
            <a:extLst>
              <a:ext uri="{FF2B5EF4-FFF2-40B4-BE49-F238E27FC236}">
                <a16:creationId xmlns:a16="http://schemas.microsoft.com/office/drawing/2014/main" id="{52983329-A701-D4C9-599B-E1D75F5F0983}"/>
              </a:ext>
            </a:extLst>
          </p:cNvPr>
          <p:cNvGraphicFramePr>
            <a:graphicFrameLocks noChangeAspect="1"/>
          </p:cNvGraphicFramePr>
          <p:nvPr>
            <p:extLst>
              <p:ext uri="{D42A27DB-BD31-4B8C-83A1-F6EECF244321}">
                <p14:modId xmlns:p14="http://schemas.microsoft.com/office/powerpoint/2010/main" val="2019634727"/>
              </p:ext>
            </p:extLst>
          </p:nvPr>
        </p:nvGraphicFramePr>
        <p:xfrm>
          <a:off x="167379" y="3120742"/>
          <a:ext cx="8924695" cy="318548"/>
        </p:xfrm>
        <a:graphic>
          <a:graphicData uri="http://schemas.openxmlformats.org/presentationml/2006/ole">
            <mc:AlternateContent xmlns:mc="http://schemas.openxmlformats.org/markup-compatibility/2006">
              <mc:Choice xmlns:v="urn:schemas-microsoft-com:vml" Requires="v">
                <p:oleObj name="AxMath" r:id="rId10" imgW="5293080" imgH="189000" progId="Equation.AxMath">
                  <p:embed/>
                </p:oleObj>
              </mc:Choice>
              <mc:Fallback>
                <p:oleObj name="AxMath" r:id="rId10" imgW="5293080" imgH="189000" progId="Equation.AxMath">
                  <p:embed/>
                  <p:pic>
                    <p:nvPicPr>
                      <p:cNvPr id="0" name=""/>
                      <p:cNvPicPr/>
                      <p:nvPr/>
                    </p:nvPicPr>
                    <p:blipFill>
                      <a:blip r:embed="rId11"/>
                      <a:stretch>
                        <a:fillRect/>
                      </a:stretch>
                    </p:blipFill>
                    <p:spPr>
                      <a:xfrm>
                        <a:off x="167379" y="3120742"/>
                        <a:ext cx="8924695" cy="318548"/>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FABDA3B4-16C8-461B-46FD-5C20751D8490}"/>
              </a:ext>
            </a:extLst>
          </p:cNvPr>
          <p:cNvGraphicFramePr>
            <a:graphicFrameLocks noChangeAspect="1"/>
          </p:cNvGraphicFramePr>
          <p:nvPr>
            <p:extLst>
              <p:ext uri="{D42A27DB-BD31-4B8C-83A1-F6EECF244321}">
                <p14:modId xmlns:p14="http://schemas.microsoft.com/office/powerpoint/2010/main" val="1639174382"/>
              </p:ext>
            </p:extLst>
          </p:nvPr>
        </p:nvGraphicFramePr>
        <p:xfrm>
          <a:off x="7174458" y="1059582"/>
          <a:ext cx="3265786" cy="318548"/>
        </p:xfrm>
        <a:graphic>
          <a:graphicData uri="http://schemas.openxmlformats.org/presentationml/2006/ole">
            <mc:AlternateContent xmlns:mc="http://schemas.openxmlformats.org/markup-compatibility/2006">
              <mc:Choice xmlns:v="urn:schemas-microsoft-com:vml" Requires="v">
                <p:oleObj name="AxMath" r:id="rId12" imgW="1937160" imgH="189000" progId="Equation.AxMath">
                  <p:embed/>
                </p:oleObj>
              </mc:Choice>
              <mc:Fallback>
                <p:oleObj name="AxMath" r:id="rId12" imgW="1937160" imgH="189000" progId="Equation.AxMath">
                  <p:embed/>
                  <p:pic>
                    <p:nvPicPr>
                      <p:cNvPr id="0" name=""/>
                      <p:cNvPicPr/>
                      <p:nvPr/>
                    </p:nvPicPr>
                    <p:blipFill>
                      <a:blip r:embed="rId13"/>
                      <a:stretch>
                        <a:fillRect/>
                      </a:stretch>
                    </p:blipFill>
                    <p:spPr>
                      <a:xfrm>
                        <a:off x="7174458" y="1059582"/>
                        <a:ext cx="3265786" cy="318548"/>
                      </a:xfrm>
                      <a:prstGeom prst="rect">
                        <a:avLst/>
                      </a:prstGeom>
                    </p:spPr>
                  </p:pic>
                </p:oleObj>
              </mc:Fallback>
            </mc:AlternateContent>
          </a:graphicData>
        </a:graphic>
      </p:graphicFrame>
      <p:graphicFrame>
        <p:nvGraphicFramePr>
          <p:cNvPr id="42" name="对象 41">
            <a:extLst>
              <a:ext uri="{FF2B5EF4-FFF2-40B4-BE49-F238E27FC236}">
                <a16:creationId xmlns:a16="http://schemas.microsoft.com/office/drawing/2014/main" id="{CDDC5E2A-0FD9-326A-2296-D0C25CCE709E}"/>
              </a:ext>
            </a:extLst>
          </p:cNvPr>
          <p:cNvGraphicFramePr>
            <a:graphicFrameLocks noChangeAspect="1"/>
          </p:cNvGraphicFramePr>
          <p:nvPr>
            <p:extLst>
              <p:ext uri="{D42A27DB-BD31-4B8C-83A1-F6EECF244321}">
                <p14:modId xmlns:p14="http://schemas.microsoft.com/office/powerpoint/2010/main" val="3622989785"/>
              </p:ext>
            </p:extLst>
          </p:nvPr>
        </p:nvGraphicFramePr>
        <p:xfrm>
          <a:off x="778801" y="1146664"/>
          <a:ext cx="1867762" cy="286247"/>
        </p:xfrm>
        <a:graphic>
          <a:graphicData uri="http://schemas.openxmlformats.org/presentationml/2006/ole">
            <mc:AlternateContent xmlns:mc="http://schemas.openxmlformats.org/markup-compatibility/2006">
              <mc:Choice xmlns:v="urn:schemas-microsoft-com:vml" Requires="v">
                <p:oleObj name="AxMath" r:id="rId14" imgW="1242360" imgH="190800" progId="Equation.AxMath">
                  <p:embed/>
                </p:oleObj>
              </mc:Choice>
              <mc:Fallback>
                <p:oleObj name="AxMath" r:id="rId14" imgW="1242360" imgH="190800" progId="Equation.AxMath">
                  <p:embed/>
                  <p:pic>
                    <p:nvPicPr>
                      <p:cNvPr id="0" name=""/>
                      <p:cNvPicPr/>
                      <p:nvPr/>
                    </p:nvPicPr>
                    <p:blipFill>
                      <a:blip r:embed="rId15"/>
                      <a:stretch>
                        <a:fillRect/>
                      </a:stretch>
                    </p:blipFill>
                    <p:spPr>
                      <a:xfrm>
                        <a:off x="778801" y="1146664"/>
                        <a:ext cx="1867762" cy="286247"/>
                      </a:xfrm>
                      <a:prstGeom prst="rect">
                        <a:avLst/>
                      </a:prstGeom>
                    </p:spPr>
                  </p:pic>
                </p:oleObj>
              </mc:Fallback>
            </mc:AlternateContent>
          </a:graphicData>
        </a:graphic>
      </p:graphicFrame>
      <p:graphicFrame>
        <p:nvGraphicFramePr>
          <p:cNvPr id="43" name="对象 42">
            <a:extLst>
              <a:ext uri="{FF2B5EF4-FFF2-40B4-BE49-F238E27FC236}">
                <a16:creationId xmlns:a16="http://schemas.microsoft.com/office/drawing/2014/main" id="{9F0758F4-3127-1C53-1B12-BE8C4F67E3D4}"/>
              </a:ext>
            </a:extLst>
          </p:cNvPr>
          <p:cNvGraphicFramePr>
            <a:graphicFrameLocks noChangeAspect="1"/>
          </p:cNvGraphicFramePr>
          <p:nvPr>
            <p:extLst>
              <p:ext uri="{D42A27DB-BD31-4B8C-83A1-F6EECF244321}">
                <p14:modId xmlns:p14="http://schemas.microsoft.com/office/powerpoint/2010/main" val="2621887894"/>
              </p:ext>
            </p:extLst>
          </p:nvPr>
        </p:nvGraphicFramePr>
        <p:xfrm>
          <a:off x="778801" y="1878547"/>
          <a:ext cx="5016500" cy="557213"/>
        </p:xfrm>
        <a:graphic>
          <a:graphicData uri="http://schemas.openxmlformats.org/presentationml/2006/ole">
            <mc:AlternateContent xmlns:mc="http://schemas.openxmlformats.org/markup-compatibility/2006">
              <mc:Choice xmlns:v="urn:schemas-microsoft-com:vml" Requires="v">
                <p:oleObj name="AxMath" r:id="rId16" imgW="3399840" imgH="377280" progId="Equation.AxMath">
                  <p:embed/>
                </p:oleObj>
              </mc:Choice>
              <mc:Fallback>
                <p:oleObj name="AxMath" r:id="rId16" imgW="3399840" imgH="377280" progId="Equation.AxMath">
                  <p:embed/>
                  <p:pic>
                    <p:nvPicPr>
                      <p:cNvPr id="0" name=""/>
                      <p:cNvPicPr/>
                      <p:nvPr/>
                    </p:nvPicPr>
                    <p:blipFill>
                      <a:blip r:embed="rId17"/>
                      <a:stretch>
                        <a:fillRect/>
                      </a:stretch>
                    </p:blipFill>
                    <p:spPr>
                      <a:xfrm>
                        <a:off x="778801" y="1878547"/>
                        <a:ext cx="5016500" cy="557213"/>
                      </a:xfrm>
                      <a:prstGeom prst="rect">
                        <a:avLst/>
                      </a:prstGeom>
                    </p:spPr>
                  </p:pic>
                </p:oleObj>
              </mc:Fallback>
            </mc:AlternateContent>
          </a:graphicData>
        </a:graphic>
      </p:graphicFrame>
      <p:graphicFrame>
        <p:nvGraphicFramePr>
          <p:cNvPr id="44" name="对象 43">
            <a:extLst>
              <a:ext uri="{FF2B5EF4-FFF2-40B4-BE49-F238E27FC236}">
                <a16:creationId xmlns:a16="http://schemas.microsoft.com/office/drawing/2014/main" id="{15575D8C-A6E5-0C1D-0BCA-91C4B9F0AF31}"/>
              </a:ext>
            </a:extLst>
          </p:cNvPr>
          <p:cNvGraphicFramePr>
            <a:graphicFrameLocks noChangeAspect="1"/>
          </p:cNvGraphicFramePr>
          <p:nvPr>
            <p:extLst>
              <p:ext uri="{D42A27DB-BD31-4B8C-83A1-F6EECF244321}">
                <p14:modId xmlns:p14="http://schemas.microsoft.com/office/powerpoint/2010/main" val="455282468"/>
              </p:ext>
            </p:extLst>
          </p:nvPr>
        </p:nvGraphicFramePr>
        <p:xfrm>
          <a:off x="779534" y="2638648"/>
          <a:ext cx="4387757" cy="533889"/>
        </p:xfrm>
        <a:graphic>
          <a:graphicData uri="http://schemas.openxmlformats.org/presentationml/2006/ole">
            <mc:AlternateContent xmlns:mc="http://schemas.openxmlformats.org/markup-compatibility/2006">
              <mc:Choice xmlns:v="urn:schemas-microsoft-com:vml" Requires="v">
                <p:oleObj name="AxMath" r:id="rId18" imgW="3105720" imgH="377280" progId="Equation.AxMath">
                  <p:embed/>
                </p:oleObj>
              </mc:Choice>
              <mc:Fallback>
                <p:oleObj name="AxMath" r:id="rId18" imgW="3105720" imgH="377280" progId="Equation.AxMath">
                  <p:embed/>
                  <p:pic>
                    <p:nvPicPr>
                      <p:cNvPr id="0" name=""/>
                      <p:cNvPicPr/>
                      <p:nvPr/>
                    </p:nvPicPr>
                    <p:blipFill>
                      <a:blip r:embed="rId19"/>
                      <a:stretch>
                        <a:fillRect/>
                      </a:stretch>
                    </p:blipFill>
                    <p:spPr>
                      <a:xfrm>
                        <a:off x="779534" y="2638648"/>
                        <a:ext cx="4387757" cy="533889"/>
                      </a:xfrm>
                      <a:prstGeom prst="rect">
                        <a:avLst/>
                      </a:prstGeom>
                    </p:spPr>
                  </p:pic>
                </p:oleObj>
              </mc:Fallback>
            </mc:AlternateContent>
          </a:graphicData>
        </a:graphic>
      </p:graphicFrame>
      <p:pic>
        <p:nvPicPr>
          <p:cNvPr id="46" name="图片 45">
            <a:extLst>
              <a:ext uri="{FF2B5EF4-FFF2-40B4-BE49-F238E27FC236}">
                <a16:creationId xmlns:a16="http://schemas.microsoft.com/office/drawing/2014/main" id="{A48B016D-1D21-AA35-4E1D-7B225AAB08E5}"/>
              </a:ext>
            </a:extLst>
          </p:cNvPr>
          <p:cNvPicPr>
            <a:picLocks noChangeAspect="1"/>
          </p:cNvPicPr>
          <p:nvPr/>
        </p:nvPicPr>
        <p:blipFill>
          <a:blip r:embed="rId20"/>
          <a:stretch>
            <a:fillRect/>
          </a:stretch>
        </p:blipFill>
        <p:spPr>
          <a:xfrm>
            <a:off x="184271" y="3418055"/>
            <a:ext cx="1613656" cy="1272392"/>
          </a:xfrm>
          <a:prstGeom prst="rect">
            <a:avLst/>
          </a:prstGeom>
        </p:spPr>
      </p:pic>
      <p:sp>
        <p:nvSpPr>
          <p:cNvPr id="50" name="文本框 49">
            <a:extLst>
              <a:ext uri="{FF2B5EF4-FFF2-40B4-BE49-F238E27FC236}">
                <a16:creationId xmlns:a16="http://schemas.microsoft.com/office/drawing/2014/main" id="{49F210BF-D468-14C7-B3B8-BADB95ADECA9}"/>
              </a:ext>
            </a:extLst>
          </p:cNvPr>
          <p:cNvSpPr txBox="1"/>
          <p:nvPr/>
        </p:nvSpPr>
        <p:spPr>
          <a:xfrm>
            <a:off x="1902974" y="3595927"/>
            <a:ext cx="3115875" cy="707886"/>
          </a:xfrm>
          <a:prstGeom prst="rect">
            <a:avLst/>
          </a:prstGeom>
          <a:noFill/>
        </p:spPr>
        <p:txBody>
          <a:bodyPr wrap="square">
            <a:spAutoFit/>
          </a:bodyPr>
          <a:lstStyle/>
          <a:p>
            <a:r>
              <a:rPr lang="en-US" altLang="zh-CN" sz="1000" b="0" i="0">
                <a:effectLst/>
                <a:latin typeface="Menlo"/>
              </a:rPr>
              <a:t>x = -4:0.1:4;</a:t>
            </a:r>
          </a:p>
          <a:p>
            <a:r>
              <a:rPr lang="en-US" altLang="zh-CN" sz="1000" b="0" i="0">
                <a:effectLst/>
                <a:latin typeface="Menlo"/>
              </a:rPr>
              <a:t>y = tpdf(x,28); </a:t>
            </a:r>
            <a:r>
              <a:rPr lang="en-US" altLang="zh-CN" sz="1000" b="0" i="0">
                <a:solidFill>
                  <a:srgbClr val="008013"/>
                </a:solidFill>
                <a:effectLst/>
                <a:latin typeface="Menlo"/>
              </a:rPr>
              <a:t>%</a:t>
            </a:r>
            <a:r>
              <a:rPr lang="zh-CN" altLang="en-US" sz="1000" b="0" i="0">
                <a:solidFill>
                  <a:srgbClr val="008013"/>
                </a:solidFill>
                <a:effectLst/>
                <a:latin typeface="Menlo"/>
              </a:rPr>
              <a:t>求</a:t>
            </a:r>
            <a:r>
              <a:rPr lang="en-US" altLang="zh-CN" sz="1000" b="0" i="0">
                <a:solidFill>
                  <a:srgbClr val="008013"/>
                </a:solidFill>
                <a:effectLst/>
                <a:latin typeface="Menlo"/>
              </a:rPr>
              <a:t>t</a:t>
            </a:r>
            <a:r>
              <a:rPr lang="zh-CN" altLang="en-US" sz="1000" b="0" i="0">
                <a:solidFill>
                  <a:srgbClr val="008013"/>
                </a:solidFill>
                <a:effectLst/>
                <a:latin typeface="Menlo"/>
              </a:rPr>
              <a:t>分布的概率密度值 </a:t>
            </a:r>
            <a:r>
              <a:rPr lang="en-US" altLang="zh-CN" sz="1000" b="0" i="0">
                <a:solidFill>
                  <a:srgbClr val="008013"/>
                </a:solidFill>
                <a:effectLst/>
                <a:latin typeface="Menlo"/>
              </a:rPr>
              <a:t>%28</a:t>
            </a:r>
            <a:r>
              <a:rPr lang="zh-CN" altLang="en-US" sz="1000" b="0" i="0">
                <a:solidFill>
                  <a:srgbClr val="008013"/>
                </a:solidFill>
                <a:effectLst/>
                <a:latin typeface="Menlo"/>
              </a:rPr>
              <a:t>是自由度 </a:t>
            </a:r>
            <a:endParaRPr lang="zh-CN" altLang="en-US" sz="1000" b="0" i="0">
              <a:effectLst/>
              <a:latin typeface="Menlo"/>
            </a:endParaRPr>
          </a:p>
          <a:p>
            <a:r>
              <a:rPr lang="en-US" altLang="zh-CN" sz="1000" b="0" i="0">
                <a:effectLst/>
                <a:latin typeface="Menlo"/>
              </a:rPr>
              <a:t>plot(x,y,</a:t>
            </a:r>
            <a:r>
              <a:rPr lang="en-US" altLang="zh-CN" sz="1000" b="0" i="0">
                <a:solidFill>
                  <a:srgbClr val="A709F5"/>
                </a:solidFill>
                <a:effectLst/>
                <a:latin typeface="Menlo"/>
              </a:rPr>
              <a:t>'-'</a:t>
            </a:r>
            <a:r>
              <a:rPr lang="en-US" altLang="zh-CN" sz="1000" b="0" i="0">
                <a:effectLst/>
                <a:latin typeface="Menlo"/>
              </a:rPr>
              <a:t>)</a:t>
            </a:r>
          </a:p>
          <a:p>
            <a:r>
              <a:rPr lang="en-US" altLang="zh-CN" sz="1000" b="0" i="0">
                <a:effectLst/>
                <a:latin typeface="Menlo"/>
              </a:rPr>
              <a:t>grid </a:t>
            </a:r>
            <a:r>
              <a:rPr lang="en-US" altLang="zh-CN" sz="1000" b="0" i="0">
                <a:solidFill>
                  <a:srgbClr val="A709F5"/>
                </a:solidFill>
                <a:effectLst/>
                <a:latin typeface="Menlo"/>
              </a:rPr>
              <a:t>on</a:t>
            </a:r>
            <a:endParaRPr lang="zh-CN" altLang="en-US" sz="1000" b="0" i="0">
              <a:effectLst/>
              <a:latin typeface="Menlo"/>
            </a:endParaRPr>
          </a:p>
        </p:txBody>
      </p:sp>
      <p:sp>
        <p:nvSpPr>
          <p:cNvPr id="51" name="文本框 50">
            <a:extLst>
              <a:ext uri="{FF2B5EF4-FFF2-40B4-BE49-F238E27FC236}">
                <a16:creationId xmlns:a16="http://schemas.microsoft.com/office/drawing/2014/main" id="{9229C595-5C1C-8E12-BFE0-5683E2F500C1}"/>
              </a:ext>
            </a:extLst>
          </p:cNvPr>
          <p:cNvSpPr txBox="1"/>
          <p:nvPr/>
        </p:nvSpPr>
        <p:spPr>
          <a:xfrm>
            <a:off x="772574" y="4754019"/>
            <a:ext cx="2522024" cy="276999"/>
          </a:xfrm>
          <a:prstGeom prst="rect">
            <a:avLst/>
          </a:prstGeom>
          <a:noFill/>
        </p:spPr>
        <p:txBody>
          <a:bodyPr wrap="square" rtlCol="0">
            <a:spAutoFit/>
          </a:bodyPr>
          <a:lstStyle/>
          <a:p>
            <a:r>
              <a:rPr lang="zh-CN" altLang="en-US" sz="1200"/>
              <a:t>常见置信水平：</a:t>
            </a:r>
            <a:r>
              <a:rPr lang="en-US" altLang="zh-CN" sz="1200"/>
              <a:t>90%</a:t>
            </a:r>
            <a:r>
              <a:rPr lang="zh-CN" altLang="en-US" sz="1200"/>
              <a:t>，</a:t>
            </a:r>
            <a:r>
              <a:rPr lang="en-US" altLang="zh-CN" sz="1200">
                <a:solidFill>
                  <a:srgbClr val="FF0000"/>
                </a:solidFill>
              </a:rPr>
              <a:t>95%</a:t>
            </a:r>
            <a:r>
              <a:rPr lang="zh-CN" altLang="en-US" sz="1200"/>
              <a:t>，</a:t>
            </a:r>
            <a:r>
              <a:rPr lang="en-US" altLang="zh-CN" sz="1200"/>
              <a:t>99%</a:t>
            </a:r>
            <a:endParaRPr lang="zh-CN" altLang="en-US" sz="1200"/>
          </a:p>
        </p:txBody>
      </p:sp>
      <p:sp>
        <p:nvSpPr>
          <p:cNvPr id="3" name="文本框 2">
            <a:extLst>
              <a:ext uri="{FF2B5EF4-FFF2-40B4-BE49-F238E27FC236}">
                <a16:creationId xmlns:a16="http://schemas.microsoft.com/office/drawing/2014/main" id="{095818DD-4B20-AB21-4D4B-BD84286D030F}"/>
              </a:ext>
            </a:extLst>
          </p:cNvPr>
          <p:cNvSpPr txBox="1"/>
          <p:nvPr/>
        </p:nvSpPr>
        <p:spPr>
          <a:xfrm>
            <a:off x="784362" y="5008839"/>
            <a:ext cx="4037960" cy="276999"/>
          </a:xfrm>
          <a:prstGeom prst="rect">
            <a:avLst/>
          </a:prstGeom>
          <a:noFill/>
        </p:spPr>
        <p:txBody>
          <a:bodyPr wrap="square" rtlCol="0">
            <a:spAutoFit/>
          </a:bodyPr>
          <a:lstStyle/>
          <a:p>
            <a:r>
              <a:rPr lang="zh-CN" altLang="en-US" sz="1200"/>
              <a:t>查</a:t>
            </a:r>
            <a:r>
              <a:rPr lang="en-US" altLang="zh-CN" sz="1200">
                <a:solidFill>
                  <a:srgbClr val="FF0000"/>
                </a:solidFill>
              </a:rPr>
              <a:t>t</a:t>
            </a:r>
            <a:r>
              <a:rPr lang="zh-CN" altLang="en-US" sz="1200">
                <a:solidFill>
                  <a:srgbClr val="FF0000"/>
                </a:solidFill>
              </a:rPr>
              <a:t>分布表</a:t>
            </a:r>
            <a:r>
              <a:rPr lang="zh-CN" altLang="en-US" sz="1200"/>
              <a:t>得：临界值为</a:t>
            </a:r>
            <a:r>
              <a:rPr lang="en-US" altLang="zh-CN" sz="1200"/>
              <a:t>2.048</a:t>
            </a:r>
            <a:r>
              <a:rPr lang="zh-CN" altLang="en-US" sz="1200"/>
              <a:t>，据此画接受域和拒绝域</a:t>
            </a:r>
          </a:p>
        </p:txBody>
      </p:sp>
      <p:pic>
        <p:nvPicPr>
          <p:cNvPr id="6" name="图片 5">
            <a:extLst>
              <a:ext uri="{FF2B5EF4-FFF2-40B4-BE49-F238E27FC236}">
                <a16:creationId xmlns:a16="http://schemas.microsoft.com/office/drawing/2014/main" id="{F5F91350-C3D7-4C45-E250-F36C34D443C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56030" y="5217912"/>
            <a:ext cx="1823750" cy="1367812"/>
          </a:xfrm>
          <a:prstGeom prst="rect">
            <a:avLst/>
          </a:prstGeom>
        </p:spPr>
      </p:pic>
      <p:sp>
        <p:nvSpPr>
          <p:cNvPr id="8" name="文本框 7">
            <a:extLst>
              <a:ext uri="{FF2B5EF4-FFF2-40B4-BE49-F238E27FC236}">
                <a16:creationId xmlns:a16="http://schemas.microsoft.com/office/drawing/2014/main" id="{BBA68DE8-6F2C-B067-3E37-79F7000A7D76}"/>
              </a:ext>
            </a:extLst>
          </p:cNvPr>
          <p:cNvSpPr txBox="1"/>
          <p:nvPr/>
        </p:nvSpPr>
        <p:spPr>
          <a:xfrm>
            <a:off x="778801" y="5510941"/>
            <a:ext cx="664669" cy="215444"/>
          </a:xfrm>
          <a:prstGeom prst="rect">
            <a:avLst/>
          </a:prstGeom>
          <a:noFill/>
        </p:spPr>
        <p:txBody>
          <a:bodyPr wrap="square" rtlCol="0">
            <a:spAutoFit/>
          </a:bodyPr>
          <a:lstStyle/>
          <a:p>
            <a:r>
              <a:rPr lang="zh-CN" altLang="en-US" sz="800"/>
              <a:t>接受域</a:t>
            </a:r>
          </a:p>
        </p:txBody>
      </p:sp>
      <p:sp>
        <p:nvSpPr>
          <p:cNvPr id="9" name="文本框 8">
            <a:extLst>
              <a:ext uri="{FF2B5EF4-FFF2-40B4-BE49-F238E27FC236}">
                <a16:creationId xmlns:a16="http://schemas.microsoft.com/office/drawing/2014/main" id="{8CDB07C1-4A56-C86C-4AA4-206A8AB9087F}"/>
              </a:ext>
            </a:extLst>
          </p:cNvPr>
          <p:cNvSpPr txBox="1"/>
          <p:nvPr/>
        </p:nvSpPr>
        <p:spPr>
          <a:xfrm>
            <a:off x="1315111" y="5504576"/>
            <a:ext cx="664669" cy="215444"/>
          </a:xfrm>
          <a:prstGeom prst="rect">
            <a:avLst/>
          </a:prstGeom>
          <a:noFill/>
        </p:spPr>
        <p:txBody>
          <a:bodyPr wrap="square" rtlCol="0">
            <a:spAutoFit/>
          </a:bodyPr>
          <a:lstStyle/>
          <a:p>
            <a:r>
              <a:rPr lang="zh-CN" altLang="en-US" sz="800"/>
              <a:t>拒绝域</a:t>
            </a:r>
          </a:p>
        </p:txBody>
      </p:sp>
      <p:sp>
        <p:nvSpPr>
          <p:cNvPr id="10" name="文本框 9">
            <a:extLst>
              <a:ext uri="{FF2B5EF4-FFF2-40B4-BE49-F238E27FC236}">
                <a16:creationId xmlns:a16="http://schemas.microsoft.com/office/drawing/2014/main" id="{28320873-2766-D63E-99B7-079277C3583C}"/>
              </a:ext>
            </a:extLst>
          </p:cNvPr>
          <p:cNvSpPr txBox="1"/>
          <p:nvPr/>
        </p:nvSpPr>
        <p:spPr>
          <a:xfrm>
            <a:off x="269502" y="5504576"/>
            <a:ext cx="664669" cy="215444"/>
          </a:xfrm>
          <a:prstGeom prst="rect">
            <a:avLst/>
          </a:prstGeom>
          <a:noFill/>
        </p:spPr>
        <p:txBody>
          <a:bodyPr wrap="square" rtlCol="0">
            <a:spAutoFit/>
          </a:bodyPr>
          <a:lstStyle/>
          <a:p>
            <a:r>
              <a:rPr lang="zh-CN" altLang="en-US" sz="800"/>
              <a:t>拒绝域</a:t>
            </a:r>
          </a:p>
        </p:txBody>
      </p:sp>
      <p:sp>
        <p:nvSpPr>
          <p:cNvPr id="11" name="文本框 10">
            <a:extLst>
              <a:ext uri="{FF2B5EF4-FFF2-40B4-BE49-F238E27FC236}">
                <a16:creationId xmlns:a16="http://schemas.microsoft.com/office/drawing/2014/main" id="{C69684C0-0EDC-0050-F676-BC16A5957A73}"/>
              </a:ext>
            </a:extLst>
          </p:cNvPr>
          <p:cNvSpPr txBox="1"/>
          <p:nvPr/>
        </p:nvSpPr>
        <p:spPr>
          <a:xfrm>
            <a:off x="1847766" y="6180515"/>
            <a:ext cx="1430271" cy="276999"/>
          </a:xfrm>
          <a:prstGeom prst="rect">
            <a:avLst/>
          </a:prstGeom>
          <a:noFill/>
        </p:spPr>
        <p:txBody>
          <a:bodyPr wrap="square" rtlCol="0">
            <a:spAutoFit/>
          </a:bodyPr>
          <a:lstStyle/>
          <a:p>
            <a:r>
              <a:rPr lang="zh-CN" altLang="en-US" sz="1200"/>
              <a:t>利用画图填充颜色</a:t>
            </a:r>
          </a:p>
        </p:txBody>
      </p:sp>
      <p:graphicFrame>
        <p:nvGraphicFramePr>
          <p:cNvPr id="15" name="对象 14">
            <a:extLst>
              <a:ext uri="{FF2B5EF4-FFF2-40B4-BE49-F238E27FC236}">
                <a16:creationId xmlns:a16="http://schemas.microsoft.com/office/drawing/2014/main" id="{B99BB41D-7979-BD62-594A-469E3346CA77}"/>
              </a:ext>
            </a:extLst>
          </p:cNvPr>
          <p:cNvGraphicFramePr>
            <a:graphicFrameLocks noChangeAspect="1"/>
          </p:cNvGraphicFramePr>
          <p:nvPr>
            <p:extLst>
              <p:ext uri="{D42A27DB-BD31-4B8C-83A1-F6EECF244321}">
                <p14:modId xmlns:p14="http://schemas.microsoft.com/office/powerpoint/2010/main" val="730646168"/>
              </p:ext>
            </p:extLst>
          </p:nvPr>
        </p:nvGraphicFramePr>
        <p:xfrm>
          <a:off x="7174458" y="1444069"/>
          <a:ext cx="1906059" cy="259034"/>
        </p:xfrm>
        <a:graphic>
          <a:graphicData uri="http://schemas.openxmlformats.org/presentationml/2006/ole">
            <mc:AlternateContent xmlns:mc="http://schemas.openxmlformats.org/markup-compatibility/2006">
              <mc:Choice xmlns:v="urn:schemas-microsoft-com:vml" Requires="v">
                <p:oleObj name="AxMath" r:id="rId22" imgW="1402200" imgH="190800" progId="Equation.AxMath">
                  <p:embed/>
                </p:oleObj>
              </mc:Choice>
              <mc:Fallback>
                <p:oleObj name="AxMath" r:id="rId22" imgW="1402200" imgH="190800" progId="Equation.AxMath">
                  <p:embed/>
                  <p:pic>
                    <p:nvPicPr>
                      <p:cNvPr id="0" name=""/>
                      <p:cNvPicPr/>
                      <p:nvPr/>
                    </p:nvPicPr>
                    <p:blipFill>
                      <a:blip r:embed="rId23"/>
                      <a:stretch>
                        <a:fillRect/>
                      </a:stretch>
                    </p:blipFill>
                    <p:spPr>
                      <a:xfrm>
                        <a:off x="7174458" y="1444069"/>
                        <a:ext cx="1906059" cy="259034"/>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32FDD124-C4A6-E3DB-F717-F761AA619B77}"/>
              </a:ext>
            </a:extLst>
          </p:cNvPr>
          <p:cNvGraphicFramePr>
            <a:graphicFrameLocks noChangeAspect="1"/>
          </p:cNvGraphicFramePr>
          <p:nvPr>
            <p:extLst>
              <p:ext uri="{D42A27DB-BD31-4B8C-83A1-F6EECF244321}">
                <p14:modId xmlns:p14="http://schemas.microsoft.com/office/powerpoint/2010/main" val="938233818"/>
              </p:ext>
            </p:extLst>
          </p:nvPr>
        </p:nvGraphicFramePr>
        <p:xfrm>
          <a:off x="7160683" y="1695871"/>
          <a:ext cx="3597275" cy="258762"/>
        </p:xfrm>
        <a:graphic>
          <a:graphicData uri="http://schemas.openxmlformats.org/presentationml/2006/ole">
            <mc:AlternateContent xmlns:mc="http://schemas.openxmlformats.org/markup-compatibility/2006">
              <mc:Choice xmlns:v="urn:schemas-microsoft-com:vml" Requires="v">
                <p:oleObj name="AxMath" r:id="rId24" imgW="2644560" imgH="190800" progId="Equation.AxMath">
                  <p:embed/>
                </p:oleObj>
              </mc:Choice>
              <mc:Fallback>
                <p:oleObj name="AxMath" r:id="rId24" imgW="2644560" imgH="190800" progId="Equation.AxMath">
                  <p:embed/>
                  <p:pic>
                    <p:nvPicPr>
                      <p:cNvPr id="0" name=""/>
                      <p:cNvPicPr/>
                      <p:nvPr/>
                    </p:nvPicPr>
                    <p:blipFill>
                      <a:blip r:embed="rId25"/>
                      <a:stretch>
                        <a:fillRect/>
                      </a:stretch>
                    </p:blipFill>
                    <p:spPr>
                      <a:xfrm>
                        <a:off x="7160683" y="1695871"/>
                        <a:ext cx="3597275" cy="258762"/>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A281711B-985A-6BCA-DB66-712487C56979}"/>
              </a:ext>
            </a:extLst>
          </p:cNvPr>
          <p:cNvGraphicFramePr>
            <a:graphicFrameLocks noChangeAspect="1"/>
          </p:cNvGraphicFramePr>
          <p:nvPr>
            <p:extLst>
              <p:ext uri="{D42A27DB-BD31-4B8C-83A1-F6EECF244321}">
                <p14:modId xmlns:p14="http://schemas.microsoft.com/office/powerpoint/2010/main" val="1305334677"/>
              </p:ext>
            </p:extLst>
          </p:nvPr>
        </p:nvGraphicFramePr>
        <p:xfrm>
          <a:off x="7174458" y="1958247"/>
          <a:ext cx="1323230" cy="256875"/>
        </p:xfrm>
        <a:graphic>
          <a:graphicData uri="http://schemas.openxmlformats.org/presentationml/2006/ole">
            <mc:AlternateContent xmlns:mc="http://schemas.openxmlformats.org/markup-compatibility/2006">
              <mc:Choice xmlns:v="urn:schemas-microsoft-com:vml" Requires="v">
                <p:oleObj name="AxMath" r:id="rId26" imgW="973440" imgH="189000" progId="Equation.AxMath">
                  <p:embed/>
                </p:oleObj>
              </mc:Choice>
              <mc:Fallback>
                <p:oleObj name="AxMath" r:id="rId26" imgW="973440" imgH="189000" progId="Equation.AxMath">
                  <p:embed/>
                  <p:pic>
                    <p:nvPicPr>
                      <p:cNvPr id="0" name=""/>
                      <p:cNvPicPr/>
                      <p:nvPr/>
                    </p:nvPicPr>
                    <p:blipFill>
                      <a:blip r:embed="rId27"/>
                      <a:stretch>
                        <a:fillRect/>
                      </a:stretch>
                    </p:blipFill>
                    <p:spPr>
                      <a:xfrm>
                        <a:off x="7174458" y="1958247"/>
                        <a:ext cx="1323230" cy="256875"/>
                      </a:xfrm>
                      <a:prstGeom prst="rect">
                        <a:avLst/>
                      </a:prstGeom>
                    </p:spPr>
                  </p:pic>
                </p:oleObj>
              </mc:Fallback>
            </mc:AlternateContent>
          </a:graphicData>
        </a:graphic>
      </p:graphicFrame>
      <p:sp>
        <p:nvSpPr>
          <p:cNvPr id="20" name="矩形: 圆角 19">
            <a:extLst>
              <a:ext uri="{FF2B5EF4-FFF2-40B4-BE49-F238E27FC236}">
                <a16:creationId xmlns:a16="http://schemas.microsoft.com/office/drawing/2014/main" id="{A110951A-B1C7-D25C-E757-5D577AF59274}"/>
              </a:ext>
            </a:extLst>
          </p:cNvPr>
          <p:cNvSpPr/>
          <p:nvPr/>
        </p:nvSpPr>
        <p:spPr>
          <a:xfrm>
            <a:off x="139720" y="828117"/>
            <a:ext cx="4255547" cy="252668"/>
          </a:xfrm>
          <a:prstGeom prst="roundRect">
            <a:avLst/>
          </a:prstGeom>
          <a:noFill/>
          <a:ln>
            <a:solidFill>
              <a:srgbClr val="D6BB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F5A0E1AB-2BFF-A0D3-580C-91A216F2AAA3}"/>
              </a:ext>
            </a:extLst>
          </p:cNvPr>
          <p:cNvSpPr/>
          <p:nvPr/>
        </p:nvSpPr>
        <p:spPr>
          <a:xfrm>
            <a:off x="7160683" y="1074908"/>
            <a:ext cx="3335293" cy="259034"/>
          </a:xfrm>
          <a:prstGeom prst="roundRect">
            <a:avLst/>
          </a:prstGeom>
          <a:noFill/>
          <a:ln>
            <a:solidFill>
              <a:srgbClr val="D6BB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91AF016C-070A-8067-9DE7-71CF0F5F5B4E}"/>
              </a:ext>
            </a:extLst>
          </p:cNvPr>
          <p:cNvSpPr/>
          <p:nvPr/>
        </p:nvSpPr>
        <p:spPr>
          <a:xfrm>
            <a:off x="118084" y="1405210"/>
            <a:ext cx="5655581" cy="264857"/>
          </a:xfrm>
          <a:prstGeom prst="roundRect">
            <a:avLst/>
          </a:prstGeom>
          <a:noFill/>
          <a:ln>
            <a:solidFill>
              <a:srgbClr val="D6BB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2F84C518-AF3D-772C-004D-D3839733ACE1}"/>
              </a:ext>
            </a:extLst>
          </p:cNvPr>
          <p:cNvSpPr/>
          <p:nvPr/>
        </p:nvSpPr>
        <p:spPr>
          <a:xfrm>
            <a:off x="139720" y="3133025"/>
            <a:ext cx="8952353" cy="250259"/>
          </a:xfrm>
          <a:prstGeom prst="roundRect">
            <a:avLst/>
          </a:prstGeom>
          <a:noFill/>
          <a:ln>
            <a:solidFill>
              <a:srgbClr val="D6BB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BEEEA9D-F5AF-C51E-FDED-6B98B6BA18F7}"/>
              </a:ext>
            </a:extLst>
          </p:cNvPr>
          <p:cNvSpPr/>
          <p:nvPr/>
        </p:nvSpPr>
        <p:spPr>
          <a:xfrm>
            <a:off x="156030" y="2358726"/>
            <a:ext cx="3768638" cy="258213"/>
          </a:xfrm>
          <a:prstGeom prst="roundRect">
            <a:avLst/>
          </a:prstGeom>
          <a:noFill/>
          <a:ln>
            <a:solidFill>
              <a:srgbClr val="D6BB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2E2FD3D5-47C8-45EA-867D-0AC48A3ED26D}"/>
              </a:ext>
            </a:extLst>
          </p:cNvPr>
          <p:cNvSpPr txBox="1"/>
          <p:nvPr/>
        </p:nvSpPr>
        <p:spPr>
          <a:xfrm>
            <a:off x="6607237" y="4290337"/>
            <a:ext cx="1359727" cy="400110"/>
          </a:xfrm>
          <a:prstGeom prst="rect">
            <a:avLst/>
          </a:prstGeom>
          <a:noFill/>
        </p:spPr>
        <p:txBody>
          <a:bodyPr wrap="square">
            <a:spAutoFit/>
          </a:bodyPr>
          <a:lstStyle/>
          <a:p>
            <a:r>
              <a:rPr kumimoji="0" lang="en-US" altLang="zh-CN" sz="2000" b="0" i="0" u="none" strike="noStrike" kern="1200" cap="none" spc="0" normalizeH="0" baseline="0" noProof="0">
                <a:ln>
                  <a:noFill/>
                </a:ln>
                <a:effectLst/>
                <a:uLnTx/>
                <a:uFillTx/>
                <a:latin typeface="优设标题黑" panose="00000500000000000000" pitchFamily="2" charset="-122"/>
                <a:ea typeface="优设标题黑" panose="00000500000000000000" pitchFamily="2" charset="-122"/>
              </a:rPr>
              <a:t>p</a:t>
            </a:r>
            <a:r>
              <a:rPr kumimoji="0" lang="zh-CN" altLang="en-US" sz="2000" b="0" i="0" u="none" strike="noStrike" kern="1200" cap="none" spc="0" normalizeH="0" baseline="0" noProof="0">
                <a:ln>
                  <a:noFill/>
                </a:ln>
                <a:effectLst/>
                <a:uLnTx/>
                <a:uFillTx/>
                <a:latin typeface="优设标题黑" panose="00000500000000000000" pitchFamily="2" charset="-122"/>
                <a:ea typeface="优设标题黑" panose="00000500000000000000" pitchFamily="2" charset="-122"/>
              </a:rPr>
              <a:t>值判断法</a:t>
            </a:r>
            <a:endParaRPr lang="zh-CN" altLang="en-US" sz="2000">
              <a:latin typeface="优设标题黑" panose="00000500000000000000" pitchFamily="2" charset="-122"/>
              <a:ea typeface="优设标题黑" panose="00000500000000000000" pitchFamily="2" charset="-122"/>
            </a:endParaRPr>
          </a:p>
        </p:txBody>
      </p:sp>
      <p:sp>
        <p:nvSpPr>
          <p:cNvPr id="49" name="文本框 48">
            <a:extLst>
              <a:ext uri="{FF2B5EF4-FFF2-40B4-BE49-F238E27FC236}">
                <a16:creationId xmlns:a16="http://schemas.microsoft.com/office/drawing/2014/main" id="{698D4E3D-8E16-E858-47A4-A2CE48672071}"/>
              </a:ext>
            </a:extLst>
          </p:cNvPr>
          <p:cNvSpPr txBox="1"/>
          <p:nvPr/>
        </p:nvSpPr>
        <p:spPr>
          <a:xfrm>
            <a:off x="6716945" y="4718441"/>
            <a:ext cx="3115875" cy="400110"/>
          </a:xfrm>
          <a:prstGeom prst="rect">
            <a:avLst/>
          </a:prstGeom>
          <a:noFill/>
        </p:spPr>
        <p:txBody>
          <a:bodyPr wrap="square">
            <a:spAutoFit/>
          </a:bodyPr>
          <a:lstStyle/>
          <a:p>
            <a:r>
              <a:rPr lang="en-US" altLang="zh-CN" sz="1000" b="0" i="0">
                <a:effectLst/>
                <a:latin typeface="Menlo"/>
              </a:rPr>
              <a:t>disp(</a:t>
            </a:r>
            <a:r>
              <a:rPr lang="en-US" altLang="zh-CN" sz="1000" b="0" i="0">
                <a:solidFill>
                  <a:srgbClr val="A709F5"/>
                </a:solidFill>
                <a:effectLst/>
                <a:latin typeface="Menlo"/>
              </a:rPr>
              <a:t>'</a:t>
            </a:r>
            <a:r>
              <a:rPr lang="zh-CN" altLang="en-US" sz="1000" b="0" i="0">
                <a:solidFill>
                  <a:srgbClr val="A709F5"/>
                </a:solidFill>
                <a:effectLst/>
                <a:latin typeface="Menlo"/>
              </a:rPr>
              <a:t>该检验值对应的</a:t>
            </a:r>
            <a:r>
              <a:rPr lang="en-US" altLang="zh-CN" sz="1000" b="0" i="0">
                <a:solidFill>
                  <a:srgbClr val="A709F5"/>
                </a:solidFill>
                <a:effectLst/>
                <a:latin typeface="Menlo"/>
              </a:rPr>
              <a:t>p</a:t>
            </a:r>
            <a:r>
              <a:rPr lang="zh-CN" altLang="en-US" sz="1000" b="0" i="0">
                <a:solidFill>
                  <a:srgbClr val="A709F5"/>
                </a:solidFill>
                <a:effectLst/>
                <a:latin typeface="Menlo"/>
              </a:rPr>
              <a:t>值为：</a:t>
            </a:r>
            <a:r>
              <a:rPr lang="en-US" altLang="zh-CN" sz="1000" b="0" i="0">
                <a:solidFill>
                  <a:srgbClr val="A709F5"/>
                </a:solidFill>
                <a:effectLst/>
                <a:latin typeface="Menlo"/>
              </a:rPr>
              <a:t>'</a:t>
            </a:r>
            <a:r>
              <a:rPr lang="en-US" altLang="zh-CN" sz="1000" b="0" i="0">
                <a:effectLst/>
                <a:latin typeface="Menlo"/>
              </a:rPr>
              <a:t>)</a:t>
            </a:r>
          </a:p>
          <a:p>
            <a:r>
              <a:rPr lang="en-US" altLang="zh-CN" sz="1000" b="0" i="0">
                <a:effectLst/>
                <a:latin typeface="Menlo"/>
              </a:rPr>
              <a:t>disp((1-tcdf(3.055,28))*2) </a:t>
            </a:r>
            <a:r>
              <a:rPr lang="en-US" altLang="zh-CN" sz="1000" b="0" i="0">
                <a:solidFill>
                  <a:srgbClr val="008013"/>
                </a:solidFill>
                <a:effectLst/>
                <a:latin typeface="Menlo"/>
              </a:rPr>
              <a:t>%</a:t>
            </a:r>
            <a:r>
              <a:rPr lang="zh-CN" altLang="en-US" sz="1000" b="0" i="0">
                <a:solidFill>
                  <a:srgbClr val="008013"/>
                </a:solidFill>
                <a:effectLst/>
                <a:latin typeface="Menlo"/>
              </a:rPr>
              <a:t>双侧检验的</a:t>
            </a:r>
            <a:r>
              <a:rPr lang="en-US" altLang="zh-CN" sz="1000" b="0" i="0">
                <a:solidFill>
                  <a:srgbClr val="008013"/>
                </a:solidFill>
                <a:effectLst/>
                <a:latin typeface="Menlo"/>
              </a:rPr>
              <a:t>p</a:t>
            </a:r>
            <a:r>
              <a:rPr lang="zh-CN" altLang="en-US" sz="1000" b="0" i="0">
                <a:solidFill>
                  <a:srgbClr val="008013"/>
                </a:solidFill>
                <a:effectLst/>
                <a:latin typeface="Menlo"/>
              </a:rPr>
              <a:t>值要乘以</a:t>
            </a:r>
            <a:r>
              <a:rPr lang="en-US" altLang="zh-CN" sz="1000" b="0" i="0">
                <a:solidFill>
                  <a:srgbClr val="008013"/>
                </a:solidFill>
                <a:effectLst/>
                <a:latin typeface="Menlo"/>
              </a:rPr>
              <a:t>2</a:t>
            </a:r>
            <a:endParaRPr lang="zh-CN" altLang="en-US" sz="1000" b="0" i="0">
              <a:effectLst/>
              <a:latin typeface="Menlo"/>
            </a:endParaRPr>
          </a:p>
        </p:txBody>
      </p:sp>
      <p:pic>
        <p:nvPicPr>
          <p:cNvPr id="55" name="图片 54">
            <a:extLst>
              <a:ext uri="{FF2B5EF4-FFF2-40B4-BE49-F238E27FC236}">
                <a16:creationId xmlns:a16="http://schemas.microsoft.com/office/drawing/2014/main" id="{A025A9D3-A58A-B489-2C31-56DEC2A8262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514058" y="5139042"/>
            <a:ext cx="1807369" cy="1355527"/>
          </a:xfrm>
          <a:prstGeom prst="rect">
            <a:avLst/>
          </a:prstGeom>
        </p:spPr>
      </p:pic>
      <p:sp>
        <p:nvSpPr>
          <p:cNvPr id="59" name="文本框 58">
            <a:extLst>
              <a:ext uri="{FF2B5EF4-FFF2-40B4-BE49-F238E27FC236}">
                <a16:creationId xmlns:a16="http://schemas.microsoft.com/office/drawing/2014/main" id="{BF12EF82-80E8-03E7-880F-E731964032C5}"/>
              </a:ext>
            </a:extLst>
          </p:cNvPr>
          <p:cNvSpPr txBox="1"/>
          <p:nvPr/>
        </p:nvSpPr>
        <p:spPr>
          <a:xfrm>
            <a:off x="8216324" y="6071202"/>
            <a:ext cx="982680" cy="276999"/>
          </a:xfrm>
          <a:prstGeom prst="rect">
            <a:avLst/>
          </a:prstGeom>
          <a:noFill/>
        </p:spPr>
        <p:txBody>
          <a:bodyPr wrap="square">
            <a:spAutoFit/>
          </a:bodyPr>
          <a:lstStyle/>
          <a:p>
            <a:r>
              <a:rPr lang="en-US" altLang="zh-CN" sz="1200"/>
              <a:t>p</a:t>
            </a:r>
            <a:r>
              <a:rPr lang="zh-CN" altLang="en-US" sz="1200"/>
              <a:t>值</a:t>
            </a:r>
            <a:r>
              <a:rPr lang="en-US" altLang="zh-CN" sz="1200"/>
              <a:t>:0.0049</a:t>
            </a:r>
            <a:endParaRPr lang="zh-CN" altLang="en-US" sz="1200"/>
          </a:p>
        </p:txBody>
      </p:sp>
      <p:sp>
        <p:nvSpPr>
          <p:cNvPr id="60" name="文本框 59">
            <a:extLst>
              <a:ext uri="{FF2B5EF4-FFF2-40B4-BE49-F238E27FC236}">
                <a16:creationId xmlns:a16="http://schemas.microsoft.com/office/drawing/2014/main" id="{87427853-B274-AFA5-E041-7964D56602DE}"/>
              </a:ext>
            </a:extLst>
          </p:cNvPr>
          <p:cNvSpPr txBox="1"/>
          <p:nvPr/>
        </p:nvSpPr>
        <p:spPr>
          <a:xfrm>
            <a:off x="6669689" y="6461868"/>
            <a:ext cx="3265786" cy="276999"/>
          </a:xfrm>
          <a:prstGeom prst="rect">
            <a:avLst/>
          </a:prstGeom>
          <a:noFill/>
        </p:spPr>
        <p:txBody>
          <a:bodyPr wrap="square" rtlCol="0">
            <a:spAutoFit/>
          </a:bodyPr>
          <a:lstStyle/>
          <a:p>
            <a:r>
              <a:rPr lang="en-US" altLang="zh-CN" sz="1200">
                <a:solidFill>
                  <a:srgbClr val="FF0000"/>
                </a:solidFill>
              </a:rPr>
              <a:t>p&lt;0.05</a:t>
            </a:r>
            <a:r>
              <a:rPr lang="en-US" altLang="zh-CN" sz="1200"/>
              <a:t>,</a:t>
            </a:r>
            <a:r>
              <a:rPr lang="zh-CN" altLang="en-US" sz="1200"/>
              <a:t>说明在</a:t>
            </a:r>
            <a:r>
              <a:rPr lang="en-US" altLang="zh-CN" sz="1200">
                <a:solidFill>
                  <a:srgbClr val="FF0000"/>
                </a:solidFill>
              </a:rPr>
              <a:t>95%</a:t>
            </a:r>
            <a:r>
              <a:rPr lang="zh-CN" altLang="en-US" sz="1200"/>
              <a:t>的置信水平上拒绝原假设</a:t>
            </a:r>
            <a:endParaRPr lang="en-US" altLang="zh-CN" sz="1200"/>
          </a:p>
        </p:txBody>
      </p:sp>
      <p:sp>
        <p:nvSpPr>
          <p:cNvPr id="64" name="文本框 63">
            <a:extLst>
              <a:ext uri="{FF2B5EF4-FFF2-40B4-BE49-F238E27FC236}">
                <a16:creationId xmlns:a16="http://schemas.microsoft.com/office/drawing/2014/main" id="{9AF5A020-15E0-CD0D-056E-D9CD2B6709BF}"/>
              </a:ext>
            </a:extLst>
          </p:cNvPr>
          <p:cNvSpPr txBox="1"/>
          <p:nvPr/>
        </p:nvSpPr>
        <p:spPr>
          <a:xfrm>
            <a:off x="9757632" y="4726034"/>
            <a:ext cx="2340879" cy="1169551"/>
          </a:xfrm>
          <a:prstGeom prst="rect">
            <a:avLst/>
          </a:prstGeom>
          <a:noFill/>
        </p:spPr>
        <p:txBody>
          <a:bodyPr wrap="square">
            <a:spAutoFit/>
          </a:bodyPr>
          <a:lstStyle/>
          <a:p>
            <a:r>
              <a:rPr lang="en-US" altLang="zh-CN" sz="1000" b="0" i="0">
                <a:solidFill>
                  <a:srgbClr val="008013"/>
                </a:solidFill>
                <a:effectLst/>
                <a:latin typeface="Menlo"/>
              </a:rPr>
              <a:t>%% </a:t>
            </a:r>
            <a:r>
              <a:rPr lang="zh-CN" altLang="en-US" sz="1000" b="0" i="0">
                <a:solidFill>
                  <a:srgbClr val="008013"/>
                </a:solidFill>
                <a:effectLst/>
                <a:latin typeface="Menlo"/>
              </a:rPr>
              <a:t>计算各列之间的相关系数以及</a:t>
            </a:r>
            <a:r>
              <a:rPr lang="en-US" altLang="zh-CN" sz="1000" b="0" i="0">
                <a:solidFill>
                  <a:srgbClr val="008013"/>
                </a:solidFill>
                <a:effectLst/>
                <a:latin typeface="Menlo"/>
              </a:rPr>
              <a:t>p</a:t>
            </a:r>
            <a:r>
              <a:rPr lang="zh-CN" altLang="en-US" sz="1000" b="0" i="0">
                <a:solidFill>
                  <a:srgbClr val="008013"/>
                </a:solidFill>
                <a:effectLst/>
                <a:latin typeface="Menlo"/>
              </a:rPr>
              <a:t>值</a:t>
            </a:r>
            <a:endParaRPr lang="zh-CN" altLang="en-US" sz="1000" b="0" i="0">
              <a:effectLst/>
              <a:latin typeface="Menlo"/>
            </a:endParaRPr>
          </a:p>
          <a:p>
            <a:r>
              <a:rPr lang="en-US" altLang="zh-CN" sz="1000" b="1" i="0">
                <a:effectLst/>
                <a:latin typeface="Menlo"/>
              </a:rPr>
              <a:t>[R,P] </a:t>
            </a:r>
            <a:r>
              <a:rPr lang="en-US" altLang="zh-CN" sz="1000" b="0" i="0">
                <a:effectLst/>
                <a:latin typeface="Menlo"/>
              </a:rPr>
              <a:t>= corrcoef(Test)</a:t>
            </a:r>
          </a:p>
          <a:p>
            <a:r>
              <a:rPr lang="en-US" altLang="zh-CN" sz="1000" b="0" i="0">
                <a:solidFill>
                  <a:srgbClr val="008013"/>
                </a:solidFill>
                <a:effectLst/>
                <a:latin typeface="Menlo"/>
              </a:rPr>
              <a:t>% </a:t>
            </a:r>
            <a:r>
              <a:rPr lang="zh-CN" altLang="en-US" sz="1000" b="0" i="0">
                <a:solidFill>
                  <a:srgbClr val="008013"/>
                </a:solidFill>
                <a:effectLst/>
                <a:latin typeface="Menlo"/>
              </a:rPr>
              <a:t>在</a:t>
            </a:r>
            <a:r>
              <a:rPr lang="en-US" altLang="zh-CN" sz="1000" b="0" i="0">
                <a:solidFill>
                  <a:srgbClr val="FF0000"/>
                </a:solidFill>
                <a:effectLst/>
                <a:latin typeface="Menlo"/>
              </a:rPr>
              <a:t>EXCEL</a:t>
            </a:r>
            <a:r>
              <a:rPr lang="zh-CN" altLang="en-US" sz="1000" b="0" i="0">
                <a:solidFill>
                  <a:srgbClr val="008013"/>
                </a:solidFill>
                <a:effectLst/>
                <a:latin typeface="Menlo"/>
              </a:rPr>
              <a:t>中给数据标显著性符号</a:t>
            </a:r>
            <a:endParaRPr lang="zh-CN" altLang="en-US" sz="1000" b="0" i="0">
              <a:effectLst/>
              <a:latin typeface="Menlo"/>
            </a:endParaRPr>
          </a:p>
          <a:p>
            <a:r>
              <a:rPr lang="en-US" altLang="zh-CN" sz="1000" b="0" i="0">
                <a:effectLst/>
                <a:latin typeface="Menlo"/>
              </a:rPr>
              <a:t>P &lt; 0.01                          </a:t>
            </a:r>
            <a:r>
              <a:rPr lang="en-US" altLang="zh-CN" sz="1000" b="0" i="0">
                <a:solidFill>
                  <a:srgbClr val="008013"/>
                </a:solidFill>
                <a:effectLst/>
                <a:latin typeface="Menlo"/>
              </a:rPr>
              <a:t>% </a:t>
            </a:r>
            <a:r>
              <a:rPr lang="zh-CN" altLang="en-US" sz="1000" b="0" i="0">
                <a:solidFill>
                  <a:srgbClr val="008013"/>
                </a:solidFill>
                <a:effectLst/>
                <a:latin typeface="Menlo"/>
              </a:rPr>
              <a:t>标记***</a:t>
            </a:r>
            <a:endParaRPr lang="zh-CN" altLang="en-US" sz="1000" b="0" i="0">
              <a:effectLst/>
              <a:latin typeface="Menlo"/>
            </a:endParaRPr>
          </a:p>
          <a:p>
            <a:r>
              <a:rPr lang="en-US" altLang="zh-CN" sz="1000" b="0" i="0">
                <a:effectLst/>
                <a:latin typeface="Menlo"/>
              </a:rPr>
              <a:t>(P &lt; 0.05) .* (P &gt; 0.01) </a:t>
            </a:r>
            <a:r>
              <a:rPr lang="en-US" altLang="zh-CN" sz="1000" b="0" i="0">
                <a:solidFill>
                  <a:srgbClr val="008013"/>
                </a:solidFill>
                <a:effectLst/>
                <a:latin typeface="Menlo"/>
              </a:rPr>
              <a:t>% </a:t>
            </a:r>
            <a:r>
              <a:rPr lang="zh-CN" altLang="en-US" sz="1000" b="0" i="0">
                <a:solidFill>
                  <a:srgbClr val="008013"/>
                </a:solidFill>
                <a:effectLst/>
                <a:latin typeface="Menlo"/>
              </a:rPr>
              <a:t>标记**</a:t>
            </a:r>
            <a:endParaRPr lang="zh-CN" altLang="en-US" sz="1000" b="0" i="0">
              <a:effectLst/>
              <a:latin typeface="Menlo"/>
            </a:endParaRPr>
          </a:p>
          <a:p>
            <a:r>
              <a:rPr lang="en-US" altLang="zh-CN" sz="1000" b="0" i="0">
                <a:effectLst/>
                <a:latin typeface="Menlo"/>
              </a:rPr>
              <a:t>(P &lt; 0.1) .* (P &gt; 0.05)   </a:t>
            </a:r>
            <a:r>
              <a:rPr lang="en-US" altLang="zh-CN" sz="1000" b="0" i="0">
                <a:solidFill>
                  <a:srgbClr val="008013"/>
                </a:solidFill>
                <a:effectLst/>
                <a:latin typeface="Menlo"/>
              </a:rPr>
              <a:t>% </a:t>
            </a:r>
            <a:r>
              <a:rPr lang="zh-CN" altLang="en-US" sz="1000" b="0" i="0">
                <a:solidFill>
                  <a:srgbClr val="008013"/>
                </a:solidFill>
                <a:effectLst/>
                <a:latin typeface="Menlo"/>
              </a:rPr>
              <a:t>标记*</a:t>
            </a:r>
            <a:endParaRPr lang="zh-CN" altLang="en-US" sz="1000" b="0" i="0">
              <a:effectLst/>
              <a:latin typeface="Menlo"/>
            </a:endParaRPr>
          </a:p>
          <a:p>
            <a:r>
              <a:rPr lang="en-US" altLang="zh-CN" sz="1000" b="0" i="0">
                <a:solidFill>
                  <a:srgbClr val="008013"/>
                </a:solidFill>
                <a:effectLst/>
                <a:latin typeface="Menlo"/>
              </a:rPr>
              <a:t>% </a:t>
            </a:r>
            <a:r>
              <a:rPr lang="zh-CN" altLang="en-US" sz="1000" b="0" i="0">
                <a:solidFill>
                  <a:srgbClr val="008013"/>
                </a:solidFill>
                <a:effectLst/>
                <a:latin typeface="Menlo"/>
              </a:rPr>
              <a:t>可使用</a:t>
            </a:r>
            <a:r>
              <a:rPr lang="en-US" altLang="zh-CN" sz="1000" b="0" i="0">
                <a:solidFill>
                  <a:srgbClr val="FF0000"/>
                </a:solidFill>
                <a:effectLst/>
                <a:latin typeface="Menlo"/>
              </a:rPr>
              <a:t>Spss</a:t>
            </a:r>
            <a:r>
              <a:rPr lang="en-US" altLang="zh-CN" sz="1000" b="0" i="0">
                <a:solidFill>
                  <a:srgbClr val="008013"/>
                </a:solidFill>
                <a:effectLst/>
                <a:latin typeface="Menlo"/>
              </a:rPr>
              <a:t>,</a:t>
            </a:r>
            <a:r>
              <a:rPr lang="zh-CN" altLang="en-US" sz="1000" b="0" i="0">
                <a:solidFill>
                  <a:srgbClr val="008013"/>
                </a:solidFill>
                <a:effectLst/>
                <a:latin typeface="Menlo"/>
              </a:rPr>
              <a:t>更便捷</a:t>
            </a:r>
            <a:endParaRPr lang="zh-CN" altLang="en-US" sz="1000" b="0" i="0">
              <a:effectLst/>
              <a:latin typeface="Menlo"/>
            </a:endParaRPr>
          </a:p>
        </p:txBody>
      </p:sp>
      <p:sp>
        <p:nvSpPr>
          <p:cNvPr id="65" name="文本框 64">
            <a:extLst>
              <a:ext uri="{FF2B5EF4-FFF2-40B4-BE49-F238E27FC236}">
                <a16:creationId xmlns:a16="http://schemas.microsoft.com/office/drawing/2014/main" id="{7B813D34-6C0C-C55F-687A-EAFD8E37C00C}"/>
              </a:ext>
            </a:extLst>
          </p:cNvPr>
          <p:cNvSpPr txBox="1"/>
          <p:nvPr/>
        </p:nvSpPr>
        <p:spPr>
          <a:xfrm>
            <a:off x="6865684" y="-12250"/>
            <a:ext cx="2890477" cy="830997"/>
          </a:xfrm>
          <a:prstGeom prst="rect">
            <a:avLst/>
          </a:prstGeom>
          <a:noFill/>
        </p:spPr>
        <p:txBody>
          <a:bodyPr wrap="square" rtlCol="0">
            <a:spAutoFit/>
          </a:bodyPr>
          <a:lstStyle/>
          <a:p>
            <a:r>
              <a:rPr lang="zh-CN" altLang="en-US" sz="1200">
                <a:sym typeface="Wingdings" panose="05000000000000000000" pitchFamily="2" charset="2"/>
              </a:rPr>
              <a:t>假设检验条件</a:t>
            </a:r>
            <a:r>
              <a:rPr lang="zh-CN" altLang="en-US" sz="1200"/>
              <a:t>：</a:t>
            </a:r>
            <a:endParaRPr lang="en-US" altLang="zh-CN" sz="1200"/>
          </a:p>
          <a:p>
            <a:pPr marL="228600" indent="-228600">
              <a:buFont typeface="+mj-lt"/>
              <a:buAutoNum type="arabicPeriod"/>
            </a:pPr>
            <a:r>
              <a:rPr lang="zh-CN" altLang="en-US" sz="1200"/>
              <a:t>实验数据符合</a:t>
            </a:r>
            <a:r>
              <a:rPr lang="zh-CN" altLang="en-US" sz="1200">
                <a:solidFill>
                  <a:srgbClr val="FF0000"/>
                </a:solidFill>
              </a:rPr>
              <a:t>正态分布</a:t>
            </a:r>
            <a:endParaRPr lang="en-US" altLang="zh-CN" sz="1200">
              <a:solidFill>
                <a:srgbClr val="FF0000"/>
              </a:solidFill>
            </a:endParaRPr>
          </a:p>
          <a:p>
            <a:pPr marL="228600" indent="-228600">
              <a:buFont typeface="+mj-lt"/>
              <a:buAutoNum type="arabicPeriod"/>
            </a:pPr>
            <a:r>
              <a:rPr lang="zh-CN" altLang="en-US" sz="1200"/>
              <a:t>数据间</a:t>
            </a:r>
            <a:r>
              <a:rPr lang="zh-CN" altLang="en-US" sz="1200">
                <a:solidFill>
                  <a:srgbClr val="FF0000"/>
                </a:solidFill>
              </a:rPr>
              <a:t>差距较小</a:t>
            </a:r>
            <a:r>
              <a:rPr lang="zh-CN" altLang="en-US" sz="1200"/>
              <a:t>（异常值少）</a:t>
            </a:r>
            <a:endParaRPr lang="en-US" altLang="zh-CN" sz="1200"/>
          </a:p>
          <a:p>
            <a:pPr marL="228600" indent="-228600">
              <a:buFont typeface="+mj-lt"/>
              <a:buAutoNum type="arabicPeriod"/>
            </a:pPr>
            <a:r>
              <a:rPr lang="zh-CN" altLang="en-US" sz="1200"/>
              <a:t>每组样本</a:t>
            </a:r>
            <a:r>
              <a:rPr lang="zh-CN" altLang="en-US" sz="1200">
                <a:solidFill>
                  <a:srgbClr val="FF0000"/>
                </a:solidFill>
              </a:rPr>
              <a:t>独立抽样</a:t>
            </a:r>
          </a:p>
        </p:txBody>
      </p:sp>
      <p:sp>
        <p:nvSpPr>
          <p:cNvPr id="69" name="矩形 68">
            <a:extLst>
              <a:ext uri="{FF2B5EF4-FFF2-40B4-BE49-F238E27FC236}">
                <a16:creationId xmlns:a16="http://schemas.microsoft.com/office/drawing/2014/main" id="{B928B248-D5C1-2F0E-762E-7FAF7AEEAA33}"/>
              </a:ext>
            </a:extLst>
          </p:cNvPr>
          <p:cNvSpPr/>
          <p:nvPr/>
        </p:nvSpPr>
        <p:spPr>
          <a:xfrm>
            <a:off x="6514058" y="4290337"/>
            <a:ext cx="5677942" cy="2567663"/>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14A80B22-893F-26B2-3E82-4B7C3D670707}"/>
              </a:ext>
            </a:extLst>
          </p:cNvPr>
          <p:cNvSpPr txBox="1"/>
          <p:nvPr/>
        </p:nvSpPr>
        <p:spPr>
          <a:xfrm>
            <a:off x="4587600" y="693939"/>
            <a:ext cx="1676416" cy="646331"/>
          </a:xfrm>
          <a:prstGeom prst="rect">
            <a:avLst/>
          </a:prstGeom>
          <a:noFill/>
        </p:spPr>
        <p:txBody>
          <a:bodyPr wrap="square">
            <a:spAutoFit/>
          </a:bodyPr>
          <a:lstStyle/>
          <a:p>
            <a:r>
              <a:rPr lang="zh-CN" altLang="en-US" sz="1200" b="1">
                <a:solidFill>
                  <a:srgbClr val="FF0000"/>
                </a:solidFill>
              </a:rPr>
              <a:t>原假设 </a:t>
            </a:r>
            <a:r>
              <a:rPr lang="en-US" altLang="zh-CN" sz="1200" b="1">
                <a:solidFill>
                  <a:srgbClr val="FF0000"/>
                </a:solidFill>
              </a:rPr>
              <a:t>H₀</a:t>
            </a:r>
            <a:r>
              <a:rPr lang="zh-CN" altLang="en-US" sz="1200"/>
              <a:t>：待验假设，通常是关于参数</a:t>
            </a:r>
            <a:r>
              <a:rPr lang="zh-CN" altLang="en-US" sz="1200">
                <a:solidFill>
                  <a:srgbClr val="FF0000"/>
                </a:solidFill>
              </a:rPr>
              <a:t>无变化或无差异</a:t>
            </a:r>
            <a:r>
              <a:rPr lang="zh-CN" altLang="en-US" sz="1200"/>
              <a:t>的假设。</a:t>
            </a:r>
          </a:p>
        </p:txBody>
      </p:sp>
      <p:sp>
        <p:nvSpPr>
          <p:cNvPr id="23" name="文本框 22">
            <a:extLst>
              <a:ext uri="{FF2B5EF4-FFF2-40B4-BE49-F238E27FC236}">
                <a16:creationId xmlns:a16="http://schemas.microsoft.com/office/drawing/2014/main" id="{2710D6E7-0552-4328-5903-B55F0830F22B}"/>
              </a:ext>
            </a:extLst>
          </p:cNvPr>
          <p:cNvSpPr txBox="1"/>
          <p:nvPr/>
        </p:nvSpPr>
        <p:spPr>
          <a:xfrm>
            <a:off x="5246449" y="3437956"/>
            <a:ext cx="3707195" cy="830997"/>
          </a:xfrm>
          <a:prstGeom prst="rect">
            <a:avLst/>
          </a:prstGeom>
          <a:noFill/>
        </p:spPr>
        <p:txBody>
          <a:bodyPr wrap="square">
            <a:spAutoFit/>
          </a:bodyPr>
          <a:lstStyle/>
          <a:p>
            <a:r>
              <a:rPr lang="zh-CN" altLang="en-US" sz="1200" b="1">
                <a:solidFill>
                  <a:srgbClr val="FF0000"/>
                </a:solidFill>
              </a:rPr>
              <a:t>置信水平</a:t>
            </a:r>
            <a:r>
              <a:rPr lang="en-US" altLang="zh-CN" sz="1200"/>
              <a:t>: </a:t>
            </a:r>
            <a:r>
              <a:rPr lang="zh-CN" altLang="en-US" sz="1200"/>
              <a:t>在假设检验中我们</a:t>
            </a:r>
            <a:r>
              <a:rPr lang="zh-CN" altLang="en-US" sz="1200">
                <a:solidFill>
                  <a:srgbClr val="FF0000"/>
                </a:solidFill>
              </a:rPr>
              <a:t>愿意接受</a:t>
            </a:r>
            <a:r>
              <a:rPr lang="zh-CN" altLang="en-US" sz="1200"/>
              <a:t>的</a:t>
            </a:r>
            <a:r>
              <a:rPr lang="zh-CN" altLang="en-US" sz="1200">
                <a:solidFill>
                  <a:srgbClr val="FF0000"/>
                </a:solidFill>
              </a:rPr>
              <a:t>犯第一类错误</a:t>
            </a:r>
            <a:r>
              <a:rPr lang="zh-CN" altLang="en-US" sz="1200"/>
              <a:t>的</a:t>
            </a:r>
            <a:r>
              <a:rPr lang="zh-CN" altLang="en-US" sz="1200">
                <a:solidFill>
                  <a:srgbClr val="FF0000"/>
                </a:solidFill>
              </a:rPr>
              <a:t>最大概率</a:t>
            </a:r>
            <a:r>
              <a:rPr lang="en-US" altLang="zh-CN" sz="1200">
                <a:solidFill>
                  <a:srgbClr val="FF0000"/>
                </a:solidFill>
              </a:rPr>
              <a:t>.</a:t>
            </a:r>
          </a:p>
          <a:p>
            <a:r>
              <a:rPr lang="zh-CN" altLang="en-US" sz="1200"/>
              <a:t>第一类错误（</a:t>
            </a:r>
            <a:r>
              <a:rPr lang="en-US" altLang="zh-CN" sz="1200"/>
              <a:t>Type I Error</a:t>
            </a:r>
            <a:r>
              <a:rPr lang="zh-CN" altLang="en-US" sz="1200"/>
              <a:t>）</a:t>
            </a:r>
            <a:r>
              <a:rPr lang="en-US" altLang="zh-CN" sz="1200"/>
              <a:t>: </a:t>
            </a:r>
            <a:r>
              <a:rPr lang="zh-CN" altLang="en-US" sz="1200"/>
              <a:t>拒绝了正确的原假设</a:t>
            </a:r>
            <a:endParaRPr lang="en-US" altLang="zh-CN" sz="1200"/>
          </a:p>
          <a:p>
            <a:r>
              <a:rPr lang="zh-CN" altLang="en-US" sz="1200"/>
              <a:t>第二类错误（</a:t>
            </a:r>
            <a:r>
              <a:rPr lang="en-US" altLang="zh-CN" sz="1200"/>
              <a:t>Type II Error</a:t>
            </a:r>
            <a:r>
              <a:rPr lang="zh-CN" altLang="en-US" sz="1200"/>
              <a:t>）</a:t>
            </a:r>
            <a:r>
              <a:rPr lang="en-US" altLang="zh-CN" sz="1200"/>
              <a:t>: </a:t>
            </a:r>
            <a:r>
              <a:rPr lang="zh-CN" altLang="en-US" sz="1200"/>
              <a:t>接受了不正确的原假设</a:t>
            </a:r>
          </a:p>
        </p:txBody>
      </p:sp>
      <p:sp>
        <p:nvSpPr>
          <p:cNvPr id="31" name="文本框 30">
            <a:extLst>
              <a:ext uri="{FF2B5EF4-FFF2-40B4-BE49-F238E27FC236}">
                <a16:creationId xmlns:a16="http://schemas.microsoft.com/office/drawing/2014/main" id="{8D73B82C-FF0A-BFCB-91E2-19D4B33BC465}"/>
              </a:ext>
            </a:extLst>
          </p:cNvPr>
          <p:cNvSpPr txBox="1"/>
          <p:nvPr/>
        </p:nvSpPr>
        <p:spPr>
          <a:xfrm>
            <a:off x="3358249" y="5439188"/>
            <a:ext cx="3153926" cy="1200329"/>
          </a:xfrm>
          <a:prstGeom prst="rect">
            <a:avLst/>
          </a:prstGeom>
          <a:noFill/>
        </p:spPr>
        <p:txBody>
          <a:bodyPr wrap="square" rtlCol="0">
            <a:spAutoFit/>
          </a:bodyPr>
          <a:lstStyle/>
          <a:p>
            <a:r>
              <a:rPr lang="zh-CN" altLang="en-US" sz="1200"/>
              <a:t>在</a:t>
            </a:r>
            <a:r>
              <a:rPr lang="en-US" altLang="zh-CN" sz="1200"/>
              <a:t>95%</a:t>
            </a:r>
            <a:r>
              <a:rPr lang="zh-CN" altLang="en-US" sz="1200"/>
              <a:t>的置信水平下</a:t>
            </a:r>
            <a:r>
              <a:rPr lang="en-US" altLang="zh-CN" sz="1200"/>
              <a:t>,</a:t>
            </a:r>
            <a:r>
              <a:rPr lang="zh-CN" altLang="en-US" sz="1200"/>
              <a:t>意思是</a:t>
            </a:r>
            <a:r>
              <a:rPr lang="zh-CN" altLang="en-US" sz="1200">
                <a:solidFill>
                  <a:srgbClr val="FF0000"/>
                </a:solidFill>
              </a:rPr>
              <a:t>愿意承担最多</a:t>
            </a:r>
            <a:r>
              <a:rPr lang="en-US" altLang="zh-CN" sz="1200">
                <a:solidFill>
                  <a:srgbClr val="FF0000"/>
                </a:solidFill>
              </a:rPr>
              <a:t>5%</a:t>
            </a:r>
            <a:r>
              <a:rPr lang="zh-CN" altLang="en-US" sz="1200">
                <a:solidFill>
                  <a:srgbClr val="FF0000"/>
                </a:solidFill>
              </a:rPr>
              <a:t>的风险</a:t>
            </a:r>
            <a:r>
              <a:rPr lang="zh-CN" altLang="en-US" sz="1200"/>
              <a:t>犯第一类错误</a:t>
            </a:r>
            <a:r>
              <a:rPr lang="en-US" altLang="zh-CN" sz="1200"/>
              <a:t>(</a:t>
            </a:r>
            <a:r>
              <a:rPr lang="zh-CN" altLang="en-US" sz="1200"/>
              <a:t>即我们拒绝了原假设</a:t>
            </a:r>
            <a:r>
              <a:rPr lang="en-US" altLang="zh-CN" sz="1200"/>
              <a:t>,</a:t>
            </a:r>
            <a:r>
              <a:rPr lang="zh-CN" altLang="en-US" sz="1200"/>
              <a:t>但原假设其实是正确的</a:t>
            </a:r>
            <a:r>
              <a:rPr lang="en-US" altLang="zh-CN" sz="1200"/>
              <a:t>)</a:t>
            </a:r>
          </a:p>
          <a:p>
            <a:r>
              <a:rPr lang="zh-CN" altLang="en-US" sz="1200"/>
              <a:t>当算得</a:t>
            </a:r>
            <a:r>
              <a:rPr lang="en-US" altLang="zh-CN" sz="1200"/>
              <a:t>p=0.0049</a:t>
            </a:r>
            <a:r>
              <a:rPr lang="zh-CN" altLang="en-US" sz="1200"/>
              <a:t>时</a:t>
            </a:r>
            <a:r>
              <a:rPr lang="en-US" altLang="zh-CN" sz="1200"/>
              <a:t>, </a:t>
            </a:r>
            <a:r>
              <a:rPr lang="zh-CN" altLang="en-US" sz="1200"/>
              <a:t>因为</a:t>
            </a:r>
            <a:r>
              <a:rPr lang="en-US" altLang="zh-CN" sz="1200"/>
              <a:t>0.49%&lt;&lt;5%, </a:t>
            </a:r>
            <a:r>
              <a:rPr lang="zh-CN" altLang="en-US" sz="1200"/>
              <a:t>所以这个</a:t>
            </a:r>
            <a:r>
              <a:rPr lang="zh-CN" altLang="en-US" sz="1200">
                <a:solidFill>
                  <a:srgbClr val="FF0000"/>
                </a:solidFill>
              </a:rPr>
              <a:t>犯错风险极小</a:t>
            </a:r>
            <a:r>
              <a:rPr lang="en-US" altLang="zh-CN" sz="1200"/>
              <a:t>,</a:t>
            </a:r>
            <a:r>
              <a:rPr lang="zh-CN" altLang="en-US" sz="1200"/>
              <a:t>可以承担</a:t>
            </a:r>
            <a:r>
              <a:rPr lang="en-US" altLang="zh-CN" sz="1200"/>
              <a:t>.</a:t>
            </a:r>
          </a:p>
          <a:p>
            <a:r>
              <a:rPr lang="zh-CN" altLang="en-US" sz="1200"/>
              <a:t>所以我们</a:t>
            </a:r>
            <a:r>
              <a:rPr lang="zh-CN" altLang="en-US" sz="1200">
                <a:solidFill>
                  <a:srgbClr val="FF0000"/>
                </a:solidFill>
              </a:rPr>
              <a:t>拒绝原假设</a:t>
            </a:r>
            <a:r>
              <a:rPr lang="en-US" altLang="zh-CN" sz="1200"/>
              <a:t>.</a:t>
            </a:r>
            <a:endParaRPr lang="zh-CN" altLang="en-US" sz="1200"/>
          </a:p>
        </p:txBody>
      </p:sp>
      <mc:AlternateContent xmlns:mc="http://schemas.openxmlformats.org/markup-compatibility/2006">
        <mc:Choice xmlns:am3d="http://schemas.microsoft.com/office/drawing/2017/model3d" Requires="am3d">
          <p:graphicFrame>
            <p:nvGraphicFramePr>
              <p:cNvPr id="33" name="3D 模型 32" descr="Hexagonal Pyramid Red">
                <a:extLst>
                  <a:ext uri="{FF2B5EF4-FFF2-40B4-BE49-F238E27FC236}">
                    <a16:creationId xmlns:a16="http://schemas.microsoft.com/office/drawing/2014/main" id="{579889E3-9674-504F-DB08-A92CE2FDC6B9}"/>
                  </a:ext>
                </a:extLst>
              </p:cNvPr>
              <p:cNvGraphicFramePr>
                <a:graphicFrameLocks noChangeAspect="1"/>
              </p:cNvGraphicFramePr>
              <p:nvPr>
                <p:extLst>
                  <p:ext uri="{D42A27DB-BD31-4B8C-83A1-F6EECF244321}">
                    <p14:modId xmlns:p14="http://schemas.microsoft.com/office/powerpoint/2010/main" val="983889195"/>
                  </p:ext>
                </p:extLst>
              </p:nvPr>
            </p:nvGraphicFramePr>
            <p:xfrm>
              <a:off x="3029065" y="5399615"/>
              <a:ext cx="366574" cy="498164"/>
            </p:xfrm>
            <a:graphic>
              <a:graphicData uri="http://schemas.microsoft.com/office/drawing/2017/model3d">
                <am3d:model3d r:embed="rId29">
                  <am3d:spPr>
                    <a:xfrm>
                      <a:off x="0" y="0"/>
                      <a:ext cx="366574" cy="498164"/>
                    </a:xfrm>
                    <a:prstGeom prst="rect">
                      <a:avLst/>
                    </a:prstGeom>
                  </am3d:spPr>
                  <am3d:camera>
                    <am3d:pos x="0" y="0" z="66464289"/>
                    <am3d:up dx="0" dy="36000000" dz="0"/>
                    <am3d:lookAt x="0" y="0" z="0"/>
                    <am3d:perspective fov="2700000"/>
                  </am3d:camera>
                  <am3d:trans>
                    <am3d:meterPerModelUnit n="101637" d="1000000"/>
                    <am3d:preTrans dx="0" dy="-18000000" dz="0"/>
                    <am3d:scale>
                      <am3d:sx n="1000000" d="1000000"/>
                      <am3d:sy n="1000000" d="1000000"/>
                      <am3d:sz n="1000000" d="1000000"/>
                    </am3d:scale>
                    <am3d:rot ax="-10799999" az="-10799999"/>
                    <am3d:postTrans dx="0" dy="0" dz="0"/>
                  </am3d:trans>
                  <am3d:raster rName="Office3DRenderer" rVer="16.0.8326">
                    <am3d:blip r:embed="rId30"/>
                  </am3d:raster>
                  <am3d:objViewport viewportSz="6297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3D 模型 32" descr="Hexagonal Pyramid Red">
                <a:extLst>
                  <a:ext uri="{FF2B5EF4-FFF2-40B4-BE49-F238E27FC236}">
                    <a16:creationId xmlns:a16="http://schemas.microsoft.com/office/drawing/2014/main" id="{579889E3-9674-504F-DB08-A92CE2FDC6B9}"/>
                  </a:ext>
                </a:extLst>
              </p:cNvPr>
              <p:cNvPicPr>
                <a:picLocks noGrp="1" noRot="1" noChangeAspect="1" noMove="1" noResize="1" noEditPoints="1" noAdjustHandles="1" noChangeArrowheads="1" noChangeShapeType="1" noCrop="1"/>
              </p:cNvPicPr>
              <p:nvPr/>
            </p:nvPicPr>
            <p:blipFill>
              <a:blip r:embed="rId30"/>
              <a:stretch>
                <a:fillRect/>
              </a:stretch>
            </p:blipFill>
            <p:spPr>
              <a:xfrm>
                <a:off x="3029065" y="5399615"/>
                <a:ext cx="366574" cy="498164"/>
              </a:xfrm>
              <a:prstGeom prst="rect">
                <a:avLst/>
              </a:prstGeom>
            </p:spPr>
          </p:pic>
        </mc:Fallback>
      </mc:AlternateContent>
    </p:spTree>
    <p:extLst>
      <p:ext uri="{BB962C8B-B14F-4D97-AF65-F5344CB8AC3E}">
        <p14:creationId xmlns:p14="http://schemas.microsoft.com/office/powerpoint/2010/main" val="1718114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2E0DBA6A-C323-3EBE-AEA7-3D487582B193}"/>
              </a:ext>
            </a:extLst>
          </p:cNvPr>
          <p:cNvSpPr/>
          <p:nvPr/>
        </p:nvSpPr>
        <p:spPr>
          <a:xfrm>
            <a:off x="5840506" y="3298922"/>
            <a:ext cx="1964182" cy="47965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D92F134A-05AB-B9CA-4DA5-077CBB88A5D4}"/>
              </a:ext>
            </a:extLst>
          </p:cNvPr>
          <p:cNvSpPr/>
          <p:nvPr/>
        </p:nvSpPr>
        <p:spPr>
          <a:xfrm>
            <a:off x="922660" y="4390282"/>
            <a:ext cx="2220686" cy="111208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2E2592A-CC1B-BE96-4764-030981AE9DAE}"/>
              </a:ext>
            </a:extLst>
          </p:cNvPr>
          <p:cNvSpPr txBox="1"/>
          <p:nvPr/>
        </p:nvSpPr>
        <p:spPr>
          <a:xfrm>
            <a:off x="-17205" y="29351"/>
            <a:ext cx="4724472"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斯皮尔曼相关系数</a:t>
            </a:r>
          </a:p>
        </p:txBody>
      </p:sp>
      <p:sp>
        <p:nvSpPr>
          <p:cNvPr id="6" name="文本框 5">
            <a:extLst>
              <a:ext uri="{FF2B5EF4-FFF2-40B4-BE49-F238E27FC236}">
                <a16:creationId xmlns:a16="http://schemas.microsoft.com/office/drawing/2014/main" id="{F3109A52-451C-18E9-D6AC-79FF99E80445}"/>
              </a:ext>
            </a:extLst>
          </p:cNvPr>
          <p:cNvSpPr txBox="1"/>
          <p:nvPr/>
        </p:nvSpPr>
        <p:spPr>
          <a:xfrm>
            <a:off x="4589355" y="259246"/>
            <a:ext cx="1517596" cy="369332"/>
          </a:xfrm>
          <a:prstGeom prst="rect">
            <a:avLst/>
          </a:prstGeom>
          <a:noFill/>
        </p:spPr>
        <p:txBody>
          <a:bodyPr wrap="square">
            <a:spAutoFit/>
          </a:bodyPr>
          <a:lstStyle/>
          <a:p>
            <a:r>
              <a:rPr lang="en-US" altLang="zh-CN">
                <a:latin typeface="CommercialScript BT" panose="03030803040807090C04" pitchFamily="66" charset="0"/>
                <a:ea typeface="优设标题黑" panose="00000500000000000000" pitchFamily="2" charset="-122"/>
              </a:rPr>
              <a:t>Spearman</a:t>
            </a:r>
            <a:endParaRPr lang="zh-CN" altLang="en-US">
              <a:latin typeface="CommercialScript BT" panose="03030803040807090C04" pitchFamily="66" charset="0"/>
              <a:ea typeface="优设标题黑" panose="00000500000000000000" pitchFamily="2" charset="-122"/>
            </a:endParaRPr>
          </a:p>
        </p:txBody>
      </p:sp>
      <p:graphicFrame>
        <p:nvGraphicFramePr>
          <p:cNvPr id="7" name="对象 6">
            <a:extLst>
              <a:ext uri="{FF2B5EF4-FFF2-40B4-BE49-F238E27FC236}">
                <a16:creationId xmlns:a16="http://schemas.microsoft.com/office/drawing/2014/main" id="{767E272F-8D90-6941-FB6F-D9348BA598DE}"/>
              </a:ext>
            </a:extLst>
          </p:cNvPr>
          <p:cNvGraphicFramePr>
            <a:graphicFrameLocks noChangeAspect="1"/>
          </p:cNvGraphicFramePr>
          <p:nvPr>
            <p:extLst>
              <p:ext uri="{D42A27DB-BD31-4B8C-83A1-F6EECF244321}">
                <p14:modId xmlns:p14="http://schemas.microsoft.com/office/powerpoint/2010/main" val="3673373173"/>
              </p:ext>
            </p:extLst>
          </p:nvPr>
        </p:nvGraphicFramePr>
        <p:xfrm>
          <a:off x="651871" y="1208835"/>
          <a:ext cx="3386323" cy="1174619"/>
        </p:xfrm>
        <a:graphic>
          <a:graphicData uri="http://schemas.openxmlformats.org/presentationml/2006/ole">
            <mc:AlternateContent xmlns:mc="http://schemas.openxmlformats.org/markup-compatibility/2006">
              <mc:Choice xmlns:v="urn:schemas-microsoft-com:vml" Requires="v">
                <p:oleObj name="AxMath" r:id="rId2" imgW="2892600" imgH="1002600" progId="Equation.AxMath">
                  <p:embed/>
                </p:oleObj>
              </mc:Choice>
              <mc:Fallback>
                <p:oleObj name="AxMath" r:id="rId2" imgW="2892600" imgH="1002600" progId="Equation.AxMath">
                  <p:embed/>
                  <p:pic>
                    <p:nvPicPr>
                      <p:cNvPr id="0" name=""/>
                      <p:cNvPicPr/>
                      <p:nvPr/>
                    </p:nvPicPr>
                    <p:blipFill>
                      <a:blip r:embed="rId3"/>
                      <a:stretch>
                        <a:fillRect/>
                      </a:stretch>
                    </p:blipFill>
                    <p:spPr>
                      <a:xfrm>
                        <a:off x="651871" y="1208835"/>
                        <a:ext cx="3386323" cy="1174619"/>
                      </a:xfrm>
                      <a:prstGeom prst="rect">
                        <a:avLst/>
                      </a:prstGeom>
                    </p:spPr>
                  </p:pic>
                </p:oleObj>
              </mc:Fallback>
            </mc:AlternateContent>
          </a:graphicData>
        </a:graphic>
      </p:graphicFrame>
      <p:pic>
        <p:nvPicPr>
          <p:cNvPr id="9" name="图片 8">
            <a:extLst>
              <a:ext uri="{FF2B5EF4-FFF2-40B4-BE49-F238E27FC236}">
                <a16:creationId xmlns:a16="http://schemas.microsoft.com/office/drawing/2014/main" id="{D2C325E7-1DA7-9E66-8573-2B092276FE52}"/>
              </a:ext>
            </a:extLst>
          </p:cNvPr>
          <p:cNvPicPr>
            <a:picLocks noChangeAspect="1"/>
          </p:cNvPicPr>
          <p:nvPr/>
        </p:nvPicPr>
        <p:blipFill>
          <a:blip r:embed="rId4"/>
          <a:stretch>
            <a:fillRect/>
          </a:stretch>
        </p:blipFill>
        <p:spPr>
          <a:xfrm>
            <a:off x="922263" y="2383454"/>
            <a:ext cx="2845537" cy="994321"/>
          </a:xfrm>
          <a:prstGeom prst="rect">
            <a:avLst/>
          </a:prstGeom>
        </p:spPr>
      </p:pic>
      <p:graphicFrame>
        <p:nvGraphicFramePr>
          <p:cNvPr id="10" name="对象 9">
            <a:extLst>
              <a:ext uri="{FF2B5EF4-FFF2-40B4-BE49-F238E27FC236}">
                <a16:creationId xmlns:a16="http://schemas.microsoft.com/office/drawing/2014/main" id="{13142B79-4790-6B8F-CF81-D5DAABA7665E}"/>
              </a:ext>
            </a:extLst>
          </p:cNvPr>
          <p:cNvGraphicFramePr>
            <a:graphicFrameLocks noChangeAspect="1"/>
          </p:cNvGraphicFramePr>
          <p:nvPr>
            <p:extLst>
              <p:ext uri="{D42A27DB-BD31-4B8C-83A1-F6EECF244321}">
                <p14:modId xmlns:p14="http://schemas.microsoft.com/office/powerpoint/2010/main" val="102038924"/>
              </p:ext>
            </p:extLst>
          </p:nvPr>
        </p:nvGraphicFramePr>
        <p:xfrm>
          <a:off x="651871" y="3427317"/>
          <a:ext cx="1780454" cy="261511"/>
        </p:xfrm>
        <a:graphic>
          <a:graphicData uri="http://schemas.openxmlformats.org/presentationml/2006/ole">
            <mc:AlternateContent xmlns:mc="http://schemas.openxmlformats.org/markup-compatibility/2006">
              <mc:Choice xmlns:v="urn:schemas-microsoft-com:vml" Requires="v">
                <p:oleObj name="AxMath" r:id="rId5" imgW="1297440" imgH="190800" progId="Equation.AxMath">
                  <p:embed/>
                </p:oleObj>
              </mc:Choice>
              <mc:Fallback>
                <p:oleObj name="AxMath" r:id="rId5" imgW="1297440" imgH="190800" progId="Equation.AxMath">
                  <p:embed/>
                  <p:pic>
                    <p:nvPicPr>
                      <p:cNvPr id="0" name=""/>
                      <p:cNvPicPr/>
                      <p:nvPr/>
                    </p:nvPicPr>
                    <p:blipFill>
                      <a:blip r:embed="rId6"/>
                      <a:stretch>
                        <a:fillRect/>
                      </a:stretch>
                    </p:blipFill>
                    <p:spPr>
                      <a:xfrm>
                        <a:off x="651871" y="3427317"/>
                        <a:ext cx="1780454" cy="261511"/>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89594F9E-3446-D606-3F62-1BA83FE5DE12}"/>
              </a:ext>
            </a:extLst>
          </p:cNvPr>
          <p:cNvSpPr txBox="1"/>
          <p:nvPr/>
        </p:nvSpPr>
        <p:spPr>
          <a:xfrm>
            <a:off x="255047" y="1102887"/>
            <a:ext cx="914400" cy="369332"/>
          </a:xfrm>
          <a:prstGeom prst="rect">
            <a:avLst/>
          </a:prstGeom>
          <a:noFill/>
        </p:spPr>
        <p:txBody>
          <a:bodyPr wrap="square" rtlCol="0">
            <a:spAutoFit/>
          </a:bodyPr>
          <a:lstStyle/>
          <a:p>
            <a:r>
              <a:rPr lang="zh-CN" altLang="en-US">
                <a:latin typeface="优设标题黑" panose="00000500000000000000" pitchFamily="2" charset="-122"/>
                <a:ea typeface="优设标题黑" panose="00000500000000000000" pitchFamily="2" charset="-122"/>
              </a:rPr>
              <a:t>算法一：</a:t>
            </a:r>
          </a:p>
        </p:txBody>
      </p:sp>
      <p:sp>
        <p:nvSpPr>
          <p:cNvPr id="12" name="文本框 11">
            <a:extLst>
              <a:ext uri="{FF2B5EF4-FFF2-40B4-BE49-F238E27FC236}">
                <a16:creationId xmlns:a16="http://schemas.microsoft.com/office/drawing/2014/main" id="{98881E54-3ACD-F88E-4A5A-7633FD25B367}"/>
              </a:ext>
            </a:extLst>
          </p:cNvPr>
          <p:cNvSpPr txBox="1"/>
          <p:nvPr/>
        </p:nvSpPr>
        <p:spPr>
          <a:xfrm>
            <a:off x="255047" y="3954286"/>
            <a:ext cx="914400" cy="369332"/>
          </a:xfrm>
          <a:prstGeom prst="rect">
            <a:avLst/>
          </a:prstGeom>
          <a:noFill/>
        </p:spPr>
        <p:txBody>
          <a:bodyPr wrap="square" rtlCol="0">
            <a:spAutoFit/>
          </a:bodyPr>
          <a:lstStyle/>
          <a:p>
            <a:r>
              <a:rPr lang="zh-CN" altLang="en-US">
                <a:latin typeface="优设标题黑" panose="00000500000000000000" pitchFamily="2" charset="-122"/>
                <a:ea typeface="优设标题黑" panose="00000500000000000000" pitchFamily="2" charset="-122"/>
              </a:rPr>
              <a:t>算法二：</a:t>
            </a:r>
          </a:p>
        </p:txBody>
      </p:sp>
      <p:sp>
        <p:nvSpPr>
          <p:cNvPr id="14" name="文本框 13">
            <a:extLst>
              <a:ext uri="{FF2B5EF4-FFF2-40B4-BE49-F238E27FC236}">
                <a16:creationId xmlns:a16="http://schemas.microsoft.com/office/drawing/2014/main" id="{EC8FE578-AF72-FC64-A104-85694ADE8ABB}"/>
              </a:ext>
            </a:extLst>
          </p:cNvPr>
          <p:cNvSpPr txBox="1"/>
          <p:nvPr/>
        </p:nvSpPr>
        <p:spPr>
          <a:xfrm>
            <a:off x="1009930" y="4000453"/>
            <a:ext cx="2670202" cy="276999"/>
          </a:xfrm>
          <a:prstGeom prst="rect">
            <a:avLst/>
          </a:prstGeom>
          <a:noFill/>
        </p:spPr>
        <p:txBody>
          <a:bodyPr wrap="square">
            <a:spAutoFit/>
          </a:bodyPr>
          <a:lstStyle/>
          <a:p>
            <a:r>
              <a:rPr lang="zh-CN" altLang="en-US" sz="1200"/>
              <a:t>定义：等级之间的皮尔逊相关系数。 </a:t>
            </a:r>
          </a:p>
        </p:txBody>
      </p:sp>
      <p:sp>
        <p:nvSpPr>
          <p:cNvPr id="18" name="文本框 17">
            <a:extLst>
              <a:ext uri="{FF2B5EF4-FFF2-40B4-BE49-F238E27FC236}">
                <a16:creationId xmlns:a16="http://schemas.microsoft.com/office/drawing/2014/main" id="{06345895-8A1D-5C71-9E54-F57D412F1A26}"/>
              </a:ext>
            </a:extLst>
          </p:cNvPr>
          <p:cNvSpPr txBox="1"/>
          <p:nvPr/>
        </p:nvSpPr>
        <p:spPr>
          <a:xfrm>
            <a:off x="959984" y="4398684"/>
            <a:ext cx="2324420" cy="1015663"/>
          </a:xfrm>
          <a:prstGeom prst="rect">
            <a:avLst/>
          </a:prstGeom>
          <a:noFill/>
        </p:spPr>
        <p:txBody>
          <a:bodyPr wrap="square">
            <a:spAutoFit/>
          </a:bodyPr>
          <a:lstStyle/>
          <a:p>
            <a:r>
              <a:rPr lang="en-US" altLang="zh-CN" sz="1000" b="0" i="0">
                <a:effectLst/>
                <a:latin typeface="Menlo"/>
              </a:rPr>
              <a:t>X = [3 8 4 7 2]' </a:t>
            </a:r>
            <a:r>
              <a:rPr lang="en-US" altLang="zh-CN" sz="1000" b="0" i="0">
                <a:solidFill>
                  <a:srgbClr val="008013"/>
                </a:solidFill>
                <a:effectLst/>
                <a:latin typeface="Menlo"/>
              </a:rPr>
              <a:t>% </a:t>
            </a:r>
            <a:r>
              <a:rPr lang="zh-CN" altLang="en-US" sz="1000" b="0" i="0">
                <a:solidFill>
                  <a:srgbClr val="008013"/>
                </a:solidFill>
                <a:effectLst/>
                <a:latin typeface="Menlo"/>
              </a:rPr>
              <a:t>须列向量 </a:t>
            </a:r>
            <a:r>
              <a:rPr lang="en-US" altLang="zh-CN" sz="1000" b="0" i="0">
                <a:solidFill>
                  <a:srgbClr val="008013"/>
                </a:solidFill>
                <a:effectLst/>
                <a:latin typeface="Menlo"/>
              </a:rPr>
              <a:t>% '</a:t>
            </a:r>
            <a:r>
              <a:rPr lang="zh-CN" altLang="en-US" sz="1000" b="0" i="0">
                <a:solidFill>
                  <a:srgbClr val="008013"/>
                </a:solidFill>
                <a:effectLst/>
                <a:latin typeface="Menlo"/>
              </a:rPr>
              <a:t>表转置</a:t>
            </a:r>
            <a:endParaRPr lang="zh-CN" altLang="en-US" sz="1000" b="0" i="0">
              <a:effectLst/>
              <a:latin typeface="Menlo"/>
            </a:endParaRPr>
          </a:p>
          <a:p>
            <a:r>
              <a:rPr lang="en-US" altLang="zh-CN" sz="1000" b="0" i="0">
                <a:effectLst/>
                <a:latin typeface="Menlo"/>
              </a:rPr>
              <a:t>Y = [5 10 9 10 6]'</a:t>
            </a:r>
          </a:p>
          <a:p>
            <a:r>
              <a:rPr lang="en-US" altLang="zh-CN" sz="1000" b="0" i="0">
                <a:effectLst/>
                <a:latin typeface="Menlo"/>
              </a:rPr>
              <a:t>R_1 = corr(X,Y,</a:t>
            </a:r>
            <a:r>
              <a:rPr lang="en-US" altLang="zh-CN" sz="1000" b="0" i="0">
                <a:solidFill>
                  <a:srgbClr val="A709F5"/>
                </a:solidFill>
                <a:effectLst/>
                <a:latin typeface="Menlo"/>
              </a:rPr>
              <a:t>'type'</a:t>
            </a:r>
            <a:r>
              <a:rPr lang="en-US" altLang="zh-CN" sz="1000" b="0" i="0">
                <a:effectLst/>
                <a:latin typeface="Menlo"/>
              </a:rPr>
              <a:t>,</a:t>
            </a:r>
            <a:r>
              <a:rPr lang="en-US" altLang="zh-CN" sz="1000" b="0" i="0">
                <a:solidFill>
                  <a:srgbClr val="A709F5"/>
                </a:solidFill>
                <a:effectLst/>
                <a:latin typeface="Menlo"/>
              </a:rPr>
              <a:t>'Spearman'</a:t>
            </a:r>
            <a:r>
              <a:rPr lang="en-US" altLang="zh-CN" sz="1000" b="0" i="0">
                <a:effectLst/>
                <a:latin typeface="Menlo"/>
              </a:rPr>
              <a:t>)</a:t>
            </a:r>
          </a:p>
          <a:p>
            <a:r>
              <a:rPr lang="en-US" altLang="zh-CN" sz="1000" b="0" i="0">
                <a:solidFill>
                  <a:srgbClr val="008013"/>
                </a:solidFill>
                <a:effectLst/>
                <a:latin typeface="Menlo"/>
              </a:rPr>
              <a:t>% </a:t>
            </a:r>
            <a:r>
              <a:rPr lang="zh-CN" altLang="en-US" sz="1000" b="0" i="0">
                <a:solidFill>
                  <a:srgbClr val="008013"/>
                </a:solidFill>
                <a:effectLst/>
                <a:latin typeface="Menlo"/>
              </a:rPr>
              <a:t>等价于：</a:t>
            </a:r>
            <a:endParaRPr lang="zh-CN" altLang="en-US" sz="1000" b="0" i="0">
              <a:effectLst/>
              <a:latin typeface="Menlo"/>
            </a:endParaRPr>
          </a:p>
          <a:p>
            <a:r>
              <a:rPr lang="en-US" altLang="zh-CN" sz="1000" b="0" i="0">
                <a:effectLst/>
                <a:latin typeface="Menlo"/>
              </a:rPr>
              <a:t>RX = [2 5 3 4 1];RY = [1 4.5 3 4.5 2];</a:t>
            </a:r>
          </a:p>
          <a:p>
            <a:r>
              <a:rPr lang="en-US" altLang="zh-CN" sz="1000" b="0" i="0">
                <a:effectLst/>
                <a:latin typeface="Menlo"/>
              </a:rPr>
              <a:t>R = corrcoef(RX,RY)</a:t>
            </a:r>
          </a:p>
        </p:txBody>
      </p:sp>
      <p:sp>
        <p:nvSpPr>
          <p:cNvPr id="20" name="文本框 19">
            <a:extLst>
              <a:ext uri="{FF2B5EF4-FFF2-40B4-BE49-F238E27FC236}">
                <a16:creationId xmlns:a16="http://schemas.microsoft.com/office/drawing/2014/main" id="{C03CCC5F-E0FC-7BA9-88A7-4BD1679C7EF1}"/>
              </a:ext>
            </a:extLst>
          </p:cNvPr>
          <p:cNvSpPr txBox="1"/>
          <p:nvPr/>
        </p:nvSpPr>
        <p:spPr>
          <a:xfrm>
            <a:off x="5815176" y="1117048"/>
            <a:ext cx="1517596" cy="523220"/>
          </a:xfrm>
          <a:prstGeom prst="rect">
            <a:avLst/>
          </a:prstGeom>
          <a:noFill/>
        </p:spPr>
        <p:txBody>
          <a:bodyPr wrap="square" rtlCol="0">
            <a:spAutoFit/>
          </a:bodyPr>
          <a:lstStyle/>
          <a:p>
            <a:r>
              <a:rPr lang="zh-CN" altLang="en-US" sz="2800">
                <a:latin typeface="优设标题黑" panose="00000500000000000000" pitchFamily="2" charset="-122"/>
                <a:ea typeface="优设标题黑" panose="00000500000000000000" pitchFamily="2" charset="-122"/>
              </a:rPr>
              <a:t>假设检验</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37390CF6-E987-3C48-D353-4EF343C46977}"/>
                  </a:ext>
                </a:extLst>
              </p:cNvPr>
              <p:cNvSpPr txBox="1"/>
              <p:nvPr/>
            </p:nvSpPr>
            <p:spPr>
              <a:xfrm>
                <a:off x="4500839" y="1804189"/>
                <a:ext cx="1924849" cy="369332"/>
              </a:xfrm>
              <a:prstGeom prst="rect">
                <a:avLst/>
              </a:prstGeom>
              <a:noFill/>
            </p:spPr>
            <p:txBody>
              <a:bodyPr wrap="square" rtlCol="0">
                <a:spAutoFit/>
              </a:bodyPr>
              <a:lstStyle/>
              <a:p>
                <a:r>
                  <a:rPr lang="zh-CN" altLang="en-US">
                    <a:latin typeface="优设标题黑" panose="00000500000000000000" pitchFamily="2" charset="-122"/>
                    <a:ea typeface="优设标题黑" panose="00000500000000000000" pitchFamily="2" charset="-122"/>
                  </a:rPr>
                  <a:t>小样本（</a:t>
                </a:r>
                <a:r>
                  <a:rPr lang="en-US" altLang="zh-CN">
                    <a:solidFill>
                      <a:srgbClr val="FF0000"/>
                    </a:solidFill>
                    <a:latin typeface="+mj-ea"/>
                    <a:ea typeface="+mj-ea"/>
                  </a:rPr>
                  <a:t>n</a:t>
                </a:r>
                <a14:m>
                  <m:oMath xmlns:m="http://schemas.openxmlformats.org/officeDocument/2006/math">
                    <m:r>
                      <a:rPr lang="en-US" altLang="zh-CN" i="1" smtClean="0">
                        <a:solidFill>
                          <a:srgbClr val="FF0000"/>
                        </a:solidFill>
                        <a:latin typeface="Cambria Math" panose="02040503050406030204" pitchFamily="18" charset="0"/>
                        <a:ea typeface="+mj-ea"/>
                      </a:rPr>
                      <m:t>≤</m:t>
                    </m:r>
                    <m:r>
                      <a:rPr lang="en-US" altLang="zh-CN" b="0" i="1" smtClean="0">
                        <a:solidFill>
                          <a:srgbClr val="FF0000"/>
                        </a:solidFill>
                        <a:latin typeface="Cambria Math" panose="02040503050406030204" pitchFamily="18" charset="0"/>
                        <a:ea typeface="+mj-ea"/>
                      </a:rPr>
                      <m:t>30</m:t>
                    </m:r>
                  </m:oMath>
                </a14:m>
                <a:r>
                  <a:rPr lang="zh-CN" altLang="en-US">
                    <a:latin typeface="优设标题黑" panose="00000500000000000000" pitchFamily="2" charset="-122"/>
                    <a:ea typeface="优设标题黑" panose="00000500000000000000" pitchFamily="2" charset="-122"/>
                  </a:rPr>
                  <a:t>）：</a:t>
                </a:r>
              </a:p>
            </p:txBody>
          </p:sp>
        </mc:Choice>
        <mc:Fallback xmlns="">
          <p:sp>
            <p:nvSpPr>
              <p:cNvPr id="21" name="文本框 20">
                <a:extLst>
                  <a:ext uri="{FF2B5EF4-FFF2-40B4-BE49-F238E27FC236}">
                    <a16:creationId xmlns:a16="http://schemas.microsoft.com/office/drawing/2014/main" id="{37390CF6-E987-3C48-D353-4EF343C46977}"/>
                  </a:ext>
                </a:extLst>
              </p:cNvPr>
              <p:cNvSpPr txBox="1">
                <a:spLocks noRot="1" noChangeAspect="1" noMove="1" noResize="1" noEditPoints="1" noAdjustHandles="1" noChangeArrowheads="1" noChangeShapeType="1" noTextEdit="1"/>
              </p:cNvSpPr>
              <p:nvPr/>
            </p:nvSpPr>
            <p:spPr>
              <a:xfrm>
                <a:off x="4500839" y="1804189"/>
                <a:ext cx="1924849" cy="369332"/>
              </a:xfrm>
              <a:prstGeom prst="rect">
                <a:avLst/>
              </a:prstGeom>
              <a:blipFill>
                <a:blip r:embed="rId7"/>
                <a:stretch>
                  <a:fillRect l="-2532" t="-16393" r="-14557" b="-24590"/>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A91FC3A2-3E69-84D6-959C-8D185EB51324}"/>
              </a:ext>
            </a:extLst>
          </p:cNvPr>
          <p:cNvSpPr txBox="1"/>
          <p:nvPr/>
        </p:nvSpPr>
        <p:spPr>
          <a:xfrm>
            <a:off x="6800942" y="1869255"/>
            <a:ext cx="1310126" cy="283811"/>
          </a:xfrm>
          <a:prstGeom prst="rect">
            <a:avLst/>
          </a:prstGeom>
          <a:noFill/>
        </p:spPr>
        <p:txBody>
          <a:bodyPr wrap="square">
            <a:spAutoFit/>
          </a:bodyPr>
          <a:lstStyle/>
          <a:p>
            <a:r>
              <a:rPr lang="zh-CN" altLang="en-US" sz="1200"/>
              <a:t>直接查</a:t>
            </a:r>
            <a:r>
              <a:rPr lang="zh-CN" altLang="en-US" sz="1200">
                <a:solidFill>
                  <a:srgbClr val="FF0000"/>
                </a:solidFill>
              </a:rPr>
              <a:t>临界值表</a:t>
            </a:r>
          </a:p>
        </p:txBody>
      </p:sp>
      <p:pic>
        <p:nvPicPr>
          <p:cNvPr id="25" name="图片 24">
            <a:extLst>
              <a:ext uri="{FF2B5EF4-FFF2-40B4-BE49-F238E27FC236}">
                <a16:creationId xmlns:a16="http://schemas.microsoft.com/office/drawing/2014/main" id="{8627A39E-E825-BBAE-A583-FC1E676A6419}"/>
              </a:ext>
            </a:extLst>
          </p:cNvPr>
          <p:cNvPicPr>
            <a:picLocks noChangeAspect="1"/>
          </p:cNvPicPr>
          <p:nvPr/>
        </p:nvPicPr>
        <p:blipFill>
          <a:blip r:embed="rId8"/>
          <a:stretch>
            <a:fillRect/>
          </a:stretch>
        </p:blipFill>
        <p:spPr>
          <a:xfrm>
            <a:off x="8913479" y="956817"/>
            <a:ext cx="2870624" cy="5658253"/>
          </a:xfrm>
          <a:prstGeom prst="rect">
            <a:avLst/>
          </a:prstGeom>
        </p:spPr>
      </p:pic>
      <p:sp>
        <p:nvSpPr>
          <p:cNvPr id="26" name="文本框 25">
            <a:extLst>
              <a:ext uri="{FF2B5EF4-FFF2-40B4-BE49-F238E27FC236}">
                <a16:creationId xmlns:a16="http://schemas.microsoft.com/office/drawing/2014/main" id="{CA3B915B-B976-2407-BCC6-217E1BC5BE42}"/>
              </a:ext>
            </a:extLst>
          </p:cNvPr>
          <p:cNvSpPr txBox="1"/>
          <p:nvPr/>
        </p:nvSpPr>
        <p:spPr>
          <a:xfrm>
            <a:off x="4496996" y="2284918"/>
            <a:ext cx="925925" cy="369332"/>
          </a:xfrm>
          <a:prstGeom prst="rect">
            <a:avLst/>
          </a:prstGeom>
          <a:noFill/>
        </p:spPr>
        <p:txBody>
          <a:bodyPr wrap="square" rtlCol="0">
            <a:spAutoFit/>
          </a:bodyPr>
          <a:lstStyle/>
          <a:p>
            <a:r>
              <a:rPr lang="zh-CN" altLang="en-US">
                <a:latin typeface="优设标题黑" panose="00000500000000000000" pitchFamily="2" charset="-122"/>
                <a:ea typeface="优设标题黑" panose="00000500000000000000" pitchFamily="2" charset="-122"/>
              </a:rPr>
              <a:t>大样本：</a:t>
            </a:r>
          </a:p>
        </p:txBody>
      </p:sp>
      <p:graphicFrame>
        <p:nvGraphicFramePr>
          <p:cNvPr id="27" name="对象 26">
            <a:extLst>
              <a:ext uri="{FF2B5EF4-FFF2-40B4-BE49-F238E27FC236}">
                <a16:creationId xmlns:a16="http://schemas.microsoft.com/office/drawing/2014/main" id="{8906A79B-E195-9FE6-A278-D913F80C0040}"/>
              </a:ext>
            </a:extLst>
          </p:cNvPr>
          <p:cNvGraphicFramePr>
            <a:graphicFrameLocks noChangeAspect="1"/>
          </p:cNvGraphicFramePr>
          <p:nvPr>
            <p:extLst>
              <p:ext uri="{D42A27DB-BD31-4B8C-83A1-F6EECF244321}">
                <p14:modId xmlns:p14="http://schemas.microsoft.com/office/powerpoint/2010/main" val="2736148551"/>
              </p:ext>
            </p:extLst>
          </p:nvPr>
        </p:nvGraphicFramePr>
        <p:xfrm>
          <a:off x="5820030" y="2679710"/>
          <a:ext cx="1867762" cy="286247"/>
        </p:xfrm>
        <a:graphic>
          <a:graphicData uri="http://schemas.openxmlformats.org/presentationml/2006/ole">
            <mc:AlternateContent xmlns:mc="http://schemas.openxmlformats.org/markup-compatibility/2006">
              <mc:Choice xmlns:v="urn:schemas-microsoft-com:vml" Requires="v">
                <p:oleObj name="AxMath" r:id="rId9" imgW="1242360" imgH="190800" progId="Equation.AxMath">
                  <p:embed/>
                </p:oleObj>
              </mc:Choice>
              <mc:Fallback>
                <p:oleObj name="AxMath" r:id="rId9" imgW="1242360" imgH="190800" progId="Equation.AxMath">
                  <p:embed/>
                  <p:pic>
                    <p:nvPicPr>
                      <p:cNvPr id="42" name="对象 41">
                        <a:extLst>
                          <a:ext uri="{FF2B5EF4-FFF2-40B4-BE49-F238E27FC236}">
                            <a16:creationId xmlns:a16="http://schemas.microsoft.com/office/drawing/2014/main" id="{CDDC5E2A-0FD9-326A-2296-D0C25CCE709E}"/>
                          </a:ext>
                        </a:extLst>
                      </p:cNvPr>
                      <p:cNvPicPr/>
                      <p:nvPr/>
                    </p:nvPicPr>
                    <p:blipFill>
                      <a:blip r:embed="rId10"/>
                      <a:stretch>
                        <a:fillRect/>
                      </a:stretch>
                    </p:blipFill>
                    <p:spPr>
                      <a:xfrm>
                        <a:off x="5820030" y="2679710"/>
                        <a:ext cx="1867762" cy="286247"/>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FE76DDF9-4552-3AA9-AC2E-575E8FA0D440}"/>
              </a:ext>
            </a:extLst>
          </p:cNvPr>
          <p:cNvGraphicFramePr>
            <a:graphicFrameLocks noChangeAspect="1"/>
          </p:cNvGraphicFramePr>
          <p:nvPr>
            <p:extLst>
              <p:ext uri="{D42A27DB-BD31-4B8C-83A1-F6EECF244321}">
                <p14:modId xmlns:p14="http://schemas.microsoft.com/office/powerpoint/2010/main" val="3230811807"/>
              </p:ext>
            </p:extLst>
          </p:nvPr>
        </p:nvGraphicFramePr>
        <p:xfrm>
          <a:off x="4589355" y="2967611"/>
          <a:ext cx="4329112" cy="317500"/>
        </p:xfrm>
        <a:graphic>
          <a:graphicData uri="http://schemas.openxmlformats.org/presentationml/2006/ole">
            <mc:AlternateContent xmlns:mc="http://schemas.openxmlformats.org/markup-compatibility/2006">
              <mc:Choice xmlns:v="urn:schemas-microsoft-com:vml" Requires="v">
                <p:oleObj name="AxMath" r:id="rId11" imgW="2970000" imgH="218160" progId="Equation.AxMath">
                  <p:embed/>
                </p:oleObj>
              </mc:Choice>
              <mc:Fallback>
                <p:oleObj name="AxMath" r:id="rId11" imgW="2970000" imgH="218160" progId="Equation.AxMath">
                  <p:embed/>
                  <p:pic>
                    <p:nvPicPr>
                      <p:cNvPr id="0" name=""/>
                      <p:cNvPicPr/>
                      <p:nvPr/>
                    </p:nvPicPr>
                    <p:blipFill>
                      <a:blip r:embed="rId12"/>
                      <a:stretch>
                        <a:fillRect/>
                      </a:stretch>
                    </p:blipFill>
                    <p:spPr>
                      <a:xfrm>
                        <a:off x="4589355" y="2967611"/>
                        <a:ext cx="4329112" cy="317500"/>
                      </a:xfrm>
                      <a:prstGeom prst="rect">
                        <a:avLst/>
                      </a:prstGeom>
                    </p:spPr>
                  </p:pic>
                </p:oleObj>
              </mc:Fallback>
            </mc:AlternateContent>
          </a:graphicData>
        </a:graphic>
      </p:graphicFrame>
      <p:sp>
        <p:nvSpPr>
          <p:cNvPr id="33" name="文本框 32">
            <a:extLst>
              <a:ext uri="{FF2B5EF4-FFF2-40B4-BE49-F238E27FC236}">
                <a16:creationId xmlns:a16="http://schemas.microsoft.com/office/drawing/2014/main" id="{E56D53F5-DCDC-13F4-6B5E-03D5D4127CE1}"/>
              </a:ext>
            </a:extLst>
          </p:cNvPr>
          <p:cNvSpPr txBox="1"/>
          <p:nvPr/>
        </p:nvSpPr>
        <p:spPr>
          <a:xfrm>
            <a:off x="5815176" y="3325283"/>
            <a:ext cx="2147687" cy="400110"/>
          </a:xfrm>
          <a:prstGeom prst="rect">
            <a:avLst/>
          </a:prstGeom>
          <a:noFill/>
        </p:spPr>
        <p:txBody>
          <a:bodyPr wrap="square">
            <a:spAutoFit/>
          </a:bodyPr>
          <a:lstStyle/>
          <a:p>
            <a:r>
              <a:rPr lang="en-US" altLang="zh-CN" sz="1000" b="0" i="0">
                <a:solidFill>
                  <a:srgbClr val="008013"/>
                </a:solidFill>
                <a:effectLst/>
                <a:latin typeface="Menlo"/>
              </a:rPr>
              <a:t>% </a:t>
            </a:r>
            <a:r>
              <a:rPr lang="zh-CN" altLang="en-US" sz="1000" b="0" i="0">
                <a:solidFill>
                  <a:srgbClr val="008013"/>
                </a:solidFill>
                <a:effectLst/>
                <a:latin typeface="Menlo"/>
              </a:rPr>
              <a:t>直接给出相关系数和</a:t>
            </a:r>
            <a:r>
              <a:rPr lang="en-US" altLang="zh-CN" sz="1000" b="0" i="0">
                <a:solidFill>
                  <a:srgbClr val="008013"/>
                </a:solidFill>
                <a:effectLst/>
                <a:latin typeface="Menlo"/>
              </a:rPr>
              <a:t>p</a:t>
            </a:r>
            <a:r>
              <a:rPr lang="zh-CN" altLang="en-US" sz="1000" b="0" i="0">
                <a:solidFill>
                  <a:srgbClr val="008013"/>
                </a:solidFill>
                <a:effectLst/>
                <a:latin typeface="Menlo"/>
              </a:rPr>
              <a:t>值</a:t>
            </a:r>
            <a:endParaRPr lang="zh-CN" altLang="en-US" sz="1000" b="0" i="0">
              <a:effectLst/>
              <a:latin typeface="Menlo"/>
            </a:endParaRPr>
          </a:p>
          <a:p>
            <a:r>
              <a:rPr lang="en-US" altLang="zh-CN" sz="1000" b="0" i="0">
                <a:effectLst/>
                <a:latin typeface="Menlo"/>
              </a:rPr>
              <a:t>[R,P]=corr(Test, </a:t>
            </a:r>
            <a:r>
              <a:rPr lang="en-US" altLang="zh-CN" sz="1000" b="0" i="0">
                <a:solidFill>
                  <a:srgbClr val="A709F5"/>
                </a:solidFill>
                <a:effectLst/>
                <a:latin typeface="Menlo"/>
              </a:rPr>
              <a:t>'type' </a:t>
            </a:r>
            <a:r>
              <a:rPr lang="en-US" altLang="zh-CN" sz="1000" b="0" i="0">
                <a:effectLst/>
                <a:latin typeface="Menlo"/>
              </a:rPr>
              <a:t>, </a:t>
            </a:r>
            <a:r>
              <a:rPr lang="en-US" altLang="zh-CN" sz="1000" b="0" i="0">
                <a:solidFill>
                  <a:srgbClr val="A709F5"/>
                </a:solidFill>
                <a:effectLst/>
                <a:latin typeface="Menlo"/>
              </a:rPr>
              <a:t>'Spearman'</a:t>
            </a:r>
            <a:r>
              <a:rPr lang="en-US" altLang="zh-CN" sz="1000" b="0" i="0">
                <a:effectLst/>
                <a:latin typeface="Menlo"/>
              </a:rPr>
              <a:t>)</a:t>
            </a:r>
          </a:p>
        </p:txBody>
      </p:sp>
      <p:sp>
        <p:nvSpPr>
          <p:cNvPr id="37" name="文本框 36">
            <a:extLst>
              <a:ext uri="{FF2B5EF4-FFF2-40B4-BE49-F238E27FC236}">
                <a16:creationId xmlns:a16="http://schemas.microsoft.com/office/drawing/2014/main" id="{9A7FDC33-4F4F-275A-F75F-917450C6D47E}"/>
              </a:ext>
            </a:extLst>
          </p:cNvPr>
          <p:cNvSpPr txBox="1"/>
          <p:nvPr/>
        </p:nvSpPr>
        <p:spPr>
          <a:xfrm>
            <a:off x="5455835" y="3868448"/>
            <a:ext cx="2733524" cy="1938992"/>
          </a:xfrm>
          <a:prstGeom prst="rect">
            <a:avLst/>
          </a:prstGeom>
          <a:noFill/>
        </p:spPr>
        <p:txBody>
          <a:bodyPr wrap="square">
            <a:spAutoFit/>
          </a:bodyPr>
          <a:lstStyle/>
          <a:p>
            <a:r>
              <a:rPr lang="pt-BR" altLang="zh-CN" sz="800"/>
              <a:t>R =</a:t>
            </a:r>
          </a:p>
          <a:p>
            <a:r>
              <a:rPr lang="pt-BR" altLang="zh-CN" sz="800"/>
              <a:t>    1.0000    0.0301   -0.2430   -0.1990    0.0624    0.1099</a:t>
            </a:r>
          </a:p>
          <a:p>
            <a:r>
              <a:rPr lang="pt-BR" altLang="zh-CN" sz="800"/>
              <a:t>    0.0301    1.0000    0.1305    0.0898    0.0216   -0.0488</a:t>
            </a:r>
          </a:p>
          <a:p>
            <a:r>
              <a:rPr lang="pt-BR" altLang="zh-CN" sz="800"/>
              <a:t>   -0.2430    0.1305    1.0000    0.2626    0.0219   -0.0801</a:t>
            </a:r>
          </a:p>
          <a:p>
            <a:r>
              <a:rPr lang="pt-BR" altLang="zh-CN" sz="800"/>
              <a:t>   -0.1990    0.0898    0.2626    1.0000   -0.0910   -0.0029</a:t>
            </a:r>
          </a:p>
          <a:p>
            <a:r>
              <a:rPr lang="pt-BR" altLang="zh-CN" sz="800"/>
              <a:t>    0.0624    0.0216    0.0219   -0.0910    1.0000   -0.0399</a:t>
            </a:r>
          </a:p>
          <a:p>
            <a:r>
              <a:rPr lang="pt-BR" altLang="zh-CN" sz="800"/>
              <a:t>    0.1099   -0.0488   -0.0801   -0.0029   -0.0399    1.0000</a:t>
            </a:r>
          </a:p>
          <a:p>
            <a:endParaRPr lang="pt-BR" altLang="zh-CN" sz="800"/>
          </a:p>
          <a:p>
            <a:r>
              <a:rPr lang="pt-BR" altLang="zh-CN" sz="800"/>
              <a:t>P =</a:t>
            </a:r>
          </a:p>
          <a:p>
            <a:r>
              <a:rPr lang="pt-BR" altLang="zh-CN" sz="800"/>
              <a:t>    1.0000    0.4647    0.0000    0.0000    0.1295    0.0075</a:t>
            </a:r>
          </a:p>
          <a:p>
            <a:r>
              <a:rPr lang="pt-BR" altLang="zh-CN" sz="800"/>
              <a:t>    0.4647    1.0000    0.0015    0.0290    0.5996    0.2362</a:t>
            </a:r>
          </a:p>
          <a:p>
            <a:r>
              <a:rPr lang="pt-BR" altLang="zh-CN" sz="800"/>
              <a:t>    0.0000    0.0015    1.0000    0.0000    0.5944    0.0517</a:t>
            </a:r>
          </a:p>
          <a:p>
            <a:r>
              <a:rPr lang="pt-BR" altLang="zh-CN" sz="800"/>
              <a:t>    0.0000    0.0290    0.0000    1.0000    0.0270    0.9436</a:t>
            </a:r>
          </a:p>
          <a:p>
            <a:r>
              <a:rPr lang="pt-BR" altLang="zh-CN" sz="800"/>
              <a:t>    0.1295    0.5996    0.5944    0.0270    1.0000    0.3330</a:t>
            </a:r>
          </a:p>
          <a:p>
            <a:r>
              <a:rPr lang="pt-BR" altLang="zh-CN" sz="800"/>
              <a:t>    0.0075    0.2362    0.0517    0.9436    0.3330    1.0000</a:t>
            </a:r>
            <a:endParaRPr lang="zh-CN" altLang="en-US" sz="80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930EE41C-0320-D39E-C371-B346F16C768B}"/>
                  </a:ext>
                </a:extLst>
              </p:cNvPr>
              <p:cNvSpPr txBox="1"/>
              <p:nvPr/>
            </p:nvSpPr>
            <p:spPr>
              <a:xfrm>
                <a:off x="4589355" y="5887215"/>
                <a:ext cx="2514825" cy="461665"/>
              </a:xfrm>
              <a:prstGeom prst="rect">
                <a:avLst/>
              </a:prstGeom>
              <a:noFill/>
            </p:spPr>
            <p:txBody>
              <a:bodyPr wrap="square">
                <a:spAutoFit/>
              </a:bodyPr>
              <a:lstStyle/>
              <a:p>
                <a:r>
                  <a:rPr lang="en-US" altLang="zh-CN" sz="1200"/>
                  <a:t>If p</a:t>
                </a:r>
                <a14:m>
                  <m:oMath xmlns:m="http://schemas.openxmlformats.org/officeDocument/2006/math">
                    <m:r>
                      <a:rPr lang="en-US" altLang="zh-CN" sz="1200" i="1" smtClean="0">
                        <a:latin typeface="Cambria Math" panose="02040503050406030204" pitchFamily="18" charset="0"/>
                        <a:ea typeface="Cambria Math" panose="02040503050406030204" pitchFamily="18" charset="0"/>
                      </a:rPr>
                      <m:t>&gt;</m:t>
                    </m:r>
                  </m:oMath>
                </a14:m>
                <a:r>
                  <a:rPr lang="en-US" altLang="zh-CN" sz="1200"/>
                  <a:t>0.05,</a:t>
                </a:r>
                <a:r>
                  <a:rPr lang="zh-CN" altLang="en-US" sz="1200"/>
                  <a:t> 我们无法拒绝原假设。</a:t>
                </a:r>
              </a:p>
              <a:p>
                <a:r>
                  <a:rPr lang="zh-CN" altLang="en-US" sz="1200"/>
                  <a:t>（和</a:t>
                </a:r>
                <a:r>
                  <a:rPr lang="en-US" altLang="zh-CN" sz="1200"/>
                  <a:t>0</a:t>
                </a:r>
                <a:r>
                  <a:rPr lang="zh-CN" altLang="en-US" sz="1200"/>
                  <a:t>没有显著的差异）</a:t>
                </a:r>
              </a:p>
            </p:txBody>
          </p:sp>
        </mc:Choice>
        <mc:Fallback xmlns="">
          <p:sp>
            <p:nvSpPr>
              <p:cNvPr id="41" name="文本框 40">
                <a:extLst>
                  <a:ext uri="{FF2B5EF4-FFF2-40B4-BE49-F238E27FC236}">
                    <a16:creationId xmlns:a16="http://schemas.microsoft.com/office/drawing/2014/main" id="{930EE41C-0320-D39E-C371-B346F16C768B}"/>
                  </a:ext>
                </a:extLst>
              </p:cNvPr>
              <p:cNvSpPr txBox="1">
                <a:spLocks noRot="1" noChangeAspect="1" noMove="1" noResize="1" noEditPoints="1" noAdjustHandles="1" noChangeArrowheads="1" noChangeShapeType="1" noTextEdit="1"/>
              </p:cNvSpPr>
              <p:nvPr/>
            </p:nvSpPr>
            <p:spPr>
              <a:xfrm>
                <a:off x="4589355" y="5887215"/>
                <a:ext cx="2514825" cy="461665"/>
              </a:xfrm>
              <a:prstGeom prst="rect">
                <a:avLst/>
              </a:prstGeom>
              <a:blipFill>
                <a:blip r:embed="rId13"/>
                <a:stretch>
                  <a:fillRect l="-243" t="-2667" b="-12000"/>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7B8B19D9-353A-FC98-A623-C0F12E5FB426}"/>
              </a:ext>
            </a:extLst>
          </p:cNvPr>
          <p:cNvCxnSpPr>
            <a:cxnSpLocks/>
          </p:cNvCxnSpPr>
          <p:nvPr/>
        </p:nvCxnSpPr>
        <p:spPr>
          <a:xfrm>
            <a:off x="0" y="788574"/>
            <a:ext cx="12192000" cy="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A2553AC-CF1F-2D9E-F1AE-8146265496EF}"/>
              </a:ext>
            </a:extLst>
          </p:cNvPr>
          <p:cNvCxnSpPr>
            <a:cxnSpLocks/>
          </p:cNvCxnSpPr>
          <p:nvPr/>
        </p:nvCxnSpPr>
        <p:spPr>
          <a:xfrm>
            <a:off x="4252784" y="788574"/>
            <a:ext cx="0" cy="6069426"/>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0560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折角 63">
            <a:extLst>
              <a:ext uri="{FF2B5EF4-FFF2-40B4-BE49-F238E27FC236}">
                <a16:creationId xmlns:a16="http://schemas.microsoft.com/office/drawing/2014/main" id="{C4B32692-2D93-2EAA-3547-BEE601F82599}"/>
              </a:ext>
            </a:extLst>
          </p:cNvPr>
          <p:cNvSpPr/>
          <p:nvPr/>
        </p:nvSpPr>
        <p:spPr>
          <a:xfrm>
            <a:off x="215270" y="4620215"/>
            <a:ext cx="11761460" cy="2237785"/>
          </a:xfrm>
          <a:prstGeom prst="foldedCorner">
            <a:avLst>
              <a:gd name="adj" fmla="val 24910"/>
            </a:avLst>
          </a:prstGeom>
          <a:solidFill>
            <a:srgbClr val="FDF1E9"/>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3581E62E-0981-BB74-133E-E6DAB54428D3}"/>
              </a:ext>
            </a:extLst>
          </p:cNvPr>
          <p:cNvSpPr txBox="1"/>
          <p:nvPr/>
        </p:nvSpPr>
        <p:spPr>
          <a:xfrm>
            <a:off x="215270" y="199833"/>
            <a:ext cx="3643808"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典型相关分析</a:t>
            </a:r>
          </a:p>
        </p:txBody>
      </p:sp>
      <p:sp>
        <p:nvSpPr>
          <p:cNvPr id="5" name="文本框 4">
            <a:extLst>
              <a:ext uri="{FF2B5EF4-FFF2-40B4-BE49-F238E27FC236}">
                <a16:creationId xmlns:a16="http://schemas.microsoft.com/office/drawing/2014/main" id="{73D1CE65-6B2B-A0A4-CCAF-AD93BC55AF7D}"/>
              </a:ext>
            </a:extLst>
          </p:cNvPr>
          <p:cNvSpPr txBox="1"/>
          <p:nvPr/>
        </p:nvSpPr>
        <p:spPr>
          <a:xfrm>
            <a:off x="3659537" y="399887"/>
            <a:ext cx="3864889" cy="369332"/>
          </a:xfrm>
          <a:prstGeom prst="rect">
            <a:avLst/>
          </a:prstGeom>
          <a:noFill/>
        </p:spPr>
        <p:txBody>
          <a:bodyPr wrap="square">
            <a:spAutoFit/>
          </a:bodyPr>
          <a:lstStyle/>
          <a:p>
            <a:r>
              <a:rPr lang="en-US" altLang="zh-CN">
                <a:latin typeface="CommercialScript BT" panose="03030803040807090C04" pitchFamily="66" charset="0"/>
              </a:rPr>
              <a:t>Canonical Correlation Analysis   </a:t>
            </a:r>
            <a:r>
              <a:rPr lang="en-US" altLang="zh-CN">
                <a:latin typeface="Aharoni" panose="02010803020104030203" pitchFamily="2" charset="-79"/>
                <a:cs typeface="Aharoni" panose="02010803020104030203" pitchFamily="2" charset="-79"/>
              </a:rPr>
              <a:t>(CCA) </a:t>
            </a:r>
            <a:endParaRPr lang="zh-CN" altLang="en-US"/>
          </a:p>
        </p:txBody>
      </p:sp>
      <p:sp>
        <p:nvSpPr>
          <p:cNvPr id="7" name="文本框 6">
            <a:extLst>
              <a:ext uri="{FF2B5EF4-FFF2-40B4-BE49-F238E27FC236}">
                <a16:creationId xmlns:a16="http://schemas.microsoft.com/office/drawing/2014/main" id="{4BF0C3F4-5C5E-B99D-655D-584922C76BC5}"/>
              </a:ext>
            </a:extLst>
          </p:cNvPr>
          <p:cNvSpPr txBox="1"/>
          <p:nvPr/>
        </p:nvSpPr>
        <p:spPr>
          <a:xfrm>
            <a:off x="215270" y="769219"/>
            <a:ext cx="5918415" cy="430887"/>
          </a:xfrm>
          <a:prstGeom prst="rect">
            <a:avLst/>
          </a:prstGeom>
          <a:noFill/>
        </p:spPr>
        <p:txBody>
          <a:bodyPr wrap="square">
            <a:spAutoFit/>
          </a:bodyPr>
          <a:lstStyle/>
          <a:p>
            <a:r>
              <a:rPr lang="zh-CN" altLang="en-US" sz="1100"/>
              <a:t>研究</a:t>
            </a:r>
            <a:r>
              <a:rPr lang="zh-CN" altLang="en-US" sz="1100">
                <a:solidFill>
                  <a:srgbClr val="FF0000"/>
                </a:solidFill>
              </a:rPr>
              <a:t>两组变量</a:t>
            </a:r>
            <a:r>
              <a:rPr lang="zh-CN" altLang="en-US" sz="1100"/>
              <a:t>（每组变量中都可能有多个指标）之间相关关系的一种多元统计方法。它能够揭示出两组变量之间的内在联系。</a:t>
            </a:r>
          </a:p>
        </p:txBody>
      </p:sp>
      <p:pic>
        <p:nvPicPr>
          <p:cNvPr id="50" name="图片 49">
            <a:extLst>
              <a:ext uri="{FF2B5EF4-FFF2-40B4-BE49-F238E27FC236}">
                <a16:creationId xmlns:a16="http://schemas.microsoft.com/office/drawing/2014/main" id="{66FB5338-C595-DFF9-874A-CAD15C159BAD}"/>
              </a:ext>
            </a:extLst>
          </p:cNvPr>
          <p:cNvPicPr>
            <a:picLocks noChangeAspect="1"/>
          </p:cNvPicPr>
          <p:nvPr/>
        </p:nvPicPr>
        <p:blipFill>
          <a:blip r:embed="rId2"/>
          <a:stretch>
            <a:fillRect/>
          </a:stretch>
        </p:blipFill>
        <p:spPr>
          <a:xfrm>
            <a:off x="6905481" y="849436"/>
            <a:ext cx="5177156" cy="3231653"/>
          </a:xfrm>
          <a:prstGeom prst="rect">
            <a:avLst/>
          </a:prstGeom>
        </p:spPr>
      </p:pic>
      <p:sp>
        <p:nvSpPr>
          <p:cNvPr id="59" name="文本框 58">
            <a:extLst>
              <a:ext uri="{FF2B5EF4-FFF2-40B4-BE49-F238E27FC236}">
                <a16:creationId xmlns:a16="http://schemas.microsoft.com/office/drawing/2014/main" id="{7EFCAD5F-0F6A-9847-B049-A928B1CC3561}"/>
              </a:ext>
            </a:extLst>
          </p:cNvPr>
          <p:cNvSpPr txBox="1"/>
          <p:nvPr/>
        </p:nvSpPr>
        <p:spPr>
          <a:xfrm>
            <a:off x="161782" y="1308344"/>
            <a:ext cx="6743699" cy="3231654"/>
          </a:xfrm>
          <a:prstGeom prst="rect">
            <a:avLst/>
          </a:prstGeom>
          <a:noFill/>
        </p:spPr>
        <p:txBody>
          <a:bodyPr wrap="square">
            <a:spAutoFit/>
          </a:bodyPr>
          <a:lstStyle/>
          <a:p>
            <a:r>
              <a:rPr lang="en-US" altLang="zh-CN" sz="1200">
                <a:highlight>
                  <a:srgbClr val="FFFF00"/>
                </a:highlight>
              </a:rPr>
              <a:t>1. </a:t>
            </a:r>
            <a:r>
              <a:rPr lang="zh-CN" altLang="en-US" sz="1200">
                <a:highlight>
                  <a:srgbClr val="FFFF00"/>
                </a:highlight>
              </a:rPr>
              <a:t>数据准备</a:t>
            </a:r>
          </a:p>
          <a:p>
            <a:r>
              <a:rPr lang="zh-CN" altLang="en-US" sz="1200"/>
              <a:t>正态分布检验：理论上</a:t>
            </a:r>
            <a:r>
              <a:rPr lang="en-US" altLang="zh-CN" sz="1200"/>
              <a:t>CCA</a:t>
            </a:r>
            <a:r>
              <a:rPr lang="zh-CN" altLang="en-US" sz="1200"/>
              <a:t>需要数据</a:t>
            </a:r>
            <a:r>
              <a:rPr lang="zh-CN" altLang="en-US" sz="1200">
                <a:solidFill>
                  <a:srgbClr val="FF0000"/>
                </a:solidFill>
              </a:rPr>
              <a:t>服从联合正态分布</a:t>
            </a:r>
            <a:endParaRPr lang="en-US" altLang="zh-CN" sz="1200">
              <a:solidFill>
                <a:srgbClr val="FF0000"/>
              </a:solidFill>
            </a:endParaRPr>
          </a:p>
          <a:p>
            <a:r>
              <a:rPr lang="zh-CN" altLang="en-US" sz="1200"/>
              <a:t>方法：可以通过</a:t>
            </a:r>
            <a:r>
              <a:rPr lang="en-US" altLang="zh-CN" sz="1200"/>
              <a:t>Shapiro-Wilk</a:t>
            </a:r>
            <a:r>
              <a:rPr lang="zh-CN" altLang="en-US" sz="1200"/>
              <a:t>检验、</a:t>
            </a:r>
            <a:r>
              <a:rPr lang="en-US" altLang="zh-CN" sz="1200"/>
              <a:t>Kolmogorov-Smirnov</a:t>
            </a:r>
            <a:r>
              <a:rPr lang="zh-CN" altLang="en-US" sz="1200"/>
              <a:t>检验等</a:t>
            </a:r>
            <a:endParaRPr lang="en-US" altLang="zh-CN" sz="1200"/>
          </a:p>
          <a:p>
            <a:r>
              <a:rPr lang="en-US" altLang="zh-CN" sz="1200">
                <a:highlight>
                  <a:srgbClr val="FFFF00"/>
                </a:highlight>
              </a:rPr>
              <a:t>2. </a:t>
            </a:r>
            <a:r>
              <a:rPr lang="zh-CN" altLang="en-US" sz="1200">
                <a:highlight>
                  <a:srgbClr val="FFFF00"/>
                </a:highlight>
              </a:rPr>
              <a:t>执行</a:t>
            </a:r>
            <a:r>
              <a:rPr lang="en-US" altLang="zh-CN" sz="1200">
                <a:highlight>
                  <a:srgbClr val="FFFF00"/>
                </a:highlight>
              </a:rPr>
              <a:t>CCA</a:t>
            </a:r>
          </a:p>
          <a:p>
            <a:r>
              <a:rPr lang="zh-CN" altLang="en-US" sz="1200"/>
              <a:t>利用</a:t>
            </a:r>
            <a:r>
              <a:rPr lang="en-US" altLang="zh-CN" sz="1200">
                <a:solidFill>
                  <a:srgbClr val="FF0000"/>
                </a:solidFill>
              </a:rPr>
              <a:t>SPSS</a:t>
            </a:r>
            <a:r>
              <a:rPr lang="zh-CN" altLang="en-US" sz="1200"/>
              <a:t>进行</a:t>
            </a:r>
            <a:r>
              <a:rPr lang="en-US" altLang="zh-CN" sz="1200"/>
              <a:t>CCA</a:t>
            </a:r>
          </a:p>
          <a:p>
            <a:r>
              <a:rPr lang="zh-CN" altLang="en-US" sz="1200"/>
              <a:t>构建典型变量的目的：创建两组变量的线性组合，使组合之间的相关性最大化。</a:t>
            </a:r>
          </a:p>
          <a:p>
            <a:r>
              <a:rPr lang="en-US" altLang="zh-CN" sz="1200">
                <a:highlight>
                  <a:srgbClr val="FFFF00"/>
                </a:highlight>
              </a:rPr>
              <a:t>3. </a:t>
            </a:r>
            <a:r>
              <a:rPr lang="zh-CN" altLang="en-US" sz="1200">
                <a:highlight>
                  <a:srgbClr val="FFFF00"/>
                </a:highlight>
              </a:rPr>
              <a:t>解释结果</a:t>
            </a:r>
            <a:endParaRPr lang="en-US" altLang="zh-CN" sz="1200">
              <a:highlight>
                <a:srgbClr val="FFFF00"/>
              </a:highlight>
            </a:endParaRPr>
          </a:p>
          <a:p>
            <a:r>
              <a:rPr lang="zh-CN" altLang="en-US" sz="1200">
                <a:highlight>
                  <a:srgbClr val="FDF1E9"/>
                </a:highlight>
              </a:rPr>
              <a:t>样本数据标准化</a:t>
            </a:r>
            <a:r>
              <a:rPr lang="zh-CN" altLang="en-US" sz="1200"/>
              <a:t>：保证每个变量在相同的尺度上，避免</a:t>
            </a:r>
            <a:r>
              <a:rPr lang="zh-CN" altLang="en-US" sz="1200">
                <a:solidFill>
                  <a:srgbClr val="FF0000"/>
                </a:solidFill>
              </a:rPr>
              <a:t>量纲</a:t>
            </a:r>
            <a:r>
              <a:rPr lang="zh-CN" altLang="en-US" sz="1200"/>
              <a:t>带来的影响。</a:t>
            </a:r>
          </a:p>
          <a:p>
            <a:r>
              <a:rPr lang="zh-CN" altLang="en-US" sz="1200">
                <a:highlight>
                  <a:srgbClr val="FDF1E9"/>
                </a:highlight>
              </a:rPr>
              <a:t>典型相关系数</a:t>
            </a:r>
            <a:r>
              <a:rPr lang="zh-CN" altLang="en-US" sz="1200"/>
              <a:t>：代表了两组变量之间</a:t>
            </a:r>
            <a:r>
              <a:rPr lang="zh-CN" altLang="en-US" sz="1200">
                <a:solidFill>
                  <a:srgbClr val="FF0000"/>
                </a:solidFill>
              </a:rPr>
              <a:t>线性组合</a:t>
            </a:r>
            <a:r>
              <a:rPr lang="zh-CN" altLang="en-US" sz="1200"/>
              <a:t>的</a:t>
            </a:r>
            <a:r>
              <a:rPr lang="zh-CN" altLang="en-US" sz="1200">
                <a:solidFill>
                  <a:srgbClr val="FF0000"/>
                </a:solidFill>
              </a:rPr>
              <a:t>最大相关度</a:t>
            </a:r>
            <a:r>
              <a:rPr lang="zh-CN" altLang="en-US" sz="1200"/>
              <a:t>。</a:t>
            </a:r>
          </a:p>
          <a:p>
            <a:r>
              <a:rPr lang="zh-CN" altLang="en-US" sz="1200">
                <a:highlight>
                  <a:srgbClr val="FDF1E9"/>
                </a:highlight>
              </a:rPr>
              <a:t>线性组合系数</a:t>
            </a:r>
            <a:r>
              <a:rPr lang="zh-CN" altLang="en-US" sz="1200"/>
              <a:t>：用来</a:t>
            </a:r>
            <a:r>
              <a:rPr lang="zh-CN" altLang="en-US" sz="1200">
                <a:solidFill>
                  <a:srgbClr val="FF0000"/>
                </a:solidFill>
              </a:rPr>
              <a:t>构建典型变量</a:t>
            </a:r>
            <a:r>
              <a:rPr lang="zh-CN" altLang="en-US" sz="1200"/>
              <a:t>。</a:t>
            </a:r>
          </a:p>
          <a:p>
            <a:r>
              <a:rPr lang="zh-CN" altLang="en-US" sz="1200">
                <a:highlight>
                  <a:srgbClr val="FDF1E9"/>
                </a:highlight>
              </a:rPr>
              <a:t>典型载荷</a:t>
            </a:r>
            <a:r>
              <a:rPr lang="zh-CN" altLang="en-US" sz="1200"/>
              <a:t>：分析</a:t>
            </a:r>
            <a:r>
              <a:rPr lang="zh-CN" altLang="en-US" sz="1200">
                <a:solidFill>
                  <a:srgbClr val="FF0000"/>
                </a:solidFill>
              </a:rPr>
              <a:t>典型变量与原变量</a:t>
            </a:r>
            <a:r>
              <a:rPr lang="zh-CN" altLang="en-US" sz="1200"/>
              <a:t>之间的</a:t>
            </a:r>
            <a:r>
              <a:rPr lang="zh-CN" altLang="en-US" sz="1200">
                <a:solidFill>
                  <a:srgbClr val="FF0000"/>
                </a:solidFill>
              </a:rPr>
              <a:t>相关性</a:t>
            </a:r>
            <a:r>
              <a:rPr lang="zh-CN" altLang="en-US" sz="1200"/>
              <a:t>，即原始变量如何加载到典型变量上。</a:t>
            </a:r>
          </a:p>
          <a:p>
            <a:r>
              <a:rPr lang="zh-CN" altLang="en-US" sz="1200">
                <a:highlight>
                  <a:srgbClr val="FDF1E9"/>
                </a:highlight>
              </a:rPr>
              <a:t>交叉载荷</a:t>
            </a:r>
            <a:r>
              <a:rPr lang="zh-CN" altLang="en-US" sz="1200"/>
              <a:t>：分析一个集合中的</a:t>
            </a:r>
            <a:r>
              <a:rPr lang="zh-CN" altLang="en-US" sz="1200">
                <a:solidFill>
                  <a:srgbClr val="FF0000"/>
                </a:solidFill>
              </a:rPr>
              <a:t>变量</a:t>
            </a:r>
            <a:r>
              <a:rPr lang="zh-CN" altLang="en-US" sz="1200"/>
              <a:t>对另一个集合中的</a:t>
            </a:r>
            <a:r>
              <a:rPr lang="zh-CN" altLang="en-US" sz="1200">
                <a:solidFill>
                  <a:srgbClr val="FF0000"/>
                </a:solidFill>
              </a:rPr>
              <a:t>典型变量</a:t>
            </a:r>
            <a:r>
              <a:rPr lang="zh-CN" altLang="en-US" sz="1200"/>
              <a:t>的</a:t>
            </a:r>
            <a:r>
              <a:rPr lang="zh-CN" altLang="en-US" sz="1200">
                <a:solidFill>
                  <a:srgbClr val="FF0000"/>
                </a:solidFill>
              </a:rPr>
              <a:t>影响程度</a:t>
            </a:r>
            <a:r>
              <a:rPr lang="zh-CN" altLang="en-US" sz="1200"/>
              <a:t>。</a:t>
            </a:r>
          </a:p>
          <a:p>
            <a:r>
              <a:rPr lang="zh-CN" altLang="en-US" sz="1200">
                <a:highlight>
                  <a:srgbClr val="FDF1E9"/>
                </a:highlight>
              </a:rPr>
              <a:t>已解释的方差比例</a:t>
            </a:r>
            <a:r>
              <a:rPr lang="zh-CN" altLang="en-US" sz="1200"/>
              <a:t>：</a:t>
            </a:r>
            <a:r>
              <a:rPr lang="zh-CN" altLang="en-US" sz="1200">
                <a:solidFill>
                  <a:srgbClr val="FF0000"/>
                </a:solidFill>
              </a:rPr>
              <a:t>典型冗余分析</a:t>
            </a:r>
            <a:r>
              <a:rPr lang="zh-CN" altLang="en-US" sz="1200"/>
              <a:t>的一部分，用于衡量每个</a:t>
            </a:r>
            <a:r>
              <a:rPr lang="zh-CN" altLang="en-US" sz="1200">
                <a:solidFill>
                  <a:srgbClr val="FF0000"/>
                </a:solidFill>
              </a:rPr>
              <a:t>典型变量</a:t>
            </a:r>
            <a:r>
              <a:rPr lang="zh-CN" altLang="en-US" sz="1200"/>
              <a:t>对</a:t>
            </a:r>
            <a:r>
              <a:rPr lang="zh-CN" altLang="en-US" sz="1200">
                <a:solidFill>
                  <a:srgbClr val="FF0000"/>
                </a:solidFill>
              </a:rPr>
              <a:t>原始数据方差</a:t>
            </a:r>
            <a:r>
              <a:rPr lang="zh-CN" altLang="en-US" sz="1200"/>
              <a:t>的</a:t>
            </a:r>
            <a:r>
              <a:rPr lang="zh-CN" altLang="en-US" sz="1200">
                <a:solidFill>
                  <a:srgbClr val="FF0000"/>
                </a:solidFill>
              </a:rPr>
              <a:t>贡献程度</a:t>
            </a:r>
            <a:r>
              <a:rPr lang="zh-CN" altLang="en-US" sz="1200"/>
              <a:t>。</a:t>
            </a:r>
          </a:p>
          <a:p>
            <a:r>
              <a:rPr lang="en-US" altLang="zh-CN" sz="1200">
                <a:highlight>
                  <a:srgbClr val="FFFF00"/>
                </a:highlight>
              </a:rPr>
              <a:t>4. </a:t>
            </a:r>
            <a:r>
              <a:rPr lang="zh-CN" altLang="en-US" sz="1200">
                <a:highlight>
                  <a:srgbClr val="FFFF00"/>
                </a:highlight>
              </a:rPr>
              <a:t>显著性检验</a:t>
            </a:r>
          </a:p>
          <a:p>
            <a:r>
              <a:rPr lang="zh-CN" altLang="en-US" sz="1200"/>
              <a:t>依据每个典型相关系数的</a:t>
            </a:r>
            <a:r>
              <a:rPr lang="zh-CN" altLang="en-US" sz="1200">
                <a:solidFill>
                  <a:srgbClr val="FF0000"/>
                </a:solidFill>
              </a:rPr>
              <a:t>显著性检验</a:t>
            </a:r>
            <a:r>
              <a:rPr lang="zh-CN" altLang="en-US" sz="1200"/>
              <a:t>结果（</a:t>
            </a:r>
            <a:r>
              <a:rPr lang="en-US" altLang="zh-CN" sz="1200">
                <a:solidFill>
                  <a:srgbClr val="FF0000"/>
                </a:solidFill>
              </a:rPr>
              <a:t>p</a:t>
            </a:r>
            <a:r>
              <a:rPr lang="zh-CN" altLang="en-US" sz="1200">
                <a:solidFill>
                  <a:srgbClr val="FF0000"/>
                </a:solidFill>
              </a:rPr>
              <a:t>值</a:t>
            </a:r>
            <a:r>
              <a:rPr lang="zh-CN" altLang="en-US" sz="1200"/>
              <a:t>等），确定统计显著的典型相关系数。</a:t>
            </a:r>
          </a:p>
          <a:p>
            <a:r>
              <a:rPr lang="en-US" altLang="zh-CN" sz="1200">
                <a:highlight>
                  <a:srgbClr val="FFFF00"/>
                </a:highlight>
              </a:rPr>
              <a:t>5. </a:t>
            </a:r>
            <a:r>
              <a:rPr lang="zh-CN" altLang="en-US" sz="1200">
                <a:highlight>
                  <a:srgbClr val="FFFF00"/>
                </a:highlight>
              </a:rPr>
              <a:t>结果讨论</a:t>
            </a:r>
          </a:p>
          <a:p>
            <a:r>
              <a:rPr lang="zh-CN" altLang="en-US" sz="1200"/>
              <a:t>进行典型载荷分析和典型冗余分析，</a:t>
            </a:r>
            <a:r>
              <a:rPr lang="zh-CN" altLang="en-US" sz="1200">
                <a:solidFill>
                  <a:srgbClr val="FF0000"/>
                </a:solidFill>
              </a:rPr>
              <a:t>解释每对典型变量的意义及重要性</a:t>
            </a:r>
            <a:r>
              <a:rPr lang="zh-CN" altLang="en-US" sz="1200"/>
              <a:t>。</a:t>
            </a:r>
          </a:p>
        </p:txBody>
      </p:sp>
      <p:sp>
        <p:nvSpPr>
          <p:cNvPr id="63" name="文本框 62">
            <a:extLst>
              <a:ext uri="{FF2B5EF4-FFF2-40B4-BE49-F238E27FC236}">
                <a16:creationId xmlns:a16="http://schemas.microsoft.com/office/drawing/2014/main" id="{EBD691B8-AC68-FC1D-FE24-1B5440A9C7E2}"/>
              </a:ext>
            </a:extLst>
          </p:cNvPr>
          <p:cNvSpPr txBox="1"/>
          <p:nvPr/>
        </p:nvSpPr>
        <p:spPr>
          <a:xfrm>
            <a:off x="215270" y="4620215"/>
            <a:ext cx="11449878" cy="2092881"/>
          </a:xfrm>
          <a:prstGeom prst="rect">
            <a:avLst/>
          </a:prstGeom>
          <a:noFill/>
        </p:spPr>
        <p:txBody>
          <a:bodyPr wrap="square">
            <a:spAutoFit/>
          </a:bodyPr>
          <a:lstStyle/>
          <a:p>
            <a:r>
              <a:rPr lang="zh-CN" altLang="en-US" sz="1000">
                <a:highlight>
                  <a:srgbClr val="FFFF00"/>
                </a:highlight>
              </a:rPr>
              <a:t>典型相关系数</a:t>
            </a:r>
            <a:r>
              <a:rPr lang="zh-CN" altLang="en-US" sz="1000"/>
              <a:t>：第一对典型变量的典型相关系数为 </a:t>
            </a:r>
            <a:r>
              <a:rPr lang="en-US" altLang="zh-CN" sz="1000"/>
              <a:t>0.796</a:t>
            </a:r>
            <a:r>
              <a:rPr lang="zh-CN" altLang="en-US" sz="1000"/>
              <a:t>，对应的特征值为 </a:t>
            </a:r>
            <a:r>
              <a:rPr lang="en-US" altLang="zh-CN" sz="1000"/>
              <a:t>1.725</a:t>
            </a:r>
            <a:r>
              <a:rPr lang="zh-CN" altLang="en-US" sz="1000"/>
              <a:t>。这表明第一对典型变量之间</a:t>
            </a:r>
            <a:r>
              <a:rPr lang="zh-CN" altLang="en-US" sz="1000">
                <a:solidFill>
                  <a:srgbClr val="FF0000"/>
                </a:solidFill>
              </a:rPr>
              <a:t>存在较强的线性关系</a:t>
            </a:r>
            <a:r>
              <a:rPr lang="zh-CN" altLang="en-US" sz="1000"/>
              <a:t>。</a:t>
            </a:r>
          </a:p>
          <a:p>
            <a:r>
              <a:rPr lang="zh-CN" altLang="en-US" sz="1000">
                <a:highlight>
                  <a:srgbClr val="FFFF00"/>
                </a:highlight>
              </a:rPr>
              <a:t>显著性检验</a:t>
            </a:r>
            <a:r>
              <a:rPr lang="zh-CN" altLang="en-US" sz="1000"/>
              <a:t>：第一对典型变量的威尔克统计量（</a:t>
            </a:r>
            <a:r>
              <a:rPr lang="en-US" altLang="zh-CN" sz="1000"/>
              <a:t>Wilks' Lambda</a:t>
            </a:r>
            <a:r>
              <a:rPr lang="zh-CN" altLang="en-US" sz="1000"/>
              <a:t>）为 </a:t>
            </a:r>
            <a:r>
              <a:rPr lang="en-US" altLang="zh-CN" sz="1000"/>
              <a:t>0.350</a:t>
            </a:r>
            <a:r>
              <a:rPr lang="zh-CN" altLang="en-US" sz="1000"/>
              <a:t>，</a:t>
            </a:r>
            <a:r>
              <a:rPr lang="en-US" altLang="zh-CN" sz="1000"/>
              <a:t>F </a:t>
            </a:r>
            <a:r>
              <a:rPr lang="zh-CN" altLang="en-US" sz="1000"/>
              <a:t>值为 </a:t>
            </a:r>
            <a:r>
              <a:rPr lang="en-US" altLang="zh-CN" sz="1000"/>
              <a:t>2.048</a:t>
            </a:r>
            <a:r>
              <a:rPr lang="zh-CN" altLang="en-US" sz="1000"/>
              <a:t>，</a:t>
            </a:r>
            <a:r>
              <a:rPr lang="en-US" altLang="zh-CN" sz="1000"/>
              <a:t>p </a:t>
            </a:r>
            <a:r>
              <a:rPr lang="zh-CN" altLang="en-US" sz="1000"/>
              <a:t>值为 </a:t>
            </a:r>
            <a:r>
              <a:rPr lang="en-US" altLang="zh-CN" sz="1000"/>
              <a:t>0.064</a:t>
            </a:r>
            <a:r>
              <a:rPr lang="zh-CN" altLang="en-US" sz="1000"/>
              <a:t>。这意味着第一对典型变量的</a:t>
            </a:r>
            <a:r>
              <a:rPr lang="zh-CN" altLang="en-US" sz="1000">
                <a:solidFill>
                  <a:srgbClr val="FF0000"/>
                </a:solidFill>
              </a:rPr>
              <a:t>相关性接近显著水平（</a:t>
            </a:r>
            <a:r>
              <a:rPr lang="en-US" altLang="zh-CN" sz="1000">
                <a:solidFill>
                  <a:srgbClr val="FF0000"/>
                </a:solidFill>
              </a:rPr>
              <a:t>p &lt; 0.05</a:t>
            </a:r>
            <a:r>
              <a:rPr lang="zh-CN" altLang="en-US" sz="1000">
                <a:solidFill>
                  <a:srgbClr val="FF0000"/>
                </a:solidFill>
              </a:rPr>
              <a:t>）</a:t>
            </a:r>
            <a:r>
              <a:rPr lang="zh-CN" altLang="en-US" sz="1000"/>
              <a:t>。</a:t>
            </a:r>
          </a:p>
          <a:p>
            <a:r>
              <a:rPr lang="zh-CN" altLang="en-US" sz="1000">
                <a:highlight>
                  <a:srgbClr val="FFFF00"/>
                </a:highlight>
              </a:rPr>
              <a:t>线性组合系数</a:t>
            </a:r>
            <a:r>
              <a:rPr lang="zh-CN" altLang="en-US" sz="1000"/>
              <a:t>：集合 </a:t>
            </a:r>
            <a:r>
              <a:rPr lang="en-US" altLang="zh-CN" sz="1000"/>
              <a:t>1</a:t>
            </a:r>
            <a:r>
              <a:rPr lang="zh-CN" altLang="en-US" sz="1000"/>
              <a:t>（生理指标）的第一对典型变量线性组合系数为：体重</a:t>
            </a:r>
            <a:r>
              <a:rPr lang="en-US" altLang="zh-CN" sz="1000"/>
              <a:t>x1</a:t>
            </a:r>
            <a:r>
              <a:rPr lang="zh-CN" altLang="en-US" sz="1000"/>
              <a:t>（</a:t>
            </a:r>
            <a:r>
              <a:rPr lang="en-US" altLang="zh-CN" sz="1000"/>
              <a:t>0.775</a:t>
            </a:r>
            <a:r>
              <a:rPr lang="zh-CN" altLang="en-US" sz="1000"/>
              <a:t>）、腰围</a:t>
            </a:r>
            <a:r>
              <a:rPr lang="en-US" altLang="zh-CN" sz="1000"/>
              <a:t>x2</a:t>
            </a:r>
            <a:r>
              <a:rPr lang="zh-CN" altLang="en-US" sz="1000"/>
              <a:t>（</a:t>
            </a:r>
            <a:r>
              <a:rPr lang="en-US" altLang="zh-CN" sz="1000"/>
              <a:t>-1.579</a:t>
            </a:r>
            <a:r>
              <a:rPr lang="zh-CN" altLang="en-US" sz="1000"/>
              <a:t>）、脉搏</a:t>
            </a:r>
            <a:r>
              <a:rPr lang="en-US" altLang="zh-CN" sz="1000"/>
              <a:t>x3</a:t>
            </a:r>
            <a:r>
              <a:rPr lang="zh-CN" altLang="en-US" sz="1000"/>
              <a:t>（</a:t>
            </a:r>
            <a:r>
              <a:rPr lang="en-US" altLang="zh-CN" sz="1000"/>
              <a:t>0.059</a:t>
            </a:r>
            <a:r>
              <a:rPr lang="zh-CN" altLang="en-US" sz="1000"/>
              <a:t>）。这表明体重和腰围对第一对典型变量的</a:t>
            </a:r>
            <a:r>
              <a:rPr lang="zh-CN" altLang="en-US" sz="1000">
                <a:solidFill>
                  <a:srgbClr val="FF0000"/>
                </a:solidFill>
              </a:rPr>
              <a:t>贡献较大</a:t>
            </a:r>
            <a:r>
              <a:rPr lang="zh-CN" altLang="en-US" sz="1000"/>
              <a:t>，尤其是腰围的负系数表明它与该典型变量呈</a:t>
            </a:r>
            <a:r>
              <a:rPr lang="zh-CN" altLang="en-US" sz="1000">
                <a:solidFill>
                  <a:srgbClr val="FF0000"/>
                </a:solidFill>
              </a:rPr>
              <a:t>负相关</a:t>
            </a:r>
            <a:r>
              <a:rPr lang="zh-CN" altLang="en-US" sz="1000"/>
              <a:t>。</a:t>
            </a:r>
            <a:endParaRPr lang="en-US" altLang="zh-CN" sz="1000"/>
          </a:p>
          <a:p>
            <a:r>
              <a:rPr lang="zh-CN" altLang="en-US" sz="1000">
                <a:highlight>
                  <a:srgbClr val="FFFF00"/>
                </a:highlight>
              </a:rPr>
              <a:t>典型载荷</a:t>
            </a:r>
            <a:r>
              <a:rPr lang="zh-CN" altLang="en-US" sz="1000"/>
              <a:t>：集合 </a:t>
            </a:r>
            <a:r>
              <a:rPr lang="en-US" altLang="zh-CN" sz="1000"/>
              <a:t>1</a:t>
            </a:r>
            <a:r>
              <a:rPr lang="zh-CN" altLang="en-US" sz="1000"/>
              <a:t>（训练指标）的第一对典型载荷为：引体向上次数</a:t>
            </a:r>
            <a:r>
              <a:rPr lang="en-US" altLang="zh-CN" sz="1000"/>
              <a:t>y1</a:t>
            </a:r>
            <a:r>
              <a:rPr lang="zh-CN" altLang="en-US" sz="1000"/>
              <a:t>（</a:t>
            </a:r>
            <a:r>
              <a:rPr lang="en-US" altLang="zh-CN" sz="1000"/>
              <a:t>0.728</a:t>
            </a:r>
            <a:r>
              <a:rPr lang="zh-CN" altLang="en-US" sz="1000"/>
              <a:t>）、起坐次数</a:t>
            </a:r>
            <a:r>
              <a:rPr lang="en-US" altLang="zh-CN" sz="1000"/>
              <a:t>y2</a:t>
            </a:r>
            <a:r>
              <a:rPr lang="zh-CN" altLang="en-US" sz="1000"/>
              <a:t>（</a:t>
            </a:r>
            <a:r>
              <a:rPr lang="en-US" altLang="zh-CN" sz="1000"/>
              <a:t>0.818</a:t>
            </a:r>
            <a:r>
              <a:rPr lang="zh-CN" altLang="en-US" sz="1000"/>
              <a:t>）、跳跃次数</a:t>
            </a:r>
            <a:r>
              <a:rPr lang="en-US" altLang="zh-CN" sz="1000"/>
              <a:t>y3</a:t>
            </a:r>
            <a:r>
              <a:rPr lang="zh-CN" altLang="en-US" sz="1000"/>
              <a:t>（</a:t>
            </a:r>
            <a:r>
              <a:rPr lang="en-US" altLang="zh-CN" sz="1000"/>
              <a:t>0.162</a:t>
            </a:r>
            <a:r>
              <a:rPr lang="zh-CN" altLang="en-US" sz="1000"/>
              <a:t>）。这表明引体向上次数和起坐次数与第一对典型变量</a:t>
            </a:r>
            <a:r>
              <a:rPr lang="zh-CN" altLang="en-US" sz="1000">
                <a:solidFill>
                  <a:srgbClr val="FF0000"/>
                </a:solidFill>
              </a:rPr>
              <a:t>有较强的正相关</a:t>
            </a:r>
            <a:r>
              <a:rPr lang="zh-CN" altLang="en-US" sz="1000"/>
              <a:t>，而跳跃次数与此典型的</a:t>
            </a:r>
            <a:r>
              <a:rPr lang="zh-CN" altLang="en-US" sz="1000">
                <a:solidFill>
                  <a:srgbClr val="FF0000"/>
                </a:solidFill>
              </a:rPr>
              <a:t>关联较弱</a:t>
            </a:r>
            <a:r>
              <a:rPr lang="zh-CN" altLang="en-US" sz="1000"/>
              <a:t>。</a:t>
            </a:r>
          </a:p>
          <a:p>
            <a:r>
              <a:rPr lang="zh-CN" altLang="en-US" sz="1000">
                <a:highlight>
                  <a:srgbClr val="FFFF00"/>
                </a:highlight>
              </a:rPr>
              <a:t>解释的方差比例</a:t>
            </a:r>
            <a:r>
              <a:rPr lang="zh-CN" altLang="en-US" sz="1000"/>
              <a:t>：第一对典型变量解释的集合 </a:t>
            </a:r>
            <a:r>
              <a:rPr lang="en-US" altLang="zh-CN" sz="1000"/>
              <a:t>1 </a:t>
            </a:r>
            <a:r>
              <a:rPr lang="zh-CN" altLang="en-US" sz="1000"/>
              <a:t>方差比例为 </a:t>
            </a:r>
            <a:r>
              <a:rPr lang="en-US" altLang="zh-CN" sz="1000"/>
              <a:t>0.451</a:t>
            </a:r>
            <a:r>
              <a:rPr lang="zh-CN" altLang="en-US" sz="1000"/>
              <a:t>，解释的集合 </a:t>
            </a:r>
            <a:r>
              <a:rPr lang="en-US" altLang="zh-CN" sz="1000"/>
              <a:t>2 </a:t>
            </a:r>
            <a:r>
              <a:rPr lang="zh-CN" altLang="en-US" sz="1000"/>
              <a:t>方差比例为 </a:t>
            </a:r>
            <a:r>
              <a:rPr lang="en-US" altLang="zh-CN" sz="1000"/>
              <a:t>0.408</a:t>
            </a:r>
            <a:r>
              <a:rPr lang="zh-CN" altLang="en-US" sz="1000"/>
              <a:t>。这表明第一对典型变量解释了集合 </a:t>
            </a:r>
            <a:r>
              <a:rPr lang="en-US" altLang="zh-CN" sz="1000"/>
              <a:t>1 </a:t>
            </a:r>
            <a:r>
              <a:rPr lang="zh-CN" altLang="en-US" sz="1000"/>
              <a:t>和集合 </a:t>
            </a:r>
            <a:r>
              <a:rPr lang="en-US" altLang="zh-CN" sz="1000"/>
              <a:t>2 </a:t>
            </a:r>
            <a:r>
              <a:rPr lang="zh-CN" altLang="en-US" sz="1000"/>
              <a:t>中大约 </a:t>
            </a:r>
            <a:r>
              <a:rPr lang="en-US" altLang="zh-CN" sz="1000"/>
              <a:t>45.1% </a:t>
            </a:r>
            <a:r>
              <a:rPr lang="zh-CN" altLang="en-US" sz="1000"/>
              <a:t>和 </a:t>
            </a:r>
            <a:r>
              <a:rPr lang="en-US" altLang="zh-CN" sz="1000"/>
              <a:t>40.8% </a:t>
            </a:r>
            <a:r>
              <a:rPr lang="zh-CN" altLang="en-US" sz="1000"/>
              <a:t>的方差。</a:t>
            </a:r>
          </a:p>
          <a:p>
            <a:r>
              <a:rPr lang="zh-CN" altLang="en-US" sz="1000"/>
              <a:t>讨论</a:t>
            </a:r>
          </a:p>
          <a:p>
            <a:r>
              <a:rPr lang="zh-CN" altLang="en-US" sz="1000">
                <a:highlight>
                  <a:srgbClr val="FFFF00"/>
                </a:highlight>
              </a:rPr>
              <a:t>生理指标与训练指标的关系</a:t>
            </a:r>
            <a:r>
              <a:rPr lang="zh-CN" altLang="en-US" sz="1000"/>
              <a:t>：第一对典型变量的高相关系数（</a:t>
            </a:r>
            <a:r>
              <a:rPr lang="en-US" altLang="zh-CN" sz="1000"/>
              <a:t>0.796</a:t>
            </a:r>
            <a:r>
              <a:rPr lang="zh-CN" altLang="en-US" sz="1000"/>
              <a:t>）和接近显著性的 </a:t>
            </a:r>
            <a:r>
              <a:rPr lang="en-US" altLang="zh-CN" sz="1000"/>
              <a:t>p </a:t>
            </a:r>
            <a:r>
              <a:rPr lang="zh-CN" altLang="en-US" sz="1000"/>
              <a:t>值（</a:t>
            </a:r>
            <a:r>
              <a:rPr lang="en-US" altLang="zh-CN" sz="1000"/>
              <a:t>0.064</a:t>
            </a:r>
            <a:r>
              <a:rPr lang="zh-CN" altLang="en-US" sz="1000"/>
              <a:t>）表明生理指标变量（体重、腰围和脉搏）与训练指标变量（引体向上次数、起坐次数和跳跃次数）之间</a:t>
            </a:r>
            <a:r>
              <a:rPr lang="zh-CN" altLang="en-US" sz="1000">
                <a:solidFill>
                  <a:srgbClr val="FF0000"/>
                </a:solidFill>
              </a:rPr>
              <a:t>存在较强的线性关系</a:t>
            </a:r>
            <a:r>
              <a:rPr lang="zh-CN" altLang="en-US" sz="1000"/>
              <a:t>。</a:t>
            </a:r>
          </a:p>
          <a:p>
            <a:r>
              <a:rPr lang="zh-CN" altLang="en-US" sz="1000">
                <a:highlight>
                  <a:srgbClr val="FFFF00"/>
                </a:highlight>
              </a:rPr>
              <a:t>变量贡献</a:t>
            </a:r>
            <a:r>
              <a:rPr lang="zh-CN" altLang="en-US" sz="1000"/>
              <a:t>：体重和腰围对第一对典型变量的</a:t>
            </a:r>
            <a:r>
              <a:rPr lang="zh-CN" altLang="en-US" sz="1000">
                <a:solidFill>
                  <a:srgbClr val="FF0000"/>
                </a:solidFill>
              </a:rPr>
              <a:t>贡献较大</a:t>
            </a:r>
            <a:r>
              <a:rPr lang="zh-CN" altLang="en-US" sz="1000"/>
              <a:t>，尤其是腰围的负系数表明随着腰围的增加，第一对典型变量的值降低。起坐次数的正系数表明起坐次数与第一对典型变量</a:t>
            </a:r>
            <a:r>
              <a:rPr lang="zh-CN" altLang="en-US" sz="1000">
                <a:solidFill>
                  <a:srgbClr val="FF0000"/>
                </a:solidFill>
              </a:rPr>
              <a:t>正相关</a:t>
            </a:r>
            <a:r>
              <a:rPr lang="zh-CN" altLang="en-US" sz="1000"/>
              <a:t>，而跳跃次数的负系数则表明跳跃次数与第一对典型变量呈</a:t>
            </a:r>
            <a:r>
              <a:rPr lang="zh-CN" altLang="en-US" sz="1000">
                <a:solidFill>
                  <a:srgbClr val="FF0000"/>
                </a:solidFill>
              </a:rPr>
              <a:t>负相关</a:t>
            </a:r>
            <a:r>
              <a:rPr lang="zh-CN" altLang="en-US" sz="1000"/>
              <a:t>。</a:t>
            </a:r>
          </a:p>
          <a:p>
            <a:r>
              <a:rPr lang="zh-CN" altLang="en-US" sz="1000">
                <a:highlight>
                  <a:srgbClr val="FFFF00"/>
                </a:highlight>
              </a:rPr>
              <a:t>解释的方差</a:t>
            </a:r>
            <a:r>
              <a:rPr lang="zh-CN" altLang="en-US" sz="1000"/>
              <a:t>：第一对典型变量解释了生理指标变量约 </a:t>
            </a:r>
            <a:r>
              <a:rPr lang="en-US" altLang="zh-CN" sz="1000"/>
              <a:t>45.1% </a:t>
            </a:r>
            <a:r>
              <a:rPr lang="zh-CN" altLang="en-US" sz="1000"/>
              <a:t>的方差和训练指标变量约 </a:t>
            </a:r>
            <a:r>
              <a:rPr lang="en-US" altLang="zh-CN" sz="1000"/>
              <a:t>40.8% </a:t>
            </a:r>
            <a:r>
              <a:rPr lang="zh-CN" altLang="en-US" sz="1000"/>
              <a:t>的方差，这表明这对典型变量</a:t>
            </a:r>
            <a:r>
              <a:rPr lang="zh-CN" altLang="en-US" sz="1000">
                <a:solidFill>
                  <a:srgbClr val="FF0000"/>
                </a:solidFill>
              </a:rPr>
              <a:t>有效地捕捉了两组变量之间的大部分变异</a:t>
            </a:r>
            <a:r>
              <a:rPr lang="zh-CN" altLang="en-US" sz="1000"/>
              <a:t>。</a:t>
            </a:r>
          </a:p>
        </p:txBody>
      </p:sp>
      <p:sp>
        <p:nvSpPr>
          <p:cNvPr id="65" name="文本框 64">
            <a:extLst>
              <a:ext uri="{FF2B5EF4-FFF2-40B4-BE49-F238E27FC236}">
                <a16:creationId xmlns:a16="http://schemas.microsoft.com/office/drawing/2014/main" id="{D6A20E20-8AD1-E4BE-C109-DFB293D0F1DD}"/>
              </a:ext>
            </a:extLst>
          </p:cNvPr>
          <p:cNvSpPr txBox="1"/>
          <p:nvPr/>
        </p:nvSpPr>
        <p:spPr>
          <a:xfrm>
            <a:off x="9845270" y="6396335"/>
            <a:ext cx="1450665" cy="461665"/>
          </a:xfrm>
          <a:prstGeom prst="rect">
            <a:avLst/>
          </a:prstGeom>
          <a:noFill/>
        </p:spPr>
        <p:txBody>
          <a:bodyPr wrap="square" rtlCol="0">
            <a:spAutoFit/>
          </a:bodyPr>
          <a:lstStyle/>
          <a:p>
            <a:r>
              <a:rPr lang="zh-CN" altLang="en-US" sz="2400">
                <a:solidFill>
                  <a:schemeClr val="accent2">
                    <a:lumMod val="50000"/>
                  </a:schemeClr>
                </a:solidFill>
                <a:latin typeface="优设标题黑" panose="00000500000000000000" pitchFamily="2" charset="-122"/>
                <a:ea typeface="优设标题黑" panose="00000500000000000000" pitchFamily="2" charset="-122"/>
              </a:rPr>
              <a:t>分析样例</a:t>
            </a:r>
          </a:p>
        </p:txBody>
      </p:sp>
    </p:spTree>
    <p:extLst>
      <p:ext uri="{BB962C8B-B14F-4D97-AF65-F5344CB8AC3E}">
        <p14:creationId xmlns:p14="http://schemas.microsoft.com/office/powerpoint/2010/main" val="2558139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BE5FAAC-256F-EE8F-1D39-FDE5243C1B2A}"/>
              </a:ext>
            </a:extLst>
          </p:cNvPr>
          <p:cNvSpPr txBox="1"/>
          <p:nvPr/>
        </p:nvSpPr>
        <p:spPr>
          <a:xfrm>
            <a:off x="139642" y="873022"/>
            <a:ext cx="3235036" cy="646331"/>
          </a:xfrm>
          <a:prstGeom prst="rect">
            <a:avLst/>
          </a:prstGeom>
          <a:noFill/>
        </p:spPr>
        <p:txBody>
          <a:bodyPr wrap="square">
            <a:spAutoFit/>
          </a:bodyPr>
          <a:lstStyle/>
          <a:p>
            <a:r>
              <a:rPr lang="zh-CN" altLang="en-US" sz="1200"/>
              <a:t>第一、识别重要变量（与</a:t>
            </a:r>
            <a:r>
              <a:rPr lang="en-US" altLang="zh-CN" sz="1200"/>
              <a:t>Y</a:t>
            </a:r>
            <a:r>
              <a:rPr lang="zh-CN" altLang="en-US" sz="1200"/>
              <a:t>真相关的</a:t>
            </a:r>
            <a:r>
              <a:rPr lang="en-US" altLang="zh-CN" sz="1200"/>
              <a:t>X</a:t>
            </a:r>
            <a:r>
              <a:rPr lang="zh-CN" altLang="en-US" sz="1200"/>
              <a:t>变量）</a:t>
            </a:r>
          </a:p>
          <a:p>
            <a:r>
              <a:rPr lang="zh-CN" altLang="en-US" sz="1200"/>
              <a:t>第二、判断相关性的方向（正、负相关）</a:t>
            </a:r>
          </a:p>
          <a:p>
            <a:r>
              <a:rPr lang="zh-CN" altLang="en-US" sz="1200"/>
              <a:t>第三、估计权重（回归系数）</a:t>
            </a:r>
          </a:p>
        </p:txBody>
      </p:sp>
      <p:pic>
        <p:nvPicPr>
          <p:cNvPr id="8" name="图片 7">
            <a:extLst>
              <a:ext uri="{FF2B5EF4-FFF2-40B4-BE49-F238E27FC236}">
                <a16:creationId xmlns:a16="http://schemas.microsoft.com/office/drawing/2014/main" id="{54E1F0BA-92BF-4818-9173-50BCDC09E0A0}"/>
              </a:ext>
            </a:extLst>
          </p:cNvPr>
          <p:cNvPicPr>
            <a:picLocks noChangeAspect="1"/>
          </p:cNvPicPr>
          <p:nvPr/>
        </p:nvPicPr>
        <p:blipFill>
          <a:blip r:embed="rId2"/>
          <a:stretch>
            <a:fillRect/>
          </a:stretch>
        </p:blipFill>
        <p:spPr>
          <a:xfrm>
            <a:off x="167351" y="1559729"/>
            <a:ext cx="3729910" cy="1458129"/>
          </a:xfrm>
          <a:prstGeom prst="rect">
            <a:avLst/>
          </a:prstGeom>
        </p:spPr>
      </p:pic>
      <p:pic>
        <p:nvPicPr>
          <p:cNvPr id="10" name="图片 9">
            <a:extLst>
              <a:ext uri="{FF2B5EF4-FFF2-40B4-BE49-F238E27FC236}">
                <a16:creationId xmlns:a16="http://schemas.microsoft.com/office/drawing/2014/main" id="{75D73310-5197-7C2D-0EAC-ADDA25551A23}"/>
              </a:ext>
            </a:extLst>
          </p:cNvPr>
          <p:cNvPicPr>
            <a:picLocks noChangeAspect="1"/>
          </p:cNvPicPr>
          <p:nvPr/>
        </p:nvPicPr>
        <p:blipFill>
          <a:blip r:embed="rId3"/>
          <a:stretch>
            <a:fillRect/>
          </a:stretch>
        </p:blipFill>
        <p:spPr>
          <a:xfrm>
            <a:off x="167352" y="3067580"/>
            <a:ext cx="3729910" cy="1219757"/>
          </a:xfrm>
          <a:prstGeom prst="rect">
            <a:avLst/>
          </a:prstGeom>
        </p:spPr>
      </p:pic>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E36FDF7-36EA-0A9A-0763-3A464CC7CDB5}"/>
                  </a:ext>
                </a:extLst>
              </p:cNvPr>
              <p:cNvSpPr txBox="1"/>
              <p:nvPr/>
            </p:nvSpPr>
            <p:spPr>
              <a:xfrm>
                <a:off x="139642" y="4287337"/>
                <a:ext cx="4169122" cy="830997"/>
              </a:xfrm>
              <a:prstGeom prst="rect">
                <a:avLst/>
              </a:prstGeom>
              <a:noFill/>
            </p:spPr>
            <p:txBody>
              <a:bodyPr wrap="square" rtlCol="0">
                <a:spAutoFit/>
              </a:bodyPr>
              <a:lstStyle/>
              <a:p>
                <a:r>
                  <a:rPr lang="zh-CN" altLang="en-US" sz="1200"/>
                  <a:t>假设</a:t>
                </a:r>
                <a14:m>
                  <m:oMath xmlns:m="http://schemas.openxmlformats.org/officeDocument/2006/math">
                    <m:r>
                      <a:rPr lang="zh-CN" altLang="en-US" sz="1200" b="0" i="1" smtClean="0">
                        <a:latin typeface="Cambria Math" panose="02040503050406030204" pitchFamily="18" charset="0"/>
                      </a:rPr>
                      <m:t>模型</m:t>
                    </m:r>
                    <m:r>
                      <a:rPr lang="zh-CN" altLang="en-US" sz="1200" i="1">
                        <a:latin typeface="Cambria Math" panose="02040503050406030204" pitchFamily="18" charset="0"/>
                      </a:rPr>
                      <m:t>为</m:t>
                    </m:r>
                    <m:r>
                      <a:rPr lang="zh-CN" altLang="en-US" sz="1200" i="1" smtClean="0">
                        <a:latin typeface="Cambria Math" panose="02040503050406030204" pitchFamily="18" charset="0"/>
                      </a:rPr>
                      <m:t>：</m:t>
                    </m:r>
                    <m:r>
                      <a:rPr lang="en-US" altLang="zh-CN" sz="1200" b="0" i="1" smtClean="0">
                        <a:solidFill>
                          <a:schemeClr val="accent1"/>
                        </a:solidFill>
                        <a:latin typeface="Cambria Math" panose="02040503050406030204" pitchFamily="18" charset="0"/>
                      </a:rPr>
                      <m:t>𝑦</m:t>
                    </m:r>
                    <m:r>
                      <a:rPr lang="en-US" altLang="zh-CN" sz="1200" b="0" i="1" smtClean="0">
                        <a:solidFill>
                          <a:schemeClr val="accent1"/>
                        </a:solidFill>
                        <a:latin typeface="Cambria Math" panose="02040503050406030204" pitchFamily="18" charset="0"/>
                      </a:rPr>
                      <m:t>=</m:t>
                    </m:r>
                    <m:sSub>
                      <m:sSubPr>
                        <m:ctrlPr>
                          <a:rPr lang="en-US" altLang="zh-CN" sz="1200" b="0" i="1" smtClean="0">
                            <a:solidFill>
                              <a:schemeClr val="accent1"/>
                            </a:solidFill>
                            <a:latin typeface="Cambria Math" panose="02040503050406030204" pitchFamily="18" charset="0"/>
                          </a:rPr>
                        </m:ctrlPr>
                      </m:sSubPr>
                      <m:e>
                        <m:r>
                          <a:rPr lang="zh-CN" altLang="en-US" sz="1200" b="0" i="1" smtClean="0">
                            <a:solidFill>
                              <a:schemeClr val="accent1"/>
                            </a:solidFill>
                            <a:latin typeface="Cambria Math" panose="02040503050406030204" pitchFamily="18" charset="0"/>
                          </a:rPr>
                          <m:t>𝛽</m:t>
                        </m:r>
                      </m:e>
                      <m:sub>
                        <m:r>
                          <a:rPr lang="en-US" altLang="zh-CN" sz="1200" b="0" i="1" smtClean="0">
                            <a:solidFill>
                              <a:schemeClr val="accent1"/>
                            </a:solidFill>
                            <a:latin typeface="Cambria Math" panose="02040503050406030204" pitchFamily="18" charset="0"/>
                          </a:rPr>
                          <m:t>0</m:t>
                        </m:r>
                      </m:sub>
                    </m:sSub>
                    <m:r>
                      <a:rPr lang="en-US" altLang="zh-CN" sz="1200" b="0" i="1" smtClean="0">
                        <a:solidFill>
                          <a:schemeClr val="accent1"/>
                        </a:solidFill>
                        <a:latin typeface="Cambria Math" panose="02040503050406030204" pitchFamily="18" charset="0"/>
                      </a:rPr>
                      <m:t>+</m:t>
                    </m:r>
                    <m:sSub>
                      <m:sSubPr>
                        <m:ctrlPr>
                          <a:rPr lang="en-US" altLang="zh-CN" sz="1200" i="1">
                            <a:solidFill>
                              <a:schemeClr val="accent1"/>
                            </a:solidFill>
                            <a:latin typeface="Cambria Math" panose="02040503050406030204" pitchFamily="18" charset="0"/>
                          </a:rPr>
                        </m:ctrlPr>
                      </m:sSubPr>
                      <m:e>
                        <m:r>
                          <a:rPr lang="zh-CN" altLang="en-US" sz="1200" i="1">
                            <a:solidFill>
                              <a:schemeClr val="accent1"/>
                            </a:solidFill>
                            <a:latin typeface="Cambria Math" panose="02040503050406030204" pitchFamily="18" charset="0"/>
                          </a:rPr>
                          <m:t>𝛽</m:t>
                        </m:r>
                      </m:e>
                      <m:sub>
                        <m:r>
                          <a:rPr lang="en-US" altLang="zh-CN" sz="1200" b="0" i="1" smtClean="0">
                            <a:solidFill>
                              <a:schemeClr val="accent1"/>
                            </a:solidFill>
                            <a:latin typeface="Cambria Math" panose="02040503050406030204" pitchFamily="18" charset="0"/>
                          </a:rPr>
                          <m:t>1</m:t>
                        </m:r>
                      </m:sub>
                    </m:sSub>
                    <m:sSub>
                      <m:sSubPr>
                        <m:ctrlPr>
                          <a:rPr lang="en-US" altLang="zh-CN" sz="1200" i="1" smtClean="0">
                            <a:solidFill>
                              <a:schemeClr val="accent1"/>
                            </a:solidFill>
                            <a:latin typeface="Cambria Math" panose="02040503050406030204" pitchFamily="18" charset="0"/>
                          </a:rPr>
                        </m:ctrlPr>
                      </m:sSubPr>
                      <m:e>
                        <m:r>
                          <a:rPr lang="en-US" altLang="zh-CN" sz="1200" b="0" i="1" smtClean="0">
                            <a:solidFill>
                              <a:schemeClr val="accent1"/>
                            </a:solidFill>
                            <a:latin typeface="Cambria Math" panose="02040503050406030204" pitchFamily="18" charset="0"/>
                          </a:rPr>
                          <m:t>𝑥</m:t>
                        </m:r>
                      </m:e>
                      <m:sub>
                        <m:r>
                          <a:rPr lang="en-US" altLang="zh-CN" sz="1200" b="0" i="1" smtClean="0">
                            <a:solidFill>
                              <a:schemeClr val="accent1"/>
                            </a:solidFill>
                            <a:latin typeface="Cambria Math" panose="02040503050406030204" pitchFamily="18" charset="0"/>
                          </a:rPr>
                          <m:t>1</m:t>
                        </m:r>
                      </m:sub>
                    </m:sSub>
                  </m:oMath>
                </a14:m>
                <a:r>
                  <a:rPr lang="en-US" altLang="zh-CN" sz="120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b="0" i="1" smtClean="0">
                            <a:solidFill>
                              <a:schemeClr val="accent1"/>
                            </a:solidFill>
                            <a:latin typeface="Cambria Math" panose="02040503050406030204" pitchFamily="18" charset="0"/>
                          </a:rPr>
                          <m:t>+</m:t>
                        </m:r>
                        <m:r>
                          <a:rPr lang="zh-CN" altLang="en-US" sz="1200" i="1">
                            <a:solidFill>
                              <a:schemeClr val="accent1"/>
                            </a:solidFill>
                            <a:latin typeface="Cambria Math" panose="02040503050406030204" pitchFamily="18" charset="0"/>
                          </a:rPr>
                          <m:t>𝛽</m:t>
                        </m:r>
                      </m:e>
                      <m:sub>
                        <m:r>
                          <a:rPr lang="en-US" altLang="zh-CN" sz="1200" b="0" i="1" smtClean="0">
                            <a:solidFill>
                              <a:schemeClr val="accent1"/>
                            </a:solidFill>
                            <a:latin typeface="Cambria Math" panose="02040503050406030204" pitchFamily="18" charset="0"/>
                          </a:rPr>
                          <m:t>2</m:t>
                        </m:r>
                      </m:sub>
                    </m:sSub>
                  </m:oMath>
                </a14:m>
                <a:r>
                  <a:rPr lang="en-US" altLang="zh-CN" sz="120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𝑥</m:t>
                        </m:r>
                      </m:e>
                      <m:sub>
                        <m:r>
                          <a:rPr lang="en-US" altLang="zh-CN" sz="1200" b="0" i="1" smtClean="0">
                            <a:solidFill>
                              <a:schemeClr val="accent1"/>
                            </a:solidFill>
                            <a:latin typeface="Cambria Math" panose="02040503050406030204" pitchFamily="18" charset="0"/>
                          </a:rPr>
                          <m:t>2</m:t>
                        </m:r>
                      </m:sub>
                    </m:sSub>
                    <m:r>
                      <a:rPr lang="en-US" altLang="zh-CN" sz="1200" b="0" i="0" smtClean="0">
                        <a:solidFill>
                          <a:schemeClr val="accent1"/>
                        </a:solidFill>
                        <a:latin typeface="Cambria Math" panose="02040503050406030204" pitchFamily="18" charset="0"/>
                      </a:rPr>
                      <m:t>+</m:t>
                    </m:r>
                    <m:r>
                      <a:rPr lang="en-US" altLang="zh-CN" sz="1200" b="0" i="1" smtClean="0">
                        <a:solidFill>
                          <a:schemeClr val="accent1"/>
                        </a:solidFill>
                        <a:latin typeface="Cambria Math" panose="02040503050406030204" pitchFamily="18" charset="0"/>
                        <a:ea typeface="Cambria Math" panose="02040503050406030204" pitchFamily="18" charset="0"/>
                      </a:rPr>
                      <m:t>⋯</m:t>
                    </m:r>
                  </m:oMath>
                </a14:m>
                <a:r>
                  <a:rPr lang="en-US" altLang="zh-CN" sz="1200">
                    <a:solidFill>
                      <a:schemeClr val="accent1"/>
                    </a:solidFill>
                  </a:rPr>
                  <a:t> </a:t>
                </a:r>
                <a14:m>
                  <m:oMath xmlns:m="http://schemas.openxmlformats.org/officeDocument/2006/math">
                    <m:sSub>
                      <m:sSubPr>
                        <m:ctrlPr>
                          <a:rPr lang="en-US" altLang="zh-CN" sz="1200" i="1">
                            <a:solidFill>
                              <a:schemeClr val="accent1"/>
                            </a:solidFill>
                            <a:latin typeface="Cambria Math" panose="02040503050406030204" pitchFamily="18" charset="0"/>
                          </a:rPr>
                        </m:ctrlPr>
                      </m:sSubPr>
                      <m:e>
                        <m:r>
                          <a:rPr lang="en-US" altLang="zh-CN" sz="1200" b="0" i="1" smtClean="0">
                            <a:solidFill>
                              <a:schemeClr val="accent1"/>
                            </a:solidFill>
                            <a:latin typeface="Cambria Math" panose="02040503050406030204" pitchFamily="18" charset="0"/>
                          </a:rPr>
                          <m:t>+</m:t>
                        </m:r>
                        <m:r>
                          <a:rPr lang="zh-CN" altLang="en-US" sz="1200" i="1">
                            <a:solidFill>
                              <a:schemeClr val="accent1"/>
                            </a:solidFill>
                            <a:latin typeface="Cambria Math" panose="02040503050406030204" pitchFamily="18" charset="0"/>
                          </a:rPr>
                          <m:t>𝛽</m:t>
                        </m:r>
                      </m:e>
                      <m:sub>
                        <m:r>
                          <a:rPr lang="en-US" altLang="zh-CN" sz="1200" b="0" i="1" smtClean="0">
                            <a:solidFill>
                              <a:schemeClr val="accent1"/>
                            </a:solidFill>
                            <a:latin typeface="Cambria Math" panose="02040503050406030204" pitchFamily="18" charset="0"/>
                          </a:rPr>
                          <m:t>𝑘</m:t>
                        </m:r>
                      </m:sub>
                    </m:sSub>
                    <m:sSub>
                      <m:sSubPr>
                        <m:ctrlPr>
                          <a:rPr lang="en-US" altLang="zh-CN" sz="1200" i="1">
                            <a:solidFill>
                              <a:schemeClr val="accent1"/>
                            </a:solidFill>
                            <a:latin typeface="Cambria Math" panose="02040503050406030204" pitchFamily="18" charset="0"/>
                          </a:rPr>
                        </m:ctrlPr>
                      </m:sSubPr>
                      <m:e>
                        <m:r>
                          <a:rPr lang="en-US" altLang="zh-CN" sz="1200" i="1">
                            <a:solidFill>
                              <a:schemeClr val="accent1"/>
                            </a:solidFill>
                            <a:latin typeface="Cambria Math" panose="02040503050406030204" pitchFamily="18" charset="0"/>
                          </a:rPr>
                          <m:t>𝑥</m:t>
                        </m:r>
                      </m:e>
                      <m:sub>
                        <m:r>
                          <a:rPr lang="en-US" altLang="zh-CN" sz="1200" b="0" i="1" smtClean="0">
                            <a:solidFill>
                              <a:schemeClr val="accent1"/>
                            </a:solidFill>
                            <a:latin typeface="Cambria Math" panose="02040503050406030204" pitchFamily="18" charset="0"/>
                          </a:rPr>
                          <m:t>𝑘</m:t>
                        </m:r>
                      </m:sub>
                    </m:sSub>
                    <m:r>
                      <a:rPr lang="en-US" altLang="zh-CN" sz="1200" b="0" i="1" smtClean="0">
                        <a:solidFill>
                          <a:schemeClr val="accent1"/>
                        </a:solidFill>
                        <a:latin typeface="Cambria Math" panose="02040503050406030204" pitchFamily="18" charset="0"/>
                      </a:rPr>
                      <m:t>+</m:t>
                    </m:r>
                    <m:r>
                      <a:rPr lang="zh-CN" altLang="en-US" sz="1200" b="0" i="1" smtClean="0">
                        <a:solidFill>
                          <a:schemeClr val="accent1"/>
                        </a:solidFill>
                        <a:latin typeface="Cambria Math" panose="02040503050406030204" pitchFamily="18" charset="0"/>
                      </a:rPr>
                      <m:t>𝜇</m:t>
                    </m:r>
                  </m:oMath>
                </a14:m>
                <a:r>
                  <a:rPr lang="zh-CN" altLang="en-US" sz="1200">
                    <a:solidFill>
                      <a:schemeClr val="accent1"/>
                    </a:solidFill>
                  </a:rPr>
                  <a:t>         </a:t>
                </a:r>
                <a:r>
                  <a:rPr lang="zh-CN" altLang="en-US" sz="1200"/>
                  <a:t>（</a:t>
                </a:r>
                <a:r>
                  <a:rPr lang="en-US" altLang="zh-CN" sz="1200"/>
                  <a:t>μ</a:t>
                </a:r>
                <a:r>
                  <a:rPr lang="zh-CN" altLang="en-US" sz="1200"/>
                  <a:t>为扰动项，包含所以与</a:t>
                </a:r>
                <a:r>
                  <a:rPr lang="en-US" altLang="zh-CN" sz="1200"/>
                  <a:t>y</a:t>
                </a:r>
                <a:r>
                  <a:rPr lang="zh-CN" altLang="en-US" sz="1200"/>
                  <a:t>相关但未添加入回归模型的变量）</a:t>
                </a:r>
                <a:endParaRPr lang="en-US" altLang="zh-CN" sz="1200"/>
              </a:p>
              <a:p>
                <a:r>
                  <a:rPr lang="en-US" altLang="zh-CN" sz="1200"/>
                  <a:t>If </a:t>
                </a:r>
                <a:r>
                  <a:rPr lang="zh-CN" altLang="en-US" sz="1200"/>
                  <a:t>这些变量与已添加的变量</a:t>
                </a:r>
                <a:r>
                  <a:rPr lang="zh-CN" altLang="en-US" sz="1200">
                    <a:solidFill>
                      <a:srgbClr val="FF0000"/>
                    </a:solidFill>
                  </a:rPr>
                  <a:t>相关</a:t>
                </a:r>
                <a:r>
                  <a:rPr lang="zh-CN" altLang="en-US" sz="1200"/>
                  <a:t>，则存在</a:t>
                </a:r>
                <a:r>
                  <a:rPr lang="zh-CN" altLang="en-US" sz="1200">
                    <a:solidFill>
                      <a:srgbClr val="FF0000"/>
                    </a:solidFill>
                  </a:rPr>
                  <a:t>内生性</a:t>
                </a:r>
                <a:r>
                  <a:rPr lang="zh-CN" altLang="en-US" sz="1200"/>
                  <a:t> </a:t>
                </a:r>
                <a:endParaRPr lang="en-US" altLang="zh-CN" sz="1200"/>
              </a:p>
              <a:p>
                <a:r>
                  <a:rPr lang="zh-CN" altLang="en-US" sz="1200"/>
                  <a:t>内生性会</a:t>
                </a:r>
                <a:r>
                  <a:rPr lang="zh-CN" altLang="en-US" sz="1200">
                    <a:solidFill>
                      <a:srgbClr val="FF0000"/>
                    </a:solidFill>
                  </a:rPr>
                  <a:t>导致回归系数估计不准</a:t>
                </a:r>
                <a:r>
                  <a:rPr lang="zh-CN" altLang="en-US" sz="1200"/>
                  <a:t>：不满足无偏和一致性</a:t>
                </a:r>
              </a:p>
            </p:txBody>
          </p:sp>
        </mc:Choice>
        <mc:Fallback xmlns="">
          <p:sp>
            <p:nvSpPr>
              <p:cNvPr id="12" name="文本框 11">
                <a:extLst>
                  <a:ext uri="{FF2B5EF4-FFF2-40B4-BE49-F238E27FC236}">
                    <a16:creationId xmlns:a16="http://schemas.microsoft.com/office/drawing/2014/main" id="{CE36FDF7-36EA-0A9A-0763-3A464CC7CDB5}"/>
                  </a:ext>
                </a:extLst>
              </p:cNvPr>
              <p:cNvSpPr txBox="1">
                <a:spLocks noRot="1" noChangeAspect="1" noMove="1" noResize="1" noEditPoints="1" noAdjustHandles="1" noChangeArrowheads="1" noChangeShapeType="1" noTextEdit="1"/>
              </p:cNvSpPr>
              <p:nvPr/>
            </p:nvSpPr>
            <p:spPr>
              <a:xfrm>
                <a:off x="139642" y="4287337"/>
                <a:ext cx="4169122" cy="830997"/>
              </a:xfrm>
              <a:prstGeom prst="rect">
                <a:avLst/>
              </a:prstGeom>
              <a:blipFill>
                <a:blip r:embed="rId4"/>
                <a:stretch>
                  <a:fillRect l="-146" t="-730" r="-3216" b="-3650"/>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47599158-0226-8646-8D3E-2618C7D3D75A}"/>
              </a:ext>
            </a:extLst>
          </p:cNvPr>
          <p:cNvSpPr txBox="1"/>
          <p:nvPr/>
        </p:nvSpPr>
        <p:spPr>
          <a:xfrm>
            <a:off x="139642" y="5206421"/>
            <a:ext cx="4953038" cy="1200329"/>
          </a:xfrm>
          <a:prstGeom prst="rect">
            <a:avLst/>
          </a:prstGeom>
          <a:noFill/>
        </p:spPr>
        <p:txBody>
          <a:bodyPr wrap="square">
            <a:spAutoFit/>
          </a:bodyPr>
          <a:lstStyle/>
          <a:p>
            <a:r>
              <a:rPr lang="zh-CN" altLang="en-US" sz="1200"/>
              <a:t>无内生性（</a:t>
            </a:r>
            <a:r>
              <a:rPr lang="en-US" altLang="zh-CN" sz="1200"/>
              <a:t>no endogeneity</a:t>
            </a:r>
            <a:r>
              <a:rPr lang="zh-CN" altLang="en-US" sz="1200"/>
              <a:t>）要求</a:t>
            </a:r>
            <a:r>
              <a:rPr lang="zh-CN" altLang="en-US" sz="1200">
                <a:solidFill>
                  <a:srgbClr val="FF0000"/>
                </a:solidFill>
              </a:rPr>
              <a:t>所有</a:t>
            </a:r>
            <a:r>
              <a:rPr lang="zh-CN" altLang="en-US" sz="1200"/>
              <a:t>解释变量均与扰动项</a:t>
            </a:r>
            <a:r>
              <a:rPr lang="zh-CN" altLang="en-US" sz="1200">
                <a:solidFill>
                  <a:srgbClr val="FF0000"/>
                </a:solidFill>
              </a:rPr>
              <a:t>不相关</a:t>
            </a:r>
            <a:r>
              <a:rPr lang="zh-CN" altLang="en-US" sz="1200"/>
              <a:t>。</a:t>
            </a:r>
            <a:endParaRPr lang="en-US" altLang="zh-CN" sz="1200"/>
          </a:p>
          <a:p>
            <a:r>
              <a:rPr lang="zh-CN" altLang="en-US" sz="1200">
                <a:highlight>
                  <a:srgbClr val="FFFF00"/>
                </a:highlight>
              </a:rPr>
              <a:t>如何弱化条件？</a:t>
            </a:r>
            <a:endParaRPr lang="en-US" altLang="zh-CN" sz="1200">
              <a:highlight>
                <a:srgbClr val="FFFF00"/>
              </a:highlight>
            </a:endParaRPr>
          </a:p>
          <a:p>
            <a:r>
              <a:rPr lang="zh-CN" altLang="en-US" sz="1200">
                <a:solidFill>
                  <a:srgbClr val="FF0000"/>
                </a:solidFill>
              </a:rPr>
              <a:t>核心解释变量</a:t>
            </a:r>
            <a:r>
              <a:rPr lang="zh-CN" altLang="en-US" sz="1200"/>
              <a:t>：</a:t>
            </a:r>
            <a:r>
              <a:rPr lang="zh-CN" altLang="en-US" sz="1200" b="0" i="0">
                <a:solidFill>
                  <a:srgbClr val="2C2C36"/>
                </a:solidFill>
                <a:effectLst/>
                <a:highlight>
                  <a:srgbClr val="FFFFFF"/>
                </a:highlight>
                <a:latin typeface="-apple-system"/>
              </a:rPr>
              <a:t>研究者主要感兴趣的变量，被认为是直接影响因变量变化的主要原因。</a:t>
            </a:r>
            <a:endParaRPr lang="en-US" altLang="zh-CN" sz="1200" b="0" i="0">
              <a:solidFill>
                <a:srgbClr val="2C2C36"/>
              </a:solidFill>
              <a:effectLst/>
              <a:highlight>
                <a:srgbClr val="FFFFFF"/>
              </a:highlight>
              <a:latin typeface="-apple-system"/>
            </a:endParaRPr>
          </a:p>
          <a:p>
            <a:r>
              <a:rPr lang="zh-CN" altLang="en-US" sz="1200">
                <a:solidFill>
                  <a:srgbClr val="FF0000"/>
                </a:solidFill>
              </a:rPr>
              <a:t>控制变量</a:t>
            </a:r>
            <a:r>
              <a:rPr lang="zh-CN" altLang="en-US" sz="1200"/>
              <a:t>：</a:t>
            </a:r>
            <a:r>
              <a:rPr lang="zh-CN" altLang="en-US" sz="1200" b="0" i="0">
                <a:solidFill>
                  <a:srgbClr val="2C2C36"/>
                </a:solidFill>
                <a:effectLst/>
                <a:highlight>
                  <a:srgbClr val="FFFFFF"/>
                </a:highlight>
                <a:latin typeface="-apple-system"/>
              </a:rPr>
              <a:t>与研究问题不直接相关，但是可能会影响因变量的其他变量。</a:t>
            </a:r>
            <a:endParaRPr lang="en-US" altLang="zh-CN" sz="1200" b="0" i="0">
              <a:solidFill>
                <a:srgbClr val="2C2C36"/>
              </a:solidFill>
              <a:effectLst/>
              <a:highlight>
                <a:srgbClr val="FFFFFF"/>
              </a:highlight>
              <a:latin typeface="-apple-system"/>
            </a:endParaRPr>
          </a:p>
          <a:p>
            <a:r>
              <a:rPr lang="zh-CN" altLang="en-US" sz="1200"/>
              <a:t>实际应用中，只需保证核心解释变量与𝝁不相关即可。</a:t>
            </a:r>
          </a:p>
        </p:txBody>
      </p:sp>
      <p:graphicFrame>
        <p:nvGraphicFramePr>
          <p:cNvPr id="17" name="对象 16">
            <a:extLst>
              <a:ext uri="{FF2B5EF4-FFF2-40B4-BE49-F238E27FC236}">
                <a16:creationId xmlns:a16="http://schemas.microsoft.com/office/drawing/2014/main" id="{2CF470FE-7096-9F54-F75F-83E1B2137FAE}"/>
              </a:ext>
            </a:extLst>
          </p:cNvPr>
          <p:cNvGraphicFramePr>
            <a:graphicFrameLocks noChangeAspect="1"/>
          </p:cNvGraphicFramePr>
          <p:nvPr>
            <p:extLst>
              <p:ext uri="{D42A27DB-BD31-4B8C-83A1-F6EECF244321}">
                <p14:modId xmlns:p14="http://schemas.microsoft.com/office/powerpoint/2010/main" val="1039719248"/>
              </p:ext>
            </p:extLst>
          </p:nvPr>
        </p:nvGraphicFramePr>
        <p:xfrm>
          <a:off x="3071570" y="6390933"/>
          <a:ext cx="2121227" cy="489685"/>
        </p:xfrm>
        <a:graphic>
          <a:graphicData uri="http://schemas.openxmlformats.org/presentationml/2006/ole">
            <mc:AlternateContent xmlns:mc="http://schemas.openxmlformats.org/markup-compatibility/2006">
              <mc:Choice xmlns:v="urn:schemas-microsoft-com:vml" Requires="v">
                <p:oleObj name="AxMath" r:id="rId5" imgW="1512360" imgH="349920" progId="Equation.AxMath">
                  <p:embed/>
                </p:oleObj>
              </mc:Choice>
              <mc:Fallback>
                <p:oleObj name="AxMath" r:id="rId5" imgW="1512360" imgH="349920" progId="Equation.AxMath">
                  <p:embed/>
                  <p:pic>
                    <p:nvPicPr>
                      <p:cNvPr id="0" name=""/>
                      <p:cNvPicPr/>
                      <p:nvPr/>
                    </p:nvPicPr>
                    <p:blipFill>
                      <a:blip r:embed="rId6"/>
                      <a:stretch>
                        <a:fillRect/>
                      </a:stretch>
                    </p:blipFill>
                    <p:spPr>
                      <a:xfrm>
                        <a:off x="3071570" y="6390933"/>
                        <a:ext cx="2121227" cy="489685"/>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4EC65A46-D307-2E3B-5ED1-DB5E8CE4AC09}"/>
              </a:ext>
            </a:extLst>
          </p:cNvPr>
          <p:cNvGraphicFramePr>
            <a:graphicFrameLocks noChangeAspect="1"/>
          </p:cNvGraphicFramePr>
          <p:nvPr>
            <p:extLst>
              <p:ext uri="{D42A27DB-BD31-4B8C-83A1-F6EECF244321}">
                <p14:modId xmlns:p14="http://schemas.microsoft.com/office/powerpoint/2010/main" val="2802753696"/>
              </p:ext>
            </p:extLst>
          </p:nvPr>
        </p:nvGraphicFramePr>
        <p:xfrm>
          <a:off x="211184" y="6469155"/>
          <a:ext cx="2860386" cy="346784"/>
        </p:xfrm>
        <a:graphic>
          <a:graphicData uri="http://schemas.openxmlformats.org/presentationml/2006/ole">
            <mc:AlternateContent xmlns:mc="http://schemas.openxmlformats.org/markup-compatibility/2006">
              <mc:Choice xmlns:v="urn:schemas-microsoft-com:vml" Requires="v">
                <p:oleObj name="AxMath" r:id="rId7" imgW="1950840" imgH="236520" progId="Equation.AxMath">
                  <p:embed/>
                </p:oleObj>
              </mc:Choice>
              <mc:Fallback>
                <p:oleObj name="AxMath" r:id="rId7" imgW="1950840" imgH="236520" progId="Equation.AxMath">
                  <p:embed/>
                  <p:pic>
                    <p:nvPicPr>
                      <p:cNvPr id="0" name=""/>
                      <p:cNvPicPr/>
                      <p:nvPr/>
                    </p:nvPicPr>
                    <p:blipFill>
                      <a:blip r:embed="rId8"/>
                      <a:stretch>
                        <a:fillRect/>
                      </a:stretch>
                    </p:blipFill>
                    <p:spPr>
                      <a:xfrm>
                        <a:off x="211184" y="6469155"/>
                        <a:ext cx="2860386" cy="346784"/>
                      </a:xfrm>
                      <a:prstGeom prst="rect">
                        <a:avLst/>
                      </a:prstGeom>
                    </p:spPr>
                  </p:pic>
                </p:oleObj>
              </mc:Fallback>
            </mc:AlternateContent>
          </a:graphicData>
        </a:graphic>
      </p:graphicFrame>
      <p:sp>
        <p:nvSpPr>
          <p:cNvPr id="30" name="文本框 29">
            <a:extLst>
              <a:ext uri="{FF2B5EF4-FFF2-40B4-BE49-F238E27FC236}">
                <a16:creationId xmlns:a16="http://schemas.microsoft.com/office/drawing/2014/main" id="{01AFD14C-082A-1117-FCF4-22EA3D458C08}"/>
              </a:ext>
            </a:extLst>
          </p:cNvPr>
          <p:cNvSpPr txBox="1"/>
          <p:nvPr/>
        </p:nvSpPr>
        <p:spPr>
          <a:xfrm>
            <a:off x="139642" y="103581"/>
            <a:ext cx="4716375"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多元回归分析</a:t>
            </a:r>
          </a:p>
        </p:txBody>
      </p:sp>
      <p:sp>
        <p:nvSpPr>
          <p:cNvPr id="2" name="动作按钮: 文档 1">
            <a:hlinkClick r:id="rId9" action="ppaction://hlinkfile" highlightClick="1"/>
            <a:extLst>
              <a:ext uri="{FF2B5EF4-FFF2-40B4-BE49-F238E27FC236}">
                <a16:creationId xmlns:a16="http://schemas.microsoft.com/office/drawing/2014/main" id="{FDED8B53-2B17-9657-6DA5-2F0014C5ADD6}"/>
              </a:ext>
            </a:extLst>
          </p:cNvPr>
          <p:cNvSpPr/>
          <p:nvPr/>
        </p:nvSpPr>
        <p:spPr>
          <a:xfrm>
            <a:off x="4592782" y="228600"/>
            <a:ext cx="249382" cy="277091"/>
          </a:xfrm>
          <a:prstGeom prst="actionButtonDocumen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1EF15C3-D638-C74B-04AA-A15997FDF17C}"/>
              </a:ext>
            </a:extLst>
          </p:cNvPr>
          <p:cNvSpPr txBox="1"/>
          <p:nvPr/>
        </p:nvSpPr>
        <p:spPr>
          <a:xfrm>
            <a:off x="4842163" y="228692"/>
            <a:ext cx="1413163" cy="276999"/>
          </a:xfrm>
          <a:prstGeom prst="rect">
            <a:avLst/>
          </a:prstGeom>
          <a:noFill/>
        </p:spPr>
        <p:txBody>
          <a:bodyPr wrap="square" rtlCol="0">
            <a:spAutoFit/>
          </a:bodyPr>
          <a:lstStyle/>
          <a:p>
            <a:r>
              <a:rPr lang="zh-CN" altLang="en-US" sz="1200">
                <a:latin typeface="隶书" panose="02010509060101010101" pitchFamily="49" charset="-122"/>
                <a:ea typeface="隶书" panose="02010509060101010101" pitchFamily="49" charset="-122"/>
              </a:rPr>
              <a:t>书</a:t>
            </a:r>
            <a:r>
              <a:rPr lang="en-US" altLang="zh-CN" sz="1200">
                <a:latin typeface="隶书" panose="02010509060101010101" pitchFamily="49" charset="-122"/>
                <a:ea typeface="隶书" panose="02010509060101010101" pitchFamily="49" charset="-122"/>
              </a:rPr>
              <a:t>P217 </a:t>
            </a:r>
            <a:r>
              <a:rPr lang="zh-CN" altLang="en-US" sz="1200">
                <a:latin typeface="隶书" panose="02010509060101010101" pitchFamily="49" charset="-122"/>
                <a:ea typeface="隶书" panose="02010509060101010101" pitchFamily="49" charset="-122"/>
              </a:rPr>
              <a:t>线性回归</a:t>
            </a:r>
          </a:p>
        </p:txBody>
      </p:sp>
      <p:sp>
        <p:nvSpPr>
          <p:cNvPr id="4" name="文本框 3">
            <a:extLst>
              <a:ext uri="{FF2B5EF4-FFF2-40B4-BE49-F238E27FC236}">
                <a16:creationId xmlns:a16="http://schemas.microsoft.com/office/drawing/2014/main" id="{964DE259-0115-61B2-07E4-B881565C1168}"/>
              </a:ext>
            </a:extLst>
          </p:cNvPr>
          <p:cNvSpPr txBox="1"/>
          <p:nvPr/>
        </p:nvSpPr>
        <p:spPr>
          <a:xfrm>
            <a:off x="4856017" y="684110"/>
            <a:ext cx="1413163" cy="276999"/>
          </a:xfrm>
          <a:prstGeom prst="rect">
            <a:avLst/>
          </a:prstGeom>
          <a:noFill/>
        </p:spPr>
        <p:txBody>
          <a:bodyPr wrap="square" rtlCol="0">
            <a:spAutoFit/>
          </a:bodyPr>
          <a:lstStyle/>
          <a:p>
            <a:r>
              <a:rPr lang="zh-CN" altLang="en-US" sz="1200">
                <a:latin typeface="隶书" panose="02010509060101010101" pitchFamily="49" charset="-122"/>
                <a:ea typeface="隶书" panose="02010509060101010101" pitchFamily="49" charset="-122"/>
              </a:rPr>
              <a:t>相关论文案例</a:t>
            </a:r>
          </a:p>
        </p:txBody>
      </p:sp>
      <p:sp>
        <p:nvSpPr>
          <p:cNvPr id="5" name="动作按钮: 文档 4">
            <a:hlinkClick r:id="rId10" action="ppaction://hlinkfile" highlightClick="1"/>
            <a:extLst>
              <a:ext uri="{FF2B5EF4-FFF2-40B4-BE49-F238E27FC236}">
                <a16:creationId xmlns:a16="http://schemas.microsoft.com/office/drawing/2014/main" id="{CD17A15C-FEC5-C284-6D8A-2921FAC8FE76}"/>
              </a:ext>
            </a:extLst>
          </p:cNvPr>
          <p:cNvSpPr/>
          <p:nvPr/>
        </p:nvSpPr>
        <p:spPr>
          <a:xfrm>
            <a:off x="4592782" y="692727"/>
            <a:ext cx="249381" cy="276999"/>
          </a:xfrm>
          <a:prstGeom prst="actionButtonDocumen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F6EC2F6E-050C-EDDE-A5F8-265E7DE00572}"/>
              </a:ext>
            </a:extLst>
          </p:cNvPr>
          <p:cNvSpPr txBox="1"/>
          <p:nvPr/>
        </p:nvSpPr>
        <p:spPr>
          <a:xfrm>
            <a:off x="4717472" y="2774746"/>
            <a:ext cx="6206836" cy="1661993"/>
          </a:xfrm>
          <a:prstGeom prst="rect">
            <a:avLst/>
          </a:prstGeom>
          <a:noFill/>
        </p:spPr>
        <p:txBody>
          <a:bodyPr wrap="square">
            <a:spAutoFit/>
          </a:bodyPr>
          <a:lstStyle/>
          <a:p>
            <a:r>
              <a:rPr lang="zh-CN" altLang="en-US"/>
              <a:t>分析回归模型</a:t>
            </a:r>
            <a:r>
              <a:rPr lang="zh-CN" altLang="en-US" sz="1200"/>
              <a:t>（下图为例）</a:t>
            </a:r>
            <a:r>
              <a:rPr lang="zh-CN" altLang="en-US"/>
              <a:t>：</a:t>
            </a:r>
          </a:p>
          <a:p>
            <a:r>
              <a:rPr lang="en-US" altLang="zh-CN" sz="1200"/>
              <a:t>1. </a:t>
            </a:r>
            <a:r>
              <a:rPr lang="zh-CN" altLang="en-US" sz="1200"/>
              <a:t>关注回归模型是否通过</a:t>
            </a:r>
            <a:r>
              <a:rPr lang="zh-CN" altLang="en-US" sz="1200">
                <a:solidFill>
                  <a:srgbClr val="FF0000"/>
                </a:solidFill>
              </a:rPr>
              <a:t>联合显著性检验</a:t>
            </a:r>
            <a:r>
              <a:rPr lang="zh-CN" altLang="en-US" sz="1200"/>
              <a:t>，即看对应</a:t>
            </a:r>
            <a:r>
              <a:rPr lang="en-US" altLang="zh-CN" sz="1200"/>
              <a:t>p</a:t>
            </a:r>
            <a:r>
              <a:rPr lang="zh-CN" altLang="en-US" sz="1200"/>
              <a:t>值是否 </a:t>
            </a:r>
            <a:r>
              <a:rPr lang="en-US" altLang="zh-CN" sz="1200"/>
              <a:t>&lt; 0.05</a:t>
            </a:r>
            <a:r>
              <a:rPr lang="zh-CN" altLang="en-US" sz="1200"/>
              <a:t>，</a:t>
            </a:r>
            <a:r>
              <a:rPr lang="en-US" altLang="zh-CN" sz="1200"/>
              <a:t>-&gt;</a:t>
            </a:r>
            <a:r>
              <a:rPr lang="zh-CN" altLang="en-US" sz="1200"/>
              <a:t>通过检验，线性模型有意义</a:t>
            </a:r>
          </a:p>
          <a:p>
            <a:r>
              <a:rPr lang="en-US" altLang="zh-CN" sz="1200"/>
              <a:t>2. </a:t>
            </a:r>
            <a:r>
              <a:rPr lang="zh-CN" altLang="en-US" sz="1200"/>
              <a:t>关注回归系数，先找</a:t>
            </a:r>
            <a:r>
              <a:rPr lang="zh-CN" altLang="en-US" sz="1200">
                <a:solidFill>
                  <a:srgbClr val="FF0000"/>
                </a:solidFill>
              </a:rPr>
              <a:t>显著</a:t>
            </a:r>
            <a:r>
              <a:rPr lang="zh-CN" altLang="en-US" sz="1200"/>
              <a:t>的，灵活选择</a:t>
            </a:r>
            <a:r>
              <a:rPr lang="en-US" altLang="zh-CN" sz="1200"/>
              <a:t>90%</a:t>
            </a:r>
            <a:r>
              <a:rPr lang="zh-CN" altLang="en-US" sz="1200"/>
              <a:t>置信水平下，我们有两个自变量的回归系数是显著的</a:t>
            </a:r>
          </a:p>
          <a:p>
            <a:r>
              <a:rPr lang="en-US" altLang="zh-CN" sz="1200"/>
              <a:t>3. </a:t>
            </a:r>
            <a:r>
              <a:rPr lang="zh-CN" altLang="en-US" sz="1200"/>
              <a:t>解释</a:t>
            </a:r>
            <a:r>
              <a:rPr lang="zh-CN" altLang="en-US" sz="1200">
                <a:solidFill>
                  <a:srgbClr val="FF0000"/>
                </a:solidFill>
              </a:rPr>
              <a:t>回归系数</a:t>
            </a:r>
            <a:r>
              <a:rPr lang="zh-CN" altLang="en-US" sz="1200"/>
              <a:t>代表意义，</a:t>
            </a:r>
            <a:r>
              <a:rPr lang="en-US" altLang="zh-CN" sz="1200"/>
              <a:t>-29</a:t>
            </a:r>
            <a:r>
              <a:rPr lang="zh-CN" altLang="en-US" sz="1200"/>
              <a:t>代表在其他自变量不变的条件下，团购价每增加一元，评价量平均减少</a:t>
            </a:r>
            <a:r>
              <a:rPr lang="en-US" altLang="zh-CN" sz="1200"/>
              <a:t>29</a:t>
            </a:r>
            <a:r>
              <a:rPr lang="zh-CN" altLang="en-US" sz="1200"/>
              <a:t>；在其他自变量不变的条件下，分类为</a:t>
            </a:r>
            <a:r>
              <a:rPr lang="en-US" altLang="zh-CN" sz="1200"/>
              <a:t>F1</a:t>
            </a:r>
            <a:r>
              <a:rPr lang="zh-CN" altLang="en-US" sz="1200"/>
              <a:t>：牛奶粉的平均评价量比</a:t>
            </a:r>
            <a:r>
              <a:rPr lang="en-US" altLang="zh-CN" sz="1200"/>
              <a:t>F2</a:t>
            </a:r>
            <a:r>
              <a:rPr lang="zh-CN" altLang="en-US" sz="1200"/>
              <a:t>：分类为羊奶粉的高</a:t>
            </a:r>
            <a:r>
              <a:rPr lang="en-US" altLang="zh-CN" sz="1200"/>
              <a:t>14894.55</a:t>
            </a:r>
            <a:r>
              <a:rPr lang="zh-CN" altLang="en-US" sz="1200"/>
              <a:t>；其他自变量回归系数不显著，不用分析。</a:t>
            </a:r>
          </a:p>
        </p:txBody>
      </p:sp>
      <p:pic>
        <p:nvPicPr>
          <p:cNvPr id="33" name="图片 32">
            <a:extLst>
              <a:ext uri="{FF2B5EF4-FFF2-40B4-BE49-F238E27FC236}">
                <a16:creationId xmlns:a16="http://schemas.microsoft.com/office/drawing/2014/main" id="{75A466E9-7153-0FF4-BDC6-0F0B86D35004}"/>
              </a:ext>
            </a:extLst>
          </p:cNvPr>
          <p:cNvPicPr>
            <a:picLocks noChangeAspect="1"/>
          </p:cNvPicPr>
          <p:nvPr/>
        </p:nvPicPr>
        <p:blipFill>
          <a:blip r:embed="rId11"/>
          <a:stretch>
            <a:fillRect/>
          </a:stretch>
        </p:blipFill>
        <p:spPr>
          <a:xfrm>
            <a:off x="4856017" y="1357822"/>
            <a:ext cx="5282294" cy="1219757"/>
          </a:xfrm>
          <a:prstGeom prst="rect">
            <a:avLst/>
          </a:prstGeom>
          <a:ln>
            <a:solidFill>
              <a:srgbClr val="002060"/>
            </a:solidFill>
          </a:ln>
        </p:spPr>
      </p:pic>
      <p:pic>
        <p:nvPicPr>
          <p:cNvPr id="46" name="图片 45">
            <a:extLst>
              <a:ext uri="{FF2B5EF4-FFF2-40B4-BE49-F238E27FC236}">
                <a16:creationId xmlns:a16="http://schemas.microsoft.com/office/drawing/2014/main" id="{6E419D87-A4AF-7A85-4A9B-430FEB05CC0C}"/>
              </a:ext>
            </a:extLst>
          </p:cNvPr>
          <p:cNvPicPr>
            <a:picLocks noChangeAspect="1"/>
          </p:cNvPicPr>
          <p:nvPr/>
        </p:nvPicPr>
        <p:blipFill>
          <a:blip r:embed="rId12"/>
          <a:stretch>
            <a:fillRect/>
          </a:stretch>
        </p:blipFill>
        <p:spPr>
          <a:xfrm>
            <a:off x="5931956" y="4597436"/>
            <a:ext cx="3420152" cy="2072820"/>
          </a:xfrm>
          <a:prstGeom prst="rect">
            <a:avLst/>
          </a:prstGeom>
        </p:spPr>
      </p:pic>
      <p:sp>
        <p:nvSpPr>
          <p:cNvPr id="47" name="文本框 46">
            <a:extLst>
              <a:ext uri="{FF2B5EF4-FFF2-40B4-BE49-F238E27FC236}">
                <a16:creationId xmlns:a16="http://schemas.microsoft.com/office/drawing/2014/main" id="{28C4FD82-7E09-2262-58E7-DF7FEE6C1540}"/>
              </a:ext>
            </a:extLst>
          </p:cNvPr>
          <p:cNvSpPr txBox="1"/>
          <p:nvPr/>
        </p:nvSpPr>
        <p:spPr>
          <a:xfrm>
            <a:off x="4735597" y="1011521"/>
            <a:ext cx="914400" cy="369332"/>
          </a:xfrm>
          <a:prstGeom prst="rect">
            <a:avLst/>
          </a:prstGeom>
          <a:noFill/>
        </p:spPr>
        <p:txBody>
          <a:bodyPr wrap="square" rtlCol="0">
            <a:spAutoFit/>
          </a:bodyPr>
          <a:lstStyle/>
          <a:p>
            <a:r>
              <a:rPr lang="zh-CN" altLang="en-US"/>
              <a:t>例题</a:t>
            </a:r>
          </a:p>
        </p:txBody>
      </p:sp>
      <p:sp>
        <p:nvSpPr>
          <p:cNvPr id="51" name="文本框 50">
            <a:extLst>
              <a:ext uri="{FF2B5EF4-FFF2-40B4-BE49-F238E27FC236}">
                <a16:creationId xmlns:a16="http://schemas.microsoft.com/office/drawing/2014/main" id="{5A0599AD-7C6D-A717-3EFF-7763AC4A5D2B}"/>
              </a:ext>
            </a:extLst>
          </p:cNvPr>
          <p:cNvSpPr txBox="1"/>
          <p:nvPr/>
        </p:nvSpPr>
        <p:spPr>
          <a:xfrm>
            <a:off x="10193729" y="2068851"/>
            <a:ext cx="1998271" cy="830997"/>
          </a:xfrm>
          <a:prstGeom prst="rect">
            <a:avLst/>
          </a:prstGeom>
          <a:noFill/>
          <a:ln>
            <a:solidFill>
              <a:schemeClr val="tx1"/>
            </a:solidFill>
          </a:ln>
        </p:spPr>
        <p:txBody>
          <a:bodyPr wrap="square">
            <a:spAutoFit/>
          </a:bodyPr>
          <a:lstStyle/>
          <a:p>
            <a:r>
              <a:rPr lang="zh-CN" altLang="en-US" sz="1200"/>
              <a:t>为更精准的比较影响评价量的重要因素（</a:t>
            </a:r>
            <a:r>
              <a:rPr lang="zh-CN" altLang="en-US" sz="1200">
                <a:solidFill>
                  <a:srgbClr val="FF0000"/>
                </a:solidFill>
              </a:rPr>
              <a:t>去除量纲的影响</a:t>
            </a:r>
            <a:r>
              <a:rPr lang="zh-CN" altLang="en-US" sz="1200"/>
              <a:t>），我们可考虑使用</a:t>
            </a:r>
            <a:r>
              <a:rPr lang="zh-CN" altLang="en-US" sz="1200">
                <a:solidFill>
                  <a:srgbClr val="FF0000"/>
                </a:solidFill>
              </a:rPr>
              <a:t>标准化回归系数</a:t>
            </a:r>
          </a:p>
        </p:txBody>
      </p:sp>
      <p:sp>
        <p:nvSpPr>
          <p:cNvPr id="52" name="矩形 51">
            <a:extLst>
              <a:ext uri="{FF2B5EF4-FFF2-40B4-BE49-F238E27FC236}">
                <a16:creationId xmlns:a16="http://schemas.microsoft.com/office/drawing/2014/main" id="{D3F81CDE-8090-64ED-E6C9-222B33FF991C}"/>
              </a:ext>
            </a:extLst>
          </p:cNvPr>
          <p:cNvSpPr/>
          <p:nvPr/>
        </p:nvSpPr>
        <p:spPr>
          <a:xfrm>
            <a:off x="8042565" y="2341418"/>
            <a:ext cx="644235" cy="187038"/>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9DF3DA2A-28D7-59B2-C3DB-52EA143306A2}"/>
              </a:ext>
            </a:extLst>
          </p:cNvPr>
          <p:cNvSpPr/>
          <p:nvPr/>
        </p:nvSpPr>
        <p:spPr>
          <a:xfrm>
            <a:off x="8859985" y="2155813"/>
            <a:ext cx="325580" cy="185605"/>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1F21912B-964B-13DE-45B0-4B343B84B6A1}"/>
              </a:ext>
            </a:extLst>
          </p:cNvPr>
          <p:cNvCxnSpPr>
            <a:cxnSpLocks/>
            <a:endCxn id="51" idx="1"/>
          </p:cNvCxnSpPr>
          <p:nvPr/>
        </p:nvCxnSpPr>
        <p:spPr>
          <a:xfrm>
            <a:off x="8686800" y="2452255"/>
            <a:ext cx="1506929" cy="320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EECF5DC-7BD0-30E8-F0B9-08A4971E1F33}"/>
              </a:ext>
            </a:extLst>
          </p:cNvPr>
          <p:cNvSpPr txBox="1"/>
          <p:nvPr/>
        </p:nvSpPr>
        <p:spPr>
          <a:xfrm>
            <a:off x="6628853" y="283807"/>
            <a:ext cx="5113424" cy="646331"/>
          </a:xfrm>
          <a:prstGeom prst="rect">
            <a:avLst/>
          </a:prstGeom>
          <a:noFill/>
        </p:spPr>
        <p:txBody>
          <a:bodyPr wrap="square">
            <a:spAutoFit/>
          </a:bodyPr>
          <a:lstStyle/>
          <a:p>
            <a:r>
              <a:rPr lang="zh-CN" altLang="en-US" sz="1200"/>
              <a:t>在回归分析中若考察的是一个因变量</a:t>
            </a:r>
            <a:r>
              <a:rPr lang="en-US" altLang="zh-CN" sz="1200"/>
              <a:t>(</a:t>
            </a:r>
            <a:r>
              <a:rPr lang="zh-CN" altLang="en-US" sz="1200"/>
              <a:t>随机变量</a:t>
            </a:r>
            <a:r>
              <a:rPr lang="en-US" altLang="zh-CN" sz="1200"/>
              <a:t>)</a:t>
            </a:r>
            <a:r>
              <a:rPr lang="zh-CN" altLang="en-US" sz="1200"/>
              <a:t>与多个自变量 </a:t>
            </a:r>
            <a:r>
              <a:rPr lang="en-US" altLang="zh-CN" sz="1200"/>
              <a:t>(</a:t>
            </a:r>
            <a:r>
              <a:rPr lang="zh-CN" altLang="en-US" sz="1200"/>
              <a:t>普通变量</a:t>
            </a:r>
            <a:r>
              <a:rPr lang="en-US" altLang="zh-CN" sz="1200"/>
              <a:t>)</a:t>
            </a:r>
            <a:r>
              <a:rPr lang="zh-CN" altLang="en-US" sz="1200"/>
              <a:t>的相关关系</a:t>
            </a:r>
            <a:r>
              <a:rPr lang="en-US" altLang="zh-CN" sz="1200"/>
              <a:t>,</a:t>
            </a:r>
            <a:r>
              <a:rPr lang="zh-CN" altLang="en-US" sz="1200"/>
              <a:t>则称为多对一回归分析。若回归函数为线性的则称为</a:t>
            </a:r>
            <a:r>
              <a:rPr lang="zh-CN" altLang="en-US" sz="1200">
                <a:solidFill>
                  <a:srgbClr val="FF0000"/>
                </a:solidFill>
              </a:rPr>
              <a:t>多对一线 性回归分析</a:t>
            </a:r>
            <a:r>
              <a:rPr lang="en-US" altLang="zh-CN" sz="1200"/>
              <a:t>,</a:t>
            </a:r>
            <a:r>
              <a:rPr lang="zh-CN" altLang="en-US" sz="1200"/>
              <a:t>简称为</a:t>
            </a:r>
            <a:r>
              <a:rPr lang="zh-CN" altLang="en-US" sz="1200">
                <a:solidFill>
                  <a:srgbClr val="FF0000"/>
                </a:solidFill>
              </a:rPr>
              <a:t>多元线性回归分析</a:t>
            </a:r>
            <a:r>
              <a:rPr lang="zh-CN" altLang="en-US" sz="1200"/>
              <a:t>。</a:t>
            </a:r>
          </a:p>
        </p:txBody>
      </p:sp>
      <p:sp>
        <p:nvSpPr>
          <p:cNvPr id="62" name="文本框 61">
            <a:extLst>
              <a:ext uri="{FF2B5EF4-FFF2-40B4-BE49-F238E27FC236}">
                <a16:creationId xmlns:a16="http://schemas.microsoft.com/office/drawing/2014/main" id="{5CDAFBFA-93E1-1C61-2AFF-9DE4FBE0EB77}"/>
              </a:ext>
            </a:extLst>
          </p:cNvPr>
          <p:cNvSpPr txBox="1"/>
          <p:nvPr/>
        </p:nvSpPr>
        <p:spPr>
          <a:xfrm>
            <a:off x="10193729" y="1291057"/>
            <a:ext cx="1998272" cy="646331"/>
          </a:xfrm>
          <a:prstGeom prst="rect">
            <a:avLst/>
          </a:prstGeom>
          <a:noFill/>
          <a:ln>
            <a:solidFill>
              <a:schemeClr val="tx1"/>
            </a:solidFill>
          </a:ln>
        </p:spPr>
        <p:txBody>
          <a:bodyPr wrap="square">
            <a:spAutoFit/>
          </a:bodyPr>
          <a:lstStyle/>
          <a:p>
            <a:r>
              <a:rPr lang="zh-CN" altLang="en-US" sz="1200"/>
              <a:t>分析多对一的相关关系，我们可考虑使用</a:t>
            </a:r>
            <a:r>
              <a:rPr lang="zh-CN" altLang="en-US" sz="1200">
                <a:solidFill>
                  <a:srgbClr val="FF0000"/>
                </a:solidFill>
              </a:rPr>
              <a:t>多元线性回归分析</a:t>
            </a:r>
          </a:p>
        </p:txBody>
      </p:sp>
      <p:cxnSp>
        <p:nvCxnSpPr>
          <p:cNvPr id="66" name="直接箭头连接符 65">
            <a:extLst>
              <a:ext uri="{FF2B5EF4-FFF2-40B4-BE49-F238E27FC236}">
                <a16:creationId xmlns:a16="http://schemas.microsoft.com/office/drawing/2014/main" id="{87165517-F305-5545-D166-E23E297D81A7}"/>
              </a:ext>
            </a:extLst>
          </p:cNvPr>
          <p:cNvCxnSpPr>
            <a:stCxn id="53" idx="3"/>
            <a:endCxn id="62" idx="1"/>
          </p:cNvCxnSpPr>
          <p:nvPr/>
        </p:nvCxnSpPr>
        <p:spPr>
          <a:xfrm flipV="1">
            <a:off x="9185565" y="1614223"/>
            <a:ext cx="1008164" cy="6343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BF154D3-052C-9FA6-0AAE-737102FCF379}"/>
              </a:ext>
            </a:extLst>
          </p:cNvPr>
          <p:cNvSpPr txBox="1"/>
          <p:nvPr/>
        </p:nvSpPr>
        <p:spPr>
          <a:xfrm>
            <a:off x="4856017" y="427048"/>
            <a:ext cx="1544836" cy="276999"/>
          </a:xfrm>
          <a:prstGeom prst="rect">
            <a:avLst/>
          </a:prstGeom>
          <a:noFill/>
        </p:spPr>
        <p:txBody>
          <a:bodyPr wrap="square">
            <a:spAutoFit/>
          </a:bodyPr>
          <a:lstStyle/>
          <a:p>
            <a:r>
              <a:rPr lang="zh-CN" altLang="en-US" sz="600">
                <a:hlinkClick r:id="rId9"/>
              </a:rPr>
              <a:t>G:\日就月将学有功， 习以为常始不忘\数学建模\数学建模方法与分析 第4版.pdf</a:t>
            </a:r>
            <a:endParaRPr lang="zh-CN" altLang="en-US" sz="600"/>
          </a:p>
        </p:txBody>
      </p:sp>
      <p:sp>
        <p:nvSpPr>
          <p:cNvPr id="13" name="文本框 12">
            <a:extLst>
              <a:ext uri="{FF2B5EF4-FFF2-40B4-BE49-F238E27FC236}">
                <a16:creationId xmlns:a16="http://schemas.microsoft.com/office/drawing/2014/main" id="{FEBB7D7F-479E-3226-E49C-A7ACC0D4CABC}"/>
              </a:ext>
            </a:extLst>
          </p:cNvPr>
          <p:cNvSpPr txBox="1"/>
          <p:nvPr/>
        </p:nvSpPr>
        <p:spPr>
          <a:xfrm>
            <a:off x="4864297" y="855943"/>
            <a:ext cx="1544837" cy="276999"/>
          </a:xfrm>
          <a:prstGeom prst="rect">
            <a:avLst/>
          </a:prstGeom>
          <a:noFill/>
        </p:spPr>
        <p:txBody>
          <a:bodyPr wrap="square">
            <a:spAutoFit/>
          </a:bodyPr>
          <a:lstStyle/>
          <a:p>
            <a:r>
              <a:rPr lang="zh-CN" altLang="en-US" sz="400">
                <a:hlinkClick r:id="rId10"/>
              </a:rPr>
              <a:t>G:\日就月将学有功， 习以为常始不忘\数学建模\清风视频和课件\视频课件\正课配套的课件和代码\第7讲.多元回归分析\拓展资料\影响我国财政收入的多元线性回归模型_白萍.pdf</a:t>
            </a:r>
            <a:endParaRPr lang="zh-CN" altLang="en-US" sz="400"/>
          </a:p>
        </p:txBody>
      </p:sp>
    </p:spTree>
    <p:extLst>
      <p:ext uri="{BB962C8B-B14F-4D97-AF65-F5344CB8AC3E}">
        <p14:creationId xmlns:p14="http://schemas.microsoft.com/office/powerpoint/2010/main" val="751416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BAEC706-396F-9E71-8803-DB4C6ABE649C}"/>
              </a:ext>
            </a:extLst>
          </p:cNvPr>
          <p:cNvSpPr txBox="1"/>
          <p:nvPr/>
        </p:nvSpPr>
        <p:spPr>
          <a:xfrm>
            <a:off x="139641" y="103581"/>
            <a:ext cx="9323013"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多元回归分析</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使用</a:t>
            </a:r>
            <a:r>
              <a:rPr lang="en-US" altLang="zh-CN" sz="4400">
                <a:solidFill>
                  <a:schemeClr val="accent5"/>
                </a:solidFill>
                <a:latin typeface="三极泼墨体" panose="00000500000000000000" pitchFamily="2" charset="-122"/>
                <a:ea typeface="三极泼墨体" panose="00000500000000000000" pitchFamily="2" charset="-122"/>
              </a:rPr>
              <a:t>Stata</a:t>
            </a:r>
            <a:r>
              <a:rPr lang="zh-CN" altLang="en-US" sz="4400">
                <a:solidFill>
                  <a:schemeClr val="accent5"/>
                </a:solidFill>
                <a:latin typeface="三极泼墨体" panose="00000500000000000000" pitchFamily="2" charset="-122"/>
                <a:ea typeface="三极泼墨体" panose="00000500000000000000" pitchFamily="2" charset="-122"/>
              </a:rPr>
              <a:t>分析（一）</a:t>
            </a:r>
          </a:p>
        </p:txBody>
      </p:sp>
      <p:pic>
        <p:nvPicPr>
          <p:cNvPr id="20" name="图片 19">
            <a:extLst>
              <a:ext uri="{FF2B5EF4-FFF2-40B4-BE49-F238E27FC236}">
                <a16:creationId xmlns:a16="http://schemas.microsoft.com/office/drawing/2014/main" id="{29B02B4F-3528-4CA6-4DE4-EE785A7B31F1}"/>
              </a:ext>
            </a:extLst>
          </p:cNvPr>
          <p:cNvPicPr>
            <a:picLocks noChangeAspect="1"/>
          </p:cNvPicPr>
          <p:nvPr/>
        </p:nvPicPr>
        <p:blipFill>
          <a:blip r:embed="rId2"/>
          <a:stretch>
            <a:fillRect/>
          </a:stretch>
        </p:blipFill>
        <p:spPr>
          <a:xfrm>
            <a:off x="82171" y="1083760"/>
            <a:ext cx="5048509" cy="1136708"/>
          </a:xfrm>
          <a:prstGeom prst="rect">
            <a:avLst/>
          </a:prstGeom>
          <a:ln>
            <a:solidFill>
              <a:schemeClr val="tx1"/>
            </a:solidFill>
          </a:ln>
        </p:spPr>
      </p:pic>
      <p:pic>
        <p:nvPicPr>
          <p:cNvPr id="22" name="图片 21">
            <a:extLst>
              <a:ext uri="{FF2B5EF4-FFF2-40B4-BE49-F238E27FC236}">
                <a16:creationId xmlns:a16="http://schemas.microsoft.com/office/drawing/2014/main" id="{675CE336-2BA3-9D68-4C61-6FC0B5D010A8}"/>
              </a:ext>
            </a:extLst>
          </p:cNvPr>
          <p:cNvPicPr>
            <a:picLocks noChangeAspect="1"/>
          </p:cNvPicPr>
          <p:nvPr/>
        </p:nvPicPr>
        <p:blipFill>
          <a:blip r:embed="rId3"/>
          <a:stretch>
            <a:fillRect/>
          </a:stretch>
        </p:blipFill>
        <p:spPr>
          <a:xfrm>
            <a:off x="82171" y="2693627"/>
            <a:ext cx="3956253" cy="1549480"/>
          </a:xfrm>
          <a:prstGeom prst="rect">
            <a:avLst/>
          </a:prstGeom>
          <a:ln>
            <a:solidFill>
              <a:schemeClr val="tx1"/>
            </a:solidFill>
          </a:ln>
        </p:spPr>
      </p:pic>
      <p:sp>
        <p:nvSpPr>
          <p:cNvPr id="24" name="文本框 23">
            <a:extLst>
              <a:ext uri="{FF2B5EF4-FFF2-40B4-BE49-F238E27FC236}">
                <a16:creationId xmlns:a16="http://schemas.microsoft.com/office/drawing/2014/main" id="{73047050-3BC6-78ED-47BB-2449AB086A0D}"/>
              </a:ext>
            </a:extLst>
          </p:cNvPr>
          <p:cNvSpPr txBox="1"/>
          <p:nvPr/>
        </p:nvSpPr>
        <p:spPr>
          <a:xfrm>
            <a:off x="4584" y="2450484"/>
            <a:ext cx="3956252" cy="276999"/>
          </a:xfrm>
          <a:prstGeom prst="rect">
            <a:avLst/>
          </a:prstGeom>
          <a:noFill/>
        </p:spPr>
        <p:txBody>
          <a:bodyPr wrap="square">
            <a:spAutoFit/>
          </a:bodyPr>
          <a:lstStyle/>
          <a:p>
            <a:r>
              <a:rPr lang="zh-CN" altLang="en-US" sz="1200">
                <a:solidFill>
                  <a:srgbClr val="FF0000"/>
                </a:solidFill>
                <a:highlight>
                  <a:srgbClr val="FFFF00"/>
                </a:highlight>
              </a:rPr>
              <a:t>定性变量</a:t>
            </a:r>
            <a:r>
              <a:rPr lang="zh-CN" altLang="en-US" sz="1200"/>
              <a:t>的频数分布，并得到相应字母开头的</a:t>
            </a:r>
            <a:r>
              <a:rPr lang="zh-CN" altLang="en-US" sz="1200">
                <a:solidFill>
                  <a:srgbClr val="FF0000"/>
                </a:solidFill>
              </a:rPr>
              <a:t>虚拟变量</a:t>
            </a:r>
          </a:p>
        </p:txBody>
      </p:sp>
      <p:sp>
        <p:nvSpPr>
          <p:cNvPr id="26" name="文本框 25">
            <a:extLst>
              <a:ext uri="{FF2B5EF4-FFF2-40B4-BE49-F238E27FC236}">
                <a16:creationId xmlns:a16="http://schemas.microsoft.com/office/drawing/2014/main" id="{7491AC1C-619F-9975-8A63-85C31E6D0609}"/>
              </a:ext>
            </a:extLst>
          </p:cNvPr>
          <p:cNvSpPr txBox="1"/>
          <p:nvPr/>
        </p:nvSpPr>
        <p:spPr>
          <a:xfrm>
            <a:off x="0" y="806761"/>
            <a:ext cx="1821873" cy="276999"/>
          </a:xfrm>
          <a:prstGeom prst="rect">
            <a:avLst/>
          </a:prstGeom>
          <a:noFill/>
        </p:spPr>
        <p:txBody>
          <a:bodyPr wrap="square">
            <a:spAutoFit/>
          </a:bodyPr>
          <a:lstStyle/>
          <a:p>
            <a:r>
              <a:rPr lang="zh-CN" altLang="en-US" sz="1200">
                <a:solidFill>
                  <a:srgbClr val="FF0000"/>
                </a:solidFill>
                <a:highlight>
                  <a:srgbClr val="FFFF00"/>
                </a:highlight>
              </a:rPr>
              <a:t>定量变量</a:t>
            </a:r>
            <a:r>
              <a:rPr lang="zh-CN" altLang="en-US" sz="1200"/>
              <a:t>的描述性统计</a:t>
            </a:r>
          </a:p>
        </p:txBody>
      </p:sp>
      <p:pic>
        <p:nvPicPr>
          <p:cNvPr id="28" name="图片 27">
            <a:extLst>
              <a:ext uri="{FF2B5EF4-FFF2-40B4-BE49-F238E27FC236}">
                <a16:creationId xmlns:a16="http://schemas.microsoft.com/office/drawing/2014/main" id="{523AD2A0-77B7-0B5E-091F-E330C2B474C0}"/>
              </a:ext>
            </a:extLst>
          </p:cNvPr>
          <p:cNvPicPr>
            <a:picLocks noChangeAspect="1"/>
          </p:cNvPicPr>
          <p:nvPr/>
        </p:nvPicPr>
        <p:blipFill>
          <a:blip r:embed="rId4"/>
          <a:stretch>
            <a:fillRect/>
          </a:stretch>
        </p:blipFill>
        <p:spPr>
          <a:xfrm>
            <a:off x="109881" y="5002935"/>
            <a:ext cx="3431162" cy="1741246"/>
          </a:xfrm>
          <a:prstGeom prst="rect">
            <a:avLst/>
          </a:prstGeom>
        </p:spPr>
      </p:pic>
      <p:sp>
        <p:nvSpPr>
          <p:cNvPr id="29" name="文本框 28">
            <a:extLst>
              <a:ext uri="{FF2B5EF4-FFF2-40B4-BE49-F238E27FC236}">
                <a16:creationId xmlns:a16="http://schemas.microsoft.com/office/drawing/2014/main" id="{2A9ED3FE-4FA4-F586-704C-6EC9187BC8A6}"/>
              </a:ext>
            </a:extLst>
          </p:cNvPr>
          <p:cNvSpPr txBox="1"/>
          <p:nvPr/>
        </p:nvSpPr>
        <p:spPr>
          <a:xfrm>
            <a:off x="82171" y="4725936"/>
            <a:ext cx="1148278" cy="276999"/>
          </a:xfrm>
          <a:prstGeom prst="rect">
            <a:avLst/>
          </a:prstGeom>
          <a:noFill/>
        </p:spPr>
        <p:txBody>
          <a:bodyPr wrap="square">
            <a:spAutoFit/>
          </a:bodyPr>
          <a:lstStyle/>
          <a:p>
            <a:r>
              <a:rPr lang="zh-CN" altLang="en-US" sz="1200">
                <a:solidFill>
                  <a:schemeClr val="tx1">
                    <a:lumMod val="95000"/>
                    <a:lumOff val="5000"/>
                  </a:schemeClr>
                </a:solidFill>
                <a:highlight>
                  <a:srgbClr val="FFFF00"/>
                </a:highlight>
              </a:rPr>
              <a:t>总体情况介绍</a:t>
            </a:r>
          </a:p>
        </p:txBody>
      </p:sp>
      <p:pic>
        <p:nvPicPr>
          <p:cNvPr id="4" name="图片 3">
            <a:extLst>
              <a:ext uri="{FF2B5EF4-FFF2-40B4-BE49-F238E27FC236}">
                <a16:creationId xmlns:a16="http://schemas.microsoft.com/office/drawing/2014/main" id="{C55B828B-9AA7-3661-D73C-48D9B09CA6F9}"/>
              </a:ext>
            </a:extLst>
          </p:cNvPr>
          <p:cNvPicPr>
            <a:picLocks noChangeAspect="1"/>
          </p:cNvPicPr>
          <p:nvPr/>
        </p:nvPicPr>
        <p:blipFill>
          <a:blip r:embed="rId5"/>
          <a:stretch>
            <a:fillRect/>
          </a:stretch>
        </p:blipFill>
        <p:spPr>
          <a:xfrm>
            <a:off x="5292341" y="912789"/>
            <a:ext cx="4420790" cy="2002623"/>
          </a:xfrm>
          <a:prstGeom prst="rect">
            <a:avLst/>
          </a:prstGeom>
          <a:ln>
            <a:solidFill>
              <a:schemeClr val="tx1"/>
            </a:solidFill>
          </a:ln>
        </p:spPr>
      </p:pic>
      <p:graphicFrame>
        <p:nvGraphicFramePr>
          <p:cNvPr id="5" name="对象 4">
            <a:extLst>
              <a:ext uri="{FF2B5EF4-FFF2-40B4-BE49-F238E27FC236}">
                <a16:creationId xmlns:a16="http://schemas.microsoft.com/office/drawing/2014/main" id="{24ECDB24-9539-450F-0830-88992DEB518C}"/>
              </a:ext>
            </a:extLst>
          </p:cNvPr>
          <p:cNvGraphicFramePr>
            <a:graphicFrameLocks noChangeAspect="1"/>
          </p:cNvGraphicFramePr>
          <p:nvPr>
            <p:extLst>
              <p:ext uri="{D42A27DB-BD31-4B8C-83A1-F6EECF244321}">
                <p14:modId xmlns:p14="http://schemas.microsoft.com/office/powerpoint/2010/main" val="712276859"/>
              </p:ext>
            </p:extLst>
          </p:nvPr>
        </p:nvGraphicFramePr>
        <p:xfrm>
          <a:off x="5516325" y="2684824"/>
          <a:ext cx="183629" cy="227170"/>
        </p:xfrm>
        <a:graphic>
          <a:graphicData uri="http://schemas.openxmlformats.org/presentationml/2006/ole">
            <mc:AlternateContent xmlns:mc="http://schemas.openxmlformats.org/markup-compatibility/2006">
              <mc:Choice xmlns:v="urn:schemas-microsoft-com:vml" Requires="v">
                <p:oleObj name="AxMath" r:id="rId6" imgW="153720" imgH="190800" progId="Equation.AxMath">
                  <p:embed/>
                </p:oleObj>
              </mc:Choice>
              <mc:Fallback>
                <p:oleObj name="AxMath" r:id="rId6" imgW="153720" imgH="190800" progId="Equation.AxMath">
                  <p:embed/>
                  <p:pic>
                    <p:nvPicPr>
                      <p:cNvPr id="0" name=""/>
                      <p:cNvPicPr/>
                      <p:nvPr/>
                    </p:nvPicPr>
                    <p:blipFill>
                      <a:blip r:embed="rId7"/>
                      <a:stretch>
                        <a:fillRect/>
                      </a:stretch>
                    </p:blipFill>
                    <p:spPr>
                      <a:xfrm>
                        <a:off x="5516325" y="2684824"/>
                        <a:ext cx="183629" cy="22717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003EF9A1-1D05-0859-A5A6-FF03B33CFC9A}"/>
              </a:ext>
            </a:extLst>
          </p:cNvPr>
          <p:cNvSpPr txBox="1"/>
          <p:nvPr/>
        </p:nvSpPr>
        <p:spPr>
          <a:xfrm>
            <a:off x="9775732" y="2389762"/>
            <a:ext cx="2260745" cy="584775"/>
          </a:xfrm>
          <a:prstGeom prst="rect">
            <a:avLst/>
          </a:prstGeom>
          <a:noFill/>
          <a:ln>
            <a:solidFill>
              <a:srgbClr val="FF0000"/>
            </a:solidFill>
          </a:ln>
        </p:spPr>
        <p:txBody>
          <a:bodyPr wrap="square" rtlCol="0">
            <a:spAutoFit/>
          </a:bodyPr>
          <a:lstStyle/>
          <a:p>
            <a:r>
              <a:rPr lang="zh-CN" altLang="en-US" sz="800">
                <a:solidFill>
                  <a:srgbClr val="FF0000"/>
                </a:solidFill>
              </a:rPr>
              <a:t>常数</a:t>
            </a:r>
            <a:r>
              <a:rPr lang="zh-CN" altLang="en-US" sz="800"/>
              <a:t>的均值是其本身</a:t>
            </a:r>
            <a:r>
              <a:rPr lang="en-US" altLang="zh-CN" sz="800"/>
              <a:t>,</a:t>
            </a:r>
            <a:r>
              <a:rPr lang="zh-CN" altLang="en-US" sz="800"/>
              <a:t>标准化后变成</a:t>
            </a:r>
            <a:r>
              <a:rPr lang="en-US" altLang="zh-CN" sz="800"/>
              <a:t>0</a:t>
            </a:r>
          </a:p>
          <a:p>
            <a:endParaRPr lang="en-US" altLang="zh-CN" sz="800"/>
          </a:p>
          <a:p>
            <a:r>
              <a:rPr lang="zh-CN" altLang="en-US" sz="800"/>
              <a:t>标准化系数的</a:t>
            </a:r>
            <a:r>
              <a:rPr lang="zh-CN" altLang="en-US" sz="800">
                <a:solidFill>
                  <a:srgbClr val="FF0000"/>
                </a:solidFill>
              </a:rPr>
              <a:t>绝对值越大</a:t>
            </a:r>
            <a:r>
              <a:rPr lang="zh-CN" altLang="en-US" sz="800"/>
              <a:t>，说明对因变量的</a:t>
            </a:r>
            <a:r>
              <a:rPr lang="zh-CN" altLang="en-US" sz="800">
                <a:solidFill>
                  <a:srgbClr val="FF0000"/>
                </a:solidFill>
              </a:rPr>
              <a:t>影响就越大</a:t>
            </a:r>
            <a:r>
              <a:rPr lang="zh-CN" altLang="en-US" sz="800"/>
              <a:t>（只关注</a:t>
            </a:r>
            <a:r>
              <a:rPr lang="zh-CN" altLang="en-US" sz="800">
                <a:solidFill>
                  <a:srgbClr val="FF0000"/>
                </a:solidFill>
              </a:rPr>
              <a:t>显著</a:t>
            </a:r>
            <a:r>
              <a:rPr lang="zh-CN" altLang="en-US" sz="800"/>
              <a:t>的回归系数哦）</a:t>
            </a:r>
          </a:p>
        </p:txBody>
      </p:sp>
      <p:sp>
        <p:nvSpPr>
          <p:cNvPr id="11" name="矩形 10">
            <a:extLst>
              <a:ext uri="{FF2B5EF4-FFF2-40B4-BE49-F238E27FC236}">
                <a16:creationId xmlns:a16="http://schemas.microsoft.com/office/drawing/2014/main" id="{B1525124-E077-5430-C867-AA81043E4839}"/>
              </a:ext>
            </a:extLst>
          </p:cNvPr>
          <p:cNvSpPr/>
          <p:nvPr/>
        </p:nvSpPr>
        <p:spPr>
          <a:xfrm>
            <a:off x="9006742" y="2010588"/>
            <a:ext cx="732096" cy="969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201CC23-CD86-901E-4A4C-CBF851A824F6}"/>
              </a:ext>
            </a:extLst>
          </p:cNvPr>
          <p:cNvSpPr txBox="1"/>
          <p:nvPr/>
        </p:nvSpPr>
        <p:spPr>
          <a:xfrm>
            <a:off x="7444388" y="879337"/>
            <a:ext cx="799066" cy="215444"/>
          </a:xfrm>
          <a:prstGeom prst="rect">
            <a:avLst/>
          </a:prstGeom>
          <a:noFill/>
        </p:spPr>
        <p:txBody>
          <a:bodyPr wrap="square" rtlCol="0">
            <a:spAutoFit/>
          </a:bodyPr>
          <a:lstStyle/>
          <a:p>
            <a:r>
              <a:rPr lang="en-US" altLang="zh-CN" sz="800" u="sng">
                <a:solidFill>
                  <a:srgbClr val="FF0000"/>
                </a:solidFill>
              </a:rPr>
              <a:t>b</a:t>
            </a:r>
            <a:r>
              <a:rPr lang="en-US" altLang="zh-CN" sz="800">
                <a:solidFill>
                  <a:srgbClr val="FF0000"/>
                </a:solidFill>
              </a:rPr>
              <a:t>eta,</a:t>
            </a:r>
            <a:r>
              <a:rPr lang="zh-CN" altLang="en-US" sz="800" b="1">
                <a:solidFill>
                  <a:srgbClr val="FF0000"/>
                </a:solidFill>
              </a:rPr>
              <a:t>标准化</a:t>
            </a:r>
          </a:p>
        </p:txBody>
      </p:sp>
      <p:sp>
        <p:nvSpPr>
          <p:cNvPr id="13" name="矩形 12">
            <a:extLst>
              <a:ext uri="{FF2B5EF4-FFF2-40B4-BE49-F238E27FC236}">
                <a16:creationId xmlns:a16="http://schemas.microsoft.com/office/drawing/2014/main" id="{FF630E42-125E-65B3-8B72-B1BF49DE85C8}"/>
              </a:ext>
            </a:extLst>
          </p:cNvPr>
          <p:cNvSpPr/>
          <p:nvPr/>
        </p:nvSpPr>
        <p:spPr>
          <a:xfrm>
            <a:off x="7920273" y="2142552"/>
            <a:ext cx="452369" cy="7694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4A0307CF-8243-90A6-9F9B-BFA2A39E5B59}"/>
              </a:ext>
            </a:extLst>
          </p:cNvPr>
          <p:cNvSpPr txBox="1"/>
          <p:nvPr/>
        </p:nvSpPr>
        <p:spPr>
          <a:xfrm>
            <a:off x="9740951" y="1058805"/>
            <a:ext cx="2452193" cy="1354217"/>
          </a:xfrm>
          <a:prstGeom prst="rect">
            <a:avLst/>
          </a:prstGeom>
          <a:noFill/>
        </p:spPr>
        <p:txBody>
          <a:bodyPr wrap="square">
            <a:spAutoFit/>
          </a:bodyPr>
          <a:lstStyle/>
          <a:p>
            <a:r>
              <a:rPr lang="en-US" altLang="zh-CN" sz="1000">
                <a:solidFill>
                  <a:srgbClr val="FF0000"/>
                </a:solidFill>
              </a:rPr>
              <a:t>t</a:t>
            </a:r>
            <a:r>
              <a:rPr lang="zh-CN" altLang="en-US" sz="1000">
                <a:solidFill>
                  <a:srgbClr val="FF0000"/>
                </a:solidFill>
              </a:rPr>
              <a:t>统计量（</a:t>
            </a:r>
            <a:r>
              <a:rPr lang="en-US" altLang="zh-CN" sz="1000">
                <a:solidFill>
                  <a:srgbClr val="FF0000"/>
                </a:solidFill>
              </a:rPr>
              <a:t>t-value</a:t>
            </a:r>
            <a:r>
              <a:rPr lang="zh-CN" altLang="en-US" sz="1000">
                <a:solidFill>
                  <a:srgbClr val="FF0000"/>
                </a:solidFill>
              </a:rPr>
              <a:t>）</a:t>
            </a:r>
            <a:r>
              <a:rPr lang="zh-CN" altLang="en-US" sz="1000"/>
              <a:t>：通常，</a:t>
            </a:r>
            <a:r>
              <a:rPr lang="en-US" altLang="zh-CN" sz="1000"/>
              <a:t>| t |</a:t>
            </a:r>
            <a:r>
              <a:rPr lang="zh-CN" altLang="en-US" sz="1000"/>
              <a:t>越大，回归系数越显著。</a:t>
            </a:r>
          </a:p>
          <a:p>
            <a:r>
              <a:rPr lang="en-US" altLang="zh-CN" sz="1000">
                <a:solidFill>
                  <a:srgbClr val="FF0000"/>
                </a:solidFill>
              </a:rPr>
              <a:t>P</a:t>
            </a:r>
            <a:r>
              <a:rPr lang="zh-CN" altLang="en-US" sz="1000">
                <a:solidFill>
                  <a:srgbClr val="FF0000"/>
                </a:solidFill>
              </a:rPr>
              <a:t>值</a:t>
            </a:r>
            <a:r>
              <a:rPr lang="zh-CN" altLang="en-US" sz="1000"/>
              <a:t>：通常，</a:t>
            </a:r>
            <a:r>
              <a:rPr lang="en-US" altLang="zh-CN" sz="1000"/>
              <a:t>P&lt;0.05</a:t>
            </a:r>
            <a:r>
              <a:rPr lang="zh-CN" altLang="en-US" sz="1000"/>
              <a:t>时，认为自变量具有显著影响。</a:t>
            </a:r>
          </a:p>
          <a:p>
            <a:r>
              <a:rPr lang="en-US" altLang="zh-CN" sz="1000">
                <a:solidFill>
                  <a:srgbClr val="FF0000"/>
                </a:solidFill>
              </a:rPr>
              <a:t>R-squared</a:t>
            </a:r>
            <a:r>
              <a:rPr lang="zh-CN" altLang="en-US" sz="1000"/>
              <a:t>：更高的</a:t>
            </a:r>
            <a:r>
              <a:rPr lang="en-US" altLang="zh-CN" sz="1000"/>
              <a:t>R</a:t>
            </a:r>
            <a:r>
              <a:rPr lang="zh-CN" altLang="en-US" sz="1000"/>
              <a:t>平方值表示模型更好地拟合数据。</a:t>
            </a:r>
          </a:p>
          <a:p>
            <a:r>
              <a:rPr lang="en-US" altLang="zh-CN" sz="1000">
                <a:solidFill>
                  <a:srgbClr val="FF0000"/>
                </a:solidFill>
              </a:rPr>
              <a:t>F</a:t>
            </a:r>
            <a:r>
              <a:rPr lang="zh-CN" altLang="en-US" sz="1000">
                <a:solidFill>
                  <a:srgbClr val="FF0000"/>
                </a:solidFill>
              </a:rPr>
              <a:t>统计量（</a:t>
            </a:r>
            <a:r>
              <a:rPr lang="en-US" altLang="zh-CN" sz="1000">
                <a:solidFill>
                  <a:srgbClr val="FF0000"/>
                </a:solidFill>
              </a:rPr>
              <a:t>F-value</a:t>
            </a:r>
            <a:r>
              <a:rPr lang="zh-CN" altLang="en-US" sz="1000">
                <a:solidFill>
                  <a:srgbClr val="FF0000"/>
                </a:solidFill>
              </a:rPr>
              <a:t>）</a:t>
            </a:r>
            <a:r>
              <a:rPr lang="zh-CN" altLang="en-US" sz="1000"/>
              <a:t>：较大的</a:t>
            </a:r>
            <a:r>
              <a:rPr lang="en-US" altLang="zh-CN" sz="1000"/>
              <a:t>F</a:t>
            </a:r>
            <a:r>
              <a:rPr lang="zh-CN" altLang="en-US" sz="1000"/>
              <a:t>统计量和较小的</a:t>
            </a:r>
            <a:r>
              <a:rPr lang="en-US" altLang="zh-CN" sz="1000"/>
              <a:t>P</a:t>
            </a:r>
            <a:r>
              <a:rPr lang="zh-CN" altLang="en-US" sz="1000"/>
              <a:t>值表示模型整体上是显著的</a:t>
            </a:r>
            <a:r>
              <a:rPr lang="zh-CN" altLang="en-US" sz="1200"/>
              <a:t>。</a:t>
            </a:r>
          </a:p>
        </p:txBody>
      </p:sp>
      <p:pic>
        <p:nvPicPr>
          <p:cNvPr id="27" name="图片 26">
            <a:extLst>
              <a:ext uri="{FF2B5EF4-FFF2-40B4-BE49-F238E27FC236}">
                <a16:creationId xmlns:a16="http://schemas.microsoft.com/office/drawing/2014/main" id="{5A5C80CE-FA2B-D0AA-6C7C-5A4C49252721}"/>
              </a:ext>
            </a:extLst>
          </p:cNvPr>
          <p:cNvPicPr>
            <a:picLocks noChangeAspect="1"/>
          </p:cNvPicPr>
          <p:nvPr/>
        </p:nvPicPr>
        <p:blipFill>
          <a:blip r:embed="rId8"/>
          <a:stretch>
            <a:fillRect/>
          </a:stretch>
        </p:blipFill>
        <p:spPr>
          <a:xfrm>
            <a:off x="82171" y="4296705"/>
            <a:ext cx="1624312" cy="446802"/>
          </a:xfrm>
          <a:prstGeom prst="rect">
            <a:avLst/>
          </a:prstGeom>
          <a:ln>
            <a:solidFill>
              <a:srgbClr val="FF0000"/>
            </a:solidFill>
          </a:ln>
        </p:spPr>
      </p:pic>
      <p:sp>
        <p:nvSpPr>
          <p:cNvPr id="33" name="文本框 32">
            <a:extLst>
              <a:ext uri="{FF2B5EF4-FFF2-40B4-BE49-F238E27FC236}">
                <a16:creationId xmlns:a16="http://schemas.microsoft.com/office/drawing/2014/main" id="{D4A00C16-2B6C-A464-51B0-9FA4F14EA925}"/>
              </a:ext>
            </a:extLst>
          </p:cNvPr>
          <p:cNvSpPr txBox="1"/>
          <p:nvPr/>
        </p:nvSpPr>
        <p:spPr>
          <a:xfrm>
            <a:off x="1746846" y="4269078"/>
            <a:ext cx="3195625" cy="707886"/>
          </a:xfrm>
          <a:prstGeom prst="rect">
            <a:avLst/>
          </a:prstGeom>
          <a:noFill/>
        </p:spPr>
        <p:txBody>
          <a:bodyPr wrap="square">
            <a:spAutoFit/>
          </a:bodyPr>
          <a:lstStyle/>
          <a:p>
            <a:r>
              <a:rPr lang="zh-CN" altLang="en-US" sz="1000">
                <a:solidFill>
                  <a:srgbClr val="FF0000"/>
                </a:solidFill>
              </a:rPr>
              <a:t>虚拟变量（</a:t>
            </a:r>
            <a:r>
              <a:rPr lang="en-US" altLang="zh-CN" sz="1000">
                <a:solidFill>
                  <a:srgbClr val="FF0000"/>
                </a:solidFill>
              </a:rPr>
              <a:t>Dummy Variable</a:t>
            </a:r>
            <a:r>
              <a:rPr lang="zh-CN" altLang="en-US" sz="1000">
                <a:solidFill>
                  <a:srgbClr val="FF0000"/>
                </a:solidFill>
              </a:rPr>
              <a:t>）</a:t>
            </a:r>
            <a:r>
              <a:rPr lang="zh-CN" altLang="en-US" sz="1000"/>
              <a:t>：一种特殊的</a:t>
            </a:r>
            <a:r>
              <a:rPr lang="zh-CN" altLang="en-US" sz="1000">
                <a:solidFill>
                  <a:srgbClr val="FF0000"/>
                </a:solidFill>
              </a:rPr>
              <a:t>二元变量</a:t>
            </a:r>
            <a:r>
              <a:rPr lang="zh-CN" altLang="en-US" sz="1000"/>
              <a:t>，用于表示定性或分类信息，通常取值为</a:t>
            </a:r>
            <a:r>
              <a:rPr lang="en-US" altLang="zh-CN" sz="1000"/>
              <a:t>0</a:t>
            </a:r>
            <a:r>
              <a:rPr lang="zh-CN" altLang="en-US" sz="1000"/>
              <a:t>或</a:t>
            </a:r>
            <a:r>
              <a:rPr lang="en-US" altLang="zh-CN" sz="1000"/>
              <a:t>1</a:t>
            </a:r>
            <a:r>
              <a:rPr lang="zh-CN" altLang="en-US" sz="1000"/>
              <a:t>。主要用于</a:t>
            </a:r>
            <a:r>
              <a:rPr lang="zh-CN" altLang="en-US" sz="1000">
                <a:solidFill>
                  <a:srgbClr val="FF0000"/>
                </a:solidFill>
              </a:rPr>
              <a:t>将非数值型的信息转化为数值型信息</a:t>
            </a:r>
            <a:r>
              <a:rPr lang="zh-CN" altLang="en-US" sz="1000"/>
              <a:t>，以便能够在统计模型中</a:t>
            </a:r>
            <a:r>
              <a:rPr lang="zh-CN" altLang="en-US" sz="1000">
                <a:solidFill>
                  <a:srgbClr val="FF0000"/>
                </a:solidFill>
              </a:rPr>
              <a:t>定量分析</a:t>
            </a:r>
            <a:r>
              <a:rPr lang="zh-CN" altLang="en-US" sz="1000"/>
              <a:t>。</a:t>
            </a:r>
          </a:p>
        </p:txBody>
      </p:sp>
      <p:sp>
        <p:nvSpPr>
          <p:cNvPr id="35" name="文本框 34">
            <a:extLst>
              <a:ext uri="{FF2B5EF4-FFF2-40B4-BE49-F238E27FC236}">
                <a16:creationId xmlns:a16="http://schemas.microsoft.com/office/drawing/2014/main" id="{4E2D7A3C-1120-7954-A72B-4E7F7C10C794}"/>
              </a:ext>
            </a:extLst>
          </p:cNvPr>
          <p:cNvSpPr txBox="1"/>
          <p:nvPr/>
        </p:nvSpPr>
        <p:spPr>
          <a:xfrm>
            <a:off x="9719919" y="873022"/>
            <a:ext cx="2582917" cy="246221"/>
          </a:xfrm>
          <a:prstGeom prst="rect">
            <a:avLst/>
          </a:prstGeom>
          <a:noFill/>
        </p:spPr>
        <p:txBody>
          <a:bodyPr wrap="square">
            <a:spAutoFit/>
          </a:bodyPr>
          <a:lstStyle/>
          <a:p>
            <a:r>
              <a:rPr lang="zh-CN" altLang="en-US" sz="1000"/>
              <a:t>（默认使用的</a:t>
            </a:r>
            <a:r>
              <a:rPr lang="en-US" altLang="zh-CN" sz="1000"/>
              <a:t>OLS</a:t>
            </a:r>
            <a:r>
              <a:rPr lang="zh-CN" altLang="en-US" sz="1000"/>
              <a:t>：普通最小二乘估计法）</a:t>
            </a: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FA0134A7-F7C9-2D82-15B1-03B16AFFEFFF}"/>
                  </a:ext>
                </a:extLst>
              </p:cNvPr>
              <p:cNvSpPr txBox="1"/>
              <p:nvPr/>
            </p:nvSpPr>
            <p:spPr>
              <a:xfrm>
                <a:off x="5179229" y="4752441"/>
                <a:ext cx="5934456" cy="1015663"/>
              </a:xfrm>
              <a:prstGeom prst="rect">
                <a:avLst/>
              </a:prstGeom>
              <a:noFill/>
            </p:spPr>
            <p:txBody>
              <a:bodyPr wrap="square">
                <a:spAutoFit/>
              </a:bodyPr>
              <a:lstStyle/>
              <a:p>
                <a:r>
                  <a:rPr lang="zh-CN" altLang="en-US" sz="1200">
                    <a:solidFill>
                      <a:srgbClr val="FF0000"/>
                    </a:solidFill>
                  </a:rPr>
                  <a:t>拟合优度</a:t>
                </a:r>
                <a14:m>
                  <m:oMath xmlns:m="http://schemas.openxmlformats.org/officeDocument/2006/math">
                    <m:sSup>
                      <m:sSupPr>
                        <m:ctrlPr>
                          <a:rPr lang="en-US" altLang="zh-CN" sz="1200" i="1" smtClean="0">
                            <a:solidFill>
                              <a:srgbClr val="FF0000"/>
                            </a:solidFill>
                            <a:latin typeface="Cambria Math" panose="02040503050406030204" pitchFamily="18" charset="0"/>
                          </a:rPr>
                        </m:ctrlPr>
                      </m:sSupPr>
                      <m:e>
                        <m:r>
                          <m:rPr>
                            <m:sty m:val="p"/>
                          </m:rPr>
                          <a:rPr lang="en-US" altLang="zh-CN" sz="1200" i="1">
                            <a:solidFill>
                              <a:srgbClr val="FF0000"/>
                            </a:solidFill>
                            <a:latin typeface="Cambria Math" panose="02040503050406030204" pitchFamily="18" charset="0"/>
                          </a:rPr>
                          <m:t>R</m:t>
                        </m:r>
                      </m:e>
                      <m:sup>
                        <m:r>
                          <a:rPr lang="en-US" altLang="zh-CN" sz="1200" b="0" i="1" smtClean="0">
                            <a:solidFill>
                              <a:srgbClr val="FF0000"/>
                            </a:solidFill>
                            <a:latin typeface="Cambria Math" panose="02040503050406030204" pitchFamily="18" charset="0"/>
                          </a:rPr>
                          <m:t>2</m:t>
                        </m:r>
                      </m:sup>
                    </m:sSup>
                    <m:r>
                      <a:rPr lang="zh-CN" altLang="en-US" sz="1200" i="1" smtClean="0">
                        <a:solidFill>
                          <a:srgbClr val="FF0000"/>
                        </a:solidFill>
                        <a:latin typeface="Cambria Math" panose="02040503050406030204" pitchFamily="18" charset="0"/>
                      </a:rPr>
                      <m:t> </m:t>
                    </m:r>
                  </m:oMath>
                </a14:m>
                <a:r>
                  <a:rPr lang="zh-CN" altLang="en-US" sz="1200">
                    <a:solidFill>
                      <a:srgbClr val="FF0000"/>
                    </a:solidFill>
                  </a:rPr>
                  <a:t>较低</a:t>
                </a:r>
                <a:r>
                  <a:rPr lang="zh-CN" altLang="en-US" sz="1200"/>
                  <a:t>：</a:t>
                </a:r>
                <a:endParaRPr lang="en-US" altLang="zh-CN" sz="1200"/>
              </a:p>
              <a:p>
                <a:r>
                  <a:rPr lang="zh-CN" altLang="en-US" sz="1200"/>
                  <a:t>（</a:t>
                </a:r>
                <a:r>
                  <a:rPr lang="en-US" altLang="zh-CN" sz="1200"/>
                  <a:t>1</a:t>
                </a:r>
                <a:r>
                  <a:rPr lang="zh-CN" altLang="en-US" sz="1200"/>
                  <a:t>）</a:t>
                </a:r>
                <a:r>
                  <a:rPr lang="zh-CN" altLang="en-US" sz="1200">
                    <a:solidFill>
                      <a:srgbClr val="FF0000"/>
                    </a:solidFill>
                  </a:rPr>
                  <a:t>预测型</a:t>
                </a:r>
                <a:r>
                  <a:rPr lang="zh-CN" altLang="en-US" sz="1200"/>
                  <a:t>回归一般才会更看重。</a:t>
                </a:r>
              </a:p>
              <a:p>
                <a:r>
                  <a:rPr lang="zh-CN" altLang="en-US" sz="1200"/>
                  <a:t>         </a:t>
                </a:r>
                <a:r>
                  <a:rPr lang="zh-CN" altLang="en-US" sz="1200">
                    <a:solidFill>
                      <a:srgbClr val="FF0000"/>
                    </a:solidFill>
                  </a:rPr>
                  <a:t>解释型</a:t>
                </a:r>
                <a:r>
                  <a:rPr lang="zh-CN" altLang="en-US" sz="1200"/>
                  <a:t>回归更关注</a:t>
                </a:r>
                <a:r>
                  <a:rPr lang="zh-CN" altLang="en-US" sz="1200">
                    <a:solidFill>
                      <a:srgbClr val="FF0000"/>
                    </a:solidFill>
                  </a:rPr>
                  <a:t>模型整体显著性</a:t>
                </a:r>
                <a:r>
                  <a:rPr lang="zh-CN" altLang="en-US" sz="1200"/>
                  <a:t>以及自变量的统计显著性和经济意义显著性。</a:t>
                </a:r>
              </a:p>
              <a:p>
                <a:r>
                  <a:rPr lang="zh-CN" altLang="en-US" sz="1200"/>
                  <a:t>（</a:t>
                </a:r>
                <a:r>
                  <a:rPr lang="en-US" altLang="zh-CN" sz="1200"/>
                  <a:t>2</a:t>
                </a:r>
                <a:r>
                  <a:rPr lang="zh-CN" altLang="en-US" sz="1200"/>
                  <a:t>）可以对模型进行调整，例如对数据取对数或者平方后再进行回归。</a:t>
                </a:r>
              </a:p>
              <a:p>
                <a:r>
                  <a:rPr lang="zh-CN" altLang="en-US" sz="1200"/>
                  <a:t>（</a:t>
                </a:r>
                <a:r>
                  <a:rPr lang="en-US" altLang="zh-CN" sz="1200"/>
                  <a:t>3</a:t>
                </a:r>
                <a:r>
                  <a:rPr lang="zh-CN" altLang="en-US" sz="1200"/>
                  <a:t>）数据中可能有存在异常值或者数据的分布极度不均匀</a:t>
                </a:r>
              </a:p>
            </p:txBody>
          </p:sp>
        </mc:Choice>
        <mc:Fallback xmlns="">
          <p:sp>
            <p:nvSpPr>
              <p:cNvPr id="41" name="文本框 40">
                <a:extLst>
                  <a:ext uri="{FF2B5EF4-FFF2-40B4-BE49-F238E27FC236}">
                    <a16:creationId xmlns:a16="http://schemas.microsoft.com/office/drawing/2014/main" id="{FA0134A7-F7C9-2D82-15B1-03B16AFFEFFF}"/>
                  </a:ext>
                </a:extLst>
              </p:cNvPr>
              <p:cNvSpPr txBox="1">
                <a:spLocks noRot="1" noChangeAspect="1" noMove="1" noResize="1" noEditPoints="1" noAdjustHandles="1" noChangeArrowheads="1" noChangeShapeType="1" noTextEdit="1"/>
              </p:cNvSpPr>
              <p:nvPr/>
            </p:nvSpPr>
            <p:spPr>
              <a:xfrm>
                <a:off x="5179229" y="4752441"/>
                <a:ext cx="5934456" cy="1015663"/>
              </a:xfrm>
              <a:prstGeom prst="rect">
                <a:avLst/>
              </a:prstGeom>
              <a:blipFill>
                <a:blip r:embed="rId9"/>
                <a:stretch>
                  <a:fillRect l="-103" t="-1205" b="-4819"/>
                </a:stretch>
              </a:blipFill>
            </p:spPr>
            <p:txBody>
              <a:bodyPr/>
              <a:lstStyle/>
              <a:p>
                <a:r>
                  <a:rPr lang="zh-CN" altLang="en-US">
                    <a:noFill/>
                  </a:rPr>
                  <a:t> </a:t>
                </a:r>
              </a:p>
            </p:txBody>
          </p:sp>
        </mc:Fallback>
      </mc:AlternateContent>
      <p:pic>
        <p:nvPicPr>
          <p:cNvPr id="66" name="图片 65">
            <a:extLst>
              <a:ext uri="{FF2B5EF4-FFF2-40B4-BE49-F238E27FC236}">
                <a16:creationId xmlns:a16="http://schemas.microsoft.com/office/drawing/2014/main" id="{43215390-BDA6-4876-5163-A89ADF589A16}"/>
              </a:ext>
            </a:extLst>
          </p:cNvPr>
          <p:cNvPicPr>
            <a:picLocks noChangeAspect="1"/>
          </p:cNvPicPr>
          <p:nvPr/>
        </p:nvPicPr>
        <p:blipFill>
          <a:blip r:embed="rId10"/>
          <a:stretch>
            <a:fillRect/>
          </a:stretch>
        </p:blipFill>
        <p:spPr>
          <a:xfrm>
            <a:off x="5290495" y="3721054"/>
            <a:ext cx="3881214" cy="1048976"/>
          </a:xfrm>
          <a:prstGeom prst="rect">
            <a:avLst/>
          </a:prstGeom>
          <a:ln>
            <a:solidFill>
              <a:schemeClr val="tx1"/>
            </a:solidFill>
          </a:ln>
        </p:spPr>
      </p:pic>
      <p:sp>
        <p:nvSpPr>
          <p:cNvPr id="9" name="文本框 8">
            <a:extLst>
              <a:ext uri="{FF2B5EF4-FFF2-40B4-BE49-F238E27FC236}">
                <a16:creationId xmlns:a16="http://schemas.microsoft.com/office/drawing/2014/main" id="{35AD4F3B-849A-7188-42AC-A8DFE4342765}"/>
              </a:ext>
            </a:extLst>
          </p:cNvPr>
          <p:cNvSpPr txBox="1"/>
          <p:nvPr/>
        </p:nvSpPr>
        <p:spPr>
          <a:xfrm>
            <a:off x="7592302" y="4058952"/>
            <a:ext cx="1251578" cy="646331"/>
          </a:xfrm>
          <a:prstGeom prst="rect">
            <a:avLst/>
          </a:prstGeom>
          <a:noFill/>
        </p:spPr>
        <p:txBody>
          <a:bodyPr wrap="square">
            <a:spAutoFit/>
          </a:bodyPr>
          <a:lstStyle/>
          <a:p>
            <a:r>
              <a:rPr lang="zh-CN" altLang="en-US" sz="1200"/>
              <a:t>（</a:t>
            </a:r>
            <a:r>
              <a:rPr lang="en-US" altLang="zh-CN" sz="1200"/>
              <a:t>Stata</a:t>
            </a:r>
            <a:r>
              <a:rPr lang="zh-CN" altLang="en-US" sz="1200"/>
              <a:t>会自动检测数据的</a:t>
            </a:r>
            <a:r>
              <a:rPr lang="zh-CN" altLang="en-US" sz="1200">
                <a:solidFill>
                  <a:srgbClr val="FF0000"/>
                </a:solidFill>
              </a:rPr>
              <a:t>完全多重共线性问题</a:t>
            </a:r>
            <a:r>
              <a:rPr lang="zh-CN" altLang="en-US" sz="1200">
                <a:solidFill>
                  <a:schemeClr val="tx1">
                    <a:lumMod val="95000"/>
                    <a:lumOff val="5000"/>
                  </a:schemeClr>
                </a:solidFill>
              </a:rPr>
              <a:t>）</a:t>
            </a:r>
          </a:p>
        </p:txBody>
      </p:sp>
      <p:sp>
        <p:nvSpPr>
          <p:cNvPr id="3" name="文本框 2">
            <a:extLst>
              <a:ext uri="{FF2B5EF4-FFF2-40B4-BE49-F238E27FC236}">
                <a16:creationId xmlns:a16="http://schemas.microsoft.com/office/drawing/2014/main" id="{9BDECFEC-EDAD-755F-C4F3-1B6951B26D49}"/>
              </a:ext>
            </a:extLst>
          </p:cNvPr>
          <p:cNvSpPr txBox="1"/>
          <p:nvPr/>
        </p:nvSpPr>
        <p:spPr>
          <a:xfrm>
            <a:off x="8494124" y="1195624"/>
            <a:ext cx="616527" cy="461665"/>
          </a:xfrm>
          <a:prstGeom prst="rect">
            <a:avLst/>
          </a:prstGeom>
          <a:noFill/>
        </p:spPr>
        <p:txBody>
          <a:bodyPr wrap="square" rtlCol="0">
            <a:spAutoFit/>
          </a:bodyPr>
          <a:lstStyle/>
          <a:p>
            <a:r>
              <a:rPr lang="en-US" altLang="zh-CN" sz="800" b="1">
                <a:solidFill>
                  <a:srgbClr val="FF0000"/>
                </a:solidFill>
              </a:rPr>
              <a:t>F</a:t>
            </a:r>
            <a:r>
              <a:rPr lang="zh-CN" altLang="en-US" sz="800" b="1">
                <a:solidFill>
                  <a:srgbClr val="FF0000"/>
                </a:solidFill>
              </a:rPr>
              <a:t>统计量，</a:t>
            </a:r>
            <a:endParaRPr lang="en-US" altLang="zh-CN" sz="800" b="1">
              <a:solidFill>
                <a:srgbClr val="FF0000"/>
              </a:solidFill>
            </a:endParaRPr>
          </a:p>
          <a:p>
            <a:r>
              <a:rPr lang="zh-CN" altLang="en-US" sz="800" b="1">
                <a:solidFill>
                  <a:srgbClr val="FF0000"/>
                </a:solidFill>
              </a:rPr>
              <a:t>内含</a:t>
            </a:r>
            <a:r>
              <a:rPr lang="en-US" altLang="zh-CN" sz="800" b="1">
                <a:solidFill>
                  <a:srgbClr val="FF0000"/>
                </a:solidFill>
              </a:rPr>
              <a:t>df</a:t>
            </a:r>
            <a:r>
              <a:rPr lang="zh-CN" altLang="en-US" sz="800" b="1">
                <a:solidFill>
                  <a:srgbClr val="FF0000"/>
                </a:solidFill>
              </a:rPr>
              <a:t>的两个值</a:t>
            </a:r>
          </a:p>
        </p:txBody>
      </p:sp>
      <p:sp>
        <p:nvSpPr>
          <p:cNvPr id="6" name="文本框 5">
            <a:extLst>
              <a:ext uri="{FF2B5EF4-FFF2-40B4-BE49-F238E27FC236}">
                <a16:creationId xmlns:a16="http://schemas.microsoft.com/office/drawing/2014/main" id="{91A24392-CFCC-BB08-5F79-6D5825986591}"/>
              </a:ext>
            </a:extLst>
          </p:cNvPr>
          <p:cNvSpPr txBox="1"/>
          <p:nvPr/>
        </p:nvSpPr>
        <p:spPr>
          <a:xfrm>
            <a:off x="8763000" y="1627285"/>
            <a:ext cx="311727" cy="246221"/>
          </a:xfrm>
          <a:prstGeom prst="rect">
            <a:avLst/>
          </a:prstGeom>
          <a:noFill/>
        </p:spPr>
        <p:txBody>
          <a:bodyPr wrap="square" rtlCol="0">
            <a:spAutoFit/>
          </a:bodyPr>
          <a:lstStyle/>
          <a:p>
            <a:r>
              <a:rPr lang="zh-CN" altLang="en-US" sz="1000" b="1">
                <a:solidFill>
                  <a:srgbClr val="FF0000"/>
                </a:solidFill>
              </a:rPr>
              <a:t>√</a:t>
            </a:r>
          </a:p>
        </p:txBody>
      </p:sp>
      <p:sp>
        <p:nvSpPr>
          <p:cNvPr id="7" name="文本框 6">
            <a:extLst>
              <a:ext uri="{FF2B5EF4-FFF2-40B4-BE49-F238E27FC236}">
                <a16:creationId xmlns:a16="http://schemas.microsoft.com/office/drawing/2014/main" id="{1B946926-5A54-7385-C2D6-7C218AF48005}"/>
              </a:ext>
            </a:extLst>
          </p:cNvPr>
          <p:cNvSpPr txBox="1"/>
          <p:nvPr/>
        </p:nvSpPr>
        <p:spPr>
          <a:xfrm>
            <a:off x="8571212" y="1525668"/>
            <a:ext cx="311727" cy="246221"/>
          </a:xfrm>
          <a:prstGeom prst="rect">
            <a:avLst/>
          </a:prstGeom>
          <a:noFill/>
        </p:spPr>
        <p:txBody>
          <a:bodyPr wrap="square" rtlCol="0">
            <a:spAutoFit/>
          </a:bodyPr>
          <a:lstStyle/>
          <a:p>
            <a:r>
              <a:rPr lang="en-US" altLang="zh-CN" sz="1000" b="1">
                <a:solidFill>
                  <a:srgbClr val="FF0000"/>
                </a:solidFill>
              </a:rPr>
              <a:t>×</a:t>
            </a:r>
            <a:endParaRPr lang="zh-CN" altLang="en-US" sz="1000" b="1">
              <a:solidFill>
                <a:srgbClr val="FF0000"/>
              </a:solidFill>
            </a:endParaRPr>
          </a:p>
        </p:txBody>
      </p:sp>
      <p:sp>
        <p:nvSpPr>
          <p:cNvPr id="16" name="文本框 15">
            <a:extLst>
              <a:ext uri="{FF2B5EF4-FFF2-40B4-BE49-F238E27FC236}">
                <a16:creationId xmlns:a16="http://schemas.microsoft.com/office/drawing/2014/main" id="{0A3DD6A5-3A0D-5564-7925-F0E7DA14A3F2}"/>
              </a:ext>
            </a:extLst>
          </p:cNvPr>
          <p:cNvSpPr txBox="1"/>
          <p:nvPr/>
        </p:nvSpPr>
        <p:spPr>
          <a:xfrm>
            <a:off x="5230031" y="5768104"/>
            <a:ext cx="3013423" cy="830997"/>
          </a:xfrm>
          <a:prstGeom prst="rect">
            <a:avLst/>
          </a:prstGeom>
          <a:noFill/>
          <a:ln w="6350">
            <a:solidFill>
              <a:schemeClr val="tx1"/>
            </a:solidFill>
          </a:ln>
        </p:spPr>
        <p:txBody>
          <a:bodyPr wrap="square">
            <a:spAutoFit/>
          </a:bodyPr>
          <a:lstStyle/>
          <a:p>
            <a:r>
              <a:rPr lang="zh-CN" altLang="en-US" sz="1200"/>
              <a:t>我们引入的自变量越多，拟合优度会变大。但我们倾向于使用调整后的拟合优度，如果新引入的自变量对</a:t>
            </a:r>
            <a:r>
              <a:rPr lang="en-US" altLang="zh-CN" sz="1200"/>
              <a:t>SSE</a:t>
            </a:r>
            <a:r>
              <a:rPr lang="zh-CN" altLang="en-US" sz="1200"/>
              <a:t>的减少程度特别少，那么调整后的拟合优度反而会减小。</a:t>
            </a:r>
          </a:p>
        </p:txBody>
      </p:sp>
      <p:cxnSp>
        <p:nvCxnSpPr>
          <p:cNvPr id="19" name="直接连接符 18">
            <a:extLst>
              <a:ext uri="{FF2B5EF4-FFF2-40B4-BE49-F238E27FC236}">
                <a16:creationId xmlns:a16="http://schemas.microsoft.com/office/drawing/2014/main" id="{998046B2-6E03-4739-0FD0-818AD228B2A8}"/>
              </a:ext>
            </a:extLst>
          </p:cNvPr>
          <p:cNvCxnSpPr>
            <a:cxnSpLocks/>
            <a:stCxn id="25" idx="2"/>
          </p:cNvCxnSpPr>
          <p:nvPr/>
        </p:nvCxnSpPr>
        <p:spPr>
          <a:xfrm>
            <a:off x="8563269" y="1805341"/>
            <a:ext cx="3414724" cy="2253611"/>
          </a:xfrm>
          <a:prstGeom prst="line">
            <a:avLst/>
          </a:prstGeom>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D532ED41-8666-9F80-DDC0-EC2EB26B10FA}"/>
              </a:ext>
            </a:extLst>
          </p:cNvPr>
          <p:cNvCxnSpPr>
            <a:cxnSpLocks/>
            <a:endCxn id="16" idx="3"/>
          </p:cNvCxnSpPr>
          <p:nvPr/>
        </p:nvCxnSpPr>
        <p:spPr>
          <a:xfrm flipH="1">
            <a:off x="8243454" y="4058952"/>
            <a:ext cx="3734539" cy="21246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矩形 24">
            <a:extLst>
              <a:ext uri="{FF2B5EF4-FFF2-40B4-BE49-F238E27FC236}">
                <a16:creationId xmlns:a16="http://schemas.microsoft.com/office/drawing/2014/main" id="{97B18DE7-29A8-44F7-D01A-5DC4D8661E3B}"/>
              </a:ext>
            </a:extLst>
          </p:cNvPr>
          <p:cNvSpPr/>
          <p:nvPr/>
        </p:nvSpPr>
        <p:spPr>
          <a:xfrm>
            <a:off x="8119796" y="1562290"/>
            <a:ext cx="886945" cy="24305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2BA8674-C6D8-82F9-F77D-12956194A2F5}"/>
              </a:ext>
            </a:extLst>
          </p:cNvPr>
          <p:cNvSpPr txBox="1"/>
          <p:nvPr/>
        </p:nvSpPr>
        <p:spPr>
          <a:xfrm>
            <a:off x="8329721" y="2114155"/>
            <a:ext cx="397354" cy="246221"/>
          </a:xfrm>
          <a:prstGeom prst="rect">
            <a:avLst/>
          </a:prstGeom>
          <a:noFill/>
        </p:spPr>
        <p:txBody>
          <a:bodyPr wrap="square" rtlCol="0">
            <a:spAutoFit/>
          </a:bodyPr>
          <a:lstStyle/>
          <a:p>
            <a:r>
              <a:rPr lang="en-US" altLang="zh-CN" sz="1000" b="1">
                <a:solidFill>
                  <a:srgbClr val="FF0000"/>
                </a:solidFill>
              </a:rPr>
              <a:t>P</a:t>
            </a:r>
            <a:r>
              <a:rPr lang="zh-CN" altLang="en-US" sz="1000" b="1">
                <a:solidFill>
                  <a:srgbClr val="FF0000"/>
                </a:solidFill>
              </a:rPr>
              <a:t>值</a:t>
            </a:r>
          </a:p>
        </p:txBody>
      </p:sp>
      <p:sp>
        <p:nvSpPr>
          <p:cNvPr id="34" name="文本框 33">
            <a:extLst>
              <a:ext uri="{FF2B5EF4-FFF2-40B4-BE49-F238E27FC236}">
                <a16:creationId xmlns:a16="http://schemas.microsoft.com/office/drawing/2014/main" id="{33843AC8-7033-C729-2C90-C4E6010C42BE}"/>
              </a:ext>
            </a:extLst>
          </p:cNvPr>
          <p:cNvSpPr txBox="1"/>
          <p:nvPr/>
        </p:nvSpPr>
        <p:spPr>
          <a:xfrm>
            <a:off x="5233438" y="1997554"/>
            <a:ext cx="905474" cy="246221"/>
          </a:xfrm>
          <a:prstGeom prst="rect">
            <a:avLst/>
          </a:prstGeom>
          <a:noFill/>
        </p:spPr>
        <p:txBody>
          <a:bodyPr wrap="square" rtlCol="0">
            <a:spAutoFit/>
          </a:bodyPr>
          <a:lstStyle/>
          <a:p>
            <a:r>
              <a:rPr lang="zh-CN" altLang="en-US" sz="1000" b="1">
                <a:solidFill>
                  <a:srgbClr val="FF0000"/>
                </a:solidFill>
              </a:rPr>
              <a:t>回归系数表</a:t>
            </a:r>
          </a:p>
        </p:txBody>
      </p:sp>
      <p:sp>
        <p:nvSpPr>
          <p:cNvPr id="38" name="文本框 37">
            <a:extLst>
              <a:ext uri="{FF2B5EF4-FFF2-40B4-BE49-F238E27FC236}">
                <a16:creationId xmlns:a16="http://schemas.microsoft.com/office/drawing/2014/main" id="{B203FEF8-9A25-53FF-2829-0433F8AB2591}"/>
              </a:ext>
            </a:extLst>
          </p:cNvPr>
          <p:cNvSpPr txBox="1"/>
          <p:nvPr/>
        </p:nvSpPr>
        <p:spPr>
          <a:xfrm>
            <a:off x="8146472" y="2493284"/>
            <a:ext cx="580603" cy="246221"/>
          </a:xfrm>
          <a:prstGeom prst="rect">
            <a:avLst/>
          </a:prstGeom>
          <a:noFill/>
        </p:spPr>
        <p:txBody>
          <a:bodyPr wrap="square" rtlCol="0">
            <a:spAutoFit/>
          </a:bodyPr>
          <a:lstStyle/>
          <a:p>
            <a:r>
              <a:rPr lang="zh-CN" altLang="en-US" sz="1000" b="1">
                <a:solidFill>
                  <a:srgbClr val="FF0000"/>
                </a:solidFill>
              </a:rPr>
              <a:t>不显著</a:t>
            </a:r>
          </a:p>
        </p:txBody>
      </p:sp>
      <p:sp>
        <p:nvSpPr>
          <p:cNvPr id="40" name="文本框 39">
            <a:extLst>
              <a:ext uri="{FF2B5EF4-FFF2-40B4-BE49-F238E27FC236}">
                <a16:creationId xmlns:a16="http://schemas.microsoft.com/office/drawing/2014/main" id="{D0BE2268-AE80-1015-99F8-79AB8D27BE0C}"/>
              </a:ext>
            </a:extLst>
          </p:cNvPr>
          <p:cNvSpPr txBox="1"/>
          <p:nvPr/>
        </p:nvSpPr>
        <p:spPr>
          <a:xfrm>
            <a:off x="5274105" y="2959152"/>
            <a:ext cx="2865096" cy="707886"/>
          </a:xfrm>
          <a:prstGeom prst="rect">
            <a:avLst/>
          </a:prstGeom>
          <a:noFill/>
          <a:ln>
            <a:solidFill>
              <a:schemeClr val="tx1"/>
            </a:solidFill>
          </a:ln>
        </p:spPr>
        <p:txBody>
          <a:bodyPr wrap="square">
            <a:spAutoFit/>
          </a:bodyPr>
          <a:lstStyle/>
          <a:p>
            <a:r>
              <a:rPr lang="zh-CN" altLang="en-US" sz="1000"/>
              <a:t>// 利用插件自动</a:t>
            </a:r>
            <a:r>
              <a:rPr lang="zh-CN" altLang="en-US" sz="1000">
                <a:solidFill>
                  <a:srgbClr val="FF0000"/>
                </a:solidFill>
              </a:rPr>
              <a:t>筛选显著数据</a:t>
            </a:r>
            <a:r>
              <a:rPr lang="zh-CN" altLang="en-US" sz="1000"/>
              <a:t>并储存（如右表）</a:t>
            </a:r>
          </a:p>
          <a:p>
            <a:r>
              <a:rPr lang="zh-CN" altLang="en-US" sz="1000"/>
              <a:t>est store m1</a:t>
            </a:r>
          </a:p>
          <a:p>
            <a:r>
              <a:rPr lang="zh-CN" altLang="en-US" sz="1000"/>
              <a:t>reg2docx m1 using m1.docx, replace</a:t>
            </a:r>
          </a:p>
          <a:p>
            <a:r>
              <a:rPr lang="zh-CN" altLang="en-US" sz="1000"/>
              <a:t>// 添加</a:t>
            </a:r>
            <a:r>
              <a:rPr lang="zh-CN" altLang="en-US" sz="1000">
                <a:solidFill>
                  <a:srgbClr val="FF0000"/>
                </a:solidFill>
              </a:rPr>
              <a:t>*** p&lt;0.01  ** p&lt;0.05 * p&lt;0.1</a:t>
            </a:r>
          </a:p>
        </p:txBody>
      </p:sp>
      <p:graphicFrame>
        <p:nvGraphicFramePr>
          <p:cNvPr id="48" name="表格 47">
            <a:extLst>
              <a:ext uri="{FF2B5EF4-FFF2-40B4-BE49-F238E27FC236}">
                <a16:creationId xmlns:a16="http://schemas.microsoft.com/office/drawing/2014/main" id="{CB3ED2F6-02F6-504E-6D48-3C6D5B4FD69A}"/>
              </a:ext>
            </a:extLst>
          </p:cNvPr>
          <p:cNvGraphicFramePr>
            <a:graphicFrameLocks noGrp="1"/>
          </p:cNvGraphicFramePr>
          <p:nvPr>
            <p:extLst>
              <p:ext uri="{D42A27DB-BD31-4B8C-83A1-F6EECF244321}">
                <p14:modId xmlns:p14="http://schemas.microsoft.com/office/powerpoint/2010/main" val="2968501928"/>
              </p:ext>
            </p:extLst>
          </p:nvPr>
        </p:nvGraphicFramePr>
        <p:xfrm>
          <a:off x="9298339" y="3199854"/>
          <a:ext cx="1969898" cy="1031752"/>
        </p:xfrm>
        <a:graphic>
          <a:graphicData uri="http://schemas.openxmlformats.org/drawingml/2006/table">
            <a:tbl>
              <a:tblPr firstRow="1" firstCol="1" bandRow="1"/>
              <a:tblGrid>
                <a:gridCol w="984949">
                  <a:extLst>
                    <a:ext uri="{9D8B030D-6E8A-4147-A177-3AD203B41FA5}">
                      <a16:colId xmlns:a16="http://schemas.microsoft.com/office/drawing/2014/main" val="815957434"/>
                    </a:ext>
                  </a:extLst>
                </a:gridCol>
                <a:gridCol w="984949">
                  <a:extLst>
                    <a:ext uri="{9D8B030D-6E8A-4147-A177-3AD203B41FA5}">
                      <a16:colId xmlns:a16="http://schemas.microsoft.com/office/drawing/2014/main" val="31915694"/>
                    </a:ext>
                  </a:extLst>
                </a:gridCol>
              </a:tblGrid>
              <a:tr h="56317">
                <a:tc>
                  <a:txBody>
                    <a:bodyPr/>
                    <a:lstStyle/>
                    <a:p>
                      <a:pPr>
                        <a:lnSpc>
                          <a:spcPct val="115000"/>
                        </a:lnSpc>
                        <a:spcAft>
                          <a:spcPts val="1000"/>
                        </a:spcAft>
                      </a:pPr>
                      <a:r>
                        <a:rPr lang="en-US" sz="800">
                          <a:effectLst/>
                          <a:latin typeface="Times New Roman" panose="02020603050405020304" pitchFamily="18" charset="0"/>
                          <a:ea typeface="Times New Roman" panose="02020603050405020304" pitchFamily="18" charset="0"/>
                        </a:rPr>
                        <a:t> </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评价量</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8181582"/>
                  </a:ext>
                </a:extLst>
              </a:tr>
              <a:tr h="56317">
                <a:tc>
                  <a:txBody>
                    <a:bodyPr/>
                    <a:lstStyle/>
                    <a:p>
                      <a:pPr>
                        <a:lnSpc>
                          <a:spcPct val="115000"/>
                        </a:lnSpc>
                        <a:spcAft>
                          <a:spcPts val="1000"/>
                        </a:spcAft>
                      </a:pPr>
                      <a:r>
                        <a:rPr lang="en-US" sz="800">
                          <a:effectLst/>
                          <a:latin typeface="Times New Roman" panose="02020603050405020304" pitchFamily="18" charset="0"/>
                          <a:ea typeface="Times New Roman" panose="02020603050405020304" pitchFamily="18" charset="0"/>
                        </a:rPr>
                        <a:t>团购价元</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-35.399***</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97229383"/>
                  </a:ext>
                </a:extLst>
              </a:tr>
              <a:tr h="56014">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 </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(-5.409)</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180465309"/>
                  </a:ext>
                </a:extLst>
              </a:tr>
              <a:tr h="57641">
                <a:tc>
                  <a:txBody>
                    <a:bodyPr/>
                    <a:lstStyle/>
                    <a:p>
                      <a:pPr>
                        <a:lnSpc>
                          <a:spcPct val="115000"/>
                        </a:lnSpc>
                        <a:spcAft>
                          <a:spcPts val="1000"/>
                        </a:spcAft>
                      </a:pPr>
                      <a:r>
                        <a:rPr lang="en-US" sz="800">
                          <a:effectLst/>
                          <a:latin typeface="Times New Roman" panose="02020603050405020304" pitchFamily="18" charset="0"/>
                          <a:ea typeface="Times New Roman" panose="02020603050405020304" pitchFamily="18" charset="0"/>
                        </a:rPr>
                        <a:t>商品毛重kg</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2410.303</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78504342"/>
                  </a:ext>
                </a:extLst>
              </a:tr>
              <a:tr h="56014">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 </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(0.744)</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489676182"/>
                  </a:ext>
                </a:extLst>
              </a:tr>
              <a:tr h="56014">
                <a:tc>
                  <a:txBody>
                    <a:bodyPr/>
                    <a:lstStyle/>
                    <a:p>
                      <a:pPr>
                        <a:lnSpc>
                          <a:spcPct val="115000"/>
                        </a:lnSpc>
                        <a:spcAft>
                          <a:spcPts val="1000"/>
                        </a:spcAft>
                      </a:pPr>
                      <a:r>
                        <a:rPr lang="en-US" sz="800">
                          <a:effectLst/>
                          <a:latin typeface="Times New Roman" panose="02020603050405020304" pitchFamily="18" charset="0"/>
                          <a:ea typeface="Times New Roman" panose="02020603050405020304" pitchFamily="18" charset="0"/>
                        </a:rPr>
                        <a:t>_cons</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26255.384***</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2511627265"/>
                  </a:ext>
                </a:extLst>
              </a:tr>
              <a:tr h="56014">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 </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(5.348)</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189505"/>
                  </a:ext>
                </a:extLst>
              </a:tr>
              <a:tr h="56014">
                <a:tc>
                  <a:txBody>
                    <a:bodyPr/>
                    <a:lstStyle/>
                    <a:p>
                      <a:pPr>
                        <a:lnSpc>
                          <a:spcPct val="115000"/>
                        </a:lnSpc>
                        <a:spcAft>
                          <a:spcPts val="1000"/>
                        </a:spcAft>
                      </a:pPr>
                      <a:r>
                        <a:rPr lang="en-US" sz="800">
                          <a:effectLst/>
                          <a:latin typeface="Times New Roman" panose="02020603050405020304" pitchFamily="18" charset="0"/>
                          <a:ea typeface="Times New Roman" panose="02020603050405020304" pitchFamily="18" charset="0"/>
                        </a:rPr>
                        <a:t>N</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800">
                          <a:effectLst/>
                          <a:latin typeface="Times New Roman" panose="02020603050405020304" pitchFamily="18" charset="0"/>
                          <a:ea typeface="Times New Roman" panose="02020603050405020304" pitchFamily="18" charset="0"/>
                        </a:rPr>
                        <a:t>846</a:t>
                      </a:r>
                      <a:endParaRPr lang="zh-CN" sz="800">
                        <a:effectLst/>
                        <a:latin typeface="Times New Roman" panose="02020603050405020304" pitchFamily="18" charset="0"/>
                        <a:ea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3761370"/>
                  </a:ext>
                </a:extLst>
              </a:tr>
            </a:tbl>
          </a:graphicData>
        </a:graphic>
      </p:graphicFrame>
      <p:sp>
        <p:nvSpPr>
          <p:cNvPr id="49" name="Rectangle 4">
            <a:extLst>
              <a:ext uri="{FF2B5EF4-FFF2-40B4-BE49-F238E27FC236}">
                <a16:creationId xmlns:a16="http://schemas.microsoft.com/office/drawing/2014/main" id="{48CB301E-681A-93B2-82D9-954E791CFA98}"/>
              </a:ext>
            </a:extLst>
          </p:cNvPr>
          <p:cNvSpPr>
            <a:spLocks noChangeArrowheads="1"/>
          </p:cNvSpPr>
          <p:nvPr/>
        </p:nvSpPr>
        <p:spPr bwMode="auto">
          <a:xfrm>
            <a:off x="9738838" y="2998116"/>
            <a:ext cx="11053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8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Regression Table</a:t>
            </a:r>
            <a:endParaRPr kumimoji="0" lang="en-US" altLang="zh-CN" sz="800" b="0" i="0" u="none" strike="noStrike" cap="none" normalizeH="0" baseline="0">
              <a:ln>
                <a:noFill/>
              </a:ln>
              <a:solidFill>
                <a:schemeClr val="tx1"/>
              </a:solidFill>
              <a:effectLst/>
              <a:latin typeface="Arial" panose="020B0604020202020204" pitchFamily="34" charset="0"/>
            </a:endParaRPr>
          </a:p>
        </p:txBody>
      </p:sp>
      <p:sp>
        <p:nvSpPr>
          <p:cNvPr id="53" name="文本框 52">
            <a:extLst>
              <a:ext uri="{FF2B5EF4-FFF2-40B4-BE49-F238E27FC236}">
                <a16:creationId xmlns:a16="http://schemas.microsoft.com/office/drawing/2014/main" id="{BDB7B9B3-B27C-91D4-9B8C-AAFCD53C71A6}"/>
              </a:ext>
            </a:extLst>
          </p:cNvPr>
          <p:cNvSpPr txBox="1"/>
          <p:nvPr/>
        </p:nvSpPr>
        <p:spPr>
          <a:xfrm>
            <a:off x="9237676" y="4257853"/>
            <a:ext cx="1576065" cy="215444"/>
          </a:xfrm>
          <a:prstGeom prst="rect">
            <a:avLst/>
          </a:prstGeom>
          <a:noFill/>
        </p:spPr>
        <p:txBody>
          <a:bodyPr wrap="square">
            <a:spAutoFit/>
          </a:bodyPr>
          <a:lstStyle/>
          <a:p>
            <a:r>
              <a:rPr lang="nn-NO" altLang="zh-CN" sz="800"/>
              <a:t>*** p&lt;0.01  ** p&lt;0.05 * p&lt;0.1</a:t>
            </a:r>
            <a:endParaRPr lang="zh-CN" altLang="en-US" sz="800"/>
          </a:p>
        </p:txBody>
      </p:sp>
    </p:spTree>
    <p:extLst>
      <p:ext uri="{BB962C8B-B14F-4D97-AF65-F5344CB8AC3E}">
        <p14:creationId xmlns:p14="http://schemas.microsoft.com/office/powerpoint/2010/main" val="1238226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66A6F7-A996-08A3-FFBA-534B10FEA61D}"/>
              </a:ext>
            </a:extLst>
          </p:cNvPr>
          <p:cNvSpPr txBox="1"/>
          <p:nvPr/>
        </p:nvSpPr>
        <p:spPr>
          <a:xfrm>
            <a:off x="139641" y="103581"/>
            <a:ext cx="9323013"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多元回归分析</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使用</a:t>
            </a:r>
            <a:r>
              <a:rPr lang="en-US" altLang="zh-CN" sz="4400">
                <a:solidFill>
                  <a:schemeClr val="accent5"/>
                </a:solidFill>
                <a:latin typeface="三极泼墨体" panose="00000500000000000000" pitchFamily="2" charset="-122"/>
                <a:ea typeface="三极泼墨体" panose="00000500000000000000" pitchFamily="2" charset="-122"/>
              </a:rPr>
              <a:t>Stata</a:t>
            </a:r>
            <a:r>
              <a:rPr lang="zh-CN" altLang="en-US" sz="4400">
                <a:solidFill>
                  <a:schemeClr val="accent5"/>
                </a:solidFill>
                <a:latin typeface="三极泼墨体" panose="00000500000000000000" pitchFamily="2" charset="-122"/>
                <a:ea typeface="三极泼墨体" panose="00000500000000000000" pitchFamily="2" charset="-122"/>
              </a:rPr>
              <a:t>分析（二）</a:t>
            </a:r>
          </a:p>
        </p:txBody>
      </p:sp>
      <p:sp>
        <p:nvSpPr>
          <p:cNvPr id="45" name="文本框 44">
            <a:extLst>
              <a:ext uri="{FF2B5EF4-FFF2-40B4-BE49-F238E27FC236}">
                <a16:creationId xmlns:a16="http://schemas.microsoft.com/office/drawing/2014/main" id="{C6C1BF76-4060-FEB3-8151-CD6865408E94}"/>
              </a:ext>
            </a:extLst>
          </p:cNvPr>
          <p:cNvSpPr txBox="1"/>
          <p:nvPr/>
        </p:nvSpPr>
        <p:spPr>
          <a:xfrm>
            <a:off x="7263926" y="800312"/>
            <a:ext cx="4205684" cy="461665"/>
          </a:xfrm>
          <a:prstGeom prst="rect">
            <a:avLst/>
          </a:prstGeom>
          <a:noFill/>
        </p:spPr>
        <p:txBody>
          <a:bodyPr wrap="square">
            <a:spAutoFit/>
          </a:bodyPr>
          <a:lstStyle/>
          <a:p>
            <a:r>
              <a:rPr lang="zh-CN" altLang="en-US" sz="1200"/>
              <a:t>在之前的回归分析中，我们都默认了扰动项是球型扰动项。</a:t>
            </a:r>
          </a:p>
          <a:p>
            <a:r>
              <a:rPr lang="zh-CN" altLang="en-US" sz="1200">
                <a:solidFill>
                  <a:srgbClr val="FF0000"/>
                </a:solidFill>
              </a:rPr>
              <a:t>球型扰动项</a:t>
            </a:r>
            <a:r>
              <a:rPr lang="zh-CN" altLang="en-US" sz="1200"/>
              <a:t>：满足“同方差”和“无自相关”两个条件。</a:t>
            </a:r>
          </a:p>
        </p:txBody>
      </p:sp>
      <p:sp>
        <p:nvSpPr>
          <p:cNvPr id="49" name="文本框 48">
            <a:extLst>
              <a:ext uri="{FF2B5EF4-FFF2-40B4-BE49-F238E27FC236}">
                <a16:creationId xmlns:a16="http://schemas.microsoft.com/office/drawing/2014/main" id="{AAF4AA49-7F59-45E2-E473-61D85A00752B}"/>
              </a:ext>
            </a:extLst>
          </p:cNvPr>
          <p:cNvSpPr txBox="1"/>
          <p:nvPr/>
        </p:nvSpPr>
        <p:spPr>
          <a:xfrm>
            <a:off x="7263926" y="1338920"/>
            <a:ext cx="2624245" cy="461665"/>
          </a:xfrm>
          <a:prstGeom prst="rect">
            <a:avLst/>
          </a:prstGeom>
          <a:noFill/>
        </p:spPr>
        <p:txBody>
          <a:bodyPr wrap="square">
            <a:spAutoFit/>
          </a:bodyPr>
          <a:lstStyle/>
          <a:p>
            <a:r>
              <a:rPr lang="zh-CN" altLang="en-US" sz="1200"/>
              <a:t>横截面数据容易出现异方差的问题；</a:t>
            </a:r>
          </a:p>
          <a:p>
            <a:r>
              <a:rPr lang="zh-CN" altLang="en-US" sz="1200"/>
              <a:t>时间序列数据容易出现自相关的问题。</a:t>
            </a:r>
          </a:p>
        </p:txBody>
      </p:sp>
      <p:sp>
        <p:nvSpPr>
          <p:cNvPr id="53" name="文本框 52">
            <a:extLst>
              <a:ext uri="{FF2B5EF4-FFF2-40B4-BE49-F238E27FC236}">
                <a16:creationId xmlns:a16="http://schemas.microsoft.com/office/drawing/2014/main" id="{C9305AD7-1607-3A4E-8AD4-36A610F7594E}"/>
              </a:ext>
            </a:extLst>
          </p:cNvPr>
          <p:cNvSpPr txBox="1"/>
          <p:nvPr/>
        </p:nvSpPr>
        <p:spPr>
          <a:xfrm>
            <a:off x="7305489" y="1911290"/>
            <a:ext cx="4205684" cy="830997"/>
          </a:xfrm>
          <a:prstGeom prst="rect">
            <a:avLst/>
          </a:prstGeom>
          <a:noFill/>
        </p:spPr>
        <p:txBody>
          <a:bodyPr wrap="square">
            <a:spAutoFit/>
          </a:bodyPr>
          <a:lstStyle/>
          <a:p>
            <a:r>
              <a:rPr lang="zh-CN" altLang="en-US" sz="1200"/>
              <a:t>如果扰动项存在异方差：</a:t>
            </a:r>
          </a:p>
          <a:p>
            <a:r>
              <a:rPr lang="zh-CN" altLang="en-US" sz="1200"/>
              <a:t>（</a:t>
            </a:r>
            <a:r>
              <a:rPr lang="en-US" altLang="zh-CN" sz="1200"/>
              <a:t>1</a:t>
            </a:r>
            <a:r>
              <a:rPr lang="zh-CN" altLang="en-US" sz="1200"/>
              <a:t>）</a:t>
            </a:r>
            <a:r>
              <a:rPr lang="en-US" altLang="zh-CN" sz="1200"/>
              <a:t>OLS</a:t>
            </a:r>
            <a:r>
              <a:rPr lang="zh-CN" altLang="en-US" sz="1200"/>
              <a:t>估计出来的回归系数是无偏、一致的。√</a:t>
            </a:r>
          </a:p>
          <a:p>
            <a:r>
              <a:rPr lang="zh-CN" altLang="en-US" sz="1200"/>
              <a:t>（</a:t>
            </a:r>
            <a:r>
              <a:rPr lang="en-US" altLang="zh-CN" sz="1200"/>
              <a:t>2</a:t>
            </a:r>
            <a:r>
              <a:rPr lang="zh-CN" altLang="en-US" sz="1200"/>
              <a:t>）假设检验无法使用（构造的统计量失效了）。</a:t>
            </a:r>
            <a:r>
              <a:rPr lang="en-US" altLang="zh-CN" sz="1200"/>
              <a:t>×</a:t>
            </a:r>
            <a:endParaRPr lang="zh-CN" altLang="en-US" sz="1200"/>
          </a:p>
          <a:p>
            <a:r>
              <a:rPr lang="zh-CN" altLang="en-US" sz="1200"/>
              <a:t>（</a:t>
            </a:r>
            <a:r>
              <a:rPr lang="en-US" altLang="zh-CN" sz="1200"/>
              <a:t>3</a:t>
            </a:r>
            <a:r>
              <a:rPr lang="zh-CN" altLang="en-US" sz="1200"/>
              <a:t>）</a:t>
            </a:r>
            <a:r>
              <a:rPr lang="en-US" altLang="zh-CN" sz="1200"/>
              <a:t>OLS</a:t>
            </a:r>
            <a:r>
              <a:rPr lang="zh-CN" altLang="en-US" sz="1200"/>
              <a:t>估计量不再是最优线性无偏估计量（</a:t>
            </a:r>
            <a:r>
              <a:rPr lang="en-US" altLang="zh-CN" sz="1200"/>
              <a:t>BLUE</a:t>
            </a:r>
            <a:r>
              <a:rPr lang="zh-CN" altLang="en-US" sz="1200"/>
              <a:t>）。</a:t>
            </a:r>
            <a:r>
              <a:rPr lang="en-US" altLang="zh-CN" sz="1200"/>
              <a:t>×</a:t>
            </a:r>
            <a:endParaRPr lang="zh-CN" altLang="en-US" sz="1200"/>
          </a:p>
        </p:txBody>
      </p:sp>
      <p:sp>
        <p:nvSpPr>
          <p:cNvPr id="57" name="文本框 56">
            <a:extLst>
              <a:ext uri="{FF2B5EF4-FFF2-40B4-BE49-F238E27FC236}">
                <a16:creationId xmlns:a16="http://schemas.microsoft.com/office/drawing/2014/main" id="{4DEFBA2A-6EBB-E87B-9116-9FDD5E02A76D}"/>
              </a:ext>
            </a:extLst>
          </p:cNvPr>
          <p:cNvSpPr txBox="1"/>
          <p:nvPr/>
        </p:nvSpPr>
        <p:spPr>
          <a:xfrm>
            <a:off x="7314187" y="2722863"/>
            <a:ext cx="4468434" cy="1015663"/>
          </a:xfrm>
          <a:prstGeom prst="rect">
            <a:avLst/>
          </a:prstGeom>
          <a:noFill/>
        </p:spPr>
        <p:txBody>
          <a:bodyPr wrap="square">
            <a:spAutoFit/>
          </a:bodyPr>
          <a:lstStyle/>
          <a:p>
            <a:r>
              <a:rPr lang="zh-CN" altLang="en-US" sz="1200"/>
              <a:t>异方差解决措施：</a:t>
            </a:r>
          </a:p>
          <a:p>
            <a:r>
              <a:rPr lang="zh-CN" altLang="en-US" sz="1200"/>
              <a:t>（</a:t>
            </a:r>
            <a:r>
              <a:rPr lang="en-US" altLang="zh-CN" sz="1200"/>
              <a:t>1</a:t>
            </a:r>
            <a:r>
              <a:rPr lang="zh-CN" altLang="en-US" sz="1200"/>
              <a:t>）使用</a:t>
            </a:r>
            <a:r>
              <a:rPr lang="en-US" altLang="zh-CN" sz="1200"/>
              <a:t>OLS + </a:t>
            </a:r>
            <a:r>
              <a:rPr lang="zh-CN" altLang="en-US" sz="1200"/>
              <a:t>稳健的标准误 </a:t>
            </a:r>
            <a:r>
              <a:rPr lang="zh-CN" altLang="en-US" sz="1200">
                <a:solidFill>
                  <a:srgbClr val="FF0000"/>
                </a:solidFill>
              </a:rPr>
              <a:t>（推荐）</a:t>
            </a:r>
          </a:p>
          <a:p>
            <a:r>
              <a:rPr lang="zh-CN" altLang="en-US" sz="1200"/>
              <a:t>（</a:t>
            </a:r>
            <a:r>
              <a:rPr lang="en-US" altLang="zh-CN" sz="1200"/>
              <a:t>2</a:t>
            </a:r>
            <a:r>
              <a:rPr lang="zh-CN" altLang="en-US" sz="1200"/>
              <a:t>）广义最小二乘估计法</a:t>
            </a:r>
            <a:r>
              <a:rPr lang="en-US" altLang="zh-CN" sz="1200"/>
              <a:t>GLS</a:t>
            </a:r>
          </a:p>
          <a:p>
            <a:r>
              <a:rPr lang="zh-CN" altLang="en-US" sz="1200"/>
              <a:t>原理：方差较小的数据包含的信息较多，我们可以给予信息量大的数据更大的权重（即方差较小的数据给予更大的权重）</a:t>
            </a:r>
          </a:p>
        </p:txBody>
      </p:sp>
      <p:pic>
        <p:nvPicPr>
          <p:cNvPr id="4" name="图片 3">
            <a:extLst>
              <a:ext uri="{FF2B5EF4-FFF2-40B4-BE49-F238E27FC236}">
                <a16:creationId xmlns:a16="http://schemas.microsoft.com/office/drawing/2014/main" id="{D2F234D6-0B5E-1985-0CDD-70B2D3336672}"/>
              </a:ext>
            </a:extLst>
          </p:cNvPr>
          <p:cNvPicPr>
            <a:picLocks noChangeAspect="1"/>
          </p:cNvPicPr>
          <p:nvPr/>
        </p:nvPicPr>
        <p:blipFill>
          <a:blip r:embed="rId2"/>
          <a:stretch>
            <a:fillRect/>
          </a:stretch>
        </p:blipFill>
        <p:spPr>
          <a:xfrm>
            <a:off x="0" y="800312"/>
            <a:ext cx="3510052" cy="2106031"/>
          </a:xfrm>
          <a:prstGeom prst="rect">
            <a:avLst/>
          </a:prstGeom>
          <a:ln>
            <a:solidFill>
              <a:schemeClr val="tx1"/>
            </a:solidFill>
          </a:ln>
        </p:spPr>
      </p:pic>
      <p:sp>
        <p:nvSpPr>
          <p:cNvPr id="8" name="文本框 7">
            <a:extLst>
              <a:ext uri="{FF2B5EF4-FFF2-40B4-BE49-F238E27FC236}">
                <a16:creationId xmlns:a16="http://schemas.microsoft.com/office/drawing/2014/main" id="{324F512F-07A2-6EAA-627D-8E0DC5215113}"/>
              </a:ext>
            </a:extLst>
          </p:cNvPr>
          <p:cNvSpPr txBox="1"/>
          <p:nvPr/>
        </p:nvSpPr>
        <p:spPr>
          <a:xfrm>
            <a:off x="583622" y="873022"/>
            <a:ext cx="1903268" cy="461665"/>
          </a:xfrm>
          <a:prstGeom prst="rect">
            <a:avLst/>
          </a:prstGeom>
          <a:noFill/>
          <a:ln>
            <a:solidFill>
              <a:srgbClr val="FF0000"/>
            </a:solidFill>
          </a:ln>
        </p:spPr>
        <p:txBody>
          <a:bodyPr wrap="square">
            <a:spAutoFit/>
          </a:bodyPr>
          <a:lstStyle/>
          <a:p>
            <a:r>
              <a:rPr lang="en-US" altLang="zh-CN" sz="1200"/>
              <a:t>rvfplot </a:t>
            </a:r>
          </a:p>
          <a:p>
            <a:r>
              <a:rPr lang="en-US" altLang="zh-CN" sz="1200"/>
              <a:t>// </a:t>
            </a:r>
            <a:r>
              <a:rPr lang="zh-CN" altLang="en-US" sz="1200"/>
              <a:t>残差与拟合值的散点图</a:t>
            </a:r>
          </a:p>
        </p:txBody>
      </p:sp>
      <p:pic>
        <p:nvPicPr>
          <p:cNvPr id="10" name="图片 9">
            <a:extLst>
              <a:ext uri="{FF2B5EF4-FFF2-40B4-BE49-F238E27FC236}">
                <a16:creationId xmlns:a16="http://schemas.microsoft.com/office/drawing/2014/main" id="{B26AC92D-5028-CF5A-1EFF-21B828CC9801}"/>
              </a:ext>
            </a:extLst>
          </p:cNvPr>
          <p:cNvPicPr>
            <a:picLocks noChangeAspect="1"/>
          </p:cNvPicPr>
          <p:nvPr/>
        </p:nvPicPr>
        <p:blipFill>
          <a:blip r:embed="rId3"/>
          <a:stretch>
            <a:fillRect/>
          </a:stretch>
        </p:blipFill>
        <p:spPr>
          <a:xfrm>
            <a:off x="3631963" y="802704"/>
            <a:ext cx="3510052" cy="2106031"/>
          </a:xfrm>
          <a:prstGeom prst="rect">
            <a:avLst/>
          </a:prstGeom>
          <a:ln>
            <a:solidFill>
              <a:schemeClr val="tx1"/>
            </a:solidFill>
          </a:ln>
        </p:spPr>
      </p:pic>
      <p:sp>
        <p:nvSpPr>
          <p:cNvPr id="12" name="文本框 11">
            <a:extLst>
              <a:ext uri="{FF2B5EF4-FFF2-40B4-BE49-F238E27FC236}">
                <a16:creationId xmlns:a16="http://schemas.microsoft.com/office/drawing/2014/main" id="{9F520E44-C235-EF63-B32E-A543B2932343}"/>
              </a:ext>
            </a:extLst>
          </p:cNvPr>
          <p:cNvSpPr txBox="1"/>
          <p:nvPr/>
        </p:nvSpPr>
        <p:spPr>
          <a:xfrm>
            <a:off x="4360718" y="873022"/>
            <a:ext cx="2372591" cy="461665"/>
          </a:xfrm>
          <a:prstGeom prst="rect">
            <a:avLst/>
          </a:prstGeom>
          <a:noFill/>
          <a:ln>
            <a:solidFill>
              <a:srgbClr val="FF0000"/>
            </a:solidFill>
          </a:ln>
        </p:spPr>
        <p:txBody>
          <a:bodyPr wrap="square">
            <a:spAutoFit/>
          </a:bodyPr>
          <a:lstStyle/>
          <a:p>
            <a:r>
              <a:rPr lang="zh-CN" altLang="en-US" sz="1200"/>
              <a:t>rvpplot  团购价元</a:t>
            </a:r>
            <a:endParaRPr lang="en-US" altLang="zh-CN" sz="1200"/>
          </a:p>
          <a:p>
            <a:r>
              <a:rPr lang="zh-CN" altLang="en-US" sz="1200"/>
              <a:t>// 残差与自变量团购价的散点图</a:t>
            </a:r>
          </a:p>
        </p:txBody>
      </p:sp>
      <p:pic>
        <p:nvPicPr>
          <p:cNvPr id="14" name="图片 13">
            <a:extLst>
              <a:ext uri="{FF2B5EF4-FFF2-40B4-BE49-F238E27FC236}">
                <a16:creationId xmlns:a16="http://schemas.microsoft.com/office/drawing/2014/main" id="{C176221D-01B1-90C5-ECFF-4C1743E03892}"/>
              </a:ext>
            </a:extLst>
          </p:cNvPr>
          <p:cNvPicPr>
            <a:picLocks noChangeAspect="1"/>
          </p:cNvPicPr>
          <p:nvPr/>
        </p:nvPicPr>
        <p:blipFill>
          <a:blip r:embed="rId4"/>
          <a:stretch>
            <a:fillRect/>
          </a:stretch>
        </p:blipFill>
        <p:spPr>
          <a:xfrm>
            <a:off x="0" y="3589250"/>
            <a:ext cx="3510052" cy="2233199"/>
          </a:xfrm>
          <a:prstGeom prst="rect">
            <a:avLst/>
          </a:prstGeom>
          <a:ln>
            <a:solidFill>
              <a:schemeClr val="tx1"/>
            </a:solidFill>
          </a:ln>
        </p:spPr>
      </p:pic>
      <p:pic>
        <p:nvPicPr>
          <p:cNvPr id="16" name="图片 15">
            <a:extLst>
              <a:ext uri="{FF2B5EF4-FFF2-40B4-BE49-F238E27FC236}">
                <a16:creationId xmlns:a16="http://schemas.microsoft.com/office/drawing/2014/main" id="{B0523E8C-85BA-5D8D-2C5C-CD9E2194DABA}"/>
              </a:ext>
            </a:extLst>
          </p:cNvPr>
          <p:cNvPicPr>
            <a:picLocks noChangeAspect="1"/>
          </p:cNvPicPr>
          <p:nvPr/>
        </p:nvPicPr>
        <p:blipFill>
          <a:blip r:embed="rId5"/>
          <a:stretch>
            <a:fillRect/>
          </a:stretch>
        </p:blipFill>
        <p:spPr>
          <a:xfrm>
            <a:off x="3631963" y="3651300"/>
            <a:ext cx="3510052" cy="2106031"/>
          </a:xfrm>
          <a:prstGeom prst="rect">
            <a:avLst/>
          </a:prstGeom>
          <a:ln>
            <a:solidFill>
              <a:schemeClr val="tx1"/>
            </a:solidFill>
          </a:ln>
        </p:spPr>
      </p:pic>
      <p:sp>
        <p:nvSpPr>
          <p:cNvPr id="18" name="文本框 17">
            <a:extLst>
              <a:ext uri="{FF2B5EF4-FFF2-40B4-BE49-F238E27FC236}">
                <a16:creationId xmlns:a16="http://schemas.microsoft.com/office/drawing/2014/main" id="{108A33C5-7FB7-B25C-045E-23F7EBC698D1}"/>
              </a:ext>
            </a:extLst>
          </p:cNvPr>
          <p:cNvSpPr txBox="1"/>
          <p:nvPr/>
        </p:nvSpPr>
        <p:spPr>
          <a:xfrm>
            <a:off x="4360717" y="3981870"/>
            <a:ext cx="2372591" cy="461665"/>
          </a:xfrm>
          <a:prstGeom prst="rect">
            <a:avLst/>
          </a:prstGeom>
          <a:noFill/>
          <a:ln>
            <a:solidFill>
              <a:srgbClr val="FF0000"/>
            </a:solidFill>
          </a:ln>
        </p:spPr>
        <p:txBody>
          <a:bodyPr wrap="square">
            <a:spAutoFit/>
          </a:bodyPr>
          <a:lstStyle/>
          <a:p>
            <a:r>
              <a:rPr lang="zh-CN" altLang="en-US" sz="1200"/>
              <a:t>kdensity 评价量</a:t>
            </a:r>
            <a:endParaRPr lang="en-US" altLang="zh-CN" sz="1200"/>
          </a:p>
          <a:p>
            <a:r>
              <a:rPr lang="zh-CN" altLang="en-US" sz="1200"/>
              <a:t>// 作评价量的概率密度估计图</a:t>
            </a:r>
          </a:p>
        </p:txBody>
      </p:sp>
      <p:pic>
        <p:nvPicPr>
          <p:cNvPr id="26" name="图片 25">
            <a:extLst>
              <a:ext uri="{FF2B5EF4-FFF2-40B4-BE49-F238E27FC236}">
                <a16:creationId xmlns:a16="http://schemas.microsoft.com/office/drawing/2014/main" id="{B24C230F-DD21-E796-AF4A-C308C4D46A7B}"/>
              </a:ext>
            </a:extLst>
          </p:cNvPr>
          <p:cNvPicPr>
            <a:picLocks noChangeAspect="1"/>
          </p:cNvPicPr>
          <p:nvPr/>
        </p:nvPicPr>
        <p:blipFill>
          <a:blip r:embed="rId6"/>
          <a:stretch>
            <a:fillRect/>
          </a:stretch>
        </p:blipFill>
        <p:spPr>
          <a:xfrm>
            <a:off x="7327195" y="3751261"/>
            <a:ext cx="2428332" cy="1171004"/>
          </a:xfrm>
          <a:prstGeom prst="rect">
            <a:avLst/>
          </a:prstGeom>
        </p:spPr>
      </p:pic>
      <p:sp>
        <p:nvSpPr>
          <p:cNvPr id="30" name="文本框 29">
            <a:extLst>
              <a:ext uri="{FF2B5EF4-FFF2-40B4-BE49-F238E27FC236}">
                <a16:creationId xmlns:a16="http://schemas.microsoft.com/office/drawing/2014/main" id="{8EC69570-A4D5-6639-E898-7D62203760A7}"/>
              </a:ext>
            </a:extLst>
          </p:cNvPr>
          <p:cNvSpPr txBox="1"/>
          <p:nvPr/>
        </p:nvSpPr>
        <p:spPr>
          <a:xfrm>
            <a:off x="913874" y="3025587"/>
            <a:ext cx="5436178" cy="461665"/>
          </a:xfrm>
          <a:prstGeom prst="rect">
            <a:avLst/>
          </a:prstGeom>
          <a:noFill/>
        </p:spPr>
        <p:txBody>
          <a:bodyPr wrap="square">
            <a:spAutoFit/>
          </a:bodyPr>
          <a:lstStyle/>
          <a:p>
            <a:r>
              <a:rPr lang="zh-CN" altLang="en-US" sz="1200"/>
              <a:t>如果残差的</a:t>
            </a:r>
            <a:r>
              <a:rPr lang="zh-CN" altLang="en-US" sz="1200">
                <a:solidFill>
                  <a:srgbClr val="FF0000"/>
                </a:solidFill>
              </a:rPr>
              <a:t>散布范围</a:t>
            </a:r>
            <a:r>
              <a:rPr lang="zh-CN" altLang="en-US" sz="1200"/>
              <a:t>随着拟合值的增加而</a:t>
            </a:r>
            <a:r>
              <a:rPr lang="zh-CN" altLang="en-US" sz="1200">
                <a:solidFill>
                  <a:srgbClr val="FF0000"/>
                </a:solidFill>
              </a:rPr>
              <a:t>明显扩大或缩小</a:t>
            </a:r>
            <a:r>
              <a:rPr lang="zh-CN" altLang="en-US" sz="1200"/>
              <a:t>，那么可能</a:t>
            </a:r>
            <a:r>
              <a:rPr lang="zh-CN" altLang="en-US" sz="1200">
                <a:solidFill>
                  <a:srgbClr val="FF0000"/>
                </a:solidFill>
              </a:rPr>
              <a:t>存在异方差性</a:t>
            </a:r>
            <a:r>
              <a:rPr lang="zh-CN" altLang="en-US" sz="1200"/>
              <a:t>。特别是呈现出扇形或漏斗形状时。由图得，存在异方差。</a:t>
            </a:r>
          </a:p>
        </p:txBody>
      </p:sp>
      <p:pic>
        <p:nvPicPr>
          <p:cNvPr id="32" name="图片 31">
            <a:extLst>
              <a:ext uri="{FF2B5EF4-FFF2-40B4-BE49-F238E27FC236}">
                <a16:creationId xmlns:a16="http://schemas.microsoft.com/office/drawing/2014/main" id="{27E98DF7-65A5-9ADF-B30C-34713ED20C67}"/>
              </a:ext>
            </a:extLst>
          </p:cNvPr>
          <p:cNvPicPr>
            <a:picLocks noChangeAspect="1"/>
          </p:cNvPicPr>
          <p:nvPr/>
        </p:nvPicPr>
        <p:blipFill>
          <a:blip r:embed="rId7"/>
          <a:stretch>
            <a:fillRect/>
          </a:stretch>
        </p:blipFill>
        <p:spPr>
          <a:xfrm>
            <a:off x="9888172" y="3751261"/>
            <a:ext cx="1950538" cy="1121684"/>
          </a:xfrm>
          <a:prstGeom prst="rect">
            <a:avLst/>
          </a:prstGeom>
          <a:ln>
            <a:solidFill>
              <a:schemeClr val="tx1"/>
            </a:solidFill>
          </a:ln>
        </p:spPr>
      </p:pic>
      <p:sp>
        <p:nvSpPr>
          <p:cNvPr id="36" name="文本框 35">
            <a:extLst>
              <a:ext uri="{FF2B5EF4-FFF2-40B4-BE49-F238E27FC236}">
                <a16:creationId xmlns:a16="http://schemas.microsoft.com/office/drawing/2014/main" id="{A35B13CC-2376-EA8D-2B89-903A8CBC53A6}"/>
              </a:ext>
            </a:extLst>
          </p:cNvPr>
          <p:cNvSpPr txBox="1"/>
          <p:nvPr/>
        </p:nvSpPr>
        <p:spPr>
          <a:xfrm>
            <a:off x="7327195" y="5030060"/>
            <a:ext cx="4000499" cy="553998"/>
          </a:xfrm>
          <a:prstGeom prst="rect">
            <a:avLst/>
          </a:prstGeom>
          <a:noFill/>
          <a:ln>
            <a:solidFill>
              <a:schemeClr val="tx1"/>
            </a:solidFill>
          </a:ln>
        </p:spPr>
        <p:txBody>
          <a:bodyPr wrap="square">
            <a:spAutoFit/>
          </a:bodyPr>
          <a:lstStyle/>
          <a:p>
            <a:r>
              <a:rPr lang="en-US" altLang="zh-CN" sz="1000"/>
              <a:t>// </a:t>
            </a:r>
            <a:r>
              <a:rPr lang="zh-CN" altLang="en-US" sz="1000"/>
              <a:t>使用</a:t>
            </a:r>
            <a:r>
              <a:rPr lang="en-US" altLang="zh-CN" sz="1000">
                <a:solidFill>
                  <a:srgbClr val="FF0000"/>
                </a:solidFill>
              </a:rPr>
              <a:t>OLS + </a:t>
            </a:r>
            <a:r>
              <a:rPr lang="zh-CN" altLang="en-US" sz="1000">
                <a:solidFill>
                  <a:srgbClr val="FF0000"/>
                </a:solidFill>
              </a:rPr>
              <a:t>稳健的标准误</a:t>
            </a:r>
          </a:p>
          <a:p>
            <a:r>
              <a:rPr lang="en-US" altLang="zh-CN" sz="1000"/>
              <a:t>regress </a:t>
            </a:r>
            <a:r>
              <a:rPr lang="zh-CN" altLang="en-US" sz="1000"/>
              <a:t>评价量 团购价元 商品毛重</a:t>
            </a:r>
            <a:r>
              <a:rPr lang="en-US" altLang="zh-CN" sz="1000"/>
              <a:t>kg A1 A2 A3 B1 B2 B3 B4 B5 B6 B7 B8 B9 C1 C2 D1 D2 D3 D4 D5 E1 E2 E3 E4 F1 F2 G1 G2 G3 G4</a:t>
            </a:r>
            <a:r>
              <a:rPr lang="en-US" altLang="zh-CN" sz="1000">
                <a:solidFill>
                  <a:srgbClr val="FF0000"/>
                </a:solidFill>
                <a:highlight>
                  <a:srgbClr val="FFFF00"/>
                </a:highlight>
              </a:rPr>
              <a:t>, r</a:t>
            </a:r>
            <a:endParaRPr lang="zh-CN" altLang="en-US" sz="1000">
              <a:solidFill>
                <a:srgbClr val="FF0000"/>
              </a:solidFill>
              <a:highlight>
                <a:srgbClr val="FFFF00"/>
              </a:highlight>
            </a:endParaRPr>
          </a:p>
        </p:txBody>
      </p:sp>
    </p:spTree>
    <p:extLst>
      <p:ext uri="{BB962C8B-B14F-4D97-AF65-F5344CB8AC3E}">
        <p14:creationId xmlns:p14="http://schemas.microsoft.com/office/powerpoint/2010/main" val="341998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4CA5590-D264-D085-CB7F-47678C101B17}"/>
              </a:ext>
            </a:extLst>
          </p:cNvPr>
          <p:cNvSpPr txBox="1"/>
          <p:nvPr/>
        </p:nvSpPr>
        <p:spPr>
          <a:xfrm>
            <a:off x="139641" y="103581"/>
            <a:ext cx="9323013"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多元回归分析</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使用</a:t>
            </a:r>
            <a:r>
              <a:rPr lang="en-US" altLang="zh-CN" sz="4400">
                <a:solidFill>
                  <a:schemeClr val="accent5"/>
                </a:solidFill>
                <a:latin typeface="三极泼墨体" panose="00000500000000000000" pitchFamily="2" charset="-122"/>
                <a:ea typeface="三极泼墨体" panose="00000500000000000000" pitchFamily="2" charset="-122"/>
              </a:rPr>
              <a:t>Stata</a:t>
            </a:r>
            <a:r>
              <a:rPr lang="zh-CN" altLang="en-US" sz="4400">
                <a:solidFill>
                  <a:schemeClr val="accent5"/>
                </a:solidFill>
                <a:latin typeface="三极泼墨体" panose="00000500000000000000" pitchFamily="2" charset="-122"/>
                <a:ea typeface="三极泼墨体" panose="00000500000000000000" pitchFamily="2" charset="-122"/>
              </a:rPr>
              <a:t>分析（三）</a:t>
            </a:r>
          </a:p>
        </p:txBody>
      </p:sp>
      <p:sp>
        <p:nvSpPr>
          <p:cNvPr id="23" name="文本框 22">
            <a:extLst>
              <a:ext uri="{FF2B5EF4-FFF2-40B4-BE49-F238E27FC236}">
                <a16:creationId xmlns:a16="http://schemas.microsoft.com/office/drawing/2014/main" id="{1E0F6AA9-1A24-B198-7BC2-4A0FC140F185}"/>
              </a:ext>
            </a:extLst>
          </p:cNvPr>
          <p:cNvSpPr txBox="1"/>
          <p:nvPr/>
        </p:nvSpPr>
        <p:spPr>
          <a:xfrm>
            <a:off x="345957" y="1318507"/>
            <a:ext cx="4530436" cy="1015663"/>
          </a:xfrm>
          <a:prstGeom prst="rect">
            <a:avLst/>
          </a:prstGeom>
          <a:noFill/>
        </p:spPr>
        <p:txBody>
          <a:bodyPr wrap="square">
            <a:spAutoFit/>
          </a:bodyPr>
          <a:lstStyle/>
          <a:p>
            <a:r>
              <a:rPr lang="zh-CN" altLang="en-US" sz="1200">
                <a:solidFill>
                  <a:srgbClr val="FF0000"/>
                </a:solidFill>
              </a:rPr>
              <a:t>多重共线性（</a:t>
            </a:r>
            <a:r>
              <a:rPr lang="en-US" altLang="zh-CN" sz="1200">
                <a:solidFill>
                  <a:srgbClr val="FF0000"/>
                </a:solidFill>
              </a:rPr>
              <a:t>Multicollinearity</a:t>
            </a:r>
            <a:r>
              <a:rPr lang="zh-CN" altLang="en-US" sz="1200">
                <a:solidFill>
                  <a:srgbClr val="FF0000"/>
                </a:solidFill>
              </a:rPr>
              <a:t>）</a:t>
            </a:r>
            <a:r>
              <a:rPr lang="zh-CN" altLang="en-US" sz="1200"/>
              <a:t>：它发生在</a:t>
            </a:r>
            <a:r>
              <a:rPr lang="zh-CN" altLang="en-US" sz="1200">
                <a:solidFill>
                  <a:srgbClr val="FF0000"/>
                </a:solidFill>
              </a:rPr>
              <a:t>自变量（解释变量）之间</a:t>
            </a:r>
            <a:r>
              <a:rPr lang="zh-CN" altLang="en-US" sz="1200"/>
              <a:t>存在</a:t>
            </a:r>
            <a:r>
              <a:rPr lang="zh-CN" altLang="en-US" sz="1200">
                <a:solidFill>
                  <a:srgbClr val="FF0000"/>
                </a:solidFill>
              </a:rPr>
              <a:t>高度相关性</a:t>
            </a:r>
            <a:r>
              <a:rPr lang="zh-CN" altLang="en-US" sz="1200"/>
              <a:t>的情况下。这使得</a:t>
            </a:r>
            <a:r>
              <a:rPr lang="zh-CN" altLang="en-US" sz="1200">
                <a:solidFill>
                  <a:srgbClr val="FF0000"/>
                </a:solidFill>
              </a:rPr>
              <a:t>很难区分</a:t>
            </a:r>
            <a:r>
              <a:rPr lang="zh-CN" altLang="en-US" sz="1200"/>
              <a:t>各个自变量对</a:t>
            </a:r>
            <a:r>
              <a:rPr lang="zh-CN" altLang="en-US" sz="1200">
                <a:solidFill>
                  <a:srgbClr val="FF0000"/>
                </a:solidFill>
              </a:rPr>
              <a:t>因变量（响应变量）</a:t>
            </a:r>
            <a:r>
              <a:rPr lang="zh-CN" altLang="en-US" sz="1200"/>
              <a:t>的影响，因为自变量之间的变化难以独立地解释因变量的变化。这可能导致回归系数估计值不稳定，从而影响模型的解释力和预测能力。</a:t>
            </a:r>
          </a:p>
        </p:txBody>
      </p:sp>
      <p:sp>
        <p:nvSpPr>
          <p:cNvPr id="38" name="文本框 37">
            <a:extLst>
              <a:ext uri="{FF2B5EF4-FFF2-40B4-BE49-F238E27FC236}">
                <a16:creationId xmlns:a16="http://schemas.microsoft.com/office/drawing/2014/main" id="{E52E6B8F-E876-3A3B-38E6-3F9025CD6A3E}"/>
              </a:ext>
            </a:extLst>
          </p:cNvPr>
          <p:cNvSpPr txBox="1"/>
          <p:nvPr/>
        </p:nvSpPr>
        <p:spPr>
          <a:xfrm>
            <a:off x="416834" y="3079943"/>
            <a:ext cx="1752690" cy="400110"/>
          </a:xfrm>
          <a:prstGeom prst="rect">
            <a:avLst/>
          </a:prstGeom>
          <a:noFill/>
          <a:ln>
            <a:solidFill>
              <a:schemeClr val="tx1"/>
            </a:solidFill>
          </a:ln>
        </p:spPr>
        <p:txBody>
          <a:bodyPr wrap="square">
            <a:spAutoFit/>
          </a:bodyPr>
          <a:lstStyle/>
          <a:p>
            <a:r>
              <a:rPr lang="zh-CN" altLang="en-US" sz="1000"/>
              <a:t>// 计算</a:t>
            </a:r>
            <a:r>
              <a:rPr lang="zh-CN" altLang="en-US" sz="1000">
                <a:solidFill>
                  <a:srgbClr val="FF0000"/>
                </a:solidFill>
              </a:rPr>
              <a:t>VIF</a:t>
            </a:r>
            <a:r>
              <a:rPr lang="zh-CN" altLang="en-US" sz="1000"/>
              <a:t>检验</a:t>
            </a:r>
            <a:r>
              <a:rPr lang="zh-CN" altLang="en-US" sz="1000">
                <a:solidFill>
                  <a:srgbClr val="FF0000"/>
                </a:solidFill>
              </a:rPr>
              <a:t>多重共线性</a:t>
            </a:r>
          </a:p>
          <a:p>
            <a:r>
              <a:rPr lang="zh-CN" altLang="en-US" sz="1000"/>
              <a:t>estat  vif</a:t>
            </a:r>
          </a:p>
        </p:txBody>
      </p:sp>
      <p:pic>
        <p:nvPicPr>
          <p:cNvPr id="40" name="图片 39">
            <a:extLst>
              <a:ext uri="{FF2B5EF4-FFF2-40B4-BE49-F238E27FC236}">
                <a16:creationId xmlns:a16="http://schemas.microsoft.com/office/drawing/2014/main" id="{6E9A0185-8F31-B8FD-B79C-3F3F8556CFE8}"/>
              </a:ext>
            </a:extLst>
          </p:cNvPr>
          <p:cNvPicPr>
            <a:picLocks noChangeAspect="1"/>
          </p:cNvPicPr>
          <p:nvPr/>
        </p:nvPicPr>
        <p:blipFill>
          <a:blip r:embed="rId2"/>
          <a:stretch>
            <a:fillRect/>
          </a:stretch>
        </p:blipFill>
        <p:spPr>
          <a:xfrm>
            <a:off x="2318825" y="3156166"/>
            <a:ext cx="1752690" cy="247663"/>
          </a:xfrm>
          <a:prstGeom prst="rect">
            <a:avLst/>
          </a:prstGeom>
          <a:ln>
            <a:solidFill>
              <a:schemeClr val="tx1"/>
            </a:solidFill>
          </a:ln>
        </p:spPr>
      </p:pic>
      <p:sp>
        <p:nvSpPr>
          <p:cNvPr id="44" name="文本框 43">
            <a:extLst>
              <a:ext uri="{FF2B5EF4-FFF2-40B4-BE49-F238E27FC236}">
                <a16:creationId xmlns:a16="http://schemas.microsoft.com/office/drawing/2014/main" id="{42CACBCD-69A2-6B60-8A8A-11C38185A11B}"/>
              </a:ext>
            </a:extLst>
          </p:cNvPr>
          <p:cNvSpPr txBox="1"/>
          <p:nvPr/>
        </p:nvSpPr>
        <p:spPr>
          <a:xfrm>
            <a:off x="345957" y="2764266"/>
            <a:ext cx="4412672" cy="276999"/>
          </a:xfrm>
          <a:prstGeom prst="rect">
            <a:avLst/>
          </a:prstGeom>
          <a:noFill/>
        </p:spPr>
        <p:txBody>
          <a:bodyPr wrap="square">
            <a:spAutoFit/>
          </a:bodyPr>
          <a:lstStyle/>
          <a:p>
            <a:r>
              <a:rPr lang="en-US" altLang="zh-CN" sz="1200"/>
              <a:t>VIF</a:t>
            </a:r>
            <a:r>
              <a:rPr lang="zh-CN" altLang="en-US" sz="1200"/>
              <a:t>的值表示每个自变量的共线性程度。</a:t>
            </a:r>
            <a:r>
              <a:rPr lang="en-US" altLang="zh-CN" sz="1200"/>
              <a:t>VIF</a:t>
            </a:r>
            <a:r>
              <a:rPr lang="zh-CN" altLang="en-US" sz="1200"/>
              <a:t>越大，共线性越严重</a:t>
            </a:r>
          </a:p>
        </p:txBody>
      </p:sp>
      <p:sp>
        <p:nvSpPr>
          <p:cNvPr id="6" name="文本框 5">
            <a:extLst>
              <a:ext uri="{FF2B5EF4-FFF2-40B4-BE49-F238E27FC236}">
                <a16:creationId xmlns:a16="http://schemas.microsoft.com/office/drawing/2014/main" id="{F96016C8-77DA-C68D-568E-DC10E5C43DD0}"/>
              </a:ext>
            </a:extLst>
          </p:cNvPr>
          <p:cNvSpPr txBox="1"/>
          <p:nvPr/>
        </p:nvSpPr>
        <p:spPr>
          <a:xfrm>
            <a:off x="345957" y="3590927"/>
            <a:ext cx="4939145" cy="1384995"/>
          </a:xfrm>
          <a:prstGeom prst="rect">
            <a:avLst/>
          </a:prstGeom>
          <a:noFill/>
        </p:spPr>
        <p:txBody>
          <a:bodyPr wrap="square">
            <a:spAutoFit/>
          </a:bodyPr>
          <a:lstStyle/>
          <a:p>
            <a:r>
              <a:rPr lang="zh-CN" altLang="en-US" sz="1200"/>
              <a:t>多重共线性</a:t>
            </a:r>
            <a:r>
              <a:rPr lang="zh-CN" altLang="en-US" sz="1200">
                <a:solidFill>
                  <a:srgbClr val="FF0000"/>
                </a:solidFill>
              </a:rPr>
              <a:t>处理方法 </a:t>
            </a:r>
            <a:endParaRPr lang="en-US" altLang="zh-CN" sz="1200">
              <a:solidFill>
                <a:srgbClr val="FF0000"/>
              </a:solidFill>
            </a:endParaRPr>
          </a:p>
          <a:p>
            <a:r>
              <a:rPr lang="en-US" altLang="zh-CN" sz="1200"/>
              <a:t>(1)</a:t>
            </a:r>
            <a:r>
              <a:rPr lang="zh-CN" altLang="en-US" sz="1200"/>
              <a:t> 多重共线性的主要后果是使得对单个变量的贡献估计不准，但对</a:t>
            </a:r>
            <a:r>
              <a:rPr lang="zh-CN" altLang="en-US" sz="1200">
                <a:solidFill>
                  <a:srgbClr val="FF0000"/>
                </a:solidFill>
              </a:rPr>
              <a:t>整体</a:t>
            </a:r>
            <a:r>
              <a:rPr lang="zh-CN" altLang="en-US" sz="1200"/>
              <a:t>仍可较准确地估计。假设整个方程是显著的，则可忽略多重共线性</a:t>
            </a:r>
          </a:p>
          <a:p>
            <a:r>
              <a:rPr lang="en-US" altLang="zh-CN" sz="1200"/>
              <a:t>(2)</a:t>
            </a:r>
            <a:r>
              <a:rPr lang="zh-CN" altLang="en-US" sz="1200"/>
              <a:t>若不影响</a:t>
            </a:r>
            <a:r>
              <a:rPr lang="zh-CN" altLang="en-US" sz="1200">
                <a:solidFill>
                  <a:srgbClr val="FF0000"/>
                </a:solidFill>
              </a:rPr>
              <a:t>所关心变量</a:t>
            </a:r>
            <a:r>
              <a:rPr lang="zh-CN" altLang="en-US" sz="1200"/>
              <a:t>的显著性，亦可忽略</a:t>
            </a:r>
            <a:endParaRPr lang="en-US" altLang="zh-CN" sz="1200"/>
          </a:p>
          <a:p>
            <a:r>
              <a:rPr lang="en-US" altLang="zh-CN" sz="1200"/>
              <a:t>(3) </a:t>
            </a:r>
            <a:r>
              <a:rPr lang="zh-CN" altLang="en-US" sz="1200"/>
              <a:t>若影响重要变量，则需增大样本容量，剔除导致严重共线性的变量（</a:t>
            </a:r>
            <a:r>
              <a:rPr lang="en-US" altLang="zh-CN" sz="1200"/>
              <a:t>VIF&gt;10</a:t>
            </a:r>
            <a:r>
              <a:rPr lang="zh-CN" altLang="en-US" sz="1200"/>
              <a:t>）（不要轻易删除哦，因为可能会有内生性的影响），或修改模型设定。</a:t>
            </a:r>
          </a:p>
        </p:txBody>
      </p:sp>
      <p:sp>
        <p:nvSpPr>
          <p:cNvPr id="7" name="文本框 6">
            <a:extLst>
              <a:ext uri="{FF2B5EF4-FFF2-40B4-BE49-F238E27FC236}">
                <a16:creationId xmlns:a16="http://schemas.microsoft.com/office/drawing/2014/main" id="{3B319138-9294-B3B2-37DD-8A0193A886D6}"/>
              </a:ext>
            </a:extLst>
          </p:cNvPr>
          <p:cNvSpPr txBox="1"/>
          <p:nvPr/>
        </p:nvSpPr>
        <p:spPr>
          <a:xfrm>
            <a:off x="5285102" y="810676"/>
            <a:ext cx="2473443" cy="584775"/>
          </a:xfrm>
          <a:prstGeom prst="rect">
            <a:avLst/>
          </a:prstGeom>
          <a:noFill/>
        </p:spPr>
        <p:txBody>
          <a:bodyPr wrap="square" rtlCol="0">
            <a:spAutoFit/>
          </a:bodyPr>
          <a:lstStyle/>
          <a:p>
            <a:r>
              <a:rPr lang="zh-CN" altLang="en-US" sz="3200">
                <a:latin typeface="优设标题黑" panose="00000500000000000000" pitchFamily="2" charset="-122"/>
                <a:ea typeface="优设标题黑" panose="00000500000000000000" pitchFamily="2" charset="-122"/>
              </a:rPr>
              <a:t>逐步回归分析</a:t>
            </a:r>
          </a:p>
        </p:txBody>
      </p:sp>
      <p:sp>
        <p:nvSpPr>
          <p:cNvPr id="11" name="文本框 10">
            <a:extLst>
              <a:ext uri="{FF2B5EF4-FFF2-40B4-BE49-F238E27FC236}">
                <a16:creationId xmlns:a16="http://schemas.microsoft.com/office/drawing/2014/main" id="{9EC8AA81-2B00-C4FD-7378-4975202CE168}"/>
              </a:ext>
            </a:extLst>
          </p:cNvPr>
          <p:cNvSpPr txBox="1"/>
          <p:nvPr/>
        </p:nvSpPr>
        <p:spPr>
          <a:xfrm>
            <a:off x="5285102" y="1318507"/>
            <a:ext cx="5825837" cy="1200329"/>
          </a:xfrm>
          <a:prstGeom prst="rect">
            <a:avLst/>
          </a:prstGeom>
          <a:noFill/>
        </p:spPr>
        <p:txBody>
          <a:bodyPr wrap="square">
            <a:spAutoFit/>
          </a:bodyPr>
          <a:lstStyle/>
          <a:p>
            <a:r>
              <a:rPr lang="zh-CN" altLang="en-US" sz="1200">
                <a:solidFill>
                  <a:srgbClr val="FF0000"/>
                </a:solidFill>
              </a:rPr>
              <a:t>向前逐步回归</a:t>
            </a:r>
            <a:r>
              <a:rPr lang="en-US" altLang="zh-CN" sz="1200">
                <a:solidFill>
                  <a:srgbClr val="FF0000"/>
                </a:solidFill>
              </a:rPr>
              <a:t>Forward selection</a:t>
            </a:r>
            <a:r>
              <a:rPr lang="zh-CN" altLang="en-US" sz="1200"/>
              <a:t>：将自变量逐个引入模型，每引入一个自变量后都要进行检验，显著时才加入回归模型。</a:t>
            </a:r>
          </a:p>
          <a:p>
            <a:r>
              <a:rPr lang="en-US" altLang="zh-CN" sz="1200"/>
              <a:t>(</a:t>
            </a:r>
            <a:r>
              <a:rPr lang="zh-CN" altLang="en-US" sz="1200"/>
              <a:t>缺点：随着后来自变量的引入，不能及时将变为不显著的自变量从回归方程中剔除掉。</a:t>
            </a:r>
            <a:r>
              <a:rPr lang="en-US" altLang="zh-CN" sz="1200"/>
              <a:t>)</a:t>
            </a:r>
          </a:p>
          <a:p>
            <a:r>
              <a:rPr lang="zh-CN" altLang="en-US" sz="1200">
                <a:solidFill>
                  <a:srgbClr val="FF0000"/>
                </a:solidFill>
              </a:rPr>
              <a:t>向后逐步回归</a:t>
            </a:r>
            <a:r>
              <a:rPr lang="en-US" altLang="zh-CN" sz="1200">
                <a:solidFill>
                  <a:srgbClr val="FF0000"/>
                </a:solidFill>
              </a:rPr>
              <a:t>Backward elimination</a:t>
            </a:r>
            <a:r>
              <a:rPr lang="zh-CN" altLang="en-US" sz="1200"/>
              <a:t>：先将所有变量均放入模型，之后逐步剔除最没有解释力的自变量；直到没有自变量符合剔除的条件。</a:t>
            </a:r>
            <a:r>
              <a:rPr lang="zh-CN" altLang="en-US" sz="1200">
                <a:solidFill>
                  <a:srgbClr val="FF0000"/>
                </a:solidFill>
              </a:rPr>
              <a:t>（推荐）</a:t>
            </a:r>
          </a:p>
        </p:txBody>
      </p:sp>
      <p:sp>
        <p:nvSpPr>
          <p:cNvPr id="15" name="文本框 14">
            <a:extLst>
              <a:ext uri="{FF2B5EF4-FFF2-40B4-BE49-F238E27FC236}">
                <a16:creationId xmlns:a16="http://schemas.microsoft.com/office/drawing/2014/main" id="{3A633291-F865-F02A-EB6E-F5E3B7281ADE}"/>
              </a:ext>
            </a:extLst>
          </p:cNvPr>
          <p:cNvSpPr txBox="1"/>
          <p:nvPr/>
        </p:nvSpPr>
        <p:spPr>
          <a:xfrm>
            <a:off x="5368636" y="2769505"/>
            <a:ext cx="6151418" cy="1569660"/>
          </a:xfrm>
          <a:prstGeom prst="rect">
            <a:avLst/>
          </a:prstGeom>
          <a:noFill/>
          <a:ln>
            <a:solidFill>
              <a:schemeClr val="tx1"/>
            </a:solidFill>
          </a:ln>
        </p:spPr>
        <p:txBody>
          <a:bodyPr wrap="square">
            <a:spAutoFit/>
          </a:bodyPr>
          <a:lstStyle/>
          <a:p>
            <a:r>
              <a:rPr lang="en-US" altLang="zh-CN" sz="1200"/>
              <a:t>// </a:t>
            </a:r>
            <a:r>
              <a:rPr lang="zh-CN" altLang="en-US" sz="1200"/>
              <a:t>逐步回归（一定要注意</a:t>
            </a:r>
            <a:r>
              <a:rPr lang="zh-CN" altLang="en-US" sz="1200">
                <a:solidFill>
                  <a:srgbClr val="FF0000"/>
                </a:solidFill>
              </a:rPr>
              <a:t>完全多重共线性</a:t>
            </a:r>
            <a:r>
              <a:rPr lang="zh-CN" altLang="en-US" sz="1200"/>
              <a:t>的影响）</a:t>
            </a:r>
          </a:p>
          <a:p>
            <a:r>
              <a:rPr lang="en-US" altLang="zh-CN" sz="1200"/>
              <a:t>// </a:t>
            </a:r>
            <a:r>
              <a:rPr lang="zh-CN" altLang="en-US" sz="1200"/>
              <a:t>向前逐步回归（后面的</a:t>
            </a:r>
            <a:r>
              <a:rPr lang="en-US" altLang="zh-CN" sz="1200">
                <a:solidFill>
                  <a:srgbClr val="FF0000"/>
                </a:solidFill>
              </a:rPr>
              <a:t>r</a:t>
            </a:r>
            <a:r>
              <a:rPr lang="zh-CN" altLang="en-US" sz="1200">
                <a:solidFill>
                  <a:srgbClr val="FF0000"/>
                </a:solidFill>
              </a:rPr>
              <a:t>表示稳健的标准误</a:t>
            </a:r>
            <a:r>
              <a:rPr lang="zh-CN" altLang="en-US" sz="1200"/>
              <a:t>）</a:t>
            </a:r>
            <a:r>
              <a:rPr lang="en-US" altLang="zh-CN" sz="1200">
                <a:solidFill>
                  <a:srgbClr val="FF0000"/>
                </a:solidFill>
              </a:rPr>
              <a:t>0.05</a:t>
            </a:r>
            <a:r>
              <a:rPr lang="zh-CN" altLang="en-US" sz="1200">
                <a:solidFill>
                  <a:srgbClr val="FF0000"/>
                </a:solidFill>
              </a:rPr>
              <a:t>是</a:t>
            </a:r>
            <a:r>
              <a:rPr lang="en-US" altLang="zh-CN" sz="1200">
                <a:solidFill>
                  <a:srgbClr val="FF0000"/>
                </a:solidFill>
              </a:rPr>
              <a:t>p</a:t>
            </a:r>
            <a:r>
              <a:rPr lang="zh-CN" altLang="en-US" sz="1200">
                <a:solidFill>
                  <a:srgbClr val="FF0000"/>
                </a:solidFill>
              </a:rPr>
              <a:t>值</a:t>
            </a:r>
          </a:p>
          <a:p>
            <a:r>
              <a:rPr lang="en-US" altLang="zh-CN" sz="1200"/>
              <a:t>stepwise reg </a:t>
            </a:r>
            <a:r>
              <a:rPr lang="zh-CN" altLang="en-US" sz="1200"/>
              <a:t>评价量 团购价元 商品毛重</a:t>
            </a:r>
            <a:r>
              <a:rPr lang="en-US" altLang="zh-CN" sz="1200"/>
              <a:t>kg A1 A3 B1 B2 B3 B4 B5 B6 B7 B9 C1 D1 D2 D3 D4 E1 E2 E3 F1 G1 G2 G3</a:t>
            </a:r>
            <a:r>
              <a:rPr lang="en-US" altLang="zh-CN" sz="1200">
                <a:solidFill>
                  <a:srgbClr val="FF0000"/>
                </a:solidFill>
              </a:rPr>
              <a:t>,  r pe(0.05)</a:t>
            </a:r>
          </a:p>
          <a:p>
            <a:endParaRPr lang="en-US" altLang="zh-CN" sz="1200">
              <a:solidFill>
                <a:srgbClr val="FF0000"/>
              </a:solidFill>
            </a:endParaRPr>
          </a:p>
          <a:p>
            <a:r>
              <a:rPr lang="en-US" altLang="zh-CN" sz="1200"/>
              <a:t>//</a:t>
            </a:r>
            <a:r>
              <a:rPr lang="zh-CN" altLang="en-US" sz="1200"/>
              <a:t>向后逐步回归的同时使用</a:t>
            </a:r>
            <a:r>
              <a:rPr lang="zh-CN" altLang="en-US" sz="1200">
                <a:solidFill>
                  <a:srgbClr val="FF0000"/>
                </a:solidFill>
              </a:rPr>
              <a:t>标准化回归系数</a:t>
            </a:r>
            <a:r>
              <a:rPr lang="zh-CN" altLang="en-US" sz="1200"/>
              <a:t>（在</a:t>
            </a:r>
            <a:r>
              <a:rPr lang="en-US" altLang="zh-CN" sz="1200"/>
              <a:t>r</a:t>
            </a:r>
            <a:r>
              <a:rPr lang="zh-CN" altLang="en-US" sz="1200"/>
              <a:t>后面跟上一个</a:t>
            </a:r>
            <a:r>
              <a:rPr lang="en-US" altLang="zh-CN" sz="1200"/>
              <a:t>b</a:t>
            </a:r>
            <a:r>
              <a:rPr lang="zh-CN" altLang="en-US" sz="1200"/>
              <a:t>即可）</a:t>
            </a:r>
          </a:p>
          <a:p>
            <a:r>
              <a:rPr lang="en-US" altLang="zh-CN" sz="1200"/>
              <a:t>stepwise reg </a:t>
            </a:r>
            <a:r>
              <a:rPr lang="zh-CN" altLang="en-US" sz="1200"/>
              <a:t>评价量 团购价元 商品毛重</a:t>
            </a:r>
            <a:r>
              <a:rPr lang="en-US" altLang="zh-CN" sz="1200"/>
              <a:t>kg A1 A3 B1 B2 B3 B4 B5 B6 B7 B9 C1 D1 D2 D3 D4 E1 E2 E3 F1 G1 G2 G3</a:t>
            </a:r>
            <a:r>
              <a:rPr lang="en-US" altLang="zh-CN" sz="1200">
                <a:solidFill>
                  <a:srgbClr val="FF0000"/>
                </a:solidFill>
              </a:rPr>
              <a:t>,  r b pr(0.05)</a:t>
            </a:r>
            <a:endParaRPr lang="zh-CN" altLang="en-US" sz="1200">
              <a:solidFill>
                <a:srgbClr val="FF0000"/>
              </a:solidFill>
            </a:endParaRPr>
          </a:p>
        </p:txBody>
      </p:sp>
      <p:pic>
        <p:nvPicPr>
          <p:cNvPr id="17" name="图片 16">
            <a:extLst>
              <a:ext uri="{FF2B5EF4-FFF2-40B4-BE49-F238E27FC236}">
                <a16:creationId xmlns:a16="http://schemas.microsoft.com/office/drawing/2014/main" id="{18C0CA58-6091-55C2-938D-AEE14195C385}"/>
              </a:ext>
            </a:extLst>
          </p:cNvPr>
          <p:cNvPicPr>
            <a:picLocks noChangeAspect="1"/>
          </p:cNvPicPr>
          <p:nvPr/>
        </p:nvPicPr>
        <p:blipFill>
          <a:blip r:embed="rId3"/>
          <a:stretch>
            <a:fillRect/>
          </a:stretch>
        </p:blipFill>
        <p:spPr>
          <a:xfrm>
            <a:off x="5368636" y="4523829"/>
            <a:ext cx="2260716" cy="749339"/>
          </a:xfrm>
          <a:prstGeom prst="rect">
            <a:avLst/>
          </a:prstGeom>
        </p:spPr>
      </p:pic>
      <p:sp>
        <p:nvSpPr>
          <p:cNvPr id="21" name="文本框 20">
            <a:extLst>
              <a:ext uri="{FF2B5EF4-FFF2-40B4-BE49-F238E27FC236}">
                <a16:creationId xmlns:a16="http://schemas.microsoft.com/office/drawing/2014/main" id="{1040F990-0F30-02FC-A83F-3CFC46E91EDA}"/>
              </a:ext>
            </a:extLst>
          </p:cNvPr>
          <p:cNvSpPr txBox="1"/>
          <p:nvPr/>
        </p:nvSpPr>
        <p:spPr>
          <a:xfrm>
            <a:off x="5368636" y="5339438"/>
            <a:ext cx="3749507" cy="400110"/>
          </a:xfrm>
          <a:prstGeom prst="rect">
            <a:avLst/>
          </a:prstGeom>
          <a:noFill/>
        </p:spPr>
        <p:txBody>
          <a:bodyPr wrap="square">
            <a:spAutoFit/>
          </a:bodyPr>
          <a:lstStyle/>
          <a:p>
            <a:r>
              <a:rPr lang="zh-CN" altLang="en-US" sz="1200"/>
              <a:t>之前回归时，已知完全多重共线性的变量，将其去除</a:t>
            </a:r>
          </a:p>
          <a:p>
            <a:r>
              <a:rPr lang="zh-CN" altLang="en-US" sz="800"/>
              <a:t>（实际上在每个分类变量中任意去除一个元素即可）</a:t>
            </a:r>
          </a:p>
        </p:txBody>
      </p:sp>
      <p:sp>
        <p:nvSpPr>
          <p:cNvPr id="8" name="文本框 7">
            <a:extLst>
              <a:ext uri="{FF2B5EF4-FFF2-40B4-BE49-F238E27FC236}">
                <a16:creationId xmlns:a16="http://schemas.microsoft.com/office/drawing/2014/main" id="{AEFA9110-C056-7F8A-43DB-7A4A043A7F84}"/>
              </a:ext>
            </a:extLst>
          </p:cNvPr>
          <p:cNvSpPr txBox="1"/>
          <p:nvPr/>
        </p:nvSpPr>
        <p:spPr>
          <a:xfrm>
            <a:off x="1718308" y="5765609"/>
            <a:ext cx="8340092" cy="1015663"/>
          </a:xfrm>
          <a:prstGeom prst="rect">
            <a:avLst/>
          </a:prstGeom>
          <a:noFill/>
          <a:ln>
            <a:solidFill>
              <a:schemeClr val="tx1"/>
            </a:solidFill>
          </a:ln>
        </p:spPr>
        <p:txBody>
          <a:bodyPr wrap="square">
            <a:spAutoFit/>
          </a:bodyPr>
          <a:lstStyle/>
          <a:p>
            <a:r>
              <a:rPr lang="zh-CN" altLang="en-US" sz="1000"/>
              <a:t>与普通多元线性回归分析的比较：</a:t>
            </a:r>
          </a:p>
          <a:p>
            <a:r>
              <a:rPr lang="zh-CN" altLang="en-US" sz="1000">
                <a:highlight>
                  <a:srgbClr val="FFFF00"/>
                </a:highlight>
              </a:rPr>
              <a:t>变量选择</a:t>
            </a:r>
            <a:r>
              <a:rPr lang="zh-CN" altLang="en-US" sz="1000"/>
              <a:t>：普通多元线性回归通常包括</a:t>
            </a:r>
            <a:r>
              <a:rPr lang="zh-CN" altLang="en-US" sz="1000">
                <a:solidFill>
                  <a:srgbClr val="FF0000"/>
                </a:solidFill>
              </a:rPr>
              <a:t>所有</a:t>
            </a:r>
            <a:r>
              <a:rPr lang="zh-CN" altLang="en-US" sz="1000"/>
              <a:t>潜在的自变量，而逐步回归则是通过统计标准（如</a:t>
            </a:r>
            <a:r>
              <a:rPr lang="en-US" altLang="zh-CN" sz="1000"/>
              <a:t>t</a:t>
            </a:r>
            <a:r>
              <a:rPr lang="zh-CN" altLang="en-US" sz="1000"/>
              <a:t>值、</a:t>
            </a:r>
            <a:r>
              <a:rPr lang="en-US" altLang="zh-CN" sz="1000"/>
              <a:t>F</a:t>
            </a:r>
            <a:r>
              <a:rPr lang="zh-CN" altLang="en-US" sz="1000"/>
              <a:t>值、</a:t>
            </a:r>
            <a:r>
              <a:rPr lang="en-US" altLang="zh-CN" sz="1000"/>
              <a:t>AIC</a:t>
            </a:r>
            <a:r>
              <a:rPr lang="zh-CN" altLang="en-US" sz="1000"/>
              <a:t>、</a:t>
            </a:r>
            <a:r>
              <a:rPr lang="en-US" altLang="zh-CN" sz="1000"/>
              <a:t>BIC</a:t>
            </a:r>
            <a:r>
              <a:rPr lang="zh-CN" altLang="en-US" sz="1000"/>
              <a:t>等）</a:t>
            </a:r>
            <a:r>
              <a:rPr lang="zh-CN" altLang="en-US" sz="1000">
                <a:solidFill>
                  <a:srgbClr val="FF0000"/>
                </a:solidFill>
              </a:rPr>
              <a:t>动态地选择</a:t>
            </a:r>
            <a:r>
              <a:rPr lang="zh-CN" altLang="en-US" sz="1000"/>
              <a:t>最相关的变量。</a:t>
            </a:r>
          </a:p>
          <a:p>
            <a:r>
              <a:rPr lang="zh-CN" altLang="en-US" sz="1000">
                <a:highlight>
                  <a:srgbClr val="FFFF00"/>
                </a:highlight>
              </a:rPr>
              <a:t>模型复杂性</a:t>
            </a:r>
            <a:r>
              <a:rPr lang="zh-CN" altLang="en-US" sz="1000"/>
              <a:t>：逐步回归倾向于构建</a:t>
            </a:r>
            <a:r>
              <a:rPr lang="zh-CN" altLang="en-US" sz="1000">
                <a:solidFill>
                  <a:srgbClr val="FF0000"/>
                </a:solidFill>
              </a:rPr>
              <a:t>更简单</a:t>
            </a:r>
            <a:r>
              <a:rPr lang="zh-CN" altLang="en-US" sz="1000"/>
              <a:t>的模型，而多元线性回归可能包含更多变量，导致模型</a:t>
            </a:r>
            <a:r>
              <a:rPr lang="zh-CN" altLang="en-US" sz="1000">
                <a:solidFill>
                  <a:srgbClr val="FF0000"/>
                </a:solidFill>
              </a:rPr>
              <a:t>更复杂</a:t>
            </a:r>
            <a:r>
              <a:rPr lang="zh-CN" altLang="en-US" sz="1000"/>
              <a:t>。</a:t>
            </a:r>
          </a:p>
          <a:p>
            <a:r>
              <a:rPr lang="zh-CN" altLang="en-US" sz="1000">
                <a:highlight>
                  <a:srgbClr val="FFFF00"/>
                </a:highlight>
              </a:rPr>
              <a:t>解释性</a:t>
            </a:r>
            <a:r>
              <a:rPr lang="zh-CN" altLang="en-US" sz="1000"/>
              <a:t>：逐步回归生成的模型</a:t>
            </a:r>
            <a:r>
              <a:rPr lang="zh-CN" altLang="en-US" sz="1000">
                <a:solidFill>
                  <a:srgbClr val="FF0000"/>
                </a:solidFill>
              </a:rPr>
              <a:t>更易于解释</a:t>
            </a:r>
            <a:r>
              <a:rPr lang="zh-CN" altLang="en-US" sz="1000"/>
              <a:t>，因为只包含了</a:t>
            </a:r>
            <a:r>
              <a:rPr lang="zh-CN" altLang="en-US" sz="1000">
                <a:solidFill>
                  <a:srgbClr val="FF0000"/>
                </a:solidFill>
              </a:rPr>
              <a:t>最重要</a:t>
            </a:r>
            <a:r>
              <a:rPr lang="zh-CN" altLang="en-US" sz="1000"/>
              <a:t>的变量。</a:t>
            </a:r>
          </a:p>
          <a:p>
            <a:r>
              <a:rPr lang="zh-CN" altLang="en-US" sz="1000">
                <a:highlight>
                  <a:srgbClr val="FFFF00"/>
                </a:highlight>
              </a:rPr>
              <a:t>多重共线性问题</a:t>
            </a:r>
            <a:r>
              <a:rPr lang="zh-CN" altLang="en-US" sz="1000"/>
              <a:t>：逐步回归能更好地处理多重共线性问题，因为它会</a:t>
            </a:r>
            <a:r>
              <a:rPr lang="zh-CN" altLang="en-US" sz="1000">
                <a:solidFill>
                  <a:srgbClr val="FF0000"/>
                </a:solidFill>
              </a:rPr>
              <a:t>排除那些高度相关的变量</a:t>
            </a:r>
            <a:endParaRPr lang="en-US" altLang="zh-CN" sz="1000">
              <a:solidFill>
                <a:srgbClr val="FF0000"/>
              </a:solidFill>
            </a:endParaRPr>
          </a:p>
          <a:p>
            <a:r>
              <a:rPr lang="zh-CN" altLang="en-US" sz="1000" b="0" i="0">
                <a:solidFill>
                  <a:srgbClr val="2C2C36"/>
                </a:solidFill>
                <a:effectLst/>
                <a:highlight>
                  <a:srgbClr val="FFFFFF"/>
                </a:highlight>
                <a:latin typeface="-apple-system"/>
              </a:rPr>
              <a:t>但逐步回归分析可能错过最佳的变量组合、过度拟合数据等</a:t>
            </a:r>
            <a:endParaRPr lang="zh-CN" altLang="en-US" sz="1000">
              <a:solidFill>
                <a:srgbClr val="FF0000"/>
              </a:solidFill>
            </a:endParaRPr>
          </a:p>
        </p:txBody>
      </p:sp>
    </p:spTree>
    <p:extLst>
      <p:ext uri="{BB962C8B-B14F-4D97-AF65-F5344CB8AC3E}">
        <p14:creationId xmlns:p14="http://schemas.microsoft.com/office/powerpoint/2010/main" val="2685540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780E8A-3D46-D488-2558-B26556743B26}"/>
              </a:ext>
            </a:extLst>
          </p:cNvPr>
          <p:cNvSpPr txBox="1"/>
          <p:nvPr/>
        </p:nvSpPr>
        <p:spPr>
          <a:xfrm>
            <a:off x="139642" y="103581"/>
            <a:ext cx="4716375"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图论最短路径问题</a:t>
            </a:r>
          </a:p>
        </p:txBody>
      </p:sp>
      <p:pic>
        <p:nvPicPr>
          <p:cNvPr id="4" name="图片 3">
            <a:extLst>
              <a:ext uri="{FF2B5EF4-FFF2-40B4-BE49-F238E27FC236}">
                <a16:creationId xmlns:a16="http://schemas.microsoft.com/office/drawing/2014/main" id="{91470CDF-3323-C357-7B22-5C7879476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578" y="2715123"/>
            <a:ext cx="2080587" cy="2080587"/>
          </a:xfrm>
          <a:prstGeom prst="rect">
            <a:avLst/>
          </a:prstGeom>
        </p:spPr>
      </p:pic>
      <p:pic>
        <p:nvPicPr>
          <p:cNvPr id="6" name="图片 5">
            <a:extLst>
              <a:ext uri="{FF2B5EF4-FFF2-40B4-BE49-F238E27FC236}">
                <a16:creationId xmlns:a16="http://schemas.microsoft.com/office/drawing/2014/main" id="{A77E7D95-B7F2-6681-69B7-122392398A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181" y="757909"/>
            <a:ext cx="2080587" cy="2080587"/>
          </a:xfrm>
          <a:prstGeom prst="rect">
            <a:avLst/>
          </a:prstGeom>
        </p:spPr>
      </p:pic>
      <p:pic>
        <p:nvPicPr>
          <p:cNvPr id="8" name="图片 7">
            <a:extLst>
              <a:ext uri="{FF2B5EF4-FFF2-40B4-BE49-F238E27FC236}">
                <a16:creationId xmlns:a16="http://schemas.microsoft.com/office/drawing/2014/main" id="{D11ADA3D-E900-3498-4416-CEA440E7D6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713" y="757910"/>
            <a:ext cx="2080587" cy="2080587"/>
          </a:xfrm>
          <a:prstGeom prst="rect">
            <a:avLst/>
          </a:prstGeom>
        </p:spPr>
      </p:pic>
      <p:sp>
        <p:nvSpPr>
          <p:cNvPr id="9" name="文本框 8">
            <a:extLst>
              <a:ext uri="{FF2B5EF4-FFF2-40B4-BE49-F238E27FC236}">
                <a16:creationId xmlns:a16="http://schemas.microsoft.com/office/drawing/2014/main" id="{B6DA4DDE-3D69-DD56-82F3-56C25CBB1AFB}"/>
              </a:ext>
            </a:extLst>
          </p:cNvPr>
          <p:cNvSpPr txBox="1"/>
          <p:nvPr/>
        </p:nvSpPr>
        <p:spPr>
          <a:xfrm>
            <a:off x="967251" y="2340491"/>
            <a:ext cx="713509" cy="276999"/>
          </a:xfrm>
          <a:prstGeom prst="rect">
            <a:avLst/>
          </a:prstGeom>
          <a:noFill/>
        </p:spPr>
        <p:txBody>
          <a:bodyPr wrap="square" rtlCol="0">
            <a:spAutoFit/>
          </a:bodyPr>
          <a:lstStyle/>
          <a:p>
            <a:r>
              <a:rPr lang="zh-CN" altLang="en-US" sz="1200" b="1"/>
              <a:t>无向图</a:t>
            </a:r>
          </a:p>
        </p:txBody>
      </p:sp>
      <p:sp>
        <p:nvSpPr>
          <p:cNvPr id="12" name="文本框 11">
            <a:extLst>
              <a:ext uri="{FF2B5EF4-FFF2-40B4-BE49-F238E27FC236}">
                <a16:creationId xmlns:a16="http://schemas.microsoft.com/office/drawing/2014/main" id="{DCAC7D34-E4B0-05B8-B1E0-F982D3FB8EDF}"/>
              </a:ext>
            </a:extLst>
          </p:cNvPr>
          <p:cNvSpPr txBox="1"/>
          <p:nvPr/>
        </p:nvSpPr>
        <p:spPr>
          <a:xfrm>
            <a:off x="3868719" y="2319085"/>
            <a:ext cx="713509" cy="276999"/>
          </a:xfrm>
          <a:prstGeom prst="rect">
            <a:avLst/>
          </a:prstGeom>
          <a:noFill/>
        </p:spPr>
        <p:txBody>
          <a:bodyPr wrap="square" rtlCol="0">
            <a:spAutoFit/>
          </a:bodyPr>
          <a:lstStyle/>
          <a:p>
            <a:r>
              <a:rPr lang="zh-CN" altLang="en-US" sz="1200" b="1"/>
              <a:t>有向图</a:t>
            </a:r>
          </a:p>
        </p:txBody>
      </p:sp>
      <p:sp>
        <p:nvSpPr>
          <p:cNvPr id="13" name="文本框 12">
            <a:extLst>
              <a:ext uri="{FF2B5EF4-FFF2-40B4-BE49-F238E27FC236}">
                <a16:creationId xmlns:a16="http://schemas.microsoft.com/office/drawing/2014/main" id="{3BD14971-CF3E-C85D-3A30-567359D35E9A}"/>
              </a:ext>
            </a:extLst>
          </p:cNvPr>
          <p:cNvSpPr txBox="1"/>
          <p:nvPr/>
        </p:nvSpPr>
        <p:spPr>
          <a:xfrm>
            <a:off x="869182" y="4249364"/>
            <a:ext cx="1464983" cy="276999"/>
          </a:xfrm>
          <a:prstGeom prst="rect">
            <a:avLst/>
          </a:prstGeom>
          <a:noFill/>
        </p:spPr>
        <p:txBody>
          <a:bodyPr wrap="square" rtlCol="0">
            <a:spAutoFit/>
          </a:bodyPr>
          <a:lstStyle/>
          <a:p>
            <a:r>
              <a:rPr lang="zh-CN" altLang="en-US" sz="1200" b="1"/>
              <a:t>无向有权图</a:t>
            </a:r>
          </a:p>
        </p:txBody>
      </p:sp>
      <p:sp>
        <p:nvSpPr>
          <p:cNvPr id="14" name="动作按钮: 获取信息 13">
            <a:hlinkClick r:id="rId5" highlightClick="1"/>
            <a:extLst>
              <a:ext uri="{FF2B5EF4-FFF2-40B4-BE49-F238E27FC236}">
                <a16:creationId xmlns:a16="http://schemas.microsoft.com/office/drawing/2014/main" id="{129BFECD-05C7-E467-38E8-3D1C6844EDCC}"/>
              </a:ext>
            </a:extLst>
          </p:cNvPr>
          <p:cNvSpPr/>
          <p:nvPr/>
        </p:nvSpPr>
        <p:spPr>
          <a:xfrm>
            <a:off x="4967141" y="286824"/>
            <a:ext cx="204126" cy="217342"/>
          </a:xfrm>
          <a:prstGeom prst="actionButtonInformation">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7FFEAE0-B203-52BD-10C3-8EA3E3A922FF}"/>
              </a:ext>
            </a:extLst>
          </p:cNvPr>
          <p:cNvSpPr txBox="1"/>
          <p:nvPr/>
        </p:nvSpPr>
        <p:spPr>
          <a:xfrm>
            <a:off x="4771473" y="504166"/>
            <a:ext cx="595462" cy="217342"/>
          </a:xfrm>
          <a:prstGeom prst="rect">
            <a:avLst/>
          </a:prstGeom>
          <a:noFill/>
        </p:spPr>
        <p:txBody>
          <a:bodyPr wrap="square" rtlCol="0">
            <a:spAutoFit/>
          </a:bodyPr>
          <a:lstStyle/>
          <a:p>
            <a:r>
              <a:rPr lang="zh-CN" altLang="en-US" sz="800" b="1"/>
              <a:t>绘图网站</a:t>
            </a:r>
          </a:p>
        </p:txBody>
      </p:sp>
      <p:sp>
        <p:nvSpPr>
          <p:cNvPr id="16" name="动作按钮: 文档 15">
            <a:hlinkClick r:id="rId6" action="ppaction://hlinkfile" highlightClick="1"/>
            <a:extLst>
              <a:ext uri="{FF2B5EF4-FFF2-40B4-BE49-F238E27FC236}">
                <a16:creationId xmlns:a16="http://schemas.microsoft.com/office/drawing/2014/main" id="{EA3DE16F-E34E-BA60-EB98-2BDBD7B94534}"/>
              </a:ext>
            </a:extLst>
          </p:cNvPr>
          <p:cNvSpPr/>
          <p:nvPr/>
        </p:nvSpPr>
        <p:spPr>
          <a:xfrm>
            <a:off x="5880153" y="286824"/>
            <a:ext cx="204126" cy="217342"/>
          </a:xfrm>
          <a:prstGeom prst="actionButtonDocumen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D2B89B97-3C1C-1B4F-314E-0A341D7B8A47}"/>
              </a:ext>
            </a:extLst>
          </p:cNvPr>
          <p:cNvSpPr txBox="1"/>
          <p:nvPr/>
        </p:nvSpPr>
        <p:spPr>
          <a:xfrm>
            <a:off x="5600403" y="488412"/>
            <a:ext cx="872555" cy="215444"/>
          </a:xfrm>
          <a:prstGeom prst="rect">
            <a:avLst/>
          </a:prstGeom>
          <a:noFill/>
        </p:spPr>
        <p:txBody>
          <a:bodyPr wrap="square" rtlCol="0">
            <a:spAutoFit/>
          </a:bodyPr>
          <a:lstStyle/>
          <a:p>
            <a:r>
              <a:rPr lang="en-US" altLang="zh-CN" sz="800" b="1"/>
              <a:t>MATLAB</a:t>
            </a:r>
            <a:r>
              <a:rPr lang="zh-CN" altLang="en-US" sz="800" b="1"/>
              <a:t>制图</a:t>
            </a:r>
          </a:p>
        </p:txBody>
      </p:sp>
      <p:pic>
        <p:nvPicPr>
          <p:cNvPr id="19" name="图片 18">
            <a:extLst>
              <a:ext uri="{FF2B5EF4-FFF2-40B4-BE49-F238E27FC236}">
                <a16:creationId xmlns:a16="http://schemas.microsoft.com/office/drawing/2014/main" id="{259C1CA9-254A-2CDF-BFB9-84E0FBF584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76076" y="2699997"/>
            <a:ext cx="2080587" cy="2080587"/>
          </a:xfrm>
          <a:prstGeom prst="rect">
            <a:avLst/>
          </a:prstGeom>
        </p:spPr>
      </p:pic>
      <p:sp>
        <p:nvSpPr>
          <p:cNvPr id="20" name="文本框 19">
            <a:extLst>
              <a:ext uri="{FF2B5EF4-FFF2-40B4-BE49-F238E27FC236}">
                <a16:creationId xmlns:a16="http://schemas.microsoft.com/office/drawing/2014/main" id="{15A85E12-CCA8-4F25-43CA-E5BC6D258851}"/>
              </a:ext>
            </a:extLst>
          </p:cNvPr>
          <p:cNvSpPr txBox="1"/>
          <p:nvPr/>
        </p:nvSpPr>
        <p:spPr>
          <a:xfrm>
            <a:off x="3770889" y="4249364"/>
            <a:ext cx="1464983" cy="276999"/>
          </a:xfrm>
          <a:prstGeom prst="rect">
            <a:avLst/>
          </a:prstGeom>
          <a:noFill/>
        </p:spPr>
        <p:txBody>
          <a:bodyPr wrap="square" rtlCol="0">
            <a:spAutoFit/>
          </a:bodyPr>
          <a:lstStyle/>
          <a:p>
            <a:r>
              <a:rPr lang="zh-CN" altLang="en-US" sz="1200" b="1"/>
              <a:t>有向有权图</a:t>
            </a:r>
          </a:p>
        </p:txBody>
      </p:sp>
      <p:pic>
        <p:nvPicPr>
          <p:cNvPr id="22" name="图片 21">
            <a:extLst>
              <a:ext uri="{FF2B5EF4-FFF2-40B4-BE49-F238E27FC236}">
                <a16:creationId xmlns:a16="http://schemas.microsoft.com/office/drawing/2014/main" id="{F1718EE3-D8D9-D6D6-34BC-15C73DC03B6D}"/>
              </a:ext>
            </a:extLst>
          </p:cNvPr>
          <p:cNvPicPr>
            <a:picLocks noChangeAspect="1"/>
          </p:cNvPicPr>
          <p:nvPr/>
        </p:nvPicPr>
        <p:blipFill>
          <a:blip r:embed="rId8"/>
          <a:stretch>
            <a:fillRect/>
          </a:stretch>
        </p:blipFill>
        <p:spPr>
          <a:xfrm>
            <a:off x="435471" y="4582965"/>
            <a:ext cx="2080587" cy="1666620"/>
          </a:xfrm>
          <a:prstGeom prst="rect">
            <a:avLst/>
          </a:prstGeom>
        </p:spPr>
      </p:pic>
      <p:pic>
        <p:nvPicPr>
          <p:cNvPr id="24" name="图片 23">
            <a:extLst>
              <a:ext uri="{FF2B5EF4-FFF2-40B4-BE49-F238E27FC236}">
                <a16:creationId xmlns:a16="http://schemas.microsoft.com/office/drawing/2014/main" id="{4289A1D0-676A-A95E-6AE0-BE3C3FA6D1EC}"/>
              </a:ext>
            </a:extLst>
          </p:cNvPr>
          <p:cNvPicPr>
            <a:picLocks noChangeAspect="1"/>
          </p:cNvPicPr>
          <p:nvPr/>
        </p:nvPicPr>
        <p:blipFill>
          <a:blip r:embed="rId9"/>
          <a:stretch>
            <a:fillRect/>
          </a:stretch>
        </p:blipFill>
        <p:spPr>
          <a:xfrm>
            <a:off x="3236076" y="4581944"/>
            <a:ext cx="2080587" cy="1666620"/>
          </a:xfrm>
          <a:prstGeom prst="rect">
            <a:avLst/>
          </a:prstGeom>
        </p:spPr>
      </p:pic>
      <p:sp>
        <p:nvSpPr>
          <p:cNvPr id="29" name="文本框 28">
            <a:extLst>
              <a:ext uri="{FF2B5EF4-FFF2-40B4-BE49-F238E27FC236}">
                <a16:creationId xmlns:a16="http://schemas.microsoft.com/office/drawing/2014/main" id="{EABAD68B-D8CB-1A04-4E2C-8FE728FA6D95}"/>
              </a:ext>
            </a:extLst>
          </p:cNvPr>
          <p:cNvSpPr txBox="1"/>
          <p:nvPr/>
        </p:nvSpPr>
        <p:spPr>
          <a:xfrm>
            <a:off x="80955" y="4831495"/>
            <a:ext cx="468075" cy="1200329"/>
          </a:xfrm>
          <a:prstGeom prst="rect">
            <a:avLst/>
          </a:prstGeom>
          <a:noFill/>
        </p:spPr>
        <p:txBody>
          <a:bodyPr wrap="square" rtlCol="0">
            <a:spAutoFit/>
          </a:bodyPr>
          <a:lstStyle/>
          <a:p>
            <a:r>
              <a:rPr lang="zh-CN" altLang="en-US" sz="1200" b="1"/>
              <a:t>权重邻接矩阵</a:t>
            </a:r>
          </a:p>
        </p:txBody>
      </p:sp>
      <p:sp>
        <p:nvSpPr>
          <p:cNvPr id="31" name="文本框 30">
            <a:extLst>
              <a:ext uri="{FF2B5EF4-FFF2-40B4-BE49-F238E27FC236}">
                <a16:creationId xmlns:a16="http://schemas.microsoft.com/office/drawing/2014/main" id="{F89BEDB6-1053-7489-6329-EF4EDA04828B}"/>
              </a:ext>
            </a:extLst>
          </p:cNvPr>
          <p:cNvSpPr txBox="1"/>
          <p:nvPr/>
        </p:nvSpPr>
        <p:spPr>
          <a:xfrm>
            <a:off x="6249040" y="4351112"/>
            <a:ext cx="2195945" cy="461665"/>
          </a:xfrm>
          <a:prstGeom prst="rect">
            <a:avLst/>
          </a:prstGeom>
          <a:noFill/>
        </p:spPr>
        <p:txBody>
          <a:bodyPr wrap="square">
            <a:spAutoFit/>
          </a:bodyPr>
          <a:lstStyle/>
          <a:p>
            <a:r>
              <a:rPr lang="zh-CN" altLang="en-US" sz="2400">
                <a:latin typeface="优设标题黑" panose="00000500000000000000" pitchFamily="2" charset="-122"/>
                <a:ea typeface="优设标题黑" panose="00000500000000000000" pitchFamily="2" charset="-122"/>
              </a:rPr>
              <a:t>迪杰斯特拉算法</a:t>
            </a:r>
          </a:p>
        </p:txBody>
      </p:sp>
      <p:sp>
        <p:nvSpPr>
          <p:cNvPr id="33" name="文本框 32">
            <a:extLst>
              <a:ext uri="{FF2B5EF4-FFF2-40B4-BE49-F238E27FC236}">
                <a16:creationId xmlns:a16="http://schemas.microsoft.com/office/drawing/2014/main" id="{812367B2-2C8E-8830-FA0D-03472EB0420C}"/>
              </a:ext>
            </a:extLst>
          </p:cNvPr>
          <p:cNvSpPr txBox="1"/>
          <p:nvPr/>
        </p:nvSpPr>
        <p:spPr>
          <a:xfrm>
            <a:off x="6036681" y="4774649"/>
            <a:ext cx="1661911" cy="276999"/>
          </a:xfrm>
          <a:prstGeom prst="rect">
            <a:avLst/>
          </a:prstGeom>
          <a:noFill/>
        </p:spPr>
        <p:txBody>
          <a:bodyPr wrap="square">
            <a:spAutoFit/>
          </a:bodyPr>
          <a:lstStyle/>
          <a:p>
            <a:r>
              <a:rPr lang="zh-CN" altLang="en-US" sz="1200"/>
              <a:t>注：</a:t>
            </a:r>
            <a:r>
              <a:rPr lang="zh-CN" altLang="en-US" sz="1200">
                <a:solidFill>
                  <a:srgbClr val="FF0000"/>
                </a:solidFill>
              </a:rPr>
              <a:t>不能处理负权重</a:t>
            </a:r>
          </a:p>
        </p:txBody>
      </p:sp>
      <p:sp>
        <p:nvSpPr>
          <p:cNvPr id="37" name="文本框 36">
            <a:extLst>
              <a:ext uri="{FF2B5EF4-FFF2-40B4-BE49-F238E27FC236}">
                <a16:creationId xmlns:a16="http://schemas.microsoft.com/office/drawing/2014/main" id="{2F815221-BAD8-C334-F9C1-CD9C4B508560}"/>
              </a:ext>
            </a:extLst>
          </p:cNvPr>
          <p:cNvSpPr txBox="1"/>
          <p:nvPr/>
        </p:nvSpPr>
        <p:spPr>
          <a:xfrm>
            <a:off x="6036681" y="5416275"/>
            <a:ext cx="6151418" cy="461665"/>
          </a:xfrm>
          <a:prstGeom prst="rect">
            <a:avLst/>
          </a:prstGeom>
          <a:noFill/>
        </p:spPr>
        <p:txBody>
          <a:bodyPr wrap="square">
            <a:spAutoFit/>
          </a:bodyPr>
          <a:lstStyle/>
          <a:p>
            <a:r>
              <a:rPr lang="zh-CN" altLang="en-US" sz="1200"/>
              <a:t>如果存在一个环，而且这个环上权值之和是负数，那这就是一个负权环，也叫</a:t>
            </a:r>
            <a:r>
              <a:rPr lang="zh-CN" altLang="en-US" sz="1200">
                <a:solidFill>
                  <a:srgbClr val="FF0000"/>
                </a:solidFill>
              </a:rPr>
              <a:t>负权回路</a:t>
            </a:r>
            <a:r>
              <a:rPr lang="zh-CN" altLang="en-US" sz="1200"/>
              <a:t>。</a:t>
            </a:r>
            <a:endParaRPr lang="en-US" altLang="zh-CN" sz="1200"/>
          </a:p>
          <a:p>
            <a:r>
              <a:rPr lang="zh-CN" altLang="en-US" sz="1200"/>
              <a:t>该算法无法处理负权回路。</a:t>
            </a:r>
          </a:p>
        </p:txBody>
      </p:sp>
      <p:sp>
        <p:nvSpPr>
          <p:cNvPr id="38" name="文本框 37">
            <a:extLst>
              <a:ext uri="{FF2B5EF4-FFF2-40B4-BE49-F238E27FC236}">
                <a16:creationId xmlns:a16="http://schemas.microsoft.com/office/drawing/2014/main" id="{B5698286-8BB7-8318-7BAE-CD78D90B2597}"/>
              </a:ext>
            </a:extLst>
          </p:cNvPr>
          <p:cNvSpPr txBox="1"/>
          <p:nvPr/>
        </p:nvSpPr>
        <p:spPr>
          <a:xfrm>
            <a:off x="6249040" y="5005481"/>
            <a:ext cx="2509582" cy="461665"/>
          </a:xfrm>
          <a:prstGeom prst="rect">
            <a:avLst/>
          </a:prstGeom>
          <a:noFill/>
        </p:spPr>
        <p:txBody>
          <a:bodyPr wrap="square">
            <a:spAutoFit/>
          </a:bodyPr>
          <a:lstStyle/>
          <a:p>
            <a:r>
              <a:rPr lang="zh-CN" altLang="en-US" sz="2400">
                <a:latin typeface="优设标题黑" panose="00000500000000000000" pitchFamily="2" charset="-122"/>
                <a:ea typeface="优设标题黑" panose="00000500000000000000" pitchFamily="2" charset="-122"/>
              </a:rPr>
              <a:t>贝尔曼</a:t>
            </a:r>
            <a:r>
              <a:rPr lang="en-US" altLang="zh-CN" sz="2400">
                <a:latin typeface="优设标题黑" panose="00000500000000000000" pitchFamily="2" charset="-122"/>
                <a:ea typeface="优设标题黑" panose="00000500000000000000" pitchFamily="2" charset="-122"/>
              </a:rPr>
              <a:t>‐</a:t>
            </a:r>
            <a:r>
              <a:rPr lang="zh-CN" altLang="en-US" sz="2400">
                <a:latin typeface="优设标题黑" panose="00000500000000000000" pitchFamily="2" charset="-122"/>
                <a:ea typeface="优设标题黑" panose="00000500000000000000" pitchFamily="2" charset="-122"/>
              </a:rPr>
              <a:t>福特算法</a:t>
            </a:r>
          </a:p>
        </p:txBody>
      </p:sp>
      <p:sp>
        <p:nvSpPr>
          <p:cNvPr id="42" name="文本框 41">
            <a:extLst>
              <a:ext uri="{FF2B5EF4-FFF2-40B4-BE49-F238E27FC236}">
                <a16:creationId xmlns:a16="http://schemas.microsoft.com/office/drawing/2014/main" id="{5D9DCFDC-382B-58AA-15E6-9F0D9EC21A6E}"/>
              </a:ext>
            </a:extLst>
          </p:cNvPr>
          <p:cNvSpPr txBox="1"/>
          <p:nvPr/>
        </p:nvSpPr>
        <p:spPr>
          <a:xfrm>
            <a:off x="6497781" y="524902"/>
            <a:ext cx="5677515" cy="3231654"/>
          </a:xfrm>
          <a:prstGeom prst="rect">
            <a:avLst/>
          </a:prstGeom>
          <a:noFill/>
          <a:ln>
            <a:solidFill>
              <a:schemeClr val="accent6"/>
            </a:solidFill>
          </a:ln>
        </p:spPr>
        <p:txBody>
          <a:bodyPr wrap="square">
            <a:spAutoFit/>
          </a:bodyPr>
          <a:lstStyle/>
          <a:p>
            <a:r>
              <a:rPr lang="en-US" altLang="zh-CN" sz="1200" b="0" i="0">
                <a:solidFill>
                  <a:srgbClr val="008013"/>
                </a:solidFill>
                <a:effectLst/>
                <a:latin typeface="Menlo"/>
              </a:rPr>
              <a:t>% </a:t>
            </a:r>
            <a:r>
              <a:rPr lang="zh-CN" altLang="en-US" sz="1200" b="0" i="0">
                <a:solidFill>
                  <a:srgbClr val="008013"/>
                </a:solidFill>
                <a:effectLst/>
                <a:latin typeface="Menlo"/>
              </a:rPr>
              <a:t>编号从</a:t>
            </a:r>
            <a:r>
              <a:rPr lang="en-US" altLang="zh-CN" sz="1200" b="0" i="0">
                <a:solidFill>
                  <a:srgbClr val="008013"/>
                </a:solidFill>
                <a:effectLst/>
                <a:latin typeface="Menlo"/>
              </a:rPr>
              <a:t>1</a:t>
            </a:r>
            <a:r>
              <a:rPr lang="zh-CN" altLang="en-US" sz="1200" b="0" i="0">
                <a:solidFill>
                  <a:srgbClr val="008013"/>
                </a:solidFill>
                <a:effectLst/>
                <a:latin typeface="Menlo"/>
              </a:rPr>
              <a:t>开始连续编号</a:t>
            </a:r>
            <a:endParaRPr lang="zh-CN" altLang="en-US" sz="1200" b="0" i="0">
              <a:effectLst/>
              <a:latin typeface="Menlo"/>
            </a:endParaRPr>
          </a:p>
          <a:p>
            <a:r>
              <a:rPr lang="en-US" altLang="zh-CN" sz="1200" b="0" i="0">
                <a:effectLst/>
                <a:latin typeface="Menlo"/>
              </a:rPr>
              <a:t>s = [9 9 1 1 2 2 2 7 7 6 6 5 5 4];</a:t>
            </a:r>
          </a:p>
          <a:p>
            <a:r>
              <a:rPr lang="en-US" altLang="zh-CN" sz="1200" b="0" i="0">
                <a:effectLst/>
                <a:latin typeface="Menlo"/>
              </a:rPr>
              <a:t>t = [1 7 7 2 8 3 5 8 6 8 5 3 4 3];</a:t>
            </a:r>
          </a:p>
          <a:p>
            <a:r>
              <a:rPr lang="en-US" altLang="zh-CN" sz="1200" b="0" i="0">
                <a:effectLst/>
                <a:latin typeface="Menlo"/>
              </a:rPr>
              <a:t>w = [4 8 3 8 2 7 4 1 6 6 2 14 10 9];</a:t>
            </a:r>
          </a:p>
          <a:p>
            <a:r>
              <a:rPr lang="en-US" altLang="zh-CN" sz="1200" b="0" i="0">
                <a:effectLst/>
                <a:latin typeface="Menlo"/>
              </a:rPr>
              <a:t>G = graph(s,t,w); </a:t>
            </a:r>
            <a:r>
              <a:rPr lang="en-US" altLang="zh-CN" sz="1200" b="0" i="0">
                <a:solidFill>
                  <a:srgbClr val="008013"/>
                </a:solidFill>
                <a:effectLst/>
                <a:latin typeface="Menlo"/>
              </a:rPr>
              <a:t>% </a:t>
            </a:r>
            <a:r>
              <a:rPr lang="zh-CN" altLang="en-US" sz="1200" b="0" i="0">
                <a:solidFill>
                  <a:srgbClr val="008013"/>
                </a:solidFill>
                <a:effectLst/>
                <a:latin typeface="Menlo"/>
              </a:rPr>
              <a:t>图</a:t>
            </a:r>
            <a:endParaRPr lang="zh-CN" altLang="en-US" sz="1200" b="0" i="0">
              <a:effectLst/>
              <a:latin typeface="Menlo"/>
            </a:endParaRPr>
          </a:p>
          <a:p>
            <a:r>
              <a:rPr lang="en-US" altLang="zh-CN" sz="1200" b="0" i="0">
                <a:effectLst/>
                <a:latin typeface="Menlo"/>
              </a:rPr>
              <a:t>[P,d] = shortestpath(G, 9, 4)</a:t>
            </a:r>
          </a:p>
          <a:p>
            <a:endParaRPr lang="en-US" altLang="zh-CN" sz="1200" b="0" i="0">
              <a:effectLst/>
              <a:latin typeface="Menlo"/>
            </a:endParaRPr>
          </a:p>
          <a:p>
            <a:r>
              <a:rPr lang="en-US" altLang="zh-CN" sz="1200" b="0" i="0">
                <a:effectLst/>
                <a:latin typeface="Menlo"/>
              </a:rPr>
              <a:t>myplot = plot(G, </a:t>
            </a:r>
            <a:r>
              <a:rPr lang="en-US" altLang="zh-CN" sz="1200" b="0" i="0">
                <a:solidFill>
                  <a:srgbClr val="A709F5"/>
                </a:solidFill>
                <a:effectLst/>
                <a:latin typeface="Menlo"/>
              </a:rPr>
              <a:t>'EdgeLabel'</a:t>
            </a:r>
            <a:r>
              <a:rPr lang="en-US" altLang="zh-CN" sz="1200" b="0" i="0">
                <a:effectLst/>
                <a:latin typeface="Menlo"/>
              </a:rPr>
              <a:t>, G.Edges.Weight, </a:t>
            </a:r>
            <a:r>
              <a:rPr lang="en-US" altLang="zh-CN" sz="1200" b="0" i="0">
                <a:solidFill>
                  <a:srgbClr val="A709F5"/>
                </a:solidFill>
                <a:effectLst/>
                <a:latin typeface="Menlo"/>
              </a:rPr>
              <a:t>'linewidth'</a:t>
            </a:r>
            <a:r>
              <a:rPr lang="en-US" altLang="zh-CN" sz="1200" b="0" i="0">
                <a:effectLst/>
                <a:latin typeface="Menlo"/>
              </a:rPr>
              <a:t>, 2);</a:t>
            </a:r>
            <a:r>
              <a:rPr lang="en-US" altLang="zh-CN" sz="1200" b="0" i="0">
                <a:solidFill>
                  <a:srgbClr val="008013"/>
                </a:solidFill>
                <a:effectLst/>
                <a:latin typeface="Menlo"/>
              </a:rPr>
              <a:t>% </a:t>
            </a:r>
            <a:r>
              <a:rPr lang="zh-CN" altLang="en-US" sz="1200" b="0" i="0">
                <a:solidFill>
                  <a:srgbClr val="008013"/>
                </a:solidFill>
                <a:effectLst/>
                <a:latin typeface="Menlo"/>
              </a:rPr>
              <a:t>首先将图赋给一个变量</a:t>
            </a:r>
            <a:endParaRPr lang="zh-CN" altLang="en-US" sz="1200" b="0" i="0">
              <a:effectLst/>
              <a:latin typeface="Menlo"/>
            </a:endParaRPr>
          </a:p>
          <a:p>
            <a:r>
              <a:rPr lang="en-US" altLang="zh-CN" sz="1200" b="0" i="0">
                <a:effectLst/>
                <a:latin typeface="Menlo"/>
              </a:rPr>
              <a:t>set( gca, </a:t>
            </a:r>
            <a:r>
              <a:rPr lang="en-US" altLang="zh-CN" sz="1200" b="0" i="0">
                <a:solidFill>
                  <a:srgbClr val="A709F5"/>
                </a:solidFill>
                <a:effectLst/>
                <a:latin typeface="Menlo"/>
              </a:rPr>
              <a:t>'XTick'</a:t>
            </a:r>
            <a:r>
              <a:rPr lang="en-US" altLang="zh-CN" sz="1200" b="0" i="0">
                <a:effectLst/>
                <a:latin typeface="Menlo"/>
              </a:rPr>
              <a:t>, [], </a:t>
            </a:r>
            <a:r>
              <a:rPr lang="en-US" altLang="zh-CN" sz="1200" b="0" i="0">
                <a:solidFill>
                  <a:srgbClr val="A709F5"/>
                </a:solidFill>
                <a:effectLst/>
                <a:latin typeface="Menlo"/>
              </a:rPr>
              <a:t>'YTick'</a:t>
            </a:r>
            <a:r>
              <a:rPr lang="en-US" altLang="zh-CN" sz="1200" b="0" i="0">
                <a:effectLst/>
                <a:latin typeface="Menlo"/>
              </a:rPr>
              <a:t>, [] ); </a:t>
            </a:r>
          </a:p>
          <a:p>
            <a:r>
              <a:rPr lang="en-US" altLang="zh-CN" sz="1200" b="0" i="0">
                <a:effectLst/>
                <a:latin typeface="Menlo"/>
              </a:rPr>
              <a:t>highlight(myplot, P, </a:t>
            </a:r>
            <a:r>
              <a:rPr lang="en-US" altLang="zh-CN" sz="1200" b="0" i="0">
                <a:solidFill>
                  <a:srgbClr val="A709F5"/>
                </a:solidFill>
                <a:effectLst/>
                <a:latin typeface="Menlo"/>
              </a:rPr>
              <a:t>'EdgeColor'</a:t>
            </a:r>
            <a:r>
              <a:rPr lang="en-US" altLang="zh-CN" sz="1200" b="0" i="0">
                <a:effectLst/>
                <a:latin typeface="Menlo"/>
              </a:rPr>
              <a:t>, </a:t>
            </a:r>
            <a:r>
              <a:rPr lang="en-US" altLang="zh-CN" sz="1200" b="0" i="0">
                <a:solidFill>
                  <a:srgbClr val="A709F5"/>
                </a:solidFill>
                <a:effectLst/>
                <a:latin typeface="Menlo"/>
              </a:rPr>
              <a:t>'r'</a:t>
            </a:r>
            <a:r>
              <a:rPr lang="en-US" altLang="zh-CN" sz="1200" b="0" i="0">
                <a:effectLst/>
                <a:latin typeface="Menlo"/>
              </a:rPr>
              <a:t>) </a:t>
            </a:r>
            <a:r>
              <a:rPr lang="en-US" altLang="zh-CN" sz="1200" b="0" i="0">
                <a:solidFill>
                  <a:srgbClr val="008013"/>
                </a:solidFill>
                <a:effectLst/>
                <a:latin typeface="Menlo"/>
              </a:rPr>
              <a:t>% </a:t>
            </a:r>
            <a:r>
              <a:rPr lang="zh-CN" altLang="en-US" sz="1200" b="0" i="0">
                <a:solidFill>
                  <a:srgbClr val="008013"/>
                </a:solidFill>
                <a:effectLst/>
                <a:latin typeface="Menlo"/>
              </a:rPr>
              <a:t>高亮处理</a:t>
            </a:r>
            <a:endParaRPr lang="en-US" altLang="zh-CN" sz="1200" b="0" i="0">
              <a:solidFill>
                <a:srgbClr val="008013"/>
              </a:solidFill>
              <a:effectLst/>
              <a:latin typeface="Menlo"/>
            </a:endParaRPr>
          </a:p>
          <a:p>
            <a:endParaRPr lang="zh-CN" altLang="en-US" sz="1200" b="0" i="0">
              <a:effectLst/>
              <a:latin typeface="Menlo"/>
            </a:endParaRPr>
          </a:p>
          <a:p>
            <a:r>
              <a:rPr lang="en-US" altLang="zh-CN" sz="1200" b="0" i="0">
                <a:effectLst/>
                <a:latin typeface="Menlo"/>
              </a:rPr>
              <a:t>D = distances(G) </a:t>
            </a:r>
            <a:r>
              <a:rPr lang="en-US" altLang="zh-CN" sz="1200" b="0" i="0">
                <a:solidFill>
                  <a:srgbClr val="008013"/>
                </a:solidFill>
                <a:effectLst/>
                <a:latin typeface="Menlo"/>
              </a:rPr>
              <a:t>% </a:t>
            </a:r>
            <a:r>
              <a:rPr lang="zh-CN" altLang="en-US" sz="1200" b="0" i="0">
                <a:solidFill>
                  <a:srgbClr val="008013"/>
                </a:solidFill>
                <a:effectLst/>
                <a:latin typeface="Menlo"/>
              </a:rPr>
              <a:t>求出任意两点的最短路径矩阵</a:t>
            </a:r>
            <a:endParaRPr lang="zh-CN" altLang="en-US" sz="1200" b="0" i="0">
              <a:effectLst/>
              <a:latin typeface="Menlo"/>
            </a:endParaRPr>
          </a:p>
          <a:p>
            <a:r>
              <a:rPr lang="en-US" altLang="zh-CN" sz="1200" b="0" i="0">
                <a:effectLst/>
                <a:latin typeface="Menlo"/>
              </a:rPr>
              <a:t>D(9,4) </a:t>
            </a:r>
            <a:r>
              <a:rPr lang="en-US" altLang="zh-CN" sz="1200" b="0" i="0">
                <a:solidFill>
                  <a:srgbClr val="008013"/>
                </a:solidFill>
                <a:effectLst/>
                <a:latin typeface="Menlo"/>
              </a:rPr>
              <a:t>% 9 -&gt; 4</a:t>
            </a:r>
            <a:r>
              <a:rPr lang="zh-CN" altLang="en-US" sz="1200" b="0" i="0">
                <a:solidFill>
                  <a:srgbClr val="008013"/>
                </a:solidFill>
                <a:effectLst/>
                <a:latin typeface="Menlo"/>
              </a:rPr>
              <a:t>的最短路径</a:t>
            </a:r>
            <a:endParaRPr lang="en-US" altLang="zh-CN" sz="1200" b="0" i="0">
              <a:solidFill>
                <a:srgbClr val="008013"/>
              </a:solidFill>
              <a:effectLst/>
              <a:latin typeface="Menlo"/>
            </a:endParaRPr>
          </a:p>
          <a:p>
            <a:endParaRPr lang="zh-CN" altLang="en-US" sz="1200" b="0" i="0">
              <a:effectLst/>
              <a:latin typeface="Menlo"/>
            </a:endParaRPr>
          </a:p>
          <a:p>
            <a:r>
              <a:rPr lang="en-US" altLang="zh-CN" sz="1200" b="0" i="0">
                <a:solidFill>
                  <a:srgbClr val="008013"/>
                </a:solidFill>
                <a:effectLst/>
                <a:latin typeface="Menlo"/>
              </a:rPr>
              <a:t>% </a:t>
            </a:r>
            <a:r>
              <a:rPr lang="zh-CN" altLang="en-US" sz="1200" b="0" i="0">
                <a:solidFill>
                  <a:srgbClr val="008013"/>
                </a:solidFill>
                <a:effectLst/>
                <a:latin typeface="Menlo"/>
              </a:rPr>
              <a:t>找出给定范围内的所有点 </a:t>
            </a:r>
            <a:r>
              <a:rPr lang="en-US" altLang="zh-CN" sz="1200" b="0" i="0">
                <a:solidFill>
                  <a:srgbClr val="008013"/>
                </a:solidFill>
                <a:effectLst/>
                <a:latin typeface="Menlo"/>
              </a:rPr>
              <a:t>nearest(G,s,d)</a:t>
            </a:r>
            <a:endParaRPr lang="en-US" altLang="zh-CN" sz="1200" b="0" i="0">
              <a:effectLst/>
              <a:latin typeface="Menlo"/>
            </a:endParaRPr>
          </a:p>
          <a:p>
            <a:r>
              <a:rPr lang="en-US" altLang="zh-CN" sz="1200" b="0" i="0">
                <a:solidFill>
                  <a:srgbClr val="008013"/>
                </a:solidFill>
                <a:effectLst/>
                <a:latin typeface="Menlo"/>
              </a:rPr>
              <a:t>% </a:t>
            </a:r>
            <a:r>
              <a:rPr lang="zh-CN" altLang="en-US" sz="1200" b="0" i="0">
                <a:solidFill>
                  <a:srgbClr val="008013"/>
                </a:solidFill>
                <a:effectLst/>
                <a:latin typeface="Menlo"/>
              </a:rPr>
              <a:t>返回图形 </a:t>
            </a:r>
            <a:r>
              <a:rPr lang="en-US" altLang="zh-CN" sz="1200" b="0" i="0">
                <a:solidFill>
                  <a:srgbClr val="008013"/>
                </a:solidFill>
                <a:effectLst/>
                <a:latin typeface="Menlo"/>
              </a:rPr>
              <a:t>G </a:t>
            </a:r>
            <a:r>
              <a:rPr lang="zh-CN" altLang="en-US" sz="1200" b="0" i="0">
                <a:solidFill>
                  <a:srgbClr val="008013"/>
                </a:solidFill>
                <a:effectLst/>
                <a:latin typeface="Menlo"/>
              </a:rPr>
              <a:t>中与节点 </a:t>
            </a:r>
            <a:r>
              <a:rPr lang="en-US" altLang="zh-CN" sz="1200" b="0" i="0">
                <a:solidFill>
                  <a:srgbClr val="008013"/>
                </a:solidFill>
                <a:effectLst/>
                <a:latin typeface="Menlo"/>
              </a:rPr>
              <a:t>s </a:t>
            </a:r>
            <a:r>
              <a:rPr lang="zh-CN" altLang="en-US" sz="1200" b="0" i="0">
                <a:solidFill>
                  <a:srgbClr val="008013"/>
                </a:solidFill>
                <a:effectLst/>
                <a:latin typeface="Menlo"/>
              </a:rPr>
              <a:t>的距离在 </a:t>
            </a:r>
            <a:r>
              <a:rPr lang="en-US" altLang="zh-CN" sz="1200" b="0" i="0">
                <a:solidFill>
                  <a:srgbClr val="008013"/>
                </a:solidFill>
                <a:effectLst/>
                <a:latin typeface="Menlo"/>
              </a:rPr>
              <a:t>d </a:t>
            </a:r>
            <a:r>
              <a:rPr lang="zh-CN" altLang="en-US" sz="1200" b="0" i="0">
                <a:solidFill>
                  <a:srgbClr val="008013"/>
                </a:solidFill>
                <a:effectLst/>
                <a:latin typeface="Menlo"/>
              </a:rPr>
              <a:t>之内的所有节点</a:t>
            </a:r>
            <a:endParaRPr lang="zh-CN" altLang="en-US" sz="1200" b="0" i="0">
              <a:effectLst/>
              <a:latin typeface="Menlo"/>
            </a:endParaRPr>
          </a:p>
          <a:p>
            <a:r>
              <a:rPr lang="en-US" altLang="zh-CN" sz="1200" b="0" i="0">
                <a:effectLst/>
                <a:latin typeface="Menlo"/>
              </a:rPr>
              <a:t>[nodeIDs,dist] = nearest(G, 2, 10)</a:t>
            </a:r>
          </a:p>
        </p:txBody>
      </p:sp>
      <p:sp>
        <p:nvSpPr>
          <p:cNvPr id="5" name="文本框 4">
            <a:extLst>
              <a:ext uri="{FF2B5EF4-FFF2-40B4-BE49-F238E27FC236}">
                <a16:creationId xmlns:a16="http://schemas.microsoft.com/office/drawing/2014/main" id="{6DCA8D1D-A047-04E7-8700-24DA504C48C6}"/>
              </a:ext>
            </a:extLst>
          </p:cNvPr>
          <p:cNvSpPr txBox="1"/>
          <p:nvPr/>
        </p:nvSpPr>
        <p:spPr>
          <a:xfrm>
            <a:off x="4659642" y="638589"/>
            <a:ext cx="900491" cy="276999"/>
          </a:xfrm>
          <a:prstGeom prst="rect">
            <a:avLst/>
          </a:prstGeom>
          <a:noFill/>
        </p:spPr>
        <p:txBody>
          <a:bodyPr wrap="square">
            <a:spAutoFit/>
          </a:bodyPr>
          <a:lstStyle/>
          <a:p>
            <a:r>
              <a:rPr lang="zh-CN" altLang="en-US" sz="600">
                <a:hlinkClick r:id="rId5"/>
              </a:rPr>
              <a:t>https://csacademy.com/app/graph_editor/</a:t>
            </a:r>
            <a:endParaRPr lang="zh-CN" altLang="en-US" sz="600"/>
          </a:p>
        </p:txBody>
      </p:sp>
      <p:sp>
        <p:nvSpPr>
          <p:cNvPr id="10" name="文本框 9">
            <a:extLst>
              <a:ext uri="{FF2B5EF4-FFF2-40B4-BE49-F238E27FC236}">
                <a16:creationId xmlns:a16="http://schemas.microsoft.com/office/drawing/2014/main" id="{34538847-8D37-308E-044F-EA08DB99D619}"/>
              </a:ext>
            </a:extLst>
          </p:cNvPr>
          <p:cNvSpPr txBox="1"/>
          <p:nvPr/>
        </p:nvSpPr>
        <p:spPr>
          <a:xfrm>
            <a:off x="5521102" y="621668"/>
            <a:ext cx="1031157" cy="477054"/>
          </a:xfrm>
          <a:prstGeom prst="rect">
            <a:avLst/>
          </a:prstGeom>
          <a:noFill/>
        </p:spPr>
        <p:txBody>
          <a:bodyPr wrap="square">
            <a:spAutoFit/>
          </a:bodyPr>
          <a:lstStyle/>
          <a:p>
            <a:r>
              <a:rPr lang="zh-CN" altLang="en-US" sz="500">
                <a:hlinkClick r:id="rId6"/>
              </a:rPr>
              <a:t>G:\日就月将学有功， 习以为常始不忘\数学建模\清风视频和课件\视频课件\正课配套的课件和代码\第8讲.图论最短路径问题\代码\code_graph.m</a:t>
            </a:r>
            <a:endParaRPr lang="zh-CN" altLang="en-US" sz="500"/>
          </a:p>
        </p:txBody>
      </p:sp>
    </p:spTree>
    <p:extLst>
      <p:ext uri="{BB962C8B-B14F-4D97-AF65-F5344CB8AC3E}">
        <p14:creationId xmlns:p14="http://schemas.microsoft.com/office/powerpoint/2010/main" val="468100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81065B5-4332-9AF0-ACDC-A04BA7A0B98F}"/>
                  </a:ext>
                </a:extLst>
              </p:cNvPr>
              <p:cNvSpPr txBox="1"/>
              <p:nvPr/>
            </p:nvSpPr>
            <p:spPr>
              <a:xfrm>
                <a:off x="0" y="525433"/>
                <a:ext cx="5437909" cy="6555641"/>
              </a:xfrm>
              <a:prstGeom prst="rect">
                <a:avLst/>
              </a:prstGeom>
              <a:noFill/>
            </p:spPr>
            <p:txBody>
              <a:bodyPr wrap="square">
                <a:spAutoFit/>
              </a:bodyPr>
              <a:lstStyle/>
              <a:p>
                <a:r>
                  <a:rPr lang="zh-CN" altLang="en-US" sz="1200">
                    <a:solidFill>
                      <a:srgbClr val="2C2C36"/>
                    </a:solidFill>
                    <a:highlight>
                      <a:srgbClr val="FFFF00"/>
                    </a:highlight>
                    <a:latin typeface="-apple-system"/>
                  </a:rPr>
                  <a:t>估计量</a:t>
                </a:r>
                <a:r>
                  <a:rPr lang="zh-CN" altLang="en-US" sz="1200">
                    <a:solidFill>
                      <a:srgbClr val="2C2C36"/>
                    </a:solidFill>
                    <a:highlight>
                      <a:srgbClr val="FFFFFF"/>
                    </a:highlight>
                    <a:latin typeface="-apple-system"/>
                  </a:rPr>
                  <a:t>是一个</a:t>
                </a:r>
                <a:r>
                  <a:rPr lang="zh-CN" altLang="en-US" sz="1200">
                    <a:solidFill>
                      <a:srgbClr val="FF0000"/>
                    </a:solidFill>
                    <a:highlight>
                      <a:srgbClr val="FFFFFF"/>
                    </a:highlight>
                    <a:latin typeface="-apple-system"/>
                  </a:rPr>
                  <a:t>随机变量</a:t>
                </a:r>
                <a:r>
                  <a:rPr lang="zh-CN" altLang="en-US" sz="1200">
                    <a:solidFill>
                      <a:srgbClr val="2C2C36"/>
                    </a:solidFill>
                    <a:highlight>
                      <a:srgbClr val="FFFFFF"/>
                    </a:highlight>
                    <a:latin typeface="-apple-system"/>
                  </a:rPr>
                  <a:t>，它是</a:t>
                </a:r>
                <a:r>
                  <a:rPr lang="zh-CN" altLang="en-US" sz="1200">
                    <a:solidFill>
                      <a:srgbClr val="FF0000"/>
                    </a:solidFill>
                    <a:highlight>
                      <a:srgbClr val="FFFFFF"/>
                    </a:highlight>
                    <a:latin typeface="-apple-system"/>
                  </a:rPr>
                  <a:t>基于样本数据</a:t>
                </a:r>
                <a:r>
                  <a:rPr lang="zh-CN" altLang="en-US" sz="1200">
                    <a:solidFill>
                      <a:srgbClr val="2C2C36"/>
                    </a:solidFill>
                    <a:highlight>
                      <a:srgbClr val="FFFFFF"/>
                    </a:highlight>
                    <a:latin typeface="-apple-system"/>
                  </a:rPr>
                  <a:t>的</a:t>
                </a:r>
                <a:r>
                  <a:rPr lang="zh-CN" altLang="en-US" sz="1200">
                    <a:solidFill>
                      <a:srgbClr val="FF0000"/>
                    </a:solidFill>
                    <a:highlight>
                      <a:srgbClr val="FFFFFF"/>
                    </a:highlight>
                    <a:latin typeface="-apple-system"/>
                  </a:rPr>
                  <a:t>函数</a:t>
                </a:r>
                <a:r>
                  <a:rPr lang="zh-CN" altLang="en-US" sz="1200">
                    <a:solidFill>
                      <a:srgbClr val="2C2C36"/>
                    </a:solidFill>
                    <a:highlight>
                      <a:srgbClr val="FFFFFF"/>
                    </a:highlight>
                    <a:latin typeface="-apple-system"/>
                  </a:rPr>
                  <a:t>，用来估计未知参数。例如，在线性回归中，</a:t>
                </a:r>
                <a:r>
                  <a:rPr lang="zh-CN" altLang="en-US" sz="1200">
                    <a:solidFill>
                      <a:srgbClr val="FF0000"/>
                    </a:solidFill>
                    <a:highlight>
                      <a:srgbClr val="FFFFFF"/>
                    </a:highlight>
                    <a:latin typeface="-apple-system"/>
                  </a:rPr>
                  <a:t>斜率和截距的估计公式就是估计量</a:t>
                </a:r>
                <a:r>
                  <a:rPr lang="zh-CN" altLang="en-US" sz="1200">
                    <a:solidFill>
                      <a:srgbClr val="2C2C36"/>
                    </a:solidFill>
                    <a:highlight>
                      <a:srgbClr val="FFFFFF"/>
                    </a:highlight>
                    <a:latin typeface="-apple-system"/>
                  </a:rPr>
                  <a:t>。估计量之所以是一个公式而非数值，是因为它所依赖的样本数据在</a:t>
                </a:r>
                <a:r>
                  <a:rPr lang="zh-CN" altLang="en-US" sz="1200">
                    <a:solidFill>
                      <a:srgbClr val="FF0000"/>
                    </a:solidFill>
                    <a:highlight>
                      <a:srgbClr val="FFFFFF"/>
                    </a:highlight>
                    <a:latin typeface="-apple-system"/>
                  </a:rPr>
                  <a:t>不同的抽样过程</a:t>
                </a:r>
                <a:r>
                  <a:rPr lang="zh-CN" altLang="en-US" sz="1200">
                    <a:solidFill>
                      <a:srgbClr val="2C2C36"/>
                    </a:solidFill>
                    <a:highlight>
                      <a:srgbClr val="FFFFFF"/>
                    </a:highlight>
                    <a:latin typeface="-apple-system"/>
                  </a:rPr>
                  <a:t>中是</a:t>
                </a:r>
                <a:r>
                  <a:rPr lang="zh-CN" altLang="en-US" sz="1200">
                    <a:solidFill>
                      <a:srgbClr val="FF0000"/>
                    </a:solidFill>
                    <a:highlight>
                      <a:srgbClr val="FFFFFF"/>
                    </a:highlight>
                    <a:latin typeface="-apple-system"/>
                  </a:rPr>
                  <a:t>可变</a:t>
                </a:r>
                <a:r>
                  <a:rPr lang="zh-CN" altLang="en-US" sz="1200">
                    <a:solidFill>
                      <a:srgbClr val="2C2C36"/>
                    </a:solidFill>
                    <a:highlight>
                      <a:srgbClr val="FFFFFF"/>
                    </a:highlight>
                    <a:latin typeface="-apple-system"/>
                  </a:rPr>
                  <a:t>的。每次抽样都会得到不同的估计值，但估计量</a:t>
                </a:r>
                <a:r>
                  <a:rPr lang="zh-CN" altLang="en-US" sz="1200">
                    <a:solidFill>
                      <a:srgbClr val="FF0000"/>
                    </a:solidFill>
                    <a:highlight>
                      <a:srgbClr val="FFFFFF"/>
                    </a:highlight>
                    <a:latin typeface="-apple-system"/>
                  </a:rPr>
                  <a:t>本身保持不变</a:t>
                </a:r>
                <a:r>
                  <a:rPr lang="zh-CN" altLang="en-US" sz="1200">
                    <a:solidFill>
                      <a:srgbClr val="2C2C36"/>
                    </a:solidFill>
                    <a:highlight>
                      <a:srgbClr val="FFFFFF"/>
                    </a:highlight>
                    <a:latin typeface="-apple-system"/>
                  </a:rPr>
                  <a:t>。估计量通常是从样本数据出发，通过某种方法（例如</a:t>
                </a:r>
                <a:r>
                  <a:rPr lang="en-US" altLang="zh-CN" sz="1200">
                    <a:solidFill>
                      <a:srgbClr val="2C2C36"/>
                    </a:solidFill>
                    <a:highlight>
                      <a:srgbClr val="FFFFFF"/>
                    </a:highlight>
                    <a:latin typeface="-apple-system"/>
                  </a:rPr>
                  <a:t>OLS</a:t>
                </a:r>
                <a:r>
                  <a:rPr lang="zh-CN" altLang="en-US" sz="1200">
                    <a:solidFill>
                      <a:srgbClr val="2C2C36"/>
                    </a:solidFill>
                    <a:highlight>
                      <a:srgbClr val="FFFFFF"/>
                    </a:highlight>
                    <a:latin typeface="-apple-system"/>
                  </a:rPr>
                  <a:t>）推导出来的。例如，在线性回归中，我们使用最小化残差平方和（</a:t>
                </a:r>
                <a:r>
                  <a:rPr lang="en-US" altLang="zh-CN" sz="1200">
                    <a:solidFill>
                      <a:srgbClr val="2C2C36"/>
                    </a:solidFill>
                    <a:highlight>
                      <a:srgbClr val="FFFFFF"/>
                    </a:highlight>
                    <a:latin typeface="-apple-system"/>
                  </a:rPr>
                  <a:t>RSS</a:t>
                </a:r>
                <a:r>
                  <a:rPr lang="zh-CN" altLang="en-US" sz="1200">
                    <a:solidFill>
                      <a:srgbClr val="2C2C36"/>
                    </a:solidFill>
                    <a:highlight>
                      <a:srgbClr val="FFFFFF"/>
                    </a:highlight>
                    <a:latin typeface="-apple-system"/>
                  </a:rPr>
                  <a:t>）的方法来估计斜率和截距的值。</a:t>
                </a:r>
                <a:endParaRPr lang="en-US" altLang="zh-CN" sz="1200">
                  <a:highlight>
                    <a:srgbClr val="FFFF00"/>
                  </a:highlight>
                </a:endParaRPr>
              </a:p>
              <a:p>
                <a:r>
                  <a:rPr lang="zh-CN" altLang="en-US" sz="1200" b="0" i="0">
                    <a:solidFill>
                      <a:srgbClr val="2C2C36"/>
                    </a:solidFill>
                    <a:effectLst/>
                    <a:highlight>
                      <a:srgbClr val="FFFF00"/>
                    </a:highlight>
                    <a:latin typeface="-apple-system"/>
                  </a:rPr>
                  <a:t>估计值</a:t>
                </a:r>
                <a:r>
                  <a:rPr lang="zh-CN" altLang="en-US" sz="1200" b="0" i="0">
                    <a:solidFill>
                      <a:srgbClr val="2C2C36"/>
                    </a:solidFill>
                    <a:effectLst/>
                    <a:highlight>
                      <a:srgbClr val="FFFFFF"/>
                    </a:highlight>
                    <a:latin typeface="-apple-system"/>
                  </a:rPr>
                  <a:t>是估计量在特定样本数据上的</a:t>
                </a:r>
                <a:r>
                  <a:rPr lang="zh-CN" altLang="en-US" sz="1200" b="0" i="0">
                    <a:solidFill>
                      <a:srgbClr val="FF0000"/>
                    </a:solidFill>
                    <a:effectLst/>
                    <a:highlight>
                      <a:srgbClr val="FFFFFF"/>
                    </a:highlight>
                    <a:latin typeface="-apple-system"/>
                  </a:rPr>
                  <a:t>具体数值</a:t>
                </a:r>
                <a:r>
                  <a:rPr lang="zh-CN" altLang="en-US" sz="1200" b="0" i="0">
                    <a:solidFill>
                      <a:srgbClr val="2C2C36"/>
                    </a:solidFill>
                    <a:effectLst/>
                    <a:highlight>
                      <a:srgbClr val="FFFFFF"/>
                    </a:highlight>
                    <a:latin typeface="-apple-system"/>
                  </a:rPr>
                  <a:t>。例如，在线性回归中，我们通常估计斜率和截距的值，这些数值就是估计值。</a:t>
                </a:r>
                <a:endParaRPr lang="en-US" altLang="zh-CN" sz="1200" b="0" i="0">
                  <a:solidFill>
                    <a:srgbClr val="2C2C36"/>
                  </a:solidFill>
                  <a:effectLst/>
                  <a:highlight>
                    <a:srgbClr val="FFFFFF"/>
                  </a:highlight>
                  <a:latin typeface="-apple-system"/>
                </a:endParaRPr>
              </a:p>
              <a:p>
                <a:r>
                  <a:rPr lang="zh-CN" altLang="en-US" sz="1200">
                    <a:highlight>
                      <a:srgbClr val="FFFF00"/>
                    </a:highlight>
                  </a:rPr>
                  <a:t>一致性</a:t>
                </a:r>
                <a:r>
                  <a:rPr lang="zh-CN" altLang="en-US" sz="1200"/>
                  <a:t>是指当</a:t>
                </a:r>
                <a:r>
                  <a:rPr lang="zh-CN" altLang="en-US" sz="1200">
                    <a:solidFill>
                      <a:srgbClr val="FF0000"/>
                    </a:solidFill>
                  </a:rPr>
                  <a:t>样本容量</a:t>
                </a:r>
                <a:r>
                  <a:rPr lang="zh-CN" altLang="en-US" sz="1200"/>
                  <a:t>趋于无限大时，</a:t>
                </a:r>
                <a:r>
                  <a:rPr lang="zh-CN" altLang="en-US" sz="1200">
                    <a:solidFill>
                      <a:srgbClr val="FF0000"/>
                    </a:solidFill>
                  </a:rPr>
                  <a:t>估计量趋向于真实值</a:t>
                </a:r>
                <a:r>
                  <a:rPr lang="zh-CN" altLang="en-US" sz="1200"/>
                  <a:t>的性质。</a:t>
                </a:r>
                <a:endParaRPr lang="en-US" altLang="zh-CN" sz="1200"/>
              </a:p>
              <a:p>
                <a:r>
                  <a:rPr lang="zh-CN" altLang="en-US" sz="1200" b="0" i="0">
                    <a:solidFill>
                      <a:srgbClr val="2C2C36"/>
                    </a:solidFill>
                    <a:effectLst/>
                    <a:highlight>
                      <a:srgbClr val="FFFF00"/>
                    </a:highlight>
                    <a:latin typeface="-apple-system"/>
                  </a:rPr>
                  <a:t>估计量的期望</a:t>
                </a:r>
                <a:r>
                  <a:rPr lang="zh-CN" altLang="en-US" sz="1200" b="0" i="0">
                    <a:solidFill>
                      <a:srgbClr val="2C2C36"/>
                    </a:solidFill>
                    <a:effectLst/>
                    <a:highlight>
                      <a:srgbClr val="FFFFFF"/>
                    </a:highlight>
                    <a:latin typeface="-apple-system"/>
                  </a:rPr>
                  <a:t>是指</a:t>
                </a:r>
                <a:r>
                  <a:rPr lang="zh-CN" altLang="en-US" sz="1200" b="0" i="0">
                    <a:solidFill>
                      <a:srgbClr val="FF0000"/>
                    </a:solidFill>
                    <a:effectLst/>
                    <a:highlight>
                      <a:srgbClr val="FFFFFF"/>
                    </a:highlight>
                    <a:latin typeface="-apple-system"/>
                  </a:rPr>
                  <a:t>估计量的长期平均值</a:t>
                </a:r>
                <a:r>
                  <a:rPr lang="zh-CN" altLang="en-US" sz="1200" b="0" i="0">
                    <a:solidFill>
                      <a:srgbClr val="2C2C36"/>
                    </a:solidFill>
                    <a:effectLst/>
                    <a:highlight>
                      <a:srgbClr val="FFFFFF"/>
                    </a:highlight>
                    <a:latin typeface="-apple-system"/>
                  </a:rPr>
                  <a:t>，也就是如果从同一总体中抽取大量样本并计算估计量，这些估计量的平均值。实际上我们通常只能得到一个样本。如果估计量是</a:t>
                </a:r>
                <a:r>
                  <a:rPr lang="zh-CN" altLang="en-US" sz="1200" b="0" i="0">
                    <a:solidFill>
                      <a:srgbClr val="FF0000"/>
                    </a:solidFill>
                    <a:effectLst/>
                    <a:highlight>
                      <a:srgbClr val="FFFFFF"/>
                    </a:highlight>
                    <a:latin typeface="-apple-system"/>
                  </a:rPr>
                  <a:t>无偏</a:t>
                </a:r>
                <a:r>
                  <a:rPr lang="zh-CN" altLang="en-US" sz="1200" b="0" i="0">
                    <a:solidFill>
                      <a:srgbClr val="2C2C36"/>
                    </a:solidFill>
                    <a:effectLst/>
                    <a:highlight>
                      <a:srgbClr val="FFFFFF"/>
                    </a:highlight>
                    <a:latin typeface="-apple-system"/>
                  </a:rPr>
                  <a:t>的，那么它的长期平均值应该</a:t>
                </a:r>
                <a:r>
                  <a:rPr lang="zh-CN" altLang="en-US" sz="1200" b="0" i="0">
                    <a:solidFill>
                      <a:srgbClr val="FF0000"/>
                    </a:solidFill>
                    <a:effectLst/>
                    <a:highlight>
                      <a:srgbClr val="FFFFFF"/>
                    </a:highlight>
                    <a:latin typeface="-apple-system"/>
                  </a:rPr>
                  <a:t>等于</a:t>
                </a:r>
                <a:r>
                  <a:rPr lang="zh-CN" altLang="en-US" sz="1200" b="0" i="0">
                    <a:solidFill>
                      <a:srgbClr val="2C2C36"/>
                    </a:solidFill>
                    <a:effectLst/>
                    <a:highlight>
                      <a:srgbClr val="FFFFFF"/>
                    </a:highlight>
                    <a:latin typeface="-apple-system"/>
                  </a:rPr>
                  <a:t>它所估计的</a:t>
                </a:r>
                <a:r>
                  <a:rPr lang="zh-CN" altLang="en-US" sz="1200" b="0" i="0">
                    <a:solidFill>
                      <a:srgbClr val="FF0000"/>
                    </a:solidFill>
                    <a:effectLst/>
                    <a:highlight>
                      <a:srgbClr val="FFFFFF"/>
                    </a:highlight>
                    <a:latin typeface="-apple-system"/>
                  </a:rPr>
                  <a:t>参数的真实值</a:t>
                </a:r>
                <a:r>
                  <a:rPr lang="zh-CN" altLang="en-US" sz="1200" b="0" i="0">
                    <a:solidFill>
                      <a:srgbClr val="2C2C36"/>
                    </a:solidFill>
                    <a:effectLst/>
                    <a:highlight>
                      <a:srgbClr val="FFFFFF"/>
                    </a:highlight>
                    <a:latin typeface="-apple-system"/>
                  </a:rPr>
                  <a:t>。</a:t>
                </a:r>
                <a:endParaRPr lang="en-US" altLang="zh-CN" sz="1200"/>
              </a:p>
              <a:p>
                <a:r>
                  <a:rPr lang="zh-CN" altLang="en-US" sz="1200" b="0" i="0">
                    <a:solidFill>
                      <a:srgbClr val="2C2C36"/>
                    </a:solidFill>
                    <a:effectLst/>
                    <a:highlight>
                      <a:srgbClr val="FFFF00"/>
                    </a:highlight>
                    <a:latin typeface="-apple-system"/>
                  </a:rPr>
                  <a:t>无偏性</a:t>
                </a:r>
                <a:r>
                  <a:rPr lang="zh-CN" altLang="en-US" sz="1200" b="0" i="0">
                    <a:solidFill>
                      <a:srgbClr val="2C2C36"/>
                    </a:solidFill>
                    <a:effectLst/>
                    <a:highlight>
                      <a:srgbClr val="FFFFFF"/>
                    </a:highlight>
                    <a:latin typeface="-apple-system"/>
                  </a:rPr>
                  <a:t>是指估计量的</a:t>
                </a:r>
                <a:r>
                  <a:rPr lang="zh-CN" altLang="en-US" sz="1200" b="0" i="0">
                    <a:solidFill>
                      <a:srgbClr val="FF0000"/>
                    </a:solidFill>
                    <a:effectLst/>
                    <a:highlight>
                      <a:srgbClr val="FFFFFF"/>
                    </a:highlight>
                    <a:latin typeface="-apple-system"/>
                  </a:rPr>
                  <a:t>期望值</a:t>
                </a:r>
                <a:r>
                  <a:rPr lang="zh-CN" altLang="en-US" sz="1200" b="0" i="0">
                    <a:solidFill>
                      <a:srgbClr val="2C2C36"/>
                    </a:solidFill>
                    <a:effectLst/>
                    <a:highlight>
                      <a:srgbClr val="FFFFFF"/>
                    </a:highlight>
                    <a:latin typeface="-apple-system"/>
                  </a:rPr>
                  <a:t>等于真实的</a:t>
                </a:r>
                <a:r>
                  <a:rPr lang="zh-CN" altLang="en-US" sz="1200" b="0" i="0">
                    <a:solidFill>
                      <a:srgbClr val="FF0000"/>
                    </a:solidFill>
                    <a:effectLst/>
                    <a:highlight>
                      <a:srgbClr val="FFFFFF"/>
                    </a:highlight>
                    <a:latin typeface="-apple-system"/>
                  </a:rPr>
                  <a:t>参数值</a:t>
                </a:r>
                <a:r>
                  <a:rPr lang="zh-CN" altLang="en-US" sz="1200" b="0" i="0">
                    <a:solidFill>
                      <a:srgbClr val="2C2C36"/>
                    </a:solidFill>
                    <a:effectLst/>
                    <a:highlight>
                      <a:srgbClr val="FFFFFF"/>
                    </a:highlight>
                    <a:latin typeface="-apple-system"/>
                  </a:rPr>
                  <a:t>。</a:t>
                </a:r>
                <a:endParaRPr lang="en-US" altLang="zh-CN" sz="1200" b="0" i="0">
                  <a:solidFill>
                    <a:srgbClr val="2C2C36"/>
                  </a:solidFill>
                  <a:effectLst/>
                  <a:highlight>
                    <a:srgbClr val="FFFFFF"/>
                  </a:highlight>
                  <a:latin typeface="-apple-system"/>
                </a:endParaRPr>
              </a:p>
              <a:p>
                <a:pPr algn="l"/>
                <a:r>
                  <a:rPr lang="en-US" altLang="zh-CN" sz="1200" i="0">
                    <a:solidFill>
                      <a:srgbClr val="2C2C36"/>
                    </a:solidFill>
                    <a:effectLst/>
                    <a:highlight>
                      <a:srgbClr val="FFFF00"/>
                    </a:highlight>
                    <a:latin typeface="-apple-system"/>
                  </a:rPr>
                  <a:t>OLS</a:t>
                </a:r>
                <a:r>
                  <a:rPr lang="en-US" altLang="zh-CN" sz="1200" i="0">
                    <a:solidFill>
                      <a:srgbClr val="2C2C36"/>
                    </a:solidFill>
                    <a:effectLst/>
                    <a:highlight>
                      <a:srgbClr val="FFFFFF"/>
                    </a:highlight>
                    <a:latin typeface="-apple-system"/>
                  </a:rPr>
                  <a:t> (Ordinary Least Squares) </a:t>
                </a:r>
                <a:r>
                  <a:rPr lang="zh-CN" altLang="en-US" sz="1200" b="0" i="0">
                    <a:solidFill>
                      <a:srgbClr val="2C2C36"/>
                    </a:solidFill>
                    <a:effectLst/>
                    <a:highlight>
                      <a:srgbClr val="FFFFFF"/>
                    </a:highlight>
                    <a:latin typeface="-apple-system"/>
                  </a:rPr>
                  <a:t>是一种常用的</a:t>
                </a:r>
                <a:r>
                  <a:rPr lang="zh-CN" altLang="en-US" sz="1200" b="0" i="0">
                    <a:solidFill>
                      <a:srgbClr val="FF0000"/>
                    </a:solidFill>
                    <a:effectLst/>
                    <a:highlight>
                      <a:srgbClr val="FFFFFF"/>
                    </a:highlight>
                    <a:latin typeface="-apple-system"/>
                  </a:rPr>
                  <a:t>参数估计方法</a:t>
                </a:r>
                <a:r>
                  <a:rPr lang="zh-CN" altLang="en-US" sz="1200" b="0" i="0">
                    <a:solidFill>
                      <a:srgbClr val="2C2C36"/>
                    </a:solidFill>
                    <a:effectLst/>
                    <a:highlight>
                      <a:srgbClr val="FFFFFF"/>
                    </a:highlight>
                    <a:latin typeface="-apple-system"/>
                  </a:rPr>
                  <a:t>，用于</a:t>
                </a:r>
                <a:r>
                  <a:rPr lang="zh-CN" altLang="en-US" sz="1200" b="0" i="0">
                    <a:solidFill>
                      <a:srgbClr val="FF0000"/>
                    </a:solidFill>
                    <a:effectLst/>
                    <a:highlight>
                      <a:srgbClr val="FFFFFF"/>
                    </a:highlight>
                    <a:latin typeface="-apple-system"/>
                  </a:rPr>
                  <a:t>最小化残差平方和（</a:t>
                </a:r>
                <a:r>
                  <a:rPr lang="en-US" altLang="zh-CN" sz="1200" b="0" i="0">
                    <a:solidFill>
                      <a:srgbClr val="FF0000"/>
                    </a:solidFill>
                    <a:effectLst/>
                    <a:highlight>
                      <a:srgbClr val="FFFFFF"/>
                    </a:highlight>
                    <a:latin typeface="-apple-system"/>
                  </a:rPr>
                  <a:t>RSS</a:t>
                </a:r>
                <a:r>
                  <a:rPr lang="zh-CN" altLang="en-US" sz="1200" b="0" i="0">
                    <a:solidFill>
                      <a:srgbClr val="FF0000"/>
                    </a:solidFill>
                    <a:effectLst/>
                    <a:highlight>
                      <a:srgbClr val="FFFFFF"/>
                    </a:highlight>
                    <a:latin typeface="-apple-system"/>
                  </a:rPr>
                  <a:t>）</a:t>
                </a:r>
                <a:r>
                  <a:rPr lang="zh-CN" altLang="en-US" sz="1200" b="0" i="0">
                    <a:solidFill>
                      <a:srgbClr val="2C2C36"/>
                    </a:solidFill>
                    <a:effectLst/>
                    <a:highlight>
                      <a:srgbClr val="FFFFFF"/>
                    </a:highlight>
                    <a:latin typeface="-apple-system"/>
                  </a:rPr>
                  <a:t>。在回归分析中，</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试图找到一组参数，使得观测值与模型预测值之间的差距（残差）的平方和最小（为了找到使</a:t>
                </a:r>
                <a:r>
                  <a:rPr lang="en-US" altLang="zh-CN" sz="1200" b="0" i="0">
                    <a:solidFill>
                      <a:srgbClr val="2C2C36"/>
                    </a:solidFill>
                    <a:effectLst/>
                    <a:highlight>
                      <a:srgbClr val="FFFFFF"/>
                    </a:highlight>
                    <a:latin typeface="-apple-system"/>
                  </a:rPr>
                  <a:t>RSS</a:t>
                </a:r>
                <a:r>
                  <a:rPr lang="zh-CN" altLang="en-US" sz="1200" b="0" i="0">
                    <a:solidFill>
                      <a:srgbClr val="2C2C36"/>
                    </a:solidFill>
                    <a:effectLst/>
                    <a:highlight>
                      <a:srgbClr val="FFFFFF"/>
                    </a:highlight>
                    <a:latin typeface="-apple-system"/>
                  </a:rPr>
                  <a:t>最小化的参数 </a:t>
                </a:r>
                <a:r>
                  <a:rPr lang="en-US" altLang="zh-CN" sz="1200" b="0" i="0">
                    <a:solidFill>
                      <a:srgbClr val="2C2C36"/>
                    </a:solidFill>
                    <a:effectLst/>
                    <a:highlight>
                      <a:srgbClr val="FFFFFF"/>
                    </a:highlight>
                    <a:latin typeface="KaTeX_Main"/>
                  </a:rPr>
                  <a:t>β0​</a:t>
                </a:r>
                <a:r>
                  <a:rPr lang="zh-CN" altLang="en-US" sz="1200" b="0" i="0">
                    <a:solidFill>
                      <a:srgbClr val="2C2C36"/>
                    </a:solidFill>
                    <a:effectLst/>
                    <a:highlight>
                      <a:srgbClr val="FFFFFF"/>
                    </a:highlight>
                    <a:latin typeface="-apple-system"/>
                  </a:rPr>
                  <a:t> 和 </a:t>
                </a:r>
                <a:r>
                  <a:rPr lang="en-US" altLang="zh-CN" sz="1200" b="0" i="0">
                    <a:solidFill>
                      <a:srgbClr val="2C2C36"/>
                    </a:solidFill>
                    <a:effectLst/>
                    <a:highlight>
                      <a:srgbClr val="FFFFFF"/>
                    </a:highlight>
                    <a:latin typeface="KaTeX_Main"/>
                  </a:rPr>
                  <a:t>β1​</a:t>
                </a:r>
                <a:r>
                  <a:rPr lang="zh-CN" altLang="en-US" sz="1200" b="0" i="0">
                    <a:solidFill>
                      <a:srgbClr val="2C2C36"/>
                    </a:solidFill>
                    <a:effectLst/>
                    <a:highlight>
                      <a:srgbClr val="FFFFFF"/>
                    </a:highlight>
                    <a:latin typeface="-apple-system"/>
                  </a:rPr>
                  <a:t>，我们需要对 </a:t>
                </a:r>
                <a:r>
                  <a:rPr lang="en-US" altLang="zh-CN" sz="1200" b="0" i="0">
                    <a:solidFill>
                      <a:srgbClr val="2C2C36"/>
                    </a:solidFill>
                    <a:effectLst/>
                    <a:highlight>
                      <a:srgbClr val="FFFFFF"/>
                    </a:highlight>
                    <a:latin typeface="KaTeX_Main"/>
                  </a:rPr>
                  <a:t>β0​</a:t>
                </a:r>
                <a:r>
                  <a:rPr lang="zh-CN" altLang="en-US" sz="1200" b="0" i="0">
                    <a:solidFill>
                      <a:srgbClr val="2C2C36"/>
                    </a:solidFill>
                    <a:effectLst/>
                    <a:highlight>
                      <a:srgbClr val="FFFFFF"/>
                    </a:highlight>
                    <a:latin typeface="-apple-system"/>
                  </a:rPr>
                  <a:t> 和 </a:t>
                </a:r>
                <a:r>
                  <a:rPr lang="en-US" altLang="zh-CN" sz="1200" b="0" i="0">
                    <a:solidFill>
                      <a:srgbClr val="2C2C36"/>
                    </a:solidFill>
                    <a:effectLst/>
                    <a:highlight>
                      <a:srgbClr val="FFFFFF"/>
                    </a:highlight>
                    <a:latin typeface="KaTeX_Main"/>
                  </a:rPr>
                  <a:t>β1​</a:t>
                </a:r>
                <a:r>
                  <a:rPr lang="zh-CN" altLang="en-US" sz="1200" b="0" i="0">
                    <a:solidFill>
                      <a:srgbClr val="2C2C36"/>
                    </a:solidFill>
                    <a:effectLst/>
                    <a:highlight>
                      <a:srgbClr val="FFFFFF"/>
                    </a:highlight>
                    <a:latin typeface="-apple-system"/>
                  </a:rPr>
                  <a:t> 求偏导数，并将这两个偏导数设置为</a:t>
                </a:r>
                <a:r>
                  <a:rPr lang="en-US" altLang="zh-CN" sz="1200" b="0" i="0">
                    <a:solidFill>
                      <a:srgbClr val="2C2C36"/>
                    </a:solidFill>
                    <a:effectLst/>
                    <a:highlight>
                      <a:srgbClr val="FFFFFF"/>
                    </a:highlight>
                    <a:latin typeface="-apple-system"/>
                  </a:rPr>
                  <a:t>0</a:t>
                </a:r>
                <a:r>
                  <a:rPr lang="zh-CN" altLang="en-US" sz="1200" b="0" i="0">
                    <a:solidFill>
                      <a:srgbClr val="2C2C36"/>
                    </a:solidFill>
                    <a:effectLst/>
                    <a:highlight>
                      <a:srgbClr val="FFFFFF"/>
                    </a:highlight>
                    <a:latin typeface="-apple-system"/>
                  </a:rPr>
                  <a:t>，然后解这个方程组。）。</a:t>
                </a:r>
                <a:r>
                  <a:rPr lang="en-US" altLang="zh-CN" sz="1200" b="0" i="0">
                    <a:solidFill>
                      <a:srgbClr val="2C2C36"/>
                    </a:solidFill>
                    <a:effectLst/>
                    <a:highlight>
                      <a:srgbClr val="FFFFFF"/>
                    </a:highlight>
                    <a:latin typeface="-apple-system"/>
                  </a:rPr>
                  <a:t>LPM</a:t>
                </a:r>
                <a:r>
                  <a:rPr lang="zh-CN" altLang="en-US" sz="1200" b="0" i="0">
                    <a:solidFill>
                      <a:srgbClr val="2C2C36"/>
                    </a:solidFill>
                    <a:effectLst/>
                    <a:highlight>
                      <a:srgbClr val="FFFFFF"/>
                    </a:highlight>
                    <a:latin typeface="-apple-system"/>
                  </a:rPr>
                  <a:t>使用</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来估计参数，尽管因变量是二元的，</a:t>
                </a:r>
                <a:r>
                  <a:rPr lang="en-US" altLang="zh-CN" sz="1200" b="0" i="0">
                    <a:solidFill>
                      <a:srgbClr val="2C2C36"/>
                    </a:solidFill>
                    <a:effectLst/>
                    <a:highlight>
                      <a:srgbClr val="FFFFFF"/>
                    </a:highlight>
                    <a:latin typeface="-apple-system"/>
                  </a:rPr>
                  <a:t>LPM</a:t>
                </a:r>
                <a:r>
                  <a:rPr lang="zh-CN" altLang="en-US" sz="1200" b="0" i="0">
                    <a:solidFill>
                      <a:srgbClr val="2C2C36"/>
                    </a:solidFill>
                    <a:effectLst/>
                    <a:highlight>
                      <a:srgbClr val="FFFFFF"/>
                    </a:highlight>
                    <a:latin typeface="-apple-system"/>
                  </a:rPr>
                  <a:t>仍然假设因变量与解释变量之间的关系是线性的。</a:t>
                </a:r>
                <a:endParaRPr lang="en-US" altLang="zh-CN" sz="1200" b="0" i="0">
                  <a:solidFill>
                    <a:srgbClr val="2C2C36"/>
                  </a:solidFill>
                  <a:effectLst/>
                  <a:highlight>
                    <a:srgbClr val="FFFFFF"/>
                  </a:highlight>
                  <a:latin typeface="-apple-system"/>
                </a:endParaRPr>
              </a:p>
              <a:p>
                <a:pPr algn="l"/>
                <a:r>
                  <a:rPr lang="zh-CN" altLang="en-US" sz="1200" b="0" i="0">
                    <a:solidFill>
                      <a:srgbClr val="2C2C36"/>
                    </a:solidFill>
                    <a:effectLst/>
                    <a:highlight>
                      <a:srgbClr val="FFFF00"/>
                    </a:highlight>
                    <a:latin typeface="-apple-system"/>
                  </a:rPr>
                  <a:t>同方差性</a:t>
                </a:r>
                <a:r>
                  <a:rPr lang="zh-CN" altLang="en-US" sz="1200" b="0" i="0">
                    <a:solidFill>
                      <a:srgbClr val="2C2C36"/>
                    </a:solidFill>
                    <a:effectLst/>
                    <a:highlight>
                      <a:srgbClr val="FFFFFF"/>
                    </a:highlight>
                    <a:latin typeface="-apple-system"/>
                  </a:rPr>
                  <a:t>是指</a:t>
                </a:r>
                <a:r>
                  <a:rPr lang="zh-CN" altLang="en-US" sz="1200" b="0" i="0">
                    <a:solidFill>
                      <a:srgbClr val="FF0000"/>
                    </a:solidFill>
                    <a:effectLst/>
                    <a:highlight>
                      <a:srgbClr val="FFFFFF"/>
                    </a:highlight>
                    <a:latin typeface="-apple-system"/>
                  </a:rPr>
                  <a:t>误差项的方差</a:t>
                </a:r>
                <a:r>
                  <a:rPr lang="zh-CN" altLang="en-US" sz="1200" b="0" i="0">
                    <a:solidFill>
                      <a:srgbClr val="2C2C36"/>
                    </a:solidFill>
                    <a:effectLst/>
                    <a:highlight>
                      <a:srgbClr val="FFFFFF"/>
                    </a:highlight>
                    <a:latin typeface="-apple-system"/>
                  </a:rPr>
                  <a:t>在整个观测范围内</a:t>
                </a:r>
                <a:r>
                  <a:rPr lang="zh-CN" altLang="en-US" sz="1200" b="0" i="0">
                    <a:solidFill>
                      <a:srgbClr val="FF0000"/>
                    </a:solidFill>
                    <a:effectLst/>
                    <a:highlight>
                      <a:srgbClr val="FFFFFF"/>
                    </a:highlight>
                    <a:latin typeface="-apple-system"/>
                  </a:rPr>
                  <a:t>保持恒定</a:t>
                </a:r>
                <a:r>
                  <a:rPr lang="zh-CN" altLang="en-US" sz="1200" b="0" i="0">
                    <a:solidFill>
                      <a:srgbClr val="2C2C36"/>
                    </a:solidFill>
                    <a:effectLst/>
                    <a:highlight>
                      <a:srgbClr val="FFFFFF"/>
                    </a:highlight>
                    <a:latin typeface="-apple-system"/>
                  </a:rPr>
                  <a:t>。如果误差项的方差是同方差的，那么</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估计量不仅是</a:t>
                </a:r>
                <a:r>
                  <a:rPr lang="zh-CN" altLang="en-US" sz="1200" b="0" i="0">
                    <a:solidFill>
                      <a:srgbClr val="FF0000"/>
                    </a:solidFill>
                    <a:effectLst/>
                    <a:highlight>
                      <a:srgbClr val="FFFFFF"/>
                    </a:highlight>
                    <a:latin typeface="-apple-system"/>
                  </a:rPr>
                  <a:t>一致</a:t>
                </a:r>
                <a:r>
                  <a:rPr lang="zh-CN" altLang="en-US" sz="1200" b="0" i="0">
                    <a:solidFill>
                      <a:srgbClr val="2C2C36"/>
                    </a:solidFill>
                    <a:effectLst/>
                    <a:highlight>
                      <a:srgbClr val="FFFFFF"/>
                    </a:highlight>
                    <a:latin typeface="-apple-system"/>
                  </a:rPr>
                  <a:t>的，而且还是</a:t>
                </a:r>
                <a:r>
                  <a:rPr lang="zh-CN" altLang="en-US" sz="1200" b="0" i="0">
                    <a:solidFill>
                      <a:srgbClr val="FF0000"/>
                    </a:solidFill>
                    <a:effectLst/>
                    <a:highlight>
                      <a:srgbClr val="FFFFFF"/>
                    </a:highlight>
                    <a:latin typeface="-apple-system"/>
                  </a:rPr>
                  <a:t>最佳线性无偏估计量（</a:t>
                </a:r>
                <a:r>
                  <a:rPr lang="en-US" altLang="zh-CN" sz="1200" b="0" i="0">
                    <a:solidFill>
                      <a:srgbClr val="FF0000"/>
                    </a:solidFill>
                    <a:effectLst/>
                    <a:highlight>
                      <a:srgbClr val="FFFFFF"/>
                    </a:highlight>
                    <a:latin typeface="-apple-system"/>
                  </a:rPr>
                  <a:t>Best Linear Unbiased Estimator, BLUE</a:t>
                </a:r>
                <a:r>
                  <a:rPr lang="zh-CN" altLang="en-US" sz="1200" b="0" i="0">
                    <a:solidFill>
                      <a:srgbClr val="FF0000"/>
                    </a:solidFill>
                    <a:effectLst/>
                    <a:highlight>
                      <a:srgbClr val="FFFFFF"/>
                    </a:highlight>
                    <a:latin typeface="-apple-system"/>
                  </a:rPr>
                  <a:t>）</a:t>
                </a:r>
                <a:r>
                  <a:rPr lang="zh-CN" altLang="en-US" sz="1200" b="0" i="0">
                    <a:solidFill>
                      <a:srgbClr val="2C2C36"/>
                    </a:solidFill>
                    <a:effectLst/>
                    <a:highlight>
                      <a:srgbClr val="FFFFFF"/>
                    </a:highlight>
                    <a:latin typeface="-apple-system"/>
                  </a:rPr>
                  <a:t>。</a:t>
                </a:r>
                <a:endParaRPr lang="en-US" altLang="zh-CN" sz="1200" b="0" i="0">
                  <a:solidFill>
                    <a:srgbClr val="2C2C36"/>
                  </a:solidFill>
                  <a:effectLst/>
                  <a:highlight>
                    <a:srgbClr val="FFFFFF"/>
                  </a:highlight>
                  <a:latin typeface="-apple-system"/>
                </a:endParaRPr>
              </a:p>
              <a:p>
                <a:pPr algn="l"/>
                <a:r>
                  <a:rPr lang="en-US" altLang="zh-CN" sz="1200" b="0" i="0">
                    <a:solidFill>
                      <a:srgbClr val="2C2C36"/>
                    </a:solidFill>
                    <a:effectLst/>
                    <a:highlight>
                      <a:srgbClr val="FFFFFF"/>
                    </a:highlight>
                    <a:latin typeface="-apple-system"/>
                  </a:rPr>
                  <a:t>BLUE</a:t>
                </a:r>
                <a:r>
                  <a:rPr lang="zh-CN" altLang="en-US" sz="1200" b="0" i="0">
                    <a:solidFill>
                      <a:srgbClr val="2C2C36"/>
                    </a:solidFill>
                    <a:effectLst/>
                    <a:highlight>
                      <a:srgbClr val="FFFFFF"/>
                    </a:highlight>
                    <a:latin typeface="-apple-system"/>
                  </a:rPr>
                  <a:t>的</a:t>
                </a:r>
                <a:r>
                  <a:rPr lang="zh-CN" altLang="en-US" sz="1200" b="0" i="0">
                    <a:solidFill>
                      <a:srgbClr val="2C2C36"/>
                    </a:solidFill>
                    <a:effectLst/>
                    <a:highlight>
                      <a:srgbClr val="FFFF00"/>
                    </a:highlight>
                    <a:latin typeface="-apple-system"/>
                  </a:rPr>
                  <a:t>满足条件</a:t>
                </a:r>
                <a:r>
                  <a:rPr lang="zh-CN" altLang="en-US" sz="1200" b="0" i="0">
                    <a:solidFill>
                      <a:srgbClr val="2C2C36"/>
                    </a:solidFill>
                    <a:effectLst/>
                    <a:highlight>
                      <a:srgbClr val="FFFFFF"/>
                    </a:highlight>
                    <a:latin typeface="-apple-system"/>
                  </a:rPr>
                  <a:t>（须全部满足）：</a:t>
                </a:r>
              </a:p>
              <a:p>
                <a:pPr>
                  <a:buFont typeface="+mj-lt"/>
                  <a:buAutoNum type="arabicPeriod"/>
                </a:pPr>
                <a:r>
                  <a:rPr lang="zh-CN" altLang="en-US" sz="1200" b="1" i="0">
                    <a:solidFill>
                      <a:srgbClr val="2C2C36"/>
                    </a:solidFill>
                    <a:effectLst/>
                    <a:highlight>
                      <a:srgbClr val="FFFFFF"/>
                    </a:highlight>
                    <a:latin typeface="-apple-system"/>
                  </a:rPr>
                  <a:t>线性</a:t>
                </a:r>
                <a:r>
                  <a:rPr lang="zh-CN" altLang="en-US" sz="1200" b="0" i="0">
                    <a:solidFill>
                      <a:srgbClr val="2C2C36"/>
                    </a:solidFill>
                    <a:effectLst/>
                    <a:highlight>
                      <a:srgbClr val="FFFFFF"/>
                    </a:highlight>
                    <a:latin typeface="-apple-system"/>
                  </a:rPr>
                  <a:t>：估计量是基于线性组合的。意味着它是样本数据的一个</a:t>
                </a:r>
                <a:r>
                  <a:rPr lang="zh-CN" altLang="en-US" sz="1200" b="0" i="0">
                    <a:solidFill>
                      <a:srgbClr val="FF0000"/>
                    </a:solidFill>
                    <a:effectLst/>
                    <a:highlight>
                      <a:srgbClr val="FFFFFF"/>
                    </a:highlight>
                    <a:latin typeface="-apple-system"/>
                  </a:rPr>
                  <a:t>线性函数</a:t>
                </a:r>
                <a:r>
                  <a:rPr lang="zh-CN" altLang="en-US" sz="1200" b="0" i="0">
                    <a:solidFill>
                      <a:srgbClr val="2C2C36"/>
                    </a:solidFill>
                    <a:effectLst/>
                    <a:highlight>
                      <a:srgbClr val="FFFFFF"/>
                    </a:highlight>
                    <a:latin typeface="-apple-system"/>
                  </a:rPr>
                  <a:t>。例如，在线性回归中，</a:t>
                </a:r>
                <a:r>
                  <a:rPr lang="zh-CN" altLang="en-US" sz="1200" b="0" i="0">
                    <a:solidFill>
                      <a:srgbClr val="FF0000"/>
                    </a:solidFill>
                    <a:effectLst/>
                    <a:highlight>
                      <a:srgbClr val="FFFFFF"/>
                    </a:highlight>
                    <a:latin typeface="-apple-system"/>
                  </a:rPr>
                  <a:t>估计量 </a:t>
                </a:r>
                <a:r>
                  <a:rPr lang="en-US" altLang="zh-CN" sz="1200" b="0" i="0">
                    <a:solidFill>
                      <a:srgbClr val="FF0000"/>
                    </a:solidFill>
                    <a:effectLst/>
                    <a:highlight>
                      <a:srgbClr val="FFFFFF"/>
                    </a:highlight>
                    <a:latin typeface="KaTeX_Main"/>
                  </a:rPr>
                  <a:t>β</a:t>
                </a:r>
                <a:r>
                  <a:rPr lang="zh-CN" altLang="en-US" sz="1200" b="0" i="0">
                    <a:solidFill>
                      <a:srgbClr val="2C2C36"/>
                    </a:solidFill>
                    <a:effectLst/>
                    <a:highlight>
                      <a:srgbClr val="FFFFFF"/>
                    </a:highlight>
                    <a:latin typeface="-apple-system"/>
                  </a:rPr>
                  <a:t>是</a:t>
                </a:r>
                <a:r>
                  <a:rPr lang="zh-CN" altLang="en-US" sz="1200" b="0" i="0">
                    <a:solidFill>
                      <a:srgbClr val="FF0000"/>
                    </a:solidFill>
                    <a:effectLst/>
                    <a:highlight>
                      <a:srgbClr val="FFFFFF"/>
                    </a:highlight>
                    <a:latin typeface="-apple-system"/>
                  </a:rPr>
                  <a:t>解释变量 </a:t>
                </a:r>
                <a:r>
                  <a:rPr lang="en-US" altLang="zh-CN" sz="1200" b="0" i="0">
                    <a:solidFill>
                      <a:srgbClr val="FF0000"/>
                    </a:solidFill>
                    <a:effectLst/>
                    <a:highlight>
                      <a:srgbClr val="FFFFFF"/>
                    </a:highlight>
                    <a:latin typeface="KaTeX_Main"/>
                  </a:rPr>
                  <a:t>X</a:t>
                </a:r>
                <a:r>
                  <a:rPr lang="zh-CN" altLang="en-US" sz="1200" b="0" i="0">
                    <a:solidFill>
                      <a:srgbClr val="2C2C36"/>
                    </a:solidFill>
                    <a:effectLst/>
                    <a:highlight>
                      <a:srgbClr val="FFFFFF"/>
                    </a:highlight>
                    <a:latin typeface="-apple-system"/>
                  </a:rPr>
                  <a:t>的线性组合，即： </a:t>
                </a:r>
                <a:r>
                  <a:rPr lang="en-US" altLang="zh-CN" sz="1200" b="0" i="0">
                    <a:solidFill>
                      <a:srgbClr val="FF0000"/>
                    </a:solidFill>
                    <a:effectLst/>
                    <a:highlight>
                      <a:srgbClr val="FFFFFF"/>
                    </a:highlight>
                    <a:latin typeface="KaTeX_Main"/>
                  </a:rPr>
                  <a:t>β=</a:t>
                </a:r>
                <a14:m>
                  <m:oMath xmlns:m="http://schemas.openxmlformats.org/officeDocument/2006/math">
                    <m:sSup>
                      <m:sSupPr>
                        <m:ctrlPr>
                          <a:rPr lang="en-US" altLang="zh-CN" sz="1200" i="1" smtClean="0">
                            <a:solidFill>
                              <a:srgbClr val="FF0000"/>
                            </a:solidFill>
                            <a:highlight>
                              <a:srgbClr val="FFFFFF"/>
                            </a:highlight>
                            <a:latin typeface="Cambria Math" panose="02040503050406030204" pitchFamily="18" charset="0"/>
                          </a:rPr>
                        </m:ctrlPr>
                      </m:sSupPr>
                      <m:e>
                        <m:r>
                          <a:rPr lang="zh-CN" altLang="en-US" sz="1200">
                            <a:solidFill>
                              <a:srgbClr val="FF0000"/>
                            </a:solidFill>
                            <a:highlight>
                              <a:srgbClr val="FFFFFF"/>
                            </a:highlight>
                            <a:latin typeface="Cambria Math" panose="02040503050406030204" pitchFamily="18" charset="0"/>
                          </a:rPr>
                          <m:t>（</m:t>
                        </m:r>
                        <m:sSup>
                          <m:sSupPr>
                            <m:ctrlPr>
                              <a:rPr lang="en-US" altLang="zh-CN" sz="1200" i="1">
                                <a:solidFill>
                                  <a:srgbClr val="FF0000"/>
                                </a:solidFill>
                                <a:highlight>
                                  <a:srgbClr val="FFFFFF"/>
                                </a:highlight>
                                <a:latin typeface="Cambria Math" panose="02040503050406030204" pitchFamily="18" charset="0"/>
                              </a:rPr>
                            </m:ctrlPr>
                          </m:sSupPr>
                          <m:e>
                            <m:r>
                              <a:rPr lang="en-US" altLang="zh-CN" sz="1200" i="1">
                                <a:solidFill>
                                  <a:srgbClr val="FF0000"/>
                                </a:solidFill>
                                <a:highlight>
                                  <a:srgbClr val="FFFFFF"/>
                                </a:highlight>
                                <a:latin typeface="Cambria Math" panose="02040503050406030204" pitchFamily="18" charset="0"/>
                              </a:rPr>
                              <m:t>𝑋</m:t>
                            </m:r>
                          </m:e>
                          <m:sup>
                            <m:r>
                              <a:rPr lang="en-US" altLang="zh-CN" sz="1200" i="1">
                                <a:solidFill>
                                  <a:srgbClr val="FF0000"/>
                                </a:solidFill>
                                <a:highlight>
                                  <a:srgbClr val="FFFFFF"/>
                                </a:highlight>
                                <a:latin typeface="Cambria Math" panose="02040503050406030204" pitchFamily="18" charset="0"/>
                              </a:rPr>
                              <m:t>𝑇</m:t>
                            </m:r>
                          </m:sup>
                        </m:sSup>
                        <m:r>
                          <a:rPr lang="en-US" altLang="zh-CN" sz="1200" i="1">
                            <a:solidFill>
                              <a:srgbClr val="FF0000"/>
                            </a:solidFill>
                            <a:highlight>
                              <a:srgbClr val="FFFFFF"/>
                            </a:highlight>
                            <a:latin typeface="Cambria Math" panose="02040503050406030204" pitchFamily="18" charset="0"/>
                          </a:rPr>
                          <m:t>𝑋</m:t>
                        </m:r>
                        <m:r>
                          <a:rPr lang="zh-CN" altLang="en-US" sz="1200">
                            <a:solidFill>
                              <a:srgbClr val="FF0000"/>
                            </a:solidFill>
                            <a:highlight>
                              <a:srgbClr val="FFFFFF"/>
                            </a:highlight>
                            <a:latin typeface="Cambria Math" panose="02040503050406030204" pitchFamily="18" charset="0"/>
                          </a:rPr>
                          <m:t>）</m:t>
                        </m:r>
                      </m:e>
                      <m:sup>
                        <m:r>
                          <a:rPr lang="en-US" altLang="zh-CN" sz="1200" b="0" i="1" smtClean="0">
                            <a:solidFill>
                              <a:srgbClr val="FF0000"/>
                            </a:solidFill>
                            <a:highlight>
                              <a:srgbClr val="FFFFFF"/>
                            </a:highlight>
                            <a:latin typeface="Cambria Math" panose="02040503050406030204" pitchFamily="18" charset="0"/>
                          </a:rPr>
                          <m:t>−1</m:t>
                        </m:r>
                      </m:sup>
                    </m:sSup>
                    <m:sSup>
                      <m:sSupPr>
                        <m:ctrlPr>
                          <a:rPr lang="en-US" altLang="zh-CN" sz="1200" i="1" smtClean="0">
                            <a:solidFill>
                              <a:srgbClr val="FF0000"/>
                            </a:solidFill>
                            <a:highlight>
                              <a:srgbClr val="FFFFFF"/>
                            </a:highlight>
                            <a:latin typeface="Cambria Math" panose="02040503050406030204" pitchFamily="18" charset="0"/>
                          </a:rPr>
                        </m:ctrlPr>
                      </m:sSupPr>
                      <m:e>
                        <m:r>
                          <a:rPr lang="en-US" altLang="zh-CN" sz="1200" b="0" i="1" smtClean="0">
                            <a:solidFill>
                              <a:srgbClr val="FF0000"/>
                            </a:solidFill>
                            <a:highlight>
                              <a:srgbClr val="FFFFFF"/>
                            </a:highlight>
                            <a:latin typeface="Cambria Math" panose="02040503050406030204" pitchFamily="18" charset="0"/>
                          </a:rPr>
                          <m:t>𝑋</m:t>
                        </m:r>
                      </m:e>
                      <m:sup>
                        <m:r>
                          <a:rPr lang="en-US" altLang="zh-CN" sz="1200" b="0" i="1" smtClean="0">
                            <a:solidFill>
                              <a:srgbClr val="FF0000"/>
                            </a:solidFill>
                            <a:highlight>
                              <a:srgbClr val="FFFFFF"/>
                            </a:highlight>
                            <a:latin typeface="Cambria Math" panose="02040503050406030204" pitchFamily="18" charset="0"/>
                          </a:rPr>
                          <m:t>𝑇</m:t>
                        </m:r>
                      </m:sup>
                    </m:sSup>
                    <m:r>
                      <a:rPr lang="en-US" altLang="zh-CN" sz="1200" b="0" i="1" smtClean="0">
                        <a:solidFill>
                          <a:srgbClr val="FF0000"/>
                        </a:solidFill>
                        <a:highlight>
                          <a:srgbClr val="FFFFFF"/>
                        </a:highlight>
                        <a:latin typeface="Cambria Math" panose="02040503050406030204" pitchFamily="18" charset="0"/>
                      </a:rPr>
                      <m:t>𝑦</m:t>
                    </m:r>
                  </m:oMath>
                </a14:m>
                <a:r>
                  <a:rPr lang="zh-CN" altLang="en-US" sz="1200">
                    <a:solidFill>
                      <a:schemeClr val="tx1">
                        <a:lumMod val="95000"/>
                        <a:lumOff val="5000"/>
                      </a:schemeClr>
                    </a:solidFill>
                    <a:highlight>
                      <a:srgbClr val="FFFFFF"/>
                    </a:highlight>
                    <a:latin typeface="KaTeX_Main"/>
                  </a:rPr>
                  <a:t>。</a:t>
                </a:r>
                <a:r>
                  <a:rPr lang="zh-CN" altLang="en-US" sz="1200">
                    <a:solidFill>
                      <a:schemeClr val="tx1">
                        <a:lumMod val="95000"/>
                        <a:lumOff val="5000"/>
                      </a:schemeClr>
                    </a:solidFill>
                    <a:latin typeface="KaTeX_Main"/>
                  </a:rPr>
                  <a:t>确保估计量易于理解和计算。</a:t>
                </a:r>
                <a:endParaRPr lang="en-US" altLang="zh-CN" sz="1200" b="0" i="0">
                  <a:solidFill>
                    <a:schemeClr val="tx1">
                      <a:lumMod val="95000"/>
                      <a:lumOff val="5000"/>
                    </a:schemeClr>
                  </a:solidFill>
                  <a:effectLst/>
                  <a:highlight>
                    <a:srgbClr val="FFFFFF"/>
                  </a:highlight>
                  <a:latin typeface="KaTeX_Main"/>
                </a:endParaRPr>
              </a:p>
              <a:p>
                <a:pPr algn="l">
                  <a:buFont typeface="+mj-lt"/>
                  <a:buAutoNum type="arabicPeriod"/>
                </a:pPr>
                <a:r>
                  <a:rPr lang="zh-CN" altLang="en-US" sz="1200" b="1" i="0">
                    <a:solidFill>
                      <a:srgbClr val="2C2C36"/>
                    </a:solidFill>
                    <a:effectLst/>
                    <a:highlight>
                      <a:srgbClr val="FFFFFF"/>
                    </a:highlight>
                    <a:latin typeface="-apple-system"/>
                  </a:rPr>
                  <a:t>无偏性</a:t>
                </a:r>
                <a:r>
                  <a:rPr lang="zh-CN" altLang="en-US" sz="1200" b="0" i="0">
                    <a:solidFill>
                      <a:srgbClr val="2C2C36"/>
                    </a:solidFill>
                    <a:effectLst/>
                    <a:highlight>
                      <a:srgbClr val="FFFFFF"/>
                    </a:highlight>
                    <a:latin typeface="-apple-system"/>
                  </a:rPr>
                  <a:t>：估计量的期望</a:t>
                </a:r>
                <a:r>
                  <a:rPr lang="zh-CN" altLang="en-US" sz="1200" b="0" i="0">
                    <a:solidFill>
                      <a:srgbClr val="FF0000"/>
                    </a:solidFill>
                    <a:effectLst/>
                    <a:highlight>
                      <a:srgbClr val="FFFFFF"/>
                    </a:highlight>
                    <a:latin typeface="-apple-system"/>
                  </a:rPr>
                  <a:t>等于</a:t>
                </a:r>
                <a:r>
                  <a:rPr lang="zh-CN" altLang="en-US" sz="1200" b="0" i="0">
                    <a:solidFill>
                      <a:srgbClr val="2C2C36"/>
                    </a:solidFill>
                    <a:effectLst/>
                    <a:highlight>
                      <a:srgbClr val="FFFFFF"/>
                    </a:highlight>
                    <a:latin typeface="-apple-system"/>
                  </a:rPr>
                  <a:t>它所估计的参数的真实值。保证估计量在长期平均下是正确的。</a:t>
                </a:r>
              </a:p>
              <a:p>
                <a:pPr algn="l">
                  <a:buFont typeface="+mj-lt"/>
                  <a:buAutoNum type="arabicPeriod"/>
                </a:pPr>
                <a:r>
                  <a:rPr lang="zh-CN" altLang="en-US" sz="1200" b="1" i="0">
                    <a:solidFill>
                      <a:srgbClr val="2C2C36"/>
                    </a:solidFill>
                    <a:effectLst/>
                    <a:highlight>
                      <a:srgbClr val="FFFFFF"/>
                    </a:highlight>
                    <a:latin typeface="-apple-system"/>
                  </a:rPr>
                  <a:t>最小方差</a:t>
                </a:r>
                <a:r>
                  <a:rPr lang="zh-CN" altLang="en-US" sz="1200" b="0" i="0">
                    <a:solidFill>
                      <a:srgbClr val="2C2C36"/>
                    </a:solidFill>
                    <a:effectLst/>
                    <a:highlight>
                      <a:srgbClr val="FFFFFF"/>
                    </a:highlight>
                    <a:latin typeface="-apple-system"/>
                  </a:rPr>
                  <a:t>：在所有线性无偏估计量中，它具有</a:t>
                </a:r>
                <a:r>
                  <a:rPr lang="zh-CN" altLang="en-US" sz="1200" b="0" i="0">
                    <a:solidFill>
                      <a:srgbClr val="FF0000"/>
                    </a:solidFill>
                    <a:effectLst/>
                    <a:highlight>
                      <a:srgbClr val="FFFFFF"/>
                    </a:highlight>
                    <a:latin typeface="-apple-system"/>
                  </a:rPr>
                  <a:t>最小的方差</a:t>
                </a:r>
                <a:r>
                  <a:rPr lang="zh-CN" altLang="en-US" sz="1200" b="0" i="0">
                    <a:solidFill>
                      <a:srgbClr val="2C2C36"/>
                    </a:solidFill>
                    <a:effectLst/>
                    <a:highlight>
                      <a:srgbClr val="FFFFFF"/>
                    </a:highlight>
                    <a:latin typeface="-apple-system"/>
                  </a:rPr>
                  <a:t>。即使估计量是无偏的，它仍然可以有较大的方差。无偏并不意味着每次估计的结果都非常接近真实值，方差较大的估计量意味着它在不同的样本中会有较大的波动，这可能导致在某些样本中得到的估计值与真实值相差较远。</a:t>
                </a:r>
                <a:endParaRPr lang="en-US" altLang="zh-CN" sz="1200" b="0" i="0">
                  <a:solidFill>
                    <a:srgbClr val="2C2C36"/>
                  </a:solidFill>
                  <a:effectLst/>
                  <a:highlight>
                    <a:srgbClr val="FFFFFF"/>
                  </a:highlight>
                  <a:latin typeface="-apple-system"/>
                </a:endParaRPr>
              </a:p>
              <a:p>
                <a:r>
                  <a:rPr lang="zh-CN" altLang="en-US" sz="1200" b="0" i="0">
                    <a:solidFill>
                      <a:srgbClr val="2C2C36"/>
                    </a:solidFill>
                    <a:effectLst/>
                    <a:highlight>
                      <a:srgbClr val="FFFF00"/>
                    </a:highlight>
                    <a:latin typeface="-apple-system"/>
                  </a:rPr>
                  <a:t>标准误</a:t>
                </a:r>
                <a:r>
                  <a:rPr lang="zh-CN" altLang="en-US" sz="1200" b="0" i="0">
                    <a:solidFill>
                      <a:srgbClr val="2C2C36"/>
                    </a:solidFill>
                    <a:effectLst/>
                    <a:highlight>
                      <a:srgbClr val="FFFFFF"/>
                    </a:highlight>
                    <a:latin typeface="-apple-system"/>
                  </a:rPr>
                  <a:t>（</a:t>
                </a:r>
                <a:r>
                  <a:rPr lang="en-US" altLang="zh-CN" sz="1200" b="0" i="0">
                    <a:solidFill>
                      <a:srgbClr val="FF0000"/>
                    </a:solidFill>
                    <a:effectLst/>
                    <a:highlight>
                      <a:srgbClr val="FFFFFF"/>
                    </a:highlight>
                    <a:latin typeface="-apple-system"/>
                  </a:rPr>
                  <a:t>Standard Error, SE</a:t>
                </a:r>
                <a:r>
                  <a:rPr lang="zh-CN" altLang="en-US" sz="1200" b="0" i="0">
                    <a:solidFill>
                      <a:srgbClr val="2C2C36"/>
                    </a:solidFill>
                    <a:effectLst/>
                    <a:highlight>
                      <a:srgbClr val="FFFFFF"/>
                    </a:highlight>
                    <a:latin typeface="-apple-system"/>
                  </a:rPr>
                  <a:t>）是估计量标准差的估计值，它反映了</a:t>
                </a:r>
                <a:r>
                  <a:rPr lang="zh-CN" altLang="en-US" sz="1200" b="0" i="0">
                    <a:solidFill>
                      <a:srgbClr val="FF0000"/>
                    </a:solidFill>
                    <a:effectLst/>
                    <a:highlight>
                      <a:srgbClr val="FFFFFF"/>
                    </a:highlight>
                    <a:latin typeface="-apple-system"/>
                  </a:rPr>
                  <a:t>估计量的变异性</a:t>
                </a:r>
                <a:r>
                  <a:rPr lang="zh-CN" altLang="en-US" sz="1200" b="0" i="0">
                    <a:solidFill>
                      <a:srgbClr val="2C2C36"/>
                    </a:solidFill>
                    <a:effectLst/>
                    <a:highlight>
                      <a:srgbClr val="FFFFFF"/>
                    </a:highlight>
                    <a:latin typeface="-apple-system"/>
                  </a:rPr>
                  <a:t>。标准误越小，表示估计量越稳定可靠。</a:t>
                </a:r>
                <a:endParaRPr lang="en-US" altLang="zh-CN" sz="1200" b="0" i="0">
                  <a:solidFill>
                    <a:srgbClr val="2C2C36"/>
                  </a:solidFill>
                  <a:effectLst/>
                  <a:highlight>
                    <a:srgbClr val="FFFFFF"/>
                  </a:highlight>
                  <a:latin typeface="-apple-system"/>
                </a:endParaRPr>
              </a:p>
              <a:p>
                <a:endParaRPr lang="zh-CN" altLang="en-US" sz="1200"/>
              </a:p>
            </p:txBody>
          </p:sp>
        </mc:Choice>
        <mc:Fallback xmlns="">
          <p:sp>
            <p:nvSpPr>
              <p:cNvPr id="26" name="文本框 25">
                <a:extLst>
                  <a:ext uri="{FF2B5EF4-FFF2-40B4-BE49-F238E27FC236}">
                    <a16:creationId xmlns:a16="http://schemas.microsoft.com/office/drawing/2014/main" id="{081065B5-4332-9AF0-ACDC-A04BA7A0B98F}"/>
                  </a:ext>
                </a:extLst>
              </p:cNvPr>
              <p:cNvSpPr txBox="1">
                <a:spLocks noRot="1" noChangeAspect="1" noMove="1" noResize="1" noEditPoints="1" noAdjustHandles="1" noChangeArrowheads="1" noChangeShapeType="1" noTextEdit="1"/>
              </p:cNvSpPr>
              <p:nvPr/>
            </p:nvSpPr>
            <p:spPr>
              <a:xfrm>
                <a:off x="0" y="525433"/>
                <a:ext cx="5437909" cy="6555641"/>
              </a:xfrm>
              <a:prstGeom prst="rect">
                <a:avLst/>
              </a:prstGeom>
              <a:blipFill>
                <a:blip r:embed="rId2"/>
                <a:stretch>
                  <a:fillRect l="-112" r="-2803"/>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8633F6FC-4D8E-78F6-F745-00BF3A81F806}"/>
              </a:ext>
            </a:extLst>
          </p:cNvPr>
          <p:cNvSpPr txBox="1"/>
          <p:nvPr/>
        </p:nvSpPr>
        <p:spPr>
          <a:xfrm>
            <a:off x="8867" y="0"/>
            <a:ext cx="8961952" cy="646331"/>
          </a:xfrm>
          <a:prstGeom prst="rect">
            <a:avLst/>
          </a:prstGeom>
          <a:noFill/>
        </p:spPr>
        <p:txBody>
          <a:bodyPr wrap="square" rtlCol="0">
            <a:spAutoFit/>
          </a:bodyPr>
          <a:lstStyle/>
          <a:p>
            <a:r>
              <a:rPr lang="zh-CN" altLang="en-US" sz="3600">
                <a:solidFill>
                  <a:srgbClr val="FF0000"/>
                </a:solidFill>
                <a:latin typeface="三极泼墨体" panose="00000500000000000000" pitchFamily="2" charset="-122"/>
                <a:ea typeface="三极泼墨体" panose="00000500000000000000" pitchFamily="2" charset="-122"/>
              </a:rPr>
              <a:t>临时补课</a:t>
            </a:r>
            <a:r>
              <a:rPr lang="en-US" altLang="zh-CN" sz="3600">
                <a:solidFill>
                  <a:srgbClr val="FF0000"/>
                </a:solidFill>
                <a:latin typeface="三极泼墨体" panose="00000500000000000000" pitchFamily="2" charset="-122"/>
                <a:ea typeface="三极泼墨体" panose="00000500000000000000" pitchFamily="2" charset="-122"/>
              </a:rPr>
              <a:t>-</a:t>
            </a:r>
            <a:r>
              <a:rPr lang="zh-CN" altLang="en-US" sz="3600">
                <a:solidFill>
                  <a:srgbClr val="FF0000"/>
                </a:solidFill>
                <a:latin typeface="三极泼墨体" panose="00000500000000000000" pitchFamily="2" charset="-122"/>
                <a:ea typeface="三极泼墨体" panose="00000500000000000000" pitchFamily="2" charset="-122"/>
              </a:rPr>
              <a:t>回归分析专有名词的理解与联系</a:t>
            </a: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06EDB8F1-EA46-35F8-0BC0-0868346961EB}"/>
                  </a:ext>
                </a:extLst>
              </p:cNvPr>
              <p:cNvSpPr txBox="1"/>
              <p:nvPr/>
            </p:nvSpPr>
            <p:spPr>
              <a:xfrm>
                <a:off x="5354782" y="525433"/>
                <a:ext cx="6761018" cy="6395405"/>
              </a:xfrm>
              <a:prstGeom prst="rect">
                <a:avLst/>
              </a:prstGeom>
              <a:noFill/>
            </p:spPr>
            <p:txBody>
              <a:bodyPr wrap="square">
                <a:spAutoFit/>
              </a:bodyPr>
              <a:lstStyle/>
              <a:p>
                <a:r>
                  <a:rPr lang="zh-CN" altLang="en-US" sz="1200" b="0" i="0">
                    <a:solidFill>
                      <a:srgbClr val="2C2C36"/>
                    </a:solidFill>
                    <a:effectLst/>
                    <a:highlight>
                      <a:srgbClr val="FFFF00"/>
                    </a:highlight>
                    <a:latin typeface="-apple-system"/>
                  </a:rPr>
                  <a:t>异方差性</a:t>
                </a:r>
                <a:r>
                  <a:rPr lang="zh-CN" altLang="en-US" sz="1200" b="0" i="0">
                    <a:solidFill>
                      <a:srgbClr val="2C2C36"/>
                    </a:solidFill>
                    <a:effectLst/>
                    <a:highlight>
                      <a:srgbClr val="FFFFFF"/>
                    </a:highlight>
                    <a:latin typeface="-apple-system"/>
                  </a:rPr>
                  <a:t>是指误差项的方差随解释变量的不同取值而</a:t>
                </a:r>
                <a:r>
                  <a:rPr lang="zh-CN" altLang="en-US" sz="1200" b="0" i="0">
                    <a:solidFill>
                      <a:srgbClr val="FF0000"/>
                    </a:solidFill>
                    <a:effectLst/>
                    <a:highlight>
                      <a:srgbClr val="FFFFFF"/>
                    </a:highlight>
                    <a:latin typeface="-apple-system"/>
                  </a:rPr>
                  <a:t>变化</a:t>
                </a:r>
                <a:r>
                  <a:rPr lang="zh-CN" altLang="en-US" sz="1200" b="0" i="0">
                    <a:solidFill>
                      <a:srgbClr val="2C2C36"/>
                    </a:solidFill>
                    <a:effectLst/>
                    <a:highlight>
                      <a:srgbClr val="FFFFFF"/>
                    </a:highlight>
                    <a:latin typeface="-apple-system"/>
                  </a:rPr>
                  <a:t>。在</a:t>
                </a:r>
                <a:r>
                  <a:rPr lang="en-US" altLang="zh-CN" sz="1200" b="0" i="0">
                    <a:solidFill>
                      <a:srgbClr val="2C2C36"/>
                    </a:solidFill>
                    <a:effectLst/>
                    <a:highlight>
                      <a:srgbClr val="FFFFFF"/>
                    </a:highlight>
                    <a:latin typeface="-apple-system"/>
                  </a:rPr>
                  <a:t>LPM</a:t>
                </a:r>
                <a:r>
                  <a:rPr lang="zh-CN" altLang="en-US" sz="1200" b="0" i="0">
                    <a:solidFill>
                      <a:srgbClr val="2C2C36"/>
                    </a:solidFill>
                    <a:effectLst/>
                    <a:highlight>
                      <a:srgbClr val="FFFFFF"/>
                    </a:highlight>
                    <a:latin typeface="-apple-system"/>
                  </a:rPr>
                  <a:t>中，由于因变量是二元的（通常是</a:t>
                </a:r>
                <a:r>
                  <a:rPr lang="en-US" altLang="zh-CN" sz="1200" b="0" i="0">
                    <a:solidFill>
                      <a:srgbClr val="2C2C36"/>
                    </a:solidFill>
                    <a:effectLst/>
                    <a:highlight>
                      <a:srgbClr val="FFFFFF"/>
                    </a:highlight>
                    <a:latin typeface="-apple-system"/>
                  </a:rPr>
                  <a:t>0</a:t>
                </a:r>
                <a:r>
                  <a:rPr lang="zh-CN" altLang="en-US" sz="1200" b="0" i="0">
                    <a:solidFill>
                      <a:srgbClr val="2C2C36"/>
                    </a:solidFill>
                    <a:effectLst/>
                    <a:highlight>
                      <a:srgbClr val="FFFFFF"/>
                    </a:highlight>
                    <a:latin typeface="-apple-system"/>
                  </a:rPr>
                  <a:t>或</a:t>
                </a:r>
                <a:r>
                  <a:rPr lang="en-US" altLang="zh-CN" sz="1200" b="0" i="0">
                    <a:solidFill>
                      <a:srgbClr val="2C2C36"/>
                    </a:solidFill>
                    <a:effectLst/>
                    <a:highlight>
                      <a:srgbClr val="FFFFFF"/>
                    </a:highlight>
                    <a:latin typeface="-apple-system"/>
                  </a:rPr>
                  <a:t>1</a:t>
                </a:r>
                <a:r>
                  <a:rPr lang="zh-CN" altLang="en-US" sz="1200" b="0" i="0">
                    <a:solidFill>
                      <a:srgbClr val="2C2C36"/>
                    </a:solidFill>
                    <a:effectLst/>
                    <a:highlight>
                      <a:srgbClr val="FFFFFF"/>
                    </a:highlight>
                    <a:latin typeface="-apple-system"/>
                  </a:rPr>
                  <a:t>），误差项的方差实际上随着预测概率的变化而变化。具体来说，当预测概率接近</a:t>
                </a:r>
                <a:r>
                  <a:rPr lang="en-US" altLang="zh-CN" sz="1200" b="0" i="0">
                    <a:solidFill>
                      <a:srgbClr val="2C2C36"/>
                    </a:solidFill>
                    <a:effectLst/>
                    <a:highlight>
                      <a:srgbClr val="FFFFFF"/>
                    </a:highlight>
                    <a:latin typeface="-apple-system"/>
                  </a:rPr>
                  <a:t>0</a:t>
                </a:r>
                <a:r>
                  <a:rPr lang="zh-CN" altLang="en-US" sz="1200" b="0" i="0">
                    <a:solidFill>
                      <a:srgbClr val="2C2C36"/>
                    </a:solidFill>
                    <a:effectLst/>
                    <a:highlight>
                      <a:srgbClr val="FFFFFF"/>
                    </a:highlight>
                    <a:latin typeface="-apple-system"/>
                  </a:rPr>
                  <a:t>或</a:t>
                </a:r>
                <a:r>
                  <a:rPr lang="en-US" altLang="zh-CN" sz="1200" b="0" i="0">
                    <a:solidFill>
                      <a:srgbClr val="2C2C36"/>
                    </a:solidFill>
                    <a:effectLst/>
                    <a:highlight>
                      <a:srgbClr val="FFFFFF"/>
                    </a:highlight>
                    <a:latin typeface="-apple-system"/>
                  </a:rPr>
                  <a:t>1</a:t>
                </a:r>
                <a:r>
                  <a:rPr lang="zh-CN" altLang="en-US" sz="1200" b="0" i="0">
                    <a:solidFill>
                      <a:srgbClr val="2C2C36"/>
                    </a:solidFill>
                    <a:effectLst/>
                    <a:highlight>
                      <a:srgbClr val="FFFFFF"/>
                    </a:highlight>
                    <a:latin typeface="-apple-system"/>
                  </a:rPr>
                  <a:t>时，误差项的方差较小；而当预测概率接近</a:t>
                </a:r>
                <a:r>
                  <a:rPr lang="en-US" altLang="zh-CN" sz="1200" b="0" i="0">
                    <a:solidFill>
                      <a:srgbClr val="2C2C36"/>
                    </a:solidFill>
                    <a:effectLst/>
                    <a:highlight>
                      <a:srgbClr val="FFFFFF"/>
                    </a:highlight>
                    <a:latin typeface="-apple-system"/>
                  </a:rPr>
                  <a:t>0.5</a:t>
                </a:r>
                <a:r>
                  <a:rPr lang="zh-CN" altLang="en-US" sz="1200" b="0" i="0">
                    <a:solidFill>
                      <a:srgbClr val="2C2C36"/>
                    </a:solidFill>
                    <a:effectLst/>
                    <a:highlight>
                      <a:srgbClr val="FFFFFF"/>
                    </a:highlight>
                    <a:latin typeface="-apple-system"/>
                  </a:rPr>
                  <a:t>时，误差项的方差最大。这种现象导致了异方差性。</a:t>
                </a:r>
                <a:endParaRPr lang="en-US" altLang="zh-CN" sz="1200" b="0" i="0">
                  <a:solidFill>
                    <a:srgbClr val="2C2C36"/>
                  </a:solidFill>
                  <a:effectLst/>
                  <a:highlight>
                    <a:srgbClr val="FFFFFF"/>
                  </a:highlight>
                  <a:latin typeface="-apple-system"/>
                </a:endParaRPr>
              </a:p>
              <a:p>
                <a:pPr algn="l"/>
                <a:r>
                  <a:rPr lang="zh-CN" altLang="en-US" sz="1200" b="0" i="0">
                    <a:solidFill>
                      <a:srgbClr val="2C2C36"/>
                    </a:solidFill>
                    <a:effectLst/>
                    <a:highlight>
                      <a:srgbClr val="FFFFFF"/>
                    </a:highlight>
                    <a:latin typeface="-apple-system"/>
                  </a:rPr>
                  <a:t>异方差性对</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估计量的</a:t>
                </a:r>
                <a:r>
                  <a:rPr lang="zh-CN" altLang="en-US" sz="1200" b="0" i="0">
                    <a:solidFill>
                      <a:srgbClr val="2C2C36"/>
                    </a:solidFill>
                    <a:effectLst/>
                    <a:highlight>
                      <a:srgbClr val="FFFF00"/>
                    </a:highlight>
                    <a:latin typeface="-apple-system"/>
                  </a:rPr>
                  <a:t>影响</a:t>
                </a:r>
                <a:r>
                  <a:rPr lang="zh-CN" altLang="en-US" sz="1200" b="0" i="0">
                    <a:solidFill>
                      <a:srgbClr val="2C2C36"/>
                    </a:solidFill>
                    <a:effectLst/>
                    <a:highlight>
                      <a:srgbClr val="FFFFFF"/>
                    </a:highlight>
                    <a:latin typeface="-apple-system"/>
                  </a:rPr>
                  <a:t>主要有以下几点：</a:t>
                </a:r>
              </a:p>
              <a:p>
                <a:pPr algn="l">
                  <a:buFont typeface="Arial" panose="020B0604020202020204" pitchFamily="34" charset="0"/>
                  <a:buChar char="•"/>
                </a:pPr>
                <a:r>
                  <a:rPr lang="zh-CN" altLang="en-US" sz="1200" b="1" i="0">
                    <a:solidFill>
                      <a:srgbClr val="FF0000"/>
                    </a:solidFill>
                    <a:effectLst/>
                    <a:highlight>
                      <a:srgbClr val="FFFFFF"/>
                    </a:highlight>
                    <a:latin typeface="-apple-system"/>
                  </a:rPr>
                  <a:t>标准误</a:t>
                </a:r>
                <a:r>
                  <a:rPr lang="zh-CN" altLang="en-US" sz="1200" b="1" i="0">
                    <a:solidFill>
                      <a:srgbClr val="2C2C36"/>
                    </a:solidFill>
                    <a:effectLst/>
                    <a:highlight>
                      <a:srgbClr val="FFFFFF"/>
                    </a:highlight>
                    <a:latin typeface="-apple-system"/>
                  </a:rPr>
                  <a:t>的估计不准确</a:t>
                </a:r>
                <a:r>
                  <a:rPr lang="zh-CN" altLang="en-US" sz="1200" b="0" i="0">
                    <a:solidFill>
                      <a:srgbClr val="2C2C36"/>
                    </a:solidFill>
                    <a:effectLst/>
                    <a:highlight>
                      <a:srgbClr val="FFFFFF"/>
                    </a:highlight>
                    <a:latin typeface="-apple-system"/>
                  </a:rPr>
                  <a:t>： </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估计量的标准误是</a:t>
                </a:r>
                <a:r>
                  <a:rPr lang="zh-CN" altLang="en-US" sz="1200" b="0" i="0">
                    <a:solidFill>
                      <a:srgbClr val="FF0000"/>
                    </a:solidFill>
                    <a:effectLst/>
                    <a:highlight>
                      <a:srgbClr val="FFFFFF"/>
                    </a:highlight>
                    <a:latin typeface="-apple-system"/>
                  </a:rPr>
                  <a:t>基于</a:t>
                </a:r>
                <a:r>
                  <a:rPr lang="zh-CN" altLang="en-US" sz="1200" b="0" i="0">
                    <a:solidFill>
                      <a:srgbClr val="2C2C36"/>
                    </a:solidFill>
                    <a:effectLst/>
                    <a:highlight>
                      <a:srgbClr val="FFFFFF"/>
                    </a:highlight>
                    <a:latin typeface="-apple-system"/>
                  </a:rPr>
                  <a:t>同方差性的假设计算的。标准误的估计不再正确反映系数估计量的标准差，这会导致置信区间和假设检验的不准确。例如，如果标准误被低估，那么可能会错误地认为某个系数显著，即使它实际上不显著。（如果误差项的方差随解释变量的变化而增大，那么</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估计量的标准误会被低估，这会导致置信区间过窄，以及</a:t>
                </a:r>
                <a:r>
                  <a:rPr lang="en-US" altLang="zh-CN" sz="1200" b="0" i="0">
                    <a:solidFill>
                      <a:srgbClr val="2C2C36"/>
                    </a:solidFill>
                    <a:effectLst/>
                    <a:highlight>
                      <a:srgbClr val="FFFFFF"/>
                    </a:highlight>
                    <a:latin typeface="-apple-system"/>
                  </a:rPr>
                  <a:t>t</a:t>
                </a:r>
                <a:r>
                  <a:rPr lang="zh-CN" altLang="en-US" sz="1200" b="0" i="0">
                    <a:solidFill>
                      <a:srgbClr val="2C2C36"/>
                    </a:solidFill>
                    <a:effectLst/>
                    <a:highlight>
                      <a:srgbClr val="FFFFFF"/>
                    </a:highlight>
                    <a:latin typeface="-apple-system"/>
                  </a:rPr>
                  <a:t>检验和</a:t>
                </a:r>
                <a:r>
                  <a:rPr lang="en-US" altLang="zh-CN" sz="1200" b="0" i="0">
                    <a:solidFill>
                      <a:srgbClr val="2C2C36"/>
                    </a:solidFill>
                    <a:effectLst/>
                    <a:highlight>
                      <a:srgbClr val="FFFFFF"/>
                    </a:highlight>
                    <a:latin typeface="-apple-system"/>
                  </a:rPr>
                  <a:t>F</a:t>
                </a:r>
                <a:r>
                  <a:rPr lang="zh-CN" altLang="en-US" sz="1200" b="0" i="0">
                    <a:solidFill>
                      <a:srgbClr val="2C2C36"/>
                    </a:solidFill>
                    <a:effectLst/>
                    <a:highlight>
                      <a:srgbClr val="FFFFFF"/>
                    </a:highlight>
                    <a:latin typeface="-apple-system"/>
                  </a:rPr>
                  <a:t>检验的</a:t>
                </a:r>
                <a:r>
                  <a:rPr lang="en-US" altLang="zh-CN" sz="1200" b="0" i="0">
                    <a:solidFill>
                      <a:srgbClr val="2C2C36"/>
                    </a:solidFill>
                    <a:effectLst/>
                    <a:highlight>
                      <a:srgbClr val="FFFFFF"/>
                    </a:highlight>
                    <a:latin typeface="-apple-system"/>
                  </a:rPr>
                  <a:t>p</a:t>
                </a:r>
                <a:r>
                  <a:rPr lang="zh-CN" altLang="en-US" sz="1200" b="0" i="0">
                    <a:solidFill>
                      <a:srgbClr val="2C2C36"/>
                    </a:solidFill>
                    <a:effectLst/>
                    <a:highlight>
                      <a:srgbClr val="FFFFFF"/>
                    </a:highlight>
                    <a:latin typeface="-apple-system"/>
                  </a:rPr>
                  <a:t>值过低。反之同理。）对于一个给定的置信水平（通常为</a:t>
                </a:r>
                <a:r>
                  <a:rPr lang="en-US" altLang="zh-CN" sz="1200" b="0" i="0">
                    <a:solidFill>
                      <a:srgbClr val="2C2C36"/>
                    </a:solidFill>
                    <a:effectLst/>
                    <a:highlight>
                      <a:srgbClr val="FFFFFF"/>
                    </a:highlight>
                    <a:latin typeface="-apple-system"/>
                  </a:rPr>
                  <a:t>95%</a:t>
                </a:r>
                <a:r>
                  <a:rPr lang="zh-CN" altLang="en-US" sz="1200" b="0" i="0">
                    <a:solidFill>
                      <a:srgbClr val="2C2C36"/>
                    </a:solidFill>
                    <a:effectLst/>
                    <a:highlight>
                      <a:srgbClr val="FFFFFF"/>
                    </a:highlight>
                    <a:latin typeface="-apple-system"/>
                  </a:rPr>
                  <a:t>），置信区间的计算公式如下： </a:t>
                </a:r>
                <a:r>
                  <a:rPr lang="zh-CN" altLang="en-US" sz="1200" b="0" i="0">
                    <a:solidFill>
                      <a:srgbClr val="2C2C36"/>
                    </a:solidFill>
                    <a:effectLst/>
                    <a:highlight>
                      <a:srgbClr val="FFFFFF"/>
                    </a:highlight>
                    <a:latin typeface="KaTeX_Main"/>
                  </a:rPr>
                  <a:t>置信区间</a:t>
                </a:r>
                <a:r>
                  <a:rPr lang="en-US" altLang="zh-CN" sz="1200" b="0" i="0">
                    <a:solidFill>
                      <a:srgbClr val="2C2C36"/>
                    </a:solidFill>
                    <a:effectLst/>
                    <a:highlight>
                      <a:srgbClr val="FFFFFF"/>
                    </a:highlight>
                    <a:latin typeface="KaTeX_Main"/>
                  </a:rPr>
                  <a:t>=</a:t>
                </a:r>
                <a14:m>
                  <m:oMath xmlns:m="http://schemas.openxmlformats.org/officeDocument/2006/math">
                    <m:acc>
                      <m:accPr>
                        <m:chr m:val="̂"/>
                        <m:ctrlPr>
                          <a:rPr lang="en-US" altLang="zh-CN" sz="1200" b="0" i="1" smtClean="0">
                            <a:solidFill>
                              <a:srgbClr val="2C2C36"/>
                            </a:solidFill>
                            <a:effectLst/>
                            <a:highlight>
                              <a:srgbClr val="FFFFFF"/>
                            </a:highlight>
                            <a:latin typeface="Cambria Math" panose="02040503050406030204" pitchFamily="18" charset="0"/>
                          </a:rPr>
                        </m:ctrlPr>
                      </m:accPr>
                      <m:e>
                        <m:r>
                          <a:rPr lang="zh-CN" altLang="en-US" sz="1200" b="0" i="1" smtClean="0">
                            <a:solidFill>
                              <a:srgbClr val="2C2C36"/>
                            </a:solidFill>
                            <a:effectLst/>
                            <a:highlight>
                              <a:srgbClr val="FFFFFF"/>
                            </a:highlight>
                            <a:latin typeface="Cambria Math" panose="02040503050406030204" pitchFamily="18" charset="0"/>
                          </a:rPr>
                          <m:t>𝜃</m:t>
                        </m:r>
                      </m:e>
                    </m:acc>
                    <m:r>
                      <a:rPr lang="en-US" altLang="zh-CN" sz="1200" b="0" i="1" smtClean="0">
                        <a:solidFill>
                          <a:srgbClr val="2C2C36"/>
                        </a:solidFill>
                        <a:effectLst/>
                        <a:highlight>
                          <a:srgbClr val="FFFFFF"/>
                        </a:highlight>
                        <a:latin typeface="Cambria Math" panose="02040503050406030204" pitchFamily="18" charset="0"/>
                        <a:ea typeface="Cambria Math" panose="02040503050406030204" pitchFamily="18" charset="0"/>
                      </a:rPr>
                      <m:t>±</m:t>
                    </m:r>
                    <m:sSub>
                      <m:sSubPr>
                        <m:ctrlPr>
                          <a:rPr lang="en-US" altLang="zh-CN" sz="1200" b="0" i="1" smtClean="0">
                            <a:solidFill>
                              <a:srgbClr val="2C2C36"/>
                            </a:solidFill>
                            <a:effectLst/>
                            <a:highlight>
                              <a:srgbClr val="FFFFFF"/>
                            </a:highlight>
                            <a:latin typeface="Cambria Math" panose="02040503050406030204" pitchFamily="18" charset="0"/>
                            <a:ea typeface="Cambria Math" panose="02040503050406030204" pitchFamily="18" charset="0"/>
                          </a:rPr>
                        </m:ctrlPr>
                      </m:sSubPr>
                      <m:e>
                        <m:r>
                          <m:rPr>
                            <m:sty m:val="p"/>
                          </m:rPr>
                          <a:rPr lang="en-US" altLang="zh-CN" sz="1200" i="1">
                            <a:solidFill>
                              <a:srgbClr val="2C2C36"/>
                            </a:solidFill>
                            <a:highlight>
                              <a:srgbClr val="FFFFFF"/>
                            </a:highlight>
                            <a:latin typeface="Cambria Math" panose="02040503050406030204" pitchFamily="18" charset="0"/>
                            <a:ea typeface="Cambria Math" panose="02040503050406030204" pitchFamily="18" charset="0"/>
                          </a:rPr>
                          <m:t>z</m:t>
                        </m:r>
                      </m:e>
                      <m:sub>
                        <m:r>
                          <a:rPr lang="zh-CN" altLang="en-US" sz="1200" b="0" i="1" smtClean="0">
                            <a:solidFill>
                              <a:srgbClr val="2C2C36"/>
                            </a:solidFill>
                            <a:effectLst/>
                            <a:highlight>
                              <a:srgbClr val="FFFFFF"/>
                            </a:highlight>
                            <a:latin typeface="Cambria Math" panose="02040503050406030204" pitchFamily="18" charset="0"/>
                            <a:ea typeface="Cambria Math" panose="02040503050406030204" pitchFamily="18" charset="0"/>
                          </a:rPr>
                          <m:t>𝛼</m:t>
                        </m:r>
                        <m:r>
                          <a:rPr lang="en-US" altLang="zh-CN" sz="1200" b="0" i="1" smtClean="0">
                            <a:solidFill>
                              <a:srgbClr val="2C2C36"/>
                            </a:solidFill>
                            <a:effectLst/>
                            <a:highlight>
                              <a:srgbClr val="FFFFFF"/>
                            </a:highlight>
                            <a:latin typeface="Cambria Math" panose="02040503050406030204" pitchFamily="18" charset="0"/>
                            <a:ea typeface="Cambria Math" panose="02040503050406030204" pitchFamily="18" charset="0"/>
                          </a:rPr>
                          <m:t>/2</m:t>
                        </m:r>
                      </m:sub>
                    </m:sSub>
                    <m:r>
                      <a:rPr lang="en-US" altLang="zh-CN" sz="1200" i="1">
                        <a:solidFill>
                          <a:srgbClr val="2C2C36"/>
                        </a:solidFill>
                        <a:highlight>
                          <a:srgbClr val="FFFFFF"/>
                        </a:highlight>
                        <a:latin typeface="Cambria Math" panose="02040503050406030204" pitchFamily="18" charset="0"/>
                        <a:ea typeface="Cambria Math" panose="02040503050406030204" pitchFamily="18" charset="0"/>
                      </a:rPr>
                      <m:t>·</m:t>
                    </m:r>
                    <m:r>
                      <m:rPr>
                        <m:sty m:val="p"/>
                      </m:rPr>
                      <a:rPr lang="en-US" altLang="zh-CN" sz="1200" i="1" smtClean="0">
                        <a:solidFill>
                          <a:srgbClr val="2C2C36"/>
                        </a:solidFill>
                        <a:highlight>
                          <a:srgbClr val="FFFFFF"/>
                        </a:highlight>
                        <a:latin typeface="Cambria Math" panose="02040503050406030204" pitchFamily="18" charset="0"/>
                        <a:ea typeface="Cambria Math" panose="02040503050406030204" pitchFamily="18" charset="0"/>
                      </a:rPr>
                      <m:t>SE</m:t>
                    </m:r>
                  </m:oMath>
                </a14:m>
                <a:r>
                  <a:rPr lang="zh-CN" altLang="en-US" sz="1200" b="0" i="0">
                    <a:solidFill>
                      <a:srgbClr val="2C2C36"/>
                    </a:solidFill>
                    <a:effectLst/>
                    <a:highlight>
                      <a:srgbClr val="FFFFFF"/>
                    </a:highlight>
                    <a:latin typeface="-apple-system"/>
                  </a:rPr>
                  <a:t>（</a:t>
                </a:r>
                <a14:m>
                  <m:oMath xmlns:m="http://schemas.openxmlformats.org/officeDocument/2006/math">
                    <m:acc>
                      <m:accPr>
                        <m:chr m:val="̂"/>
                        <m:ctrlPr>
                          <a:rPr lang="zh-CN" altLang="en-US" sz="1200" b="0" i="1" smtClean="0">
                            <a:solidFill>
                              <a:srgbClr val="2C2C36"/>
                            </a:solidFill>
                            <a:effectLst/>
                            <a:highlight>
                              <a:srgbClr val="FFFFFF"/>
                            </a:highlight>
                            <a:latin typeface="Cambria Math" panose="02040503050406030204" pitchFamily="18" charset="0"/>
                          </a:rPr>
                        </m:ctrlPr>
                      </m:accPr>
                      <m:e>
                        <m:r>
                          <a:rPr lang="zh-CN" altLang="en-US" sz="1200" b="0" i="1" smtClean="0">
                            <a:solidFill>
                              <a:srgbClr val="2C2C36"/>
                            </a:solidFill>
                            <a:effectLst/>
                            <a:highlight>
                              <a:srgbClr val="FFFFFF"/>
                            </a:highlight>
                            <a:latin typeface="Cambria Math" panose="02040503050406030204" pitchFamily="18" charset="0"/>
                          </a:rPr>
                          <m:t>𝜃</m:t>
                        </m:r>
                      </m:e>
                    </m:acc>
                  </m:oMath>
                </a14:m>
                <a:r>
                  <a:rPr lang="zh-CN" altLang="en-US" sz="1200" b="0" i="0">
                    <a:solidFill>
                      <a:srgbClr val="2C2C36"/>
                    </a:solidFill>
                    <a:effectLst/>
                    <a:highlight>
                      <a:srgbClr val="FFFFFF"/>
                    </a:highlight>
                    <a:latin typeface="-apple-system"/>
                  </a:rPr>
                  <a:t>）其中 </a:t>
                </a:r>
                <a14:m>
                  <m:oMath xmlns:m="http://schemas.openxmlformats.org/officeDocument/2006/math">
                    <m:acc>
                      <m:accPr>
                        <m:chr m:val="̂"/>
                        <m:ctrlPr>
                          <a:rPr lang="zh-CN" altLang="en-US" sz="1200" b="0" i="1" smtClean="0">
                            <a:solidFill>
                              <a:srgbClr val="2C2C36"/>
                            </a:solidFill>
                            <a:effectLst/>
                            <a:highlight>
                              <a:srgbClr val="FFFFFF"/>
                            </a:highlight>
                            <a:latin typeface="Cambria Math" panose="02040503050406030204" pitchFamily="18" charset="0"/>
                          </a:rPr>
                        </m:ctrlPr>
                      </m:accPr>
                      <m:e>
                        <m:r>
                          <a:rPr lang="zh-CN" altLang="en-US" sz="1200" b="0" i="1" smtClean="0">
                            <a:solidFill>
                              <a:srgbClr val="2C2C36"/>
                            </a:solidFill>
                            <a:effectLst/>
                            <a:highlight>
                              <a:srgbClr val="FFFFFF"/>
                            </a:highlight>
                            <a:latin typeface="Cambria Math" panose="02040503050406030204" pitchFamily="18" charset="0"/>
                          </a:rPr>
                          <m:t>𝜃</m:t>
                        </m:r>
                      </m:e>
                    </m:acc>
                  </m:oMath>
                </a14:m>
                <a:r>
                  <a:rPr lang="zh-CN" altLang="en-US" sz="1200" b="0" i="0">
                    <a:solidFill>
                      <a:srgbClr val="2C2C36"/>
                    </a:solidFill>
                    <a:effectLst/>
                    <a:highlight>
                      <a:srgbClr val="FFFFFF"/>
                    </a:highlight>
                    <a:latin typeface="-apple-system"/>
                  </a:rPr>
                  <a:t>是估计量的估计值，</a:t>
                </a:r>
                <a14:m>
                  <m:oMath xmlns:m="http://schemas.openxmlformats.org/officeDocument/2006/math">
                    <m:sSub>
                      <m:sSubPr>
                        <m:ctrlPr>
                          <a:rPr lang="en-US" altLang="zh-CN" sz="1200" b="0" i="1" smtClean="0">
                            <a:solidFill>
                              <a:srgbClr val="2C2C36"/>
                            </a:solidFill>
                            <a:effectLst/>
                            <a:highlight>
                              <a:srgbClr val="FFFFFF"/>
                            </a:highlight>
                            <a:latin typeface="Cambria Math" panose="02040503050406030204" pitchFamily="18" charset="0"/>
                          </a:rPr>
                        </m:ctrlPr>
                      </m:sSubPr>
                      <m:e>
                        <m:r>
                          <a:rPr lang="en-US" altLang="zh-CN" sz="1200" b="0" i="1" smtClean="0">
                            <a:solidFill>
                              <a:srgbClr val="2C2C36"/>
                            </a:solidFill>
                            <a:effectLst/>
                            <a:highlight>
                              <a:srgbClr val="FFFFFF"/>
                            </a:highlight>
                            <a:latin typeface="Cambria Math" panose="02040503050406030204" pitchFamily="18" charset="0"/>
                          </a:rPr>
                          <m:t>𝑧</m:t>
                        </m:r>
                      </m:e>
                      <m:sub>
                        <m:r>
                          <a:rPr lang="zh-CN" altLang="en-US" sz="1200" b="0" i="1" smtClean="0">
                            <a:solidFill>
                              <a:srgbClr val="2C2C36"/>
                            </a:solidFill>
                            <a:effectLst/>
                            <a:highlight>
                              <a:srgbClr val="FFFFFF"/>
                            </a:highlight>
                            <a:latin typeface="Cambria Math" panose="02040503050406030204" pitchFamily="18" charset="0"/>
                          </a:rPr>
                          <m:t>𝛼</m:t>
                        </m:r>
                        <m:r>
                          <a:rPr lang="en-US" altLang="zh-CN" sz="1200" b="0" i="1" smtClean="0">
                            <a:solidFill>
                              <a:srgbClr val="2C2C36"/>
                            </a:solidFill>
                            <a:effectLst/>
                            <a:highlight>
                              <a:srgbClr val="FFFFFF"/>
                            </a:highlight>
                            <a:latin typeface="Cambria Math" panose="02040503050406030204" pitchFamily="18" charset="0"/>
                          </a:rPr>
                          <m:t>/2</m:t>
                        </m:r>
                      </m:sub>
                    </m:sSub>
                  </m:oMath>
                </a14:m>
                <a:r>
                  <a:rPr lang="zh-CN" altLang="en-US" sz="1200" b="0" i="0">
                    <a:solidFill>
                      <a:srgbClr val="2C2C36"/>
                    </a:solidFill>
                    <a:effectLst/>
                    <a:highlight>
                      <a:srgbClr val="FFFFFF"/>
                    </a:highlight>
                    <a:latin typeface="-apple-system"/>
                  </a:rPr>
                  <a:t>是标准正态分布中对应于置信水平的临界值（例如，对于</a:t>
                </a:r>
                <a:r>
                  <a:rPr lang="en-US" altLang="zh-CN" sz="1200" b="0" i="0">
                    <a:solidFill>
                      <a:srgbClr val="2C2C36"/>
                    </a:solidFill>
                    <a:effectLst/>
                    <a:highlight>
                      <a:srgbClr val="FFFFFF"/>
                    </a:highlight>
                    <a:latin typeface="-apple-system"/>
                  </a:rPr>
                  <a:t>95%</a:t>
                </a:r>
                <a:r>
                  <a:rPr lang="zh-CN" altLang="en-US" sz="1200" b="0" i="0">
                    <a:solidFill>
                      <a:srgbClr val="2C2C36"/>
                    </a:solidFill>
                    <a:effectLst/>
                    <a:highlight>
                      <a:srgbClr val="FFFFFF"/>
                    </a:highlight>
                    <a:latin typeface="-apple-system"/>
                  </a:rPr>
                  <a:t>的置信水平，</a:t>
                </a:r>
                <a:r>
                  <a:rPr lang="en-US" altLang="zh-CN" sz="1200" b="0" i="0">
                    <a:solidFill>
                      <a:srgbClr val="2C2C36"/>
                    </a:solidFill>
                    <a:effectLst/>
                    <a:highlight>
                      <a:srgbClr val="FFFFFF"/>
                    </a:highlight>
                    <a:latin typeface="KaTeX_Main"/>
                  </a:rPr>
                  <a:t>zα/2=1.96</a:t>
                </a:r>
                <a:r>
                  <a:rPr lang="zh-CN" altLang="en-US" sz="1200" b="0" i="0">
                    <a:solidFill>
                      <a:srgbClr val="2C2C36"/>
                    </a:solidFill>
                    <a:effectLst/>
                    <a:highlight>
                      <a:srgbClr val="FFFFFF"/>
                    </a:highlight>
                    <a:latin typeface="-apple-system"/>
                  </a:rPr>
                  <a:t>），</a:t>
                </a:r>
                <a:r>
                  <a:rPr lang="en-US" altLang="zh-CN" sz="1200" b="0" i="0">
                    <a:solidFill>
                      <a:srgbClr val="2C2C36"/>
                    </a:solidFill>
                    <a:effectLst/>
                    <a:highlight>
                      <a:srgbClr val="FFFFFF"/>
                    </a:highlight>
                    <a:latin typeface="KaTeX_Main"/>
                  </a:rPr>
                  <a:t>SE(θ^) </a:t>
                </a:r>
                <a:r>
                  <a:rPr lang="zh-CN" altLang="en-US" sz="1200" b="0" i="0">
                    <a:solidFill>
                      <a:srgbClr val="2C2C36"/>
                    </a:solidFill>
                    <a:effectLst/>
                    <a:highlight>
                      <a:srgbClr val="FFFFFF"/>
                    </a:highlight>
                    <a:latin typeface="-apple-system"/>
                  </a:rPr>
                  <a:t>是估计量的标准误。</a:t>
                </a:r>
              </a:p>
              <a:p>
                <a:pPr algn="l">
                  <a:buFont typeface="Arial" panose="020B0604020202020204" pitchFamily="34" charset="0"/>
                  <a:buChar char="•"/>
                </a:pPr>
                <a:r>
                  <a:rPr lang="zh-CN" altLang="en-US" sz="1200" b="1" i="0">
                    <a:solidFill>
                      <a:srgbClr val="2C2C36"/>
                    </a:solidFill>
                    <a:effectLst/>
                    <a:highlight>
                      <a:srgbClr val="FFFFFF"/>
                    </a:highlight>
                    <a:latin typeface="-apple-system"/>
                  </a:rPr>
                  <a:t>系数估计量的</a:t>
                </a:r>
                <a:r>
                  <a:rPr lang="en-US" altLang="zh-CN" sz="1200" b="1" i="0">
                    <a:solidFill>
                      <a:srgbClr val="FF0000"/>
                    </a:solidFill>
                    <a:effectLst/>
                    <a:highlight>
                      <a:srgbClr val="FFFFFF"/>
                    </a:highlight>
                    <a:latin typeface="-apple-system"/>
                  </a:rPr>
                  <a:t>t</a:t>
                </a:r>
                <a:r>
                  <a:rPr lang="zh-CN" altLang="en-US" sz="1200" b="1" i="0">
                    <a:solidFill>
                      <a:srgbClr val="FF0000"/>
                    </a:solidFill>
                    <a:effectLst/>
                    <a:highlight>
                      <a:srgbClr val="FFFFFF"/>
                    </a:highlight>
                    <a:latin typeface="-apple-system"/>
                  </a:rPr>
                  <a:t>检验和</a:t>
                </a:r>
                <a:r>
                  <a:rPr lang="en-US" altLang="zh-CN" sz="1200" b="1" i="0">
                    <a:solidFill>
                      <a:srgbClr val="FF0000"/>
                    </a:solidFill>
                    <a:effectLst/>
                    <a:highlight>
                      <a:srgbClr val="FFFFFF"/>
                    </a:highlight>
                    <a:latin typeface="-apple-system"/>
                  </a:rPr>
                  <a:t>F</a:t>
                </a:r>
                <a:r>
                  <a:rPr lang="zh-CN" altLang="en-US" sz="1200" b="1" i="0">
                    <a:solidFill>
                      <a:srgbClr val="FF0000"/>
                    </a:solidFill>
                    <a:effectLst/>
                    <a:highlight>
                      <a:srgbClr val="FFFFFF"/>
                    </a:highlight>
                    <a:latin typeface="-apple-system"/>
                  </a:rPr>
                  <a:t>检验</a:t>
                </a:r>
                <a:r>
                  <a:rPr lang="zh-CN" altLang="en-US" sz="1200" b="1" i="0">
                    <a:solidFill>
                      <a:srgbClr val="2C2C36"/>
                    </a:solidFill>
                    <a:effectLst/>
                    <a:highlight>
                      <a:srgbClr val="FFFFFF"/>
                    </a:highlight>
                    <a:latin typeface="-apple-system"/>
                  </a:rPr>
                  <a:t>无效</a:t>
                </a:r>
                <a:r>
                  <a:rPr lang="zh-CN" altLang="en-US" sz="1200" b="0" i="0">
                    <a:solidFill>
                      <a:srgbClr val="2C2C36"/>
                    </a:solidFill>
                    <a:effectLst/>
                    <a:highlight>
                      <a:srgbClr val="FFFFFF"/>
                    </a:highlight>
                    <a:latin typeface="-apple-system"/>
                  </a:rPr>
                  <a:t>：</a:t>
                </a:r>
                <a:r>
                  <a:rPr lang="en-US" altLang="zh-CN" sz="1200" b="0" i="0">
                    <a:solidFill>
                      <a:srgbClr val="2C2C36"/>
                    </a:solidFill>
                    <a:effectLst/>
                    <a:highlight>
                      <a:srgbClr val="FFFFFF"/>
                    </a:highlight>
                    <a:latin typeface="-apple-system"/>
                  </a:rPr>
                  <a:t>t</a:t>
                </a:r>
                <a:r>
                  <a:rPr lang="zh-CN" altLang="en-US" sz="1200" b="0" i="0">
                    <a:solidFill>
                      <a:srgbClr val="2C2C36"/>
                    </a:solidFill>
                    <a:effectLst/>
                    <a:highlight>
                      <a:srgbClr val="FFFFFF"/>
                    </a:highlight>
                    <a:latin typeface="-apple-system"/>
                  </a:rPr>
                  <a:t>检验和</a:t>
                </a:r>
                <a:r>
                  <a:rPr lang="en-US" altLang="zh-CN" sz="1200" b="0" i="0">
                    <a:solidFill>
                      <a:srgbClr val="2C2C36"/>
                    </a:solidFill>
                    <a:effectLst/>
                    <a:highlight>
                      <a:srgbClr val="FFFFFF"/>
                    </a:highlight>
                    <a:latin typeface="-apple-system"/>
                  </a:rPr>
                  <a:t>F</a:t>
                </a:r>
                <a:r>
                  <a:rPr lang="zh-CN" altLang="en-US" sz="1200" b="0" i="0">
                    <a:solidFill>
                      <a:srgbClr val="2C2C36"/>
                    </a:solidFill>
                    <a:effectLst/>
                    <a:highlight>
                      <a:srgbClr val="FFFFFF"/>
                    </a:highlight>
                    <a:latin typeface="-apple-system"/>
                  </a:rPr>
                  <a:t>检验的</a:t>
                </a:r>
                <a:r>
                  <a:rPr lang="en-US" altLang="zh-CN" sz="1200" b="0" i="0">
                    <a:solidFill>
                      <a:srgbClr val="2C2C36"/>
                    </a:solidFill>
                    <a:effectLst/>
                    <a:highlight>
                      <a:srgbClr val="FFFFFF"/>
                    </a:highlight>
                    <a:latin typeface="-apple-system"/>
                  </a:rPr>
                  <a:t>p</a:t>
                </a:r>
                <a:r>
                  <a:rPr lang="zh-CN" altLang="en-US" sz="1200" b="0" i="0">
                    <a:solidFill>
                      <a:srgbClr val="2C2C36"/>
                    </a:solidFill>
                    <a:effectLst/>
                    <a:highlight>
                      <a:srgbClr val="FFFFFF"/>
                    </a:highlight>
                    <a:latin typeface="-apple-system"/>
                  </a:rPr>
                  <a:t>值</a:t>
                </a:r>
                <a:r>
                  <a:rPr lang="zh-CN" altLang="en-US" sz="1200" b="0" i="0">
                    <a:solidFill>
                      <a:srgbClr val="FF0000"/>
                    </a:solidFill>
                    <a:effectLst/>
                    <a:highlight>
                      <a:srgbClr val="FFFFFF"/>
                    </a:highlight>
                    <a:latin typeface="-apple-system"/>
                  </a:rPr>
                  <a:t>依赖</a:t>
                </a:r>
                <a:r>
                  <a:rPr lang="zh-CN" altLang="en-US" sz="1200" b="0" i="0">
                    <a:solidFill>
                      <a:srgbClr val="2C2C36"/>
                    </a:solidFill>
                    <a:effectLst/>
                    <a:highlight>
                      <a:srgbClr val="FFFFFF"/>
                    </a:highlight>
                    <a:latin typeface="-apple-system"/>
                  </a:rPr>
                  <a:t>于标准误的估计，由于标准误估计不准确，基于这些标准误构建的</a:t>
                </a:r>
                <a:r>
                  <a:rPr lang="en-US" altLang="zh-CN" sz="1200" b="0" i="0">
                    <a:solidFill>
                      <a:srgbClr val="2C2C36"/>
                    </a:solidFill>
                    <a:effectLst/>
                    <a:highlight>
                      <a:srgbClr val="FFFFFF"/>
                    </a:highlight>
                    <a:latin typeface="-apple-system"/>
                  </a:rPr>
                  <a:t>t</a:t>
                </a:r>
                <a:r>
                  <a:rPr lang="zh-CN" altLang="en-US" sz="1200" b="0" i="0">
                    <a:solidFill>
                      <a:srgbClr val="2C2C36"/>
                    </a:solidFill>
                    <a:effectLst/>
                    <a:highlight>
                      <a:srgbClr val="FFFFFF"/>
                    </a:highlight>
                    <a:latin typeface="-apple-system"/>
                  </a:rPr>
                  <a:t>检验和</a:t>
                </a:r>
                <a:r>
                  <a:rPr lang="en-US" altLang="zh-CN" sz="1200" b="0" i="0">
                    <a:solidFill>
                      <a:srgbClr val="2C2C36"/>
                    </a:solidFill>
                    <a:effectLst/>
                    <a:highlight>
                      <a:srgbClr val="FFFFFF"/>
                    </a:highlight>
                    <a:latin typeface="-apple-system"/>
                  </a:rPr>
                  <a:t>F</a:t>
                </a:r>
                <a:r>
                  <a:rPr lang="zh-CN" altLang="en-US" sz="1200" b="0" i="0">
                    <a:solidFill>
                      <a:srgbClr val="2C2C36"/>
                    </a:solidFill>
                    <a:effectLst/>
                    <a:highlight>
                      <a:srgbClr val="FFFFFF"/>
                    </a:highlight>
                    <a:latin typeface="-apple-system"/>
                  </a:rPr>
                  <a:t>检验不再有效。</a:t>
                </a:r>
              </a:p>
              <a:p>
                <a:pPr algn="l">
                  <a:buFont typeface="Arial" panose="020B0604020202020204" pitchFamily="34" charset="0"/>
                  <a:buChar char="•"/>
                </a:pPr>
                <a:r>
                  <a:rPr lang="zh-CN" altLang="en-US" sz="1200" b="1" i="0">
                    <a:solidFill>
                      <a:srgbClr val="2C2C36"/>
                    </a:solidFill>
                    <a:effectLst/>
                    <a:highlight>
                      <a:srgbClr val="FFFFFF"/>
                    </a:highlight>
                    <a:latin typeface="-apple-system"/>
                  </a:rPr>
                  <a:t>系数估计量仍然是</a:t>
                </a:r>
                <a:r>
                  <a:rPr lang="zh-CN" altLang="en-US" sz="1200" b="1" i="0">
                    <a:solidFill>
                      <a:srgbClr val="FF0000"/>
                    </a:solidFill>
                    <a:effectLst/>
                    <a:highlight>
                      <a:srgbClr val="FFFFFF"/>
                    </a:highlight>
                    <a:latin typeface="-apple-system"/>
                  </a:rPr>
                  <a:t>无偏</a:t>
                </a:r>
                <a:r>
                  <a:rPr lang="zh-CN" altLang="en-US" sz="1200" b="1" i="0">
                    <a:solidFill>
                      <a:srgbClr val="2C2C36"/>
                    </a:solidFill>
                    <a:effectLst/>
                    <a:highlight>
                      <a:srgbClr val="FFFFFF"/>
                    </a:highlight>
                    <a:latin typeface="-apple-system"/>
                  </a:rPr>
                  <a:t>的</a:t>
                </a:r>
                <a:r>
                  <a:rPr lang="zh-CN" altLang="en-US" sz="1200" b="0" i="0">
                    <a:solidFill>
                      <a:srgbClr val="2C2C36"/>
                    </a:solidFill>
                    <a:effectLst/>
                    <a:highlight>
                      <a:srgbClr val="FFFFFF"/>
                    </a:highlight>
                    <a:latin typeface="-apple-system"/>
                  </a:rPr>
                  <a:t>：尽管标准误的估计不准确，但</a:t>
                </a:r>
                <a:r>
                  <a:rPr lang="en-US" altLang="zh-CN" sz="1200" b="0" i="0">
                    <a:solidFill>
                      <a:srgbClr val="2C2C36"/>
                    </a:solidFill>
                    <a:effectLst/>
                    <a:highlight>
                      <a:srgbClr val="FFFFFF"/>
                    </a:highlight>
                    <a:latin typeface="-apple-system"/>
                  </a:rPr>
                  <a:t>OLS</a:t>
                </a:r>
                <a:r>
                  <a:rPr lang="zh-CN" altLang="en-US" sz="1200" b="0" i="0">
                    <a:solidFill>
                      <a:srgbClr val="2C2C36"/>
                    </a:solidFill>
                    <a:effectLst/>
                    <a:highlight>
                      <a:srgbClr val="FFFFFF"/>
                    </a:highlight>
                    <a:latin typeface="-apple-system"/>
                  </a:rPr>
                  <a:t>估计量本身仍然是无偏的。</a:t>
                </a:r>
              </a:p>
              <a:p>
                <a:pPr algn="l"/>
                <a:r>
                  <a:rPr lang="zh-CN" altLang="en-US" sz="1200" b="0" i="0">
                    <a:solidFill>
                      <a:srgbClr val="2C2C36"/>
                    </a:solidFill>
                    <a:effectLst/>
                    <a:highlight>
                      <a:srgbClr val="FFFFFF"/>
                    </a:highlight>
                    <a:latin typeface="-apple-system"/>
                  </a:rPr>
                  <a:t>针对</a:t>
                </a:r>
                <a:r>
                  <a:rPr lang="en-US" altLang="zh-CN" sz="1200" b="0" i="0">
                    <a:solidFill>
                      <a:srgbClr val="2C2C36"/>
                    </a:solidFill>
                    <a:effectLst/>
                    <a:highlight>
                      <a:srgbClr val="FFFFFF"/>
                    </a:highlight>
                    <a:latin typeface="-apple-system"/>
                  </a:rPr>
                  <a:t>LPM</a:t>
                </a:r>
                <a:r>
                  <a:rPr lang="zh-CN" altLang="en-US" sz="1200" b="0" i="0">
                    <a:solidFill>
                      <a:srgbClr val="2C2C36"/>
                    </a:solidFill>
                    <a:effectLst/>
                    <a:highlight>
                      <a:srgbClr val="FFFFFF"/>
                    </a:highlight>
                    <a:latin typeface="-apple-system"/>
                  </a:rPr>
                  <a:t>中的异方差性问题，有以下几种</a:t>
                </a:r>
                <a:r>
                  <a:rPr lang="zh-CN" altLang="en-US" sz="1200" b="0" i="0">
                    <a:solidFill>
                      <a:srgbClr val="2C2C36"/>
                    </a:solidFill>
                    <a:effectLst/>
                    <a:highlight>
                      <a:srgbClr val="FFFF00"/>
                    </a:highlight>
                    <a:latin typeface="-apple-system"/>
                  </a:rPr>
                  <a:t>解决方法</a:t>
                </a:r>
                <a:r>
                  <a:rPr lang="zh-CN" altLang="en-US" sz="1200" b="0" i="0">
                    <a:solidFill>
                      <a:srgbClr val="2C2C36"/>
                    </a:solidFill>
                    <a:effectLst/>
                    <a:highlight>
                      <a:srgbClr val="FFFFFF"/>
                    </a:highlight>
                    <a:latin typeface="-apple-system"/>
                  </a:rPr>
                  <a:t>：</a:t>
                </a:r>
              </a:p>
              <a:p>
                <a:pPr algn="l" fontAlgn="t">
                  <a:buFont typeface="+mj-lt"/>
                  <a:buAutoNum type="arabicPeriod"/>
                </a:pPr>
                <a:r>
                  <a:rPr lang="zh-CN" altLang="en-US" sz="1200" b="1" i="0">
                    <a:solidFill>
                      <a:srgbClr val="2C2C36"/>
                    </a:solidFill>
                    <a:effectLst/>
                    <a:highlight>
                      <a:srgbClr val="FFFFFF"/>
                    </a:highlight>
                    <a:latin typeface="-apple-system"/>
                  </a:rPr>
                  <a:t>稳健标准误</a:t>
                </a:r>
                <a:r>
                  <a:rPr lang="zh-CN" altLang="en-US" sz="1200" b="0" i="0">
                    <a:solidFill>
                      <a:srgbClr val="2C2C36"/>
                    </a:solidFill>
                    <a:effectLst/>
                    <a:highlight>
                      <a:srgbClr val="FFFFFF"/>
                    </a:highlight>
                    <a:latin typeface="-apple-system"/>
                  </a:rPr>
                  <a:t>：使用</a:t>
                </a:r>
                <a:r>
                  <a:rPr lang="zh-CN" altLang="en-US" sz="1200" b="0" i="0">
                    <a:solidFill>
                      <a:srgbClr val="FF0000"/>
                    </a:solidFill>
                    <a:effectLst/>
                    <a:highlight>
                      <a:srgbClr val="FFFFFF"/>
                    </a:highlight>
                    <a:latin typeface="-apple-system"/>
                  </a:rPr>
                  <a:t>稳健标准误</a:t>
                </a:r>
                <a:r>
                  <a:rPr lang="zh-CN" altLang="en-US" sz="1200" b="0" i="0">
                    <a:solidFill>
                      <a:srgbClr val="2C2C36"/>
                    </a:solidFill>
                    <a:effectLst/>
                    <a:highlight>
                      <a:srgbClr val="FFFFFF"/>
                    </a:highlight>
                    <a:latin typeface="-apple-system"/>
                  </a:rPr>
                  <a:t>（也称为</a:t>
                </a:r>
                <a:r>
                  <a:rPr lang="en-US" altLang="zh-CN" sz="1200" b="0" i="0">
                    <a:solidFill>
                      <a:srgbClr val="2C2C36"/>
                    </a:solidFill>
                    <a:effectLst/>
                    <a:highlight>
                      <a:srgbClr val="FFFFFF"/>
                    </a:highlight>
                    <a:latin typeface="-apple-system"/>
                  </a:rPr>
                  <a:t>Huber-White</a:t>
                </a:r>
                <a:r>
                  <a:rPr lang="zh-CN" altLang="en-US" sz="1200" b="0" i="0">
                    <a:solidFill>
                      <a:srgbClr val="2C2C36"/>
                    </a:solidFill>
                    <a:effectLst/>
                    <a:highlight>
                      <a:srgbClr val="FFFFFF"/>
                    </a:highlight>
                    <a:latin typeface="-apple-system"/>
                  </a:rPr>
                  <a:t>标准误）来修正标准误的估计，使其更准确地反映系数估计量的真实标准差。这种方法不需要对模型进行修改，只是改变了标准误的计算方式。</a:t>
                </a:r>
              </a:p>
              <a:p>
                <a:pPr algn="l" fontAlgn="t">
                  <a:buFont typeface="+mj-lt"/>
                  <a:buAutoNum type="arabicPeriod"/>
                </a:pPr>
                <a:r>
                  <a:rPr lang="zh-CN" altLang="en-US" sz="1200" b="1" i="0">
                    <a:solidFill>
                      <a:srgbClr val="2C2C36"/>
                    </a:solidFill>
                    <a:effectLst/>
                    <a:highlight>
                      <a:srgbClr val="FFFFFF"/>
                    </a:highlight>
                    <a:latin typeface="-apple-system"/>
                  </a:rPr>
                  <a:t>加权最小二乘法（</a:t>
                </a:r>
                <a:r>
                  <a:rPr lang="en-US" altLang="zh-CN" sz="1200" b="1" i="0">
                    <a:solidFill>
                      <a:srgbClr val="2C2C36"/>
                    </a:solidFill>
                    <a:effectLst/>
                    <a:highlight>
                      <a:srgbClr val="FFFFFF"/>
                    </a:highlight>
                    <a:latin typeface="-apple-system"/>
                  </a:rPr>
                  <a:t>WLS</a:t>
                </a:r>
                <a:r>
                  <a:rPr lang="zh-CN" altLang="en-US" sz="1200" b="1" i="0">
                    <a:solidFill>
                      <a:srgbClr val="2C2C36"/>
                    </a:solidFill>
                    <a:effectLst/>
                    <a:highlight>
                      <a:srgbClr val="FFFFFF"/>
                    </a:highlight>
                    <a:latin typeface="-apple-system"/>
                  </a:rPr>
                  <a:t>）</a:t>
                </a:r>
                <a:r>
                  <a:rPr lang="zh-CN" altLang="en-US" sz="1200" b="0" i="0">
                    <a:solidFill>
                      <a:srgbClr val="2C2C36"/>
                    </a:solidFill>
                    <a:effectLst/>
                    <a:highlight>
                      <a:srgbClr val="FFFFFF"/>
                    </a:highlight>
                    <a:latin typeface="-apple-system"/>
                  </a:rPr>
                  <a:t>：如果知道误差项方差的具体形式</a:t>
                </a:r>
                <a:r>
                  <a:rPr lang="zh-CN" altLang="en-US" sz="1200">
                    <a:solidFill>
                      <a:srgbClr val="2C2C36"/>
                    </a:solidFill>
                    <a:highlight>
                      <a:srgbClr val="FFFFFF"/>
                    </a:highlight>
                    <a:latin typeface="-apple-system"/>
                  </a:rPr>
                  <a:t>（</a:t>
                </a:r>
                <a:r>
                  <a:rPr lang="zh-CN" altLang="en-US" sz="1200" b="0" i="0">
                    <a:solidFill>
                      <a:srgbClr val="2C2C36"/>
                    </a:solidFill>
                    <a:effectLst/>
                    <a:highlight>
                      <a:srgbClr val="FFFFFF"/>
                    </a:highlight>
                    <a:latin typeface="-apple-system"/>
                  </a:rPr>
                  <a:t>了解误差项方差如何随着解释变量的变化而变化。例如，在</a:t>
                </a:r>
                <a:r>
                  <a:rPr lang="en-US" altLang="zh-CN" sz="1200" b="0" i="0">
                    <a:solidFill>
                      <a:srgbClr val="2C2C36"/>
                    </a:solidFill>
                    <a:effectLst/>
                    <a:highlight>
                      <a:srgbClr val="FFFFFF"/>
                    </a:highlight>
                    <a:latin typeface="-apple-system"/>
                  </a:rPr>
                  <a:t>LPM</a:t>
                </a:r>
                <a:r>
                  <a:rPr lang="zh-CN" altLang="en-US" sz="1200" b="0" i="0">
                    <a:solidFill>
                      <a:srgbClr val="2C2C36"/>
                    </a:solidFill>
                    <a:effectLst/>
                    <a:highlight>
                      <a:srgbClr val="FFFFFF"/>
                    </a:highlight>
                    <a:latin typeface="-apple-system"/>
                  </a:rPr>
                  <a:t>中，误差项的方差随预测概率的变化而变化，即当预测概率接近</a:t>
                </a:r>
                <a:r>
                  <a:rPr lang="en-US" altLang="zh-CN" sz="1200" b="0" i="0">
                    <a:solidFill>
                      <a:srgbClr val="2C2C36"/>
                    </a:solidFill>
                    <a:effectLst/>
                    <a:highlight>
                      <a:srgbClr val="FFFFFF"/>
                    </a:highlight>
                    <a:latin typeface="-apple-system"/>
                  </a:rPr>
                  <a:t>0.5</a:t>
                </a:r>
                <a:r>
                  <a:rPr lang="zh-CN" altLang="en-US" sz="1200" b="0" i="0">
                    <a:solidFill>
                      <a:srgbClr val="2C2C36"/>
                    </a:solidFill>
                    <a:effectLst/>
                    <a:highlight>
                      <a:srgbClr val="FFFFFF"/>
                    </a:highlight>
                    <a:latin typeface="-apple-system"/>
                  </a:rPr>
                  <a:t>时，方差最大。</a:t>
                </a:r>
                <a:r>
                  <a:rPr lang="zh-CN" altLang="en-US" sz="1200">
                    <a:solidFill>
                      <a:srgbClr val="2C2C36"/>
                    </a:solidFill>
                    <a:highlight>
                      <a:srgbClr val="FFFFFF"/>
                    </a:highlight>
                    <a:latin typeface="-apple-system"/>
                  </a:rPr>
                  <a:t>）</a:t>
                </a:r>
                <a:r>
                  <a:rPr lang="zh-CN" altLang="en-US" sz="1200" b="0" i="0">
                    <a:solidFill>
                      <a:srgbClr val="2C2C36"/>
                    </a:solidFill>
                    <a:effectLst/>
                    <a:highlight>
                      <a:srgbClr val="FFFFFF"/>
                    </a:highlight>
                    <a:latin typeface="-apple-system"/>
                  </a:rPr>
                  <a:t>可用</a:t>
                </a:r>
                <a:r>
                  <a:rPr lang="zh-CN" altLang="en-US" sz="1200" b="0" i="0">
                    <a:solidFill>
                      <a:srgbClr val="FF0000"/>
                    </a:solidFill>
                    <a:effectLst/>
                    <a:highlight>
                      <a:srgbClr val="FFFFFF"/>
                    </a:highlight>
                    <a:latin typeface="-apple-system"/>
                  </a:rPr>
                  <a:t>加权最小二乘法</a:t>
                </a:r>
                <a:r>
                  <a:rPr lang="zh-CN" altLang="en-US" sz="1200" b="0" i="0">
                    <a:solidFill>
                      <a:srgbClr val="2C2C36"/>
                    </a:solidFill>
                    <a:effectLst/>
                    <a:highlight>
                      <a:srgbClr val="FFFFFF"/>
                    </a:highlight>
                    <a:latin typeface="-apple-system"/>
                  </a:rPr>
                  <a:t>来解决异方差性。这涉及到为不同的观测赋予不同的权重，使得最终的估计量不受异方差性的影响。</a:t>
                </a:r>
              </a:p>
              <a:p>
                <a:pPr algn="l" fontAlgn="t">
                  <a:buFont typeface="+mj-lt"/>
                  <a:buAutoNum type="arabicPeriod"/>
                </a:pPr>
                <a:r>
                  <a:rPr lang="zh-CN" altLang="en-US" sz="1200" b="1" i="0">
                    <a:solidFill>
                      <a:srgbClr val="2C2C36"/>
                    </a:solidFill>
                    <a:effectLst/>
                    <a:highlight>
                      <a:srgbClr val="FFFFFF"/>
                    </a:highlight>
                    <a:latin typeface="-apple-system"/>
                  </a:rPr>
                  <a:t>非线性概率模型</a:t>
                </a:r>
                <a:r>
                  <a:rPr lang="zh-CN" altLang="en-US" sz="1200" b="0" i="0">
                    <a:solidFill>
                      <a:srgbClr val="2C2C36"/>
                    </a:solidFill>
                    <a:effectLst/>
                    <a:highlight>
                      <a:srgbClr val="FFFFFF"/>
                    </a:highlight>
                    <a:latin typeface="-apple-system"/>
                  </a:rPr>
                  <a:t>：考虑使用</a:t>
                </a:r>
                <a:r>
                  <a:rPr lang="zh-CN" altLang="en-US" sz="1200" b="0" i="0">
                    <a:solidFill>
                      <a:srgbClr val="FF0000"/>
                    </a:solidFill>
                    <a:effectLst/>
                    <a:highlight>
                      <a:srgbClr val="FFFFFF"/>
                    </a:highlight>
                    <a:latin typeface="-apple-system"/>
                  </a:rPr>
                  <a:t>非线性概率模型</a:t>
                </a:r>
                <a:r>
                  <a:rPr lang="zh-CN" altLang="en-US" sz="1200" b="0" i="0">
                    <a:solidFill>
                      <a:srgbClr val="2C2C36"/>
                    </a:solidFill>
                    <a:effectLst/>
                    <a:highlight>
                      <a:srgbClr val="FFFFFF"/>
                    </a:highlight>
                    <a:latin typeface="-apple-system"/>
                  </a:rPr>
                  <a:t>，如逻辑回归（</a:t>
                </a:r>
                <a:r>
                  <a:rPr lang="en-US" altLang="zh-CN" sz="1200" b="0" i="0">
                    <a:solidFill>
                      <a:srgbClr val="2C2C36"/>
                    </a:solidFill>
                    <a:effectLst/>
                    <a:highlight>
                      <a:srgbClr val="FFFFFF"/>
                    </a:highlight>
                    <a:latin typeface="-apple-system"/>
                  </a:rPr>
                  <a:t>Logistic Regression</a:t>
                </a:r>
                <a:r>
                  <a:rPr lang="zh-CN" altLang="en-US" sz="1200" b="0" i="0">
                    <a:solidFill>
                      <a:srgbClr val="2C2C36"/>
                    </a:solidFill>
                    <a:effectLst/>
                    <a:highlight>
                      <a:srgbClr val="FFFFFF"/>
                    </a:highlight>
                    <a:latin typeface="-apple-system"/>
                  </a:rPr>
                  <a:t>）或</a:t>
                </a:r>
                <a:r>
                  <a:rPr lang="en-US" altLang="zh-CN" sz="1200" b="0" i="0">
                    <a:solidFill>
                      <a:srgbClr val="2C2C36"/>
                    </a:solidFill>
                    <a:effectLst/>
                    <a:highlight>
                      <a:srgbClr val="FFFFFF"/>
                    </a:highlight>
                    <a:latin typeface="-apple-system"/>
                  </a:rPr>
                  <a:t>Probit</a:t>
                </a:r>
                <a:r>
                  <a:rPr lang="zh-CN" altLang="en-US" sz="1200" b="0" i="0">
                    <a:solidFill>
                      <a:srgbClr val="2C2C36"/>
                    </a:solidFill>
                    <a:effectLst/>
                    <a:highlight>
                      <a:srgbClr val="FFFFFF"/>
                    </a:highlight>
                    <a:latin typeface="-apple-system"/>
                  </a:rPr>
                  <a:t>回归，这些模型可以更准确地处理二元因变量，并且通常不会出现异方差性问题。在实际应用中，如果需要估计二元因变量的概率，逻辑回归和</a:t>
                </a:r>
                <a:r>
                  <a:rPr lang="en-US" altLang="zh-CN" sz="1200" b="0" i="0">
                    <a:solidFill>
                      <a:srgbClr val="2C2C36"/>
                    </a:solidFill>
                    <a:effectLst/>
                    <a:highlight>
                      <a:srgbClr val="FFFFFF"/>
                    </a:highlight>
                    <a:latin typeface="-apple-system"/>
                  </a:rPr>
                  <a:t>Probit</a:t>
                </a:r>
                <a:r>
                  <a:rPr lang="zh-CN" altLang="en-US" sz="1200" b="0" i="0">
                    <a:solidFill>
                      <a:srgbClr val="2C2C36"/>
                    </a:solidFill>
                    <a:effectLst/>
                    <a:highlight>
                      <a:srgbClr val="FFFFFF"/>
                    </a:highlight>
                    <a:latin typeface="-apple-system"/>
                  </a:rPr>
                  <a:t>回归通常是更好的选择。</a:t>
                </a:r>
                <a:endParaRPr lang="en-US" altLang="zh-CN" sz="1200" b="0" i="0">
                  <a:solidFill>
                    <a:srgbClr val="2C2C36"/>
                  </a:solidFill>
                  <a:effectLst/>
                  <a:highlight>
                    <a:srgbClr val="FFFFFF"/>
                  </a:highlight>
                  <a:latin typeface="-apple-system"/>
                </a:endParaRPr>
              </a:p>
              <a:p>
                <a:pPr algn="l"/>
                <a:r>
                  <a:rPr lang="zh-CN" altLang="en-US" sz="1200" b="1" i="0">
                    <a:solidFill>
                      <a:srgbClr val="2C2C36"/>
                    </a:solidFill>
                    <a:effectLst/>
                    <a:highlight>
                      <a:srgbClr val="FFFFFF"/>
                    </a:highlight>
                    <a:latin typeface="-apple-system"/>
                  </a:rPr>
                  <a:t>逻辑回归或</a:t>
                </a:r>
                <a:r>
                  <a:rPr lang="en-US" altLang="zh-CN" sz="1200" b="1" i="0">
                    <a:solidFill>
                      <a:srgbClr val="2C2C36"/>
                    </a:solidFill>
                    <a:effectLst/>
                    <a:highlight>
                      <a:srgbClr val="FFFFFF"/>
                    </a:highlight>
                    <a:latin typeface="-apple-system"/>
                  </a:rPr>
                  <a:t>Probit</a:t>
                </a:r>
                <a:r>
                  <a:rPr lang="zh-CN" altLang="en-US" sz="1200" b="1" i="0">
                    <a:solidFill>
                      <a:srgbClr val="2C2C36"/>
                    </a:solidFill>
                    <a:effectLst/>
                    <a:highlight>
                      <a:srgbClr val="FFFFFF"/>
                    </a:highlight>
                    <a:latin typeface="-apple-system"/>
                  </a:rPr>
                  <a:t>回归</a:t>
                </a:r>
                <a:r>
                  <a:rPr lang="zh-CN" altLang="en-US" sz="1200" b="1" i="0">
                    <a:solidFill>
                      <a:srgbClr val="2C2C36"/>
                    </a:solidFill>
                    <a:effectLst/>
                    <a:highlight>
                      <a:srgbClr val="FFFF00"/>
                    </a:highlight>
                    <a:latin typeface="-apple-system"/>
                  </a:rPr>
                  <a:t>选择</a:t>
                </a:r>
                <a:r>
                  <a:rPr lang="zh-CN" altLang="en-US" sz="1200" b="1" i="0">
                    <a:solidFill>
                      <a:srgbClr val="2C2C36"/>
                    </a:solidFill>
                    <a:effectLst/>
                    <a:highlight>
                      <a:srgbClr val="FFFFFF"/>
                    </a:highlight>
                    <a:latin typeface="-apple-system"/>
                  </a:rPr>
                  <a:t>哪个更好</a:t>
                </a:r>
              </a:p>
              <a:p>
                <a:pPr algn="l">
                  <a:buFont typeface="+mj-lt"/>
                  <a:buAutoNum type="arabicPeriod"/>
                </a:pPr>
                <a:r>
                  <a:rPr lang="zh-CN" altLang="en-US" sz="1200" b="1" i="0">
                    <a:solidFill>
                      <a:srgbClr val="2C2C36"/>
                    </a:solidFill>
                    <a:effectLst/>
                    <a:highlight>
                      <a:srgbClr val="FFFFFF"/>
                    </a:highlight>
                    <a:latin typeface="-apple-system"/>
                  </a:rPr>
                  <a:t>解释变量的分布</a:t>
                </a:r>
                <a:r>
                  <a:rPr lang="zh-CN" altLang="en-US" sz="1200" b="0" i="0">
                    <a:solidFill>
                      <a:srgbClr val="2C2C36"/>
                    </a:solidFill>
                    <a:effectLst/>
                    <a:highlight>
                      <a:srgbClr val="FFFFFF"/>
                    </a:highlight>
                    <a:latin typeface="-apple-system"/>
                  </a:rPr>
                  <a:t>：解释变量的分布指的是解释变量在样本中的分布情况，即解释变量的取值范围、集中趋势（如均值、中位数）和离散程度（如方差、标准差）等统计特征。如果解释变量的分布接近</a:t>
                </a:r>
                <a:r>
                  <a:rPr lang="zh-CN" altLang="en-US" sz="1200" b="0" i="0">
                    <a:solidFill>
                      <a:srgbClr val="FF0000"/>
                    </a:solidFill>
                    <a:effectLst/>
                    <a:highlight>
                      <a:srgbClr val="FFFFFF"/>
                    </a:highlight>
                    <a:latin typeface="-apple-system"/>
                  </a:rPr>
                  <a:t>正态分布</a:t>
                </a:r>
                <a:r>
                  <a:rPr lang="zh-CN" altLang="en-US" sz="1200" b="0" i="0">
                    <a:solidFill>
                      <a:srgbClr val="2C2C36"/>
                    </a:solidFill>
                    <a:effectLst/>
                    <a:highlight>
                      <a:srgbClr val="FFFFFF"/>
                    </a:highlight>
                    <a:latin typeface="-apple-system"/>
                  </a:rPr>
                  <a:t>，</a:t>
                </a:r>
                <a:r>
                  <a:rPr lang="en-US" altLang="zh-CN" sz="1200" b="0" i="0">
                    <a:solidFill>
                      <a:srgbClr val="2C2C36"/>
                    </a:solidFill>
                    <a:effectLst/>
                    <a:highlight>
                      <a:srgbClr val="FFFFFF"/>
                    </a:highlight>
                    <a:latin typeface="-apple-system"/>
                  </a:rPr>
                  <a:t>Probit</a:t>
                </a:r>
                <a:r>
                  <a:rPr lang="zh-CN" altLang="en-US" sz="1200" b="0" i="0">
                    <a:solidFill>
                      <a:srgbClr val="2C2C36"/>
                    </a:solidFill>
                    <a:effectLst/>
                    <a:highlight>
                      <a:srgbClr val="FFFFFF"/>
                    </a:highlight>
                    <a:latin typeface="-apple-system"/>
                  </a:rPr>
                  <a:t>回归可能更适合，因为它假设误差项服从标准正态分布。</a:t>
                </a:r>
              </a:p>
              <a:p>
                <a:pPr algn="l">
                  <a:buFont typeface="+mj-lt"/>
                  <a:buAutoNum type="arabicPeriod"/>
                </a:pPr>
                <a:r>
                  <a:rPr lang="zh-CN" altLang="en-US" sz="1200" b="1" i="0">
                    <a:solidFill>
                      <a:srgbClr val="2C2C36"/>
                    </a:solidFill>
                    <a:effectLst/>
                    <a:highlight>
                      <a:srgbClr val="FFFFFF"/>
                    </a:highlight>
                    <a:latin typeface="-apple-system"/>
                  </a:rPr>
                  <a:t>解释变量的影响</a:t>
                </a:r>
                <a:r>
                  <a:rPr lang="zh-CN" altLang="en-US" sz="1200" b="0" i="0">
                    <a:solidFill>
                      <a:srgbClr val="2C2C36"/>
                    </a:solidFill>
                    <a:effectLst/>
                    <a:highlight>
                      <a:srgbClr val="FFFFFF"/>
                    </a:highlight>
                    <a:latin typeface="-apple-system"/>
                  </a:rPr>
                  <a:t>：逻辑回归使用</a:t>
                </a:r>
                <a:r>
                  <a:rPr lang="en-US" altLang="zh-CN" sz="1200" b="0" i="0">
                    <a:solidFill>
                      <a:srgbClr val="2C2C36"/>
                    </a:solidFill>
                    <a:effectLst/>
                    <a:highlight>
                      <a:srgbClr val="FFFFFF"/>
                    </a:highlight>
                    <a:latin typeface="-apple-system"/>
                  </a:rPr>
                  <a:t>logit</a:t>
                </a:r>
                <a:r>
                  <a:rPr lang="zh-CN" altLang="en-US" sz="1200" b="0" i="0">
                    <a:solidFill>
                      <a:srgbClr val="2C2C36"/>
                    </a:solidFill>
                    <a:effectLst/>
                    <a:highlight>
                      <a:srgbClr val="FFFFFF"/>
                    </a:highlight>
                    <a:latin typeface="-apple-system"/>
                  </a:rPr>
                  <a:t>函数，而</a:t>
                </a:r>
                <a:r>
                  <a:rPr lang="en-US" altLang="zh-CN" sz="1200" b="0" i="0">
                    <a:solidFill>
                      <a:srgbClr val="2C2C36"/>
                    </a:solidFill>
                    <a:effectLst/>
                    <a:highlight>
                      <a:srgbClr val="FFFFFF"/>
                    </a:highlight>
                    <a:latin typeface="-apple-system"/>
                  </a:rPr>
                  <a:t>Probit</a:t>
                </a:r>
                <a:r>
                  <a:rPr lang="zh-CN" altLang="en-US" sz="1200" b="0" i="0">
                    <a:solidFill>
                      <a:srgbClr val="2C2C36"/>
                    </a:solidFill>
                    <a:effectLst/>
                    <a:highlight>
                      <a:srgbClr val="FFFFFF"/>
                    </a:highlight>
                    <a:latin typeface="-apple-system"/>
                  </a:rPr>
                  <a:t>回归使用标准正态分布的累积分布函数。在大多数情况下，这两种模型给出的结果相似，但在某些情况下，它们可能有所不同。</a:t>
                </a:r>
              </a:p>
              <a:p>
                <a:pPr algn="l">
                  <a:buFont typeface="+mj-lt"/>
                  <a:buAutoNum type="arabicPeriod"/>
                </a:pPr>
                <a:r>
                  <a:rPr lang="zh-CN" altLang="en-US" sz="1200" b="1" i="0">
                    <a:solidFill>
                      <a:srgbClr val="2C2C36"/>
                    </a:solidFill>
                    <a:effectLst/>
                    <a:highlight>
                      <a:srgbClr val="FFFFFF"/>
                    </a:highlight>
                    <a:latin typeface="-apple-system"/>
                  </a:rPr>
                  <a:t>解释的方便性</a:t>
                </a:r>
                <a:r>
                  <a:rPr lang="zh-CN" altLang="en-US" sz="1200" b="0" i="0">
                    <a:solidFill>
                      <a:srgbClr val="2C2C36"/>
                    </a:solidFill>
                    <a:effectLst/>
                    <a:highlight>
                      <a:srgbClr val="FFFFFF"/>
                    </a:highlight>
                    <a:latin typeface="-apple-system"/>
                  </a:rPr>
                  <a:t>：逻辑回归的系数更容易解释，因为它们与</a:t>
                </a:r>
                <a:r>
                  <a:rPr lang="en-US" altLang="zh-CN" sz="1200" b="0" i="0">
                    <a:solidFill>
                      <a:srgbClr val="2C2C36"/>
                    </a:solidFill>
                    <a:effectLst/>
                    <a:highlight>
                      <a:srgbClr val="FFFFFF"/>
                    </a:highlight>
                    <a:latin typeface="-apple-system"/>
                  </a:rPr>
                  <a:t>odds ratio</a:t>
                </a:r>
                <a:r>
                  <a:rPr lang="zh-CN" altLang="en-US" sz="1200" b="0" i="0">
                    <a:solidFill>
                      <a:srgbClr val="2C2C36"/>
                    </a:solidFill>
                    <a:effectLst/>
                    <a:highlight>
                      <a:srgbClr val="FFFFFF"/>
                    </a:highlight>
                    <a:latin typeface="-apple-system"/>
                  </a:rPr>
                  <a:t>（几率比）直接相关。</a:t>
                </a:r>
                <a:r>
                  <a:rPr lang="en-US" altLang="zh-CN" sz="1200" b="0" i="0">
                    <a:solidFill>
                      <a:srgbClr val="2C2C36"/>
                    </a:solidFill>
                    <a:effectLst/>
                    <a:highlight>
                      <a:srgbClr val="FFFFFF"/>
                    </a:highlight>
                    <a:latin typeface="-apple-system"/>
                  </a:rPr>
                  <a:t>Probit</a:t>
                </a:r>
                <a:r>
                  <a:rPr lang="zh-CN" altLang="en-US" sz="1200" b="0" i="0">
                    <a:solidFill>
                      <a:srgbClr val="2C2C36"/>
                    </a:solidFill>
                    <a:effectLst/>
                    <a:highlight>
                      <a:srgbClr val="FFFFFF"/>
                    </a:highlight>
                    <a:latin typeface="-apple-system"/>
                  </a:rPr>
                  <a:t>回归的系数则与标准正态分布的累积分布函数相关，解释更复杂一些。（如果一个解释变量的系数为</a:t>
                </a:r>
                <a:r>
                  <a:rPr lang="en-US" altLang="zh-CN" sz="1200" b="0" i="0">
                    <a:solidFill>
                      <a:srgbClr val="2C2C36"/>
                    </a:solidFill>
                    <a:effectLst/>
                    <a:highlight>
                      <a:srgbClr val="FFFFFF"/>
                    </a:highlight>
                    <a:latin typeface="-apple-system"/>
                  </a:rPr>
                  <a:t>0.5</a:t>
                </a:r>
                <a:r>
                  <a:rPr lang="zh-CN" altLang="en-US" sz="1200" b="0" i="0">
                    <a:solidFill>
                      <a:srgbClr val="2C2C36"/>
                    </a:solidFill>
                    <a:effectLst/>
                    <a:highlight>
                      <a:srgbClr val="FFFFFF"/>
                    </a:highlight>
                    <a:latin typeface="-apple-system"/>
                  </a:rPr>
                  <a:t>，每增加一个单位，</a:t>
                </a:r>
                <a:r>
                  <a:rPr lang="en-US" altLang="zh-CN" sz="1200" b="0" i="0">
                    <a:solidFill>
                      <a:srgbClr val="2C2C36"/>
                    </a:solidFill>
                    <a:effectLst/>
                    <a:highlight>
                      <a:srgbClr val="FFFFFF"/>
                    </a:highlight>
                    <a:latin typeface="-apple-system"/>
                  </a:rPr>
                  <a:t>odds ratio</a:t>
                </a:r>
                <a:r>
                  <a:rPr lang="zh-CN" altLang="en-US" sz="1200" b="0" i="0">
                    <a:solidFill>
                      <a:srgbClr val="2C2C36"/>
                    </a:solidFill>
                    <a:effectLst/>
                    <a:highlight>
                      <a:srgbClr val="FFFFFF"/>
                    </a:highlight>
                    <a:latin typeface="-apple-system"/>
                  </a:rPr>
                  <a:t>将会增加到原来的</a:t>
                </a:r>
                <a:r>
                  <a:rPr lang="en-US" altLang="zh-CN" sz="1200" b="0" i="0">
                    <a:solidFill>
                      <a:srgbClr val="2C2C36"/>
                    </a:solidFill>
                    <a:effectLst/>
                    <a:highlight>
                      <a:srgbClr val="FFFFFF"/>
                    </a:highlight>
                    <a:latin typeface="KaTeX_Main"/>
                  </a:rPr>
                  <a:t>e^0.5</a:t>
                </a:r>
                <a:r>
                  <a:rPr lang="zh-CN" altLang="en-US" sz="1200" b="0" i="0">
                    <a:solidFill>
                      <a:srgbClr val="2C2C36"/>
                    </a:solidFill>
                    <a:effectLst/>
                    <a:highlight>
                      <a:srgbClr val="FFFFFF"/>
                    </a:highlight>
                    <a:latin typeface="-apple-system"/>
                  </a:rPr>
                  <a:t>倍，这使得结果更容易理解和解释。 ）</a:t>
                </a:r>
              </a:p>
              <a:p>
                <a:pPr algn="l" fontAlgn="t"/>
                <a:r>
                  <a:rPr lang="zh-CN" altLang="en-US" sz="1200" b="0" i="0">
                    <a:solidFill>
                      <a:srgbClr val="2C2C36"/>
                    </a:solidFill>
                    <a:effectLst/>
                    <a:highlight>
                      <a:srgbClr val="FFFF00"/>
                    </a:highlight>
                    <a:latin typeface="-apple-system"/>
                  </a:rPr>
                  <a:t>解释变量</a:t>
                </a:r>
                <a:r>
                  <a:rPr lang="zh-CN" altLang="en-US" sz="1200" b="0" i="0">
                    <a:solidFill>
                      <a:srgbClr val="2C2C36"/>
                    </a:solidFill>
                    <a:effectLst/>
                    <a:highlight>
                      <a:srgbClr val="FFFFFF"/>
                    </a:highlight>
                    <a:latin typeface="-apple-system"/>
                  </a:rPr>
                  <a:t>（也称为</a:t>
                </a:r>
                <a:r>
                  <a:rPr lang="zh-CN" altLang="en-US" sz="1200" b="0" i="0">
                    <a:solidFill>
                      <a:srgbClr val="FF0000"/>
                    </a:solidFill>
                    <a:effectLst/>
                    <a:highlight>
                      <a:srgbClr val="FFFFFF"/>
                    </a:highlight>
                    <a:latin typeface="-apple-system"/>
                  </a:rPr>
                  <a:t>自变量</a:t>
                </a:r>
                <a:r>
                  <a:rPr lang="zh-CN" altLang="en-US" sz="1200" b="0" i="0">
                    <a:solidFill>
                      <a:srgbClr val="2C2C36"/>
                    </a:solidFill>
                    <a:effectLst/>
                    <a:highlight>
                      <a:srgbClr val="FFFFFF"/>
                    </a:highlight>
                    <a:latin typeface="-apple-system"/>
                  </a:rPr>
                  <a:t>或</a:t>
                </a:r>
                <a:r>
                  <a:rPr lang="zh-CN" altLang="en-US" sz="1200" b="0" i="0">
                    <a:solidFill>
                      <a:srgbClr val="FF0000"/>
                    </a:solidFill>
                    <a:effectLst/>
                    <a:highlight>
                      <a:srgbClr val="FFFFFF"/>
                    </a:highlight>
                    <a:latin typeface="-apple-system"/>
                  </a:rPr>
                  <a:t>预测变量</a:t>
                </a:r>
                <a:r>
                  <a:rPr lang="zh-CN" altLang="en-US" sz="1200" b="0" i="0">
                    <a:solidFill>
                      <a:srgbClr val="2C2C36"/>
                    </a:solidFill>
                    <a:effectLst/>
                    <a:highlight>
                      <a:srgbClr val="FFFFFF"/>
                    </a:highlight>
                    <a:latin typeface="-apple-system"/>
                  </a:rPr>
                  <a:t>）用来解释或预测</a:t>
                </a:r>
                <a:r>
                  <a:rPr lang="zh-CN" altLang="en-US" sz="1200" b="0" i="0">
                    <a:solidFill>
                      <a:srgbClr val="FF0000"/>
                    </a:solidFill>
                    <a:effectLst/>
                    <a:highlight>
                      <a:srgbClr val="FFFFFF"/>
                    </a:highlight>
                    <a:latin typeface="-apple-system"/>
                  </a:rPr>
                  <a:t>因变量</a:t>
                </a:r>
                <a:r>
                  <a:rPr lang="zh-CN" altLang="en-US" sz="1200" b="0" i="0">
                    <a:solidFill>
                      <a:srgbClr val="2C2C36"/>
                    </a:solidFill>
                    <a:effectLst/>
                    <a:highlight>
                      <a:srgbClr val="FFFFFF"/>
                    </a:highlight>
                    <a:latin typeface="-apple-system"/>
                  </a:rPr>
                  <a:t>（也称为</a:t>
                </a:r>
                <a:r>
                  <a:rPr lang="zh-CN" altLang="en-US" sz="1200" b="0" i="0">
                    <a:solidFill>
                      <a:srgbClr val="FF0000"/>
                    </a:solidFill>
                    <a:effectLst/>
                    <a:highlight>
                      <a:srgbClr val="FFFFFF"/>
                    </a:highlight>
                    <a:latin typeface="-apple-system"/>
                  </a:rPr>
                  <a:t>响应变量</a:t>
                </a:r>
                <a:r>
                  <a:rPr lang="zh-CN" altLang="en-US" sz="1200" b="0" i="0">
                    <a:solidFill>
                      <a:srgbClr val="2C2C36"/>
                    </a:solidFill>
                    <a:effectLst/>
                    <a:highlight>
                      <a:srgbClr val="FFFFFF"/>
                    </a:highlight>
                    <a:latin typeface="-apple-system"/>
                  </a:rPr>
                  <a:t>或</a:t>
                </a:r>
                <a:r>
                  <a:rPr lang="zh-CN" altLang="en-US" sz="1200" b="0" i="0">
                    <a:solidFill>
                      <a:srgbClr val="FF0000"/>
                    </a:solidFill>
                    <a:effectLst/>
                    <a:highlight>
                      <a:srgbClr val="FFFFFF"/>
                    </a:highlight>
                    <a:latin typeface="-apple-system"/>
                  </a:rPr>
                  <a:t>被解释变量</a:t>
                </a:r>
                <a:r>
                  <a:rPr lang="zh-CN" altLang="en-US" sz="1200" b="0" i="0">
                    <a:solidFill>
                      <a:srgbClr val="2C2C36"/>
                    </a:solidFill>
                    <a:effectLst/>
                    <a:highlight>
                      <a:srgbClr val="FFFFFF"/>
                    </a:highlight>
                    <a:latin typeface="-apple-system"/>
                  </a:rPr>
                  <a:t>）的。</a:t>
                </a:r>
              </a:p>
            </p:txBody>
          </p:sp>
        </mc:Choice>
        <mc:Fallback xmlns="">
          <p:sp>
            <p:nvSpPr>
              <p:cNvPr id="30" name="文本框 29">
                <a:extLst>
                  <a:ext uri="{FF2B5EF4-FFF2-40B4-BE49-F238E27FC236}">
                    <a16:creationId xmlns:a16="http://schemas.microsoft.com/office/drawing/2014/main" id="{06EDB8F1-EA46-35F8-0BC0-0868346961EB}"/>
                  </a:ext>
                </a:extLst>
              </p:cNvPr>
              <p:cNvSpPr txBox="1">
                <a:spLocks noRot="1" noChangeAspect="1" noMove="1" noResize="1" noEditPoints="1" noAdjustHandles="1" noChangeArrowheads="1" noChangeShapeType="1" noTextEdit="1"/>
              </p:cNvSpPr>
              <p:nvPr/>
            </p:nvSpPr>
            <p:spPr>
              <a:xfrm>
                <a:off x="5354782" y="525433"/>
                <a:ext cx="6761018" cy="6395405"/>
              </a:xfrm>
              <a:prstGeom prst="rect">
                <a:avLst/>
              </a:prstGeom>
              <a:blipFill>
                <a:blip r:embed="rId3"/>
                <a:stretch>
                  <a:fillRect l="-90" t="-95" r="-20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48628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E730CDB-A6D6-2A40-4EF3-CE1D2E541934}"/>
              </a:ext>
            </a:extLst>
          </p:cNvPr>
          <p:cNvSpPr txBox="1"/>
          <p:nvPr/>
        </p:nvSpPr>
        <p:spPr>
          <a:xfrm>
            <a:off x="452994" y="140774"/>
            <a:ext cx="2660202"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分类模型</a:t>
            </a:r>
          </a:p>
        </p:txBody>
      </p:sp>
      <p:sp>
        <p:nvSpPr>
          <p:cNvPr id="3" name="文本框 2">
            <a:extLst>
              <a:ext uri="{FF2B5EF4-FFF2-40B4-BE49-F238E27FC236}">
                <a16:creationId xmlns:a16="http://schemas.microsoft.com/office/drawing/2014/main" id="{B63A20F2-71E4-D7CA-6FB8-64DA7FB3DD78}"/>
              </a:ext>
            </a:extLst>
          </p:cNvPr>
          <p:cNvSpPr txBox="1"/>
          <p:nvPr/>
        </p:nvSpPr>
        <p:spPr>
          <a:xfrm>
            <a:off x="176487" y="1098128"/>
            <a:ext cx="1918855" cy="523220"/>
          </a:xfrm>
          <a:prstGeom prst="rect">
            <a:avLst/>
          </a:prstGeom>
          <a:noFill/>
        </p:spPr>
        <p:txBody>
          <a:bodyPr wrap="square" rtlCol="0">
            <a:spAutoFit/>
          </a:bodyPr>
          <a:lstStyle/>
          <a:p>
            <a:r>
              <a:rPr lang="zh-CN" altLang="en-US" sz="2800">
                <a:latin typeface="优设标题黑" panose="00000500000000000000" pitchFamily="2" charset="-122"/>
                <a:ea typeface="优设标题黑" panose="00000500000000000000" pitchFamily="2" charset="-122"/>
              </a:rPr>
              <a:t>二分类模型</a:t>
            </a:r>
          </a:p>
        </p:txBody>
      </p:sp>
      <p:sp>
        <p:nvSpPr>
          <p:cNvPr id="7" name="文本框 6">
            <a:extLst>
              <a:ext uri="{FF2B5EF4-FFF2-40B4-BE49-F238E27FC236}">
                <a16:creationId xmlns:a16="http://schemas.microsoft.com/office/drawing/2014/main" id="{17C6EF40-8507-01BD-4FE0-5146F641A3EE}"/>
              </a:ext>
            </a:extLst>
          </p:cNvPr>
          <p:cNvSpPr txBox="1"/>
          <p:nvPr/>
        </p:nvSpPr>
        <p:spPr>
          <a:xfrm>
            <a:off x="193964" y="1630108"/>
            <a:ext cx="2334491" cy="954107"/>
          </a:xfrm>
          <a:prstGeom prst="rect">
            <a:avLst/>
          </a:prstGeom>
          <a:noFill/>
          <a:ln>
            <a:solidFill>
              <a:schemeClr val="tx1"/>
            </a:solidFill>
          </a:ln>
        </p:spPr>
        <p:txBody>
          <a:bodyPr wrap="square">
            <a:spAutoFit/>
          </a:bodyPr>
          <a:lstStyle/>
          <a:p>
            <a:r>
              <a:rPr lang="zh-CN" altLang="en-US" sz="800"/>
              <a:t>例题：</a:t>
            </a:r>
            <a:endParaRPr lang="en-US" altLang="zh-CN" sz="800"/>
          </a:p>
          <a:p>
            <a:r>
              <a:rPr lang="zh-CN" altLang="en-US" sz="800"/>
              <a:t>根据水果的属性，判断该水果是苹果还是橙子。</a:t>
            </a:r>
            <a:endParaRPr lang="en-US" altLang="zh-CN" sz="800"/>
          </a:p>
          <a:p>
            <a:r>
              <a:rPr lang="en-US" altLang="zh-CN" sz="800"/>
              <a:t>mass: </a:t>
            </a:r>
            <a:r>
              <a:rPr lang="zh-CN" altLang="en-US" sz="800"/>
              <a:t>水果重量</a:t>
            </a:r>
          </a:p>
          <a:p>
            <a:r>
              <a:rPr lang="en-US" altLang="zh-CN" sz="800"/>
              <a:t>width: </a:t>
            </a:r>
            <a:r>
              <a:rPr lang="zh-CN" altLang="en-US" sz="800"/>
              <a:t>水果的宽度</a:t>
            </a:r>
          </a:p>
          <a:p>
            <a:r>
              <a:rPr lang="en-US" altLang="zh-CN" sz="800"/>
              <a:t>height: </a:t>
            </a:r>
            <a:r>
              <a:rPr lang="zh-CN" altLang="en-US" sz="800"/>
              <a:t>水果的高度</a:t>
            </a:r>
          </a:p>
          <a:p>
            <a:r>
              <a:rPr lang="en-US" altLang="zh-CN" sz="800"/>
              <a:t>color_score: </a:t>
            </a:r>
            <a:r>
              <a:rPr lang="zh-CN" altLang="en-US" sz="800"/>
              <a:t>水果的颜色数值，范围</a:t>
            </a:r>
            <a:r>
              <a:rPr lang="en-US" altLang="zh-CN" sz="800"/>
              <a:t>0‐1</a:t>
            </a:r>
          </a:p>
          <a:p>
            <a:r>
              <a:rPr lang="en-US" altLang="zh-CN" sz="800"/>
              <a:t>fruit_name:</a:t>
            </a:r>
            <a:r>
              <a:rPr lang="zh-CN" altLang="en-US" sz="800"/>
              <a:t>水果类别</a:t>
            </a:r>
          </a:p>
        </p:txBody>
      </p:sp>
      <p:sp>
        <p:nvSpPr>
          <p:cNvPr id="8" name="文本框 7">
            <a:extLst>
              <a:ext uri="{FF2B5EF4-FFF2-40B4-BE49-F238E27FC236}">
                <a16:creationId xmlns:a16="http://schemas.microsoft.com/office/drawing/2014/main" id="{5BC86232-4425-48BF-AA00-DB6FE9618F77}"/>
              </a:ext>
            </a:extLst>
          </p:cNvPr>
          <p:cNvSpPr txBox="1"/>
          <p:nvPr/>
        </p:nvSpPr>
        <p:spPr>
          <a:xfrm>
            <a:off x="103908" y="2766616"/>
            <a:ext cx="4731327" cy="276999"/>
          </a:xfrm>
          <a:prstGeom prst="rect">
            <a:avLst/>
          </a:prstGeom>
          <a:noFill/>
        </p:spPr>
        <p:txBody>
          <a:bodyPr wrap="square" rtlCol="0">
            <a:spAutoFit/>
          </a:bodyPr>
          <a:lstStyle/>
          <a:p>
            <a:r>
              <a:rPr lang="en-US" altLang="zh-CN" sz="1200"/>
              <a:t>Step1.</a:t>
            </a:r>
            <a:r>
              <a:rPr lang="zh-CN" altLang="en-US" sz="1200"/>
              <a:t>数据预处理：对定性数据</a:t>
            </a:r>
            <a:r>
              <a:rPr lang="en-US" altLang="zh-CN" sz="1200"/>
              <a:t>-</a:t>
            </a:r>
            <a:r>
              <a:rPr lang="zh-CN" altLang="en-US" sz="1200"/>
              <a:t>水果类别创建虚拟变量</a:t>
            </a:r>
          </a:p>
        </p:txBody>
      </p:sp>
      <p:sp>
        <p:nvSpPr>
          <p:cNvPr id="9" name="文本框 8">
            <a:extLst>
              <a:ext uri="{FF2B5EF4-FFF2-40B4-BE49-F238E27FC236}">
                <a16:creationId xmlns:a16="http://schemas.microsoft.com/office/drawing/2014/main" id="{08329B4F-7F8A-E004-BE48-1544A177BD50}"/>
              </a:ext>
            </a:extLst>
          </p:cNvPr>
          <p:cNvSpPr txBox="1"/>
          <p:nvPr/>
        </p:nvSpPr>
        <p:spPr>
          <a:xfrm>
            <a:off x="103908" y="3087516"/>
            <a:ext cx="4731327" cy="461665"/>
          </a:xfrm>
          <a:prstGeom prst="rect">
            <a:avLst/>
          </a:prstGeom>
          <a:noFill/>
        </p:spPr>
        <p:txBody>
          <a:bodyPr wrap="square" rtlCol="0">
            <a:spAutoFit/>
          </a:bodyPr>
          <a:lstStyle/>
          <a:p>
            <a:r>
              <a:rPr lang="en-US" altLang="zh-CN" sz="1200"/>
              <a:t>Step2.</a:t>
            </a:r>
            <a:r>
              <a:rPr lang="zh-CN" altLang="en-US" sz="1200"/>
              <a:t>选择模型：针对因变量为分类变量的情况，采用逻辑回归（</a:t>
            </a:r>
            <a:r>
              <a:rPr lang="en-US" altLang="zh-CN" sz="1200"/>
              <a:t>Logistic</a:t>
            </a:r>
            <a:r>
              <a:rPr lang="zh-CN" altLang="en-US" sz="1200"/>
              <a:t>回归）。</a:t>
            </a:r>
          </a:p>
        </p:txBody>
      </p:sp>
      <p:sp>
        <p:nvSpPr>
          <p:cNvPr id="12" name="文本框 11">
            <a:extLst>
              <a:ext uri="{FF2B5EF4-FFF2-40B4-BE49-F238E27FC236}">
                <a16:creationId xmlns:a16="http://schemas.microsoft.com/office/drawing/2014/main" id="{EFD7F630-D4E6-B6DB-D2DA-954CFF83D18C}"/>
              </a:ext>
            </a:extLst>
          </p:cNvPr>
          <p:cNvSpPr txBox="1"/>
          <p:nvPr/>
        </p:nvSpPr>
        <p:spPr>
          <a:xfrm>
            <a:off x="288469" y="3839304"/>
            <a:ext cx="3758045" cy="276999"/>
          </a:xfrm>
          <a:prstGeom prst="rect">
            <a:avLst/>
          </a:prstGeom>
          <a:noFill/>
        </p:spPr>
        <p:txBody>
          <a:bodyPr wrap="square">
            <a:spAutoFit/>
          </a:bodyPr>
          <a:lstStyle/>
          <a:p>
            <a:r>
              <a:rPr lang="zh-CN" altLang="en-US" sz="1200">
                <a:latin typeface="优设标题黑" panose="00000500000000000000" pitchFamily="2" charset="-122"/>
                <a:ea typeface="优设标题黑" panose="00000500000000000000" pitchFamily="2" charset="-122"/>
              </a:rPr>
              <a:t>线性概率模型</a:t>
            </a:r>
            <a:r>
              <a:rPr lang="zh-CN" altLang="en-US" sz="1200"/>
              <a:t>（</a:t>
            </a:r>
            <a:r>
              <a:rPr lang="en-US" altLang="zh-CN" sz="1200"/>
              <a:t>Linear Probability Model</a:t>
            </a:r>
            <a:r>
              <a:rPr lang="zh-CN" altLang="en-US" sz="1200"/>
              <a:t>，简记</a:t>
            </a:r>
            <a:r>
              <a:rPr lang="en-US" altLang="zh-CN" sz="1200"/>
              <a:t>LPM</a:t>
            </a:r>
            <a:r>
              <a:rPr lang="zh-CN" altLang="en-US" sz="1200"/>
              <a:t>）</a:t>
            </a:r>
          </a:p>
        </p:txBody>
      </p:sp>
      <p:pic>
        <p:nvPicPr>
          <p:cNvPr id="19" name="图片 18">
            <a:extLst>
              <a:ext uri="{FF2B5EF4-FFF2-40B4-BE49-F238E27FC236}">
                <a16:creationId xmlns:a16="http://schemas.microsoft.com/office/drawing/2014/main" id="{33AEA3B6-F344-0CE6-BA64-4E4CE02629BB}"/>
              </a:ext>
            </a:extLst>
          </p:cNvPr>
          <p:cNvPicPr>
            <a:picLocks noChangeAspect="1"/>
          </p:cNvPicPr>
          <p:nvPr/>
        </p:nvPicPr>
        <p:blipFill>
          <a:blip r:embed="rId2"/>
          <a:stretch>
            <a:fillRect/>
          </a:stretch>
        </p:blipFill>
        <p:spPr>
          <a:xfrm>
            <a:off x="103908" y="4116303"/>
            <a:ext cx="3009288" cy="1086912"/>
          </a:xfrm>
          <a:prstGeom prst="rect">
            <a:avLst/>
          </a:prstGeom>
        </p:spPr>
      </p:pic>
      <p:pic>
        <p:nvPicPr>
          <p:cNvPr id="21" name="图片 20">
            <a:extLst>
              <a:ext uri="{FF2B5EF4-FFF2-40B4-BE49-F238E27FC236}">
                <a16:creationId xmlns:a16="http://schemas.microsoft.com/office/drawing/2014/main" id="{27FBBFEC-1DE9-291A-0BBA-B6D0AA9DB310}"/>
              </a:ext>
            </a:extLst>
          </p:cNvPr>
          <p:cNvPicPr>
            <a:picLocks noChangeAspect="1"/>
          </p:cNvPicPr>
          <p:nvPr/>
        </p:nvPicPr>
        <p:blipFill>
          <a:blip r:embed="rId3"/>
          <a:stretch>
            <a:fillRect/>
          </a:stretch>
        </p:blipFill>
        <p:spPr>
          <a:xfrm>
            <a:off x="452994" y="5262108"/>
            <a:ext cx="2492089" cy="458366"/>
          </a:xfrm>
          <a:prstGeom prst="rect">
            <a:avLst/>
          </a:prstGeom>
        </p:spPr>
      </p:pic>
      <p:sp>
        <p:nvSpPr>
          <p:cNvPr id="22" name="文本框 21">
            <a:extLst>
              <a:ext uri="{FF2B5EF4-FFF2-40B4-BE49-F238E27FC236}">
                <a16:creationId xmlns:a16="http://schemas.microsoft.com/office/drawing/2014/main" id="{EC8FCEA3-B00B-031B-47EA-87022A524809}"/>
              </a:ext>
            </a:extLst>
          </p:cNvPr>
          <p:cNvSpPr txBox="1"/>
          <p:nvPr/>
        </p:nvSpPr>
        <p:spPr>
          <a:xfrm>
            <a:off x="2239239" y="4632497"/>
            <a:ext cx="1879023" cy="400110"/>
          </a:xfrm>
          <a:prstGeom prst="rect">
            <a:avLst/>
          </a:prstGeom>
          <a:noFill/>
        </p:spPr>
        <p:txBody>
          <a:bodyPr wrap="square">
            <a:spAutoFit/>
          </a:bodyPr>
          <a:lstStyle/>
          <a:p>
            <a:r>
              <a:rPr lang="en-US" altLang="zh-CN" sz="1000" b="1">
                <a:solidFill>
                  <a:srgbClr val="FF0000"/>
                </a:solidFill>
              </a:rPr>
              <a:t>u</a:t>
            </a:r>
            <a:r>
              <a:rPr lang="zh-CN" altLang="en-US" sz="1000" b="1">
                <a:solidFill>
                  <a:srgbClr val="FF0000"/>
                </a:solidFill>
              </a:rPr>
              <a:t>的函数里有</a:t>
            </a:r>
            <a:r>
              <a:rPr lang="en-US" altLang="zh-CN" sz="1000" b="1">
                <a:solidFill>
                  <a:srgbClr val="FF0000"/>
                </a:solidFill>
              </a:rPr>
              <a:t>x</a:t>
            </a:r>
            <a:r>
              <a:rPr lang="zh-CN" altLang="en-US" sz="1000" b="1">
                <a:solidFill>
                  <a:srgbClr val="FF0000"/>
                </a:solidFill>
              </a:rPr>
              <a:t>，可见</a:t>
            </a:r>
            <a:r>
              <a:rPr lang="en-US" altLang="zh-CN" sz="1000" b="1">
                <a:solidFill>
                  <a:srgbClr val="FF0000"/>
                </a:solidFill>
              </a:rPr>
              <a:t>u</a:t>
            </a:r>
            <a:r>
              <a:rPr lang="zh-CN" altLang="en-US" sz="1000" b="1">
                <a:solidFill>
                  <a:srgbClr val="FF0000"/>
                </a:solidFill>
              </a:rPr>
              <a:t>与</a:t>
            </a:r>
            <a:r>
              <a:rPr lang="en-US" altLang="zh-CN" sz="1000" b="1">
                <a:solidFill>
                  <a:srgbClr val="FF0000"/>
                </a:solidFill>
              </a:rPr>
              <a:t>x</a:t>
            </a:r>
            <a:r>
              <a:rPr lang="zh-CN" altLang="en-US" sz="1000" b="1">
                <a:solidFill>
                  <a:srgbClr val="FF0000"/>
                </a:solidFill>
              </a:rPr>
              <a:t>相关，故存在内生性</a:t>
            </a:r>
          </a:p>
        </p:txBody>
      </p:sp>
      <p:sp>
        <p:nvSpPr>
          <p:cNvPr id="4" name="矩形 3">
            <a:extLst>
              <a:ext uri="{FF2B5EF4-FFF2-40B4-BE49-F238E27FC236}">
                <a16:creationId xmlns:a16="http://schemas.microsoft.com/office/drawing/2014/main" id="{0174ED42-D60E-5D86-E061-F1291F33C267}"/>
              </a:ext>
            </a:extLst>
          </p:cNvPr>
          <p:cNvSpPr/>
          <p:nvPr/>
        </p:nvSpPr>
        <p:spPr>
          <a:xfrm>
            <a:off x="2801470" y="4410432"/>
            <a:ext cx="237868" cy="222065"/>
          </a:xfrm>
          <a:prstGeom prst="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8133A90F-05B4-D220-1012-D7193AC4F059}"/>
              </a:ext>
            </a:extLst>
          </p:cNvPr>
          <p:cNvSpPr/>
          <p:nvPr/>
        </p:nvSpPr>
        <p:spPr>
          <a:xfrm>
            <a:off x="2401420" y="4410432"/>
            <a:ext cx="326192" cy="222065"/>
          </a:xfrm>
          <a:prstGeom prst="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521966D-16F4-B23B-A333-6290BED61FD4}"/>
              </a:ext>
            </a:extLst>
          </p:cNvPr>
          <p:cNvSpPr/>
          <p:nvPr/>
        </p:nvSpPr>
        <p:spPr>
          <a:xfrm>
            <a:off x="2282485" y="5557302"/>
            <a:ext cx="662597" cy="162107"/>
          </a:xfrm>
          <a:prstGeom prst="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1565256-2662-8E4A-AF55-DBD5A73C34B2}"/>
              </a:ext>
            </a:extLst>
          </p:cNvPr>
          <p:cNvSpPr txBox="1"/>
          <p:nvPr/>
        </p:nvSpPr>
        <p:spPr>
          <a:xfrm>
            <a:off x="4835235" y="70278"/>
            <a:ext cx="2043545" cy="276999"/>
          </a:xfrm>
          <a:prstGeom prst="rect">
            <a:avLst/>
          </a:prstGeom>
          <a:noFill/>
        </p:spPr>
        <p:txBody>
          <a:bodyPr wrap="square">
            <a:spAutoFit/>
          </a:bodyPr>
          <a:lstStyle/>
          <a:p>
            <a:r>
              <a:rPr lang="zh-CN" altLang="en-US" sz="1200">
                <a:latin typeface="优设标题黑" panose="00000500000000000000" pitchFamily="2" charset="-122"/>
                <a:ea typeface="优设标题黑" panose="00000500000000000000" pitchFamily="2" charset="-122"/>
              </a:rPr>
              <a:t>两点分布</a:t>
            </a:r>
            <a:r>
              <a:rPr lang="zh-CN" altLang="en-US" sz="1200"/>
              <a:t>（伯努利分布）</a:t>
            </a:r>
          </a:p>
        </p:txBody>
      </p:sp>
      <p:pic>
        <p:nvPicPr>
          <p:cNvPr id="16" name="图片 15">
            <a:extLst>
              <a:ext uri="{FF2B5EF4-FFF2-40B4-BE49-F238E27FC236}">
                <a16:creationId xmlns:a16="http://schemas.microsoft.com/office/drawing/2014/main" id="{AA95FEF3-225E-7608-D850-B65F16105CA0}"/>
              </a:ext>
            </a:extLst>
          </p:cNvPr>
          <p:cNvPicPr>
            <a:picLocks noChangeAspect="1"/>
          </p:cNvPicPr>
          <p:nvPr/>
        </p:nvPicPr>
        <p:blipFill>
          <a:blip r:embed="rId4"/>
          <a:stretch>
            <a:fillRect/>
          </a:stretch>
        </p:blipFill>
        <p:spPr>
          <a:xfrm>
            <a:off x="4810411" y="420733"/>
            <a:ext cx="4039178" cy="1113971"/>
          </a:xfrm>
          <a:prstGeom prst="rect">
            <a:avLst/>
          </a:prstGeom>
        </p:spPr>
      </p:pic>
      <p:pic>
        <p:nvPicPr>
          <p:cNvPr id="18" name="图片 17">
            <a:extLst>
              <a:ext uri="{FF2B5EF4-FFF2-40B4-BE49-F238E27FC236}">
                <a16:creationId xmlns:a16="http://schemas.microsoft.com/office/drawing/2014/main" id="{B7E421B8-FC92-A1FB-74EE-C00BD8315944}"/>
              </a:ext>
            </a:extLst>
          </p:cNvPr>
          <p:cNvPicPr>
            <a:picLocks noChangeAspect="1"/>
          </p:cNvPicPr>
          <p:nvPr/>
        </p:nvPicPr>
        <p:blipFill>
          <a:blip r:embed="rId5"/>
          <a:stretch>
            <a:fillRect/>
          </a:stretch>
        </p:blipFill>
        <p:spPr>
          <a:xfrm>
            <a:off x="4810411" y="1667483"/>
            <a:ext cx="3229337" cy="1648662"/>
          </a:xfrm>
          <a:prstGeom prst="rect">
            <a:avLst/>
          </a:prstGeom>
        </p:spPr>
      </p:pic>
      <p:sp>
        <p:nvSpPr>
          <p:cNvPr id="25" name="文本框 24">
            <a:extLst>
              <a:ext uri="{FF2B5EF4-FFF2-40B4-BE49-F238E27FC236}">
                <a16:creationId xmlns:a16="http://schemas.microsoft.com/office/drawing/2014/main" id="{DE5BD484-79AA-C5C1-BFA1-6E347C43852B}"/>
              </a:ext>
            </a:extLst>
          </p:cNvPr>
          <p:cNvSpPr txBox="1"/>
          <p:nvPr/>
        </p:nvSpPr>
        <p:spPr>
          <a:xfrm>
            <a:off x="8652164" y="0"/>
            <a:ext cx="3539836" cy="1015663"/>
          </a:xfrm>
          <a:prstGeom prst="rect">
            <a:avLst/>
          </a:prstGeom>
          <a:noFill/>
          <a:ln>
            <a:solidFill>
              <a:schemeClr val="accent6">
                <a:lumMod val="60000"/>
                <a:lumOff val="40000"/>
              </a:schemeClr>
            </a:solidFill>
          </a:ln>
        </p:spPr>
        <p:txBody>
          <a:bodyPr wrap="square">
            <a:spAutoFit/>
          </a:bodyPr>
          <a:lstStyle/>
          <a:p>
            <a:r>
              <a:rPr lang="en-US" altLang="zh-CN" sz="1000" b="0" i="0">
                <a:effectLst/>
                <a:latin typeface="Menlo"/>
              </a:rPr>
              <a:t>f1=@(x) normcdf(x); </a:t>
            </a:r>
            <a:r>
              <a:rPr lang="en-US" altLang="zh-CN" sz="1000" b="0" i="0">
                <a:solidFill>
                  <a:srgbClr val="008013"/>
                </a:solidFill>
                <a:effectLst/>
                <a:latin typeface="Menlo"/>
              </a:rPr>
              <a:t>% </a:t>
            </a:r>
            <a:r>
              <a:rPr lang="zh-CN" altLang="en-US" sz="1000" b="0" i="0">
                <a:solidFill>
                  <a:srgbClr val="008013"/>
                </a:solidFill>
                <a:effectLst/>
                <a:latin typeface="Menlo"/>
              </a:rPr>
              <a:t>标准正态分布的累积分布函数 </a:t>
            </a:r>
            <a:endParaRPr lang="zh-CN" altLang="en-US" sz="1000" b="0" i="0">
              <a:effectLst/>
              <a:latin typeface="Menlo"/>
            </a:endParaRPr>
          </a:p>
          <a:p>
            <a:r>
              <a:rPr lang="en-US" altLang="zh-CN" sz="1000" b="0" i="0">
                <a:effectLst/>
                <a:latin typeface="Menlo"/>
              </a:rPr>
              <a:t>fplot(f1, [-4,4]); </a:t>
            </a:r>
            <a:r>
              <a:rPr lang="en-US" altLang="zh-CN" sz="1000" b="0" i="0">
                <a:solidFill>
                  <a:srgbClr val="008013"/>
                </a:solidFill>
                <a:effectLst/>
                <a:latin typeface="Menlo"/>
              </a:rPr>
              <a:t>% </a:t>
            </a:r>
            <a:r>
              <a:rPr lang="zh-CN" altLang="en-US" sz="1000" b="0" i="0">
                <a:solidFill>
                  <a:srgbClr val="008013"/>
                </a:solidFill>
                <a:effectLst/>
                <a:latin typeface="Menlo"/>
              </a:rPr>
              <a:t>在</a:t>
            </a:r>
            <a:r>
              <a:rPr lang="en-US" altLang="zh-CN" sz="1000" b="0" i="0">
                <a:solidFill>
                  <a:srgbClr val="008013"/>
                </a:solidFill>
                <a:effectLst/>
                <a:latin typeface="Menlo"/>
              </a:rPr>
              <a:t>-4</a:t>
            </a:r>
            <a:r>
              <a:rPr lang="zh-CN" altLang="en-US" sz="1000" b="0" i="0">
                <a:solidFill>
                  <a:srgbClr val="008013"/>
                </a:solidFill>
                <a:effectLst/>
                <a:latin typeface="Menlo"/>
              </a:rPr>
              <a:t>到</a:t>
            </a:r>
            <a:r>
              <a:rPr lang="en-US" altLang="zh-CN" sz="1000" b="0" i="0">
                <a:solidFill>
                  <a:srgbClr val="008013"/>
                </a:solidFill>
                <a:effectLst/>
                <a:latin typeface="Menlo"/>
              </a:rPr>
              <a:t>4</a:t>
            </a:r>
            <a:r>
              <a:rPr lang="zh-CN" altLang="en-US" sz="1000" b="0" i="0">
                <a:solidFill>
                  <a:srgbClr val="008013"/>
                </a:solidFill>
                <a:effectLst/>
                <a:latin typeface="Menlo"/>
              </a:rPr>
              <a:t>上画出函数</a:t>
            </a:r>
            <a:r>
              <a:rPr lang="en-US" altLang="zh-CN" sz="1000" b="0" i="0">
                <a:solidFill>
                  <a:srgbClr val="008013"/>
                </a:solidFill>
                <a:effectLst/>
                <a:latin typeface="Menlo"/>
              </a:rPr>
              <a:t>f1</a:t>
            </a:r>
            <a:r>
              <a:rPr lang="zh-CN" altLang="en-US" sz="1000" b="0" i="0">
                <a:solidFill>
                  <a:srgbClr val="008013"/>
                </a:solidFill>
                <a:effectLst/>
                <a:latin typeface="Menlo"/>
              </a:rPr>
              <a:t>的图形</a:t>
            </a:r>
            <a:endParaRPr lang="zh-CN" altLang="en-US" sz="1000" b="0" i="0">
              <a:effectLst/>
              <a:latin typeface="Menlo"/>
            </a:endParaRPr>
          </a:p>
          <a:p>
            <a:r>
              <a:rPr lang="en-US" altLang="zh-CN" sz="1000" b="0" i="0">
                <a:effectLst/>
                <a:latin typeface="Menlo"/>
              </a:rPr>
              <a:t>hold </a:t>
            </a:r>
            <a:r>
              <a:rPr lang="en-US" altLang="zh-CN" sz="1000" b="0" i="0">
                <a:solidFill>
                  <a:srgbClr val="A709F5"/>
                </a:solidFill>
                <a:effectLst/>
                <a:latin typeface="Menlo"/>
              </a:rPr>
              <a:t>on</a:t>
            </a:r>
            <a:r>
              <a:rPr lang="en-US" altLang="zh-CN" sz="1000" b="0" i="0">
                <a:effectLst/>
                <a:latin typeface="Menlo"/>
              </a:rPr>
              <a:t>;grid </a:t>
            </a:r>
            <a:r>
              <a:rPr lang="en-US" altLang="zh-CN" sz="1000" b="0" i="0">
                <a:solidFill>
                  <a:srgbClr val="A709F5"/>
                </a:solidFill>
                <a:effectLst/>
                <a:latin typeface="Menlo"/>
              </a:rPr>
              <a:t>on</a:t>
            </a:r>
            <a:r>
              <a:rPr lang="en-US" altLang="zh-CN" sz="1000" b="0" i="0">
                <a:effectLst/>
                <a:latin typeface="Menlo"/>
              </a:rPr>
              <a:t>;</a:t>
            </a:r>
          </a:p>
          <a:p>
            <a:r>
              <a:rPr lang="en-US" altLang="zh-CN" sz="1000" b="0" i="0">
                <a:effectLst/>
                <a:latin typeface="Menlo"/>
              </a:rPr>
              <a:t>f2=@(x) exp(x)/(1+exp(x)); </a:t>
            </a:r>
            <a:r>
              <a:rPr lang="en-US" altLang="zh-CN" sz="1000" b="0" i="0">
                <a:solidFill>
                  <a:srgbClr val="008013"/>
                </a:solidFill>
                <a:effectLst/>
                <a:latin typeface="Menlo"/>
              </a:rPr>
              <a:t>% Sigmoid</a:t>
            </a:r>
            <a:r>
              <a:rPr lang="zh-CN" altLang="en-US" sz="1000" b="0" i="0">
                <a:solidFill>
                  <a:srgbClr val="008013"/>
                </a:solidFill>
                <a:effectLst/>
                <a:latin typeface="Menlo"/>
              </a:rPr>
              <a:t>函数</a:t>
            </a:r>
            <a:endParaRPr lang="zh-CN" altLang="en-US" sz="1000" b="0" i="0">
              <a:effectLst/>
              <a:latin typeface="Menlo"/>
            </a:endParaRPr>
          </a:p>
          <a:p>
            <a:r>
              <a:rPr lang="en-US" altLang="zh-CN" sz="1000" b="0" i="0">
                <a:effectLst/>
                <a:latin typeface="Menlo"/>
              </a:rPr>
              <a:t>fplot(f2, [-4,4]); </a:t>
            </a:r>
            <a:r>
              <a:rPr lang="en-US" altLang="zh-CN" sz="1000" b="0" i="0">
                <a:solidFill>
                  <a:srgbClr val="008013"/>
                </a:solidFill>
                <a:effectLst/>
                <a:latin typeface="Menlo"/>
              </a:rPr>
              <a:t>% </a:t>
            </a:r>
            <a:r>
              <a:rPr lang="zh-CN" altLang="en-US" sz="1000" b="0" i="0">
                <a:solidFill>
                  <a:srgbClr val="008013"/>
                </a:solidFill>
                <a:effectLst/>
                <a:latin typeface="Menlo"/>
              </a:rPr>
              <a:t>在</a:t>
            </a:r>
            <a:r>
              <a:rPr lang="en-US" altLang="zh-CN" sz="1000" b="0" i="0">
                <a:solidFill>
                  <a:srgbClr val="008013"/>
                </a:solidFill>
                <a:effectLst/>
                <a:latin typeface="Menlo"/>
              </a:rPr>
              <a:t>-4</a:t>
            </a:r>
            <a:r>
              <a:rPr lang="zh-CN" altLang="en-US" sz="1000" b="0" i="0">
                <a:solidFill>
                  <a:srgbClr val="008013"/>
                </a:solidFill>
                <a:effectLst/>
                <a:latin typeface="Menlo"/>
              </a:rPr>
              <a:t>到</a:t>
            </a:r>
            <a:r>
              <a:rPr lang="en-US" altLang="zh-CN" sz="1000" b="0" i="0">
                <a:solidFill>
                  <a:srgbClr val="008013"/>
                </a:solidFill>
                <a:effectLst/>
                <a:latin typeface="Menlo"/>
              </a:rPr>
              <a:t>4</a:t>
            </a:r>
            <a:r>
              <a:rPr lang="zh-CN" altLang="en-US" sz="1000" b="0" i="0">
                <a:solidFill>
                  <a:srgbClr val="008013"/>
                </a:solidFill>
                <a:effectLst/>
                <a:latin typeface="Menlo"/>
              </a:rPr>
              <a:t>上画出函数</a:t>
            </a:r>
            <a:r>
              <a:rPr lang="en-US" altLang="zh-CN" sz="1000" b="0" i="0">
                <a:solidFill>
                  <a:srgbClr val="008013"/>
                </a:solidFill>
                <a:effectLst/>
                <a:latin typeface="Menlo"/>
              </a:rPr>
              <a:t>f2</a:t>
            </a:r>
            <a:r>
              <a:rPr lang="zh-CN" altLang="en-US" sz="1000" b="0" i="0">
                <a:solidFill>
                  <a:srgbClr val="008013"/>
                </a:solidFill>
                <a:effectLst/>
                <a:latin typeface="Menlo"/>
              </a:rPr>
              <a:t>的图形</a:t>
            </a:r>
            <a:endParaRPr lang="zh-CN" altLang="en-US" sz="1000" b="0" i="0">
              <a:effectLst/>
              <a:latin typeface="Menlo"/>
            </a:endParaRPr>
          </a:p>
          <a:p>
            <a:r>
              <a:rPr lang="en-US" altLang="zh-CN" sz="1000" b="0" i="0">
                <a:effectLst/>
                <a:latin typeface="Menlo"/>
              </a:rPr>
              <a:t>legend(</a:t>
            </a:r>
            <a:r>
              <a:rPr lang="en-US" altLang="zh-CN" sz="1000" b="0" i="0">
                <a:solidFill>
                  <a:srgbClr val="A709F5"/>
                </a:solidFill>
                <a:effectLst/>
                <a:latin typeface="Menlo"/>
              </a:rPr>
              <a:t>'</a:t>
            </a:r>
            <a:r>
              <a:rPr lang="zh-CN" altLang="en-US" sz="1000" b="0" i="0">
                <a:solidFill>
                  <a:srgbClr val="A709F5"/>
                </a:solidFill>
                <a:effectLst/>
                <a:latin typeface="Menlo"/>
              </a:rPr>
              <a:t>标准正态分布的</a:t>
            </a:r>
            <a:r>
              <a:rPr lang="en-US" altLang="zh-CN" sz="1000" b="0" i="0">
                <a:solidFill>
                  <a:srgbClr val="A709F5"/>
                </a:solidFill>
                <a:effectLst/>
                <a:latin typeface="Menlo"/>
              </a:rPr>
              <a:t>cdf'</a:t>
            </a:r>
            <a:r>
              <a:rPr lang="en-US" altLang="zh-CN" sz="1000" b="0" i="0">
                <a:effectLst/>
                <a:latin typeface="Menlo"/>
              </a:rPr>
              <a:t>,</a:t>
            </a:r>
            <a:r>
              <a:rPr lang="en-US" altLang="zh-CN" sz="1000" b="0" i="0">
                <a:solidFill>
                  <a:srgbClr val="A709F5"/>
                </a:solidFill>
                <a:effectLst/>
                <a:latin typeface="Menlo"/>
              </a:rPr>
              <a:t>'sigmoid</a:t>
            </a:r>
            <a:r>
              <a:rPr lang="zh-CN" altLang="en-US" sz="1000" b="0" i="0">
                <a:solidFill>
                  <a:srgbClr val="A709F5"/>
                </a:solidFill>
                <a:effectLst/>
                <a:latin typeface="Menlo"/>
              </a:rPr>
              <a:t>函数</a:t>
            </a:r>
            <a:r>
              <a:rPr lang="en-US" altLang="zh-CN" sz="1000" b="0" i="0">
                <a:solidFill>
                  <a:srgbClr val="A709F5"/>
                </a:solidFill>
                <a:effectLst/>
                <a:latin typeface="Menlo"/>
              </a:rPr>
              <a:t>'</a:t>
            </a:r>
            <a:r>
              <a:rPr lang="en-US" altLang="zh-CN" sz="1000" b="0" i="0">
                <a:effectLst/>
                <a:latin typeface="Menlo"/>
              </a:rPr>
              <a:t>,</a:t>
            </a:r>
            <a:r>
              <a:rPr lang="en-US" altLang="zh-CN" sz="1000" b="0" i="0">
                <a:solidFill>
                  <a:srgbClr val="A709F5"/>
                </a:solidFill>
                <a:effectLst/>
                <a:latin typeface="Menlo"/>
              </a:rPr>
              <a:t>'location'</a:t>
            </a:r>
            <a:r>
              <a:rPr lang="en-US" altLang="zh-CN" sz="1000" b="0" i="0">
                <a:effectLst/>
                <a:latin typeface="Menlo"/>
              </a:rPr>
              <a:t>,</a:t>
            </a:r>
            <a:r>
              <a:rPr lang="en-US" altLang="zh-CN" sz="1000" b="0" i="0">
                <a:solidFill>
                  <a:srgbClr val="A709F5"/>
                </a:solidFill>
                <a:effectLst/>
                <a:latin typeface="Menlo"/>
              </a:rPr>
              <a:t>'SouthEast'</a:t>
            </a:r>
            <a:r>
              <a:rPr lang="en-US" altLang="zh-CN" sz="1000" b="0" i="0">
                <a:effectLst/>
                <a:latin typeface="Menlo"/>
              </a:rPr>
              <a:t>)</a:t>
            </a:r>
          </a:p>
        </p:txBody>
      </p:sp>
      <p:pic>
        <p:nvPicPr>
          <p:cNvPr id="27" name="图片 26">
            <a:extLst>
              <a:ext uri="{FF2B5EF4-FFF2-40B4-BE49-F238E27FC236}">
                <a16:creationId xmlns:a16="http://schemas.microsoft.com/office/drawing/2014/main" id="{5902BB83-44E4-B580-0BF1-8608448FA2A4}"/>
              </a:ext>
            </a:extLst>
          </p:cNvPr>
          <p:cNvPicPr>
            <a:picLocks noChangeAspect="1"/>
          </p:cNvPicPr>
          <p:nvPr/>
        </p:nvPicPr>
        <p:blipFill>
          <a:blip r:embed="rId6"/>
          <a:stretch>
            <a:fillRect/>
          </a:stretch>
        </p:blipFill>
        <p:spPr>
          <a:xfrm>
            <a:off x="9507223" y="1455305"/>
            <a:ext cx="1628961" cy="1295401"/>
          </a:xfrm>
          <a:prstGeom prst="rect">
            <a:avLst/>
          </a:prstGeom>
        </p:spPr>
      </p:pic>
      <p:pic>
        <p:nvPicPr>
          <p:cNvPr id="29" name="图片 28">
            <a:extLst>
              <a:ext uri="{FF2B5EF4-FFF2-40B4-BE49-F238E27FC236}">
                <a16:creationId xmlns:a16="http://schemas.microsoft.com/office/drawing/2014/main" id="{4E0FB989-C9CC-6A4C-D340-406314111A9E}"/>
              </a:ext>
            </a:extLst>
          </p:cNvPr>
          <p:cNvPicPr>
            <a:picLocks noChangeAspect="1"/>
          </p:cNvPicPr>
          <p:nvPr/>
        </p:nvPicPr>
        <p:blipFill>
          <a:blip r:embed="rId7"/>
          <a:stretch>
            <a:fillRect/>
          </a:stretch>
        </p:blipFill>
        <p:spPr>
          <a:xfrm>
            <a:off x="4895105" y="3316145"/>
            <a:ext cx="3530062" cy="612251"/>
          </a:xfrm>
          <a:prstGeom prst="rect">
            <a:avLst/>
          </a:prstGeom>
        </p:spPr>
      </p:pic>
      <p:sp>
        <p:nvSpPr>
          <p:cNvPr id="31" name="文本框 30">
            <a:extLst>
              <a:ext uri="{FF2B5EF4-FFF2-40B4-BE49-F238E27FC236}">
                <a16:creationId xmlns:a16="http://schemas.microsoft.com/office/drawing/2014/main" id="{2CE08495-310C-E2EF-9769-A760905B3063}"/>
              </a:ext>
            </a:extLst>
          </p:cNvPr>
          <p:cNvSpPr txBox="1"/>
          <p:nvPr/>
        </p:nvSpPr>
        <p:spPr>
          <a:xfrm>
            <a:off x="9081495" y="1505972"/>
            <a:ext cx="312428" cy="1200329"/>
          </a:xfrm>
          <a:prstGeom prst="rect">
            <a:avLst/>
          </a:prstGeom>
          <a:noFill/>
        </p:spPr>
        <p:txBody>
          <a:bodyPr wrap="square">
            <a:spAutoFit/>
          </a:bodyPr>
          <a:lstStyle/>
          <a:p>
            <a:r>
              <a:rPr lang="zh-CN" altLang="en-US" sz="1200"/>
              <a:t>函数图像对比</a:t>
            </a:r>
          </a:p>
        </p:txBody>
      </p:sp>
      <p:pic>
        <p:nvPicPr>
          <p:cNvPr id="35" name="图片 34">
            <a:extLst>
              <a:ext uri="{FF2B5EF4-FFF2-40B4-BE49-F238E27FC236}">
                <a16:creationId xmlns:a16="http://schemas.microsoft.com/office/drawing/2014/main" id="{72068F46-58A9-1AE1-8D7F-4CE781582E37}"/>
              </a:ext>
            </a:extLst>
          </p:cNvPr>
          <p:cNvPicPr>
            <a:picLocks noChangeAspect="1"/>
          </p:cNvPicPr>
          <p:nvPr/>
        </p:nvPicPr>
        <p:blipFill>
          <a:blip r:embed="rId8"/>
          <a:stretch>
            <a:fillRect/>
          </a:stretch>
        </p:blipFill>
        <p:spPr>
          <a:xfrm>
            <a:off x="4577437" y="4076271"/>
            <a:ext cx="2730721" cy="1189682"/>
          </a:xfrm>
          <a:prstGeom prst="rect">
            <a:avLst/>
          </a:prstGeom>
        </p:spPr>
      </p:pic>
      <p:pic>
        <p:nvPicPr>
          <p:cNvPr id="37" name="图片 36">
            <a:extLst>
              <a:ext uri="{FF2B5EF4-FFF2-40B4-BE49-F238E27FC236}">
                <a16:creationId xmlns:a16="http://schemas.microsoft.com/office/drawing/2014/main" id="{0F1577B6-E36B-7C6B-DB26-7BCE6E4CEB0A}"/>
              </a:ext>
            </a:extLst>
          </p:cNvPr>
          <p:cNvPicPr>
            <a:picLocks noChangeAspect="1"/>
          </p:cNvPicPr>
          <p:nvPr/>
        </p:nvPicPr>
        <p:blipFill>
          <a:blip r:embed="rId9"/>
          <a:stretch>
            <a:fillRect/>
          </a:stretch>
        </p:blipFill>
        <p:spPr>
          <a:xfrm>
            <a:off x="4637609" y="5491291"/>
            <a:ext cx="3574939" cy="1212589"/>
          </a:xfrm>
          <a:prstGeom prst="rect">
            <a:avLst/>
          </a:prstGeom>
        </p:spPr>
      </p:pic>
      <p:sp>
        <p:nvSpPr>
          <p:cNvPr id="38" name="矩形 37">
            <a:extLst>
              <a:ext uri="{FF2B5EF4-FFF2-40B4-BE49-F238E27FC236}">
                <a16:creationId xmlns:a16="http://schemas.microsoft.com/office/drawing/2014/main" id="{30A225B1-276F-1142-2C01-EA349D2E3F74}"/>
              </a:ext>
            </a:extLst>
          </p:cNvPr>
          <p:cNvSpPr/>
          <p:nvPr/>
        </p:nvSpPr>
        <p:spPr>
          <a:xfrm>
            <a:off x="6660136" y="4424860"/>
            <a:ext cx="472228" cy="599522"/>
          </a:xfrm>
          <a:prstGeom prst="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a:extLst>
              <a:ext uri="{FF2B5EF4-FFF2-40B4-BE49-F238E27FC236}">
                <a16:creationId xmlns:a16="http://schemas.microsoft.com/office/drawing/2014/main" id="{CE991108-7182-DABC-BB63-E401E44B75FF}"/>
              </a:ext>
            </a:extLst>
          </p:cNvPr>
          <p:cNvPicPr>
            <a:picLocks noChangeAspect="1"/>
          </p:cNvPicPr>
          <p:nvPr/>
        </p:nvPicPr>
        <p:blipFill>
          <a:blip r:embed="rId10"/>
          <a:stretch>
            <a:fillRect/>
          </a:stretch>
        </p:blipFill>
        <p:spPr>
          <a:xfrm>
            <a:off x="7407756" y="4145550"/>
            <a:ext cx="1244408" cy="1089777"/>
          </a:xfrm>
          <a:prstGeom prst="rect">
            <a:avLst/>
          </a:prstGeom>
        </p:spPr>
      </p:pic>
      <p:sp>
        <p:nvSpPr>
          <p:cNvPr id="43" name="文本框 42">
            <a:extLst>
              <a:ext uri="{FF2B5EF4-FFF2-40B4-BE49-F238E27FC236}">
                <a16:creationId xmlns:a16="http://schemas.microsoft.com/office/drawing/2014/main" id="{BEEBADB3-A7E6-3803-6396-635CE2EC35AA}"/>
              </a:ext>
            </a:extLst>
          </p:cNvPr>
          <p:cNvSpPr txBox="1"/>
          <p:nvPr/>
        </p:nvSpPr>
        <p:spPr>
          <a:xfrm>
            <a:off x="8795935" y="4008719"/>
            <a:ext cx="2753591" cy="1015663"/>
          </a:xfrm>
          <a:prstGeom prst="rect">
            <a:avLst/>
          </a:prstGeom>
          <a:noFill/>
        </p:spPr>
        <p:txBody>
          <a:bodyPr wrap="square">
            <a:spAutoFit/>
          </a:bodyPr>
          <a:lstStyle/>
          <a:p>
            <a:r>
              <a:rPr lang="zh-CN" altLang="en-US" sz="1200"/>
              <a:t>如果自变量有</a:t>
            </a:r>
            <a:r>
              <a:rPr lang="zh-CN" altLang="en-US" sz="1200">
                <a:solidFill>
                  <a:srgbClr val="FF0000"/>
                </a:solidFill>
              </a:rPr>
              <a:t>分类变量</a:t>
            </a:r>
            <a:endParaRPr lang="en-US" altLang="zh-CN" sz="1200">
              <a:solidFill>
                <a:srgbClr val="FF0000"/>
              </a:solidFill>
            </a:endParaRPr>
          </a:p>
          <a:p>
            <a:r>
              <a:rPr lang="zh-CN" altLang="en-US" sz="1200"/>
              <a:t>（</a:t>
            </a:r>
            <a:r>
              <a:rPr lang="en-US" altLang="zh-CN" sz="1200"/>
              <a:t>1</a:t>
            </a:r>
            <a:r>
              <a:rPr lang="zh-CN" altLang="en-US" sz="1200"/>
              <a:t>）先创建</a:t>
            </a:r>
            <a:r>
              <a:rPr lang="zh-CN" altLang="en-US" sz="1200">
                <a:solidFill>
                  <a:srgbClr val="FF0000"/>
                </a:solidFill>
              </a:rPr>
              <a:t>虚拟变量</a:t>
            </a:r>
            <a:r>
              <a:rPr lang="zh-CN" altLang="en-US" sz="1200"/>
              <a:t>，然后删除任意一列以排除完全多重共线性的影响；</a:t>
            </a:r>
          </a:p>
          <a:p>
            <a:r>
              <a:rPr lang="zh-CN" altLang="en-US" sz="1200"/>
              <a:t>（</a:t>
            </a:r>
            <a:r>
              <a:rPr lang="en-US" altLang="zh-CN" sz="1200"/>
              <a:t>2</a:t>
            </a:r>
            <a:r>
              <a:rPr lang="zh-CN" altLang="en-US" sz="1200"/>
              <a:t>）直接点击分类，然后</a:t>
            </a:r>
            <a:r>
              <a:rPr lang="zh-CN" altLang="en-US" sz="1200">
                <a:solidFill>
                  <a:srgbClr val="FF0000"/>
                </a:solidFill>
              </a:rPr>
              <a:t>定义分类协变量</a:t>
            </a:r>
            <a:r>
              <a:rPr lang="zh-CN" altLang="en-US" sz="1200"/>
              <a:t>，</a:t>
            </a:r>
            <a:r>
              <a:rPr lang="en-US" altLang="zh-CN" sz="1200"/>
              <a:t>Spss</a:t>
            </a:r>
            <a:r>
              <a:rPr lang="zh-CN" altLang="en-US" sz="1200"/>
              <a:t>会自动帮我们生成。</a:t>
            </a:r>
          </a:p>
        </p:txBody>
      </p:sp>
      <p:sp>
        <p:nvSpPr>
          <p:cNvPr id="44" name="文本框 43">
            <a:extLst>
              <a:ext uri="{FF2B5EF4-FFF2-40B4-BE49-F238E27FC236}">
                <a16:creationId xmlns:a16="http://schemas.microsoft.com/office/drawing/2014/main" id="{E172C02B-56F5-6240-54FD-0F435D521AC4}"/>
              </a:ext>
            </a:extLst>
          </p:cNvPr>
          <p:cNvSpPr txBox="1"/>
          <p:nvPr/>
        </p:nvSpPr>
        <p:spPr>
          <a:xfrm>
            <a:off x="8745404" y="5262108"/>
            <a:ext cx="3303281" cy="1384995"/>
          </a:xfrm>
          <a:prstGeom prst="rect">
            <a:avLst/>
          </a:prstGeom>
          <a:noFill/>
        </p:spPr>
        <p:txBody>
          <a:bodyPr wrap="square">
            <a:spAutoFit/>
          </a:bodyPr>
          <a:lstStyle/>
          <a:p>
            <a:r>
              <a:rPr lang="zh-CN" altLang="en-US" sz="1200"/>
              <a:t>预测概率较差可在</a:t>
            </a:r>
            <a:r>
              <a:rPr lang="en-US" altLang="zh-CN" sz="1200"/>
              <a:t>logistic</a:t>
            </a:r>
            <a:r>
              <a:rPr lang="zh-CN" altLang="en-US" sz="1200"/>
              <a:t>回归模型中加入</a:t>
            </a:r>
            <a:r>
              <a:rPr lang="zh-CN" altLang="en-US" sz="1200">
                <a:solidFill>
                  <a:srgbClr val="FF0000"/>
                </a:solidFill>
              </a:rPr>
              <a:t>平方项、交互项</a:t>
            </a:r>
            <a:r>
              <a:rPr lang="zh-CN" altLang="en-US" sz="1200"/>
              <a:t>等。如自定义</a:t>
            </a:r>
            <a:r>
              <a:rPr lang="en-US" altLang="zh-CN" sz="1200"/>
              <a:t>mass^2</a:t>
            </a:r>
            <a:r>
              <a:rPr lang="zh-CN" altLang="en-US" sz="1200"/>
              <a:t>项。虽然预测能力提高了，但是容易发生</a:t>
            </a:r>
            <a:r>
              <a:rPr lang="zh-CN" altLang="en-US" sz="1200">
                <a:solidFill>
                  <a:srgbClr val="FF0000"/>
                </a:solidFill>
              </a:rPr>
              <a:t>过拟合</a:t>
            </a:r>
            <a:r>
              <a:rPr lang="zh-CN" altLang="en-US" sz="1200"/>
              <a:t>的现象。</a:t>
            </a:r>
            <a:endParaRPr lang="en-US" altLang="zh-CN" sz="1200"/>
          </a:p>
          <a:p>
            <a:r>
              <a:rPr lang="zh-CN" altLang="en-US" sz="1200"/>
              <a:t>解决措施：</a:t>
            </a:r>
            <a:r>
              <a:rPr lang="zh-CN" altLang="en-US" sz="1200">
                <a:solidFill>
                  <a:srgbClr val="FF0000"/>
                </a:solidFill>
              </a:rPr>
              <a:t>训练组</a:t>
            </a:r>
            <a:r>
              <a:rPr lang="zh-CN" altLang="en-US" sz="1200"/>
              <a:t>和</a:t>
            </a:r>
            <a:r>
              <a:rPr lang="zh-CN" altLang="en-US" sz="1200">
                <a:solidFill>
                  <a:srgbClr val="FF0000"/>
                </a:solidFill>
              </a:rPr>
              <a:t>测试组</a:t>
            </a:r>
            <a:r>
              <a:rPr lang="zh-CN" altLang="en-US" sz="1200"/>
              <a:t>的比例一般设置为</a:t>
            </a:r>
            <a:r>
              <a:rPr lang="en-US" altLang="zh-CN" sz="1200"/>
              <a:t>80%</a:t>
            </a:r>
            <a:r>
              <a:rPr lang="zh-CN" altLang="en-US" sz="1200"/>
              <a:t>和</a:t>
            </a:r>
            <a:r>
              <a:rPr lang="en-US" altLang="zh-CN" sz="1200"/>
              <a:t>20%</a:t>
            </a:r>
            <a:r>
              <a:rPr lang="zh-CN" altLang="en-US" sz="1200"/>
              <a:t>，为了消除偶然性的影响，可以对上述</a:t>
            </a:r>
            <a:r>
              <a:rPr lang="en-US" altLang="zh-CN" sz="1200"/>
              <a:t>Step</a:t>
            </a:r>
            <a:r>
              <a:rPr lang="zh-CN" altLang="en-US" sz="1200"/>
              <a:t>多重复几次，最 终对每个模型求一个</a:t>
            </a:r>
            <a:r>
              <a:rPr lang="zh-CN" altLang="en-US" sz="1200">
                <a:solidFill>
                  <a:srgbClr val="FF0000"/>
                </a:solidFill>
              </a:rPr>
              <a:t>平均的准确率</a:t>
            </a:r>
            <a:r>
              <a:rPr lang="zh-CN" altLang="en-US" sz="1200"/>
              <a:t>，这个</a:t>
            </a:r>
            <a:r>
              <a:rPr lang="en-US" altLang="zh-CN" sz="1200"/>
              <a:t>Step</a:t>
            </a:r>
            <a:r>
              <a:rPr lang="zh-CN" altLang="en-US" sz="1200"/>
              <a:t>称为</a:t>
            </a:r>
            <a:r>
              <a:rPr lang="zh-CN" altLang="en-US" sz="1200">
                <a:solidFill>
                  <a:srgbClr val="FF0000"/>
                </a:solidFill>
              </a:rPr>
              <a:t>交叉验证</a:t>
            </a:r>
            <a:r>
              <a:rPr lang="zh-CN" altLang="en-US" sz="1200"/>
              <a:t>。。</a:t>
            </a:r>
          </a:p>
        </p:txBody>
      </p:sp>
    </p:spTree>
    <p:extLst>
      <p:ext uri="{BB962C8B-B14F-4D97-AF65-F5344CB8AC3E}">
        <p14:creationId xmlns:p14="http://schemas.microsoft.com/office/powerpoint/2010/main" val="686941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46D3C00-4BA2-B622-E71A-AA634C2DDF97}"/>
              </a:ext>
            </a:extLst>
          </p:cNvPr>
          <p:cNvSpPr txBox="1"/>
          <p:nvPr/>
        </p:nvSpPr>
        <p:spPr>
          <a:xfrm>
            <a:off x="139641" y="103581"/>
            <a:ext cx="9323013"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分类模型</a:t>
            </a:r>
            <a:r>
              <a:rPr lang="en-US" altLang="zh-CN" sz="4400">
                <a:solidFill>
                  <a:schemeClr val="accent5"/>
                </a:solidFill>
                <a:latin typeface="三极泼墨体" panose="00000500000000000000" pitchFamily="2" charset="-122"/>
                <a:ea typeface="三极泼墨体" panose="00000500000000000000" pitchFamily="2" charset="-122"/>
              </a:rPr>
              <a:t>-Fisher</a:t>
            </a:r>
            <a:r>
              <a:rPr lang="zh-CN" altLang="en-US" sz="4400">
                <a:solidFill>
                  <a:schemeClr val="accent5"/>
                </a:solidFill>
                <a:latin typeface="三极泼墨体" panose="00000500000000000000" pitchFamily="2" charset="-122"/>
                <a:ea typeface="三极泼墨体" panose="00000500000000000000" pitchFamily="2" charset="-122"/>
              </a:rPr>
              <a:t>线性判别分析 </a:t>
            </a:r>
          </a:p>
        </p:txBody>
      </p:sp>
      <p:sp>
        <p:nvSpPr>
          <p:cNvPr id="4" name="文本框 3">
            <a:extLst>
              <a:ext uri="{FF2B5EF4-FFF2-40B4-BE49-F238E27FC236}">
                <a16:creationId xmlns:a16="http://schemas.microsoft.com/office/drawing/2014/main" id="{562A150B-B97B-857E-F132-AA069D913369}"/>
              </a:ext>
            </a:extLst>
          </p:cNvPr>
          <p:cNvSpPr txBox="1"/>
          <p:nvPr/>
        </p:nvSpPr>
        <p:spPr>
          <a:xfrm>
            <a:off x="139641" y="873022"/>
            <a:ext cx="7210195" cy="646331"/>
          </a:xfrm>
          <a:prstGeom prst="rect">
            <a:avLst/>
          </a:prstGeom>
          <a:noFill/>
        </p:spPr>
        <p:txBody>
          <a:bodyPr wrap="square">
            <a:spAutoFit/>
          </a:bodyPr>
          <a:lstStyle/>
          <a:p>
            <a:r>
              <a:rPr lang="en-US" altLang="zh-CN" sz="1200">
                <a:solidFill>
                  <a:srgbClr val="FF0000"/>
                </a:solidFill>
              </a:rPr>
              <a:t>LDA(Linear Discriminant Analysis)</a:t>
            </a:r>
            <a:r>
              <a:rPr lang="zh-CN" altLang="en-US" sz="1200"/>
              <a:t>是一种经典的线性判别方法，又称</a:t>
            </a:r>
            <a:r>
              <a:rPr lang="en-US" altLang="zh-CN" sz="1200"/>
              <a:t>Fisher</a:t>
            </a:r>
            <a:r>
              <a:rPr lang="zh-CN" altLang="en-US" sz="1200"/>
              <a:t>判别分析，</a:t>
            </a:r>
            <a:r>
              <a:rPr lang="zh-CN" altLang="en-US" sz="1200" b="0" i="0">
                <a:solidFill>
                  <a:srgbClr val="2C2C36"/>
                </a:solidFill>
                <a:effectLst/>
                <a:highlight>
                  <a:srgbClr val="FFFFFF"/>
                </a:highlight>
                <a:latin typeface="-apple-system"/>
              </a:rPr>
              <a:t>是一种经典的监督学习方法，主要用于分类问题中的特征提取和降维</a:t>
            </a:r>
            <a:r>
              <a:rPr lang="zh-CN" altLang="en-US" sz="1200"/>
              <a:t>。给定训练集样例，设法将样例投影到一维的直线 上，使得同类样例的投影点尽可能接近和密集，异类投影点尽可能远离。 高内聚，松耦合。</a:t>
            </a:r>
          </a:p>
        </p:txBody>
      </p:sp>
      <p:pic>
        <p:nvPicPr>
          <p:cNvPr id="8" name="图片 7">
            <a:extLst>
              <a:ext uri="{FF2B5EF4-FFF2-40B4-BE49-F238E27FC236}">
                <a16:creationId xmlns:a16="http://schemas.microsoft.com/office/drawing/2014/main" id="{2F9D7D71-974A-79F3-AFA0-D4CCB8E2783E}"/>
              </a:ext>
            </a:extLst>
          </p:cNvPr>
          <p:cNvPicPr>
            <a:picLocks noChangeAspect="1"/>
          </p:cNvPicPr>
          <p:nvPr/>
        </p:nvPicPr>
        <p:blipFill>
          <a:blip r:embed="rId2"/>
          <a:stretch>
            <a:fillRect/>
          </a:stretch>
        </p:blipFill>
        <p:spPr>
          <a:xfrm>
            <a:off x="275506" y="1708614"/>
            <a:ext cx="2585458" cy="2042245"/>
          </a:xfrm>
          <a:prstGeom prst="rect">
            <a:avLst/>
          </a:prstGeom>
        </p:spPr>
      </p:pic>
      <p:sp>
        <p:nvSpPr>
          <p:cNvPr id="9" name="文本框 8">
            <a:extLst>
              <a:ext uri="{FF2B5EF4-FFF2-40B4-BE49-F238E27FC236}">
                <a16:creationId xmlns:a16="http://schemas.microsoft.com/office/drawing/2014/main" id="{1BA2C00D-E1EE-35DF-69B9-6CCF828A2E96}"/>
              </a:ext>
            </a:extLst>
          </p:cNvPr>
          <p:cNvSpPr txBox="1"/>
          <p:nvPr/>
        </p:nvSpPr>
        <p:spPr>
          <a:xfrm>
            <a:off x="275506" y="3813463"/>
            <a:ext cx="3156166" cy="1015663"/>
          </a:xfrm>
          <a:prstGeom prst="rect">
            <a:avLst/>
          </a:prstGeom>
          <a:noFill/>
          <a:ln>
            <a:solidFill>
              <a:schemeClr val="accent6"/>
            </a:solidFill>
          </a:ln>
        </p:spPr>
        <p:txBody>
          <a:bodyPr wrap="square" rtlCol="0">
            <a:spAutoFit/>
          </a:bodyPr>
          <a:lstStyle/>
          <a:p>
            <a:r>
              <a:rPr lang="en-US" altLang="zh-CN" sz="1200">
                <a:solidFill>
                  <a:srgbClr val="FF0000"/>
                </a:solidFill>
              </a:rPr>
              <a:t>SPSS</a:t>
            </a:r>
            <a:r>
              <a:rPr lang="zh-CN" altLang="en-US" sz="1200"/>
              <a:t>操作：</a:t>
            </a:r>
            <a:endParaRPr lang="en-US" altLang="zh-CN" sz="1200"/>
          </a:p>
          <a:p>
            <a:r>
              <a:rPr lang="en-US" altLang="zh-CN" sz="1200"/>
              <a:t>1.</a:t>
            </a:r>
            <a:r>
              <a:rPr lang="zh-CN" altLang="en-US" sz="1200"/>
              <a:t>分析</a:t>
            </a:r>
            <a:r>
              <a:rPr lang="en-US" altLang="zh-CN" sz="1200"/>
              <a:t>-&gt;</a:t>
            </a:r>
            <a:r>
              <a:rPr lang="zh-CN" altLang="en-US" sz="1200"/>
              <a:t>分类</a:t>
            </a:r>
            <a:r>
              <a:rPr lang="en-US" altLang="zh-CN" sz="1200"/>
              <a:t>-&gt;</a:t>
            </a:r>
            <a:r>
              <a:rPr lang="zh-CN" altLang="en-US" sz="1200"/>
              <a:t>判别式</a:t>
            </a:r>
            <a:endParaRPr lang="en-US" altLang="zh-CN" sz="1200"/>
          </a:p>
          <a:p>
            <a:r>
              <a:rPr lang="en-US" altLang="zh-CN" sz="1200"/>
              <a:t>2.</a:t>
            </a:r>
            <a:r>
              <a:rPr lang="zh-CN" altLang="en-US" sz="1200"/>
              <a:t>分组变量</a:t>
            </a:r>
            <a:r>
              <a:rPr lang="en-US" altLang="zh-CN" sz="1200"/>
              <a:t>+</a:t>
            </a:r>
            <a:r>
              <a:rPr lang="zh-CN" altLang="en-US" sz="1200"/>
              <a:t>定义范围</a:t>
            </a:r>
            <a:r>
              <a:rPr lang="en-US" altLang="zh-CN" sz="1200"/>
              <a:t>:0~1</a:t>
            </a:r>
          </a:p>
          <a:p>
            <a:r>
              <a:rPr lang="en-US" altLang="zh-CN" sz="1200"/>
              <a:t>3.</a:t>
            </a:r>
            <a:r>
              <a:rPr lang="zh-CN" altLang="en-US" sz="1200"/>
              <a:t>统计</a:t>
            </a:r>
            <a:r>
              <a:rPr lang="en-US" altLang="zh-CN" sz="1200"/>
              <a:t>:</a:t>
            </a:r>
            <a:r>
              <a:rPr lang="zh-CN" altLang="en-US" sz="1200"/>
              <a:t>费希尔</a:t>
            </a:r>
            <a:r>
              <a:rPr lang="en-US" altLang="zh-CN" sz="1200"/>
              <a:t>+</a:t>
            </a:r>
            <a:r>
              <a:rPr lang="zh-CN" altLang="en-US" sz="1200"/>
              <a:t>未标准化</a:t>
            </a:r>
            <a:r>
              <a:rPr lang="en-US" altLang="zh-CN" sz="1200"/>
              <a:t>-&gt;</a:t>
            </a:r>
            <a:r>
              <a:rPr lang="zh-CN" altLang="en-US" sz="1200"/>
              <a:t>保存</a:t>
            </a:r>
            <a:r>
              <a:rPr lang="en-US" altLang="zh-CN" sz="1200"/>
              <a:t>:</a:t>
            </a:r>
            <a:r>
              <a:rPr lang="zh-CN" altLang="en-US" sz="1200"/>
              <a:t>预测组成员</a:t>
            </a:r>
            <a:r>
              <a:rPr lang="en-US" altLang="zh-CN" sz="1200"/>
              <a:t>+</a:t>
            </a:r>
            <a:r>
              <a:rPr lang="zh-CN" altLang="en-US" sz="1200"/>
              <a:t>组成员概率</a:t>
            </a:r>
            <a:r>
              <a:rPr lang="en-US" altLang="zh-CN" sz="1200"/>
              <a:t>-&gt;</a:t>
            </a:r>
            <a:r>
              <a:rPr lang="zh-CN" altLang="en-US" sz="1200"/>
              <a:t>分类</a:t>
            </a:r>
            <a:r>
              <a:rPr lang="en-US" altLang="zh-CN" sz="1200"/>
              <a:t>:</a:t>
            </a:r>
            <a:r>
              <a:rPr lang="zh-CN" altLang="en-US" sz="1200"/>
              <a:t>所有组相等</a:t>
            </a:r>
            <a:r>
              <a:rPr lang="en-US" altLang="zh-CN" sz="1200"/>
              <a:t>+</a:t>
            </a:r>
            <a:r>
              <a:rPr lang="zh-CN" altLang="en-US" sz="1200"/>
              <a:t>摘要表</a:t>
            </a:r>
          </a:p>
        </p:txBody>
      </p:sp>
      <p:pic>
        <p:nvPicPr>
          <p:cNvPr id="11" name="图片 10">
            <a:extLst>
              <a:ext uri="{FF2B5EF4-FFF2-40B4-BE49-F238E27FC236}">
                <a16:creationId xmlns:a16="http://schemas.microsoft.com/office/drawing/2014/main" id="{EF9E34F8-854C-39CC-4A08-C8C50A3A8FB2}"/>
              </a:ext>
            </a:extLst>
          </p:cNvPr>
          <p:cNvPicPr>
            <a:picLocks noChangeAspect="1"/>
          </p:cNvPicPr>
          <p:nvPr/>
        </p:nvPicPr>
        <p:blipFill>
          <a:blip r:embed="rId3"/>
          <a:stretch>
            <a:fillRect/>
          </a:stretch>
        </p:blipFill>
        <p:spPr>
          <a:xfrm>
            <a:off x="213265" y="4891730"/>
            <a:ext cx="1416123" cy="1790792"/>
          </a:xfrm>
          <a:prstGeom prst="rect">
            <a:avLst/>
          </a:prstGeom>
        </p:spPr>
      </p:pic>
      <p:pic>
        <p:nvPicPr>
          <p:cNvPr id="13" name="图片 12">
            <a:extLst>
              <a:ext uri="{FF2B5EF4-FFF2-40B4-BE49-F238E27FC236}">
                <a16:creationId xmlns:a16="http://schemas.microsoft.com/office/drawing/2014/main" id="{879755D9-425F-5768-EB37-BB8420E7BFE0}"/>
              </a:ext>
            </a:extLst>
          </p:cNvPr>
          <p:cNvPicPr>
            <a:picLocks noChangeAspect="1"/>
          </p:cNvPicPr>
          <p:nvPr/>
        </p:nvPicPr>
        <p:blipFill>
          <a:blip r:embed="rId4"/>
          <a:stretch>
            <a:fillRect/>
          </a:stretch>
        </p:blipFill>
        <p:spPr>
          <a:xfrm>
            <a:off x="1853589" y="5114750"/>
            <a:ext cx="1373382" cy="1252201"/>
          </a:xfrm>
          <a:prstGeom prst="rect">
            <a:avLst/>
          </a:prstGeom>
        </p:spPr>
      </p:pic>
      <p:pic>
        <p:nvPicPr>
          <p:cNvPr id="15" name="图片 14">
            <a:extLst>
              <a:ext uri="{FF2B5EF4-FFF2-40B4-BE49-F238E27FC236}">
                <a16:creationId xmlns:a16="http://schemas.microsoft.com/office/drawing/2014/main" id="{23FDF6A6-D5F5-D991-2B7A-9AF0E5B184CB}"/>
              </a:ext>
            </a:extLst>
          </p:cNvPr>
          <p:cNvPicPr>
            <a:picLocks noChangeAspect="1"/>
          </p:cNvPicPr>
          <p:nvPr/>
        </p:nvPicPr>
        <p:blipFill>
          <a:blip r:embed="rId5"/>
          <a:stretch>
            <a:fillRect/>
          </a:stretch>
        </p:blipFill>
        <p:spPr>
          <a:xfrm>
            <a:off x="4026258" y="2535015"/>
            <a:ext cx="2636261" cy="1643253"/>
          </a:xfrm>
          <a:prstGeom prst="rect">
            <a:avLst/>
          </a:prstGeom>
        </p:spPr>
      </p:pic>
      <p:sp>
        <p:nvSpPr>
          <p:cNvPr id="16" name="文本框 15">
            <a:extLst>
              <a:ext uri="{FF2B5EF4-FFF2-40B4-BE49-F238E27FC236}">
                <a16:creationId xmlns:a16="http://schemas.microsoft.com/office/drawing/2014/main" id="{0B7CEFC9-BD7B-4B85-E3E5-B867B6DD5E93}"/>
              </a:ext>
            </a:extLst>
          </p:cNvPr>
          <p:cNvSpPr txBox="1"/>
          <p:nvPr/>
        </p:nvSpPr>
        <p:spPr>
          <a:xfrm>
            <a:off x="4028051" y="1599085"/>
            <a:ext cx="1918855" cy="523220"/>
          </a:xfrm>
          <a:prstGeom prst="rect">
            <a:avLst/>
          </a:prstGeom>
          <a:noFill/>
        </p:spPr>
        <p:txBody>
          <a:bodyPr wrap="square" rtlCol="0">
            <a:spAutoFit/>
          </a:bodyPr>
          <a:lstStyle/>
          <a:p>
            <a:r>
              <a:rPr lang="zh-CN" altLang="en-US" sz="2800">
                <a:latin typeface="优设标题黑" panose="00000500000000000000" pitchFamily="2" charset="-122"/>
                <a:ea typeface="优设标题黑" panose="00000500000000000000" pitchFamily="2" charset="-122"/>
              </a:rPr>
              <a:t>多分类模型</a:t>
            </a:r>
          </a:p>
        </p:txBody>
      </p:sp>
      <p:sp>
        <p:nvSpPr>
          <p:cNvPr id="17" name="文本框 16">
            <a:extLst>
              <a:ext uri="{FF2B5EF4-FFF2-40B4-BE49-F238E27FC236}">
                <a16:creationId xmlns:a16="http://schemas.microsoft.com/office/drawing/2014/main" id="{6A74D6D3-0E64-901D-DA95-1C51D2A36A37}"/>
              </a:ext>
            </a:extLst>
          </p:cNvPr>
          <p:cNvSpPr txBox="1"/>
          <p:nvPr/>
        </p:nvSpPr>
        <p:spPr>
          <a:xfrm>
            <a:off x="4028051" y="2122305"/>
            <a:ext cx="3156166" cy="461665"/>
          </a:xfrm>
          <a:prstGeom prst="rect">
            <a:avLst/>
          </a:prstGeom>
          <a:noFill/>
        </p:spPr>
        <p:txBody>
          <a:bodyPr wrap="square" rtlCol="0">
            <a:spAutoFit/>
          </a:bodyPr>
          <a:lstStyle/>
          <a:p>
            <a:r>
              <a:rPr lang="en-US" altLang="zh-CN" sz="1200"/>
              <a:t>Fisher</a:t>
            </a:r>
            <a:r>
              <a:rPr lang="zh-CN" altLang="en-US" sz="1200"/>
              <a:t>多分类的</a:t>
            </a:r>
            <a:r>
              <a:rPr lang="en-US" altLang="zh-CN" sz="1200">
                <a:solidFill>
                  <a:srgbClr val="FF0000"/>
                </a:solidFill>
              </a:rPr>
              <a:t>Spss</a:t>
            </a:r>
            <a:r>
              <a:rPr lang="zh-CN" altLang="en-US" sz="1200"/>
              <a:t>操作：</a:t>
            </a:r>
            <a:endParaRPr lang="en-US" altLang="zh-CN" sz="1200"/>
          </a:p>
          <a:p>
            <a:r>
              <a:rPr lang="zh-CN" altLang="en-US" sz="1200"/>
              <a:t>定义范围改为</a:t>
            </a:r>
            <a:r>
              <a:rPr lang="en-US" altLang="zh-CN" sz="1200"/>
              <a:t>1~4</a:t>
            </a:r>
          </a:p>
        </p:txBody>
      </p:sp>
      <p:sp>
        <p:nvSpPr>
          <p:cNvPr id="19" name="文本框 18">
            <a:extLst>
              <a:ext uri="{FF2B5EF4-FFF2-40B4-BE49-F238E27FC236}">
                <a16:creationId xmlns:a16="http://schemas.microsoft.com/office/drawing/2014/main" id="{55A5D67C-8522-7B16-924A-F3F64D642C20}"/>
              </a:ext>
            </a:extLst>
          </p:cNvPr>
          <p:cNvSpPr txBox="1"/>
          <p:nvPr/>
        </p:nvSpPr>
        <p:spPr>
          <a:xfrm>
            <a:off x="3788902" y="4302203"/>
            <a:ext cx="3855185" cy="830997"/>
          </a:xfrm>
          <a:prstGeom prst="rect">
            <a:avLst/>
          </a:prstGeom>
          <a:noFill/>
          <a:ln>
            <a:solidFill>
              <a:schemeClr val="accent6"/>
            </a:solidFill>
          </a:ln>
        </p:spPr>
        <p:txBody>
          <a:bodyPr wrap="square">
            <a:spAutoFit/>
          </a:bodyPr>
          <a:lstStyle/>
          <a:p>
            <a:r>
              <a:rPr lang="en-US" altLang="zh-CN" sz="1200"/>
              <a:t>Logistic</a:t>
            </a:r>
            <a:r>
              <a:rPr lang="zh-CN" altLang="en-US" sz="1200"/>
              <a:t>回归多分类的</a:t>
            </a:r>
            <a:r>
              <a:rPr lang="en-US" altLang="zh-CN" sz="1200"/>
              <a:t>SPSS</a:t>
            </a:r>
            <a:r>
              <a:rPr lang="zh-CN" altLang="en-US" sz="1200"/>
              <a:t>操作</a:t>
            </a:r>
            <a:r>
              <a:rPr lang="en-US" altLang="zh-CN" sz="1200"/>
              <a:t>:</a:t>
            </a:r>
          </a:p>
          <a:p>
            <a:r>
              <a:rPr lang="en-US" altLang="zh-CN" sz="1200"/>
              <a:t>1.</a:t>
            </a:r>
            <a:r>
              <a:rPr lang="zh-CN" altLang="en-US" sz="1200"/>
              <a:t>多元</a:t>
            </a:r>
            <a:r>
              <a:rPr lang="en-US" altLang="zh-CN" sz="1200"/>
              <a:t>Logistic-&gt;</a:t>
            </a:r>
            <a:r>
              <a:rPr lang="zh-CN" altLang="en-US" sz="1200"/>
              <a:t>将几个自变量放到协变量中</a:t>
            </a:r>
            <a:r>
              <a:rPr lang="en-US" altLang="zh-CN" sz="1200"/>
              <a:t>(</a:t>
            </a:r>
            <a:r>
              <a:rPr lang="zh-CN" altLang="en-US" sz="1200"/>
              <a:t>而非因子</a:t>
            </a:r>
            <a:r>
              <a:rPr lang="en-US" altLang="zh-CN" sz="1200"/>
              <a:t>)</a:t>
            </a:r>
          </a:p>
          <a:p>
            <a:r>
              <a:rPr lang="en-US" altLang="zh-CN" sz="1200"/>
              <a:t>2.</a:t>
            </a:r>
            <a:r>
              <a:rPr lang="zh-CN" altLang="en-US" sz="1200"/>
              <a:t>统计</a:t>
            </a:r>
            <a:r>
              <a:rPr lang="en-US" altLang="zh-CN" sz="1200"/>
              <a:t>-&gt;</a:t>
            </a:r>
            <a:r>
              <a:rPr lang="zh-CN" altLang="en-US" sz="1200"/>
              <a:t>勾选分类表</a:t>
            </a:r>
            <a:endParaRPr lang="en-US" altLang="zh-CN" sz="1200"/>
          </a:p>
          <a:p>
            <a:r>
              <a:rPr lang="en-US" altLang="zh-CN" sz="1200"/>
              <a:t>3.</a:t>
            </a:r>
            <a:r>
              <a:rPr lang="zh-CN" altLang="en-US" sz="1200"/>
              <a:t>保存</a:t>
            </a:r>
            <a:r>
              <a:rPr lang="en-US" altLang="zh-CN" sz="1200"/>
              <a:t>-&gt;</a:t>
            </a:r>
            <a:r>
              <a:rPr lang="zh-CN" altLang="en-US" sz="1200"/>
              <a:t>勾选估计响应概率</a:t>
            </a:r>
            <a:r>
              <a:rPr lang="en-US" altLang="zh-CN" sz="1200"/>
              <a:t>+</a:t>
            </a:r>
            <a:r>
              <a:rPr lang="zh-CN" altLang="en-US" sz="1200"/>
              <a:t>预测了理性</a:t>
            </a:r>
          </a:p>
        </p:txBody>
      </p:sp>
      <p:sp>
        <p:nvSpPr>
          <p:cNvPr id="21" name="文本框 20">
            <a:extLst>
              <a:ext uri="{FF2B5EF4-FFF2-40B4-BE49-F238E27FC236}">
                <a16:creationId xmlns:a16="http://schemas.microsoft.com/office/drawing/2014/main" id="{D7148099-3AC1-7C28-A10D-2CC2AC2F9B9D}"/>
              </a:ext>
            </a:extLst>
          </p:cNvPr>
          <p:cNvSpPr txBox="1"/>
          <p:nvPr/>
        </p:nvSpPr>
        <p:spPr>
          <a:xfrm>
            <a:off x="8091354" y="4178268"/>
            <a:ext cx="3438365" cy="461665"/>
          </a:xfrm>
          <a:prstGeom prst="rect">
            <a:avLst/>
          </a:prstGeom>
          <a:noFill/>
        </p:spPr>
        <p:txBody>
          <a:bodyPr wrap="square">
            <a:spAutoFit/>
          </a:bodyPr>
          <a:lstStyle/>
          <a:p>
            <a:r>
              <a:rPr lang="en-US" altLang="zh-CN" sz="1200"/>
              <a:t>Logistic</a:t>
            </a:r>
            <a:r>
              <a:rPr lang="zh-CN" altLang="en-US" sz="1200"/>
              <a:t>回归多分类时将连接函数：</a:t>
            </a:r>
            <a:r>
              <a:rPr lang="en-US" altLang="zh-CN" sz="1200"/>
              <a:t>Sigmoid</a:t>
            </a:r>
            <a:r>
              <a:rPr lang="zh-CN" altLang="en-US" sz="1200"/>
              <a:t>函数 推广为 </a:t>
            </a:r>
            <a:r>
              <a:rPr lang="en-US" altLang="zh-CN" sz="1200"/>
              <a:t>Softmax</a:t>
            </a:r>
            <a:r>
              <a:rPr lang="zh-CN" altLang="en-US" sz="1200"/>
              <a:t>函数</a:t>
            </a:r>
          </a:p>
        </p:txBody>
      </p:sp>
      <p:pic>
        <p:nvPicPr>
          <p:cNvPr id="23" name="图片 22">
            <a:extLst>
              <a:ext uri="{FF2B5EF4-FFF2-40B4-BE49-F238E27FC236}">
                <a16:creationId xmlns:a16="http://schemas.microsoft.com/office/drawing/2014/main" id="{6EC1155A-C835-00BB-4FEB-169C79B5FC8F}"/>
              </a:ext>
            </a:extLst>
          </p:cNvPr>
          <p:cNvPicPr>
            <a:picLocks noChangeAspect="1"/>
          </p:cNvPicPr>
          <p:nvPr/>
        </p:nvPicPr>
        <p:blipFill>
          <a:blip r:embed="rId6"/>
          <a:stretch>
            <a:fillRect/>
          </a:stretch>
        </p:blipFill>
        <p:spPr>
          <a:xfrm>
            <a:off x="8084418" y="4609718"/>
            <a:ext cx="3577545" cy="2144701"/>
          </a:xfrm>
          <a:prstGeom prst="rect">
            <a:avLst/>
          </a:prstGeom>
        </p:spPr>
      </p:pic>
      <p:sp>
        <p:nvSpPr>
          <p:cNvPr id="29" name="文本框 28">
            <a:extLst>
              <a:ext uri="{FF2B5EF4-FFF2-40B4-BE49-F238E27FC236}">
                <a16:creationId xmlns:a16="http://schemas.microsoft.com/office/drawing/2014/main" id="{18039FC5-31FA-E986-21CC-4EF17B1B4AE6}"/>
              </a:ext>
            </a:extLst>
          </p:cNvPr>
          <p:cNvSpPr txBox="1"/>
          <p:nvPr/>
        </p:nvSpPr>
        <p:spPr>
          <a:xfrm>
            <a:off x="3788902" y="5094519"/>
            <a:ext cx="3078697" cy="646331"/>
          </a:xfrm>
          <a:prstGeom prst="rect">
            <a:avLst/>
          </a:prstGeom>
          <a:noFill/>
        </p:spPr>
        <p:txBody>
          <a:bodyPr wrap="square">
            <a:spAutoFit/>
          </a:bodyPr>
          <a:lstStyle/>
          <a:p>
            <a:r>
              <a:rPr lang="zh-CN" altLang="en-US" sz="1200"/>
              <a:t>补充：</a:t>
            </a:r>
            <a:r>
              <a:rPr lang="en-US" altLang="zh-CN" sz="1200"/>
              <a:t>Spss</a:t>
            </a:r>
            <a:r>
              <a:rPr lang="zh-CN" altLang="en-US" sz="1200"/>
              <a:t>中因子和协变量的区别</a:t>
            </a:r>
          </a:p>
          <a:p>
            <a:r>
              <a:rPr lang="zh-CN" altLang="en-US" sz="1200">
                <a:solidFill>
                  <a:srgbClr val="FF0000"/>
                </a:solidFill>
              </a:rPr>
              <a:t>因子</a:t>
            </a:r>
            <a:r>
              <a:rPr lang="zh-CN" altLang="en-US" sz="1200"/>
              <a:t>指</a:t>
            </a:r>
            <a:r>
              <a:rPr lang="zh-CN" altLang="en-US" sz="1200">
                <a:solidFill>
                  <a:srgbClr val="FF0000"/>
                </a:solidFill>
              </a:rPr>
              <a:t>分类型变量</a:t>
            </a:r>
            <a:r>
              <a:rPr lang="zh-CN" altLang="en-US" sz="1200"/>
              <a:t>，例如性别、学历等</a:t>
            </a:r>
          </a:p>
          <a:p>
            <a:r>
              <a:rPr lang="zh-CN" altLang="en-US" sz="1200">
                <a:solidFill>
                  <a:srgbClr val="FF0000"/>
                </a:solidFill>
              </a:rPr>
              <a:t>协变量</a:t>
            </a:r>
            <a:r>
              <a:rPr lang="zh-CN" altLang="en-US" sz="1200"/>
              <a:t>指</a:t>
            </a:r>
            <a:r>
              <a:rPr lang="zh-CN" altLang="en-US" sz="1200">
                <a:solidFill>
                  <a:srgbClr val="FF0000"/>
                </a:solidFill>
              </a:rPr>
              <a:t>连续型变量</a:t>
            </a:r>
            <a:r>
              <a:rPr lang="zh-CN" altLang="en-US" sz="1200"/>
              <a:t>，例如面积、重量等。</a:t>
            </a:r>
          </a:p>
        </p:txBody>
      </p:sp>
      <p:pic>
        <p:nvPicPr>
          <p:cNvPr id="31" name="图片 30">
            <a:extLst>
              <a:ext uri="{FF2B5EF4-FFF2-40B4-BE49-F238E27FC236}">
                <a16:creationId xmlns:a16="http://schemas.microsoft.com/office/drawing/2014/main" id="{C7B13241-2F03-D590-3F1F-0C26FAD422A3}"/>
              </a:ext>
            </a:extLst>
          </p:cNvPr>
          <p:cNvPicPr>
            <a:picLocks noChangeAspect="1"/>
          </p:cNvPicPr>
          <p:nvPr/>
        </p:nvPicPr>
        <p:blipFill>
          <a:blip r:embed="rId7"/>
          <a:stretch>
            <a:fillRect/>
          </a:stretch>
        </p:blipFill>
        <p:spPr>
          <a:xfrm>
            <a:off x="7269137" y="733645"/>
            <a:ext cx="4730483" cy="988380"/>
          </a:xfrm>
          <a:prstGeom prst="rect">
            <a:avLst/>
          </a:prstGeom>
        </p:spPr>
      </p:pic>
      <p:pic>
        <p:nvPicPr>
          <p:cNvPr id="33" name="图片 32">
            <a:extLst>
              <a:ext uri="{FF2B5EF4-FFF2-40B4-BE49-F238E27FC236}">
                <a16:creationId xmlns:a16="http://schemas.microsoft.com/office/drawing/2014/main" id="{5572A8CF-D317-B3CF-D1AE-D9EC5CF7735C}"/>
              </a:ext>
            </a:extLst>
          </p:cNvPr>
          <p:cNvPicPr>
            <a:picLocks noChangeAspect="1"/>
          </p:cNvPicPr>
          <p:nvPr/>
        </p:nvPicPr>
        <p:blipFill>
          <a:blip r:embed="rId8"/>
          <a:stretch>
            <a:fillRect/>
          </a:stretch>
        </p:blipFill>
        <p:spPr>
          <a:xfrm>
            <a:off x="7269137" y="1693571"/>
            <a:ext cx="4529801" cy="1202879"/>
          </a:xfrm>
          <a:prstGeom prst="rect">
            <a:avLst/>
          </a:prstGeom>
        </p:spPr>
      </p:pic>
      <p:pic>
        <p:nvPicPr>
          <p:cNvPr id="35" name="图片 34">
            <a:extLst>
              <a:ext uri="{FF2B5EF4-FFF2-40B4-BE49-F238E27FC236}">
                <a16:creationId xmlns:a16="http://schemas.microsoft.com/office/drawing/2014/main" id="{8ED0776E-89AE-7688-4AD8-F26AD6BC17B0}"/>
              </a:ext>
            </a:extLst>
          </p:cNvPr>
          <p:cNvPicPr>
            <a:picLocks noChangeAspect="1"/>
          </p:cNvPicPr>
          <p:nvPr/>
        </p:nvPicPr>
        <p:blipFill>
          <a:blip r:embed="rId9"/>
          <a:stretch>
            <a:fillRect/>
          </a:stretch>
        </p:blipFill>
        <p:spPr>
          <a:xfrm>
            <a:off x="8194973" y="2893795"/>
            <a:ext cx="3009455" cy="1284473"/>
          </a:xfrm>
          <a:prstGeom prst="rect">
            <a:avLst/>
          </a:prstGeom>
        </p:spPr>
      </p:pic>
    </p:spTree>
    <p:extLst>
      <p:ext uri="{BB962C8B-B14F-4D97-AF65-F5344CB8AC3E}">
        <p14:creationId xmlns:p14="http://schemas.microsoft.com/office/powerpoint/2010/main" val="3164358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2B43590-10E2-4D29-6F04-0F1C326E16F5}"/>
              </a:ext>
            </a:extLst>
          </p:cNvPr>
          <p:cNvSpPr txBox="1"/>
          <p:nvPr/>
        </p:nvSpPr>
        <p:spPr>
          <a:xfrm>
            <a:off x="452994" y="140774"/>
            <a:ext cx="2660202"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聚类模型</a:t>
            </a:r>
          </a:p>
        </p:txBody>
      </p:sp>
      <p:sp>
        <p:nvSpPr>
          <p:cNvPr id="4" name="文本框 3">
            <a:extLst>
              <a:ext uri="{FF2B5EF4-FFF2-40B4-BE49-F238E27FC236}">
                <a16:creationId xmlns:a16="http://schemas.microsoft.com/office/drawing/2014/main" id="{C06A8CB0-6C48-6696-C3B5-DAA840188C63}"/>
              </a:ext>
            </a:extLst>
          </p:cNvPr>
          <p:cNvSpPr txBox="1"/>
          <p:nvPr/>
        </p:nvSpPr>
        <p:spPr>
          <a:xfrm>
            <a:off x="137563" y="1125658"/>
            <a:ext cx="2735110" cy="461665"/>
          </a:xfrm>
          <a:prstGeom prst="rect">
            <a:avLst/>
          </a:prstGeom>
          <a:noFill/>
        </p:spPr>
        <p:txBody>
          <a:bodyPr wrap="square">
            <a:spAutoFit/>
          </a:bodyPr>
          <a:lstStyle/>
          <a:p>
            <a:r>
              <a:rPr lang="en-US" altLang="zh-CN" sz="2400">
                <a:latin typeface="优设标题黑" panose="00000500000000000000" pitchFamily="2" charset="-122"/>
                <a:ea typeface="优设标题黑" panose="00000500000000000000" pitchFamily="2" charset="-122"/>
              </a:rPr>
              <a:t>K-means</a:t>
            </a:r>
            <a:r>
              <a:rPr lang="zh-CN" altLang="en-US" sz="2400">
                <a:latin typeface="优设标题黑" panose="00000500000000000000" pitchFamily="2" charset="-122"/>
                <a:ea typeface="优设标题黑" panose="00000500000000000000" pitchFamily="2" charset="-122"/>
              </a:rPr>
              <a:t>聚类算法</a:t>
            </a:r>
          </a:p>
        </p:txBody>
      </p:sp>
      <p:sp>
        <p:nvSpPr>
          <p:cNvPr id="6" name="文本框 5">
            <a:extLst>
              <a:ext uri="{FF2B5EF4-FFF2-40B4-BE49-F238E27FC236}">
                <a16:creationId xmlns:a16="http://schemas.microsoft.com/office/drawing/2014/main" id="{06919079-472D-403A-4C11-96416F2E5228}"/>
              </a:ext>
            </a:extLst>
          </p:cNvPr>
          <p:cNvSpPr txBox="1"/>
          <p:nvPr/>
        </p:nvSpPr>
        <p:spPr>
          <a:xfrm>
            <a:off x="452994" y="725549"/>
            <a:ext cx="4331263" cy="276999"/>
          </a:xfrm>
          <a:prstGeom prst="rect">
            <a:avLst/>
          </a:prstGeom>
          <a:noFill/>
        </p:spPr>
        <p:txBody>
          <a:bodyPr wrap="square">
            <a:spAutoFit/>
          </a:bodyPr>
          <a:lstStyle/>
          <a:p>
            <a:r>
              <a:rPr lang="zh-CN" altLang="en-US" sz="1200" b="0" i="0">
                <a:solidFill>
                  <a:srgbClr val="2C2C36"/>
                </a:solidFill>
                <a:effectLst/>
                <a:highlight>
                  <a:srgbClr val="FFFFFF"/>
                </a:highlight>
                <a:latin typeface="-apple-system"/>
              </a:rPr>
              <a:t>一种</a:t>
            </a:r>
            <a:r>
              <a:rPr lang="zh-CN" altLang="en-US" sz="1200" b="0" i="0">
                <a:solidFill>
                  <a:srgbClr val="FF0000"/>
                </a:solidFill>
                <a:effectLst/>
                <a:highlight>
                  <a:srgbClr val="FFFFFF"/>
                </a:highlight>
                <a:latin typeface="-apple-system"/>
              </a:rPr>
              <a:t>无监督学习方法</a:t>
            </a:r>
            <a:r>
              <a:rPr lang="zh-CN" altLang="en-US" sz="1200" b="0" i="0">
                <a:solidFill>
                  <a:srgbClr val="2C2C36"/>
                </a:solidFill>
                <a:effectLst/>
                <a:highlight>
                  <a:srgbClr val="FFFFFF"/>
                </a:highlight>
                <a:latin typeface="-apple-system"/>
              </a:rPr>
              <a:t>，用于发现数据集中的自然分组或簇。</a:t>
            </a:r>
            <a:endParaRPr lang="zh-CN" altLang="en-US" sz="1200"/>
          </a:p>
        </p:txBody>
      </p:sp>
      <p:sp>
        <p:nvSpPr>
          <p:cNvPr id="8" name="文本框 7">
            <a:extLst>
              <a:ext uri="{FF2B5EF4-FFF2-40B4-BE49-F238E27FC236}">
                <a16:creationId xmlns:a16="http://schemas.microsoft.com/office/drawing/2014/main" id="{D25967EE-589B-CE0C-2D45-C25903308ADE}"/>
              </a:ext>
            </a:extLst>
          </p:cNvPr>
          <p:cNvSpPr txBox="1"/>
          <p:nvPr/>
        </p:nvSpPr>
        <p:spPr>
          <a:xfrm>
            <a:off x="137563" y="1587323"/>
            <a:ext cx="4895841" cy="830997"/>
          </a:xfrm>
          <a:prstGeom prst="rect">
            <a:avLst/>
          </a:prstGeom>
          <a:noFill/>
        </p:spPr>
        <p:txBody>
          <a:bodyPr wrap="square">
            <a:spAutoFit/>
          </a:bodyPr>
          <a:lstStyle/>
          <a:p>
            <a:pPr algn="l">
              <a:buFont typeface="Arial" panose="020B0604020202020204" pitchFamily="34" charset="0"/>
              <a:buChar char="•"/>
            </a:pPr>
            <a:r>
              <a:rPr lang="zh-CN" altLang="en-US" sz="1200" b="0" i="0">
                <a:solidFill>
                  <a:srgbClr val="2C2C36"/>
                </a:solidFill>
                <a:effectLst/>
                <a:highlight>
                  <a:srgbClr val="FFFFFF"/>
                </a:highlight>
                <a:latin typeface="-apple-system"/>
              </a:rPr>
              <a:t>初始化：随机选择 </a:t>
            </a:r>
            <a:r>
              <a:rPr lang="en-US" altLang="zh-CN" sz="1200" b="0" i="0">
                <a:solidFill>
                  <a:srgbClr val="2C2C36"/>
                </a:solidFill>
                <a:effectLst/>
                <a:highlight>
                  <a:srgbClr val="FFFFFF"/>
                </a:highlight>
                <a:latin typeface="KaTeX_Main"/>
              </a:rPr>
              <a:t>K</a:t>
            </a:r>
            <a:r>
              <a:rPr lang="zh-CN" altLang="en-US" sz="1200" b="0" i="0">
                <a:solidFill>
                  <a:srgbClr val="2C2C36"/>
                </a:solidFill>
                <a:effectLst/>
                <a:highlight>
                  <a:srgbClr val="FFFFFF"/>
                </a:highlight>
                <a:latin typeface="-apple-system"/>
              </a:rPr>
              <a:t>个中心点。</a:t>
            </a:r>
          </a:p>
          <a:p>
            <a:pPr algn="l">
              <a:buFont typeface="Arial" panose="020B0604020202020204" pitchFamily="34" charset="0"/>
              <a:buChar char="•"/>
            </a:pPr>
            <a:r>
              <a:rPr lang="zh-CN" altLang="en-US" sz="1200" b="0" i="0">
                <a:solidFill>
                  <a:srgbClr val="2C2C36"/>
                </a:solidFill>
                <a:effectLst/>
                <a:highlight>
                  <a:srgbClr val="FFFFFF"/>
                </a:highlight>
                <a:latin typeface="-apple-system"/>
              </a:rPr>
              <a:t>分配：将每个数据点分配给最近的中心点。</a:t>
            </a:r>
          </a:p>
          <a:p>
            <a:pPr algn="l">
              <a:buFont typeface="Arial" panose="020B0604020202020204" pitchFamily="34" charset="0"/>
              <a:buChar char="•"/>
            </a:pPr>
            <a:r>
              <a:rPr lang="zh-CN" altLang="en-US" sz="1200" b="0" i="0">
                <a:solidFill>
                  <a:srgbClr val="2C2C36"/>
                </a:solidFill>
                <a:effectLst/>
                <a:highlight>
                  <a:srgbClr val="FFFFFF"/>
                </a:highlight>
                <a:latin typeface="-apple-system"/>
              </a:rPr>
              <a:t>更新：重新计算每个簇的中心点。</a:t>
            </a:r>
          </a:p>
          <a:p>
            <a:pPr algn="l">
              <a:buFont typeface="Arial" panose="020B0604020202020204" pitchFamily="34" charset="0"/>
              <a:buChar char="•"/>
            </a:pPr>
            <a:r>
              <a:rPr lang="zh-CN" altLang="en-US" sz="1200" b="0" i="0">
                <a:solidFill>
                  <a:srgbClr val="2C2C36"/>
                </a:solidFill>
                <a:effectLst/>
                <a:highlight>
                  <a:srgbClr val="FFFFFF"/>
                </a:highlight>
                <a:latin typeface="-apple-system"/>
              </a:rPr>
              <a:t>重复：重复分配和更新，直到簇中心收敛或达到最大迭代次数。</a:t>
            </a:r>
          </a:p>
        </p:txBody>
      </p:sp>
      <p:pic>
        <p:nvPicPr>
          <p:cNvPr id="10" name="图片 9">
            <a:extLst>
              <a:ext uri="{FF2B5EF4-FFF2-40B4-BE49-F238E27FC236}">
                <a16:creationId xmlns:a16="http://schemas.microsoft.com/office/drawing/2014/main" id="{5742BE82-8E4C-3B36-260A-764836404725}"/>
              </a:ext>
            </a:extLst>
          </p:cNvPr>
          <p:cNvPicPr>
            <a:picLocks noChangeAspect="1"/>
          </p:cNvPicPr>
          <p:nvPr/>
        </p:nvPicPr>
        <p:blipFill>
          <a:blip r:embed="rId2"/>
          <a:stretch>
            <a:fillRect/>
          </a:stretch>
        </p:blipFill>
        <p:spPr>
          <a:xfrm>
            <a:off x="137563" y="2477789"/>
            <a:ext cx="4044085" cy="1810571"/>
          </a:xfrm>
          <a:prstGeom prst="rect">
            <a:avLst/>
          </a:prstGeom>
        </p:spPr>
      </p:pic>
      <p:pic>
        <p:nvPicPr>
          <p:cNvPr id="12" name="图片 11">
            <a:extLst>
              <a:ext uri="{FF2B5EF4-FFF2-40B4-BE49-F238E27FC236}">
                <a16:creationId xmlns:a16="http://schemas.microsoft.com/office/drawing/2014/main" id="{B7FAB26D-67E7-A466-FB4A-CDFD0A4D013D}"/>
              </a:ext>
            </a:extLst>
          </p:cNvPr>
          <p:cNvPicPr>
            <a:picLocks noChangeAspect="1"/>
          </p:cNvPicPr>
          <p:nvPr/>
        </p:nvPicPr>
        <p:blipFill>
          <a:blip r:embed="rId3"/>
          <a:stretch>
            <a:fillRect/>
          </a:stretch>
        </p:blipFill>
        <p:spPr>
          <a:xfrm>
            <a:off x="0" y="4439681"/>
            <a:ext cx="1616043" cy="2405397"/>
          </a:xfrm>
          <a:prstGeom prst="rect">
            <a:avLst/>
          </a:prstGeom>
        </p:spPr>
      </p:pic>
      <p:sp>
        <p:nvSpPr>
          <p:cNvPr id="14" name="文本框 13">
            <a:extLst>
              <a:ext uri="{FF2B5EF4-FFF2-40B4-BE49-F238E27FC236}">
                <a16:creationId xmlns:a16="http://schemas.microsoft.com/office/drawing/2014/main" id="{424091D7-FFD9-72EC-1B46-453C30136FEF}"/>
              </a:ext>
            </a:extLst>
          </p:cNvPr>
          <p:cNvSpPr txBox="1"/>
          <p:nvPr/>
        </p:nvSpPr>
        <p:spPr>
          <a:xfrm>
            <a:off x="452994" y="4225521"/>
            <a:ext cx="981528" cy="276999"/>
          </a:xfrm>
          <a:prstGeom prst="rect">
            <a:avLst/>
          </a:prstGeom>
          <a:noFill/>
        </p:spPr>
        <p:txBody>
          <a:bodyPr wrap="square">
            <a:spAutoFit/>
          </a:bodyPr>
          <a:lstStyle/>
          <a:p>
            <a:r>
              <a:rPr lang="zh-CN" altLang="en-US" sz="1200"/>
              <a:t>算法流程图</a:t>
            </a:r>
          </a:p>
        </p:txBody>
      </p:sp>
      <p:sp>
        <p:nvSpPr>
          <p:cNvPr id="18" name="文本框 17">
            <a:extLst>
              <a:ext uri="{FF2B5EF4-FFF2-40B4-BE49-F238E27FC236}">
                <a16:creationId xmlns:a16="http://schemas.microsoft.com/office/drawing/2014/main" id="{FBB8A0EE-E10F-6DC1-2F9E-37C2BEBF1AD4}"/>
              </a:ext>
            </a:extLst>
          </p:cNvPr>
          <p:cNvSpPr txBox="1"/>
          <p:nvPr/>
        </p:nvSpPr>
        <p:spPr>
          <a:xfrm>
            <a:off x="1887516" y="4247005"/>
            <a:ext cx="2836884" cy="2308324"/>
          </a:xfrm>
          <a:prstGeom prst="rect">
            <a:avLst/>
          </a:prstGeom>
          <a:noFill/>
        </p:spPr>
        <p:txBody>
          <a:bodyPr wrap="square">
            <a:spAutoFit/>
          </a:bodyPr>
          <a:lstStyle/>
          <a:p>
            <a:r>
              <a:rPr lang="zh-CN" altLang="en-US" sz="1200">
                <a:solidFill>
                  <a:srgbClr val="FF0000"/>
                </a:solidFill>
              </a:rPr>
              <a:t>优点</a:t>
            </a:r>
            <a:r>
              <a:rPr lang="zh-CN" altLang="en-US" sz="1200"/>
              <a:t>：</a:t>
            </a:r>
          </a:p>
          <a:p>
            <a:r>
              <a:rPr lang="zh-CN" altLang="en-US" sz="1200"/>
              <a:t>（</a:t>
            </a:r>
            <a:r>
              <a:rPr lang="en-US" altLang="zh-CN" sz="1200"/>
              <a:t>1</a:t>
            </a:r>
            <a:r>
              <a:rPr lang="zh-CN" altLang="en-US" sz="1200"/>
              <a:t>）算法简单、快速。</a:t>
            </a:r>
          </a:p>
          <a:p>
            <a:r>
              <a:rPr lang="zh-CN" altLang="en-US" sz="1200"/>
              <a:t>（</a:t>
            </a:r>
            <a:r>
              <a:rPr lang="en-US" altLang="zh-CN" sz="1200"/>
              <a:t>2</a:t>
            </a:r>
            <a:r>
              <a:rPr lang="zh-CN" altLang="en-US" sz="1200"/>
              <a:t>）处理大数据集相对高效。</a:t>
            </a:r>
          </a:p>
          <a:p>
            <a:r>
              <a:rPr lang="zh-CN" altLang="en-US" sz="1200">
                <a:solidFill>
                  <a:srgbClr val="FF0000"/>
                </a:solidFill>
              </a:rPr>
              <a:t>缺点</a:t>
            </a:r>
            <a:r>
              <a:rPr lang="zh-CN" altLang="en-US" sz="1200"/>
              <a:t>：</a:t>
            </a:r>
          </a:p>
          <a:p>
            <a:r>
              <a:rPr lang="zh-CN" altLang="en-US" sz="1200"/>
              <a:t>（</a:t>
            </a:r>
            <a:r>
              <a:rPr lang="en-US" altLang="zh-CN" sz="1200"/>
              <a:t>1</a:t>
            </a:r>
            <a:r>
              <a:rPr lang="zh-CN" altLang="en-US" sz="1200"/>
              <a:t>）须用户给出生成簇的数目</a:t>
            </a:r>
            <a:r>
              <a:rPr lang="en-US" altLang="zh-CN" sz="1200">
                <a:solidFill>
                  <a:srgbClr val="FF0000"/>
                </a:solidFill>
              </a:rPr>
              <a:t>K</a:t>
            </a:r>
            <a:r>
              <a:rPr lang="zh-CN" altLang="en-US" sz="1200"/>
              <a:t>。</a:t>
            </a:r>
          </a:p>
          <a:p>
            <a:r>
              <a:rPr lang="zh-CN" altLang="en-US" sz="1200"/>
              <a:t>（</a:t>
            </a:r>
            <a:r>
              <a:rPr lang="en-US" altLang="zh-CN" sz="1200"/>
              <a:t>2</a:t>
            </a:r>
            <a:r>
              <a:rPr lang="zh-CN" altLang="en-US" sz="1200"/>
              <a:t>）对</a:t>
            </a:r>
            <a:r>
              <a:rPr lang="zh-CN" altLang="en-US" sz="1200">
                <a:solidFill>
                  <a:srgbClr val="FF0000"/>
                </a:solidFill>
              </a:rPr>
              <a:t>初值敏感</a:t>
            </a:r>
            <a:r>
              <a:rPr lang="en-US" altLang="zh-CN" sz="1200"/>
              <a:t>,</a:t>
            </a:r>
            <a:r>
              <a:rPr lang="zh-CN" altLang="en-US" sz="1200" b="0" i="0">
                <a:solidFill>
                  <a:srgbClr val="2C2C36"/>
                </a:solidFill>
                <a:effectLst/>
                <a:highlight>
                  <a:srgbClr val="FFFFFF"/>
                </a:highlight>
                <a:latin typeface="-apple-system"/>
              </a:rPr>
              <a:t>初始中心的选择会影响后续迭代的结果。由于算法是基于</a:t>
            </a:r>
            <a:r>
              <a:rPr lang="zh-CN" altLang="en-US" sz="1200" b="0" i="0">
                <a:solidFill>
                  <a:srgbClr val="FF0000"/>
                </a:solidFill>
                <a:effectLst/>
                <a:highlight>
                  <a:srgbClr val="FFFFFF"/>
                </a:highlight>
                <a:latin typeface="-apple-system"/>
              </a:rPr>
              <a:t>梯度下降</a:t>
            </a:r>
            <a:r>
              <a:rPr lang="zh-CN" altLang="en-US" sz="1200" b="0" i="0">
                <a:solidFill>
                  <a:srgbClr val="2C2C36"/>
                </a:solidFill>
                <a:effectLst/>
                <a:highlight>
                  <a:srgbClr val="FFFFFF"/>
                </a:highlight>
                <a:latin typeface="-apple-system"/>
              </a:rPr>
              <a:t>的思路进行优化的，它可能会收敛到</a:t>
            </a:r>
            <a:r>
              <a:rPr lang="zh-CN" altLang="en-US" sz="1200" b="0" i="0">
                <a:solidFill>
                  <a:srgbClr val="FF0000"/>
                </a:solidFill>
                <a:effectLst/>
                <a:highlight>
                  <a:srgbClr val="FFFFFF"/>
                </a:highlight>
                <a:latin typeface="-apple-system"/>
              </a:rPr>
              <a:t>局部最优解</a:t>
            </a:r>
            <a:r>
              <a:rPr lang="zh-CN" altLang="en-US" sz="1200" b="0" i="0">
                <a:solidFill>
                  <a:srgbClr val="2C2C36"/>
                </a:solidFill>
                <a:effectLst/>
                <a:highlight>
                  <a:srgbClr val="FFFFFF"/>
                </a:highlight>
                <a:latin typeface="-apple-system"/>
              </a:rPr>
              <a:t>而不是</a:t>
            </a:r>
            <a:r>
              <a:rPr lang="zh-CN" altLang="en-US" sz="1200" b="0" i="0">
                <a:solidFill>
                  <a:srgbClr val="FF0000"/>
                </a:solidFill>
                <a:effectLst/>
                <a:highlight>
                  <a:srgbClr val="FFFFFF"/>
                </a:highlight>
                <a:latin typeface="-apple-system"/>
              </a:rPr>
              <a:t>全局最优解</a:t>
            </a:r>
            <a:r>
              <a:rPr lang="zh-CN" altLang="en-US" sz="1200" b="0" i="0">
                <a:solidFill>
                  <a:srgbClr val="2C2C36"/>
                </a:solidFill>
                <a:effectLst/>
                <a:highlight>
                  <a:srgbClr val="FFFFFF"/>
                </a:highlight>
                <a:latin typeface="-apple-system"/>
              </a:rPr>
              <a:t>。</a:t>
            </a:r>
            <a:endParaRPr lang="zh-CN" altLang="en-US" sz="1200"/>
          </a:p>
          <a:p>
            <a:r>
              <a:rPr lang="zh-CN" altLang="en-US" sz="1200"/>
              <a:t>（</a:t>
            </a:r>
            <a:r>
              <a:rPr lang="en-US" altLang="zh-CN" sz="1200"/>
              <a:t>3</a:t>
            </a:r>
            <a:r>
              <a:rPr lang="zh-CN" altLang="en-US" sz="1200"/>
              <a:t>）对于</a:t>
            </a:r>
            <a:r>
              <a:rPr lang="zh-CN" altLang="en-US" sz="1200">
                <a:solidFill>
                  <a:srgbClr val="FF0000"/>
                </a:solidFill>
              </a:rPr>
              <a:t>孤立点数据敏感</a:t>
            </a:r>
            <a:r>
              <a:rPr lang="zh-CN" altLang="en-US" sz="1200"/>
              <a:t>。</a:t>
            </a:r>
            <a:r>
              <a:rPr lang="zh-CN" altLang="en-US" sz="1200" b="0" i="0">
                <a:solidFill>
                  <a:srgbClr val="2C2C36"/>
                </a:solidFill>
                <a:effectLst/>
                <a:highlight>
                  <a:srgbClr val="FFFFFF"/>
                </a:highlight>
                <a:latin typeface="-apple-system"/>
              </a:rPr>
              <a:t>孤立点可能距离其他数据点较远，导致簇中心被拉向孤立点的方向，影响聚类效果。</a:t>
            </a:r>
            <a:endParaRPr lang="zh-CN" altLang="en-US" sz="1200"/>
          </a:p>
        </p:txBody>
      </p:sp>
      <p:sp>
        <p:nvSpPr>
          <p:cNvPr id="20" name="文本框 19">
            <a:extLst>
              <a:ext uri="{FF2B5EF4-FFF2-40B4-BE49-F238E27FC236}">
                <a16:creationId xmlns:a16="http://schemas.microsoft.com/office/drawing/2014/main" id="{5275D812-FA49-0303-223D-ADA7C1796E45}"/>
              </a:ext>
            </a:extLst>
          </p:cNvPr>
          <p:cNvSpPr txBox="1"/>
          <p:nvPr/>
        </p:nvSpPr>
        <p:spPr>
          <a:xfrm>
            <a:off x="5066560" y="4267371"/>
            <a:ext cx="2401042" cy="1169551"/>
          </a:xfrm>
          <a:prstGeom prst="rect">
            <a:avLst/>
          </a:prstGeom>
          <a:noFill/>
          <a:ln>
            <a:solidFill>
              <a:schemeClr val="tx1"/>
            </a:solidFill>
          </a:ln>
        </p:spPr>
        <p:txBody>
          <a:bodyPr wrap="square">
            <a:spAutoFit/>
          </a:bodyPr>
          <a:lstStyle/>
          <a:p>
            <a:pPr algn="l"/>
            <a:r>
              <a:rPr lang="zh-CN" altLang="en-US" sz="1000" b="1" i="0">
                <a:solidFill>
                  <a:srgbClr val="2C2C36"/>
                </a:solidFill>
                <a:effectLst/>
                <a:highlight>
                  <a:srgbClr val="FFFFFF"/>
                </a:highlight>
                <a:latin typeface="-apple-system"/>
              </a:rPr>
              <a:t>解决方案</a:t>
            </a:r>
            <a:r>
              <a:rPr lang="zh-CN" altLang="en-US" sz="1000" b="0" i="0">
                <a:solidFill>
                  <a:srgbClr val="2C2C36"/>
                </a:solidFill>
                <a:effectLst/>
                <a:highlight>
                  <a:srgbClr val="FFFFFF"/>
                </a:highlight>
                <a:latin typeface="-apple-system"/>
              </a:rPr>
              <a:t>：</a:t>
            </a:r>
          </a:p>
          <a:p>
            <a:pPr algn="l">
              <a:buFont typeface="Arial" panose="020B0604020202020204" pitchFamily="34" charset="0"/>
              <a:buChar char="•"/>
            </a:pPr>
            <a:r>
              <a:rPr lang="zh-CN" altLang="en-US" sz="1000" b="0" i="0">
                <a:solidFill>
                  <a:srgbClr val="2C2C36"/>
                </a:solidFill>
                <a:effectLst/>
                <a:highlight>
                  <a:srgbClr val="FFFFFF"/>
                </a:highlight>
                <a:latin typeface="-apple-system"/>
              </a:rPr>
              <a:t>使用肘部法则（</a:t>
            </a:r>
            <a:r>
              <a:rPr lang="en-US" altLang="zh-CN" sz="1000" b="0" i="0">
                <a:solidFill>
                  <a:srgbClr val="2C2C36"/>
                </a:solidFill>
                <a:effectLst/>
                <a:highlight>
                  <a:srgbClr val="FFFFFF"/>
                </a:highlight>
                <a:latin typeface="-apple-system"/>
              </a:rPr>
              <a:t>Elbow Method</a:t>
            </a:r>
            <a:r>
              <a:rPr lang="zh-CN" altLang="en-US" sz="1000" b="0" i="0">
                <a:solidFill>
                  <a:srgbClr val="2C2C36"/>
                </a:solidFill>
                <a:effectLst/>
                <a:highlight>
                  <a:srgbClr val="FFFFFF"/>
                </a:highlight>
                <a:latin typeface="-apple-system"/>
              </a:rPr>
              <a:t>）来寻找最佳的 </a:t>
            </a:r>
            <a:r>
              <a:rPr lang="en-US" altLang="zh-CN" sz="1000" b="0" i="0">
                <a:solidFill>
                  <a:srgbClr val="2C2C36"/>
                </a:solidFill>
                <a:effectLst/>
                <a:highlight>
                  <a:srgbClr val="FFFFFF"/>
                </a:highlight>
                <a:latin typeface="-apple-system"/>
              </a:rPr>
              <a:t>K </a:t>
            </a:r>
            <a:r>
              <a:rPr lang="zh-CN" altLang="en-US" sz="1000" b="0" i="0">
                <a:solidFill>
                  <a:srgbClr val="2C2C36"/>
                </a:solidFill>
                <a:effectLst/>
                <a:highlight>
                  <a:srgbClr val="FFFFFF"/>
                </a:highlight>
                <a:latin typeface="-apple-system"/>
              </a:rPr>
              <a:t>值。</a:t>
            </a:r>
          </a:p>
          <a:p>
            <a:pPr algn="l">
              <a:buFont typeface="Arial" panose="020B0604020202020204" pitchFamily="34" charset="0"/>
              <a:buChar char="•"/>
            </a:pPr>
            <a:r>
              <a:rPr lang="zh-CN" altLang="en-US" sz="1000" b="0" i="0">
                <a:solidFill>
                  <a:srgbClr val="2C2C36"/>
                </a:solidFill>
                <a:effectLst/>
                <a:highlight>
                  <a:srgbClr val="FFFFFF"/>
                </a:highlight>
                <a:latin typeface="-apple-system"/>
              </a:rPr>
              <a:t>采用轮廓系数（</a:t>
            </a:r>
            <a:r>
              <a:rPr lang="en-US" altLang="zh-CN" sz="1000" b="0" i="0">
                <a:solidFill>
                  <a:srgbClr val="2C2C36"/>
                </a:solidFill>
                <a:effectLst/>
                <a:highlight>
                  <a:srgbClr val="FFFFFF"/>
                </a:highlight>
                <a:latin typeface="-apple-system"/>
              </a:rPr>
              <a:t>Silhouette Coefficient</a:t>
            </a:r>
            <a:r>
              <a:rPr lang="zh-CN" altLang="en-US" sz="1000" b="0" i="0">
                <a:solidFill>
                  <a:srgbClr val="2C2C36"/>
                </a:solidFill>
                <a:effectLst/>
                <a:highlight>
                  <a:srgbClr val="FFFFFF"/>
                </a:highlight>
                <a:latin typeface="-apple-system"/>
              </a:rPr>
              <a:t>）或其他评估指标来选择最优的 </a:t>
            </a:r>
            <a:r>
              <a:rPr lang="en-US" altLang="zh-CN" sz="1000" b="0" i="0">
                <a:solidFill>
                  <a:srgbClr val="2C2C36"/>
                </a:solidFill>
                <a:effectLst/>
                <a:highlight>
                  <a:srgbClr val="FFFFFF"/>
                </a:highlight>
                <a:latin typeface="-apple-system"/>
              </a:rPr>
              <a:t>K</a:t>
            </a:r>
            <a:r>
              <a:rPr lang="zh-CN" altLang="en-US" sz="1000" b="0" i="0">
                <a:solidFill>
                  <a:srgbClr val="2C2C36"/>
                </a:solidFill>
                <a:effectLst/>
                <a:highlight>
                  <a:srgbClr val="FFFFFF"/>
                </a:highlight>
                <a:latin typeface="-apple-system"/>
              </a:rPr>
              <a:t>。</a:t>
            </a:r>
          </a:p>
          <a:p>
            <a:pPr algn="l">
              <a:buFont typeface="Arial" panose="020B0604020202020204" pitchFamily="34" charset="0"/>
              <a:buChar char="•"/>
            </a:pPr>
            <a:r>
              <a:rPr lang="zh-CN" altLang="en-US" sz="1000" b="0" i="0">
                <a:solidFill>
                  <a:srgbClr val="2C2C36"/>
                </a:solidFill>
                <a:effectLst/>
                <a:highlight>
                  <a:srgbClr val="FFFFFF"/>
                </a:highlight>
                <a:latin typeface="-apple-system"/>
              </a:rPr>
              <a:t>使用其他聚类方法如层次聚类来确定簇的数量。</a:t>
            </a:r>
          </a:p>
        </p:txBody>
      </p:sp>
      <p:cxnSp>
        <p:nvCxnSpPr>
          <p:cNvPr id="22" name="直接箭头连接符 21">
            <a:extLst>
              <a:ext uri="{FF2B5EF4-FFF2-40B4-BE49-F238E27FC236}">
                <a16:creationId xmlns:a16="http://schemas.microsoft.com/office/drawing/2014/main" id="{EA385CA8-BC46-2522-B6FD-704AC81168FF}"/>
              </a:ext>
            </a:extLst>
          </p:cNvPr>
          <p:cNvCxnSpPr>
            <a:endCxn id="20" idx="1"/>
          </p:cNvCxnSpPr>
          <p:nvPr/>
        </p:nvCxnSpPr>
        <p:spPr>
          <a:xfrm flipV="1">
            <a:off x="4260273" y="4852147"/>
            <a:ext cx="806287" cy="28788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448AD76-13FA-9EA9-69B5-6BAAFF3190A0}"/>
              </a:ext>
            </a:extLst>
          </p:cNvPr>
          <p:cNvCxnSpPr>
            <a:cxnSpLocks/>
          </p:cNvCxnSpPr>
          <p:nvPr/>
        </p:nvCxnSpPr>
        <p:spPr>
          <a:xfrm>
            <a:off x="4612145" y="5432965"/>
            <a:ext cx="534819" cy="42058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2CCA7FB9-7A94-8C30-209B-3623FD09982E}"/>
              </a:ext>
            </a:extLst>
          </p:cNvPr>
          <p:cNvCxnSpPr/>
          <p:nvPr/>
        </p:nvCxnSpPr>
        <p:spPr>
          <a:xfrm flipH="1">
            <a:off x="4612145" y="5853545"/>
            <a:ext cx="523688" cy="3810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FB60E61-72B8-5CAD-ABA0-3D42B3663228}"/>
              </a:ext>
            </a:extLst>
          </p:cNvPr>
          <p:cNvCxnSpPr/>
          <p:nvPr/>
        </p:nvCxnSpPr>
        <p:spPr>
          <a:xfrm>
            <a:off x="5146964" y="5853545"/>
            <a:ext cx="651163"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F57E743-7198-1452-2435-D860B03F6B11}"/>
              </a:ext>
            </a:extLst>
          </p:cNvPr>
          <p:cNvSpPr txBox="1"/>
          <p:nvPr/>
        </p:nvSpPr>
        <p:spPr>
          <a:xfrm>
            <a:off x="5809258" y="5701145"/>
            <a:ext cx="1299604" cy="276999"/>
          </a:xfrm>
          <a:prstGeom prst="rect">
            <a:avLst/>
          </a:prstGeom>
          <a:noFill/>
          <a:ln>
            <a:solidFill>
              <a:schemeClr val="tx1"/>
            </a:solidFill>
          </a:ln>
        </p:spPr>
        <p:txBody>
          <a:bodyPr wrap="square">
            <a:spAutoFit/>
          </a:bodyPr>
          <a:lstStyle/>
          <a:p>
            <a:r>
              <a:rPr lang="en-US" altLang="zh-CN" sz="1200"/>
              <a:t>K‐means++</a:t>
            </a:r>
            <a:r>
              <a:rPr lang="zh-CN" altLang="en-US" sz="1200"/>
              <a:t>算法</a:t>
            </a:r>
          </a:p>
        </p:txBody>
      </p:sp>
      <p:sp>
        <p:nvSpPr>
          <p:cNvPr id="32" name="文本框 31">
            <a:extLst>
              <a:ext uri="{FF2B5EF4-FFF2-40B4-BE49-F238E27FC236}">
                <a16:creationId xmlns:a16="http://schemas.microsoft.com/office/drawing/2014/main" id="{2123EE2A-8893-E0E3-512B-D1BE0ED76C36}"/>
              </a:ext>
            </a:extLst>
          </p:cNvPr>
          <p:cNvSpPr txBox="1"/>
          <p:nvPr/>
        </p:nvSpPr>
        <p:spPr>
          <a:xfrm>
            <a:off x="5436826" y="-74199"/>
            <a:ext cx="3790200" cy="461665"/>
          </a:xfrm>
          <a:prstGeom prst="rect">
            <a:avLst/>
          </a:prstGeom>
          <a:noFill/>
        </p:spPr>
        <p:txBody>
          <a:bodyPr wrap="square">
            <a:spAutoFit/>
          </a:bodyPr>
          <a:lstStyle/>
          <a:p>
            <a:r>
              <a:rPr lang="en-US" altLang="zh-CN" sz="2400">
                <a:latin typeface="优设标题黑" panose="00000500000000000000" pitchFamily="2" charset="-122"/>
                <a:ea typeface="优设标题黑" panose="00000500000000000000" pitchFamily="2" charset="-122"/>
              </a:rPr>
              <a:t>K-means</a:t>
            </a:r>
            <a:r>
              <a:rPr lang="en-US" altLang="zh-CN" sz="2400">
                <a:solidFill>
                  <a:srgbClr val="FF0000"/>
                </a:solidFill>
                <a:latin typeface="优设标题黑" panose="00000500000000000000" pitchFamily="2" charset="-122"/>
                <a:ea typeface="优设标题黑" panose="00000500000000000000" pitchFamily="2" charset="-122"/>
              </a:rPr>
              <a:t>++</a:t>
            </a:r>
            <a:r>
              <a:rPr lang="zh-CN" altLang="en-US" sz="2400">
                <a:latin typeface="优设标题黑" panose="00000500000000000000" pitchFamily="2" charset="-122"/>
                <a:ea typeface="优设标题黑" panose="00000500000000000000" pitchFamily="2" charset="-122"/>
              </a:rPr>
              <a:t>聚类算法</a:t>
            </a:r>
          </a:p>
        </p:txBody>
      </p:sp>
      <p:cxnSp>
        <p:nvCxnSpPr>
          <p:cNvPr id="34" name="连接符: 肘形 33">
            <a:extLst>
              <a:ext uri="{FF2B5EF4-FFF2-40B4-BE49-F238E27FC236}">
                <a16:creationId xmlns:a16="http://schemas.microsoft.com/office/drawing/2014/main" id="{0540D90D-913F-930E-BF23-9C67937C04E3}"/>
              </a:ext>
            </a:extLst>
          </p:cNvPr>
          <p:cNvCxnSpPr>
            <a:cxnSpLocks/>
          </p:cNvCxnSpPr>
          <p:nvPr/>
        </p:nvCxnSpPr>
        <p:spPr>
          <a:xfrm flipV="1">
            <a:off x="2396836" y="725549"/>
            <a:ext cx="2874819" cy="999342"/>
          </a:xfrm>
          <a:prstGeom prst="bentConnector3">
            <a:avLst>
              <a:gd name="adj1" fmla="val 8325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63AFCED5-8E30-7427-F3BC-443F3D93D78A}"/>
              </a:ext>
            </a:extLst>
          </p:cNvPr>
          <p:cNvSpPr txBox="1"/>
          <p:nvPr/>
        </p:nvSpPr>
        <p:spPr>
          <a:xfrm>
            <a:off x="5271655" y="414677"/>
            <a:ext cx="5140036" cy="1200329"/>
          </a:xfrm>
          <a:prstGeom prst="rect">
            <a:avLst/>
          </a:prstGeom>
          <a:noFill/>
        </p:spPr>
        <p:txBody>
          <a:bodyPr wrap="square">
            <a:spAutoFit/>
          </a:bodyPr>
          <a:lstStyle/>
          <a:p>
            <a:pPr algn="l">
              <a:buFont typeface="Arial" panose="020B0604020202020204" pitchFamily="34" charset="0"/>
              <a:buChar char="•"/>
            </a:pPr>
            <a:r>
              <a:rPr lang="en-US" altLang="zh-CN" sz="1200" b="0" i="0">
                <a:solidFill>
                  <a:srgbClr val="2C2C36"/>
                </a:solidFill>
                <a:effectLst/>
                <a:highlight>
                  <a:srgbClr val="FFFFFF"/>
                </a:highlight>
                <a:latin typeface="-apple-system"/>
              </a:rPr>
              <a:t>Step</a:t>
            </a:r>
            <a:r>
              <a:rPr lang="zh-CN" altLang="en-US" sz="1200" b="0" i="0">
                <a:solidFill>
                  <a:srgbClr val="2C2C36"/>
                </a:solidFill>
                <a:effectLst/>
                <a:highlight>
                  <a:srgbClr val="FFFFFF"/>
                </a:highlight>
                <a:latin typeface="-apple-system"/>
              </a:rPr>
              <a:t>一：随机选取一个</a:t>
            </a:r>
            <a:r>
              <a:rPr lang="zh-CN" altLang="en-US" sz="1200" b="0" i="0">
                <a:solidFill>
                  <a:srgbClr val="FF0000"/>
                </a:solidFill>
                <a:effectLst/>
                <a:highlight>
                  <a:srgbClr val="FFFFFF"/>
                </a:highlight>
                <a:latin typeface="-apple-system"/>
              </a:rPr>
              <a:t>样本点</a:t>
            </a:r>
            <a:r>
              <a:rPr lang="zh-CN" altLang="en-US" sz="1200" b="0" i="0">
                <a:solidFill>
                  <a:srgbClr val="2C2C36"/>
                </a:solidFill>
                <a:effectLst/>
                <a:highlight>
                  <a:srgbClr val="FFFFFF"/>
                </a:highlight>
                <a:latin typeface="-apple-system"/>
              </a:rPr>
              <a:t>作为第一个聚类中心；</a:t>
            </a:r>
          </a:p>
          <a:p>
            <a:pPr algn="l">
              <a:buFont typeface="Arial" panose="020B0604020202020204" pitchFamily="34" charset="0"/>
              <a:buChar char="•"/>
            </a:pPr>
            <a:r>
              <a:rPr lang="en-US" altLang="zh-CN" sz="1200" b="0" i="0">
                <a:solidFill>
                  <a:srgbClr val="2C2C36"/>
                </a:solidFill>
                <a:effectLst/>
                <a:highlight>
                  <a:srgbClr val="FFFFFF"/>
                </a:highlight>
                <a:latin typeface="-apple-system"/>
              </a:rPr>
              <a:t>Step</a:t>
            </a:r>
            <a:r>
              <a:rPr lang="zh-CN" altLang="en-US" sz="1200" b="0" i="0">
                <a:solidFill>
                  <a:srgbClr val="2C2C36"/>
                </a:solidFill>
                <a:effectLst/>
                <a:highlight>
                  <a:srgbClr val="FFFFFF"/>
                </a:highlight>
                <a:latin typeface="-apple-system"/>
              </a:rPr>
              <a:t>二：计算每个样本与已有聚类中心的最短距离，那些距离现有质心较</a:t>
            </a:r>
            <a:r>
              <a:rPr lang="zh-CN" altLang="en-US" sz="1200" b="0" i="0">
                <a:solidFill>
                  <a:srgbClr val="FF0000"/>
                </a:solidFill>
                <a:effectLst/>
                <a:highlight>
                  <a:srgbClr val="FFFFFF"/>
                </a:highlight>
                <a:latin typeface="-apple-system"/>
              </a:rPr>
              <a:t>远</a:t>
            </a:r>
            <a:r>
              <a:rPr lang="zh-CN" altLang="en-US" sz="1200" b="0" i="0">
                <a:solidFill>
                  <a:srgbClr val="2C2C36"/>
                </a:solidFill>
                <a:effectLst/>
                <a:highlight>
                  <a:srgbClr val="FFFFFF"/>
                </a:highlight>
                <a:latin typeface="-apple-system"/>
              </a:rPr>
              <a:t>的点更有可能被选为新的质心；最后，用</a:t>
            </a:r>
            <a:r>
              <a:rPr lang="zh-CN" altLang="en-US" sz="1200" b="0" i="0">
                <a:solidFill>
                  <a:srgbClr val="FF0000"/>
                </a:solidFill>
                <a:effectLst/>
                <a:highlight>
                  <a:srgbClr val="FFFFFF"/>
                </a:highlight>
                <a:latin typeface="-apple-system"/>
              </a:rPr>
              <a:t>轮盘法</a:t>
            </a:r>
            <a:r>
              <a:rPr lang="zh-CN" altLang="en-US" sz="1200" b="0" i="0">
                <a:solidFill>
                  <a:srgbClr val="2C2C36"/>
                </a:solidFill>
                <a:effectLst/>
                <a:highlight>
                  <a:srgbClr val="FFFFFF"/>
                </a:highlight>
                <a:latin typeface="-apple-system"/>
              </a:rPr>
              <a:t>（依据概率大小来进行抽选）选出下一个聚类中心；</a:t>
            </a:r>
          </a:p>
          <a:p>
            <a:pPr algn="l">
              <a:buFont typeface="Arial" panose="020B0604020202020204" pitchFamily="34" charset="0"/>
              <a:buChar char="•"/>
            </a:pPr>
            <a:r>
              <a:rPr lang="en-US" altLang="zh-CN" sz="1200" b="0" i="0">
                <a:solidFill>
                  <a:srgbClr val="2C2C36"/>
                </a:solidFill>
                <a:effectLst/>
                <a:highlight>
                  <a:srgbClr val="FFFFFF"/>
                </a:highlight>
                <a:latin typeface="-apple-system"/>
              </a:rPr>
              <a:t>Step</a:t>
            </a:r>
            <a:r>
              <a:rPr lang="zh-CN" altLang="en-US" sz="1200" b="0" i="0">
                <a:solidFill>
                  <a:srgbClr val="2C2C36"/>
                </a:solidFill>
                <a:effectLst/>
                <a:highlight>
                  <a:srgbClr val="FFFFFF"/>
                </a:highlight>
                <a:latin typeface="-apple-system"/>
              </a:rPr>
              <a:t>三：重复</a:t>
            </a:r>
            <a:r>
              <a:rPr lang="en-US" altLang="zh-CN" sz="1200" b="0" i="0">
                <a:solidFill>
                  <a:srgbClr val="2C2C36"/>
                </a:solidFill>
                <a:effectLst/>
                <a:highlight>
                  <a:srgbClr val="FFFFFF"/>
                </a:highlight>
                <a:latin typeface="-apple-system"/>
              </a:rPr>
              <a:t>Step</a:t>
            </a:r>
            <a:r>
              <a:rPr lang="zh-CN" altLang="en-US" sz="1200" b="0" i="0">
                <a:solidFill>
                  <a:srgbClr val="2C2C36"/>
                </a:solidFill>
                <a:effectLst/>
                <a:highlight>
                  <a:srgbClr val="FFFFFF"/>
                </a:highlight>
                <a:latin typeface="-apple-system"/>
              </a:rPr>
              <a:t>二，直到选出</a:t>
            </a:r>
            <a:r>
              <a:rPr lang="en-US" altLang="zh-CN" sz="1200" b="0" i="0">
                <a:solidFill>
                  <a:srgbClr val="2C2C36"/>
                </a:solidFill>
                <a:effectLst/>
                <a:highlight>
                  <a:srgbClr val="FFFFFF"/>
                </a:highlight>
                <a:latin typeface="-apple-system"/>
              </a:rPr>
              <a:t>K</a:t>
            </a:r>
            <a:r>
              <a:rPr lang="zh-CN" altLang="en-US" sz="1200" b="0" i="0">
                <a:solidFill>
                  <a:srgbClr val="2C2C36"/>
                </a:solidFill>
                <a:effectLst/>
                <a:highlight>
                  <a:srgbClr val="FFFFFF"/>
                </a:highlight>
                <a:latin typeface="-apple-system"/>
              </a:rPr>
              <a:t>个聚类中心。选出初始点后，就继续使用标准的</a:t>
            </a:r>
            <a:r>
              <a:rPr lang="en-US" altLang="zh-CN" sz="1200" b="0" i="0">
                <a:solidFill>
                  <a:srgbClr val="2C2C36"/>
                </a:solidFill>
                <a:effectLst/>
                <a:highlight>
                  <a:srgbClr val="FFFFFF"/>
                </a:highlight>
                <a:latin typeface="-apple-system"/>
              </a:rPr>
              <a:t>K-means</a:t>
            </a:r>
            <a:r>
              <a:rPr lang="zh-CN" altLang="en-US" sz="1200" b="0" i="0">
                <a:solidFill>
                  <a:srgbClr val="2C2C36"/>
                </a:solidFill>
                <a:effectLst/>
                <a:highlight>
                  <a:srgbClr val="FFFFFF"/>
                </a:highlight>
                <a:latin typeface="-apple-system"/>
              </a:rPr>
              <a:t>算法了。</a:t>
            </a:r>
          </a:p>
        </p:txBody>
      </p:sp>
      <p:sp>
        <p:nvSpPr>
          <p:cNvPr id="39" name="文本框 38">
            <a:extLst>
              <a:ext uri="{FF2B5EF4-FFF2-40B4-BE49-F238E27FC236}">
                <a16:creationId xmlns:a16="http://schemas.microsoft.com/office/drawing/2014/main" id="{8783DA5A-1ACB-4B2E-E065-6294148523BA}"/>
              </a:ext>
            </a:extLst>
          </p:cNvPr>
          <p:cNvSpPr txBox="1"/>
          <p:nvPr/>
        </p:nvSpPr>
        <p:spPr>
          <a:xfrm>
            <a:off x="6023439" y="1627205"/>
            <a:ext cx="3156166" cy="1200329"/>
          </a:xfrm>
          <a:prstGeom prst="rect">
            <a:avLst/>
          </a:prstGeom>
          <a:noFill/>
          <a:ln>
            <a:solidFill>
              <a:schemeClr val="accent6"/>
            </a:solidFill>
          </a:ln>
        </p:spPr>
        <p:txBody>
          <a:bodyPr wrap="square" rtlCol="0">
            <a:spAutoFit/>
          </a:bodyPr>
          <a:lstStyle/>
          <a:p>
            <a:r>
              <a:rPr lang="en-US" altLang="zh-CN" sz="1200">
                <a:solidFill>
                  <a:srgbClr val="FF0000"/>
                </a:solidFill>
              </a:rPr>
              <a:t>SPSS</a:t>
            </a:r>
            <a:r>
              <a:rPr lang="zh-CN" altLang="en-US" sz="1200"/>
              <a:t>操作：</a:t>
            </a:r>
            <a:endParaRPr lang="en-US" altLang="zh-CN" sz="1200"/>
          </a:p>
          <a:p>
            <a:r>
              <a:rPr lang="en-US" altLang="zh-CN" sz="1200"/>
              <a:t>1.</a:t>
            </a:r>
            <a:r>
              <a:rPr lang="zh-CN" altLang="en-US" sz="1200"/>
              <a:t>分析</a:t>
            </a:r>
            <a:r>
              <a:rPr lang="en-US" altLang="zh-CN" sz="1200"/>
              <a:t>-&gt;</a:t>
            </a:r>
            <a:r>
              <a:rPr lang="zh-CN" altLang="en-US" sz="1200"/>
              <a:t>分类</a:t>
            </a:r>
            <a:r>
              <a:rPr lang="en-US" altLang="zh-CN" sz="1200"/>
              <a:t>-&gt;K-</a:t>
            </a:r>
            <a:r>
              <a:rPr lang="zh-CN" altLang="en-US" sz="1200"/>
              <a:t>均值聚类</a:t>
            </a:r>
            <a:endParaRPr lang="en-US" altLang="zh-CN" sz="1200"/>
          </a:p>
          <a:p>
            <a:r>
              <a:rPr lang="en-US" altLang="zh-CN" sz="1200"/>
              <a:t>2.</a:t>
            </a:r>
            <a:r>
              <a:rPr lang="zh-CN" altLang="en-US" sz="1200"/>
              <a:t>簇数选择</a:t>
            </a:r>
            <a:r>
              <a:rPr lang="en-US" altLang="zh-CN" sz="1200"/>
              <a:t>(default</a:t>
            </a:r>
            <a:r>
              <a:rPr lang="zh-CN" altLang="en-US" sz="1200"/>
              <a:t>为</a:t>
            </a:r>
            <a:r>
              <a:rPr lang="en-US" altLang="zh-CN" sz="1200"/>
              <a:t>2)</a:t>
            </a:r>
          </a:p>
          <a:p>
            <a:r>
              <a:rPr lang="en-US" altLang="zh-CN" sz="1200"/>
              <a:t>3.</a:t>
            </a:r>
            <a:r>
              <a:rPr lang="zh-CN" altLang="en-US" sz="1200"/>
              <a:t>迭代</a:t>
            </a:r>
            <a:r>
              <a:rPr lang="en-US" altLang="zh-CN" sz="1200"/>
              <a:t>20</a:t>
            </a:r>
          </a:p>
          <a:p>
            <a:r>
              <a:rPr lang="en-US" altLang="zh-CN" sz="1200"/>
              <a:t>4.</a:t>
            </a:r>
            <a:r>
              <a:rPr lang="zh-CN" altLang="en-US" sz="1200"/>
              <a:t>保存</a:t>
            </a:r>
            <a:r>
              <a:rPr lang="en-US" altLang="zh-CN" sz="1200"/>
              <a:t>:</a:t>
            </a:r>
            <a:r>
              <a:rPr lang="zh-CN" altLang="en-US" sz="1200"/>
              <a:t>勾选聚类成员</a:t>
            </a:r>
            <a:r>
              <a:rPr lang="en-US" altLang="zh-CN" sz="1200"/>
              <a:t>+</a:t>
            </a:r>
            <a:r>
              <a:rPr lang="zh-CN" altLang="en-US" sz="1200"/>
              <a:t>距离</a:t>
            </a:r>
            <a:endParaRPr lang="en-US" altLang="zh-CN" sz="1200"/>
          </a:p>
          <a:p>
            <a:r>
              <a:rPr lang="en-US" altLang="zh-CN" sz="1200"/>
              <a:t>5.</a:t>
            </a:r>
            <a:r>
              <a:rPr lang="zh-CN" altLang="en-US" sz="1200"/>
              <a:t>选项</a:t>
            </a:r>
            <a:r>
              <a:rPr lang="en-US" altLang="zh-CN" sz="1200"/>
              <a:t>:</a:t>
            </a:r>
            <a:r>
              <a:rPr lang="zh-CN" altLang="en-US" sz="1200"/>
              <a:t>勾选初始聚类中心</a:t>
            </a:r>
            <a:r>
              <a:rPr lang="en-US" altLang="zh-CN" sz="1200"/>
              <a:t>+</a:t>
            </a:r>
            <a:r>
              <a:rPr lang="zh-CN" altLang="en-US" sz="1200"/>
              <a:t>个案聚类信息</a:t>
            </a:r>
          </a:p>
        </p:txBody>
      </p:sp>
      <p:sp>
        <p:nvSpPr>
          <p:cNvPr id="40" name="文本框 39">
            <a:extLst>
              <a:ext uri="{FF2B5EF4-FFF2-40B4-BE49-F238E27FC236}">
                <a16:creationId xmlns:a16="http://schemas.microsoft.com/office/drawing/2014/main" id="{DA6B4C12-28ED-81F3-93DF-49FAD0FE301F}"/>
              </a:ext>
            </a:extLst>
          </p:cNvPr>
          <p:cNvSpPr txBox="1"/>
          <p:nvPr/>
        </p:nvSpPr>
        <p:spPr>
          <a:xfrm>
            <a:off x="5271655" y="2842692"/>
            <a:ext cx="4772891" cy="276999"/>
          </a:xfrm>
          <a:prstGeom prst="rect">
            <a:avLst/>
          </a:prstGeom>
          <a:noFill/>
        </p:spPr>
        <p:txBody>
          <a:bodyPr wrap="square" rtlCol="0">
            <a:spAutoFit/>
          </a:bodyPr>
          <a:lstStyle/>
          <a:p>
            <a:r>
              <a:rPr lang="zh-CN" altLang="en-US" sz="1200"/>
              <a:t>如果一列数据要去量纲</a:t>
            </a:r>
            <a:r>
              <a:rPr lang="en-US" altLang="zh-CN" sz="1200"/>
              <a:t>,</a:t>
            </a:r>
            <a:r>
              <a:rPr lang="zh-CN" altLang="en-US" sz="1200"/>
              <a:t>可利用</a:t>
            </a:r>
            <a:r>
              <a:rPr lang="en-US" altLang="zh-CN" sz="1200"/>
              <a:t>SPSS</a:t>
            </a:r>
            <a:r>
              <a:rPr lang="zh-CN" altLang="en-US" sz="1200"/>
              <a:t>的描述功能通过</a:t>
            </a:r>
            <a:r>
              <a:rPr lang="en-US" altLang="zh-CN" sz="1200"/>
              <a:t>Z-score</a:t>
            </a:r>
            <a:r>
              <a:rPr lang="zh-CN" altLang="en-US" sz="1200"/>
              <a:t>标准化</a:t>
            </a:r>
          </a:p>
        </p:txBody>
      </p:sp>
      <p:sp>
        <p:nvSpPr>
          <p:cNvPr id="47" name="动作按钮: 文档 46">
            <a:hlinkClick r:id="rId4" action="ppaction://hlinkfile" highlightClick="1"/>
            <a:extLst>
              <a:ext uri="{FF2B5EF4-FFF2-40B4-BE49-F238E27FC236}">
                <a16:creationId xmlns:a16="http://schemas.microsoft.com/office/drawing/2014/main" id="{555634C9-3F6D-66D7-B477-0F4205FA61BE}"/>
              </a:ext>
            </a:extLst>
          </p:cNvPr>
          <p:cNvSpPr/>
          <p:nvPr/>
        </p:nvSpPr>
        <p:spPr>
          <a:xfrm>
            <a:off x="10865644" y="775584"/>
            <a:ext cx="297615" cy="297615"/>
          </a:xfrm>
          <a:prstGeom prst="actionButton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B7F10890-2945-0B1F-20FB-1B623CE56E5C}"/>
              </a:ext>
            </a:extLst>
          </p:cNvPr>
          <p:cNvSpPr txBox="1"/>
          <p:nvPr/>
        </p:nvSpPr>
        <p:spPr>
          <a:xfrm>
            <a:off x="11163259" y="826978"/>
            <a:ext cx="1104176" cy="246221"/>
          </a:xfrm>
          <a:prstGeom prst="rect">
            <a:avLst/>
          </a:prstGeom>
          <a:noFill/>
        </p:spPr>
        <p:txBody>
          <a:bodyPr wrap="square">
            <a:spAutoFit/>
          </a:bodyPr>
          <a:lstStyle/>
          <a:p>
            <a:r>
              <a:rPr lang="zh-CN" altLang="en-US" sz="1000" b="1">
                <a:solidFill>
                  <a:srgbClr val="FF0000"/>
                </a:solidFill>
              </a:rPr>
              <a:t>轮盘赌选择方法</a:t>
            </a:r>
          </a:p>
        </p:txBody>
      </p:sp>
      <p:sp>
        <p:nvSpPr>
          <p:cNvPr id="53" name="文本框 52">
            <a:extLst>
              <a:ext uri="{FF2B5EF4-FFF2-40B4-BE49-F238E27FC236}">
                <a16:creationId xmlns:a16="http://schemas.microsoft.com/office/drawing/2014/main" id="{82F75DD7-114B-ED40-4A2A-5FBC7AB55923}"/>
              </a:ext>
            </a:extLst>
          </p:cNvPr>
          <p:cNvSpPr txBox="1"/>
          <p:nvPr/>
        </p:nvSpPr>
        <p:spPr>
          <a:xfrm>
            <a:off x="10546544" y="1073199"/>
            <a:ext cx="1711325" cy="461665"/>
          </a:xfrm>
          <a:prstGeom prst="rect">
            <a:avLst/>
          </a:prstGeom>
          <a:noFill/>
        </p:spPr>
        <p:txBody>
          <a:bodyPr wrap="square">
            <a:spAutoFit/>
          </a:bodyPr>
          <a:lstStyle/>
          <a:p>
            <a:r>
              <a:rPr lang="zh-CN" altLang="en-US" sz="600">
                <a:hlinkClick r:id="rId4"/>
              </a:rPr>
              <a:t>G:\日就月将学有功， 习以为常始不忘\数学建模\清风视频和课件\视频课件\正课配套的课件和代码\第10讲.聚类模型\代码和例题数据\轮盘法.docx</a:t>
            </a:r>
            <a:endParaRPr lang="zh-CN" altLang="en-US" sz="600"/>
          </a:p>
        </p:txBody>
      </p:sp>
      <p:sp>
        <p:nvSpPr>
          <p:cNvPr id="55" name="文本框 54">
            <a:extLst>
              <a:ext uri="{FF2B5EF4-FFF2-40B4-BE49-F238E27FC236}">
                <a16:creationId xmlns:a16="http://schemas.microsoft.com/office/drawing/2014/main" id="{CC463C49-D569-8336-8CAD-79F5D84D94B2}"/>
              </a:ext>
            </a:extLst>
          </p:cNvPr>
          <p:cNvSpPr txBox="1"/>
          <p:nvPr/>
        </p:nvSpPr>
        <p:spPr>
          <a:xfrm>
            <a:off x="7601522" y="3383914"/>
            <a:ext cx="4352919" cy="1015663"/>
          </a:xfrm>
          <a:prstGeom prst="rect">
            <a:avLst/>
          </a:prstGeom>
          <a:noFill/>
        </p:spPr>
        <p:txBody>
          <a:bodyPr wrap="square">
            <a:spAutoFit/>
          </a:bodyPr>
          <a:lstStyle/>
          <a:p>
            <a:r>
              <a:rPr lang="en-US" altLang="zh-CN" sz="1200">
                <a:solidFill>
                  <a:srgbClr val="FF0000"/>
                </a:solidFill>
              </a:rPr>
              <a:t>DBSCAN</a:t>
            </a:r>
            <a:r>
              <a:rPr lang="en-US" altLang="zh-CN" sz="1200"/>
              <a:t>(Density-based spatial clustering of applications with noise)</a:t>
            </a:r>
            <a:r>
              <a:rPr lang="zh-CN" altLang="en-US" sz="1200"/>
              <a:t> </a:t>
            </a:r>
            <a:r>
              <a:rPr lang="en-US" altLang="zh-CN" sz="1200"/>
              <a:t>:</a:t>
            </a:r>
            <a:r>
              <a:rPr lang="zh-CN" altLang="en-US" sz="1200"/>
              <a:t>该算法利用基于</a:t>
            </a:r>
            <a:r>
              <a:rPr lang="zh-CN" altLang="en-US" sz="1200">
                <a:solidFill>
                  <a:srgbClr val="FF0000"/>
                </a:solidFill>
              </a:rPr>
              <a:t>密度</a:t>
            </a:r>
            <a:r>
              <a:rPr lang="zh-CN" altLang="en-US" sz="1200"/>
              <a:t>的聚类的概念，即要求聚类空间中的一定区域内所包含对象的数目不小于某一给定阈值。 该方法能在具有噪声的空间数据库中发现任意形状的簇，可将密度足够大的相邻区域连接，能有效处理异常数据。</a:t>
            </a:r>
          </a:p>
        </p:txBody>
      </p:sp>
      <p:sp>
        <p:nvSpPr>
          <p:cNvPr id="56" name="文本框 55">
            <a:extLst>
              <a:ext uri="{FF2B5EF4-FFF2-40B4-BE49-F238E27FC236}">
                <a16:creationId xmlns:a16="http://schemas.microsoft.com/office/drawing/2014/main" id="{0AE5D933-4841-5DC4-4C8B-B97D53BA007A}"/>
              </a:ext>
            </a:extLst>
          </p:cNvPr>
          <p:cNvSpPr txBox="1"/>
          <p:nvPr/>
        </p:nvSpPr>
        <p:spPr>
          <a:xfrm>
            <a:off x="7601522" y="4344314"/>
            <a:ext cx="4168378" cy="1015663"/>
          </a:xfrm>
          <a:prstGeom prst="rect">
            <a:avLst/>
          </a:prstGeom>
          <a:noFill/>
        </p:spPr>
        <p:txBody>
          <a:bodyPr wrap="square">
            <a:spAutoFit/>
          </a:bodyPr>
          <a:lstStyle/>
          <a:p>
            <a:r>
              <a:rPr lang="en-US" altLang="zh-CN" sz="1200"/>
              <a:t>DBSCAN</a:t>
            </a:r>
            <a:r>
              <a:rPr lang="zh-CN" altLang="en-US" sz="1200"/>
              <a:t>算法将数据点分为三类：</a:t>
            </a:r>
          </a:p>
          <a:p>
            <a:r>
              <a:rPr lang="en-US" altLang="zh-CN" sz="1200"/>
              <a:t>• </a:t>
            </a:r>
            <a:r>
              <a:rPr lang="zh-CN" altLang="en-US" sz="1200">
                <a:solidFill>
                  <a:srgbClr val="FF0000"/>
                </a:solidFill>
              </a:rPr>
              <a:t>核心点</a:t>
            </a:r>
            <a:r>
              <a:rPr lang="zh-CN" altLang="en-US" sz="1200"/>
              <a:t>：在半径</a:t>
            </a:r>
            <a:r>
              <a:rPr lang="en-US" altLang="zh-CN" sz="1200"/>
              <a:t>Eps</a:t>
            </a:r>
            <a:r>
              <a:rPr lang="zh-CN" altLang="en-US" sz="1200"/>
              <a:t>内含有不少于</a:t>
            </a:r>
            <a:r>
              <a:rPr lang="en-US" altLang="zh-CN" sz="1200"/>
              <a:t>MinPts</a:t>
            </a:r>
            <a:r>
              <a:rPr lang="zh-CN" altLang="en-US" sz="1200"/>
              <a:t>数目的点</a:t>
            </a:r>
          </a:p>
          <a:p>
            <a:r>
              <a:rPr lang="en-US" altLang="zh-CN" sz="1200"/>
              <a:t>• </a:t>
            </a:r>
            <a:r>
              <a:rPr lang="zh-CN" altLang="en-US" sz="1200">
                <a:solidFill>
                  <a:srgbClr val="FF0000"/>
                </a:solidFill>
              </a:rPr>
              <a:t>边界点</a:t>
            </a:r>
            <a:r>
              <a:rPr lang="zh-CN" altLang="en-US" sz="1200"/>
              <a:t>：在半径</a:t>
            </a:r>
            <a:r>
              <a:rPr lang="en-US" altLang="zh-CN" sz="1200"/>
              <a:t>Eps</a:t>
            </a:r>
            <a:r>
              <a:rPr lang="zh-CN" altLang="en-US" sz="1200"/>
              <a:t>内点的数量小于</a:t>
            </a:r>
            <a:r>
              <a:rPr lang="en-US" altLang="zh-CN" sz="1200"/>
              <a:t>MinPts</a:t>
            </a:r>
            <a:r>
              <a:rPr lang="zh-CN" altLang="en-US" sz="1200"/>
              <a:t>，但是落在核心</a:t>
            </a:r>
          </a:p>
          <a:p>
            <a:r>
              <a:rPr lang="zh-CN" altLang="en-US" sz="1200"/>
              <a:t>点的邻域内</a:t>
            </a:r>
          </a:p>
          <a:p>
            <a:r>
              <a:rPr lang="en-US" altLang="zh-CN" sz="1200"/>
              <a:t>• </a:t>
            </a:r>
            <a:r>
              <a:rPr lang="zh-CN" altLang="en-US" sz="1200">
                <a:solidFill>
                  <a:srgbClr val="FF0000"/>
                </a:solidFill>
              </a:rPr>
              <a:t>噪音点</a:t>
            </a:r>
            <a:r>
              <a:rPr lang="zh-CN" altLang="en-US" sz="1200"/>
              <a:t>：既不是核心点也不是边界点的点</a:t>
            </a:r>
          </a:p>
        </p:txBody>
      </p:sp>
      <p:pic>
        <p:nvPicPr>
          <p:cNvPr id="57" name="图片 56">
            <a:extLst>
              <a:ext uri="{FF2B5EF4-FFF2-40B4-BE49-F238E27FC236}">
                <a16:creationId xmlns:a16="http://schemas.microsoft.com/office/drawing/2014/main" id="{2D567FA7-308B-9B81-641A-05B634197AD2}"/>
              </a:ext>
            </a:extLst>
          </p:cNvPr>
          <p:cNvPicPr>
            <a:picLocks noChangeAspect="1"/>
          </p:cNvPicPr>
          <p:nvPr/>
        </p:nvPicPr>
        <p:blipFill>
          <a:blip r:embed="rId5"/>
          <a:stretch>
            <a:fillRect/>
          </a:stretch>
        </p:blipFill>
        <p:spPr>
          <a:xfrm>
            <a:off x="7601522" y="5382095"/>
            <a:ext cx="2962416" cy="942899"/>
          </a:xfrm>
          <a:prstGeom prst="rect">
            <a:avLst/>
          </a:prstGeom>
        </p:spPr>
      </p:pic>
      <p:sp>
        <p:nvSpPr>
          <p:cNvPr id="58" name="文本框 57">
            <a:extLst>
              <a:ext uri="{FF2B5EF4-FFF2-40B4-BE49-F238E27FC236}">
                <a16:creationId xmlns:a16="http://schemas.microsoft.com/office/drawing/2014/main" id="{00789C50-5F7E-BF15-E115-82C474D4F7D1}"/>
              </a:ext>
            </a:extLst>
          </p:cNvPr>
          <p:cNvSpPr txBox="1"/>
          <p:nvPr/>
        </p:nvSpPr>
        <p:spPr>
          <a:xfrm>
            <a:off x="7554909" y="6396335"/>
            <a:ext cx="4637091" cy="461665"/>
          </a:xfrm>
          <a:prstGeom prst="rect">
            <a:avLst/>
          </a:prstGeom>
          <a:noFill/>
        </p:spPr>
        <p:txBody>
          <a:bodyPr wrap="square">
            <a:spAutoFit/>
          </a:bodyPr>
          <a:lstStyle/>
          <a:p>
            <a:r>
              <a:rPr lang="zh-CN" altLang="en-US" sz="1200"/>
              <a:t>只有两个指标，且散点图很“</a:t>
            </a:r>
            <a:r>
              <a:rPr lang="en-US" altLang="zh-CN" sz="1200"/>
              <a:t>DBSCAN”</a:t>
            </a:r>
            <a:r>
              <a:rPr lang="zh-CN" altLang="en-US" sz="1200"/>
              <a:t> 时，再用</a:t>
            </a:r>
            <a:r>
              <a:rPr lang="en-US" altLang="zh-CN" sz="1200">
                <a:solidFill>
                  <a:srgbClr val="FF0000"/>
                </a:solidFill>
              </a:rPr>
              <a:t>DBSCAN</a:t>
            </a:r>
            <a:r>
              <a:rPr lang="zh-CN" altLang="en-US" sz="1200"/>
              <a:t>。其他情况，全部使用</a:t>
            </a:r>
            <a:r>
              <a:rPr lang="zh-CN" altLang="en-US" sz="1200">
                <a:solidFill>
                  <a:srgbClr val="FF0000"/>
                </a:solidFill>
              </a:rPr>
              <a:t>系统聚类</a:t>
            </a:r>
            <a:r>
              <a:rPr lang="zh-CN" altLang="en-US" sz="1200"/>
              <a:t>。</a:t>
            </a:r>
            <a:r>
              <a:rPr lang="en-US" altLang="zh-CN" sz="1200">
                <a:solidFill>
                  <a:srgbClr val="FF0000"/>
                </a:solidFill>
              </a:rPr>
              <a:t>K‐means</a:t>
            </a:r>
            <a:r>
              <a:rPr lang="zh-CN" altLang="en-US" sz="1200"/>
              <a:t>也可，但内容少，影响论文写作。</a:t>
            </a:r>
          </a:p>
        </p:txBody>
      </p:sp>
      <p:sp>
        <p:nvSpPr>
          <p:cNvPr id="62" name="文本框 61">
            <a:extLst>
              <a:ext uri="{FF2B5EF4-FFF2-40B4-BE49-F238E27FC236}">
                <a16:creationId xmlns:a16="http://schemas.microsoft.com/office/drawing/2014/main" id="{6DF8AA52-6A0A-1E21-82B8-565AFB84184F}"/>
              </a:ext>
            </a:extLst>
          </p:cNvPr>
          <p:cNvSpPr txBox="1"/>
          <p:nvPr/>
        </p:nvSpPr>
        <p:spPr>
          <a:xfrm>
            <a:off x="5436826" y="3366562"/>
            <a:ext cx="2221274" cy="461665"/>
          </a:xfrm>
          <a:prstGeom prst="rect">
            <a:avLst/>
          </a:prstGeom>
          <a:noFill/>
        </p:spPr>
        <p:txBody>
          <a:bodyPr wrap="square">
            <a:spAutoFit/>
          </a:bodyPr>
          <a:lstStyle/>
          <a:p>
            <a:r>
              <a:rPr lang="en-US" altLang="zh-CN" sz="2400">
                <a:latin typeface="优设标题黑" panose="00000500000000000000" pitchFamily="2" charset="-122"/>
                <a:ea typeface="优设标题黑" panose="00000500000000000000" pitchFamily="2" charset="-122"/>
              </a:rPr>
              <a:t>DBSCAN</a:t>
            </a:r>
            <a:r>
              <a:rPr lang="zh-CN" altLang="en-US" sz="2400">
                <a:latin typeface="优设标题黑" panose="00000500000000000000" pitchFamily="2" charset="-122"/>
                <a:ea typeface="优设标题黑" panose="00000500000000000000" pitchFamily="2" charset="-122"/>
              </a:rPr>
              <a:t>算法</a:t>
            </a:r>
          </a:p>
        </p:txBody>
      </p:sp>
    </p:spTree>
    <p:extLst>
      <p:ext uri="{BB962C8B-B14F-4D97-AF65-F5344CB8AC3E}">
        <p14:creationId xmlns:p14="http://schemas.microsoft.com/office/powerpoint/2010/main" val="834247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60A7A0-DDCC-B582-AD87-40D3B34BB874}"/>
              </a:ext>
            </a:extLst>
          </p:cNvPr>
          <p:cNvSpPr txBox="1"/>
          <p:nvPr/>
        </p:nvSpPr>
        <p:spPr>
          <a:xfrm>
            <a:off x="139642" y="103581"/>
            <a:ext cx="7196990" cy="769441"/>
          </a:xfrm>
          <a:prstGeom prst="rect">
            <a:avLst/>
          </a:prstGeom>
          <a:noFill/>
        </p:spPr>
        <p:txBody>
          <a:bodyPr wrap="square" rtlCol="0">
            <a:spAutoFit/>
          </a:bodyPr>
          <a:lstStyle/>
          <a:p>
            <a:r>
              <a:rPr lang="zh-CN" altLang="en-US" sz="4400">
                <a:solidFill>
                  <a:schemeClr val="accent5"/>
                </a:solidFill>
                <a:latin typeface="三极泼墨体" panose="00000500000000000000" pitchFamily="2" charset="-122"/>
                <a:ea typeface="三极泼墨体" panose="00000500000000000000" pitchFamily="2" charset="-122"/>
              </a:rPr>
              <a:t>聚类模型</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系统</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层次</a:t>
            </a:r>
            <a:r>
              <a:rPr lang="en-US" altLang="zh-CN" sz="4400">
                <a:solidFill>
                  <a:schemeClr val="accent5"/>
                </a:solidFill>
                <a:latin typeface="三极泼墨体" panose="00000500000000000000" pitchFamily="2" charset="-122"/>
                <a:ea typeface="三极泼墨体" panose="00000500000000000000" pitchFamily="2" charset="-122"/>
              </a:rPr>
              <a:t>)</a:t>
            </a:r>
            <a:r>
              <a:rPr lang="zh-CN" altLang="en-US" sz="4400">
                <a:solidFill>
                  <a:schemeClr val="accent5"/>
                </a:solidFill>
                <a:latin typeface="三极泼墨体" panose="00000500000000000000" pitchFamily="2" charset="-122"/>
                <a:ea typeface="三极泼墨体" panose="00000500000000000000" pitchFamily="2" charset="-122"/>
              </a:rPr>
              <a:t>聚类</a:t>
            </a:r>
          </a:p>
        </p:txBody>
      </p:sp>
      <p:pic>
        <p:nvPicPr>
          <p:cNvPr id="4" name="图片 3">
            <a:extLst>
              <a:ext uri="{FF2B5EF4-FFF2-40B4-BE49-F238E27FC236}">
                <a16:creationId xmlns:a16="http://schemas.microsoft.com/office/drawing/2014/main" id="{2252B2C6-CED7-F666-423D-829F4506747B}"/>
              </a:ext>
            </a:extLst>
          </p:cNvPr>
          <p:cNvPicPr>
            <a:picLocks noChangeAspect="1"/>
          </p:cNvPicPr>
          <p:nvPr/>
        </p:nvPicPr>
        <p:blipFill>
          <a:blip r:embed="rId2"/>
          <a:stretch>
            <a:fillRect/>
          </a:stretch>
        </p:blipFill>
        <p:spPr>
          <a:xfrm>
            <a:off x="139642" y="873022"/>
            <a:ext cx="3291810" cy="1587122"/>
          </a:xfrm>
          <a:prstGeom prst="rect">
            <a:avLst/>
          </a:prstGeom>
        </p:spPr>
      </p:pic>
      <p:sp>
        <p:nvSpPr>
          <p:cNvPr id="7" name="文本框 6">
            <a:extLst>
              <a:ext uri="{FF2B5EF4-FFF2-40B4-BE49-F238E27FC236}">
                <a16:creationId xmlns:a16="http://schemas.microsoft.com/office/drawing/2014/main" id="{C7FCB8BE-0897-A003-5686-5955C825CF1D}"/>
              </a:ext>
            </a:extLst>
          </p:cNvPr>
          <p:cNvSpPr txBox="1"/>
          <p:nvPr/>
        </p:nvSpPr>
        <p:spPr>
          <a:xfrm>
            <a:off x="1287940" y="2460142"/>
            <a:ext cx="1881907" cy="830997"/>
          </a:xfrm>
          <a:prstGeom prst="rect">
            <a:avLst/>
          </a:prstGeom>
          <a:noFill/>
          <a:ln>
            <a:solidFill>
              <a:schemeClr val="accent6"/>
            </a:solidFill>
          </a:ln>
        </p:spPr>
        <p:txBody>
          <a:bodyPr wrap="square" rtlCol="0">
            <a:spAutoFit/>
          </a:bodyPr>
          <a:lstStyle/>
          <a:p>
            <a:r>
              <a:rPr lang="en-US" altLang="zh-CN" sz="1200">
                <a:solidFill>
                  <a:srgbClr val="FF0000"/>
                </a:solidFill>
              </a:rPr>
              <a:t>SPSS</a:t>
            </a:r>
            <a:r>
              <a:rPr lang="zh-CN" altLang="en-US" sz="1200"/>
              <a:t>操作：</a:t>
            </a:r>
            <a:endParaRPr lang="en-US" altLang="zh-CN" sz="1200"/>
          </a:p>
          <a:p>
            <a:r>
              <a:rPr lang="en-US" altLang="zh-CN" sz="1200"/>
              <a:t>1.</a:t>
            </a:r>
            <a:r>
              <a:rPr lang="zh-CN" altLang="en-US" sz="1200"/>
              <a:t>分析</a:t>
            </a:r>
            <a:r>
              <a:rPr lang="en-US" altLang="zh-CN" sz="1200"/>
              <a:t>-&gt;</a:t>
            </a:r>
            <a:r>
              <a:rPr lang="zh-CN" altLang="en-US" sz="1200"/>
              <a:t>分类</a:t>
            </a:r>
            <a:r>
              <a:rPr lang="en-US" altLang="zh-CN" sz="1200"/>
              <a:t>-&gt;</a:t>
            </a:r>
            <a:r>
              <a:rPr lang="zh-CN" altLang="en-US" sz="1200"/>
              <a:t>系统聚类</a:t>
            </a:r>
            <a:endParaRPr lang="en-US" altLang="zh-CN" sz="1200"/>
          </a:p>
          <a:p>
            <a:r>
              <a:rPr lang="en-US" altLang="zh-CN" sz="1200"/>
              <a:t>2.(</a:t>
            </a:r>
            <a:r>
              <a:rPr lang="zh-CN" altLang="en-US" sz="1200"/>
              <a:t>方法</a:t>
            </a:r>
            <a:r>
              <a:rPr lang="en-US" altLang="zh-CN" sz="1200"/>
              <a:t>:</a:t>
            </a:r>
            <a:r>
              <a:rPr lang="zh-CN" altLang="en-US" sz="1200"/>
              <a:t>标准化</a:t>
            </a:r>
            <a:r>
              <a:rPr lang="en-US" altLang="zh-CN" sz="1200"/>
              <a:t>:Z</a:t>
            </a:r>
            <a:r>
              <a:rPr lang="zh-CN" altLang="en-US" sz="1200"/>
              <a:t>得分</a:t>
            </a:r>
            <a:r>
              <a:rPr lang="en-US" altLang="zh-CN" sz="1200"/>
              <a:t>)</a:t>
            </a:r>
          </a:p>
          <a:p>
            <a:r>
              <a:rPr lang="en-US" altLang="zh-CN" sz="1200"/>
              <a:t>3.</a:t>
            </a:r>
            <a:r>
              <a:rPr lang="zh-CN" altLang="en-US" sz="1200"/>
              <a:t>图</a:t>
            </a:r>
            <a:r>
              <a:rPr lang="en-US" altLang="zh-CN" sz="1200"/>
              <a:t>:</a:t>
            </a:r>
            <a:r>
              <a:rPr lang="zh-CN" altLang="en-US" sz="1200"/>
              <a:t>勾选谱系图</a:t>
            </a:r>
          </a:p>
        </p:txBody>
      </p:sp>
      <p:pic>
        <p:nvPicPr>
          <p:cNvPr id="9" name="图片 8">
            <a:extLst>
              <a:ext uri="{FF2B5EF4-FFF2-40B4-BE49-F238E27FC236}">
                <a16:creationId xmlns:a16="http://schemas.microsoft.com/office/drawing/2014/main" id="{DA1871DB-FAE5-2298-835C-D6CB4185CA9D}"/>
              </a:ext>
            </a:extLst>
          </p:cNvPr>
          <p:cNvPicPr>
            <a:picLocks noChangeAspect="1"/>
          </p:cNvPicPr>
          <p:nvPr/>
        </p:nvPicPr>
        <p:blipFill>
          <a:blip r:embed="rId3"/>
          <a:stretch>
            <a:fillRect/>
          </a:stretch>
        </p:blipFill>
        <p:spPr>
          <a:xfrm>
            <a:off x="3169847" y="3715724"/>
            <a:ext cx="2448019" cy="2950369"/>
          </a:xfrm>
          <a:prstGeom prst="rect">
            <a:avLst/>
          </a:prstGeom>
        </p:spPr>
      </p:pic>
      <p:pic>
        <p:nvPicPr>
          <p:cNvPr id="11" name="图片 10">
            <a:extLst>
              <a:ext uri="{FF2B5EF4-FFF2-40B4-BE49-F238E27FC236}">
                <a16:creationId xmlns:a16="http://schemas.microsoft.com/office/drawing/2014/main" id="{7F81F1BF-8F39-1312-001F-B9E7CA28E6F0}"/>
              </a:ext>
            </a:extLst>
          </p:cNvPr>
          <p:cNvPicPr>
            <a:picLocks noChangeAspect="1"/>
          </p:cNvPicPr>
          <p:nvPr/>
        </p:nvPicPr>
        <p:blipFill>
          <a:blip r:embed="rId4"/>
          <a:stretch>
            <a:fillRect/>
          </a:stretch>
        </p:blipFill>
        <p:spPr>
          <a:xfrm>
            <a:off x="139642" y="2495550"/>
            <a:ext cx="2768600" cy="4362450"/>
          </a:xfrm>
          <a:prstGeom prst="rect">
            <a:avLst/>
          </a:prstGeom>
        </p:spPr>
      </p:pic>
      <p:sp>
        <p:nvSpPr>
          <p:cNvPr id="13" name="文本框 12">
            <a:extLst>
              <a:ext uri="{FF2B5EF4-FFF2-40B4-BE49-F238E27FC236}">
                <a16:creationId xmlns:a16="http://schemas.microsoft.com/office/drawing/2014/main" id="{DA7E85E0-5795-A7E4-B152-974CAD1D5B05}"/>
              </a:ext>
            </a:extLst>
          </p:cNvPr>
          <p:cNvSpPr txBox="1"/>
          <p:nvPr/>
        </p:nvSpPr>
        <p:spPr>
          <a:xfrm>
            <a:off x="6096000" y="796314"/>
            <a:ext cx="3009167" cy="369332"/>
          </a:xfrm>
          <a:prstGeom prst="rect">
            <a:avLst/>
          </a:prstGeom>
          <a:noFill/>
        </p:spPr>
        <p:txBody>
          <a:bodyPr wrap="square">
            <a:spAutoFit/>
          </a:bodyPr>
          <a:lstStyle/>
          <a:p>
            <a:r>
              <a:rPr lang="zh-CN" altLang="en-US">
                <a:latin typeface="优设标题黑" panose="00000500000000000000" pitchFamily="2" charset="-122"/>
                <a:ea typeface="优设标题黑" panose="00000500000000000000" pitchFamily="2" charset="-122"/>
              </a:rPr>
              <a:t>肘部法则</a:t>
            </a:r>
            <a:r>
              <a:rPr lang="zh-CN" altLang="en-US"/>
              <a:t>（</a:t>
            </a:r>
            <a:r>
              <a:rPr lang="en-US" altLang="zh-CN"/>
              <a:t>Elbow Method</a:t>
            </a:r>
            <a:r>
              <a:rPr lang="zh-CN" altLang="en-US"/>
              <a:t>）</a:t>
            </a:r>
          </a:p>
        </p:txBody>
      </p:sp>
      <p:sp>
        <p:nvSpPr>
          <p:cNvPr id="15" name="文本框 14">
            <a:extLst>
              <a:ext uri="{FF2B5EF4-FFF2-40B4-BE49-F238E27FC236}">
                <a16:creationId xmlns:a16="http://schemas.microsoft.com/office/drawing/2014/main" id="{737FA4C9-619E-47F5-E4C6-9726ADAA1431}"/>
              </a:ext>
            </a:extLst>
          </p:cNvPr>
          <p:cNvSpPr txBox="1"/>
          <p:nvPr/>
        </p:nvSpPr>
        <p:spPr>
          <a:xfrm>
            <a:off x="6053802" y="1050833"/>
            <a:ext cx="3009167" cy="369332"/>
          </a:xfrm>
          <a:prstGeom prst="rect">
            <a:avLst/>
          </a:prstGeom>
          <a:noFill/>
        </p:spPr>
        <p:txBody>
          <a:bodyPr wrap="square">
            <a:spAutoFit/>
          </a:bodyPr>
          <a:lstStyle/>
          <a:p>
            <a:r>
              <a:rPr lang="zh-CN" altLang="en-US" sz="1200"/>
              <a:t>通过图形大致的估计出最优的聚类数量</a:t>
            </a:r>
            <a:r>
              <a:rPr lang="zh-CN" altLang="en-US"/>
              <a:t>。</a:t>
            </a:r>
          </a:p>
        </p:txBody>
      </p:sp>
      <p:pic>
        <p:nvPicPr>
          <p:cNvPr id="17" name="图片 16">
            <a:extLst>
              <a:ext uri="{FF2B5EF4-FFF2-40B4-BE49-F238E27FC236}">
                <a16:creationId xmlns:a16="http://schemas.microsoft.com/office/drawing/2014/main" id="{CCECE2F6-CB81-BA2A-520B-482858929A26}"/>
              </a:ext>
            </a:extLst>
          </p:cNvPr>
          <p:cNvPicPr>
            <a:picLocks noChangeAspect="1"/>
          </p:cNvPicPr>
          <p:nvPr/>
        </p:nvPicPr>
        <p:blipFill>
          <a:blip r:embed="rId5"/>
          <a:stretch>
            <a:fillRect/>
          </a:stretch>
        </p:blipFill>
        <p:spPr>
          <a:xfrm>
            <a:off x="6096000" y="1396462"/>
            <a:ext cx="4737343" cy="2127359"/>
          </a:xfrm>
          <a:prstGeom prst="rect">
            <a:avLst/>
          </a:prstGeom>
        </p:spPr>
      </p:pic>
      <p:pic>
        <p:nvPicPr>
          <p:cNvPr id="19" name="图片 18">
            <a:extLst>
              <a:ext uri="{FF2B5EF4-FFF2-40B4-BE49-F238E27FC236}">
                <a16:creationId xmlns:a16="http://schemas.microsoft.com/office/drawing/2014/main" id="{F1DF9290-AED0-5A4C-168E-8CC37F010BE7}"/>
              </a:ext>
            </a:extLst>
          </p:cNvPr>
          <p:cNvPicPr>
            <a:picLocks noChangeAspect="1"/>
          </p:cNvPicPr>
          <p:nvPr/>
        </p:nvPicPr>
        <p:blipFill>
          <a:blip r:embed="rId6"/>
          <a:stretch>
            <a:fillRect/>
          </a:stretch>
        </p:blipFill>
        <p:spPr>
          <a:xfrm>
            <a:off x="3681788" y="873022"/>
            <a:ext cx="1817875" cy="2839712"/>
          </a:xfrm>
          <a:prstGeom prst="rect">
            <a:avLst/>
          </a:prstGeom>
        </p:spPr>
      </p:pic>
      <p:sp>
        <p:nvSpPr>
          <p:cNvPr id="20" name="矩形 19">
            <a:extLst>
              <a:ext uri="{FF2B5EF4-FFF2-40B4-BE49-F238E27FC236}">
                <a16:creationId xmlns:a16="http://schemas.microsoft.com/office/drawing/2014/main" id="{5F6282CA-0B87-73F9-F941-D0F63B215AF2}"/>
              </a:ext>
            </a:extLst>
          </p:cNvPr>
          <p:cNvSpPr/>
          <p:nvPr/>
        </p:nvSpPr>
        <p:spPr>
          <a:xfrm>
            <a:off x="4393856" y="1050833"/>
            <a:ext cx="285300" cy="2661901"/>
          </a:xfrm>
          <a:prstGeom prst="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a:extLst>
              <a:ext uri="{FF2B5EF4-FFF2-40B4-BE49-F238E27FC236}">
                <a16:creationId xmlns:a16="http://schemas.microsoft.com/office/drawing/2014/main" id="{C961CAD1-3293-2041-47C0-836573B1B667}"/>
              </a:ext>
            </a:extLst>
          </p:cNvPr>
          <p:cNvCxnSpPr>
            <a:cxnSpLocks/>
            <a:stCxn id="20" idx="3"/>
            <a:endCxn id="23" idx="1"/>
          </p:cNvCxnSpPr>
          <p:nvPr/>
        </p:nvCxnSpPr>
        <p:spPr>
          <a:xfrm>
            <a:off x="4679156" y="2381784"/>
            <a:ext cx="1907382" cy="13728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3" name="文本框 22">
            <a:extLst>
              <a:ext uri="{FF2B5EF4-FFF2-40B4-BE49-F238E27FC236}">
                <a16:creationId xmlns:a16="http://schemas.microsoft.com/office/drawing/2014/main" id="{64B14652-B1B3-A6E7-977D-7730452BBC12}"/>
              </a:ext>
            </a:extLst>
          </p:cNvPr>
          <p:cNvSpPr txBox="1"/>
          <p:nvPr/>
        </p:nvSpPr>
        <p:spPr>
          <a:xfrm>
            <a:off x="6586538" y="3616137"/>
            <a:ext cx="2636044" cy="276999"/>
          </a:xfrm>
          <a:prstGeom prst="rect">
            <a:avLst/>
          </a:prstGeom>
          <a:noFill/>
          <a:ln>
            <a:solidFill>
              <a:schemeClr val="tx1"/>
            </a:solidFill>
          </a:ln>
        </p:spPr>
        <p:txBody>
          <a:bodyPr wrap="square" rtlCol="0">
            <a:spAutoFit/>
          </a:bodyPr>
          <a:lstStyle/>
          <a:p>
            <a:r>
              <a:rPr lang="zh-CN" altLang="en-US" sz="1200"/>
              <a:t>对系数降序排列后生成散点折线图</a:t>
            </a:r>
          </a:p>
        </p:txBody>
      </p:sp>
      <p:pic>
        <p:nvPicPr>
          <p:cNvPr id="26" name="图片 25">
            <a:extLst>
              <a:ext uri="{FF2B5EF4-FFF2-40B4-BE49-F238E27FC236}">
                <a16:creationId xmlns:a16="http://schemas.microsoft.com/office/drawing/2014/main" id="{47A55EAD-D060-5A54-4B1F-52E8409801F3}"/>
              </a:ext>
            </a:extLst>
          </p:cNvPr>
          <p:cNvPicPr>
            <a:picLocks noChangeAspect="1"/>
          </p:cNvPicPr>
          <p:nvPr/>
        </p:nvPicPr>
        <p:blipFill>
          <a:blip r:embed="rId7"/>
          <a:stretch>
            <a:fillRect/>
          </a:stretch>
        </p:blipFill>
        <p:spPr>
          <a:xfrm>
            <a:off x="6692449" y="3985452"/>
            <a:ext cx="2370520" cy="2680641"/>
          </a:xfrm>
          <a:prstGeom prst="rect">
            <a:avLst/>
          </a:prstGeom>
        </p:spPr>
      </p:pic>
      <p:sp>
        <p:nvSpPr>
          <p:cNvPr id="30" name="文本框 29">
            <a:extLst>
              <a:ext uri="{FF2B5EF4-FFF2-40B4-BE49-F238E27FC236}">
                <a16:creationId xmlns:a16="http://schemas.microsoft.com/office/drawing/2014/main" id="{136C2879-DC1C-D6F8-90E1-6505AF832FDB}"/>
              </a:ext>
            </a:extLst>
          </p:cNvPr>
          <p:cNvSpPr txBox="1"/>
          <p:nvPr/>
        </p:nvSpPr>
        <p:spPr>
          <a:xfrm>
            <a:off x="9062969" y="3985452"/>
            <a:ext cx="3378993" cy="1384995"/>
          </a:xfrm>
          <a:prstGeom prst="rect">
            <a:avLst/>
          </a:prstGeom>
          <a:noFill/>
        </p:spPr>
        <p:txBody>
          <a:bodyPr wrap="square">
            <a:spAutoFit/>
          </a:bodyPr>
          <a:lstStyle/>
          <a:p>
            <a:r>
              <a:rPr lang="zh-CN" altLang="en-US" sz="1200"/>
              <a:t>根据图来进行解释：</a:t>
            </a:r>
          </a:p>
          <a:p>
            <a:r>
              <a:rPr lang="en-US" altLang="zh-CN" sz="1200"/>
              <a:t>(1)</a:t>
            </a:r>
            <a:r>
              <a:rPr lang="zh-CN" altLang="en-US" sz="1200"/>
              <a:t>根据聚合系数折线图可知，当类别数为</a:t>
            </a:r>
            <a:r>
              <a:rPr lang="en-US" altLang="zh-CN" sz="1200"/>
              <a:t>4</a:t>
            </a:r>
            <a:r>
              <a:rPr lang="zh-CN" altLang="en-US" sz="1200"/>
              <a:t>时，</a:t>
            </a:r>
          </a:p>
          <a:p>
            <a:r>
              <a:rPr lang="zh-CN" altLang="en-US" sz="1200"/>
              <a:t>折线的下降趋势趋缓，故可将类别数设定为</a:t>
            </a:r>
            <a:r>
              <a:rPr lang="en-US" altLang="zh-CN" sz="1200"/>
              <a:t>5.</a:t>
            </a:r>
          </a:p>
          <a:p>
            <a:r>
              <a:rPr lang="en-US" altLang="zh-CN" sz="1200"/>
              <a:t>(2)</a:t>
            </a:r>
            <a:r>
              <a:rPr lang="zh-CN" altLang="en-US" sz="1200"/>
              <a:t>从图中可以看出， </a:t>
            </a:r>
            <a:r>
              <a:rPr lang="en-US" altLang="zh-CN" sz="1200"/>
              <a:t>K</a:t>
            </a:r>
            <a:r>
              <a:rPr lang="zh-CN" altLang="en-US" sz="1200"/>
              <a:t>值从</a:t>
            </a:r>
            <a:r>
              <a:rPr lang="en-US" altLang="zh-CN" sz="1200"/>
              <a:t>1</a:t>
            </a:r>
            <a:r>
              <a:rPr lang="zh-CN" altLang="en-US" sz="1200"/>
              <a:t>到</a:t>
            </a:r>
            <a:r>
              <a:rPr lang="en-US" altLang="zh-CN" sz="1200"/>
              <a:t>4</a:t>
            </a:r>
            <a:r>
              <a:rPr lang="zh-CN" altLang="en-US" sz="1200"/>
              <a:t>时，畸变程</a:t>
            </a:r>
          </a:p>
          <a:p>
            <a:r>
              <a:rPr lang="zh-CN" altLang="en-US" sz="1200"/>
              <a:t>度变化最大。超过</a:t>
            </a:r>
            <a:r>
              <a:rPr lang="en-US" altLang="zh-CN" sz="1200"/>
              <a:t>4</a:t>
            </a:r>
            <a:r>
              <a:rPr lang="zh-CN" altLang="en-US" sz="1200"/>
              <a:t>以后，畸变程度变化显著</a:t>
            </a:r>
          </a:p>
          <a:p>
            <a:r>
              <a:rPr lang="zh-CN" altLang="en-US" sz="1200"/>
              <a:t>降低。因此肘部就是 </a:t>
            </a:r>
            <a:r>
              <a:rPr lang="en-US" altLang="zh-CN" sz="1200"/>
              <a:t>K=4</a:t>
            </a:r>
            <a:r>
              <a:rPr lang="zh-CN" altLang="en-US" sz="1200"/>
              <a:t>，故可将类别数设定</a:t>
            </a:r>
          </a:p>
          <a:p>
            <a:r>
              <a:rPr lang="zh-CN" altLang="en-US" sz="1200"/>
              <a:t>为</a:t>
            </a:r>
            <a:r>
              <a:rPr lang="en-US" altLang="zh-CN" sz="1200"/>
              <a:t>4.</a:t>
            </a:r>
            <a:r>
              <a:rPr lang="zh-CN" altLang="en-US" sz="1200"/>
              <a:t>（当然，</a:t>
            </a:r>
            <a:r>
              <a:rPr lang="en-US" altLang="zh-CN" sz="1200"/>
              <a:t>K=5</a:t>
            </a:r>
            <a:r>
              <a:rPr lang="zh-CN" altLang="en-US" sz="1200"/>
              <a:t>也可以解释）</a:t>
            </a:r>
          </a:p>
        </p:txBody>
      </p:sp>
    </p:spTree>
    <p:extLst>
      <p:ext uri="{BB962C8B-B14F-4D97-AF65-F5344CB8AC3E}">
        <p14:creationId xmlns:p14="http://schemas.microsoft.com/office/powerpoint/2010/main" val="838906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0C104FA-9120-86FB-69AA-3DF004607111}"/>
              </a:ext>
            </a:extLst>
          </p:cNvPr>
          <p:cNvSpPr txBox="1"/>
          <p:nvPr/>
        </p:nvSpPr>
        <p:spPr>
          <a:xfrm>
            <a:off x="452993" y="140774"/>
            <a:ext cx="3592533"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时间序列分析</a:t>
            </a:r>
          </a:p>
        </p:txBody>
      </p:sp>
      <p:sp>
        <p:nvSpPr>
          <p:cNvPr id="6" name="文本框 5">
            <a:extLst>
              <a:ext uri="{FF2B5EF4-FFF2-40B4-BE49-F238E27FC236}">
                <a16:creationId xmlns:a16="http://schemas.microsoft.com/office/drawing/2014/main" id="{8AC238DD-0657-0983-B5FA-5FB61961A008}"/>
              </a:ext>
            </a:extLst>
          </p:cNvPr>
          <p:cNvSpPr txBox="1"/>
          <p:nvPr/>
        </p:nvSpPr>
        <p:spPr>
          <a:xfrm>
            <a:off x="452993" y="771715"/>
            <a:ext cx="6102927" cy="276999"/>
          </a:xfrm>
          <a:prstGeom prst="rect">
            <a:avLst/>
          </a:prstGeom>
          <a:noFill/>
        </p:spPr>
        <p:txBody>
          <a:bodyPr wrap="square">
            <a:spAutoFit/>
          </a:bodyPr>
          <a:lstStyle/>
          <a:p>
            <a:r>
              <a:rPr lang="zh-CN" altLang="en-US" sz="1200"/>
              <a:t>时间序列也称动态序列，是指将某种现象的指标数值按照时间顺序排列而成的数值序列。</a:t>
            </a:r>
          </a:p>
        </p:txBody>
      </p:sp>
      <p:cxnSp>
        <p:nvCxnSpPr>
          <p:cNvPr id="8" name="直接箭头连接符 7">
            <a:extLst>
              <a:ext uri="{FF2B5EF4-FFF2-40B4-BE49-F238E27FC236}">
                <a16:creationId xmlns:a16="http://schemas.microsoft.com/office/drawing/2014/main" id="{A743152D-AD0B-C068-EF82-CDE851D1B282}"/>
              </a:ext>
            </a:extLst>
          </p:cNvPr>
          <p:cNvCxnSpPr>
            <a:stCxn id="6" idx="3"/>
          </p:cNvCxnSpPr>
          <p:nvPr/>
        </p:nvCxnSpPr>
        <p:spPr>
          <a:xfrm flipV="1">
            <a:off x="6555920" y="574964"/>
            <a:ext cx="641516" cy="335251"/>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直接箭头连接符 9">
            <a:extLst>
              <a:ext uri="{FF2B5EF4-FFF2-40B4-BE49-F238E27FC236}">
                <a16:creationId xmlns:a16="http://schemas.microsoft.com/office/drawing/2014/main" id="{218DCF28-54EA-DA4B-BBFF-82FFCEC822CB}"/>
              </a:ext>
            </a:extLst>
          </p:cNvPr>
          <p:cNvCxnSpPr>
            <a:stCxn id="6" idx="3"/>
          </p:cNvCxnSpPr>
          <p:nvPr/>
        </p:nvCxnSpPr>
        <p:spPr>
          <a:xfrm>
            <a:off x="6555920" y="910215"/>
            <a:ext cx="641516" cy="232785"/>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文本框 10">
            <a:extLst>
              <a:ext uri="{FF2B5EF4-FFF2-40B4-BE49-F238E27FC236}">
                <a16:creationId xmlns:a16="http://schemas.microsoft.com/office/drawing/2014/main" id="{EECAA62B-A282-C52E-BED7-D67121AF25C1}"/>
              </a:ext>
            </a:extLst>
          </p:cNvPr>
          <p:cNvSpPr txBox="1"/>
          <p:nvPr/>
        </p:nvSpPr>
        <p:spPr>
          <a:xfrm>
            <a:off x="7229356" y="436464"/>
            <a:ext cx="917120" cy="276999"/>
          </a:xfrm>
          <a:prstGeom prst="rect">
            <a:avLst/>
          </a:prstGeom>
          <a:noFill/>
        </p:spPr>
        <p:txBody>
          <a:bodyPr wrap="square" rtlCol="0">
            <a:spAutoFit/>
          </a:bodyPr>
          <a:lstStyle/>
          <a:p>
            <a:r>
              <a:rPr lang="zh-CN" altLang="en-US" sz="1200"/>
              <a:t>时期序列</a:t>
            </a:r>
          </a:p>
        </p:txBody>
      </p:sp>
      <p:sp>
        <p:nvSpPr>
          <p:cNvPr id="12" name="文本框 11">
            <a:extLst>
              <a:ext uri="{FF2B5EF4-FFF2-40B4-BE49-F238E27FC236}">
                <a16:creationId xmlns:a16="http://schemas.microsoft.com/office/drawing/2014/main" id="{2ED919E0-AB7E-1F25-684C-A89EF82E1CEB}"/>
              </a:ext>
            </a:extLst>
          </p:cNvPr>
          <p:cNvSpPr txBox="1"/>
          <p:nvPr/>
        </p:nvSpPr>
        <p:spPr>
          <a:xfrm>
            <a:off x="7229356" y="1026607"/>
            <a:ext cx="917120" cy="276999"/>
          </a:xfrm>
          <a:prstGeom prst="rect">
            <a:avLst/>
          </a:prstGeom>
          <a:noFill/>
        </p:spPr>
        <p:txBody>
          <a:bodyPr wrap="square" rtlCol="0">
            <a:spAutoFit/>
          </a:bodyPr>
          <a:lstStyle/>
          <a:p>
            <a:r>
              <a:rPr lang="zh-CN" altLang="en-US" sz="1200"/>
              <a:t>时点序列</a:t>
            </a:r>
          </a:p>
        </p:txBody>
      </p:sp>
      <p:sp>
        <p:nvSpPr>
          <p:cNvPr id="13" name="文本框 12">
            <a:extLst>
              <a:ext uri="{FF2B5EF4-FFF2-40B4-BE49-F238E27FC236}">
                <a16:creationId xmlns:a16="http://schemas.microsoft.com/office/drawing/2014/main" id="{B769F0AA-25F0-5112-24E4-97B46FAB10D4}"/>
              </a:ext>
            </a:extLst>
          </p:cNvPr>
          <p:cNvSpPr txBox="1"/>
          <p:nvPr/>
        </p:nvSpPr>
        <p:spPr>
          <a:xfrm>
            <a:off x="452993" y="1245465"/>
            <a:ext cx="921327" cy="646331"/>
          </a:xfrm>
          <a:prstGeom prst="rect">
            <a:avLst/>
          </a:prstGeom>
          <a:noFill/>
        </p:spPr>
        <p:txBody>
          <a:bodyPr wrap="square" rtlCol="0">
            <a:spAutoFit/>
          </a:bodyPr>
          <a:lstStyle/>
          <a:p>
            <a:r>
              <a:rPr lang="zh-CN" altLang="en-US"/>
              <a:t>数值变化规律</a:t>
            </a:r>
          </a:p>
        </p:txBody>
      </p:sp>
      <p:sp>
        <p:nvSpPr>
          <p:cNvPr id="15" name="文本框 14">
            <a:extLst>
              <a:ext uri="{FF2B5EF4-FFF2-40B4-BE49-F238E27FC236}">
                <a16:creationId xmlns:a16="http://schemas.microsoft.com/office/drawing/2014/main" id="{10DC0FC2-E33F-FAB2-E1DD-CA7D5A0F9638}"/>
              </a:ext>
            </a:extLst>
          </p:cNvPr>
          <p:cNvSpPr txBox="1"/>
          <p:nvPr/>
        </p:nvSpPr>
        <p:spPr>
          <a:xfrm>
            <a:off x="1303686" y="1165106"/>
            <a:ext cx="2741840" cy="276999"/>
          </a:xfrm>
          <a:prstGeom prst="rect">
            <a:avLst/>
          </a:prstGeom>
          <a:noFill/>
        </p:spPr>
        <p:txBody>
          <a:bodyPr wrap="square">
            <a:spAutoFit/>
          </a:bodyPr>
          <a:lstStyle/>
          <a:p>
            <a:r>
              <a:rPr lang="zh-CN" altLang="en-US" sz="1200"/>
              <a:t>长期趋势</a:t>
            </a:r>
            <a:r>
              <a:rPr lang="en-US" altLang="zh-CN" sz="1200"/>
              <a:t>(Secular trend,T)</a:t>
            </a:r>
            <a:r>
              <a:rPr lang="zh-CN" altLang="en-US" sz="1200"/>
              <a:t>：长时间段</a:t>
            </a:r>
          </a:p>
        </p:txBody>
      </p:sp>
      <p:sp>
        <p:nvSpPr>
          <p:cNvPr id="17" name="文本框 16">
            <a:extLst>
              <a:ext uri="{FF2B5EF4-FFF2-40B4-BE49-F238E27FC236}">
                <a16:creationId xmlns:a16="http://schemas.microsoft.com/office/drawing/2014/main" id="{D239CD43-6C57-CD7D-5CEC-0875B3E9630C}"/>
              </a:ext>
            </a:extLst>
          </p:cNvPr>
          <p:cNvSpPr txBox="1"/>
          <p:nvPr/>
        </p:nvSpPr>
        <p:spPr>
          <a:xfrm>
            <a:off x="1303685" y="1361858"/>
            <a:ext cx="4342041" cy="276999"/>
          </a:xfrm>
          <a:prstGeom prst="rect">
            <a:avLst/>
          </a:prstGeom>
          <a:noFill/>
        </p:spPr>
        <p:txBody>
          <a:bodyPr wrap="square">
            <a:spAutoFit/>
          </a:bodyPr>
          <a:lstStyle/>
          <a:p>
            <a:r>
              <a:rPr lang="zh-CN" altLang="en-US" sz="1200"/>
              <a:t>季节趋势</a:t>
            </a:r>
            <a:r>
              <a:rPr lang="en-US" altLang="zh-CN" sz="1200"/>
              <a:t>(Seasonal Variation,S)</a:t>
            </a:r>
            <a:r>
              <a:rPr lang="zh-CN" altLang="en-US" sz="1200"/>
              <a:t>：以月、季、周为单位</a:t>
            </a:r>
          </a:p>
        </p:txBody>
      </p:sp>
      <p:sp>
        <p:nvSpPr>
          <p:cNvPr id="19" name="文本框 18">
            <a:extLst>
              <a:ext uri="{FF2B5EF4-FFF2-40B4-BE49-F238E27FC236}">
                <a16:creationId xmlns:a16="http://schemas.microsoft.com/office/drawing/2014/main" id="{50B54242-FA2E-7A57-FA36-2B4955036AAF}"/>
              </a:ext>
            </a:extLst>
          </p:cNvPr>
          <p:cNvSpPr txBox="1"/>
          <p:nvPr/>
        </p:nvSpPr>
        <p:spPr>
          <a:xfrm>
            <a:off x="1303686" y="1541155"/>
            <a:ext cx="3614678" cy="276999"/>
          </a:xfrm>
          <a:prstGeom prst="rect">
            <a:avLst/>
          </a:prstGeom>
          <a:noFill/>
        </p:spPr>
        <p:txBody>
          <a:bodyPr wrap="square">
            <a:spAutoFit/>
          </a:bodyPr>
          <a:lstStyle/>
          <a:p>
            <a:r>
              <a:rPr lang="zh-CN" altLang="en-US" sz="1200"/>
              <a:t>循环变动（</a:t>
            </a:r>
            <a:r>
              <a:rPr lang="en-US" altLang="zh-CN" sz="1200"/>
              <a:t>Cyclical Variation,C</a:t>
            </a:r>
            <a:r>
              <a:rPr lang="zh-CN" altLang="en-US" sz="1200"/>
              <a:t>）：若干年为周期</a:t>
            </a:r>
          </a:p>
        </p:txBody>
      </p:sp>
      <p:sp>
        <p:nvSpPr>
          <p:cNvPr id="21" name="文本框 20">
            <a:extLst>
              <a:ext uri="{FF2B5EF4-FFF2-40B4-BE49-F238E27FC236}">
                <a16:creationId xmlns:a16="http://schemas.microsoft.com/office/drawing/2014/main" id="{2A19908E-691D-5A98-72D7-236DDDDA36CD}"/>
              </a:ext>
            </a:extLst>
          </p:cNvPr>
          <p:cNvSpPr txBox="1"/>
          <p:nvPr/>
        </p:nvSpPr>
        <p:spPr>
          <a:xfrm>
            <a:off x="1303686" y="1737906"/>
            <a:ext cx="3718587" cy="276999"/>
          </a:xfrm>
          <a:prstGeom prst="rect">
            <a:avLst/>
          </a:prstGeom>
          <a:noFill/>
        </p:spPr>
        <p:txBody>
          <a:bodyPr wrap="square">
            <a:spAutoFit/>
          </a:bodyPr>
          <a:lstStyle/>
          <a:p>
            <a:r>
              <a:rPr lang="zh-CN" altLang="en-US" sz="1200"/>
              <a:t>不规则变动（</a:t>
            </a:r>
            <a:r>
              <a:rPr lang="en-US" altLang="zh-CN" sz="1200"/>
              <a:t>Irregular Variation,I</a:t>
            </a:r>
            <a:r>
              <a:rPr lang="zh-CN" altLang="en-US" sz="1200"/>
              <a:t>）：有干扰项</a:t>
            </a:r>
          </a:p>
        </p:txBody>
      </p:sp>
      <p:pic>
        <p:nvPicPr>
          <p:cNvPr id="4" name="图片 3">
            <a:extLst>
              <a:ext uri="{FF2B5EF4-FFF2-40B4-BE49-F238E27FC236}">
                <a16:creationId xmlns:a16="http://schemas.microsoft.com/office/drawing/2014/main" id="{F591B16B-0990-0235-495C-B77707F16050}"/>
              </a:ext>
            </a:extLst>
          </p:cNvPr>
          <p:cNvPicPr>
            <a:picLocks noChangeAspect="1"/>
          </p:cNvPicPr>
          <p:nvPr/>
        </p:nvPicPr>
        <p:blipFill>
          <a:blip r:embed="rId2"/>
          <a:stretch>
            <a:fillRect/>
          </a:stretch>
        </p:blipFill>
        <p:spPr>
          <a:xfrm>
            <a:off x="515337" y="2071093"/>
            <a:ext cx="3253098" cy="873623"/>
          </a:xfrm>
          <a:prstGeom prst="rect">
            <a:avLst/>
          </a:prstGeom>
          <a:ln>
            <a:solidFill>
              <a:schemeClr val="accent6"/>
            </a:solidFill>
          </a:ln>
        </p:spPr>
      </p:pic>
      <p:sp>
        <p:nvSpPr>
          <p:cNvPr id="14" name="文本框 13">
            <a:extLst>
              <a:ext uri="{FF2B5EF4-FFF2-40B4-BE49-F238E27FC236}">
                <a16:creationId xmlns:a16="http://schemas.microsoft.com/office/drawing/2014/main" id="{54897F26-A5A5-3896-CA6F-F6715572FDBE}"/>
              </a:ext>
            </a:extLst>
          </p:cNvPr>
          <p:cNvSpPr txBox="1"/>
          <p:nvPr/>
        </p:nvSpPr>
        <p:spPr>
          <a:xfrm>
            <a:off x="384648" y="2940514"/>
            <a:ext cx="3415144" cy="461665"/>
          </a:xfrm>
          <a:prstGeom prst="rect">
            <a:avLst/>
          </a:prstGeom>
          <a:noFill/>
        </p:spPr>
        <p:txBody>
          <a:bodyPr wrap="square">
            <a:spAutoFit/>
          </a:bodyPr>
          <a:lstStyle/>
          <a:p>
            <a:r>
              <a:rPr lang="en-US" altLang="zh-CN" sz="1200"/>
              <a:t>Tips</a:t>
            </a:r>
            <a:r>
              <a:rPr lang="zh-CN" altLang="en-US" sz="1200"/>
              <a:t>：随着时间变化，数据的季节波动越来越大，那么使用乘积模型会更精确。</a:t>
            </a:r>
          </a:p>
        </p:txBody>
      </p:sp>
      <p:pic>
        <p:nvPicPr>
          <p:cNvPr id="18" name="图片 17">
            <a:extLst>
              <a:ext uri="{FF2B5EF4-FFF2-40B4-BE49-F238E27FC236}">
                <a16:creationId xmlns:a16="http://schemas.microsoft.com/office/drawing/2014/main" id="{07B3F4BA-1059-271B-DCC4-8E967500C6CF}"/>
              </a:ext>
            </a:extLst>
          </p:cNvPr>
          <p:cNvPicPr>
            <a:picLocks noChangeAspect="1"/>
          </p:cNvPicPr>
          <p:nvPr/>
        </p:nvPicPr>
        <p:blipFill>
          <a:blip r:embed="rId3"/>
          <a:stretch>
            <a:fillRect/>
          </a:stretch>
        </p:blipFill>
        <p:spPr>
          <a:xfrm>
            <a:off x="384648" y="3402179"/>
            <a:ext cx="2178275" cy="1817171"/>
          </a:xfrm>
          <a:prstGeom prst="rect">
            <a:avLst/>
          </a:prstGeom>
        </p:spPr>
      </p:pic>
      <p:sp>
        <p:nvSpPr>
          <p:cNvPr id="26" name="文本框 25">
            <a:extLst>
              <a:ext uri="{FF2B5EF4-FFF2-40B4-BE49-F238E27FC236}">
                <a16:creationId xmlns:a16="http://schemas.microsoft.com/office/drawing/2014/main" id="{A90E8971-8E0D-4361-63A8-82184D14D28B}"/>
              </a:ext>
            </a:extLst>
          </p:cNvPr>
          <p:cNvSpPr txBox="1"/>
          <p:nvPr/>
        </p:nvSpPr>
        <p:spPr>
          <a:xfrm>
            <a:off x="2278329" y="4004546"/>
            <a:ext cx="2743944" cy="461665"/>
          </a:xfrm>
          <a:prstGeom prst="rect">
            <a:avLst/>
          </a:prstGeom>
          <a:noFill/>
        </p:spPr>
        <p:txBody>
          <a:bodyPr wrap="square">
            <a:spAutoFit/>
          </a:bodyPr>
          <a:lstStyle/>
          <a:p>
            <a:r>
              <a:rPr lang="zh-CN" altLang="en-US" sz="1200"/>
              <a:t>随着时间变化，销量数据的季节波动变化不大，因此可使用加法分解模型。</a:t>
            </a:r>
          </a:p>
        </p:txBody>
      </p:sp>
      <p:pic>
        <p:nvPicPr>
          <p:cNvPr id="28" name="图片 27">
            <a:extLst>
              <a:ext uri="{FF2B5EF4-FFF2-40B4-BE49-F238E27FC236}">
                <a16:creationId xmlns:a16="http://schemas.microsoft.com/office/drawing/2014/main" id="{41044F76-BB47-7491-C10F-FABDE7CFBB48}"/>
              </a:ext>
            </a:extLst>
          </p:cNvPr>
          <p:cNvPicPr>
            <a:picLocks noChangeAspect="1"/>
          </p:cNvPicPr>
          <p:nvPr/>
        </p:nvPicPr>
        <p:blipFill>
          <a:blip r:embed="rId4"/>
          <a:stretch>
            <a:fillRect/>
          </a:stretch>
        </p:blipFill>
        <p:spPr>
          <a:xfrm>
            <a:off x="913656" y="5496142"/>
            <a:ext cx="3002539" cy="1066878"/>
          </a:xfrm>
          <a:prstGeom prst="rect">
            <a:avLst/>
          </a:prstGeom>
        </p:spPr>
      </p:pic>
      <p:pic>
        <p:nvPicPr>
          <p:cNvPr id="7" name="图片 6">
            <a:extLst>
              <a:ext uri="{FF2B5EF4-FFF2-40B4-BE49-F238E27FC236}">
                <a16:creationId xmlns:a16="http://schemas.microsoft.com/office/drawing/2014/main" id="{1782999D-1027-F7F8-B2E7-E2D759E69DCD}"/>
              </a:ext>
            </a:extLst>
          </p:cNvPr>
          <p:cNvPicPr>
            <a:picLocks noChangeAspect="1"/>
          </p:cNvPicPr>
          <p:nvPr/>
        </p:nvPicPr>
        <p:blipFill>
          <a:blip r:embed="rId5"/>
          <a:stretch>
            <a:fillRect/>
          </a:stretch>
        </p:blipFill>
        <p:spPr>
          <a:xfrm>
            <a:off x="5157353" y="3598611"/>
            <a:ext cx="5061126" cy="3134699"/>
          </a:xfrm>
          <a:prstGeom prst="rect">
            <a:avLst/>
          </a:prstGeom>
          <a:ln>
            <a:solidFill>
              <a:srgbClr val="00B0F0"/>
            </a:solidFill>
          </a:ln>
        </p:spPr>
      </p:pic>
      <p:pic>
        <p:nvPicPr>
          <p:cNvPr id="9" name="图片 8">
            <a:extLst>
              <a:ext uri="{FF2B5EF4-FFF2-40B4-BE49-F238E27FC236}">
                <a16:creationId xmlns:a16="http://schemas.microsoft.com/office/drawing/2014/main" id="{C52158EC-AAF6-6265-3EE4-6A20BE402183}"/>
              </a:ext>
            </a:extLst>
          </p:cNvPr>
          <p:cNvPicPr>
            <a:picLocks noChangeAspect="1"/>
          </p:cNvPicPr>
          <p:nvPr/>
        </p:nvPicPr>
        <p:blipFill>
          <a:blip r:embed="rId6"/>
          <a:stretch>
            <a:fillRect/>
          </a:stretch>
        </p:blipFill>
        <p:spPr>
          <a:xfrm>
            <a:off x="7973195" y="1091495"/>
            <a:ext cx="4189737" cy="2786100"/>
          </a:xfrm>
          <a:prstGeom prst="rect">
            <a:avLst/>
          </a:prstGeom>
          <a:ln>
            <a:solidFill>
              <a:srgbClr val="00B0F0"/>
            </a:solidFill>
          </a:ln>
        </p:spPr>
      </p:pic>
    </p:spTree>
    <p:extLst>
      <p:ext uri="{BB962C8B-B14F-4D97-AF65-F5344CB8AC3E}">
        <p14:creationId xmlns:p14="http://schemas.microsoft.com/office/powerpoint/2010/main" val="1140550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C01D56-7345-46F9-9CCB-BF64626C2E75}"/>
              </a:ext>
            </a:extLst>
          </p:cNvPr>
          <p:cNvSpPr txBox="1"/>
          <p:nvPr/>
        </p:nvSpPr>
        <p:spPr>
          <a:xfrm>
            <a:off x="452993" y="140774"/>
            <a:ext cx="3592533" cy="769441"/>
          </a:xfrm>
          <a:prstGeom prst="rect">
            <a:avLst/>
          </a:prstGeom>
          <a:noFill/>
        </p:spPr>
        <p:txBody>
          <a:bodyPr wrap="square" rtlCol="0">
            <a:spAutoFit/>
          </a:bodyPr>
          <a:lstStyle/>
          <a:p>
            <a:r>
              <a:rPr lang="zh-CN" altLang="en-US" sz="4400">
                <a:latin typeface="三极泼墨体" panose="00000500000000000000" pitchFamily="2" charset="-122"/>
                <a:ea typeface="三极泼墨体" panose="00000500000000000000" pitchFamily="2" charset="-122"/>
              </a:rPr>
              <a:t>灰色预测法</a:t>
            </a:r>
          </a:p>
        </p:txBody>
      </p:sp>
      <p:sp>
        <p:nvSpPr>
          <p:cNvPr id="6" name="文本框 5">
            <a:extLst>
              <a:ext uri="{FF2B5EF4-FFF2-40B4-BE49-F238E27FC236}">
                <a16:creationId xmlns:a16="http://schemas.microsoft.com/office/drawing/2014/main" id="{0DE5869C-96B8-C2F5-66B3-947BF9B104E0}"/>
              </a:ext>
            </a:extLst>
          </p:cNvPr>
          <p:cNvSpPr txBox="1"/>
          <p:nvPr/>
        </p:nvSpPr>
        <p:spPr>
          <a:xfrm>
            <a:off x="452993" y="771715"/>
            <a:ext cx="4523509" cy="276999"/>
          </a:xfrm>
          <a:prstGeom prst="rect">
            <a:avLst/>
          </a:prstGeom>
          <a:noFill/>
        </p:spPr>
        <p:txBody>
          <a:bodyPr wrap="square">
            <a:spAutoFit/>
          </a:bodyPr>
          <a:lstStyle/>
          <a:p>
            <a:r>
              <a:rPr lang="zh-CN" altLang="en-US" sz="1200"/>
              <a:t>用于处理少量数据、数据质量较差或者缺乏历史数据的预测方法</a:t>
            </a:r>
          </a:p>
        </p:txBody>
      </p:sp>
      <p:pic>
        <p:nvPicPr>
          <p:cNvPr id="1026" name="Picture 2">
            <a:extLst>
              <a:ext uri="{FF2B5EF4-FFF2-40B4-BE49-F238E27FC236}">
                <a16:creationId xmlns:a16="http://schemas.microsoft.com/office/drawing/2014/main" id="{89669D52-6914-3FD2-8ED0-FF521D68B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9831" y="167398"/>
            <a:ext cx="2831338" cy="213576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E546EAE-7811-60C3-9128-961B73D83C55}"/>
                  </a:ext>
                </a:extLst>
              </p:cNvPr>
              <p:cNvSpPr txBox="1"/>
              <p:nvPr/>
            </p:nvSpPr>
            <p:spPr>
              <a:xfrm>
                <a:off x="270163" y="1664433"/>
                <a:ext cx="4447309" cy="284693"/>
              </a:xfrm>
              <a:prstGeom prst="rect">
                <a:avLst/>
              </a:prstGeom>
              <a:noFill/>
            </p:spPr>
            <p:txBody>
              <a:bodyPr wrap="square">
                <a:spAutoFit/>
              </a:bodyPr>
              <a:lstStyle/>
              <a:p>
                <a:r>
                  <a:rPr lang="zh-CN" altLang="zh-CN" sz="1200" kern="100">
                    <a:effectLst/>
                    <a:latin typeface="Calibri" panose="020F0502020204030204" pitchFamily="34" charset="0"/>
                    <a:ea typeface="宋体" panose="02010600030101010101" pitchFamily="2" charset="-122"/>
                    <a:cs typeface="Times New Roman" panose="02020603050405020304" pitchFamily="18" charset="0"/>
                  </a:rPr>
                  <a:t>非负离散数据列</a:t>
                </a:r>
                <a14:m>
                  <m:oMath xmlns:m="http://schemas.openxmlformats.org/officeDocument/2006/math">
                    <m:r>
                      <a:rPr lang="zh-CN" altLang="zh-CN" sz="1200" kern="10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(2)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(3) , ...... ,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endParaRPr lang="zh-CN" altLang="en-US" sz="1200"/>
              </a:p>
            </p:txBody>
          </p:sp>
        </mc:Choice>
        <mc:Fallback xmlns="">
          <p:sp>
            <p:nvSpPr>
              <p:cNvPr id="8" name="文本框 7">
                <a:extLst>
                  <a:ext uri="{FF2B5EF4-FFF2-40B4-BE49-F238E27FC236}">
                    <a16:creationId xmlns:a16="http://schemas.microsoft.com/office/drawing/2014/main" id="{FE546EAE-7811-60C3-9128-961B73D83C55}"/>
                  </a:ext>
                </a:extLst>
              </p:cNvPr>
              <p:cNvSpPr txBox="1">
                <a:spLocks noRot="1" noChangeAspect="1" noMove="1" noResize="1" noEditPoints="1" noAdjustHandles="1" noChangeArrowheads="1" noChangeShapeType="1" noTextEdit="1"/>
              </p:cNvSpPr>
              <p:nvPr/>
            </p:nvSpPr>
            <p:spPr>
              <a:xfrm>
                <a:off x="270163" y="1664433"/>
                <a:ext cx="4447309" cy="284693"/>
              </a:xfrm>
              <a:prstGeom prst="rect">
                <a:avLst/>
              </a:prstGeom>
              <a:blipFill>
                <a:blip r:embed="rId3"/>
                <a:stretch>
                  <a:fillRect b="-12766"/>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11744FD-B754-6FFA-92A3-18D6CA472186}"/>
              </a:ext>
            </a:extLst>
          </p:cNvPr>
          <p:cNvSpPr txBox="1"/>
          <p:nvPr/>
        </p:nvSpPr>
        <p:spPr>
          <a:xfrm>
            <a:off x="2317172" y="2717097"/>
            <a:ext cx="1032164" cy="369332"/>
          </a:xfrm>
          <a:prstGeom prst="rect">
            <a:avLst/>
          </a:prstGeom>
          <a:noFill/>
        </p:spPr>
        <p:txBody>
          <a:bodyPr wrap="square" rtlCol="0">
            <a:spAutoFit/>
          </a:bodyPr>
          <a:lstStyle/>
          <a:p>
            <a:r>
              <a:rPr lang="en-US" altLang="zh-CN" b="1"/>
              <a:t>GM(1, 1)</a:t>
            </a:r>
            <a:endParaRPr lang="zh-CN" altLang="en-US" b="1"/>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536BAED-CBF7-48D6-3F5F-DE04BB521E5E}"/>
                  </a:ext>
                </a:extLst>
              </p:cNvPr>
              <p:cNvSpPr txBox="1"/>
              <p:nvPr/>
            </p:nvSpPr>
            <p:spPr>
              <a:xfrm>
                <a:off x="270163" y="1910820"/>
                <a:ext cx="5472545" cy="481991"/>
              </a:xfrm>
              <a:prstGeom prst="rect">
                <a:avLst/>
              </a:prstGeom>
              <a:noFill/>
            </p:spPr>
            <p:txBody>
              <a:bodyPr wrap="square">
                <a:spAutoFit/>
              </a:bodyPr>
              <a:lstStyle/>
              <a:p>
                <a:r>
                  <a:rPr lang="zh-CN" altLang="zh-CN" sz="1200" kern="100">
                    <a:effectLst/>
                    <a:latin typeface="Calibri" panose="020F0502020204030204" pitchFamily="34" charset="0"/>
                    <a:ea typeface="宋体" panose="02010600030101010101" pitchFamily="2" charset="-122"/>
                    <a:cs typeface="Times New Roman" panose="02020603050405020304" pitchFamily="18" charset="0"/>
                  </a:rPr>
                  <a:t>进行一次累加</a:t>
                </a:r>
                <a:r>
                  <a:rPr lang="en-US" altLang="zh-CN" sz="1200" kern="100">
                    <a:effectLst/>
                    <a:latin typeface="Calibri" panose="020F0502020204030204" pitchFamily="34" charset="0"/>
                    <a:ea typeface="宋体" panose="02010600030101010101" pitchFamily="2" charset="-122"/>
                    <a:cs typeface="Times New Roman" panose="02020603050405020304" pitchFamily="18" charset="0"/>
                  </a:rPr>
                  <a:t> </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(2)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(3) , ...... ,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1200" kern="100">
                    <a:effectLst/>
                    <a:latin typeface="Calibri" panose="020F0502020204030204" pitchFamily="34" charset="0"/>
                    <a:ea typeface="宋体" panose="02010600030101010101" pitchFamily="2" charset="-122"/>
                    <a:cs typeface="Times New Roman" panose="02020603050405020304" pitchFamily="18" charset="0"/>
                  </a:rPr>
                  <a:t>，其中，</a:t>
                </a:r>
                <a14:m>
                  <m:oMath xmlns:m="http://schemas.openxmlformats.org/officeDocument/2006/math">
                    <m:r>
                      <a:rPr lang="zh-CN" altLang="zh-CN" sz="1200" kern="10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1200" i="1">
                            <a:effectLst/>
                            <a:latin typeface="Cambria Math" panose="02040503050406030204" pitchFamily="18" charset="0"/>
                            <a:ea typeface="Cambria Math" panose="02040503050406030204" pitchFamily="18" charset="0"/>
                          </a:rPr>
                        </m:ctrlPr>
                      </m:naryPr>
                      <m:sub>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𝑚</m:t>
                        </m:r>
                      </m:sup>
                      <m:e>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e>
                    </m:nary>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endParaRPr lang="zh-CN" altLang="en-US" sz="1200"/>
              </a:p>
            </p:txBody>
          </p:sp>
        </mc:Choice>
        <mc:Fallback xmlns="">
          <p:sp>
            <p:nvSpPr>
              <p:cNvPr id="11" name="文本框 10">
                <a:extLst>
                  <a:ext uri="{FF2B5EF4-FFF2-40B4-BE49-F238E27FC236}">
                    <a16:creationId xmlns:a16="http://schemas.microsoft.com/office/drawing/2014/main" id="{F536BAED-CBF7-48D6-3F5F-DE04BB521E5E}"/>
                  </a:ext>
                </a:extLst>
              </p:cNvPr>
              <p:cNvSpPr txBox="1">
                <a:spLocks noRot="1" noChangeAspect="1" noMove="1" noResize="1" noEditPoints="1" noAdjustHandles="1" noChangeArrowheads="1" noChangeShapeType="1" noTextEdit="1"/>
              </p:cNvSpPr>
              <p:nvPr/>
            </p:nvSpPr>
            <p:spPr>
              <a:xfrm>
                <a:off x="270163" y="1910820"/>
                <a:ext cx="5472545" cy="481991"/>
              </a:xfrm>
              <a:prstGeom prst="rect">
                <a:avLst/>
              </a:prstGeom>
              <a:blipFill>
                <a:blip r:embed="rId4"/>
                <a:stretch>
                  <a:fillRect t="-13750" b="-8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A8C599F-B488-E021-8339-C547554BB30C}"/>
                  </a:ext>
                </a:extLst>
              </p:cNvPr>
              <p:cNvSpPr txBox="1"/>
              <p:nvPr/>
            </p:nvSpPr>
            <p:spPr>
              <a:xfrm>
                <a:off x="270163" y="2422498"/>
                <a:ext cx="6428509" cy="284693"/>
              </a:xfrm>
              <a:prstGeom prst="rect">
                <a:avLst/>
              </a:prstGeom>
              <a:noFill/>
            </p:spPr>
            <p:txBody>
              <a:bodyPr wrap="square">
                <a:spAutoFit/>
              </a:bodyPr>
              <a:lstStyle/>
              <a:p>
                <a14:m>
                  <m:oMath xmlns:m="http://schemas.openxmlformats.org/officeDocument/2006/math">
                    <m:r>
                      <a:rPr lang="zh-CN" altLang="zh-CN" sz="1200" kern="10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1200" kern="100">
                    <a:effectLst/>
                    <a:latin typeface="Calibri" panose="020F0502020204030204" pitchFamily="34" charset="0"/>
                    <a:ea typeface="宋体" panose="02010600030101010101" pitchFamily="2" charset="-122"/>
                    <a:cs typeface="Times New Roman" panose="02020603050405020304" pitchFamily="18" charset="0"/>
                  </a:rPr>
                  <a:t>为数列</a:t>
                </a:r>
                <a14:m>
                  <m:oMath xmlns:m="http://schemas.openxmlformats.org/officeDocument/2006/math">
                    <m:r>
                      <a:rPr lang="zh-CN" altLang="zh-CN" sz="1200" kern="10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r>
                  <a:rPr lang="zh-CN" altLang="zh-CN" sz="1200" kern="100">
                    <a:effectLst/>
                    <a:latin typeface="Calibri" panose="020F0502020204030204" pitchFamily="34" charset="0"/>
                    <a:ea typeface="宋体" panose="02010600030101010101" pitchFamily="2" charset="-122"/>
                    <a:cs typeface="Times New Roman" panose="02020603050405020304" pitchFamily="18" charset="0"/>
                  </a:rPr>
                  <a:t>的紧邻均值生成数列，即</a:t>
                </a:r>
                <a14:m>
                  <m:oMath xmlns:m="http://schemas.openxmlformats.org/officeDocument/2006/math">
                    <m:r>
                      <a:rPr lang="zh-CN" altLang="zh-CN" sz="1200" i="1" kern="10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(2)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(3) , ...... , </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(1)</m:t>
                        </m:r>
                      </m:sup>
                    </m:sSup>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1200" i="1" kern="100">
                        <a:effectLst/>
                        <a:latin typeface="Cambria Math" panose="02040503050406030204" pitchFamily="18" charset="0"/>
                        <a:ea typeface="宋体" panose="02010600030101010101" pitchFamily="2" charset="-122"/>
                        <a:cs typeface="Times New Roman" panose="02020603050405020304" pitchFamily="18" charset="0"/>
                      </a:rPr>
                      <m:t>)) </m:t>
                    </m:r>
                  </m:oMath>
                </a14:m>
                <a:endParaRPr lang="zh-CN" altLang="en-US" sz="1200"/>
              </a:p>
            </p:txBody>
          </p:sp>
        </mc:Choice>
        <mc:Fallback xmlns="">
          <p:sp>
            <p:nvSpPr>
              <p:cNvPr id="13" name="文本框 12">
                <a:extLst>
                  <a:ext uri="{FF2B5EF4-FFF2-40B4-BE49-F238E27FC236}">
                    <a16:creationId xmlns:a16="http://schemas.microsoft.com/office/drawing/2014/main" id="{9A8C599F-B488-E021-8339-C547554BB30C}"/>
                  </a:ext>
                </a:extLst>
              </p:cNvPr>
              <p:cNvSpPr txBox="1">
                <a:spLocks noRot="1" noChangeAspect="1" noMove="1" noResize="1" noEditPoints="1" noAdjustHandles="1" noChangeArrowheads="1" noChangeShapeType="1" noTextEdit="1"/>
              </p:cNvSpPr>
              <p:nvPr/>
            </p:nvSpPr>
            <p:spPr>
              <a:xfrm>
                <a:off x="270163" y="2422498"/>
                <a:ext cx="6428509" cy="284693"/>
              </a:xfrm>
              <a:prstGeom prst="rect">
                <a:avLst/>
              </a:prstGeom>
              <a:blipFill>
                <a:blip r:embed="rId5"/>
                <a:stretch>
                  <a:fillRect b="-12766"/>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A2E107EF-E824-B179-EB4C-FAD881976A1E}"/>
              </a:ext>
            </a:extLst>
          </p:cNvPr>
          <p:cNvSpPr txBox="1"/>
          <p:nvPr/>
        </p:nvSpPr>
        <p:spPr>
          <a:xfrm>
            <a:off x="1932709" y="2168093"/>
            <a:ext cx="3747655" cy="276999"/>
          </a:xfrm>
          <a:prstGeom prst="rect">
            <a:avLst/>
          </a:prstGeom>
          <a:noFill/>
        </p:spPr>
        <p:txBody>
          <a:bodyPr wrap="square">
            <a:spAutoFit/>
          </a:bodyPr>
          <a:lstStyle/>
          <a:p>
            <a:r>
              <a:rPr lang="zh-CN" altLang="en-US" sz="1200">
                <a:solidFill>
                  <a:schemeClr val="accent5"/>
                </a:solidFill>
              </a:rPr>
              <a:t>累加生成（</a:t>
            </a:r>
            <a:r>
              <a:rPr lang="en-US" altLang="zh-CN" sz="1200">
                <a:solidFill>
                  <a:schemeClr val="accent5"/>
                </a:solidFill>
              </a:rPr>
              <a:t>AGO, Accumulated Generating Operation</a:t>
            </a:r>
            <a:r>
              <a:rPr lang="zh-CN" altLang="en-US" sz="1200">
                <a:solidFill>
                  <a:schemeClr val="accent5"/>
                </a:solidFill>
              </a:rPr>
              <a:t>）</a:t>
            </a:r>
          </a:p>
        </p:txBody>
      </p:sp>
      <p:sp>
        <p:nvSpPr>
          <p:cNvPr id="19" name="文本框 18">
            <a:extLst>
              <a:ext uri="{FF2B5EF4-FFF2-40B4-BE49-F238E27FC236}">
                <a16:creationId xmlns:a16="http://schemas.microsoft.com/office/drawing/2014/main" id="{F58B8B26-994B-7127-33AF-0D7E8AC265CA}"/>
              </a:ext>
            </a:extLst>
          </p:cNvPr>
          <p:cNvSpPr txBox="1"/>
          <p:nvPr/>
        </p:nvSpPr>
        <p:spPr>
          <a:xfrm>
            <a:off x="249381" y="1295101"/>
            <a:ext cx="2486892" cy="369332"/>
          </a:xfrm>
          <a:prstGeom prst="rect">
            <a:avLst/>
          </a:prstGeom>
          <a:noFill/>
        </p:spPr>
        <p:txBody>
          <a:bodyPr wrap="square">
            <a:spAutoFit/>
          </a:bodyPr>
          <a:lstStyle/>
          <a:p>
            <a:pPr algn="l"/>
            <a:r>
              <a:rPr lang="en-US" altLang="zh-CN" b="1" i="0">
                <a:solidFill>
                  <a:srgbClr val="2C2C36"/>
                </a:solidFill>
                <a:effectLst/>
                <a:latin typeface="-apple-system"/>
              </a:rPr>
              <a:t>1.</a:t>
            </a:r>
            <a:r>
              <a:rPr lang="zh-CN" altLang="en-US" b="1" i="0">
                <a:solidFill>
                  <a:srgbClr val="2C2C36"/>
                </a:solidFill>
                <a:effectLst/>
                <a:latin typeface="-apple-system"/>
              </a:rPr>
              <a:t>数据生成（数据平滑）</a:t>
            </a:r>
          </a:p>
        </p:txBody>
      </p:sp>
      <p:sp>
        <p:nvSpPr>
          <p:cNvPr id="21" name="文本框 20">
            <a:extLst>
              <a:ext uri="{FF2B5EF4-FFF2-40B4-BE49-F238E27FC236}">
                <a16:creationId xmlns:a16="http://schemas.microsoft.com/office/drawing/2014/main" id="{1E419B48-6857-6722-9E9A-CA136EA06DCE}"/>
              </a:ext>
            </a:extLst>
          </p:cNvPr>
          <p:cNvSpPr txBox="1"/>
          <p:nvPr/>
        </p:nvSpPr>
        <p:spPr>
          <a:xfrm>
            <a:off x="228599" y="2702365"/>
            <a:ext cx="2292928" cy="369332"/>
          </a:xfrm>
          <a:prstGeom prst="rect">
            <a:avLst/>
          </a:prstGeom>
          <a:noFill/>
        </p:spPr>
        <p:txBody>
          <a:bodyPr wrap="square">
            <a:spAutoFit/>
          </a:bodyPr>
          <a:lstStyle/>
          <a:p>
            <a:pPr algn="l"/>
            <a:r>
              <a:rPr lang="en-US" altLang="zh-CN" b="1" i="0">
                <a:solidFill>
                  <a:srgbClr val="2C2C36"/>
                </a:solidFill>
                <a:effectLst/>
                <a:latin typeface="-apple-system"/>
              </a:rPr>
              <a:t>2.</a:t>
            </a:r>
            <a:r>
              <a:rPr lang="zh-CN" altLang="en-US" b="1" i="0">
                <a:solidFill>
                  <a:srgbClr val="2C2C36"/>
                </a:solidFill>
                <a:effectLst/>
                <a:latin typeface="-apple-system"/>
              </a:rPr>
              <a:t>建立灰色预测模型</a:t>
            </a:r>
          </a:p>
        </p:txBody>
      </p:sp>
      <p:sp>
        <p:nvSpPr>
          <p:cNvPr id="23" name="文本框 22">
            <a:extLst>
              <a:ext uri="{FF2B5EF4-FFF2-40B4-BE49-F238E27FC236}">
                <a16:creationId xmlns:a16="http://schemas.microsoft.com/office/drawing/2014/main" id="{3DAD7D33-A630-D5F6-F984-7F32C7CFFCB1}"/>
              </a:ext>
            </a:extLst>
          </p:cNvPr>
          <p:cNvSpPr txBox="1"/>
          <p:nvPr/>
        </p:nvSpPr>
        <p:spPr>
          <a:xfrm>
            <a:off x="3318163" y="2825964"/>
            <a:ext cx="1115290" cy="276999"/>
          </a:xfrm>
          <a:prstGeom prst="rect">
            <a:avLst/>
          </a:prstGeom>
          <a:noFill/>
        </p:spPr>
        <p:txBody>
          <a:bodyPr wrap="square">
            <a:spAutoFit/>
          </a:bodyPr>
          <a:lstStyle/>
          <a:p>
            <a:r>
              <a:rPr lang="zh-CN" altLang="en-US" sz="1200" b="0" i="0">
                <a:solidFill>
                  <a:srgbClr val="2C2C36"/>
                </a:solidFill>
                <a:effectLst/>
                <a:latin typeface="-apple-system"/>
              </a:rPr>
              <a:t>一阶单变量</a:t>
            </a:r>
            <a:endParaRPr lang="zh-CN" altLang="en-US" sz="1200"/>
          </a:p>
        </p:txBody>
      </p:sp>
      <p:pic>
        <p:nvPicPr>
          <p:cNvPr id="25" name="图片 24">
            <a:extLst>
              <a:ext uri="{FF2B5EF4-FFF2-40B4-BE49-F238E27FC236}">
                <a16:creationId xmlns:a16="http://schemas.microsoft.com/office/drawing/2014/main" id="{DE2E6C54-A4A9-C11D-0834-68EDB9C91DBE}"/>
              </a:ext>
            </a:extLst>
          </p:cNvPr>
          <p:cNvPicPr>
            <a:picLocks noChangeAspect="1"/>
          </p:cNvPicPr>
          <p:nvPr/>
        </p:nvPicPr>
        <p:blipFill>
          <a:blip r:embed="rId6"/>
          <a:stretch>
            <a:fillRect/>
          </a:stretch>
        </p:blipFill>
        <p:spPr>
          <a:xfrm>
            <a:off x="450971" y="3096335"/>
            <a:ext cx="2382283" cy="712558"/>
          </a:xfrm>
          <a:prstGeom prst="rect">
            <a:avLst/>
          </a:prstGeom>
        </p:spPr>
      </p:pic>
      <p:sp>
        <p:nvSpPr>
          <p:cNvPr id="33" name="文本框 32">
            <a:extLst>
              <a:ext uri="{FF2B5EF4-FFF2-40B4-BE49-F238E27FC236}">
                <a16:creationId xmlns:a16="http://schemas.microsoft.com/office/drawing/2014/main" id="{C2509CD7-1799-2D9B-E27E-01DB8B4D7354}"/>
              </a:ext>
            </a:extLst>
          </p:cNvPr>
          <p:cNvSpPr txBox="1"/>
          <p:nvPr/>
        </p:nvSpPr>
        <p:spPr>
          <a:xfrm>
            <a:off x="301336" y="3670393"/>
            <a:ext cx="6096000" cy="276999"/>
          </a:xfrm>
          <a:prstGeom prst="rect">
            <a:avLst/>
          </a:prstGeom>
          <a:noFill/>
        </p:spPr>
        <p:txBody>
          <a:bodyPr wrap="square">
            <a:spAutoFit/>
          </a:bodyPr>
          <a:lstStyle/>
          <a:p>
            <a:r>
              <a:rPr lang="zh-CN" altLang="en-US" sz="1200" b="0" i="0">
                <a:solidFill>
                  <a:srgbClr val="2C2C36"/>
                </a:solidFill>
                <a:effectLst/>
                <a:latin typeface="-apple-system"/>
              </a:rPr>
              <a:t>这里 </a:t>
            </a:r>
            <a:r>
              <a:rPr lang="en-US" altLang="zh-CN" sz="1200" b="0" i="0">
                <a:solidFill>
                  <a:srgbClr val="2C2C36"/>
                </a:solidFill>
                <a:effectLst/>
                <a:latin typeface="KaTeX_Main"/>
              </a:rPr>
              <a:t>a</a:t>
            </a:r>
            <a:r>
              <a:rPr lang="zh-CN" altLang="en-US" sz="1200" b="0" i="0">
                <a:solidFill>
                  <a:srgbClr val="2C2C36"/>
                </a:solidFill>
                <a:effectLst/>
                <a:latin typeface="-apple-system"/>
              </a:rPr>
              <a:t>和 </a:t>
            </a:r>
            <a:r>
              <a:rPr lang="en-US" altLang="zh-CN" sz="1200" b="0" i="0">
                <a:solidFill>
                  <a:srgbClr val="2C2C36"/>
                </a:solidFill>
                <a:effectLst/>
                <a:latin typeface="KaTeX_Main"/>
              </a:rPr>
              <a:t>b</a:t>
            </a:r>
            <a:r>
              <a:rPr lang="zh-CN" altLang="en-US" sz="1200" b="0" i="0">
                <a:solidFill>
                  <a:srgbClr val="2C2C36"/>
                </a:solidFill>
                <a:effectLst/>
                <a:latin typeface="-apple-system"/>
              </a:rPr>
              <a:t>是待求解的参数，</a:t>
            </a:r>
            <a:r>
              <a:rPr lang="en-US" altLang="zh-CN" sz="1200" b="0" i="0">
                <a:solidFill>
                  <a:srgbClr val="2C2C36"/>
                </a:solidFill>
                <a:effectLst/>
                <a:latin typeface="KaTeX_Main"/>
              </a:rPr>
              <a:t>a</a:t>
            </a:r>
            <a:r>
              <a:rPr lang="zh-CN" altLang="en-US" sz="1200" b="0" i="0">
                <a:solidFill>
                  <a:srgbClr val="2C2C36"/>
                </a:solidFill>
                <a:effectLst/>
                <a:latin typeface="-apple-system"/>
              </a:rPr>
              <a:t>称为发展系数，</a:t>
            </a:r>
            <a:r>
              <a:rPr lang="en-US" altLang="zh-CN" sz="1200" b="0" i="0">
                <a:solidFill>
                  <a:srgbClr val="2C2C36"/>
                </a:solidFill>
                <a:effectLst/>
                <a:latin typeface="KaTeX_Main"/>
              </a:rPr>
              <a:t>b</a:t>
            </a:r>
            <a:r>
              <a:rPr lang="zh-CN" altLang="en-US" sz="1200" b="0" i="0">
                <a:solidFill>
                  <a:srgbClr val="2C2C36"/>
                </a:solidFill>
                <a:effectLst/>
                <a:latin typeface="-apple-system"/>
              </a:rPr>
              <a:t>称为灰色作用量。</a:t>
            </a:r>
            <a:endParaRPr lang="zh-CN" altLang="en-US" sz="1200"/>
          </a:p>
        </p:txBody>
      </p:sp>
      <p:sp>
        <p:nvSpPr>
          <p:cNvPr id="35" name="文本框 34">
            <a:extLst>
              <a:ext uri="{FF2B5EF4-FFF2-40B4-BE49-F238E27FC236}">
                <a16:creationId xmlns:a16="http://schemas.microsoft.com/office/drawing/2014/main" id="{85CCD427-F8B4-0E2A-3E31-9F430F38A200}"/>
              </a:ext>
            </a:extLst>
          </p:cNvPr>
          <p:cNvSpPr txBox="1"/>
          <p:nvPr/>
        </p:nvSpPr>
        <p:spPr>
          <a:xfrm>
            <a:off x="249380" y="3945924"/>
            <a:ext cx="1537855" cy="369332"/>
          </a:xfrm>
          <a:prstGeom prst="rect">
            <a:avLst/>
          </a:prstGeom>
          <a:noFill/>
        </p:spPr>
        <p:txBody>
          <a:bodyPr wrap="square">
            <a:spAutoFit/>
          </a:bodyPr>
          <a:lstStyle/>
          <a:p>
            <a:pPr algn="l"/>
            <a:r>
              <a:rPr lang="en-US" altLang="zh-CN" b="1" i="0">
                <a:solidFill>
                  <a:srgbClr val="2C2C36"/>
                </a:solidFill>
                <a:effectLst/>
                <a:latin typeface="-apple-system"/>
              </a:rPr>
              <a:t>3.</a:t>
            </a:r>
            <a:r>
              <a:rPr lang="zh-CN" altLang="en-US" b="1" i="0">
                <a:solidFill>
                  <a:srgbClr val="2C2C36"/>
                </a:solidFill>
                <a:effectLst/>
                <a:latin typeface="-apple-system"/>
              </a:rPr>
              <a:t>参数估计</a:t>
            </a:r>
          </a:p>
        </p:txBody>
      </p:sp>
      <p:sp>
        <p:nvSpPr>
          <p:cNvPr id="37" name="文本框 36">
            <a:extLst>
              <a:ext uri="{FF2B5EF4-FFF2-40B4-BE49-F238E27FC236}">
                <a16:creationId xmlns:a16="http://schemas.microsoft.com/office/drawing/2014/main" id="{921F75BE-9B9B-42CB-E696-A115D4B5F086}"/>
              </a:ext>
            </a:extLst>
          </p:cNvPr>
          <p:cNvSpPr txBox="1"/>
          <p:nvPr/>
        </p:nvSpPr>
        <p:spPr>
          <a:xfrm>
            <a:off x="228599" y="4269089"/>
            <a:ext cx="4287633" cy="276999"/>
          </a:xfrm>
          <a:prstGeom prst="rect">
            <a:avLst/>
          </a:prstGeom>
          <a:noFill/>
        </p:spPr>
        <p:txBody>
          <a:bodyPr wrap="square">
            <a:spAutoFit/>
          </a:bodyPr>
          <a:lstStyle/>
          <a:p>
            <a:r>
              <a:rPr lang="zh-CN" altLang="en-US" sz="1200" b="0" i="0">
                <a:solidFill>
                  <a:srgbClr val="2C2C36"/>
                </a:solidFill>
                <a:effectLst/>
                <a:latin typeface="-apple-system"/>
              </a:rPr>
              <a:t>利用最小二乘法</a:t>
            </a:r>
            <a:r>
              <a:rPr lang="en-US" altLang="zh-CN" sz="1200" b="0" i="0">
                <a:solidFill>
                  <a:srgbClr val="2C2C36"/>
                </a:solidFill>
                <a:effectLst/>
                <a:latin typeface="-apple-system"/>
              </a:rPr>
              <a:t>(</a:t>
            </a:r>
            <a:r>
              <a:rPr lang="zh-CN" altLang="en-US" sz="1200" b="0" i="0">
                <a:solidFill>
                  <a:srgbClr val="2C2C36"/>
                </a:solidFill>
                <a:effectLst/>
                <a:latin typeface="-apple-system"/>
              </a:rPr>
              <a:t>如</a:t>
            </a:r>
            <a:r>
              <a:rPr lang="en-US" altLang="zh-CN" sz="1200" b="0" i="0">
                <a:solidFill>
                  <a:srgbClr val="2C2C36"/>
                </a:solidFill>
                <a:effectLst/>
                <a:latin typeface="-apple-system"/>
              </a:rPr>
              <a:t>OLS)</a:t>
            </a:r>
            <a:r>
              <a:rPr lang="zh-CN" altLang="en-US" sz="1200" b="0" i="0">
                <a:solidFill>
                  <a:srgbClr val="2C2C36"/>
                </a:solidFill>
                <a:effectLst/>
                <a:latin typeface="-apple-system"/>
              </a:rPr>
              <a:t>或者其他方法估计模型参数 </a:t>
            </a:r>
            <a:r>
              <a:rPr lang="en-US" altLang="zh-CN" sz="1200" b="0" i="0">
                <a:solidFill>
                  <a:srgbClr val="2C2C36"/>
                </a:solidFill>
                <a:effectLst/>
                <a:latin typeface="KaTeX_Main"/>
              </a:rPr>
              <a:t>a</a:t>
            </a:r>
            <a:r>
              <a:rPr lang="zh-CN" altLang="en-US" sz="1200" b="0" i="0">
                <a:solidFill>
                  <a:srgbClr val="2C2C36"/>
                </a:solidFill>
                <a:effectLst/>
                <a:latin typeface="-apple-system"/>
              </a:rPr>
              <a:t>和 </a:t>
            </a:r>
            <a:r>
              <a:rPr lang="en-US" altLang="zh-CN" sz="1200" b="0" i="0">
                <a:solidFill>
                  <a:srgbClr val="2C2C36"/>
                </a:solidFill>
                <a:effectLst/>
                <a:latin typeface="KaTeX_Main"/>
              </a:rPr>
              <a:t>b</a:t>
            </a:r>
            <a:endParaRPr lang="zh-CN" altLang="en-US" sz="1200"/>
          </a:p>
        </p:txBody>
      </p:sp>
      <p:sp>
        <p:nvSpPr>
          <p:cNvPr id="39" name="文本框 38">
            <a:extLst>
              <a:ext uri="{FF2B5EF4-FFF2-40B4-BE49-F238E27FC236}">
                <a16:creationId xmlns:a16="http://schemas.microsoft.com/office/drawing/2014/main" id="{3E1A6A4B-DD1F-7CFD-AE0B-1FE9C39C2AEF}"/>
              </a:ext>
            </a:extLst>
          </p:cNvPr>
          <p:cNvSpPr txBox="1"/>
          <p:nvPr/>
        </p:nvSpPr>
        <p:spPr>
          <a:xfrm>
            <a:off x="228599" y="4587429"/>
            <a:ext cx="1558636" cy="369332"/>
          </a:xfrm>
          <a:prstGeom prst="rect">
            <a:avLst/>
          </a:prstGeom>
          <a:noFill/>
        </p:spPr>
        <p:txBody>
          <a:bodyPr wrap="square">
            <a:spAutoFit/>
          </a:bodyPr>
          <a:lstStyle/>
          <a:p>
            <a:pPr algn="l"/>
            <a:r>
              <a:rPr lang="en-US" altLang="zh-CN" b="1" i="0">
                <a:solidFill>
                  <a:srgbClr val="2C2C36"/>
                </a:solidFill>
                <a:effectLst/>
                <a:latin typeface="-apple-system"/>
              </a:rPr>
              <a:t>4.</a:t>
            </a:r>
            <a:r>
              <a:rPr lang="zh-CN" altLang="en-US" b="1" i="0">
                <a:solidFill>
                  <a:srgbClr val="2C2C36"/>
                </a:solidFill>
                <a:effectLst/>
                <a:latin typeface="-apple-system"/>
              </a:rPr>
              <a:t> 模型检验</a:t>
            </a:r>
          </a:p>
        </p:txBody>
      </p:sp>
      <p:sp>
        <p:nvSpPr>
          <p:cNvPr id="41" name="文本框 40">
            <a:extLst>
              <a:ext uri="{FF2B5EF4-FFF2-40B4-BE49-F238E27FC236}">
                <a16:creationId xmlns:a16="http://schemas.microsoft.com/office/drawing/2014/main" id="{86225D48-FFA7-B75D-D480-8AB190A80384}"/>
              </a:ext>
            </a:extLst>
          </p:cNvPr>
          <p:cNvSpPr txBox="1"/>
          <p:nvPr/>
        </p:nvSpPr>
        <p:spPr>
          <a:xfrm>
            <a:off x="228599" y="4921143"/>
            <a:ext cx="3726873" cy="276999"/>
          </a:xfrm>
          <a:prstGeom prst="rect">
            <a:avLst/>
          </a:prstGeom>
          <a:noFill/>
        </p:spPr>
        <p:txBody>
          <a:bodyPr wrap="square">
            <a:spAutoFit/>
          </a:bodyPr>
          <a:lstStyle/>
          <a:p>
            <a:r>
              <a:rPr lang="zh-CN" altLang="en-US" sz="1200" b="0" i="0">
                <a:solidFill>
                  <a:srgbClr val="2C2C36"/>
                </a:solidFill>
                <a:effectLst/>
                <a:latin typeface="-apple-system"/>
              </a:rPr>
              <a:t>通常包括残差检验、关联度检验和后验差检验等</a:t>
            </a:r>
            <a:endParaRPr lang="zh-CN" altLang="en-US" sz="1200"/>
          </a:p>
        </p:txBody>
      </p:sp>
      <p:sp>
        <p:nvSpPr>
          <p:cNvPr id="43" name="文本框 42">
            <a:extLst>
              <a:ext uri="{FF2B5EF4-FFF2-40B4-BE49-F238E27FC236}">
                <a16:creationId xmlns:a16="http://schemas.microsoft.com/office/drawing/2014/main" id="{BF5703D1-A59D-C538-3DDE-15611B58C897}"/>
              </a:ext>
            </a:extLst>
          </p:cNvPr>
          <p:cNvSpPr txBox="1"/>
          <p:nvPr/>
        </p:nvSpPr>
        <p:spPr>
          <a:xfrm>
            <a:off x="228599" y="5203865"/>
            <a:ext cx="1198418" cy="369332"/>
          </a:xfrm>
          <a:prstGeom prst="rect">
            <a:avLst/>
          </a:prstGeom>
          <a:noFill/>
        </p:spPr>
        <p:txBody>
          <a:bodyPr wrap="square">
            <a:spAutoFit/>
          </a:bodyPr>
          <a:lstStyle/>
          <a:p>
            <a:pPr algn="l"/>
            <a:r>
              <a:rPr lang="en-US" altLang="zh-CN" b="1" i="0">
                <a:solidFill>
                  <a:srgbClr val="2C2C36"/>
                </a:solidFill>
                <a:effectLst/>
                <a:latin typeface="-apple-system"/>
              </a:rPr>
              <a:t>5.</a:t>
            </a:r>
            <a:r>
              <a:rPr lang="zh-CN" altLang="en-US" b="1" i="0">
                <a:solidFill>
                  <a:srgbClr val="2C2C36"/>
                </a:solidFill>
                <a:effectLst/>
                <a:latin typeface="-apple-system"/>
              </a:rPr>
              <a:t>预测</a:t>
            </a:r>
          </a:p>
        </p:txBody>
      </p:sp>
    </p:spTree>
    <p:extLst>
      <p:ext uri="{BB962C8B-B14F-4D97-AF65-F5344CB8AC3E}">
        <p14:creationId xmlns:p14="http://schemas.microsoft.com/office/powerpoint/2010/main" val="25995016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等线 Light"/>
        <a:ea typeface="楷体"/>
        <a:cs typeface=""/>
      </a:majorFont>
      <a:minorFont>
        <a:latin typeface="等线"/>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7600</TotalTime>
  <Words>12778</Words>
  <Application>Microsoft Office PowerPoint</Application>
  <PresentationFormat>宽屏</PresentationFormat>
  <Paragraphs>610</Paragraphs>
  <Slides>24</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5" baseType="lpstr">
      <vt:lpstr>-apple-system</vt:lpstr>
      <vt:lpstr>CommercialScript BT</vt:lpstr>
      <vt:lpstr>KaTeX_Main</vt:lpstr>
      <vt:lpstr>Menlo</vt:lpstr>
      <vt:lpstr>等线</vt:lpstr>
      <vt:lpstr>等线 Light</vt:lpstr>
      <vt:lpstr>方正粗黑宋简体</vt:lpstr>
      <vt:lpstr>楷体</vt:lpstr>
      <vt:lpstr>隶书</vt:lpstr>
      <vt:lpstr>三极泼墨体</vt:lpstr>
      <vt:lpstr>优设标题黑</vt:lpstr>
      <vt:lpstr>幼圆</vt:lpstr>
      <vt:lpstr>字由文艺黑</vt:lpstr>
      <vt:lpstr>Aharoni</vt:lpstr>
      <vt:lpstr>Arial</vt:lpstr>
      <vt:lpstr>Calibri</vt:lpstr>
      <vt:lpstr>Cambria Math</vt:lpstr>
      <vt:lpstr>Times New Roman</vt:lpstr>
      <vt:lpstr>Wingdings</vt:lpstr>
      <vt:lpstr>Office 主题​​</vt:lpstr>
      <vt:lpstr>AxMath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厚冰 张</dc:creator>
  <cp:lastModifiedBy>BLAIR</cp:lastModifiedBy>
  <cp:revision>35</cp:revision>
  <dcterms:created xsi:type="dcterms:W3CDTF">2024-07-28T06:29:06Z</dcterms:created>
  <dcterms:modified xsi:type="dcterms:W3CDTF">2025-08-11T08:56:35Z</dcterms:modified>
</cp:coreProperties>
</file>