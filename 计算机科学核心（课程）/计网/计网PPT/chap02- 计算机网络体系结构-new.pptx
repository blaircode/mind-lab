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65_A16E3A7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omments/modernComment_249_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  <p:sldMasterId id="2147483661" r:id="rId2"/>
    <p:sldMasterId id="2147483662" r:id="rId3"/>
    <p:sldMasterId id="2147483891" r:id="rId4"/>
  </p:sldMasterIdLst>
  <p:notesMasterIdLst>
    <p:notesMasterId r:id="rId33"/>
  </p:notesMasterIdLst>
  <p:handoutMasterIdLst>
    <p:handoutMasterId r:id="rId34"/>
  </p:handoutMasterIdLst>
  <p:sldIdLst>
    <p:sldId id="321" r:id="rId5"/>
    <p:sldId id="611" r:id="rId6"/>
    <p:sldId id="612" r:id="rId7"/>
    <p:sldId id="613" r:id="rId8"/>
    <p:sldId id="625" r:id="rId9"/>
    <p:sldId id="614" r:id="rId10"/>
    <p:sldId id="616" r:id="rId11"/>
    <p:sldId id="615" r:id="rId12"/>
    <p:sldId id="637" r:id="rId13"/>
    <p:sldId id="634" r:id="rId14"/>
    <p:sldId id="636" r:id="rId15"/>
    <p:sldId id="639" r:id="rId16"/>
    <p:sldId id="640" r:id="rId17"/>
    <p:sldId id="579" r:id="rId18"/>
    <p:sldId id="641" r:id="rId19"/>
    <p:sldId id="642" r:id="rId20"/>
    <p:sldId id="585" r:id="rId21"/>
    <p:sldId id="630" r:id="rId22"/>
    <p:sldId id="633" r:id="rId23"/>
    <p:sldId id="582" r:id="rId24"/>
    <p:sldId id="597" r:id="rId25"/>
    <p:sldId id="604" r:id="rId26"/>
    <p:sldId id="628" r:id="rId27"/>
    <p:sldId id="629" r:id="rId28"/>
    <p:sldId id="626" r:id="rId29"/>
    <p:sldId id="627" r:id="rId30"/>
    <p:sldId id="580" r:id="rId31"/>
    <p:sldId id="638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67253C-3F93-4BE5-C543-8F4FB1C2D3B5}" name="BLAIR" initials="B" userId="BLAI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5DA2"/>
    <a:srgbClr val="F8F8F8"/>
    <a:srgbClr val="78C444"/>
    <a:srgbClr val="9900FF"/>
    <a:srgbClr val="000092"/>
    <a:srgbClr val="66FF33"/>
    <a:srgbClr val="DDDDDD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1" autoAdjust="0"/>
    <p:restoredTop sz="94646" autoAdjust="0"/>
  </p:normalViewPr>
  <p:slideViewPr>
    <p:cSldViewPr>
      <p:cViewPr varScale="1">
        <p:scale>
          <a:sx n="41" d="100"/>
          <a:sy n="41" d="100"/>
        </p:scale>
        <p:origin x="56" y="11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omments/modernComment_24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03F8F3-F91A-4BEB-A2C2-902E154A1D2B}" authorId="{2867253C-3F93-4BE5-C543-8F4FB1C2D3B5}" created="2026-03-06T01:18:09.718">
    <pc:sldMkLst xmlns:pc="http://schemas.microsoft.com/office/powerpoint/2013/main/command">
      <pc:docMk/>
      <pc:sldMk cId="0" sldId="585"/>
    </pc:sldMkLst>
    <p188:replyLst>
      <p188:reply id="{63318320-F8F3-40F1-AF67-4E4BED33DE51}" authorId="{2867253C-3F93-4BE5-C543-8F4FB1C2D3B5}" created="2026-03-06T01:21:22.663">
        <p188:txBody>
          <a:bodyPr/>
          <a:lstStyle/>
          <a:p>
            <a:r>
              <a:rPr lang="zh-CN" altLang="en-US"/>
              <a:t>因为数据从上至下传递，应用发出，到传输包上TCP首部，到网络层，再包上IP首部。</a:t>
            </a:r>
          </a:p>
        </p188:txBody>
      </p188:reply>
    </p188:replyLst>
    <p188:txBody>
      <a:bodyPr/>
      <a:lstStyle/>
      <a:p>
        <a:r>
          <a:rPr lang="zh-CN" altLang="en-US"/>
          <a:t>为什么 IP数据报 = IP 首部 + TCP 报文段， 但是IP是网络层， TCP是运输层？加了首部的反而是下层。</a:t>
        </a:r>
      </a:p>
    </p188:txBody>
  </p188:cm>
</p188:cmLst>
</file>

<file path=ppt/comments/modernComment_265_A16E3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ADC650-1ED1-46B7-B36E-5D464E7D165E}" authorId="{2867253C-3F93-4BE5-C543-8F4FB1C2D3B5}" created="2026-03-06T00:27:43.944">
    <pc:sldMkLst xmlns:pc="http://schemas.microsoft.com/office/powerpoint/2013/main/command">
      <pc:docMk/>
      <pc:sldMk cId="169272231" sldId="613"/>
    </pc:sldMkLst>
    <p188:txBody>
      <a:bodyPr/>
      <a:lstStyle/>
      <a:p>
        <a:r>
          <a:rPr lang="zh-CN" altLang="en-US"/>
          <a:t>上层指挥下层， 如网络层路由，指挥数据链路层传输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A72ED1-F039-42EA-9F17-338393C2EB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98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6-18T04:32:15.142"/>
    </inkml:context>
    <inkml:brush xml:id="br0">
      <inkml:brushProperty name="width" value="0.21167" units="cm"/>
      <inkml:brushProperty name="height" value="0.21167" units="cm"/>
      <inkml:brushProperty name="color" value="#FF0000"/>
    </inkml:brush>
  </inkml:definitions>
  <inkml:trace contextRef="#ctx0" brushRef="#br0">10266 10089 0,'0'18'219,"0"17"-219,0-17 15,0 17 1,0 1-16,0-1 31,0-18-15,0 19-16,0-19 16,0 19-1,0-19-15,0 1 16,0 0-1,0-1 1,0 36 47,0-18-63,0-17 15,0 0-15,0-1 16,0 19-1,0 34 1,0-35 15,0 1-15,0-19 0,0 1-16,0 35 46,0-35-46,0-1 0,0 1 16,0-1 0,0 1-1,0 0 1,0-1-16,0 1 16,0 0-16,0 17 15,0-17 1,0 17-16,0-18 15,0 19 1,0 52 0,0-35 15,0-18 0,0-17-31,0 52 16,0-52-16,0 17 15,0 18 17,0-35-32,0 35 15,0-18 1,0 53 0,0-70-1,0 52-15,0-34 16,0-19-16,0 19 15,0 52 1,0-53 0,0 53-1,0-35-15,0 35 16,0-52-16,0 34 16,0-35-1,0 36 1,0-36-1,13 1 1,-13 69 0,0-34-1,0-18 1,13 35 0,-13-70-16,0 70 15,0-35 1,0 88-16,0-88 15,0 17 1,12 142 15,-12-159-31,0 88 16,0-70-16,0 87 31,0-87-31,13 52 0,-13-52 16,0 70-1,0-88 1,0 0-16,0 18 16,0 70-1,0-106-15,0 88 16,0-87 0,0 52-1,0 53 1,0-88-1,0 0-15,0-18 16,-13 36 0,1 17-1,12-35 1,0 53 0,0-71-1,0 53-15,0-70 16,-13 35-1,13-18-15,0 18 16,0-36 0,0 36-1,0-17 1,0-19 0,0 19-1,0-1-15,0 18 16,0-36-1,0 89 1,0-18 0,0-70-16,0 70 15,0-52 1,0-19 0,0 54 15,0-54-31,0 36 0,0-17 15,0 52 1,0-18 15,0-52-31,0 52 32,0-34-17,0-1 1,0 0-16,0 1 15,0 17 1,0 17 0,0 1 15,0-1-15,0-52-1,0 35 1,0-36-16,0 1 31,0 0-31,0-1 16,0 1 15,0 0-31,0-1 0,0 1 16,0 17-1,0 18 1,0 0 15,0-35-15,13 17-16,-13-17 15,0 17 1,0 35 15,0-34-31,0-19 16,0 36-1,12-18 17,-12-17-17,0 0-15,0 17 16,0-17-16,0-1 16,0 1-1,0 17-15,13-17 16,-13-1-1,0 1 1,0 0-16,0-1 16,0 19-1,0-19-15,0 19 16,0-19 0,13 19-1,0-19 16,-13 1-31,0-1 16,13-17 15,-13 36-15,0-19 0,12 1-1,-12 0 16,13-1-15,0 1 0,0 0-1,0-18 1,12 17 15,1 1 94,-13-18-109,0 17-16,0-17 15,12 0 1,1 18 0,-1-18-1,-12 18 17,0-18-32,0 0 15,0 0 32,0 0-47,12 0 16,1 0-16,-1 0 15,1 0 17,-13 0-32,0 0 15,12 0 1,1 0 15,25 0 0,-38 0-15,0 0-16,0 0 47,12 0-47,-12 0 15,0 0 1,13 0 0,-1 0-16,1 0 15,-13 0 17,0 0-1,0 0-16,-1 0 1,14 0-16,0 0 16,38 17-1,-26-17 1,1 18-16,12-18 16,-25 0-1,-14 0-15,14 0 47,-13 0-31,0 0-1,12 0 1,1-18-16,0 18 16,12 0-1,1 0 16,-27 0 16,1 0-47,0 0 0,0 0 16,13 0 0,-14 0-1,1 0 16,13 0-31,25 0 16,-38 0 0,13 0-1,-14 0-15,1-17 47,13 17-16,25 0-15,26 0 15,-51 0-31,-1 0 16,1 0 0,-13 0-16,0 0 31,0 0-31,25 0 0,-25 0 15,12 0 1,27 0 0,-1 0 15,0 0-15,-38 0-1,26 0 1,12 0 15,26-18-15,-51 18-1,25 0-15,-13 0 32,-25 0-1,26 0-31,12 0 31,-38 0-31,38 0 16,-13 0 15,-12 0-31,38 0 16,-51 0-1,77 0 1,-77 0-1,-1 0 1,1 0 31,0 0-31,0 0-16,13 0 15,-14 0 1,27 0-16,12 0 31,-25 0-15,-1 0 15,-12 0-31,0 0 16,0 0-1,25 0 1,-12 0-1,-13 0 1,0 0 62,-1 0-78,53 0 16,-53 0-1,78 0-15,-77 0 16,25 0 0,-25 0 15,0 0 78,13-18-109,-13 1 47,-1-1-47,-12 1 31,13-1 1,-13 0-32,13 18 15,-13-17 1,13-1 0,-13 0 15,13 1-16,-13-1 17,12 0-32,1 18 31,-13-17-31,0-1 16,0 1 15,13-1 0,-13-17-15,0-1-1,13 19 1,-13-54 15,0 36-15,0 0-16,0-36 15,0 53 1,13-52 0,-13-36 15,0 18-31,0 70 16,0-35-1,0 18 1,0 0-16,0 17 15,0-17 1,-13 17 0,13 0-1,0 1 1,-13-36 0,13 35-1,-13-52 1,0-18 15,13 70-31,0 0 16,0-17-1,-12 0 1,12 17 0,0 0-1,0 1-15,-13-1 16,13-17-1,0 17 1,0-17 0,0 17-1,0-17 17,-13-18-17,13 0 1,0 18-1,0 17 1,0 1 0,0-36-1,0 17 1,0 1 15,0 18-31,0-1 31,0 0-15,0 1-16,0-1 16,0 0-1,0 1-15,0-1 16,0-17 0,0 0-1,0 17-15,0-17 31,0 17-15,0-17 0,0-36-1,0 36 1,0-18 0,0 18-1,0-36 16,13 36-31,-13 17 16,0 1 0,0-1-16,0-17 47,0 17-47,0 0 0,13-17 15,-13 0 1,0 17-1,0-17 17,0-18-32,0 35 15,12-35 1,-12 36 0,0-1-16,0 0 15,0-17 1,0-18-1,0 36 1,0-19 0,0 1-16,0 0 15,0 0 1,13-36-16,-13 53 16,0-17-1,0 17 1,0-17-16,0 0 15,13 0 1,-13-1-16,0 1 16,0 17-1,13-35 17,-13 18-32,0 18 15,0-19 1,0 19-16,0-19 15,0 19 1,13-19-16,-13 19 16,0-1-1,0 1 1,0-19 0,0 19-16,0-1 15,0-17 16,0-1-31,0 19 16,0-54 0,0 54-1,0-36-15,0 35 16,13-17 0,-13-1-1,0 19-15,0-1 16,0-35-1,0 36-15,0-36 16,0 17 0,0-16-1,0 16-15,0-34 16,0 52 15,0 0-15,0-17-16,0-18 15,0 0 17,0 18-17,0 17 1,0-35 0,0 1 15,0 16-31,0 19 15,0-1 17,0 0-32,0 1 0,0-1 15,0 0 1,0 1 0,0-18-1,0 17-15,0-35 16,0 18 15,0-1-15,0 19-1,0-1 1,0 1 0,0-19-16,0 19 15,0-36 1,0 35-1,0 0 17,0 1-17,0-1 1,-13-35 15,13 36-31,0-19 16,0 19-16,-13-1 15,13 0 1,0 1 0,0-1-1,-13 0 1,13 1-16,0-18 47,0 17-47,0 0 31,0 1-31,0-1 16,0 0 15,0 1-15,0-1-1,0 0 1,0 1-16,0-18 15,0 17 1,0 0 0,0-17-1,0 0 1,0-1 15,0 19-31,0-19 16,0 1 15,0 18-15,0-1 15,0 0-31,0 1 16,0-19-1,0-52 16,0 53-15,0 17 15,0-17-15,0 17 0,0 1-1,0-1-15,0 0 16,0 1-1,0-1 1,0 1 0,0-1-1,0 0-15,0 1 32,0-1-17,0 0 1,0 1-1,0-1 1,0 0-16,0 1 16,0-1-16,0 0 15,0 1 1,0-1 0,0 1 15,0-1 0,0 0-15,0 1-1,0-1 17,0 0-32,0-35 46,0 18-46,0 18 16,0-19 15,0 19-31,0-1 16,0 0 15,0 1-31,-13-1 31,13 0 79,0 1-110,0-18 31,0 17 0,0-17-31,0 17 16,0-17 15,0 17-15,0-17-16,0 17 31,0-17 0,0 0-15,0 17 15,0 0-31,0-17 47,0 17-47,0 1 16,0-1 15,0 0-31,0 1 16,0-1 15,0 1-16,0-19-15,0 19 16,0-19 0,0 19-1,0-1-15,0-35 47,0 36-47,0-1 0,0 0 16,0 1-1,0-19 1,0 19 0,0-1 15,0 0-15,0 1-16,0-1 46,0 0-46,0 1 16,0-18 31,0 17-31,13 0-16,-13 1 15,0-19 32,0 19-47,0-1 0,0 0 16,0 1-16,0-1 15,0-35 1,0 36 15,0-1-15,0 0 203,0-17-188,0 0-16,0 17 1,0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6-18T04:32:15.142"/>
    </inkml:context>
    <inkml:brush xml:id="br0">
      <inkml:brushProperty name="width" value="0.21167" units="cm"/>
      <inkml:brushProperty name="height" value="0.21167" units="cm"/>
      <inkml:brushProperty name="color" value="#FF0000"/>
    </inkml:brush>
  </inkml:definitions>
  <inkml:trace contextRef="#ctx0" brushRef="#br0">10266 10089 0,'0'18'219,"0"17"-219,0-17 15,0 17 1,0 1-16,0-1 31,0-18-15,0 19-16,0-19 16,0 19-1,0-19-15,0 1 16,0 0-1,0-1 1,0 36 47,0-18-63,0-17 15,0 0-15,0-1 16,0 19-1,0 34 1,0-35 15,0 1-15,0-19 0,0 1-16,0 35 46,0-35-46,0-1 0,0 1 16,0-1 0,0 1-1,0 0 1,0-1-16,0 1 16,0 0-16,0 17 15,0-17 1,0 17-16,0-18 15,0 19 1,0 52 0,0-35 15,0-18 0,0-17-31,0 52 16,0-52-16,0 17 15,0 18 17,0-35-32,0 35 15,0-18 1,0 53 0,0-70-1,0 52-15,0-34 16,0-19-16,0 19 15,0 52 1,0-53 0,0 53-1,0-35-15,0 35 16,0-52-16,0 34 16,0-35-1,0 36 1,0-36-1,13 1 1,-13 69 0,0-34-1,0-18 1,13 35 0,-13-70-16,0 70 15,0-35 1,0 88-16,0-88 15,0 17 1,12 142 15,-12-159-31,0 88 16,0-70-16,0 87 31,0-87-31,13 52 0,-13-52 16,0 70-1,0-88 1,0 0-16,0 18 16,0 70-1,0-106-15,0 88 16,0-87 0,0 52-1,0 53 1,0-88-1,0 0-15,0-18 16,-13 36 0,1 17-1,12-35 1,0 53 0,0-71-1,0 53-15,0-70 16,-13 35-1,13-18-15,0 18 16,0-36 0,0 36-1,0-17 1,0-19 0,0 19-1,0-1-15,0 18 16,0-36-1,0 89 1,0-18 0,0-70-16,0 70 15,0-52 1,0-19 0,0 54 15,0-54-31,0 36 0,0-17 15,0 52 1,0-18 15,0-52-31,0 52 32,0-34-17,0-1 1,0 0-16,0 1 15,0 17 1,0 17 0,0 1 15,0-1-15,0-52-1,0 35 1,0-36-16,0 1 31,0 0-31,0-1 16,0 1 15,0 0-31,0-1 0,0 1 16,0 17-1,0 18 1,0 0 15,0-35-15,13 17-16,-13-17 15,0 17 1,0 35 15,0-34-31,0-19 16,0 36-1,12-18 17,-12-17-17,0 0-15,0 17 16,0-17-16,0-1 16,0 1-1,0 17-15,13-17 16,-13-1-1,0 1 1,0 0-16,0-1 16,0 19-1,0-19-15,0 19 16,0-19 0,13 19-1,0-19 16,-13 1-31,0-1 16,13-17 15,-13 36-15,0-19 0,12 1-1,-12 0 16,13-1-15,0 1 0,0 0-1,0-18 1,12 17 15,1 1 94,-13-18-109,0 17-16,0-17 15,12 0 1,1 18 0,-1-18-1,-12 18 17,0-18-32,0 0 15,0 0 32,0 0-47,12 0 16,1 0-16,-1 0 15,1 0 17,-13 0-32,0 0 15,12 0 1,1 0 15,25 0 0,-38 0-15,0 0-16,0 0 47,12 0-47,-12 0 15,0 0 1,13 0 0,-1 0-16,1 0 15,-13 0 17,0 0-1,0 0-16,-1 0 1,14 0-16,0 0 16,38 17-1,-26-17 1,1 18-16,12-18 16,-25 0-1,-14 0-15,14 0 47,-13 0-31,0 0-1,12 0 1,1-18-16,0 18 16,12 0-1,1 0 16,-27 0 16,1 0-47,0 0 0,0 0 16,13 0 0,-14 0-1,1 0 16,13 0-31,25 0 16,-38 0 0,13 0-1,-14 0-15,1-17 47,13 17-16,25 0-15,26 0 15,-51 0-31,-1 0 16,1 0 0,-13 0-16,0 0 31,0 0-31,25 0 0,-25 0 15,12 0 1,27 0 0,-1 0 15,0 0-15,-38 0-1,26 0 1,12 0 15,26-18-15,-51 18-1,25 0-15,-13 0 32,-25 0-1,26 0-31,12 0 31,-38 0-31,38 0 16,-13 0 15,-12 0-31,38 0 16,-51 0-1,77 0 1,-77 0-1,-1 0 1,1 0 31,0 0-31,0 0-16,13 0 15,-14 0 1,27 0-16,12 0 31,-25 0-15,-1 0 15,-12 0-31,0 0 16,0 0-1,25 0 1,-12 0-1,-13 0 1,0 0 62,-1 0-78,53 0 16,-53 0-1,78 0-15,-77 0 16,25 0 0,-25 0 15,0 0 78,13-18-109,-13 1 47,-1-1-47,-12 1 31,13-1 1,-13 0-32,13 18 15,-13-17 1,13-1 0,-13 0 15,13 1-16,-13-1 17,12 0-32,1 18 31,-13-17-31,0-1 16,0 1 15,13-1 0,-13-17-15,0-1-1,13 19 1,-13-54 15,0 36-15,0 0-16,0-36 15,0 53 1,13-52 0,-13-36 15,0 18-31,0 70 16,0-35-1,0 18 1,0 0-16,0 17 15,0-17 1,-13 17 0,13 0-1,0 1 1,-13-36 0,13 35-1,-13-52 1,0-18 15,13 70-31,0 0 16,0-17-1,-12 0 1,12 17 0,0 0-1,0 1-15,-13-1 16,13-17-1,0 17 1,0-17 0,0 17-1,0-17 17,-13-18-17,13 0 1,0 18-1,0 17 1,0 1 0,0-36-1,0 17 1,0 1 15,0 18-31,0-1 31,0 0-15,0 1-16,0-1 16,0 0-1,0 1-15,0-1 16,0-17 0,0 0-1,0 17-15,0-17 31,0 17-15,0-17 0,0-36-1,0 36 1,0-18 0,0 18-1,0-36 16,13 36-31,-13 17 16,0 1 0,0-1-16,0-17 47,0 17-47,0 0 0,13-17 15,-13 0 1,0 17-1,0-17 17,0-18-32,0 35 15,12-35 1,-12 36 0,0-1-16,0 0 15,0-17 1,0-18-1,0 36 1,0-19 0,0 1-16,0 0 15,0 0 1,13-36-16,-13 53 16,0-17-1,0 17 1,0-17-16,0 0 15,13 0 1,-13-1-16,0 1 16,0 17-1,13-35 17,-13 18-32,0 18 15,0-19 1,0 19-16,0-19 15,0 19 1,13-19-16,-13 19 16,0-1-1,0 1 1,0-19 0,0 19-16,0-1 15,0-17 16,0-1-31,0 19 16,0-54 0,0 54-1,0-36-15,0 35 16,13-17 0,-13-1-1,0 19-15,0-1 16,0-35-1,0 36-15,0-36 16,0 17 0,0-16-1,0 16-15,0-34 16,0 52 15,0 0-15,0-17-16,0-18 15,0 0 17,0 18-17,0 17 1,0-35 0,0 1 15,0 16-31,0 19 15,0-1 17,0 0-32,0 1 0,0-1 15,0 0 1,0 1 0,0-18-1,0 17-15,0-35 16,0 18 15,0-1-15,0 19-1,0-1 1,0 1 0,0-19-16,0 19 15,0-36 1,0 35-1,0 0 17,0 1-17,0-1 1,-13-35 15,13 36-31,0-19 16,0 19-16,-13-1 15,13 0 1,0 1 0,0-1-1,-13 0 1,13 1-16,0-18 47,0 17-47,0 0 31,0 1-31,0-1 16,0 0 15,0 1-15,0-1-1,0 0 1,0 1-16,0-18 15,0 17 1,0 0 0,0-17-1,0 0 1,0-1 15,0 19-31,0-19 16,0 1 15,0 18-15,0-1 15,0 0-31,0 1 16,0-19-1,0-52 16,0 53-15,0 17 15,0-17-15,0 17 0,0 1-1,0-1-15,0 0 16,0 1-1,0-1 1,0 1 0,0-1-1,0 0-15,0 1 32,0-1-17,0 0 1,0 1-1,0-1 1,0 0-16,0 1 16,0-1-16,0 0 15,0 1 1,0-1 0,0 1 15,0-1 0,0 0-15,0 1-1,0-1 17,0 0-32,0-35 46,0 18-46,0 18 16,0-19 15,0 19-31,0-1 16,0 0 15,0 1-31,-13-1 31,13 0 79,0 1-110,0-18 31,0 17 0,0-17-31,0 17 16,0-17 15,0 17-15,0-17-16,0 17 31,0-17 0,0 0-15,0 17 15,0 0-31,0-17 47,0 17-47,0 1 16,0-1 15,0 0-31,0 1 16,0-1 15,0 1-16,0-19-15,0 19 16,0-19 0,0 19-1,0-1-15,0-35 47,0 36-47,0-1 0,0 0 16,0 1-1,0-19 1,0 19 0,0-1 15,0 0-15,0 1-16,0-1 46,0 0-46,0 1 16,0-18 31,0 17-31,13 0-16,-13 1 15,0-19 32,0 19-47,0-1 0,0 0 16,0 1-16,0-1 15,0-35 1,0 36 15,0-1-15,0 0 203,0-17-188,0 0-16,0 17 1,0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3A7B563-9C41-4C34-889A-B0708FF727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8969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99798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2355377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2376461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1248172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2492916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565278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3550119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2478680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2026/3/11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598733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1231110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3865828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97F2E3-3FC3-4360-AFFC-B0CAC1D7D008}" type="datetime1">
              <a:rPr lang="zh-CN" altLang="en-US" smtClean="0"/>
              <a:pPr>
                <a:spcBef>
                  <a:spcPct val="0"/>
                </a:spcBef>
              </a:pPr>
              <a:t>2026/3/10</a:t>
            </a:fld>
            <a:endParaRPr lang="en-US" altLang="zh-CN"/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8168A5-ED58-43CD-B6BA-188DFB4438EB}" type="slidenum">
              <a:rPr lang="zh-CN" altLang="en-US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常见的几种计算机网络类型</a:t>
            </a:r>
          </a:p>
        </p:txBody>
      </p:sp>
    </p:spTree>
    <p:extLst>
      <p:ext uri="{BB962C8B-B14F-4D97-AF65-F5344CB8AC3E}">
        <p14:creationId xmlns:p14="http://schemas.microsoft.com/office/powerpoint/2010/main" val="3580117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007533" y="1547814"/>
            <a:ext cx="103632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503085" y="260350"/>
            <a:ext cx="374438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F7F7F7"/>
                </a:solidFill>
                <a:ea typeface="楷体_GB2312" pitchFamily="49" charset="-122"/>
              </a:rPr>
              <a:t>计算机与信息学院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6640514"/>
            <a:ext cx="12192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河海大学计算机与信息学院计算机科学与技术系</a:t>
            </a:r>
            <a:endParaRPr kumimoji="1" lang="en-US" altLang="zh-CN" sz="1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8" name="Picture 8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0"/>
            <a:ext cx="297603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2580237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73897854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6151892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31305776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4896812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0486537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715066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0710888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9678546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7227951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311824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70948919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71649625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8CAAF-55E5-4622-96B3-4D1BCC04F3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702810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30D81-9B4D-4764-9750-CC68DECA7A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5754973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B24F1-5B9C-4A83-B0D4-669BC78DBB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4346832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55BA2-8D8D-45AC-8EFB-97AB13CC85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6973955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2122A-4701-49EB-B1D7-71C51AE34C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860421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66677-70A1-410C-B580-AA9548B223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192114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FCC6F-7FBF-4D2C-9FD0-EA1DB8A75D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2711173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4107D-4A54-41F3-8734-B1EB98EB42F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5284935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3CBEE-7B53-4EBA-BC49-1A89F7FCD9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368394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47C92-FDE3-40D8-B9FD-2A694A681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1165379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A5DBB-B473-4AC9-AE9D-7002FFE9E6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335487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167066-BA92-47A1-9432-B8971F380E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341520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3B576-425D-4232-8C7B-88B61FDF03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7007079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6DF82-84D9-4F51-9B7E-22F6BB81A2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1917931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ABFC2-D7ED-4B35-9BB2-0D2631C17D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590646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7287D-CD06-4C12-8A7D-ACA95DC008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762986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A4C55-713D-458D-8D06-13D321763F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37244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4AF05-4620-43CA-9976-438B825F46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688202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9B5C3-586A-4163-94EE-2D10CD93E3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0919892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67890-4E90-4FC0-923D-EC79A9B1D1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6325162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44824-1E34-42A7-B729-D5DAFA83DC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6026464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CA6B2-78D2-42B2-BEA6-728BE2416C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955748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6909D05-1F56-4FE5-B478-DC56BDBCB181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CE08BFE-B769-4558-A2CE-6B06242F0A94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河海大学校徽">
            <a:extLst>
              <a:ext uri="{FF2B5EF4-FFF2-40B4-BE49-F238E27FC236}">
                <a16:creationId xmlns:a16="http://schemas.microsoft.com/office/drawing/2014/main" id="{8CE55457-9F45-497D-AAAB-03B7ED056B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2424" y="44624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E4871D3-F7AC-475A-B80F-12E931CB10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2504" y="116632"/>
            <a:ext cx="1233094" cy="5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38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34F2A23-E848-44E3-A809-D4EC31092663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C3F6FBA-CE6D-4238-91A6-32AE1BBFDBEF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河海大学校徽">
            <a:extLst>
              <a:ext uri="{FF2B5EF4-FFF2-40B4-BE49-F238E27FC236}">
                <a16:creationId xmlns:a16="http://schemas.microsoft.com/office/drawing/2014/main" id="{690100F7-0D77-452F-A3F1-41E57C1A02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2424" y="44624"/>
            <a:ext cx="648072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2DD7F0-9E92-4EEC-AD28-38392E45A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2504" y="116632"/>
            <a:ext cx="1233094" cy="5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934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936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496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8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B2B8F0-0DCA-46EE-9AEB-D3331BAEAEEF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269820-531F-453C-8AE6-9D9EC683E87A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6882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0C55056-EE4B-4388-BB60-84EB29323704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6A88C7-A9EE-417E-9486-D72ED33F8DE0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4107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888DAC5-8D08-432D-BD73-05D871958FA2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A13B099-9111-4867-8390-F202600E25CE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103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A7443DA-46FD-4B72-B802-DB3729BF38DF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EF39401-0B7C-4F51-8D8D-C37033D996AB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9846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C437E94-E7D3-487A-AA1F-F19ED5839229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3029DDF-C285-4D81-B26F-A67DB0B4B6F6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7108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D4F4-27DF-4927-8248-104E1E692B5D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859-E7BB-429E-AF38-5ACB67CD728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458A03A-BF2E-418F-9368-0202E68F34EB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D016609-8A3F-4A51-A3E4-4F7D100A7BBD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1962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06399647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5052005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06943" y="2420888"/>
            <a:ext cx="10678583" cy="5715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07479409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36D496-D0E1-41A2-B35A-24265F303FAD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F9EC79-48F3-4A28-9739-3DD9FEA5785E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8737582-4231-4354-8828-CBF359846930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5EEB52A-4AE7-4CD6-8FE6-202A914E7F00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47"/>
            </a:gs>
            <a:gs pos="100000">
              <a:srgbClr val="0000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41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41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41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FC089B3-FCBB-481C-81F2-1F56E2F29B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5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4" r:id="rId12"/>
    <p:sldLayoutId id="2147483905" r:id="rId13"/>
    <p:sldLayoutId id="214748390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65_A16E3A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jpe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4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4.png"/><Relationship Id="rId5" Type="http://schemas.openxmlformats.org/officeDocument/2006/relationships/customXml" Target="../ink/ink2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8/10/relationships/comments" Target="../comments/modernComment_249_0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CCBE65C-CE55-4411-8993-DFFDBF9F92A9}"/>
              </a:ext>
            </a:extLst>
          </p:cNvPr>
          <p:cNvSpPr txBox="1"/>
          <p:nvPr/>
        </p:nvSpPr>
        <p:spPr>
          <a:xfrm>
            <a:off x="3359696" y="1628800"/>
            <a:ext cx="52565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en-US" sz="4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体系结构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16BA05-A582-4B60-AC51-B735045A2CDC}"/>
              </a:ext>
            </a:extLst>
          </p:cNvPr>
          <p:cNvSpPr txBox="1"/>
          <p:nvPr/>
        </p:nvSpPr>
        <p:spPr>
          <a:xfrm>
            <a:off x="3359696" y="2924944"/>
            <a:ext cx="7920880" cy="19418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1.计算机网络分层结构     </a:t>
            </a:r>
            <a:endParaRPr lang="en-US" altLang="zh-CN" dirty="0"/>
          </a:p>
          <a:p>
            <a:r>
              <a:rPr lang="zh-CN" altLang="en-US" dirty="0"/>
              <a:t>2.计算机网络协议、接口、服务等概念    </a:t>
            </a:r>
            <a:endParaRPr lang="en-US" altLang="zh-CN" dirty="0"/>
          </a:p>
          <a:p>
            <a:r>
              <a:rPr lang="zh-CN" altLang="en-US" dirty="0"/>
              <a:t>3.ISO/OSI参考模型和 TCP/IP 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9AFB8A6-D1AC-4811-A56C-B626B2DC6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35" y="165284"/>
            <a:ext cx="8135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物流分层次的体系结构</a:t>
            </a:r>
            <a:endParaRPr kumimoji="1" lang="zh-CN" altLang="en-US" sz="3200" b="1" dirty="0">
              <a:solidFill>
                <a:srgbClr val="0066FF"/>
              </a:solidFill>
              <a:ea typeface="黑体" panose="02010609060101010101" pitchFamily="49" charset="-122"/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218CAB84-5006-4CB2-A9F5-6181051DE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9" y="4811750"/>
            <a:ext cx="2258522" cy="120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2">
            <a:extLst>
              <a:ext uri="{FF2B5EF4-FFF2-40B4-BE49-F238E27FC236}">
                <a16:creationId xmlns:a16="http://schemas.microsoft.com/office/drawing/2014/main" id="{AE8C8484-C916-40D5-8012-DEEF2E801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0" y="2742208"/>
            <a:ext cx="2258522" cy="94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4">
            <a:extLst>
              <a:ext uri="{FF2B5EF4-FFF2-40B4-BE49-F238E27FC236}">
                <a16:creationId xmlns:a16="http://schemas.microsoft.com/office/drawing/2014/main" id="{8F39C91A-8839-45B3-8193-4A7ADED0B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307" y="1648104"/>
            <a:ext cx="756084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5">
            <a:extLst>
              <a:ext uri="{FF2B5EF4-FFF2-40B4-BE49-F238E27FC236}">
                <a16:creationId xmlns:a16="http://schemas.microsoft.com/office/drawing/2014/main" id="{70D862F9-0176-448C-8461-74B1FFFB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578" y="164526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信息服务</a:t>
            </a:r>
          </a:p>
        </p:txBody>
      </p:sp>
      <p:sp>
        <p:nvSpPr>
          <p:cNvPr id="9" name="矩形 35">
            <a:extLst>
              <a:ext uri="{FF2B5EF4-FFF2-40B4-BE49-F238E27FC236}">
                <a16:creationId xmlns:a16="http://schemas.microsoft.com/office/drawing/2014/main" id="{ED80CAA5-590A-4BF4-B6A2-263F579D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578" y="2221528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快递服务</a:t>
            </a:r>
          </a:p>
        </p:txBody>
      </p:sp>
      <p:sp>
        <p:nvSpPr>
          <p:cNvPr id="10" name="矩形 36">
            <a:extLst>
              <a:ext uri="{FF2B5EF4-FFF2-40B4-BE49-F238E27FC236}">
                <a16:creationId xmlns:a16="http://schemas.microsoft.com/office/drawing/2014/main" id="{A2759191-57C6-408E-A4EF-D29FD05F3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02" y="2885103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地址选择服务</a:t>
            </a:r>
          </a:p>
        </p:txBody>
      </p:sp>
      <p:sp>
        <p:nvSpPr>
          <p:cNvPr id="11" name="矩形 37">
            <a:extLst>
              <a:ext uri="{FF2B5EF4-FFF2-40B4-BE49-F238E27FC236}">
                <a16:creationId xmlns:a16="http://schemas.microsoft.com/office/drawing/2014/main" id="{E3E3D45D-59E0-4289-8CE7-9749F2292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578" y="356296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运输服务</a:t>
            </a:r>
          </a:p>
        </p:txBody>
      </p:sp>
      <p:pic>
        <p:nvPicPr>
          <p:cNvPr id="13" name="图片 8">
            <a:extLst>
              <a:ext uri="{FF2B5EF4-FFF2-40B4-BE49-F238E27FC236}">
                <a16:creationId xmlns:a16="http://schemas.microsoft.com/office/drawing/2014/main" id="{1886273E-5978-4B86-BFBD-E124B5CBF2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9" y="3761662"/>
            <a:ext cx="2258523" cy="97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" descr="d:\program files\360se6\User Data\temp\u=1787778281,1988735672&amp;fm=21&amp;gp=0.jpg">
            <a:extLst>
              <a:ext uri="{FF2B5EF4-FFF2-40B4-BE49-F238E27FC236}">
                <a16:creationId xmlns:a16="http://schemas.microsoft.com/office/drawing/2014/main" id="{E905A4A7-5353-49F8-B307-B55B7E53EF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1" r="15359"/>
          <a:stretch/>
        </p:blipFill>
        <p:spPr bwMode="auto">
          <a:xfrm rot="16200000">
            <a:off x="627903" y="962792"/>
            <a:ext cx="1125279" cy="2258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">
            <a:extLst>
              <a:ext uri="{FF2B5EF4-FFF2-40B4-BE49-F238E27FC236}">
                <a16:creationId xmlns:a16="http://schemas.microsoft.com/office/drawing/2014/main" id="{6082A204-057D-41AA-BC3F-F61A8616A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366" y="4899265"/>
            <a:ext cx="2258522" cy="120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2">
            <a:extLst>
              <a:ext uri="{FF2B5EF4-FFF2-40B4-BE49-F238E27FC236}">
                <a16:creationId xmlns:a16="http://schemas.microsoft.com/office/drawing/2014/main" id="{1E9C86FC-D244-45A8-836F-3C88DD03B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367" y="2829723"/>
            <a:ext cx="2258522" cy="94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8">
            <a:extLst>
              <a:ext uri="{FF2B5EF4-FFF2-40B4-BE49-F238E27FC236}">
                <a16:creationId xmlns:a16="http://schemas.microsoft.com/office/drawing/2014/main" id="{A4CFF49F-EEE2-4043-AFA7-517915583D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366" y="3849177"/>
            <a:ext cx="2258523" cy="97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0" descr="d:\program files\360se6\User Data\temp\u=1787778281,1988735672&amp;fm=21&amp;gp=0.jpg">
            <a:extLst>
              <a:ext uri="{FF2B5EF4-FFF2-40B4-BE49-F238E27FC236}">
                <a16:creationId xmlns:a16="http://schemas.microsoft.com/office/drawing/2014/main" id="{02E1CFF7-F22F-4BBE-9F13-FE535F4065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1" r="15359"/>
          <a:stretch/>
        </p:blipFill>
        <p:spPr bwMode="auto">
          <a:xfrm rot="16200000">
            <a:off x="10420990" y="1050307"/>
            <a:ext cx="1125279" cy="2258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9855EB0-710A-41BC-AD48-B8BC70417F7C}"/>
              </a:ext>
            </a:extLst>
          </p:cNvPr>
          <p:cNvCxnSpPr/>
          <p:nvPr/>
        </p:nvCxnSpPr>
        <p:spPr>
          <a:xfrm>
            <a:off x="2387307" y="1645264"/>
            <a:ext cx="0" cy="4251312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5272813-CB94-4782-86DF-0F33EF48914B}"/>
              </a:ext>
            </a:extLst>
          </p:cNvPr>
          <p:cNvCxnSpPr>
            <a:cxnSpLocks/>
          </p:cNvCxnSpPr>
          <p:nvPr/>
        </p:nvCxnSpPr>
        <p:spPr>
          <a:xfrm flipV="1">
            <a:off x="9769973" y="1772816"/>
            <a:ext cx="0" cy="4191888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B879F573-25F8-4DE9-9BB0-BFED212B5E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4592" y="1683683"/>
            <a:ext cx="578760" cy="69966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4D66080-6627-4860-B1DD-34BFCD9E82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8062" y="1555507"/>
            <a:ext cx="641407" cy="81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6821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375EA48-7E57-4ABC-9B74-FB984E53E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90523"/>
            <a:ext cx="43910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计算机网络的体系结构</a:t>
            </a:r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6EAE0CD2-997B-4BD0-9BB2-2A296761C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00" y="1852072"/>
            <a:ext cx="11466340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(1). 网络体系结构应该具有哪些层次，每个层次又负责哪些功能呢　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(分层与功能)　　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(2). 各个层次之间的关系是怎样的，它们又是如何进行交互的呢？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(服务与接口)　　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(3). 要想确保通信的双方能够达成高度默契，它们又需要遵循哪些规则呢？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(协议)</a:t>
            </a: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89C07685-6D61-41CB-B632-DEF2D8F9F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196752"/>
            <a:ext cx="1096770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计算机网络体系结构也采用了分层的思想。但是必须解决以下几个问题：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D90C38F8-6ADD-4990-BC81-8F379B6D4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00" y="4121635"/>
            <a:ext cx="11322324" cy="129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-apple-system"/>
              </a:rPr>
              <a:t>在计算机网络中，层、层间接口及协议的集合被称为计算机网络体系结构。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42628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12C42613-A15D-4CBC-B732-E77217B73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3946" y="116632"/>
            <a:ext cx="4103688" cy="584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668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240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9812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4384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ISO</a:t>
            </a:r>
            <a:r>
              <a:rPr lang="zh-CN" altLang="en-US" sz="3200" b="1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sz="3200" b="1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OSI</a:t>
            </a:r>
            <a:r>
              <a:rPr lang="zh-CN" altLang="en-US" sz="3200" b="1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参考模型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522812-E4D9-4F21-81EA-985F723EF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4" y="1628800"/>
            <a:ext cx="2814302" cy="50338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42F697C-FAB3-4B10-94C8-F13E7CFC3A4C}"/>
              </a:ext>
            </a:extLst>
          </p:cNvPr>
          <p:cNvSpPr txBox="1"/>
          <p:nvPr/>
        </p:nvSpPr>
        <p:spPr>
          <a:xfrm>
            <a:off x="3503712" y="6022104"/>
            <a:ext cx="3888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如何在介质中传输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132C4C-3639-4D01-95A4-5DC779C63294}"/>
              </a:ext>
            </a:extLst>
          </p:cNvPr>
          <p:cNvSpPr txBox="1"/>
          <p:nvPr/>
        </p:nvSpPr>
        <p:spPr>
          <a:xfrm>
            <a:off x="3503712" y="5315207"/>
            <a:ext cx="73677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实现相邻两个结点之间的链路上的</a:t>
            </a:r>
            <a:r>
              <a:rPr lang="zh-CN" altLang="en-US" sz="2400" b="1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点到点数据传输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74A0BC-188A-4B90-A958-949894BD518A}"/>
              </a:ext>
            </a:extLst>
          </p:cNvPr>
          <p:cNvSpPr txBox="1"/>
          <p:nvPr/>
        </p:nvSpPr>
        <p:spPr>
          <a:xfrm>
            <a:off x="3498574" y="4645012"/>
            <a:ext cx="8064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实现源结点到目的结点（由多段链路组成）的数据传输。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F11DAB-30CE-4BB4-9BD1-C4BC30DFB418}"/>
              </a:ext>
            </a:extLst>
          </p:cNvPr>
          <p:cNvSpPr txBox="1"/>
          <p:nvPr/>
        </p:nvSpPr>
        <p:spPr>
          <a:xfrm>
            <a:off x="3498574" y="3974817"/>
            <a:ext cx="6935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实现两个进程之间的通信，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也称为</a:t>
            </a:r>
            <a:r>
              <a:rPr lang="zh-CN" altLang="en-US" sz="2400" b="1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端到端通信。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EE70B9-4A0A-4BC7-B657-6AB6F4ABDE3C}"/>
              </a:ext>
            </a:extLst>
          </p:cNvPr>
          <p:cNvSpPr txBox="1"/>
          <p:nvPr/>
        </p:nvSpPr>
        <p:spPr>
          <a:xfrm>
            <a:off x="3575720" y="3243067"/>
            <a:ext cx="2814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数据表示和处理。</a:t>
            </a:r>
            <a:endParaRPr lang="zh-CN" altLang="en-US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466E48B-DE0F-45B4-9D28-F7D3CABA3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727" y="884456"/>
            <a:ext cx="4871864" cy="3090361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1292324-AF1A-49C2-9F83-7AE3ED28C9C3}"/>
              </a:ext>
            </a:extLst>
          </p:cNvPr>
          <p:cNvCxnSpPr/>
          <p:nvPr/>
        </p:nvCxnSpPr>
        <p:spPr>
          <a:xfrm>
            <a:off x="3498574" y="1700808"/>
            <a:ext cx="0" cy="2003924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F423AE8-89DC-9E01-7278-CCCC46DF19B4}"/>
              </a:ext>
            </a:extLst>
          </p:cNvPr>
          <p:cNvSpPr/>
          <p:nvPr/>
        </p:nvSpPr>
        <p:spPr>
          <a:xfrm>
            <a:off x="407368" y="4436482"/>
            <a:ext cx="11017224" cy="2304886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D77E70-FBF4-7FA8-343D-F0102A6A9AE0}"/>
              </a:ext>
            </a:extLst>
          </p:cNvPr>
          <p:cNvSpPr txBox="1"/>
          <p:nvPr/>
        </p:nvSpPr>
        <p:spPr>
          <a:xfrm>
            <a:off x="2374282" y="3728596"/>
            <a:ext cx="1170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</a:rPr>
              <a:t>送到哪个进程</a:t>
            </a:r>
          </a:p>
        </p:txBody>
      </p:sp>
    </p:spTree>
    <p:extLst>
      <p:ext uri="{BB962C8B-B14F-4D97-AF65-F5344CB8AC3E}">
        <p14:creationId xmlns:p14="http://schemas.microsoft.com/office/powerpoint/2010/main" val="169272231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9591279-75F6-439B-9F7D-49851C6D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268760"/>
            <a:ext cx="11665296" cy="48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8431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B2AA4A18-D1A3-43F2-9A29-981754FCDFB6}"/>
              </a:ext>
            </a:extLst>
          </p:cNvPr>
          <p:cNvSpPr txBox="1">
            <a:spLocks noChangeArrowheads="1"/>
          </p:cNvSpPr>
          <p:nvPr/>
        </p:nvSpPr>
        <p:spPr>
          <a:xfrm>
            <a:off x="119336" y="260648"/>
            <a:ext cx="10668000" cy="5117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1" lang="en-US" altLang="zh-CN" sz="2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TCP/IP</a:t>
            </a:r>
            <a:r>
              <a:rPr kumimoji="1" lang="zh-CN" altLang="en-US" sz="2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的体系结构主要协议</a:t>
            </a:r>
          </a:p>
        </p:txBody>
      </p:sp>
      <p:sp>
        <p:nvSpPr>
          <p:cNvPr id="39" name="Text Box 20">
            <a:extLst>
              <a:ext uri="{FF2B5EF4-FFF2-40B4-BE49-F238E27FC236}">
                <a16:creationId xmlns:a16="http://schemas.microsoft.com/office/drawing/2014/main" id="{3652BBDF-0E3B-4DA8-9E4A-E4CDF8E4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277" y="1674812"/>
            <a:ext cx="388624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TCP/IP</a:t>
            </a:r>
            <a:r>
              <a:rPr kumimoji="1"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模型和</a:t>
            </a:r>
            <a:r>
              <a:rPr kumimoji="1"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OSI/RM</a:t>
            </a:r>
            <a:r>
              <a:rPr kumimoji="1"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的重要区别：</a:t>
            </a:r>
            <a:endParaRPr kumimoji="1"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OSI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参考模型在网络层支持无连接和面向连接的通信，但在传输层仅仅有面向连接的通信。而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TCP/IP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模型认为可靠性是端到端的问题，因此它在网络层仅有一种无连接的通信模式，但是传输层支持无连接和面向连接两种模式。</a:t>
            </a: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6FF3AFFD-CCA6-0C20-1862-F748F546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1674812"/>
            <a:ext cx="8181541" cy="43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1215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9630A6EE-D5C4-4885-A98F-E6405DEC6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73676D-5352-416B-A72A-4F63F1E50030}"/>
              </a:ext>
            </a:extLst>
          </p:cNvPr>
          <p:cNvSpPr txBox="1"/>
          <p:nvPr/>
        </p:nvSpPr>
        <p:spPr>
          <a:xfrm>
            <a:off x="286881" y="164547"/>
            <a:ext cx="3432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常见的三种体系结构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DD2A96-65F1-49DF-B170-E5920303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1120398"/>
            <a:ext cx="9721080" cy="55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72943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9630A6EE-D5C4-4885-A98F-E6405DEC6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0687E4-1390-4FC9-A3E5-934CE3084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7990"/>
            <a:ext cx="12192000" cy="557968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C225410-E4F9-4F73-8D41-88ED29F58933}"/>
              </a:ext>
            </a:extLst>
          </p:cNvPr>
          <p:cNvCxnSpPr/>
          <p:nvPr/>
        </p:nvCxnSpPr>
        <p:spPr>
          <a:xfrm>
            <a:off x="2495600" y="2852936"/>
            <a:ext cx="0" cy="345638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697EBFA-0B29-4B60-989C-A4B9621EA987}"/>
              </a:ext>
            </a:extLst>
          </p:cNvPr>
          <p:cNvCxnSpPr>
            <a:cxnSpLocks/>
          </p:cNvCxnSpPr>
          <p:nvPr/>
        </p:nvCxnSpPr>
        <p:spPr>
          <a:xfrm>
            <a:off x="7896200" y="4509120"/>
            <a:ext cx="0" cy="187220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E9811E3-D8B2-4AAD-BD07-DCA41486F23D}"/>
              </a:ext>
            </a:extLst>
          </p:cNvPr>
          <p:cNvCxnSpPr>
            <a:cxnSpLocks/>
          </p:cNvCxnSpPr>
          <p:nvPr/>
        </p:nvCxnSpPr>
        <p:spPr>
          <a:xfrm flipV="1">
            <a:off x="9768408" y="2852936"/>
            <a:ext cx="0" cy="347319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5E1CC05-474E-49E9-8497-5A44BA7B6FFB}"/>
              </a:ext>
            </a:extLst>
          </p:cNvPr>
          <p:cNvCxnSpPr>
            <a:cxnSpLocks/>
          </p:cNvCxnSpPr>
          <p:nvPr/>
        </p:nvCxnSpPr>
        <p:spPr>
          <a:xfrm flipV="1">
            <a:off x="4439816" y="4401108"/>
            <a:ext cx="0" cy="190821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757EEF7-F336-46E2-B1BE-E00DA6F482FC}"/>
              </a:ext>
            </a:extLst>
          </p:cNvPr>
          <p:cNvCxnSpPr>
            <a:cxnSpLocks/>
          </p:cNvCxnSpPr>
          <p:nvPr/>
        </p:nvCxnSpPr>
        <p:spPr>
          <a:xfrm>
            <a:off x="7896200" y="6367019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55D16C6-2F5A-403F-A1E1-A93C7369B7CA}"/>
              </a:ext>
            </a:extLst>
          </p:cNvPr>
          <p:cNvCxnSpPr>
            <a:cxnSpLocks/>
          </p:cNvCxnSpPr>
          <p:nvPr/>
        </p:nvCxnSpPr>
        <p:spPr>
          <a:xfrm>
            <a:off x="2495600" y="6309320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E80B8AF-8AB5-44FC-BA06-76641DF7F0F2}"/>
              </a:ext>
            </a:extLst>
          </p:cNvPr>
          <p:cNvSpPr txBox="1"/>
          <p:nvPr/>
        </p:nvSpPr>
        <p:spPr>
          <a:xfrm>
            <a:off x="263352" y="1746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en-US" altLang="zh-CN" dirty="0"/>
              <a:t>TCP/IP</a:t>
            </a:r>
            <a:r>
              <a:rPr lang="zh-CN" altLang="en-US" dirty="0"/>
              <a:t>模型的数据传输的概要过程</a:t>
            </a:r>
          </a:p>
        </p:txBody>
      </p:sp>
    </p:spTree>
    <p:extLst>
      <p:ext uri="{BB962C8B-B14F-4D97-AF65-F5344CB8AC3E}">
        <p14:creationId xmlns:p14="http://schemas.microsoft.com/office/powerpoint/2010/main" val="93868483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9630A6EE-D5C4-4885-A98F-E6405DEC6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0687E4-1390-4FC9-A3E5-934CE3084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7990"/>
            <a:ext cx="12192000" cy="557968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C225410-E4F9-4F73-8D41-88ED29F58933}"/>
              </a:ext>
            </a:extLst>
          </p:cNvPr>
          <p:cNvCxnSpPr/>
          <p:nvPr/>
        </p:nvCxnSpPr>
        <p:spPr>
          <a:xfrm>
            <a:off x="2495600" y="2852936"/>
            <a:ext cx="0" cy="345638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697EBFA-0B29-4B60-989C-A4B9621EA987}"/>
              </a:ext>
            </a:extLst>
          </p:cNvPr>
          <p:cNvCxnSpPr>
            <a:cxnSpLocks/>
          </p:cNvCxnSpPr>
          <p:nvPr/>
        </p:nvCxnSpPr>
        <p:spPr>
          <a:xfrm>
            <a:off x="7896200" y="4509120"/>
            <a:ext cx="0" cy="187220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E9811E3-D8B2-4AAD-BD07-DCA41486F23D}"/>
              </a:ext>
            </a:extLst>
          </p:cNvPr>
          <p:cNvCxnSpPr>
            <a:cxnSpLocks/>
          </p:cNvCxnSpPr>
          <p:nvPr/>
        </p:nvCxnSpPr>
        <p:spPr>
          <a:xfrm flipV="1">
            <a:off x="9768408" y="2852936"/>
            <a:ext cx="0" cy="347319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5E1CC05-474E-49E9-8497-5A44BA7B6FFB}"/>
              </a:ext>
            </a:extLst>
          </p:cNvPr>
          <p:cNvCxnSpPr>
            <a:cxnSpLocks/>
          </p:cNvCxnSpPr>
          <p:nvPr/>
        </p:nvCxnSpPr>
        <p:spPr>
          <a:xfrm flipV="1">
            <a:off x="4439816" y="4401108"/>
            <a:ext cx="0" cy="190821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757EEF7-F336-46E2-B1BE-E00DA6F482FC}"/>
              </a:ext>
            </a:extLst>
          </p:cNvPr>
          <p:cNvCxnSpPr>
            <a:cxnSpLocks/>
          </p:cNvCxnSpPr>
          <p:nvPr/>
        </p:nvCxnSpPr>
        <p:spPr>
          <a:xfrm>
            <a:off x="7896200" y="6367019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55D16C6-2F5A-403F-A1E1-A93C7369B7CA}"/>
              </a:ext>
            </a:extLst>
          </p:cNvPr>
          <p:cNvCxnSpPr>
            <a:cxnSpLocks/>
          </p:cNvCxnSpPr>
          <p:nvPr/>
        </p:nvCxnSpPr>
        <p:spPr>
          <a:xfrm>
            <a:off x="2495600" y="6309320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6" descr="https://gimg2.baidu.com/image_search/src=http%3A%2F%2Fimg-blog.csdnimg.cn%2F2021072717534586.png%3Fx-oss-process%3Dimage%2Fwatermark%2Ctype_ZmFuZ3poZW5naGVpdGk%2Cshadow_10%2Ctext_aHR0cHM6Ly9ibG9nLmNzZG4ubmV0L3lhbl8wOTE2%2Csize_16%2Ccolor_FFFFFF%2Ct_70&amp;refer=http%3A%2F%2Fimg-blog.csdnimg.cn&amp;app=2002&amp;size=f9999,10000&amp;q=a80&amp;n=0&amp;g=0n&amp;fmt=jpeg?sec=1647740950&amp;t=3321af3b313da176dcbde3e61ff30937">
            <a:extLst>
              <a:ext uri="{FF2B5EF4-FFF2-40B4-BE49-F238E27FC236}">
                <a16:creationId xmlns:a16="http://schemas.microsoft.com/office/drawing/2014/main" id="{2D29D8BE-D048-4CF3-A831-2671FAA78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-14533"/>
            <a:ext cx="4690391" cy="27169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7ECE4FE-6B40-4DB8-9F21-53678D0DC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66" y="2737780"/>
            <a:ext cx="4690387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4B7FBE3-E933-418D-B959-9C6F721980A0}"/>
              </a:ext>
            </a:extLst>
          </p:cNvPr>
          <p:cNvSpPr txBox="1"/>
          <p:nvPr/>
        </p:nvSpPr>
        <p:spPr>
          <a:xfrm>
            <a:off x="263352" y="1746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en-US" altLang="zh-CN" dirty="0"/>
              <a:t>TCP/IP</a:t>
            </a:r>
            <a:r>
              <a:rPr lang="zh-CN" altLang="en-US" dirty="0"/>
              <a:t>模型的数据传输的概要过程</a:t>
            </a:r>
          </a:p>
        </p:txBody>
      </p:sp>
    </p:spTree>
    <p:extLst>
      <p:ext uri="{BB962C8B-B14F-4D97-AF65-F5344CB8AC3E}">
        <p14:creationId xmlns:p14="http://schemas.microsoft.com/office/powerpoint/2010/main" val="49433574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9630A6EE-D5C4-4885-A98F-E6405DEC6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0687E4-1390-4FC9-A3E5-934CE3084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5506"/>
            <a:ext cx="12192000" cy="557968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C225410-E4F9-4F73-8D41-88ED29F58933}"/>
              </a:ext>
            </a:extLst>
          </p:cNvPr>
          <p:cNvCxnSpPr/>
          <p:nvPr/>
        </p:nvCxnSpPr>
        <p:spPr>
          <a:xfrm>
            <a:off x="2495600" y="2852936"/>
            <a:ext cx="0" cy="345638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697EBFA-0B29-4B60-989C-A4B9621EA987}"/>
              </a:ext>
            </a:extLst>
          </p:cNvPr>
          <p:cNvCxnSpPr>
            <a:cxnSpLocks/>
          </p:cNvCxnSpPr>
          <p:nvPr/>
        </p:nvCxnSpPr>
        <p:spPr>
          <a:xfrm>
            <a:off x="7896200" y="4509120"/>
            <a:ext cx="0" cy="187220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E9811E3-D8B2-4AAD-BD07-DCA41486F23D}"/>
              </a:ext>
            </a:extLst>
          </p:cNvPr>
          <p:cNvCxnSpPr>
            <a:cxnSpLocks/>
          </p:cNvCxnSpPr>
          <p:nvPr/>
        </p:nvCxnSpPr>
        <p:spPr>
          <a:xfrm flipV="1">
            <a:off x="9768408" y="2852936"/>
            <a:ext cx="0" cy="347319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5E1CC05-474E-49E9-8497-5A44BA7B6FFB}"/>
              </a:ext>
            </a:extLst>
          </p:cNvPr>
          <p:cNvCxnSpPr>
            <a:cxnSpLocks/>
          </p:cNvCxnSpPr>
          <p:nvPr/>
        </p:nvCxnSpPr>
        <p:spPr>
          <a:xfrm flipV="1">
            <a:off x="4439816" y="4401108"/>
            <a:ext cx="0" cy="190821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757EEF7-F336-46E2-B1BE-E00DA6F482FC}"/>
              </a:ext>
            </a:extLst>
          </p:cNvPr>
          <p:cNvCxnSpPr>
            <a:cxnSpLocks/>
          </p:cNvCxnSpPr>
          <p:nvPr/>
        </p:nvCxnSpPr>
        <p:spPr>
          <a:xfrm>
            <a:off x="7896200" y="6367019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55D16C6-2F5A-403F-A1E1-A93C7369B7CA}"/>
              </a:ext>
            </a:extLst>
          </p:cNvPr>
          <p:cNvCxnSpPr>
            <a:cxnSpLocks/>
          </p:cNvCxnSpPr>
          <p:nvPr/>
        </p:nvCxnSpPr>
        <p:spPr>
          <a:xfrm>
            <a:off x="2495600" y="6309320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13ADB8C-CA2B-4D8A-9CAC-52BE8CCBD281}"/>
              </a:ext>
            </a:extLst>
          </p:cNvPr>
          <p:cNvSpPr txBox="1"/>
          <p:nvPr/>
        </p:nvSpPr>
        <p:spPr>
          <a:xfrm>
            <a:off x="4802608" y="3448766"/>
            <a:ext cx="3042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交换结点根据分组中的目标地址进行转发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586F06-B541-42D8-A929-F6570B9C801A}"/>
              </a:ext>
            </a:extLst>
          </p:cNvPr>
          <p:cNvSpPr txBox="1"/>
          <p:nvPr/>
        </p:nvSpPr>
        <p:spPr>
          <a:xfrm>
            <a:off x="263352" y="1746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en-US" altLang="zh-CN" dirty="0"/>
              <a:t>TCP/IP</a:t>
            </a:r>
            <a:r>
              <a:rPr lang="zh-CN" altLang="en-US" dirty="0"/>
              <a:t>模型的数据传输的概要过程</a:t>
            </a:r>
          </a:p>
        </p:txBody>
      </p:sp>
    </p:spTree>
    <p:extLst>
      <p:ext uri="{BB962C8B-B14F-4D97-AF65-F5344CB8AC3E}">
        <p14:creationId xmlns:p14="http://schemas.microsoft.com/office/powerpoint/2010/main" val="2729539551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9630A6EE-D5C4-4885-A98F-E6405DEC6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0687E4-1390-4FC9-A3E5-934CE3084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7990"/>
            <a:ext cx="12192000" cy="557968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C225410-E4F9-4F73-8D41-88ED29F58933}"/>
              </a:ext>
            </a:extLst>
          </p:cNvPr>
          <p:cNvCxnSpPr/>
          <p:nvPr/>
        </p:nvCxnSpPr>
        <p:spPr>
          <a:xfrm>
            <a:off x="2495600" y="2852936"/>
            <a:ext cx="0" cy="345638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697EBFA-0B29-4B60-989C-A4B9621EA987}"/>
              </a:ext>
            </a:extLst>
          </p:cNvPr>
          <p:cNvCxnSpPr>
            <a:cxnSpLocks/>
          </p:cNvCxnSpPr>
          <p:nvPr/>
        </p:nvCxnSpPr>
        <p:spPr>
          <a:xfrm>
            <a:off x="7896200" y="4509120"/>
            <a:ext cx="0" cy="187220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E9811E3-D8B2-4AAD-BD07-DCA41486F23D}"/>
              </a:ext>
            </a:extLst>
          </p:cNvPr>
          <p:cNvCxnSpPr>
            <a:cxnSpLocks/>
          </p:cNvCxnSpPr>
          <p:nvPr/>
        </p:nvCxnSpPr>
        <p:spPr>
          <a:xfrm flipV="1">
            <a:off x="9768408" y="2852936"/>
            <a:ext cx="0" cy="347319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5E1CC05-474E-49E9-8497-5A44BA7B6FFB}"/>
              </a:ext>
            </a:extLst>
          </p:cNvPr>
          <p:cNvCxnSpPr>
            <a:cxnSpLocks/>
          </p:cNvCxnSpPr>
          <p:nvPr/>
        </p:nvCxnSpPr>
        <p:spPr>
          <a:xfrm flipV="1">
            <a:off x="4439816" y="4401108"/>
            <a:ext cx="0" cy="190821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757EEF7-F336-46E2-B1BE-E00DA6F482FC}"/>
              </a:ext>
            </a:extLst>
          </p:cNvPr>
          <p:cNvCxnSpPr>
            <a:cxnSpLocks/>
          </p:cNvCxnSpPr>
          <p:nvPr/>
        </p:nvCxnSpPr>
        <p:spPr>
          <a:xfrm>
            <a:off x="7896200" y="6367019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55D16C6-2F5A-403F-A1E1-A93C7369B7CA}"/>
              </a:ext>
            </a:extLst>
          </p:cNvPr>
          <p:cNvCxnSpPr>
            <a:cxnSpLocks/>
          </p:cNvCxnSpPr>
          <p:nvPr/>
        </p:nvCxnSpPr>
        <p:spPr>
          <a:xfrm>
            <a:off x="2495600" y="6309320"/>
            <a:ext cx="187220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ECE4FE-6B40-4DB8-9F21-53678D0DC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4" y="10322"/>
            <a:ext cx="1354246" cy="1223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22FF7E-F9CC-4911-B09E-1A3539C45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60" y="-21340"/>
            <a:ext cx="4626158" cy="27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9400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085" y="3140719"/>
            <a:ext cx="3528392" cy="334515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669" y="3113988"/>
            <a:ext cx="3528392" cy="3345154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 bwMode="auto">
          <a:xfrm>
            <a:off x="3381901" y="2902328"/>
            <a:ext cx="16035" cy="47678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>
          <a:xfrm>
            <a:off x="7839585" y="2095172"/>
            <a:ext cx="1579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Web</a:t>
            </a:r>
            <a:r>
              <a:rPr kumimoji="1" lang="zh-CN" altLang="en-US" sz="2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服务器</a:t>
            </a:r>
            <a:endParaRPr lang="zh-CN" altLang="en-US" sz="2400" dirty="0"/>
          </a:p>
        </p:txBody>
      </p:sp>
      <p:cxnSp>
        <p:nvCxnSpPr>
          <p:cNvPr id="17" name="直接箭头连接符 16"/>
          <p:cNvCxnSpPr/>
          <p:nvPr/>
        </p:nvCxnSpPr>
        <p:spPr bwMode="auto">
          <a:xfrm>
            <a:off x="8684782" y="2636663"/>
            <a:ext cx="0" cy="74244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1" name="Picture 6" descr="https://gimg2.baidu.com/image_search/src=http%3A%2F%2Fimg-blog.csdnimg.cn%2F2021072717534586.png%3Fx-oss-process%3Dimage%2Fwatermark%2Ctype_ZmFuZ3poZW5naGVpdGk%2Cshadow_10%2Ctext_aHR0cHM6Ly9ibG9nLmNzZG4ubmV0L3lhbl8wOTE2%2Csize_16%2Ccolor_FFFFFF%2Ct_70&amp;refer=http%3A%2F%2Fimg-blog.csdnimg.cn&amp;app=2002&amp;size=f9999,10000&amp;q=a80&amp;n=0&amp;g=0n&amp;fmt=jpeg?sec=1647740950&amp;t=3321af3b313da176dcbde3e61ff309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4" y="935047"/>
            <a:ext cx="2412054" cy="23621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墨迹 17"/>
              <p14:cNvContentPartPr/>
              <p14:nvPr/>
            </p14:nvContentPartPr>
            <p14:xfrm>
              <a:off x="6183401" y="3297215"/>
              <a:ext cx="1283596" cy="3086280"/>
            </p14:xfrm>
          </p:contentPart>
        </mc:Choice>
        <mc:Fallback xmlns="">
          <p:pic>
            <p:nvPicPr>
              <p:cNvPr id="18" name="墨迹 1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45246" y="3259055"/>
                <a:ext cx="1359546" cy="31622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63352" y="25534"/>
            <a:ext cx="790212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TCP/IP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体系结构下的数据传输示例（</a:t>
            </a:r>
            <a:r>
              <a:rPr kumimoji="1" lang="en-US" altLang="zh-CN" sz="2800" b="1" dirty="0" err="1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WireShark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2C68B83-BA34-41A0-8830-321BDED09E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863" y="781186"/>
            <a:ext cx="2668933" cy="22877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2771004-A272-429D-92D2-A5427B7AAF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3136" y="1109711"/>
            <a:ext cx="3106837" cy="181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4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085" y="3140719"/>
            <a:ext cx="3528392" cy="334515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669" y="3113988"/>
            <a:ext cx="3528392" cy="334515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120" y="1220318"/>
            <a:ext cx="3456384" cy="1749707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 bwMode="auto">
          <a:xfrm>
            <a:off x="3381901" y="2902328"/>
            <a:ext cx="16035" cy="47678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>
          <a:xfrm>
            <a:off x="7839585" y="2095172"/>
            <a:ext cx="1579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Web</a:t>
            </a:r>
            <a:r>
              <a:rPr kumimoji="1" lang="zh-CN" altLang="en-US" sz="2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服务器</a:t>
            </a:r>
            <a:endParaRPr lang="zh-CN" altLang="en-US" sz="2400" dirty="0"/>
          </a:p>
        </p:txBody>
      </p:sp>
      <p:cxnSp>
        <p:nvCxnSpPr>
          <p:cNvPr id="17" name="直接箭头连接符 16"/>
          <p:cNvCxnSpPr/>
          <p:nvPr/>
        </p:nvCxnSpPr>
        <p:spPr bwMode="auto">
          <a:xfrm>
            <a:off x="8684782" y="2636663"/>
            <a:ext cx="0" cy="74244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1" name="Picture 6" descr="https://gimg2.baidu.com/image_search/src=http%3A%2F%2Fimg-blog.csdnimg.cn%2F2021072717534586.png%3Fx-oss-process%3Dimage%2Fwatermark%2Ctype_ZmFuZ3poZW5naGVpdGk%2Cshadow_10%2Ctext_aHR0cHM6Ly9ibG9nLmNzZG4ubmV0L3lhbl8wOTE2%2Csize_16%2Ccolor_FFFFFF%2Ct_70&amp;refer=http%3A%2F%2Fimg-blog.csdnimg.cn&amp;app=2002&amp;size=f9999,10000&amp;q=a80&amp;n=0&amp;g=0n&amp;fmt=jpeg?sec=1647740950&amp;t=3321af3b313da176dcbde3e61ff3093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086" y="778551"/>
            <a:ext cx="2545571" cy="23621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墨迹 17"/>
              <p14:cNvContentPartPr/>
              <p14:nvPr/>
            </p14:nvContentPartPr>
            <p14:xfrm>
              <a:off x="6183401" y="3297215"/>
              <a:ext cx="1283596" cy="3086280"/>
            </p14:xfrm>
          </p:contentPart>
        </mc:Choice>
        <mc:Fallback xmlns="">
          <p:pic>
            <p:nvPicPr>
              <p:cNvPr id="18" name="墨迹 1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45246" y="3259055"/>
                <a:ext cx="1359546" cy="31622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63352" y="25534"/>
            <a:ext cx="790212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TCP/IP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体系结构下的数据传输示例（</a:t>
            </a:r>
            <a:r>
              <a:rPr kumimoji="1" lang="en-US" altLang="zh-CN" sz="2800" b="1" dirty="0" err="1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WireShark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  <a:cs typeface="+mn-cs"/>
              </a:rPr>
              <a:t>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2C68B83-BA34-41A0-8830-321BDED09E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1436" y="1009442"/>
            <a:ext cx="2668933" cy="228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98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4738473" y="2924944"/>
            <a:ext cx="27150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1" dirty="0">
                <a:solidFill>
                  <a:srgbClr val="0066FF"/>
                </a:solidFill>
                <a:ea typeface="黑体" panose="02010609060101010101" pitchFamily="49" charset="-122"/>
              </a:rPr>
              <a:t>重要的概念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515380" y="851638"/>
            <a:ext cx="11161240" cy="1559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zh-CN" sz="2600" b="1" dirty="0">
                <a:solidFill>
                  <a:srgbClr val="0070C0"/>
                </a:solidFill>
              </a:rPr>
              <a:t>对等层：</a:t>
            </a:r>
            <a:r>
              <a:rPr lang="zh-CN" altLang="zh-CN" sz="2600" dirty="0"/>
              <a:t>在分层结构中，处于相同位置的层次。对等层实现的功能相同。比如发送方的网络层和接收方的网络层是对等层。</a:t>
            </a:r>
            <a:endParaRPr lang="en-US" altLang="zh-CN" sz="26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70C0"/>
                </a:solidFill>
              </a:rPr>
              <a:t>实体：</a:t>
            </a:r>
            <a:r>
              <a:rPr lang="zh-CN" altLang="en-US" sz="2600" dirty="0"/>
              <a:t>在某个层中完成某个特定功能的软件或者硬件模块。</a:t>
            </a:r>
            <a:endParaRPr lang="en-US" altLang="zh-CN" sz="2600" dirty="0"/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91344" y="115982"/>
            <a:ext cx="74898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 b="1" dirty="0">
                <a:solidFill>
                  <a:srgbClr val="0066FF"/>
                </a:solidFill>
                <a:ea typeface="黑体" panose="02010609060101010101" pitchFamily="49" charset="-122"/>
              </a:rPr>
              <a:t>重要的概念：对等层、实体、对等实体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8B02A8-1349-49D8-A870-20F1B5DE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62" y="2556937"/>
            <a:ext cx="11341260" cy="988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zh-CN" sz="2600" b="1" dirty="0">
                <a:solidFill>
                  <a:srgbClr val="0070C0"/>
                </a:solidFill>
              </a:rPr>
              <a:t>对等实体：</a:t>
            </a:r>
            <a:r>
              <a:rPr lang="zh-CN" altLang="zh-CN" sz="2600" dirty="0">
                <a:solidFill>
                  <a:srgbClr val="0070C0"/>
                </a:solidFill>
              </a:rPr>
              <a:t>收发双方处于对等层中的</a:t>
            </a:r>
            <a:r>
              <a:rPr lang="zh-CN" altLang="en-US" sz="2600" dirty="0">
                <a:solidFill>
                  <a:srgbClr val="0070C0"/>
                </a:solidFill>
              </a:rPr>
              <a:t>基于相同协议工作的</a:t>
            </a:r>
            <a:r>
              <a:rPr lang="zh-CN" altLang="zh-CN" sz="2600" dirty="0">
                <a:solidFill>
                  <a:srgbClr val="0070C0"/>
                </a:solidFill>
              </a:rPr>
              <a:t>功能实体</a:t>
            </a:r>
            <a:r>
              <a:rPr lang="zh-CN" altLang="en-US" sz="2600" dirty="0">
                <a:solidFill>
                  <a:srgbClr val="0070C0"/>
                </a:solidFill>
              </a:rPr>
              <a:t>。</a:t>
            </a:r>
            <a:r>
              <a:rPr lang="zh-CN" altLang="zh-CN" sz="2600" dirty="0"/>
              <a:t>实体可能是一个硬件，或者一个软件，只要他们的功能相同。</a:t>
            </a:r>
            <a:endParaRPr kumimoji="1" lang="zh-CN" altLang="en-US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9A08AD-5987-4E05-B1F0-9F586734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42" y="3721200"/>
            <a:ext cx="8159552" cy="302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13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8A1B801-8992-4666-9DBF-F0F611C8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88640"/>
            <a:ext cx="52341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b="1" dirty="0">
                <a:solidFill>
                  <a:srgbClr val="0066FF"/>
                </a:solidFill>
                <a:ea typeface="黑体" panose="02010609060101010101" pitchFamily="49" charset="-122"/>
              </a:rPr>
              <a:t>重要的概念：协议、服务和接口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E954FE-609A-438C-8319-D5C58E2FD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18" y="985829"/>
            <a:ext cx="11809312" cy="1198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76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协议：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计算机网络同等层次中，通信双方进行信息交换时必须遵守的规则</a:t>
            </a:r>
            <a:r>
              <a:rPr kumimoji="1" lang="zh-CN" altLang="en-US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服务：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下层为紧邻的上层提供的功能调用。</a:t>
            </a: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43F85B19-E248-407E-830B-A703D295A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0" y="2492896"/>
            <a:ext cx="8104782" cy="35768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kumimoji="1" lang="en-US" altLang="zh-CN" sz="2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）对等实体在</a:t>
            </a:r>
            <a:r>
              <a:rPr kumimoji="1" lang="zh-CN" altLang="en-US" sz="2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协议的控制下，实现本层功能，保证了能够向上一层提供服务。本层的用户只能看见下层提供的服务而无法看见下面的协议，下面的协议对上面的服务用户是透明的。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kumimoji="1"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）协议是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水平的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，即协议是控制对等实体之间通信的规则；服务是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垂直的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，是由下层通过层间接口向上层提供的。</a:t>
            </a:r>
            <a:endParaRPr kumimoji="1"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kumimoji="1" lang="en-US" altLang="zh-CN" sz="2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）并非在一层内完成的全部功能都称为服务，只有那些能够被高一层实体访问的功能才能称为服务。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38BBA96-933C-4881-926A-DC26132A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42" y="2708920"/>
            <a:ext cx="3902946" cy="24599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FCDBAC4-4936-4216-8839-9FA028F396F7}"/>
              </a:ext>
            </a:extLst>
          </p:cNvPr>
          <p:cNvSpPr txBox="1"/>
          <p:nvPr/>
        </p:nvSpPr>
        <p:spPr>
          <a:xfrm>
            <a:off x="8706658" y="5367033"/>
            <a:ext cx="3354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协议、服务、接口的关系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90218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381855" y="1165073"/>
            <a:ext cx="11112475" cy="9887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控制两个</a:t>
            </a:r>
            <a:r>
              <a:rPr kumimoji="1" lang="zh-CN" altLang="en-US" sz="2600" b="1" i="1" u="sng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对等实体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进行通信的规则集合。为进行网络中的数据交换而建立的规则、标准或约定即称为网络协议。</a:t>
            </a:r>
          </a:p>
        </p:txBody>
      </p:sp>
      <p:sp>
        <p:nvSpPr>
          <p:cNvPr id="14339" name="矩形 1"/>
          <p:cNvSpPr>
            <a:spLocks noChangeArrowheads="1"/>
          </p:cNvSpPr>
          <p:nvPr/>
        </p:nvSpPr>
        <p:spPr bwMode="auto">
          <a:xfrm>
            <a:off x="47328" y="228228"/>
            <a:ext cx="1808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网络协议</a:t>
            </a:r>
            <a:endParaRPr lang="zh-CN" altLang="en-US" sz="28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282B285-FC1E-4A7D-96D5-5E265695F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2151301"/>
            <a:ext cx="9865096" cy="431696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"/>
          <p:cNvSpPr>
            <a:spLocks noChangeArrowheads="1"/>
          </p:cNvSpPr>
          <p:nvPr/>
        </p:nvSpPr>
        <p:spPr bwMode="auto">
          <a:xfrm>
            <a:off x="47328" y="228228"/>
            <a:ext cx="32512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网络协议的三要素</a:t>
            </a:r>
            <a:endParaRPr lang="zh-CN" altLang="en-US" sz="28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F09B6DF-2D01-4491-8BA5-926AF4CEF42D}"/>
              </a:ext>
            </a:extLst>
          </p:cNvPr>
          <p:cNvGrpSpPr/>
          <p:nvPr/>
        </p:nvGrpSpPr>
        <p:grpSpPr>
          <a:xfrm>
            <a:off x="7556795" y="805880"/>
            <a:ext cx="4570326" cy="3487216"/>
            <a:chOff x="8472264" y="2959976"/>
            <a:chExt cx="3456384" cy="2325438"/>
          </a:xfrm>
        </p:grpSpPr>
        <p:pic>
          <p:nvPicPr>
            <p:cNvPr id="24580" name="Picture 4">
              <a:extLst>
                <a:ext uri="{FF2B5EF4-FFF2-40B4-BE49-F238E27FC236}">
                  <a16:creationId xmlns:a16="http://schemas.microsoft.com/office/drawing/2014/main" id="{292BE783-9966-445B-83EC-200E4A0E05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2264" y="2959976"/>
              <a:ext cx="3456384" cy="2040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C24BBF-6C90-41AE-A4EB-785806A7F3B5}"/>
                </a:ext>
              </a:extLst>
            </p:cNvPr>
            <p:cNvSpPr txBox="1"/>
            <p:nvPr/>
          </p:nvSpPr>
          <p:spPr>
            <a:xfrm>
              <a:off x="8946774" y="4977554"/>
              <a:ext cx="2370181" cy="307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TCP</a:t>
              </a:r>
              <a:r>
                <a:rPr kumimoji="1"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报文格式（语法）</a:t>
              </a:r>
              <a:endParaRPr lang="zh-CN" altLang="en-US" sz="24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F8FB5C2-6D19-4962-B1AF-4210062D170B}"/>
              </a:ext>
            </a:extLst>
          </p:cNvPr>
          <p:cNvGrpSpPr/>
          <p:nvPr/>
        </p:nvGrpSpPr>
        <p:grpSpPr>
          <a:xfrm>
            <a:off x="3517041" y="4055686"/>
            <a:ext cx="4667192" cy="2802314"/>
            <a:chOff x="4505448" y="4581128"/>
            <a:chExt cx="3678783" cy="2328212"/>
          </a:xfrm>
        </p:grpSpPr>
        <p:pic>
          <p:nvPicPr>
            <p:cNvPr id="24578" name="Picture 2">
              <a:extLst>
                <a:ext uri="{FF2B5EF4-FFF2-40B4-BE49-F238E27FC236}">
                  <a16:creationId xmlns:a16="http://schemas.microsoft.com/office/drawing/2014/main" id="{69FE07A0-DD3F-4E54-9D99-90E20CFDB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5448" y="4581128"/>
              <a:ext cx="3678783" cy="216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F034067-71A2-4CDE-A72F-07BA7B9FDD46}"/>
                </a:ext>
              </a:extLst>
            </p:cNvPr>
            <p:cNvSpPr txBox="1"/>
            <p:nvPr/>
          </p:nvSpPr>
          <p:spPr>
            <a:xfrm>
              <a:off x="4778734" y="6525781"/>
              <a:ext cx="3405497" cy="3835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kumimoji="1" sz="2400" b="1"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r>
                <a:rPr lang="en-US" altLang="zh-CN" dirty="0"/>
                <a:t>TCP</a:t>
              </a:r>
              <a:r>
                <a:rPr lang="zh-CN" altLang="en-US" dirty="0"/>
                <a:t>四次握手（语义和时序）</a:t>
              </a:r>
            </a:p>
          </p:txBody>
        </p:sp>
      </p:grpSp>
      <p:sp>
        <p:nvSpPr>
          <p:cNvPr id="13" name="矩形 3">
            <a:extLst>
              <a:ext uri="{FF2B5EF4-FFF2-40B4-BE49-F238E27FC236}">
                <a16:creationId xmlns:a16="http://schemas.microsoft.com/office/drawing/2014/main" id="{A5336A7E-06BC-411E-AC19-3215A3295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908720"/>
            <a:ext cx="7056784" cy="357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语法：数据与控制信息的格式。如</a:t>
            </a:r>
            <a:r>
              <a:rPr kumimoji="1"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报文端格式就由</a:t>
            </a:r>
            <a:r>
              <a:rPr kumimoji="1"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协议的语法定义的。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kumimoji="1"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语义：控制信息，动作，应答等的说明。如，建立</a:t>
            </a:r>
            <a:r>
              <a:rPr kumimoji="1" lang="en-US" altLang="zh-CN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1"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连接的三次握手时所执行的操作就是由</a:t>
            </a:r>
            <a:r>
              <a:rPr kumimoji="1" lang="en-US" altLang="zh-CN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1"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协议的语义定义。</a:t>
            </a:r>
            <a:endParaRPr kumimoji="1" lang="en-US" altLang="zh-CN" sz="24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(3)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同步（时序）：事件实现顺序的详细说明。</a:t>
            </a:r>
            <a:endParaRPr kumimoji="1" lang="en-US" altLang="zh-CN" sz="24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如，建立</a:t>
            </a:r>
            <a:r>
              <a:rPr kumimoji="1"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连接的三次握手操作的时序关系，就是由</a:t>
            </a:r>
            <a:r>
              <a:rPr kumimoji="1" lang="en-US" altLang="zh-CN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协议的同步所定义。</a:t>
            </a:r>
            <a:endParaRPr kumimoji="1" lang="en-US" altLang="zh-CN" sz="24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54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"/>
          <p:cNvSpPr>
            <a:spLocks noChangeArrowheads="1"/>
          </p:cNvSpPr>
          <p:nvPr/>
        </p:nvSpPr>
        <p:spPr bwMode="auto">
          <a:xfrm>
            <a:off x="191344" y="188640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</a:t>
            </a: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A5336A7E-06BC-411E-AC19-3215A3295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764704"/>
            <a:ext cx="11856640" cy="332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下层向上层提供的功能。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并非在一层内完成的全部功能都称为服务，只有那些能够被高一层实体访问的功能才能称为服务。</a:t>
            </a:r>
            <a:endParaRPr kumimoji="1"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每个层次在下一层提供的服务的基础上，增加新功能，并向上层提供更加完善的服务。</a:t>
            </a:r>
            <a:r>
              <a:rPr kumimoji="1"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本层的用户只能看见下层提供的服务而无法看见下面的协议，下面的协议对上面的服务用户是透明的。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kumimoji="1"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F1FAD6-B320-472B-8112-7C830366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3034618"/>
            <a:ext cx="6015112" cy="365695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3F85B19-E248-407E-830B-A703D295A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89" y="3752213"/>
            <a:ext cx="5328592" cy="2221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仿宋" panose="02010609060101010101" pitchFamily="49" charset="-122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协议是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水平的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，即协议是控制对等实体之间通信的规则；服务是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垂直的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，是由下层通过层间接口向上层提供的。</a:t>
            </a:r>
            <a:endParaRPr kumimoji="1"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0565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91344" y="156771"/>
            <a:ext cx="9567043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b="1" dirty="0">
                <a:solidFill>
                  <a:srgbClr val="0066FF"/>
                </a:solidFill>
                <a:ea typeface="黑体" panose="02010609060101010101" pitchFamily="49" charset="-122"/>
              </a:rPr>
              <a:t>重要的概念：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协议数据单元（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PDU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）和服务数据单元（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SDU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63352" y="882375"/>
            <a:ext cx="11521280" cy="1468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协议数据单元就是对等实体之间，为实现该层协议所交换的信息单元。第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层协议数据单元记为</a:t>
            </a:r>
            <a:r>
              <a:rPr kumimoji="1" lang="en-US" altLang="zh-CN" sz="2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(N)PDU </a:t>
            </a:r>
            <a:r>
              <a:rPr kumimoji="1" lang="zh-CN" altLang="en-US" sz="2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(N)PDU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含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个部分：本层的协议控制信息和本层的服务数据单元     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(N)PDU = 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PCI +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en-US" altLang="zh-CN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SDU</a:t>
            </a:r>
            <a:r>
              <a:rPr kumimoji="1" lang="zh-CN" altLang="en-US" sz="26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en-US" altLang="zh-CN" sz="26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735B2A-CDA4-423A-B0EA-DF4CC791F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44" y="3284984"/>
            <a:ext cx="4545781" cy="32863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965A12-E06F-4615-949D-8E75A02AA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4" y="2536183"/>
            <a:ext cx="5934046" cy="38185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3600EA6-06E4-4998-8C58-756125A36E48}"/>
              </a:ext>
            </a:extLst>
          </p:cNvPr>
          <p:cNvSpPr txBox="1"/>
          <p:nvPr/>
        </p:nvSpPr>
        <p:spPr>
          <a:xfrm>
            <a:off x="1703512" y="6396335"/>
            <a:ext cx="2952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各层数据单元的关系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47923" y="1019698"/>
            <a:ext cx="11241930" cy="1949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当在各层之间传输数据时，将从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层收到的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PDU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作为第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层的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SDU,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加上第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层的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PCI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，就封装成了第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层的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PDU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，交给第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等后作为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SDU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发送，接收方接收时做相反的处理。三者关系为：</a:t>
            </a:r>
            <a:endParaRPr kumimoji="1" lang="en-US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 algn="just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SDU + (N)PCI = (N)PDU = (N-1)SDU</a:t>
            </a:r>
            <a:endParaRPr kumimoji="1" lang="en-US" altLang="zh-CN" sz="26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2C2AC7-B27C-4149-A748-3908F82BE823}"/>
              </a:ext>
            </a:extLst>
          </p:cNvPr>
          <p:cNvSpPr txBox="1"/>
          <p:nvPr/>
        </p:nvSpPr>
        <p:spPr>
          <a:xfrm>
            <a:off x="8112224" y="6233427"/>
            <a:ext cx="2952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各层数据单元的关系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A4134D-793D-4E7C-A04E-B7F66D693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2968758"/>
            <a:ext cx="4545781" cy="328639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FD3633B-5087-4BFF-AC9C-030CC00B9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56771"/>
            <a:ext cx="9567043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b="1" dirty="0">
                <a:solidFill>
                  <a:srgbClr val="0066FF"/>
                </a:solidFill>
                <a:ea typeface="黑体" panose="02010609060101010101" pitchFamily="49" charset="-122"/>
              </a:rPr>
              <a:t>重要的概念：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协议数据单元（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PDU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）和服务数据单元（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SDU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BA03CA-3520-483E-8406-7FDB67E32F17}"/>
              </a:ext>
            </a:extLst>
          </p:cNvPr>
          <p:cNvSpPr/>
          <p:nvPr/>
        </p:nvSpPr>
        <p:spPr>
          <a:xfrm>
            <a:off x="8544272" y="3501008"/>
            <a:ext cx="2592288" cy="64807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743A85-8CA7-4387-8916-02BB766F2C79}"/>
              </a:ext>
            </a:extLst>
          </p:cNvPr>
          <p:cNvSpPr/>
          <p:nvPr/>
        </p:nvSpPr>
        <p:spPr>
          <a:xfrm>
            <a:off x="8544272" y="4825594"/>
            <a:ext cx="2592288" cy="64807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148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9DC730A-F045-44D3-8D57-48C95A93F453}"/>
              </a:ext>
            </a:extLst>
          </p:cNvPr>
          <p:cNvSpPr txBox="1"/>
          <p:nvPr/>
        </p:nvSpPr>
        <p:spPr>
          <a:xfrm>
            <a:off x="623392" y="692696"/>
            <a:ext cx="8712968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．协议是指在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之间进行通信的规则或约定。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同一结点的上下层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不同结点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相邻实体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不同结点对等实体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5F1D32-6A88-4590-A838-9DC8E7AE3FD5}"/>
              </a:ext>
            </a:extLst>
          </p:cNvPr>
          <p:cNvSpPr txBox="1"/>
          <p:nvPr/>
        </p:nvSpPr>
        <p:spPr>
          <a:xfrm>
            <a:off x="623392" y="306896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OSI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参考模型中的实体指的是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实现各层功能的规则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上下层之间进行交互时所要的信息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各层中实现该层功能的软件或硬件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同一结点中相邻两层相互作用的地方</a:t>
            </a:r>
          </a:p>
        </p:txBody>
      </p:sp>
    </p:spTree>
    <p:extLst>
      <p:ext uri="{BB962C8B-B14F-4D97-AF65-F5344CB8AC3E}">
        <p14:creationId xmlns:p14="http://schemas.microsoft.com/office/powerpoint/2010/main" val="153970160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A4D514-B519-49C1-BF1F-A557150B1F49}"/>
              </a:ext>
            </a:extLst>
          </p:cNvPr>
          <p:cNvSpPr txBox="1"/>
          <p:nvPr/>
        </p:nvSpPr>
        <p:spPr>
          <a:xfrm>
            <a:off x="335360" y="386046"/>
            <a:ext cx="10369152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下列选项中不属于网络体系结构所描述的内容是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网络的层次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每层使用的协议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协议的内部实现细节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每层必须完成的功能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D1279E-5A3A-48F8-A507-62D13B786E90}"/>
              </a:ext>
            </a:extLst>
          </p:cNvPr>
          <p:cNvSpPr txBox="1"/>
          <p:nvPr/>
        </p:nvSpPr>
        <p:spPr>
          <a:xfrm>
            <a:off x="518388" y="32849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kern="10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4.</a:t>
            </a:r>
            <a:r>
              <a:rPr lang="zh-CN" altLang="zh-CN" dirty="0"/>
              <a:t>下图描述的协议要素是</a:t>
            </a:r>
            <a:r>
              <a:rPr lang="en-US" altLang="zh-CN" dirty="0"/>
              <a:t>(   )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2A711C-11F1-433C-AA28-7C9B356898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3360289"/>
            <a:ext cx="2736304" cy="236733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22D0B24-BBDE-4694-9A44-207E710C198A}"/>
              </a:ext>
            </a:extLst>
          </p:cNvPr>
          <p:cNvSpPr txBox="1"/>
          <p:nvPr/>
        </p:nvSpPr>
        <p:spPr>
          <a:xfrm>
            <a:off x="551384" y="3971942"/>
            <a:ext cx="6096000" cy="114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语法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II.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语义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III.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时序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仅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       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仅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II       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仅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III        D.I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07608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DD5BE8-07CB-4EBE-9CE4-0A0FE7FA0EF3}"/>
              </a:ext>
            </a:extLst>
          </p:cNvPr>
          <p:cNvSpPr txBox="1"/>
          <p:nvPr/>
        </p:nvSpPr>
        <p:spPr>
          <a:xfrm>
            <a:off x="347259" y="625912"/>
            <a:ext cx="11377264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OSI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参考模型的应用层欲发送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400B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的数据（无拆分），除物理层和应用层外，其他各层在封装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PDU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时均引入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20B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的额外开销，则应用层的数据传输效率约为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80%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 83%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 87%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D.91%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0F4A10-0E34-479F-BF34-F9CD80CC9819}"/>
              </a:ext>
            </a:extLst>
          </p:cNvPr>
          <p:cNvSpPr txBox="1"/>
          <p:nvPr/>
        </p:nvSpPr>
        <p:spPr>
          <a:xfrm>
            <a:off x="5746487" y="210323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总共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层添加数据，共加入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en-US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字节，数据帧为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en-US" altLang="zh-CN" sz="24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，实际有效数据为</a:t>
            </a:r>
            <a:r>
              <a:rPr lang="en-US" altLang="zh-CN" sz="24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400B.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EE3F3A-FFC9-4DAA-90BD-D32D4438050E}"/>
              </a:ext>
            </a:extLst>
          </p:cNvPr>
          <p:cNvSpPr txBox="1"/>
          <p:nvPr/>
        </p:nvSpPr>
        <p:spPr>
          <a:xfrm>
            <a:off x="443372" y="4077072"/>
            <a:ext cx="113052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互联网采用的核心技术是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 TCP/IP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局域网技术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远程通信技术 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光纤技术</a:t>
            </a:r>
          </a:p>
        </p:txBody>
      </p:sp>
    </p:spTree>
    <p:extLst>
      <p:ext uri="{BB962C8B-B14F-4D97-AF65-F5344CB8AC3E}">
        <p14:creationId xmlns:p14="http://schemas.microsoft.com/office/powerpoint/2010/main" val="203759560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31552" y="116632"/>
            <a:ext cx="12191999" cy="1080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讨论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: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互联网使用的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IP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协议是无连接的，因此其传输是不可靠的。这样容易使人们感到互联网很不可靠，为什么不把互联网的传输设计为不可靠的？</a:t>
            </a:r>
            <a:endParaRPr kumimoji="1" lang="en-US" altLang="zh-CN" sz="2800" b="1" dirty="0">
              <a:solidFill>
                <a:srgbClr val="0070C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C98768-55B3-4DD7-AC0E-2BE7D3DA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112" y="4070392"/>
            <a:ext cx="4890855" cy="26709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8D9107-20B4-454F-A39C-B95A6008E12E}"/>
              </a:ext>
            </a:extLst>
          </p:cNvPr>
          <p:cNvSpPr txBox="1"/>
          <p:nvPr/>
        </p:nvSpPr>
        <p:spPr>
          <a:xfrm>
            <a:off x="123684" y="1484784"/>
            <a:ext cx="11809312" cy="2713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传统的电信网的主要用途是电话通信，且普通电话机不是智能的，因此电信公司必须花费巨大的代价将电信网设计得非常可靠，以保证用户的通信质量。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数据的传输显然必须可靠。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当初设计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ARPAnet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很重要的讨论内容之一是“谁应当负责数据传输的可靠性？”一种意见是主张像电信网那样，由通信网络负责数据传输的可靠性。另一种意见是由用户主机负责数据传输的可靠性，这样可以使计算机网网络便宜、灵活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D79C07-3E10-4AF2-B7B5-840983E8903F}"/>
              </a:ext>
            </a:extLst>
          </p:cNvPr>
          <p:cNvSpPr txBox="1"/>
          <p:nvPr/>
        </p:nvSpPr>
        <p:spPr>
          <a:xfrm>
            <a:off x="101147" y="4415316"/>
            <a:ext cx="6696744" cy="227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计算机网络和电信网的一个重大区别是终端设备的性能差别很大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，于是采用了“端到端的可靠传输”策略，即在传输层使用面向连接的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协议，这样既能使网络部分价格便宜且灵活可靠，又能保证端到端的可靠传输。</a:t>
            </a:r>
          </a:p>
        </p:txBody>
      </p:sp>
    </p:spTree>
    <p:extLst>
      <p:ext uri="{BB962C8B-B14F-4D97-AF65-F5344CB8AC3E}">
        <p14:creationId xmlns:p14="http://schemas.microsoft.com/office/powerpoint/2010/main" val="1884313226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515380" y="260648"/>
            <a:ext cx="11384135" cy="7200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讨论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:</a:t>
            </a:r>
            <a:r>
              <a:rPr kumimoji="1" lang="zh-CN" altLang="en-US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+mn-cs"/>
              </a:rPr>
              <a:t>端到端通信和点到点通信有什么区别？</a:t>
            </a:r>
            <a:endParaRPr kumimoji="1" lang="en-US" altLang="zh-CN" sz="2800" b="1" dirty="0">
              <a:solidFill>
                <a:srgbClr val="0070C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8D9107-20B4-454F-A39C-B95A6008E12E}"/>
              </a:ext>
            </a:extLst>
          </p:cNvPr>
          <p:cNvSpPr txBox="1"/>
          <p:nvPr/>
        </p:nvSpPr>
        <p:spPr>
          <a:xfrm>
            <a:off x="513329" y="1556792"/>
            <a:ext cx="11161240" cy="3022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1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通过链路直接相连的结点之间的通信称为点到点的通信，由数据链路层来负责；</a:t>
            </a:r>
            <a:endParaRPr kumimoji="1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1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两个通信的进程之间的通信称为端到端的通信，因为每个进程的标识包括一个端口号；</a:t>
            </a:r>
            <a:endParaRPr kumimoji="1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1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通信的两个进程所在的主机之间的通信称为主机到主机的通信。</a:t>
            </a:r>
            <a:endParaRPr kumimoji="1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073474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20" y="1124744"/>
            <a:ext cx="4968552" cy="44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88090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https://gimg2.baidu.com/image_search/src=http%3A%2F%2Fimg-blog.csdnimg.cn%2F2021072717534586.png%3Fx-oss-process%3Dimage%2Fwatermark%2Ctype_ZmFuZ3poZW5naGVpdGk%2Cshadow_10%2Ctext_aHR0cHM6Ly9ibG9nLmNzZG4ubmV0L3lhbl8wOTE2%2Csize_16%2Ccolor_FFFFFF%2Ct_70&amp;refer=http%3A%2F%2Fimg-blog.csdnimg.cn&amp;app=2002&amp;size=f9999,10000&amp;q=a80&amp;n=0&amp;g=0n&amp;fmt=jpeg?sec=1647740950&amp;t=3321af3b313da176dcbde3e61ff30937">
            <a:extLst>
              <a:ext uri="{FF2B5EF4-FFF2-40B4-BE49-F238E27FC236}">
                <a16:creationId xmlns:a16="http://schemas.microsoft.com/office/drawing/2014/main" id="{5640EF9D-7064-460E-B02C-AF4706B1F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548680"/>
            <a:ext cx="9577064" cy="5547506"/>
          </a:xfrm>
          <a:prstGeom prst="rect">
            <a:avLst/>
          </a:prstGeom>
          <a:solidFill>
            <a:srgbClr val="F8F8F8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26A04D2-27DF-4619-A974-5BBEF788850A}"/>
              </a:ext>
            </a:extLst>
          </p:cNvPr>
          <p:cNvSpPr/>
          <p:nvPr/>
        </p:nvSpPr>
        <p:spPr>
          <a:xfrm>
            <a:off x="1415480" y="856590"/>
            <a:ext cx="3384376" cy="57606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005DA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数据拆封过程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A0BC95-933C-4911-9836-C6A605EF2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312" y="2683520"/>
            <a:ext cx="1486107" cy="394782"/>
          </a:xfrm>
          <a:prstGeom prst="rect">
            <a:avLst/>
          </a:prstGeom>
        </p:spPr>
      </p:pic>
      <p:sp>
        <p:nvSpPr>
          <p:cNvPr id="4" name="箭头: 上 3">
            <a:extLst>
              <a:ext uri="{FF2B5EF4-FFF2-40B4-BE49-F238E27FC236}">
                <a16:creationId xmlns:a16="http://schemas.microsoft.com/office/drawing/2014/main" id="{B88954D8-9618-4E9C-9C59-58D644740F92}"/>
              </a:ext>
            </a:extLst>
          </p:cNvPr>
          <p:cNvSpPr/>
          <p:nvPr/>
        </p:nvSpPr>
        <p:spPr>
          <a:xfrm>
            <a:off x="9359332" y="2719631"/>
            <a:ext cx="576064" cy="288032"/>
          </a:xfrm>
          <a:prstGeom prst="up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0E45594-D694-4568-8E8B-25A94F450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312" y="3501008"/>
            <a:ext cx="1486107" cy="4667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35C08AB-EF45-4B6F-BD5F-45E955E96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311" y="4396855"/>
            <a:ext cx="1486107" cy="40029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C0FBEEA-0606-430A-8B70-FAD819DDF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381" y="5238910"/>
            <a:ext cx="1486107" cy="466790"/>
          </a:xfrm>
          <a:prstGeom prst="rect">
            <a:avLst/>
          </a:prstGeom>
        </p:spPr>
      </p:pic>
      <p:sp>
        <p:nvSpPr>
          <p:cNvPr id="14" name="箭头: 上 13">
            <a:extLst>
              <a:ext uri="{FF2B5EF4-FFF2-40B4-BE49-F238E27FC236}">
                <a16:creationId xmlns:a16="http://schemas.microsoft.com/office/drawing/2014/main" id="{67F72002-3E2B-4990-BE9F-1BA4CBB6A915}"/>
              </a:ext>
            </a:extLst>
          </p:cNvPr>
          <p:cNvSpPr/>
          <p:nvPr/>
        </p:nvSpPr>
        <p:spPr>
          <a:xfrm>
            <a:off x="9359332" y="3604026"/>
            <a:ext cx="576064" cy="288032"/>
          </a:xfrm>
          <a:prstGeom prst="up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1B700FFB-C8AA-4054-B2F8-27116697C2BD}"/>
              </a:ext>
            </a:extLst>
          </p:cNvPr>
          <p:cNvSpPr/>
          <p:nvPr/>
        </p:nvSpPr>
        <p:spPr>
          <a:xfrm>
            <a:off x="9359332" y="4504895"/>
            <a:ext cx="576064" cy="288032"/>
          </a:xfrm>
          <a:prstGeom prst="up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FC89FF1C-5D42-4042-A079-ADB1683434BD}"/>
              </a:ext>
            </a:extLst>
          </p:cNvPr>
          <p:cNvSpPr/>
          <p:nvPr/>
        </p:nvSpPr>
        <p:spPr>
          <a:xfrm>
            <a:off x="9359332" y="5286351"/>
            <a:ext cx="576064" cy="288032"/>
          </a:xfrm>
          <a:prstGeom prst="up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5D6F0D9-6DBA-4290-81EF-099C292C0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951" y="1852673"/>
            <a:ext cx="648072" cy="288032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E6F8E62-5FDB-4059-8F7B-F4EF0999C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784" y="1624037"/>
            <a:ext cx="4572638" cy="28803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A211C08-C352-43AA-822E-AD25701ACE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896" y="1526673"/>
            <a:ext cx="2400635" cy="19472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130282F-D64B-4A37-9D36-47634A0AD9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2907" y="4280396"/>
            <a:ext cx="310161" cy="53347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66908C2-2929-4579-877D-BA2C7FB62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828" y="5230788"/>
            <a:ext cx="1200318" cy="2667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30F08F1-0828-460E-925C-2B66CE7DF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790" y="7340406"/>
            <a:ext cx="1680555" cy="332484"/>
          </a:xfrm>
          <a:prstGeom prst="rect">
            <a:avLst/>
          </a:prstGeom>
        </p:spPr>
      </p:pic>
      <p:sp>
        <p:nvSpPr>
          <p:cNvPr id="29" name="箭头: 上 28">
            <a:extLst>
              <a:ext uri="{FF2B5EF4-FFF2-40B4-BE49-F238E27FC236}">
                <a16:creationId xmlns:a16="http://schemas.microsoft.com/office/drawing/2014/main" id="{CD261920-5A86-4C88-9430-BF7F8B6A16D7}"/>
              </a:ext>
            </a:extLst>
          </p:cNvPr>
          <p:cNvSpPr/>
          <p:nvPr/>
        </p:nvSpPr>
        <p:spPr>
          <a:xfrm>
            <a:off x="4929718" y="1912069"/>
            <a:ext cx="207204" cy="3996911"/>
          </a:xfrm>
          <a:prstGeom prst="upArrow">
            <a:avLst>
              <a:gd name="adj1" fmla="val 50000"/>
              <a:gd name="adj2" fmla="val 26991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1480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ln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计算机网络</Template>
  <TotalTime>6163</TotalTime>
  <Words>1756</Words>
  <Application>Microsoft Office PowerPoint</Application>
  <PresentationFormat>宽屏</PresentationFormat>
  <Paragraphs>140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-apple-system</vt:lpstr>
      <vt:lpstr>等线</vt:lpstr>
      <vt:lpstr>黑体</vt:lpstr>
      <vt:lpstr>楷体_GB2312</vt:lpstr>
      <vt:lpstr>宋体</vt:lpstr>
      <vt:lpstr>微软雅黑</vt:lpstr>
      <vt:lpstr>Arial</vt:lpstr>
      <vt:lpstr>Calibri</vt:lpstr>
      <vt:lpstr>Calibri Light</vt:lpstr>
      <vt:lpstr>Times New Roman</vt:lpstr>
      <vt:lpstr>Verdana</vt:lpstr>
      <vt:lpstr>Wingdings</vt:lpstr>
      <vt:lpstr>1_Profile</vt:lpstr>
      <vt:lpstr>自定义设计方案</vt:lpstr>
      <vt:lpstr>1_自定义设计方案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NEC</dc:creator>
  <cp:lastModifiedBy>BLAIR</cp:lastModifiedBy>
  <cp:revision>2436</cp:revision>
  <cp:lastPrinted>1601-01-01T00:00:00Z</cp:lastPrinted>
  <dcterms:created xsi:type="dcterms:W3CDTF">2003-05-27T06:14:28Z</dcterms:created>
  <dcterms:modified xsi:type="dcterms:W3CDTF">2026-03-11T01:44:10Z</dcterms:modified>
</cp:coreProperties>
</file>