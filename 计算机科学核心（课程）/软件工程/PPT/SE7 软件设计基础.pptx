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sldSz cx="12190413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B07E21-6663-461A-B1E2-D0AAFC493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C16731-EAF1-4FBF-B916-7380A8996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D1A9-04A9-4C48-A353-D137D231AB2C}" type="datetimeFigureOut">
              <a:rPr lang="zh-CN" altLang="en-US" smtClean="0"/>
              <a:t>2023/10/6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F0E3CCF-DDD7-416E-AC79-029827F3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143EB5-1820-4FEE-870A-9FE7CCF49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D81-3966-4E29-9AB0-165DB02B6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425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362032A-3455-4D88-82F1-9543567DA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126"/>
            <a:ext cx="105142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DE84D0-8C44-4623-ABE2-0F05205BA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5625"/>
            <a:ext cx="105142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F9E8AD-1C32-49FB-AC7D-4BE32210A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6AD1A9-04A9-4C48-A353-D137D231AB2C}" type="datetimeFigureOut">
              <a:rPr lang="zh-CN" altLang="en-US" smtClean="0"/>
              <a:t>2023/10/6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E035C7-3653-4B7C-AD31-540CD672C0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6351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935A5B-1BB6-49B8-9B12-6E5183CA8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33D81-3966-4E29-9AB0-165DB02B6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29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E625C05-22FF-4051-9BB2-0E6D9335E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8E337F-7492-4CF8-B3CB-BFF68BB040E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93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51120E7-D806-453E-92DA-0FE6E56F5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4BAF08C-CE50-4BDB-9ACF-6F1A3F9862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4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3EC96B8-AEED-4295-9E0B-FCF7B0B34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1.1 </a:t>
            </a:r>
            <a:r>
              <a:rPr lang="zh-CN" altLang="en-US"/>
              <a:t>何为软件设计？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C4279CE-6D60-41B0-AECF-531D414BF1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87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8CA2E58-C6D3-477F-AFE3-B9C179B91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何为软件系统的解决方案？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A6443AD-D771-4FD7-9E46-5C751A82777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607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445096D-B7B8-42CD-82C4-8673A3A7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</a:t>
            </a:r>
            <a:r>
              <a:rPr lang="en-US" altLang="zh-CN"/>
              <a:t>“</a:t>
            </a:r>
            <a:r>
              <a:rPr lang="zh-CN" altLang="en-US"/>
              <a:t>小米便签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</a:t>
            </a:r>
            <a:r>
              <a:rPr lang="zh-CN" altLang="en-US"/>
              <a:t>软件实现解决方案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06AE57A-6FE8-4AE5-A620-315C861A55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836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C5CC259-598D-430D-83BF-DA82B36C2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从需求到设计和编码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4201C2-A459-43F7-9EEE-F912B92C954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064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F140DFC-E9BC-4A86-BD7A-A11516F13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 </a:t>
            </a:r>
            <a:r>
              <a:rPr lang="zh-CN" altLang="en-US"/>
              <a:t>需求分析、软件设计、软件实现间的关系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17A34B4-471F-488D-A9F3-80E7E5D9243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656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CA8EBC0-C13F-4CD9-8760-18C97C23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软件设计是需求分析和软件实现间的桥梁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8FA93F9-2E14-40F4-BC79-F259E043E65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548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FBDAD27-C733-4028-81C3-828E42C43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1.3 </a:t>
            </a:r>
            <a:r>
              <a:rPr lang="zh-CN" altLang="en-US"/>
              <a:t>设计的多样性和差异性：质量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5DAD0C7-160D-49D2-95FF-828828571C3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463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6A95068-E30F-4C3B-9280-89D559776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软件设计的</a:t>
            </a:r>
            <a:r>
              <a:rPr lang="zh-CN" altLang="zh-CN">
                <a:effectLst/>
              </a:rPr>
              <a:t>质量</a:t>
            </a:r>
            <a:r>
              <a:rPr lang="zh-CN" altLang="en-US">
                <a:effectLst/>
              </a:rPr>
              <a:t>要求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287E53C-E1DF-49F2-B142-9C7AD35AFF5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990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2EB42CF-6BA0-4F2B-8EE6-FBBC31ACC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1.4 </a:t>
            </a:r>
            <a:r>
              <a:rPr lang="zh-CN" altLang="zh-CN"/>
              <a:t>软件设计的过程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33C5FDB-B330-45C6-86F7-A10E63912E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104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A066787-4F3F-45AF-A81D-78B682A16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、体系结构设计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C9CA4BC-1C01-4F9E-AF9D-0C524AAE1CF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108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C329B44-7213-4FE9-AE44-40CA6CEB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、体系结构设计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AE8099-4479-4647-B5C1-B62D97E5D6D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08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FD8B605-7607-44D8-808B-7E821269F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例：分层体系结构风格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8405D26-56CE-4C90-A360-DDC229C501F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95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1D1928C-40B6-42CB-BD94-A16BBEA88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例：软件体系结构设计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123BED6-B997-474C-920B-D42A7F1C8EE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866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44C6519-275D-4C90-923F-67E89E6DD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 </a:t>
            </a:r>
            <a:r>
              <a:rPr lang="zh-CN" altLang="en-US"/>
              <a:t>用户界面设计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9FBD4D5-870F-4B07-8CFB-F4CAB6A00F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035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133A40D-B183-468A-BC17-39F710041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73D0B6A-4611-41EF-BD2F-5A1B6730F7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89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C1062D3-31DA-4DCA-8C70-4AC09509C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C391713-4480-492F-99BE-3E7A4C31F8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064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7FEF840-BC19-45C3-BE86-5A8C98FC4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 </a:t>
            </a:r>
            <a:r>
              <a:rPr lang="zh-CN" altLang="en-US"/>
              <a:t>用户界面设计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942E3B3-6E45-4947-A672-3F1A28EB6E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23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CA818BF-72A9-474B-86D8-512193463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 </a:t>
            </a:r>
            <a:r>
              <a:rPr lang="zh-CN" altLang="en-US"/>
              <a:t>详细设计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7AFA124-4884-4E49-B51D-214FEAFC43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47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5677F9C-7CBE-41AE-A25A-3AE755C7A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 </a:t>
            </a:r>
            <a:r>
              <a:rPr lang="zh-CN" altLang="en-US"/>
              <a:t>详细设计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61EC593-1764-4C87-AD40-BF5E62FB12A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265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B6D1D12-701A-4084-B6FE-20C11877F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5CECCF-FFFE-46F9-ACA2-F6FA28A5585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28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164712C-CF2E-4697-84AE-774C295B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软件设计的过程</a:t>
            </a:r>
            <a:r>
              <a:rPr lang="en-US" altLang="zh-CN"/>
              <a:t> – </a:t>
            </a:r>
            <a:r>
              <a:rPr lang="zh-CN" altLang="en-US"/>
              <a:t>其它的工作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5A1B60B-0355-4300-9FB3-A525CA246CE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030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14D81A4-9034-4D0C-9AEA-3620B647F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1.5 </a:t>
            </a:r>
            <a:r>
              <a:rPr lang="zh-CN" altLang="en-US"/>
              <a:t>软件设计元素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05C3F56-D719-4EF1-8144-400490A4BD2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731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3410556-C890-4F33-B4C9-250F86EE2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软件设计元素之间的关系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BC4472D-764D-4E71-A270-DFF00457B68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4739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6454E77-DA44-4A71-937F-E43702899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F2CD52-C45C-4FDD-A11B-3B950A1750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3491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05B6189-825E-4426-B0EC-794573445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</a:t>
            </a:r>
            <a:r>
              <a:rPr lang="zh-CN" altLang="en-US"/>
              <a:t>软件设计要考虑的因素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E65F77F-F1D7-42F4-995F-67A4CFC7C90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3718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AC8B3F6-B1D8-4404-AF66-B09654ECA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2.2 </a:t>
            </a:r>
            <a:r>
              <a:rPr lang="zh-CN" altLang="en-US"/>
              <a:t>软件设计基本原则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59B781B-AC70-4413-A4A7-EB643D1DBC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7708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1101D6F-666C-489A-8CEC-8789CD579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 </a:t>
            </a:r>
            <a:r>
              <a:rPr lang="zh-CN" altLang="en-US"/>
              <a:t>抽象原则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6EA37FB-1B67-4031-8C88-FFD714196F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8538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BBD88BB-E058-4DFC-A60B-A204B6F64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抽象层次的变化</a:t>
            </a:r>
            <a:endParaRPr lang="zh-CN" altLang="en-US" sz="3800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3BFC29C-B584-412C-B572-FBD6A72436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130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9AD45F5-8D5E-4CA8-A43D-B2A039D97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 </a:t>
            </a:r>
            <a:r>
              <a:rPr lang="zh-CN" altLang="en-US"/>
              <a:t>模块化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D717DFF-97B2-45B1-A623-026BEC57053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4504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C2940B5-5811-4A6F-89D7-FEC56BE0B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800">
                <a:latin typeface="Times New Roman" panose="02020603050405020304" pitchFamily="18" charset="0"/>
              </a:rPr>
              <a:t>一般规律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1EC11A7-4BAB-4E23-AC40-AA1DB12E67C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015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4CC263C-3D91-4869-A0FE-555FB447C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800">
                <a:latin typeface="Times New Roman" panose="02020603050405020304" pitchFamily="18" charset="0"/>
              </a:rPr>
              <a:t>总成本曲线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9CE981-3CA5-47C9-B68D-A455BB3360E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3731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47C87DD-9D3C-48F7-99A4-98861DA86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 </a:t>
            </a:r>
            <a:r>
              <a:rPr lang="zh-CN" altLang="en-US"/>
              <a:t>高内聚和低耦合原则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A64BA1-265F-4440-BC18-99E05E51808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3288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DCD0542-3A7C-4DD4-8587-B422A30FA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低耦合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64CE61-8BAB-45C6-89F6-DA76A805F98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104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E2950A7-BA14-44B8-B9DF-90DBC7889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>
                <a:latin typeface="Times New Roman" panose="02020603050405020304" pitchFamily="18" charset="0"/>
              </a:rPr>
              <a:t>非直接耦合</a:t>
            </a:r>
            <a:endParaRPr lang="zh-CN" altLang="en-US" sz="380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1A79B21-8E6E-4CE9-8CE6-E9DF73D50A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114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E2CCBE3-B476-40FB-8186-2E1D893D9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>
                <a:latin typeface="Times New Roman" panose="02020603050405020304" pitchFamily="18" charset="0"/>
              </a:rPr>
              <a:t>数据耦合</a:t>
            </a:r>
            <a:endParaRPr lang="zh-CN" altLang="en-US" sz="380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D3E3580-F879-4E94-AFA0-96459C15D0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0542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FCEE25B-008D-4A8E-86EC-8F2350ECD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>
                <a:latin typeface="Times New Roman" panose="02020603050405020304" pitchFamily="18" charset="0"/>
              </a:rPr>
              <a:t>控制耦合</a:t>
            </a:r>
            <a:endParaRPr lang="zh-CN" altLang="en-US" sz="380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2C9209D-3A25-4676-9B76-40E4ECBB759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6623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DD1262F-651F-4267-82C7-893D33CB2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>
                <a:latin typeface="Times New Roman" panose="02020603050405020304" pitchFamily="18" charset="0"/>
              </a:rPr>
              <a:t>特征耦合</a:t>
            </a:r>
            <a:endParaRPr lang="zh-CN" altLang="en-US" sz="3800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026FF2-208E-48B4-93C6-872F62781FA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15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728BF25-D3E0-40A7-93C5-2882A1602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>
                <a:latin typeface="Times New Roman" panose="02020603050405020304" pitchFamily="18" charset="0"/>
              </a:rPr>
              <a:t>外部耦合</a:t>
            </a:r>
            <a:endParaRPr lang="zh-CN" altLang="en-US" sz="3800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4C6A6D-3AF7-4860-88E4-C001289415F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3465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2566285-0CFE-4AE1-847C-25007DE1E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>
                <a:latin typeface="Times New Roman" panose="02020603050405020304" pitchFamily="18" charset="0"/>
              </a:rPr>
              <a:t>公共耦合</a:t>
            </a:r>
            <a:endParaRPr lang="zh-CN" altLang="en-US" sz="380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CAC4C78-074C-4598-9ABF-4C39C7D109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2068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28D785D-9709-4B6F-806F-61BA85ADC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>
                <a:latin typeface="Times New Roman" panose="02020603050405020304" pitchFamily="18" charset="0"/>
              </a:rPr>
              <a:t>内容耦合</a:t>
            </a:r>
            <a:endParaRPr lang="zh-CN" altLang="en-US" sz="3800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194863C-91D3-4ACB-88E2-86FEB79CFC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224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8F2265F-CBFF-48FD-8801-4B2B59ADA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高内聚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2835519-9AA0-4DDC-965D-D19BFC64F2D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9873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66F4300-06C6-40B5-9B8D-97FD1BE6F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en-US" altLang="zh-CN"/>
              <a:t> </a:t>
            </a:r>
            <a:r>
              <a:rPr lang="zh-CN" altLang="en-US"/>
              <a:t>信息隐藏原则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54177E-C3BC-4071-8EB2-CF4E6F3AB0A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6534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4EE0456-C57F-4731-BDAD-F650C0C82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信息隐藏示例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65BDD41-D880-453C-B104-A873C2DD75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2988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9BD4BA0-9F9F-4AAA-A128-4CE5C51AB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</a:t>
            </a:r>
            <a:r>
              <a:rPr lang="zh-CN" altLang="en-US"/>
              <a:t>、</a:t>
            </a:r>
            <a:r>
              <a:rPr lang="en-US" altLang="zh-CN"/>
              <a:t> </a:t>
            </a:r>
            <a:r>
              <a:rPr lang="zh-CN" altLang="en-US"/>
              <a:t>软件重用原则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08F362F-1FC2-466B-B3F8-1515EAD3A78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2688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25D43A2-D623-4300-81DB-DABDB5BEE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 </a:t>
            </a:r>
            <a:r>
              <a:rPr lang="zh-CN" altLang="en-US"/>
              <a:t>、软件设计的其它原则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97B05B-070B-4ACD-8E95-0109124C97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8446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B04BC73-04D0-4EC9-BD5C-11A88C326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3DE9561-EAE3-4A6F-93E2-9FD2274A91D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975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D2C383C-D8C5-4315-BD7D-66E582DB2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 </a:t>
            </a:r>
            <a:r>
              <a:rPr lang="zh-CN" altLang="en-US"/>
              <a:t>面向对象软件设计方法学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7421D6-46BC-4E54-A13B-9410F92DF7D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6112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317FC7F-A018-4D7B-9D28-1E72FD5FF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面向对象软件设计方法学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826498C-C5BD-49B2-AAD8-438C32848B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4372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62C8440-1C47-416A-804E-7DF2265D9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en-US"/>
              <a:t>面向对象软件设计过程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BF0F402-63C7-4D14-A93F-7A0F6D444F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3421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25A8A96-F15B-4920-A5DA-EA002E72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例：用交互图来表示用户界面设计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7BF3ABC-CEE3-4611-9937-C4C9D271E2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088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EA7F8AE-57F6-449A-949C-5E2A6FEB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 </a:t>
            </a:r>
            <a:r>
              <a:rPr lang="zh-CN" altLang="en-US"/>
              <a:t>面向对象的软件设计原则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0BD8F7-3379-4637-A1A5-2CF8AE4EFF1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945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F8A0CBE-5E87-46BD-B9D0-D1A32EF2C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单一职责原则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0402160-2A0F-47C6-A889-03F32ABAC95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2291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2046277-2199-4857-B4B5-C283108E0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例</a:t>
            </a:r>
            <a:br>
              <a:rPr lang="en-US" altLang="zh-CN"/>
            </a:b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CC9EE8E-C70F-4EBB-9A9F-12D2453144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1533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832DBDF-4DBA-4588-80C1-E2ECB76C1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例</a:t>
            </a:r>
            <a:br>
              <a:rPr lang="en-US" altLang="zh-CN"/>
            </a:b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E01640D-9ADA-429E-852F-A4D84E5ECE5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9355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3BBD7BC-2E22-4B6C-88B1-667B10D34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开闭原则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3048A5B-B315-412D-90B5-1EDF02C9066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3104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BBDBB38-E05C-481A-B8FD-7C6CBD6EA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2CE914E-AC1E-4360-B900-97CA424AC15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4045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E14B984-3C8E-4984-9FFC-73C6F9907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90DCA6-27A0-4EB6-9C9F-C1E26EFA660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3540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C50A641-27BC-4742-9277-A21996B9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里氏替换原则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BB94F6A-C52B-49B8-B0BF-71489BC10C1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4995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6303F74-2269-4939-9D76-83B203464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例：长方形和正方形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27274CF-9E66-4FF1-BF9E-A4364860722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2938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1FB9568-20DD-449B-9432-FD2C790C4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例：长方形和正方形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3A01CD-788D-4EA3-82F7-532290A0E3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1197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2E4D51F-7140-4971-9C8B-D5853597D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例：长方形和正方形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A589BA-A418-47B7-95A4-6DB78540F1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6585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B123599-AAD2-4140-BD66-546A1F627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例：长方形和正方形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D320432-CF27-4E38-AD73-0B58E44E94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483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F5D0A30-C988-449C-B523-D6D0674C5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例：长方形和正方形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844737F-198E-42EE-A82C-5C4B45F733B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23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2B3F838-E615-4593-B4C3-45DADB2E9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接口隔离原则 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F4D31C-16CF-45FD-A95C-F0BF5FA4BC2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44704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70D2938-879B-4E1C-AE09-B065F04D4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例：全文搜索引擎的系统设计</a:t>
            </a:r>
            <a:r>
              <a:rPr lang="en-US" altLang="zh-CN"/>
              <a:t>--Bad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5A15525-5EEE-4B7B-9FE2-84916667FF6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0634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6396D98-9678-4AC4-A2F5-991AA5973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例：全文搜索引擎的系统设计</a:t>
            </a:r>
            <a:r>
              <a:rPr lang="en-US" altLang="zh-CN"/>
              <a:t>--Good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E71064-7FDD-4C94-80E0-05A21A4E361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19871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AC7483E-EDE9-4AA1-A90C-6014EC15F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依赖倒置原则 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894E413-11DD-4FE4-851E-9038E4F1996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1800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42D7613-AAE1-41BD-AD5C-6ABFEEE47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例：支付方式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7513456-9E3C-457B-89C5-EBD38A41C4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9317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F0D9786-3855-4D8D-B9D0-9E83834D8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最少知识原则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C2A784C-1C23-41EE-835A-A78B7182ABC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382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001C1AD-3EE4-43D3-9DCE-3E95D964F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不满足迪米特法则的系统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F9695A-3D11-4D1B-B14F-3150E9ED4E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3800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E55E134-2A69-4704-A219-1CE4F5AB6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使用迪米特法则进行改造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DB9D274-ED08-430B-A2F8-16EAAA310C3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137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FA86341-28DE-447F-A8F1-5FEBDF78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使用迪米特法则进行改造</a:t>
            </a:r>
            <a:r>
              <a:rPr lang="en-US" altLang="zh-CN"/>
              <a:t>—</a:t>
            </a:r>
            <a:r>
              <a:rPr lang="zh-CN" altLang="en-US"/>
              <a:t>重构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552F023-3D9C-4F94-955E-F5F6596D05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4258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A5AA80F-5AB7-4465-A914-258299A88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49BF959-C81F-41B7-842C-A03976FF9B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7413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69A8A7A-3ECF-42E9-8EAB-F7D923C37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4.1 </a:t>
            </a:r>
            <a:r>
              <a:rPr lang="zh-CN" altLang="en-US"/>
              <a:t>软件设计的输出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9F9BEF0-B6D4-4F09-A27E-2C68ED6785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3717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2FB0868-6FE6-4017-A019-5C0E67E65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4.2 </a:t>
            </a:r>
            <a:r>
              <a:rPr lang="zh-CN" altLang="zh-CN"/>
              <a:t>软件设计文档的规范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D9E6165-6233-450F-B039-444FC80912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75471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28E16B5-C2BD-4B88-BCF0-FFDE7476E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4.3 </a:t>
            </a:r>
            <a:r>
              <a:rPr lang="zh-CN" altLang="en-US"/>
              <a:t>软件设计中的缺陷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E3F716-73D0-4F41-A2AA-48A050CB67E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51159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35EBA57-B716-4379-BA67-729605A1E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4.4 </a:t>
            </a:r>
            <a:r>
              <a:rPr lang="zh-CN" altLang="en-US"/>
              <a:t>软件设计的评审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02646CB-A334-462B-B4FE-5B509D1BE6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54642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626689E-5D7F-4ACE-93DA-ACB2157CA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4.5 </a:t>
            </a:r>
            <a:r>
              <a:rPr lang="zh-CN" altLang="en-US"/>
              <a:t>软件设计的管理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7552B0B-7BB1-4BCB-81E1-0E6181252E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54285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EA6B20F-FD39-435B-B507-D0C74A8B4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0E3B213-3580-4450-A0E5-EC270A3B74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00894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6D97D44-5033-4E91-9059-812007E95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zh-CN"/>
              <a:t>综合实践</a:t>
            </a:r>
            <a:endParaRPr lang="zh-CN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A27961-E153-4B9F-BD1D-9E3DC9AF1A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95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自定义</PresentationFormat>
  <Paragraphs>79</Paragraphs>
  <Slides>82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82</vt:i4>
      </vt:variant>
    </vt:vector>
  </HeadingPairs>
  <TitlesOfParts>
    <vt:vector size="87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内容</vt:lpstr>
      <vt:lpstr>1.1 何为软件设计？</vt:lpstr>
      <vt:lpstr>何为软件系统的解决方案？</vt:lpstr>
      <vt:lpstr>例：“小米便签”的软件实现解决方案</vt:lpstr>
      <vt:lpstr>从需求到设计和编码</vt:lpstr>
      <vt:lpstr>1.2 需求分析、软件设计、软件实现间的关系</vt:lpstr>
      <vt:lpstr>软件设计是需求分析和软件实现间的桥梁</vt:lpstr>
      <vt:lpstr>1.3 设计的多样性和差异性：质量</vt:lpstr>
      <vt:lpstr>软件设计的质量要求</vt:lpstr>
      <vt:lpstr>1.4 软件设计的过程</vt:lpstr>
      <vt:lpstr>1、体系结构设计</vt:lpstr>
      <vt:lpstr>1、体系结构设计</vt:lpstr>
      <vt:lpstr>例：分层体系结构风格</vt:lpstr>
      <vt:lpstr>例：软件体系结构设计</vt:lpstr>
      <vt:lpstr>2、 用户界面设计</vt:lpstr>
      <vt:lpstr>PowerPoint 演示文稿</vt:lpstr>
      <vt:lpstr>PowerPoint 演示文稿</vt:lpstr>
      <vt:lpstr>2、 用户界面设计</vt:lpstr>
      <vt:lpstr>3、 详细设计</vt:lpstr>
      <vt:lpstr>3、 详细设计</vt:lpstr>
      <vt:lpstr>小结</vt:lpstr>
      <vt:lpstr>软件设计的过程 – 其它的工作</vt:lpstr>
      <vt:lpstr>1.5 软件设计元素</vt:lpstr>
      <vt:lpstr>软件设计元素之间的关系</vt:lpstr>
      <vt:lpstr>内容</vt:lpstr>
      <vt:lpstr>2.1 软件设计要考虑的因素</vt:lpstr>
      <vt:lpstr>2.2 软件设计基本原则</vt:lpstr>
      <vt:lpstr>1、 抽象原则</vt:lpstr>
      <vt:lpstr>抽象层次的变化</vt:lpstr>
      <vt:lpstr>2、 模块化</vt:lpstr>
      <vt:lpstr>一般规律</vt:lpstr>
      <vt:lpstr>总成本曲线</vt:lpstr>
      <vt:lpstr>3、 高内聚和低耦合原则</vt:lpstr>
      <vt:lpstr>低耦合</vt:lpstr>
      <vt:lpstr>非直接耦合</vt:lpstr>
      <vt:lpstr>数据耦合</vt:lpstr>
      <vt:lpstr>控制耦合</vt:lpstr>
      <vt:lpstr>特征耦合</vt:lpstr>
      <vt:lpstr>外部耦合</vt:lpstr>
      <vt:lpstr>公共耦合</vt:lpstr>
      <vt:lpstr>内容耦合</vt:lpstr>
      <vt:lpstr>高内聚</vt:lpstr>
      <vt:lpstr>4、 信息隐藏原则</vt:lpstr>
      <vt:lpstr>信息隐藏示例</vt:lpstr>
      <vt:lpstr>5、 软件重用原则</vt:lpstr>
      <vt:lpstr>6 、软件设计的其它原则</vt:lpstr>
      <vt:lpstr>内容</vt:lpstr>
      <vt:lpstr>3.1 面向对象软件设计方法学</vt:lpstr>
      <vt:lpstr>面向对象软件设计方法学</vt:lpstr>
      <vt:lpstr>3.2 面向对象软件设计过程</vt:lpstr>
      <vt:lpstr>例：用交互图来表示用户界面设计</vt:lpstr>
      <vt:lpstr>3.3 面向对象的软件设计原则</vt:lpstr>
      <vt:lpstr>单一职责原则</vt:lpstr>
      <vt:lpstr>例 </vt:lpstr>
      <vt:lpstr>例 </vt:lpstr>
      <vt:lpstr>开闭原则</vt:lpstr>
      <vt:lpstr>例</vt:lpstr>
      <vt:lpstr>例</vt:lpstr>
      <vt:lpstr>里氏替换原则</vt:lpstr>
      <vt:lpstr>例：长方形和正方形</vt:lpstr>
      <vt:lpstr>例：长方形和正方形</vt:lpstr>
      <vt:lpstr>例：长方形和正方形</vt:lpstr>
      <vt:lpstr>例：长方形和正方形</vt:lpstr>
      <vt:lpstr>例：长方形和正方形</vt:lpstr>
      <vt:lpstr>接口隔离原则 </vt:lpstr>
      <vt:lpstr>例：全文搜索引擎的系统设计--Bad</vt:lpstr>
      <vt:lpstr>例：全文搜索引擎的系统设计--Good</vt:lpstr>
      <vt:lpstr>依赖倒置原则 </vt:lpstr>
      <vt:lpstr>例：支付方式</vt:lpstr>
      <vt:lpstr>最少知识原则</vt:lpstr>
      <vt:lpstr>不满足迪米特法则的系统</vt:lpstr>
      <vt:lpstr>使用迪米特法则进行改造</vt:lpstr>
      <vt:lpstr>使用迪米特法则进行改造—重构</vt:lpstr>
      <vt:lpstr>内容</vt:lpstr>
      <vt:lpstr>4.1 软件设计的输出</vt:lpstr>
      <vt:lpstr>4.2 软件设计文档的规范</vt:lpstr>
      <vt:lpstr>4.3 软件设计中的缺陷</vt:lpstr>
      <vt:lpstr>4.4 软件设计的评审</vt:lpstr>
      <vt:lpstr>4.5 软件设计的管理</vt:lpstr>
      <vt:lpstr>小结</vt:lpstr>
      <vt:lpstr>综合实践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18465</dc:creator>
  <cp:lastModifiedBy>18465</cp:lastModifiedBy>
  <cp:revision>1</cp:revision>
  <dcterms:created xsi:type="dcterms:W3CDTF">2023-10-06T13:40:05Z</dcterms:created>
  <dcterms:modified xsi:type="dcterms:W3CDTF">2023-10-06T13:40:05Z</dcterms:modified>
</cp:coreProperties>
</file>