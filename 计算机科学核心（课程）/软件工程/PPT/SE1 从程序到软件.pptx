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sldSz cx="12190413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E058B0-F0BC-49BC-9607-5E5C7DE0D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D79B6A-341F-4C17-9DB8-FFDB0B08F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3A15-E2F4-43AE-A827-C3188243E50D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8CFD11-A29D-4B89-84C1-2FF4D4740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97D1B4-9B9F-4206-9136-6571BC384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6E735-DE39-456B-9633-ECFBE59DBE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51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DBD7BE-C51A-4690-AC5C-0F5454DE6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126"/>
            <a:ext cx="105142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0A200F-F38C-4CE4-898A-8B3083596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5625"/>
            <a:ext cx="10514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DDB17F-0E5C-4501-A3BC-8E5737F5F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F3A15-E2F4-43AE-A827-C3188243E50D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3BC4DA-5EB3-4BE5-BAF9-C2F6368E1B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6351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8E8993-505C-4A8C-8A73-F89ECD9AC6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6E735-DE39-456B-9633-ECFBE59DBE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37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6183C18-BDB2-4BFA-BE15-25B2F6437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6001">
                <a:latin typeface="微软雅黑" panose="020B0503020204020204" pitchFamily="34" charset="-122"/>
                <a:ea typeface="微软雅黑" panose="020B0503020204020204" pitchFamily="34" charset="-122"/>
              </a:rPr>
              <a:t>第一部分   </a:t>
            </a:r>
            <a:r>
              <a:rPr lang="en-US" altLang="zh-CN" sz="600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6001"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  <a:endParaRPr lang="zh-CN" altLang="en-US" sz="600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9F7B40-3E82-4659-AD2E-D9A4DF70A6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73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D48D7F5-029F-4E21-913E-D5F0C8D4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E421A46-0914-433E-AB02-4EDED6446D2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430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0269052-2E59-4BB4-B219-0C1649507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CB6911-3810-4417-9B54-2335AEF652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5752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FA82DB0-C8AF-4A08-B7AC-E9242A64F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内容</a:t>
            </a:r>
            <a:endParaRPr lang="zh-CN" altLang="en-US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21C5402-0E7E-4747-B8A5-DB07B8AA2E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9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080E170-127E-4D14-B413-573CFC67E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1.1 </a:t>
            </a:r>
            <a:r>
              <a:rPr lang="zh-CN" altLang="en-US"/>
              <a:t>何为程序？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947AC43-7BFB-46C4-9B0B-B0A3EBA0CC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601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BF180AE-7630-4CCB-B8E5-752C07C87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程序代码示例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18C3EA-6DF9-4965-B9B1-2E18D26CF1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802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A22A6EC-99CE-48FB-8D37-4C243AA56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 </a:t>
            </a:r>
            <a:r>
              <a:rPr lang="zh-CN" altLang="en-US"/>
              <a:t>程序组成</a:t>
            </a:r>
            <a:r>
              <a:rPr lang="en-US" altLang="zh-CN"/>
              <a:t>-</a:t>
            </a:r>
            <a:r>
              <a:rPr lang="zh-CN" altLang="en-US"/>
              <a:t>语句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BD6F63B-CD0E-4714-9278-3F1911A42F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58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C105DED-99F6-4468-B2F6-9D4DA16BA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程序组成</a:t>
            </a:r>
            <a:r>
              <a:rPr lang="en-US" altLang="zh-CN"/>
              <a:t>-</a:t>
            </a:r>
            <a:r>
              <a:rPr lang="zh-CN" altLang="en-US"/>
              <a:t>模块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A623E90-9507-4AD8-8F23-7A480182BE8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671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AAA83DB-5918-400D-9907-94E471585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1.3 </a:t>
            </a:r>
            <a:r>
              <a:rPr lang="zh-CN" altLang="en-US"/>
              <a:t>程序如何编写？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40E69E5-D067-4A67-8CF2-E2EAEE7F101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15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80E81B6-484F-4CEF-AFC4-25594EA31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程序的编辑、编译、部署和运行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B2EFEAC-993A-4311-93F1-A0B249F4D83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840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40BC110-F96B-4247-94F4-364E125E4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1.4 </a:t>
            </a:r>
            <a:r>
              <a:rPr lang="zh-CN" altLang="en-US"/>
              <a:t>程序的二类利益相关者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05F109-3540-4633-893E-BE5B4CD35AF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506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A0ACB26-DC45-4DE5-9FBB-865FFC97E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对程序的不同质量需求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9452F2-F670-4ACB-B239-65DC1D6BAA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4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14E7B9D-C1A1-4D4E-AFE1-BB2CE0F47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1.5 </a:t>
            </a:r>
            <a:r>
              <a:rPr lang="zh-CN" altLang="en-US"/>
              <a:t>程序质量的内在和外在体现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D5F73EE-914A-4DA1-BC43-21FD76F165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099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C8128E2-EE67-43A2-9E2C-665DBB69A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示例：从用户和程序员视角看程序质量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07DD9A-E8A3-4A2C-9394-D205A3D768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22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C951BB9-1F67-4871-982B-5B5A225B5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示例：程序代码质量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5674A62-3086-449A-BCB7-6E2F3A3A0ED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510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0F6F75D-96AA-450F-BB70-18A04AB1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内容</a:t>
            </a:r>
            <a:endParaRPr lang="zh-CN" altLang="en-US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AEDB85-DEBC-451F-B4E6-C2DC9A22A6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504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EE66C24-12C9-47FC-B8F5-41B77532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程序质量的语法和语义体现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284DAE8-2F47-4BD3-8FD2-AD3D6B3691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13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4097E06-894C-49D4-84FB-709681573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程序质量保证方法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9C19ABC-CA18-42E9-A9E7-CD3339925A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69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6959665-41EA-48B5-B64C-A4049FCDE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2.2 </a:t>
            </a:r>
            <a:r>
              <a:rPr lang="zh-CN" altLang="en-US"/>
              <a:t>遵循</a:t>
            </a:r>
            <a:r>
              <a:rPr lang="zh-CN" altLang="zh-CN"/>
              <a:t>编码风格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0B0FC9-BD80-4879-ABCC-F4FEBFC92CC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300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AC20982-DB5E-4042-ACB0-5B7A6076E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示例：遵循编码风格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7121D4B-716C-4DB5-B3FE-CBFBD66E936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728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D500F75-B9AA-4736-B09B-833AF7D7A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en-US"/>
              <a:t>采用程序设计方法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766718-E8B7-492A-A316-494D4E94D70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814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B8253BF-7963-474B-AB14-0831F77EF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2.4 </a:t>
            </a:r>
            <a:r>
              <a:rPr lang="zh-CN" altLang="en-US"/>
              <a:t>代码重用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8D14BB-8E43-44C0-92E6-3F5FFD096E4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39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B7DDF06-7866-49FB-954A-A9F70AC7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重用代码片段</a:t>
            </a:r>
            <a:br>
              <a:rPr lang="zh-CN" altLang="zh-CN"/>
            </a:b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4E93D5-DB88-49B5-9B7C-9ABC8B3D37D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424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925D97A-1779-46BE-AD17-034D741F2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重用函数、类和软构件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82E8A7C-6BA7-4AFD-A076-7B30FBA28CB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30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3DBCE10-31C6-4606-80C5-F25C09A4C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重用开源代码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3ABD9D7-5066-40A1-9AD8-72923FF731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332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0A832DF-03AD-4446-9A7D-C5E2AE12F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521144-BAF6-4687-A8C1-391D99BFBB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46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60F4A13-1A01-4E40-84C9-9CDD85E04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C2EB0B-1951-4B7C-A3DC-3DA315F112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594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7DA07CA-F6C0-40D1-9A8F-73D38A790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内容</a:t>
            </a:r>
            <a:endParaRPr lang="zh-CN" altLang="en-US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CB7D33-2C1E-48B9-9FFA-AF68F15614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901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4EE8596-B2D3-46DC-8CA7-4B79B7D70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 </a:t>
            </a:r>
            <a:r>
              <a:rPr lang="zh-CN" altLang="en-US"/>
              <a:t>程序代码中潜在的质量问题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293100-0FA8-4174-B5F2-69F70CA745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351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7194E3B-F1CD-40B0-8D60-9D34C6B8E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代码质量分析的常用方法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DF0D7D8-C932-4E9F-AFBD-6BFF7542D04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382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E81834E-B2ED-43D4-B7AA-DBB1425D0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en-US"/>
              <a:t>人工代码审查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4A42B6-B300-4F25-B605-7D6BA0AE3A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0465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5B3304A-68D9-4F96-B604-D982C4A40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人工审查些什么？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C56167-AA00-417D-833B-D2E3D18750F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2031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EE48709-CD0A-4C2A-9480-CDCE43E0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 </a:t>
            </a:r>
            <a:r>
              <a:rPr lang="zh-CN" altLang="en-US"/>
              <a:t>自动化工具审查</a:t>
            </a:r>
            <a:r>
              <a:rPr lang="en-US" altLang="zh-CN"/>
              <a:t>-</a:t>
            </a:r>
            <a:r>
              <a:rPr lang="zh-CN" altLang="en-US"/>
              <a:t>代码静态分析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02DCC4-4AAA-45B8-A186-62D31662396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8856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C993BAE-570A-4A86-A664-F6DCFAC78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自动化代码分析工具</a:t>
            </a:r>
            <a:r>
              <a:rPr lang="en-US" altLang="zh-CN"/>
              <a:t>SonarQube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584685-9C15-41BE-B02C-3D2FC5500E7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211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D392671-4934-4DF1-8B49-78161057A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SonarQube</a:t>
            </a:r>
            <a:r>
              <a:rPr lang="zh-CN" altLang="en-US"/>
              <a:t>概述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F24D49-089F-44DD-B2DE-86ED876881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707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9666506-4A3F-461B-A547-13EA0B09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SonarQube</a:t>
            </a:r>
            <a:r>
              <a:rPr lang="zh-CN" altLang="en-US"/>
              <a:t>可分析的质量问题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F3D4E2-EAD1-475E-95E0-65CB6B74066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9063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4C3BC87-F226-495C-B221-7A498778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SonarQube</a:t>
            </a:r>
            <a:r>
              <a:rPr lang="zh-CN" altLang="en-US"/>
              <a:t>分析报告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3970ADA-3165-4DCB-9F6E-896AEB2951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148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48C5C98-299E-4B55-A879-ADD9BB73C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3.4 </a:t>
            </a:r>
            <a:r>
              <a:rPr lang="zh-CN" altLang="en-US"/>
              <a:t>软件测试技术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8FCA1A9-DFC9-4C35-85E9-7BF06A238E6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9890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B691372-7FB4-43D3-8291-2FBDF721D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软件测试的目的和任务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EC4829C-26BA-4B33-B73C-BB59807DB5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148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A036ED3-E277-4FD0-93C4-CB832B9E2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内容</a:t>
            </a:r>
            <a:endParaRPr lang="zh-CN" altLang="en-US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171AFF-CB5E-4D35-8588-55B6AA5937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1819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FE88FB9-5023-4A5A-97D6-02CD53788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4.1 </a:t>
            </a:r>
            <a:r>
              <a:rPr lang="zh-CN" altLang="en-US"/>
              <a:t>从程序到软件</a:t>
            </a:r>
            <a:r>
              <a:rPr lang="en-US" altLang="zh-CN"/>
              <a:t>-</a:t>
            </a:r>
            <a:r>
              <a:rPr lang="zh-CN" altLang="en-US"/>
              <a:t>工程开发的启发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83A2577-287F-435B-964B-083FC10A5E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0360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66AA91F-2FBE-4A31-9F03-08125BCC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编写出程序需要经历诸多的步骤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DBB977-CE12-4201-8C41-8A5C3C38A1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7823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6AE9878-0C5C-467E-BB41-9980D1BAA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4.2 </a:t>
            </a:r>
            <a:r>
              <a:rPr lang="zh-CN" altLang="en-US"/>
              <a:t>何为软件</a:t>
            </a:r>
            <a:r>
              <a:rPr lang="en-US" altLang="zh-CN"/>
              <a:t>?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E3F91F-1CA8-4910-A178-8EAF5341CB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5959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B608078-3882-413F-A4D7-2B6AC03A9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问题</a:t>
            </a:r>
            <a:r>
              <a:rPr lang="en-US" altLang="zh-CN"/>
              <a:t>1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08FD01-8280-4AF1-A0FA-F7A166BAB72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660490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3108753-FF1A-4820-BB2D-A53B825D1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问题</a:t>
            </a:r>
            <a:r>
              <a:rPr lang="en-US" altLang="zh-CN"/>
              <a:t>2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80E256-AFAA-4E83-84DF-CC1B1C8643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919695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9E0E0F6-8499-457E-982F-43B4891DB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问题</a:t>
            </a:r>
            <a:r>
              <a:rPr lang="en-US" altLang="zh-CN"/>
              <a:t>3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058FE5-391E-4503-8314-DCC10D6816C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174632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230CC32-5624-4652-96FE-5023025B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4.3 </a:t>
            </a:r>
            <a:r>
              <a:rPr lang="zh-CN" altLang="en-US" sz="3600"/>
              <a:t>软件生命周期</a:t>
            </a:r>
            <a:endParaRPr lang="zh-CN" altLang="en-US" sz="3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86A16D3-E8EA-4FA2-B9CA-EB27754E9E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010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26C9F7C-4E55-4118-AE43-B0B74DC9D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软件的生命周期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0A0D36-FCE5-459C-8EEC-E4077C7878C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8300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BBC1A82-880C-4504-B4EE-0A9B9CD3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4.4 </a:t>
            </a:r>
            <a:r>
              <a:rPr lang="zh-CN" altLang="en-US"/>
              <a:t>软件特点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0D1046-064A-41B0-B7C7-D21FC873BDE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320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72684F7-2331-4370-8F98-CE49C0E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4.5 </a:t>
            </a:r>
            <a:r>
              <a:rPr lang="zh-CN" altLang="en-US"/>
              <a:t>软件质量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3AF6697-ADEB-47D8-883F-DFCA0A760D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5116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67B9B4D-DE44-4497-92F5-B416BB4FA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软件质量因素（</a:t>
            </a:r>
            <a:r>
              <a:rPr lang="en-US" altLang="zh-CN"/>
              <a:t>1/3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6474FEA-B28C-4349-8E7E-5647293853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300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1113DF7-BD1A-4582-83EE-66ABCBA2F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软件质量因素（</a:t>
            </a:r>
            <a:r>
              <a:rPr lang="en-US" altLang="zh-CN"/>
              <a:t>2/3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81AD222-8FB6-4890-97EC-268CDD71E9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7409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3754204-B260-46C6-8B3F-695E19170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软件质量因素（</a:t>
            </a:r>
            <a:r>
              <a:rPr lang="en-US" altLang="zh-CN"/>
              <a:t>3/3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1E6DBD-6BD4-4AE9-B776-6A43B5C264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140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C4C8E98-8DBB-462C-B642-78BB130C2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4.6 </a:t>
            </a:r>
            <a:r>
              <a:rPr lang="zh-CN" altLang="zh-CN"/>
              <a:t>软件的地位和作用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82E536E-28FD-4E2F-AF18-F3F264F07BE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0883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B808897-AC08-43A8-9DE3-79644F900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4.7 </a:t>
            </a:r>
            <a:r>
              <a:rPr lang="zh-CN" altLang="en-US"/>
              <a:t>软件的运行环境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B0A4456-DD08-45F2-B238-2B8DC281D9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4019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3F6DFF3-13C0-4FB4-A009-68B34EA00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4.8 </a:t>
            </a:r>
            <a:r>
              <a:rPr lang="zh-CN" altLang="en-US"/>
              <a:t>软件形态</a:t>
            </a:r>
            <a:r>
              <a:rPr lang="en-US" altLang="zh-CN"/>
              <a:t>-</a:t>
            </a:r>
            <a:r>
              <a:rPr lang="zh-CN" altLang="en-US"/>
              <a:t>人机物共生系统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80BFA3-ABAF-4CF9-B277-6B45D8BAED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962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287AA6A-EB36-4C14-8051-12F4EABB4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软件形态</a:t>
            </a:r>
            <a:r>
              <a:rPr lang="en-US" altLang="zh-CN"/>
              <a:t>-</a:t>
            </a:r>
            <a:r>
              <a:rPr lang="zh-CN" altLang="en-US"/>
              <a:t>系统之系统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20EE83D-A2D2-4943-961E-02310D9C292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9370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9B36718-38E5-489F-85B4-2F5A3866B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软件形态</a:t>
            </a:r>
            <a:r>
              <a:rPr lang="en-US" altLang="zh-CN"/>
              <a:t>-</a:t>
            </a:r>
            <a:r>
              <a:rPr lang="zh-CN" altLang="zh-CN"/>
              <a:t>分布式异构系统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FA5545A-A78B-42F9-82A6-A10EF9A142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6799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628886B-3638-4DC9-A1D6-7710D4CBE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软件</a:t>
            </a:r>
            <a:r>
              <a:rPr lang="zh-CN" altLang="en-US"/>
              <a:t>新</a:t>
            </a:r>
            <a:r>
              <a:rPr lang="zh-CN" altLang="zh-CN"/>
              <a:t>形态</a:t>
            </a:r>
            <a:r>
              <a:rPr lang="en-US" altLang="zh-CN"/>
              <a:t>-</a:t>
            </a:r>
            <a:r>
              <a:rPr lang="zh-CN" altLang="en-US"/>
              <a:t>软件即模型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1D6EC1-44C8-4653-B543-FD67367927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4822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E3E9472-1BEC-47D1-9E5D-D92C38E1B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4.9 </a:t>
            </a:r>
            <a:r>
              <a:rPr lang="zh-CN" altLang="en-US"/>
              <a:t>我国</a:t>
            </a:r>
            <a:r>
              <a:rPr lang="zh-CN" altLang="zh-CN"/>
              <a:t>软件建设的挑战和使命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9CF382-A5D6-4FC7-A51F-ACC302D631D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2914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A5E59B9-1F6B-42A9-A9E5-C1195460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内容</a:t>
            </a:r>
            <a:endParaRPr lang="zh-CN" altLang="en-US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6734FA-DA65-4D42-8911-9166CD283E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2379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FD3B6C7-2EFA-4DBB-A4AE-49395DC2F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5.1 </a:t>
            </a:r>
            <a:r>
              <a:rPr lang="zh-CN" altLang="en-US"/>
              <a:t>闭源软件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74DF35-1EED-4AAD-99E3-9EE50F80F77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4137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4E3652E-6C69-4B27-9783-2100A753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5.2 </a:t>
            </a:r>
            <a:r>
              <a:rPr lang="zh-CN" altLang="en-US"/>
              <a:t>开源软件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9B54A7-3E59-417C-BA60-B7619588D89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5439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A48B760-1836-4084-8866-EBD993E0C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示例：开源软件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ED48AF-6848-4D85-A10E-206E84BE8D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6673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BA40DCA-5740-4694-901C-525209F0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开源软件正逐步替代闭源软件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92521E-C29A-456F-A2A1-8B523099EE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3952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FC0D108-78F8-49A7-95F2-642E63612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快速增长的开源软件数量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AC33F1D-7C55-4DF0-9509-E0C68867D1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8350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5A69DCF-3A71-4A3A-AC1B-ED5473B18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开源软件的推动者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774F59-CB9C-4D74-904C-479A6D76A4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290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38F483D-D905-4297-84E9-7FBBB708B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Apache</a:t>
            </a:r>
            <a:r>
              <a:rPr lang="zh-CN" altLang="zh-CN"/>
              <a:t>软件基金会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31F9656-4204-4279-AE70-46C4C003F55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285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B694D5E-411F-4EA5-AACB-C86D73F4A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5.3 </a:t>
            </a:r>
            <a:r>
              <a:rPr lang="zh-CN" altLang="en-US"/>
              <a:t>开源软件托管平台</a:t>
            </a:r>
            <a:r>
              <a:rPr lang="en-US" altLang="zh-CN"/>
              <a:t>-Github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94695DA-C43C-4002-90BA-3DE49F69C8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1799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133A0A6-12D1-4844-B679-47488B211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SourceForge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F047097-EEF8-4E4E-99FA-96F08B782D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6631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B449CE9-6461-4798-9534-439B801B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Gitee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903CD0F-85D9-47DA-BBDE-DEF97C9701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05178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B5476D3-C843-463D-84C7-3B9162194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Stack Overflow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3E7D51C-27F9-4A7A-96E8-D68BB7A54B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8985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3A5423A-0028-479C-B64E-B4087A80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5.4 </a:t>
            </a:r>
            <a:r>
              <a:rPr lang="zh-CN" altLang="en-US"/>
              <a:t>开源软件的优势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BB12B4-9F25-45ED-B499-C810C9F628E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7826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C4E021B-CCAE-4651-8FF7-72DFE619C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开源软件许可证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537EDA-EF66-4A3B-8F74-59C3525FE20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0146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E74D61B-16C6-4DDB-8658-1CE62FB78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二类许可证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0D0E1BF-BB9A-4011-9D3D-189910D1769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0482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E651D3B-81A8-4568-A405-76C354E9A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Apache</a:t>
            </a:r>
            <a:r>
              <a:rPr lang="zh-CN" altLang="zh-CN"/>
              <a:t>开源许可证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BB8FC61-E6A5-458E-A5EA-2DB30BB1017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42690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859E1CA-CD0F-45CB-9759-81DDB897E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GPL</a:t>
            </a:r>
            <a:r>
              <a:rPr lang="zh-CN" altLang="zh-CN"/>
              <a:t>开源许可证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F565BE-1E99-48AF-B9A1-58390D1FAC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59238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48BACF3-2037-4E17-A0D9-96FD65177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5.5 </a:t>
            </a:r>
            <a:r>
              <a:rPr lang="zh-CN" altLang="en-US"/>
              <a:t>开源软件的利用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FF0F893-9BE2-4024-A9D3-8B19263D453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3013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45D6042-3AD2-4555-A085-74F52548D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综合实践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6349EF3-A39A-4B95-B35D-C1EE0F5CBC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054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PresentationFormat>自定义</PresentationFormat>
  <Paragraphs>75</Paragraphs>
  <Slides>79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79</vt:i4>
      </vt:variant>
    </vt:vector>
  </HeadingPairs>
  <TitlesOfParts>
    <vt:vector size="84" baseType="lpstr">
      <vt:lpstr>等线</vt:lpstr>
      <vt:lpstr>等线 Light</vt:lpstr>
      <vt:lpstr>微软雅黑</vt:lpstr>
      <vt:lpstr>Arial</vt:lpstr>
      <vt:lpstr>Office 主题​​</vt:lpstr>
      <vt:lpstr>第一部分    基础</vt:lpstr>
      <vt:lpstr>PowerPoint 演示文稿</vt:lpstr>
      <vt:lpstr>PowerPoint 演示文稿</vt:lpstr>
      <vt:lpstr>内容</vt:lpstr>
      <vt:lpstr>1.1 何为程序？</vt:lpstr>
      <vt:lpstr>程序代码示例</vt:lpstr>
      <vt:lpstr>1.2 程序组成-语句</vt:lpstr>
      <vt:lpstr>程序组成-模块</vt:lpstr>
      <vt:lpstr>1.3 程序如何编写？</vt:lpstr>
      <vt:lpstr>程序的编辑、编译、部署和运行</vt:lpstr>
      <vt:lpstr>1.4 程序的二类利益相关者</vt:lpstr>
      <vt:lpstr>对程序的不同质量需求</vt:lpstr>
      <vt:lpstr>1.5 程序质量的内在和外在体现</vt:lpstr>
      <vt:lpstr>示例：从用户和程序员视角看程序质量</vt:lpstr>
      <vt:lpstr>示例：程序代码质量</vt:lpstr>
      <vt:lpstr>内容</vt:lpstr>
      <vt:lpstr>2.1 程序质量的语法和语义体现</vt:lpstr>
      <vt:lpstr>程序质量保证方法</vt:lpstr>
      <vt:lpstr>2.2 遵循编码风格</vt:lpstr>
      <vt:lpstr>示例：遵循编码风格</vt:lpstr>
      <vt:lpstr>2.3 采用程序设计方法</vt:lpstr>
      <vt:lpstr>2.4 代码重用</vt:lpstr>
      <vt:lpstr>重用代码片段 </vt:lpstr>
      <vt:lpstr>重用函数、类和软构件</vt:lpstr>
      <vt:lpstr>重用开源代码</vt:lpstr>
      <vt:lpstr>PowerPoint 演示文稿</vt:lpstr>
      <vt:lpstr>PowerPoint 演示文稿</vt:lpstr>
      <vt:lpstr>内容</vt:lpstr>
      <vt:lpstr>3.1 程序代码中潜在的质量问题</vt:lpstr>
      <vt:lpstr>代码质量分析的常用方法</vt:lpstr>
      <vt:lpstr>3.2 人工代码审查</vt:lpstr>
      <vt:lpstr>人工审查些什么？</vt:lpstr>
      <vt:lpstr>3.3 自动化工具审查-代码静态分析</vt:lpstr>
      <vt:lpstr>自动化代码分析工具SonarQube</vt:lpstr>
      <vt:lpstr>SonarQube概述</vt:lpstr>
      <vt:lpstr>SonarQube可分析的质量问题</vt:lpstr>
      <vt:lpstr>SonarQube分析报告</vt:lpstr>
      <vt:lpstr>3.4 软件测试技术</vt:lpstr>
      <vt:lpstr>软件测试的目的和任务</vt:lpstr>
      <vt:lpstr>内容</vt:lpstr>
      <vt:lpstr>4.1 从程序到软件-工程开发的启发</vt:lpstr>
      <vt:lpstr>编写出程序需要经历诸多的步骤</vt:lpstr>
      <vt:lpstr>4.2 何为软件?</vt:lpstr>
      <vt:lpstr>问题1</vt:lpstr>
      <vt:lpstr>问题2</vt:lpstr>
      <vt:lpstr>问题3</vt:lpstr>
      <vt:lpstr>4.3 软件生命周期</vt:lpstr>
      <vt:lpstr>软件的生命周期</vt:lpstr>
      <vt:lpstr>4.4 软件特点</vt:lpstr>
      <vt:lpstr>4.5 软件质量</vt:lpstr>
      <vt:lpstr>软件质量因素（1/3）</vt:lpstr>
      <vt:lpstr>软件质量因素（2/3）</vt:lpstr>
      <vt:lpstr>软件质量因素（3/3）</vt:lpstr>
      <vt:lpstr>4.6 软件的地位和作用</vt:lpstr>
      <vt:lpstr>4.7 软件的运行环境</vt:lpstr>
      <vt:lpstr>4.8 软件形态-人机物共生系统</vt:lpstr>
      <vt:lpstr>软件形态-系统之系统</vt:lpstr>
      <vt:lpstr>软件形态-分布式异构系统</vt:lpstr>
      <vt:lpstr>软件新形态-软件即模型</vt:lpstr>
      <vt:lpstr>4.9 我国软件建设的挑战和使命</vt:lpstr>
      <vt:lpstr>内容</vt:lpstr>
      <vt:lpstr>5.1 闭源软件</vt:lpstr>
      <vt:lpstr>5.2 开源软件</vt:lpstr>
      <vt:lpstr>示例：开源软件</vt:lpstr>
      <vt:lpstr>开源软件正逐步替代闭源软件</vt:lpstr>
      <vt:lpstr>快速增长的开源软件数量</vt:lpstr>
      <vt:lpstr>开源软件的推动者</vt:lpstr>
      <vt:lpstr>Apache软件基金会</vt:lpstr>
      <vt:lpstr>5.3 开源软件托管平台-Github</vt:lpstr>
      <vt:lpstr>SourceForge</vt:lpstr>
      <vt:lpstr>Gitee</vt:lpstr>
      <vt:lpstr>Stack Overflow</vt:lpstr>
      <vt:lpstr>5.4 开源软件的优势</vt:lpstr>
      <vt:lpstr>开源软件许可证</vt:lpstr>
      <vt:lpstr>二类许可证</vt:lpstr>
      <vt:lpstr>Apache开源许可证</vt:lpstr>
      <vt:lpstr>GPL开源许可证</vt:lpstr>
      <vt:lpstr>5.5 开源软件的利用</vt:lpstr>
      <vt:lpstr>综合实践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第一部分    基础</dc:title>
  <dc:creator>18465</dc:creator>
  <cp:lastModifiedBy>18465</cp:lastModifiedBy>
  <cp:revision>1</cp:revision>
  <dcterms:created xsi:type="dcterms:W3CDTF">2025-09-10T02:15:42Z</dcterms:created>
  <dcterms:modified xsi:type="dcterms:W3CDTF">2025-09-10T02:15:42Z</dcterms:modified>
</cp:coreProperties>
</file>